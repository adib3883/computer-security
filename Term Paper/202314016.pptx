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3205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965960"/>
            <a:ext cx="2743200" cy="2743200"/>
          </a:xfrm>
          <a:prstGeom prst="ellipse">
            <a:avLst/>
          </a:prstGeom>
          <a:ln w="15875">
            <a:solidFill>
              <a:srgbClr val="2230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300000">
            <a:off x="8275320" y="1965960"/>
            <a:ext cx="2743200" cy="2743200"/>
          </a:xfrm>
          <a:prstGeom prst="ellipse">
            <a:avLst/>
          </a:prstGeom>
          <a:ln w="15875">
            <a:solidFill>
              <a:srgbClr val="2230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3300000">
            <a:off x="8275320" y="1965960"/>
            <a:ext cx="2743200" cy="2743200"/>
          </a:xfrm>
          <a:prstGeom prst="ellipse">
            <a:avLst/>
          </a:prstGeom>
          <a:ln w="15875">
            <a:solidFill>
              <a:srgbClr val="2230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45752" y="3136392"/>
            <a:ext cx="402336" cy="402336"/>
          </a:xfrm>
          <a:prstGeom prst="ellipse">
            <a:avLst/>
          </a:prstGeom>
          <a:solidFill>
            <a:srgbClr val="31D8C4"/>
          </a:solidFill>
          <a:ln/>
          <a:effectLst>
            <a:outerShdw blurRad="101600" dist="381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698480" y="2377440"/>
            <a:ext cx="201168" cy="201168"/>
          </a:xfrm>
          <a:prstGeom prst="ellipse">
            <a:avLst/>
          </a:prstGeom>
          <a:solidFill>
            <a:srgbClr val="8C7BFF"/>
          </a:solidFill>
          <a:ln/>
          <a:effectLst>
            <a:outerShdw blurRad="101600" dist="381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0" y="4114800"/>
            <a:ext cx="146304" cy="146304"/>
          </a:xfrm>
          <a:prstGeom prst="ellipse">
            <a:avLst/>
          </a:prstGeom>
          <a:solidFill>
            <a:srgbClr val="F2A65A"/>
          </a:solidFill>
          <a:ln/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417320"/>
            <a:ext cx="109728" cy="109728"/>
          </a:xfrm>
          <a:prstGeom prst="ellipse">
            <a:avLst/>
          </a:prstGeom>
          <a:solidFill>
            <a:srgbClr val="31D8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13350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SECURITY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6596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9776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communication with the laws of physics, not just the limits of computation.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·  Md. Iftehajul Hoque,202314016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121C3A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" y="2880360"/>
            <a:ext cx="1097280" cy="1097280"/>
          </a:xfrm>
          <a:prstGeom prst="ellipse">
            <a:avLst/>
          </a:prstGeom>
          <a:ln w="25400">
            <a:solidFill>
              <a:srgbClr val="8C7B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25880" y="3246120"/>
            <a:ext cx="365760" cy="365760"/>
          </a:xfrm>
          <a:prstGeom prst="ellipse">
            <a:avLst/>
          </a:prstGeom>
          <a:solidFill>
            <a:srgbClr val="31D8C4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0" y="5394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3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566928"/>
            <a:ext cx="109728" cy="109728"/>
          </a:xfrm>
          <a:prstGeom prst="ellipse">
            <a:avLst/>
          </a:prstGeom>
          <a:solidFill>
            <a:srgbClr val="31D8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484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5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8686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cryptography needs a rethink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965960"/>
            <a:ext cx="8229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◆"/>
            </a:pPr>
            <a:r>
              <a:rPr lang="en-US" sz="17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protects information so only the intended people can read it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◆"/>
            </a:pPr>
            <a:r>
              <a:rPr lang="en-US" sz="17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encryption — RSA, ECC, AES — relies on math problems that are hard for classical computers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◆"/>
            </a:pPr>
            <a:r>
              <a:rPr lang="en-US" sz="17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computers threaten to solve some of those problems fast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◆"/>
            </a:pPr>
            <a:r>
              <a:rPr lang="en-US" sz="17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cryptography takes a different route: it secures communication using physics itself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Cryptography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109728" cy="109728"/>
          </a:xfrm>
          <a:prstGeom prst="ellipse">
            <a:avLst/>
          </a:prstGeom>
          <a:solidFill>
            <a:srgbClr val="31D8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13232" y="484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5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actually need it?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5120640" cy="1874520"/>
          </a:xfrm>
          <a:prstGeom prst="roundRect">
            <a:avLst>
              <a:gd name="adj" fmla="val 5854"/>
            </a:avLst>
          </a:prstGeom>
          <a:solidFill>
            <a:srgbClr val="121C3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40280"/>
            <a:ext cx="128016" cy="128016"/>
          </a:xfrm>
          <a:prstGeom prst="ellipse">
            <a:avLst/>
          </a:prstGeom>
          <a:solidFill>
            <a:srgbClr val="31D8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13055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Shor's Algorithm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24328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 algorithm that can break RSA and ECC by factoring large numbers quickly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0" y="1965960"/>
            <a:ext cx="5120640" cy="1874520"/>
          </a:xfrm>
          <a:prstGeom prst="roundRect">
            <a:avLst>
              <a:gd name="adj" fmla="val 5854"/>
            </a:avLst>
          </a:prstGeom>
          <a:solidFill>
            <a:srgbClr val="121C3A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2240280"/>
            <a:ext cx="128016" cy="128016"/>
          </a:xfrm>
          <a:prstGeom prst="ellipse">
            <a:avLst/>
          </a:prstGeom>
          <a:solidFill>
            <a:srgbClr val="31D8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213055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Grover's Algorithm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624328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Weakens AES-style symmetric encryption, though far less severely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069080"/>
            <a:ext cx="5120640" cy="1874520"/>
          </a:xfrm>
          <a:prstGeom prst="roundRect">
            <a:avLst>
              <a:gd name="adj" fmla="val 5854"/>
            </a:avLst>
          </a:prstGeom>
          <a:solidFill>
            <a:srgbClr val="121C3A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4343400"/>
            <a:ext cx="128016" cy="128016"/>
          </a:xfrm>
          <a:prstGeom prst="ellipse">
            <a:avLst/>
          </a:prstGeom>
          <a:solidFill>
            <a:srgbClr val="31D8C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42336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now, decrypt later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727448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intercepted today could be decrypted once quantum computers mature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0" y="4069080"/>
            <a:ext cx="5120640" cy="1874520"/>
          </a:xfrm>
          <a:prstGeom prst="roundRect">
            <a:avLst>
              <a:gd name="adj" fmla="val 5854"/>
            </a:avLst>
          </a:prstGeom>
          <a:solidFill>
            <a:srgbClr val="121C3A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4343400"/>
            <a:ext cx="128016" cy="128016"/>
          </a:xfrm>
          <a:prstGeom prst="ellipse">
            <a:avLst/>
          </a:prstGeom>
          <a:solidFill>
            <a:srgbClr val="31D8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42336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sense of urgency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4727448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the need for encryption that holds up against quantum attacks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Cryptography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109728" cy="109728"/>
          </a:xfrm>
          <a:prstGeom prst="ellipse">
            <a:avLst/>
          </a:prstGeom>
          <a:solidFill>
            <a:srgbClr val="31D8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13232" y="484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5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quantum principles it leans 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67128"/>
            <a:ext cx="566928" cy="566928"/>
          </a:xfrm>
          <a:prstGeom prst="ellipse">
            <a:avLst/>
          </a:prstGeom>
          <a:solidFill>
            <a:srgbClr val="16223F"/>
          </a:solidFill>
          <a:ln w="19050">
            <a:solidFill>
              <a:srgbClr val="8C7B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2377440"/>
            <a:ext cx="146304" cy="146304"/>
          </a:xfrm>
          <a:prstGeom prst="ellipse">
            <a:avLst/>
          </a:prstGeom>
          <a:solidFill>
            <a:srgbClr val="8C7B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" y="2057400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057400"/>
            <a:ext cx="6858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qubit can hold 0 and 1 at once, not just one fixed value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19272"/>
            <a:ext cx="566928" cy="566928"/>
          </a:xfrm>
          <a:prstGeom prst="ellipse">
            <a:avLst/>
          </a:prstGeom>
          <a:solidFill>
            <a:srgbClr val="16223F"/>
          </a:solidFill>
          <a:ln w="19050">
            <a:solidFill>
              <a:srgbClr val="8C7B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3529584"/>
            <a:ext cx="146304" cy="146304"/>
          </a:xfrm>
          <a:prstGeom prst="ellipse">
            <a:avLst/>
          </a:prstGeom>
          <a:solidFill>
            <a:srgbClr val="8C7B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17320" y="3209544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No-cloning theorem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209544"/>
            <a:ext cx="6858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unknown quantum state can't be copied exactly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471416"/>
            <a:ext cx="566928" cy="566928"/>
          </a:xfrm>
          <a:prstGeom prst="ellipse">
            <a:avLst/>
          </a:prstGeom>
          <a:solidFill>
            <a:srgbClr val="16223F"/>
          </a:solidFill>
          <a:ln w="19050">
            <a:solidFill>
              <a:srgbClr val="8C7B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8952" y="4681728"/>
            <a:ext cx="146304" cy="146304"/>
          </a:xfrm>
          <a:prstGeom prst="ellipse">
            <a:avLst/>
          </a:prstGeom>
          <a:solidFill>
            <a:srgbClr val="8C7B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417320" y="4361688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disturbance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4361688"/>
            <a:ext cx="6858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Observing a qubit generally changes it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5623560"/>
            <a:ext cx="566928" cy="566928"/>
          </a:xfrm>
          <a:prstGeom prst="ellipse">
            <a:avLst/>
          </a:prstGeom>
          <a:solidFill>
            <a:srgbClr val="16223F"/>
          </a:solidFill>
          <a:ln w="19050">
            <a:solidFill>
              <a:srgbClr val="8C7B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" y="5833872"/>
            <a:ext cx="146304" cy="146304"/>
          </a:xfrm>
          <a:prstGeom prst="ellipse">
            <a:avLst/>
          </a:prstGeom>
          <a:solidFill>
            <a:srgbClr val="8C7B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417320" y="5513832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Entanglement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5513832"/>
            <a:ext cx="6858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particles affect each other instantly, at any distance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Cryptography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121C3A"/>
          </a:solidFill>
          <a:ln/>
        </p:spPr>
      </p:sp>
      <p:sp>
        <p:nvSpPr>
          <p:cNvPr id="3" name="Shape 1"/>
          <p:cNvSpPr/>
          <p:nvPr/>
        </p:nvSpPr>
        <p:spPr>
          <a:xfrm>
            <a:off x="8458200" y="3063240"/>
            <a:ext cx="1188720" cy="685800"/>
          </a:xfrm>
          <a:prstGeom prst="roundRect">
            <a:avLst>
              <a:gd name="adj" fmla="val 13333"/>
            </a:avLst>
          </a:prstGeom>
          <a:solidFill>
            <a:srgbClr val="8C7B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58200" y="30632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195560" y="3063240"/>
            <a:ext cx="1188720" cy="685800"/>
          </a:xfrm>
          <a:prstGeom prst="roundRect">
            <a:avLst>
              <a:gd name="adj" fmla="val 13333"/>
            </a:avLst>
          </a:prstGeom>
          <a:solidFill>
            <a:srgbClr val="31D8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95560" y="30632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418320" y="3401568"/>
            <a:ext cx="548640" cy="0"/>
          </a:xfrm>
          <a:prstGeom prst="line">
            <a:avLst/>
          </a:prstGeom>
          <a:noFill/>
          <a:ln w="25400">
            <a:solidFill>
              <a:srgbClr val="31D8C4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8732520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exchange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566928"/>
            <a:ext cx="109728" cy="109728"/>
          </a:xfrm>
          <a:prstGeom prst="ellipse">
            <a:avLst/>
          </a:prstGeom>
          <a:solidFill>
            <a:srgbClr val="31D8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" y="484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5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86868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Quantum Key Distribution?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2011680"/>
            <a:ext cx="7406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◆"/>
            </a:pPr>
            <a:r>
              <a:rPr lang="en-US" sz="16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Alice and Bob share a secret key safely — even with Eve listening in</a:t>
            </a:r>
            <a:endParaRPr lang="en-US" sz="1650" dirty="0"/>
          </a:p>
          <a:p>
            <a:pPr marL="342900" indent="-342900">
              <a:spcAft>
                <a:spcPts val="1600"/>
              </a:spcAft>
              <a:buSzPct val="100000"/>
              <a:buChar char="◆"/>
            </a:pPr>
            <a:r>
              <a:rPr lang="en-US" sz="16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is then used with ordinary encryption, like AES, to protect the actual message</a:t>
            </a:r>
            <a:endParaRPr lang="en-US" sz="1650" dirty="0"/>
          </a:p>
          <a:p>
            <a:pPr marL="342900" indent="-342900">
              <a:spcAft>
                <a:spcPts val="1600"/>
              </a:spcAft>
              <a:buSzPct val="100000"/>
              <a:buChar char="◆"/>
            </a:pPr>
            <a:r>
              <a:rPr lang="en-US" sz="16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eavesdropping attempt disturbs the quantum states and becomes detectable</a:t>
            </a:r>
            <a:endParaRPr lang="en-US" sz="1650" dirty="0"/>
          </a:p>
          <a:p>
            <a:pPr marL="342900" indent="-342900">
              <a:spcAft>
                <a:spcPts val="1600"/>
              </a:spcAft>
              <a:buSzPct val="100000"/>
              <a:buChar char="◆"/>
            </a:pPr>
            <a:r>
              <a:rPr lang="en-US" sz="16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disturbance is found, the key is simply thrown away before it's ever used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Cryptography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109728" cy="109728"/>
          </a:xfrm>
          <a:prstGeom prst="ellipse">
            <a:avLst/>
          </a:prstGeom>
          <a:solidFill>
            <a:srgbClr val="31D8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13232" y="484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5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protocol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BB84 protocol, step by step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3703320" cy="1965960"/>
          </a:xfrm>
          <a:prstGeom prst="roundRect">
            <a:avLst>
              <a:gd name="adj" fmla="val 4651"/>
            </a:avLst>
          </a:prstGeom>
          <a:solidFill>
            <a:srgbClr val="121C3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67128"/>
            <a:ext cx="420624" cy="420624"/>
          </a:xfrm>
          <a:prstGeom prst="ellipse">
            <a:avLst/>
          </a:prstGeom>
          <a:solidFill>
            <a:srgbClr val="16223F"/>
          </a:solidFill>
          <a:ln w="19050">
            <a:solidFill>
              <a:srgbClr val="31D8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1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15768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picks random bits and a random basis for each one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0832" y="1965960"/>
            <a:ext cx="3703320" cy="1965960"/>
          </a:xfrm>
          <a:prstGeom prst="roundRect">
            <a:avLst>
              <a:gd name="adj" fmla="val 4651"/>
            </a:avLst>
          </a:prstGeom>
          <a:solidFill>
            <a:srgbClr val="121C3A"/>
          </a:solidFill>
          <a:ln/>
        </p:spPr>
      </p:sp>
      <p:sp>
        <p:nvSpPr>
          <p:cNvPr id="10" name="Shape 8"/>
          <p:cNvSpPr/>
          <p:nvPr/>
        </p:nvSpPr>
        <p:spPr>
          <a:xfrm>
            <a:off x="4599432" y="2167128"/>
            <a:ext cx="420624" cy="420624"/>
          </a:xfrm>
          <a:prstGeom prst="ellipse">
            <a:avLst/>
          </a:prstGeom>
          <a:solidFill>
            <a:srgbClr val="16223F"/>
          </a:solidFill>
          <a:ln w="19050">
            <a:solidFill>
              <a:srgbClr val="31D8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9432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1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715768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sends each bit as a single polarized photon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38744" y="1965960"/>
            <a:ext cx="3703320" cy="1965960"/>
          </a:xfrm>
          <a:prstGeom prst="roundRect">
            <a:avLst>
              <a:gd name="adj" fmla="val 4651"/>
            </a:avLst>
          </a:prstGeom>
          <a:solidFill>
            <a:srgbClr val="121C3A"/>
          </a:solidFill>
          <a:ln/>
        </p:spPr>
      </p:sp>
      <p:sp>
        <p:nvSpPr>
          <p:cNvPr id="14" name="Shape 12"/>
          <p:cNvSpPr/>
          <p:nvPr/>
        </p:nvSpPr>
        <p:spPr>
          <a:xfrm>
            <a:off x="8467344" y="2167128"/>
            <a:ext cx="420624" cy="420624"/>
          </a:xfrm>
          <a:prstGeom prst="ellipse">
            <a:avLst/>
          </a:prstGeom>
          <a:solidFill>
            <a:srgbClr val="16223F"/>
          </a:solidFill>
          <a:ln w="19050">
            <a:solidFill>
              <a:srgbClr val="31D8C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67344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1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67344" y="2715768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measures each photon using his own random basis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133088"/>
            <a:ext cx="3703320" cy="1965960"/>
          </a:xfrm>
          <a:prstGeom prst="roundRect">
            <a:avLst>
              <a:gd name="adj" fmla="val 4651"/>
            </a:avLst>
          </a:prstGeom>
          <a:solidFill>
            <a:srgbClr val="121C3A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4334256"/>
            <a:ext cx="420624" cy="420624"/>
          </a:xfrm>
          <a:prstGeom prst="ellipse">
            <a:avLst/>
          </a:prstGeom>
          <a:solidFill>
            <a:srgbClr val="16223F"/>
          </a:solidFill>
          <a:ln w="19050">
            <a:solidFill>
              <a:srgbClr val="31D8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334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1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882896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publicly compare which bases were used — not the values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70832" y="4133088"/>
            <a:ext cx="3703320" cy="1965960"/>
          </a:xfrm>
          <a:prstGeom prst="roundRect">
            <a:avLst>
              <a:gd name="adj" fmla="val 4651"/>
            </a:avLst>
          </a:prstGeom>
          <a:solidFill>
            <a:srgbClr val="121C3A"/>
          </a:solidFill>
          <a:ln/>
        </p:spPr>
      </p:sp>
      <p:sp>
        <p:nvSpPr>
          <p:cNvPr id="22" name="Shape 20"/>
          <p:cNvSpPr/>
          <p:nvPr/>
        </p:nvSpPr>
        <p:spPr>
          <a:xfrm>
            <a:off x="4599432" y="4334256"/>
            <a:ext cx="420624" cy="420624"/>
          </a:xfrm>
          <a:prstGeom prst="ellipse">
            <a:avLst/>
          </a:prstGeom>
          <a:solidFill>
            <a:srgbClr val="16223F"/>
          </a:solidFill>
          <a:ln w="19050">
            <a:solidFill>
              <a:srgbClr val="31D8C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99432" y="4334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1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99432" y="4882896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where the bases matched become the raw key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238744" y="4133088"/>
            <a:ext cx="3703320" cy="1965960"/>
          </a:xfrm>
          <a:prstGeom prst="roundRect">
            <a:avLst>
              <a:gd name="adj" fmla="val 4651"/>
            </a:avLst>
          </a:prstGeom>
          <a:solidFill>
            <a:srgbClr val="121C3A"/>
          </a:solidFill>
          <a:ln/>
        </p:spPr>
      </p:sp>
      <p:sp>
        <p:nvSpPr>
          <p:cNvPr id="26" name="Shape 24"/>
          <p:cNvSpPr/>
          <p:nvPr/>
        </p:nvSpPr>
        <p:spPr>
          <a:xfrm>
            <a:off x="8467344" y="4334256"/>
            <a:ext cx="420624" cy="420624"/>
          </a:xfrm>
          <a:prstGeom prst="ellipse">
            <a:avLst/>
          </a:prstGeom>
          <a:solidFill>
            <a:srgbClr val="16223F"/>
          </a:solidFill>
          <a:ln w="19050">
            <a:solidFill>
              <a:srgbClr val="31D8C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67344" y="4334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1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467344" y="4882896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is checked for errors: too high, and the key is discarded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Cryptography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109728" cy="109728"/>
          </a:xfrm>
          <a:prstGeom prst="ellipse">
            <a:avLst/>
          </a:prstGeom>
          <a:solidFill>
            <a:srgbClr val="31D8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13232" y="484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5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BB84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QKD protocols worth knowing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3566160" cy="3017520"/>
          </a:xfrm>
          <a:prstGeom prst="roundRect">
            <a:avLst>
              <a:gd name="adj" fmla="val 4242"/>
            </a:avLst>
          </a:prstGeom>
          <a:solidFill>
            <a:srgbClr val="121C3A"/>
          </a:solidFill>
          <a:ln/>
        </p:spPr>
      </p:sp>
      <p:sp>
        <p:nvSpPr>
          <p:cNvPr id="6" name="Shape 4"/>
          <p:cNvSpPr/>
          <p:nvPr/>
        </p:nvSpPr>
        <p:spPr>
          <a:xfrm>
            <a:off x="1965960" y="2468880"/>
            <a:ext cx="640080" cy="640080"/>
          </a:xfrm>
          <a:prstGeom prst="ellipse">
            <a:avLst/>
          </a:prstGeom>
          <a:ln w="25400">
            <a:solidFill>
              <a:srgbClr val="8C7B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76272" y="2679192"/>
            <a:ext cx="219456" cy="219456"/>
          </a:xfrm>
          <a:prstGeom prst="ellipse">
            <a:avLst/>
          </a:prstGeom>
          <a:solidFill>
            <a:srgbClr val="8C7B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3337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B92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8404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simplified version of BB84 that uses only two quantum states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2103120"/>
            <a:ext cx="3566160" cy="3017520"/>
          </a:xfrm>
          <a:prstGeom prst="roundRect">
            <a:avLst>
              <a:gd name="adj" fmla="val 4242"/>
            </a:avLst>
          </a:prstGeom>
          <a:solidFill>
            <a:srgbClr val="121C3A"/>
          </a:solidFill>
          <a:ln/>
        </p:spPr>
      </p:sp>
      <p:sp>
        <p:nvSpPr>
          <p:cNvPr id="11" name="Shape 9"/>
          <p:cNvSpPr/>
          <p:nvPr/>
        </p:nvSpPr>
        <p:spPr>
          <a:xfrm>
            <a:off x="5806440" y="2468880"/>
            <a:ext cx="640080" cy="640080"/>
          </a:xfrm>
          <a:prstGeom prst="ellipse">
            <a:avLst/>
          </a:prstGeom>
          <a:ln w="25400">
            <a:solidFill>
              <a:srgbClr val="31D8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16752" y="2679192"/>
            <a:ext cx="219456" cy="219456"/>
          </a:xfrm>
          <a:prstGeom prst="ellipse">
            <a:avLst/>
          </a:prstGeom>
          <a:solidFill>
            <a:srgbClr val="31D8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43400" y="3337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E91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8404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quantum entanglement instead of polarized photons (Ekert, 1991)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83880" y="2103120"/>
            <a:ext cx="3566160" cy="3017520"/>
          </a:xfrm>
          <a:prstGeom prst="roundRect">
            <a:avLst>
              <a:gd name="adj" fmla="val 4242"/>
            </a:avLst>
          </a:prstGeom>
          <a:solidFill>
            <a:srgbClr val="121C3A"/>
          </a:solidFill>
          <a:ln/>
        </p:spPr>
      </p:sp>
      <p:sp>
        <p:nvSpPr>
          <p:cNvPr id="16" name="Shape 14"/>
          <p:cNvSpPr/>
          <p:nvPr/>
        </p:nvSpPr>
        <p:spPr>
          <a:xfrm>
            <a:off x="9646920" y="2468880"/>
            <a:ext cx="640080" cy="640080"/>
          </a:xfrm>
          <a:prstGeom prst="ellipse">
            <a:avLst/>
          </a:prstGeom>
          <a:ln w="25400">
            <a:solidFill>
              <a:srgbClr val="F2A6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57232" y="2679192"/>
            <a:ext cx="219456" cy="21945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83880" y="3337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CV-QKD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38404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properties of light waves, fitting more easily into existing fiber networks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Cryptography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109728" cy="109728"/>
          </a:xfrm>
          <a:prstGeom prst="ellipse">
            <a:avLst/>
          </a:prstGeom>
          <a:solidFill>
            <a:srgbClr val="31D8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13232" y="484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5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worth the effort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5120640" cy="1874520"/>
          </a:xfrm>
          <a:prstGeom prst="roundRect">
            <a:avLst>
              <a:gd name="adj" fmla="val 5854"/>
            </a:avLst>
          </a:prstGeom>
          <a:solidFill>
            <a:srgbClr val="121C3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40280"/>
            <a:ext cx="457200" cy="457200"/>
          </a:xfrm>
          <a:prstGeom prst="ellipse">
            <a:avLst/>
          </a:prstGeom>
          <a:solidFill>
            <a:srgbClr val="1B3A33"/>
          </a:solidFill>
          <a:ln/>
        </p:spPr>
      </p:sp>
      <p:sp>
        <p:nvSpPr>
          <p:cNvPr id="7" name="Shape 5"/>
          <p:cNvSpPr/>
          <p:nvPr/>
        </p:nvSpPr>
        <p:spPr>
          <a:xfrm>
            <a:off x="923544" y="2386584"/>
            <a:ext cx="164592" cy="164592"/>
          </a:xfrm>
          <a:prstGeom prst="ellipse">
            <a:avLst/>
          </a:prstGeom>
          <a:solidFill>
            <a:srgbClr val="31D8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17320" y="216712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from physics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8346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assumptions about computing power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0" y="1965960"/>
            <a:ext cx="5120640" cy="1874520"/>
          </a:xfrm>
          <a:prstGeom prst="roundRect">
            <a:avLst>
              <a:gd name="adj" fmla="val 5854"/>
            </a:avLst>
          </a:prstGeom>
          <a:solidFill>
            <a:srgbClr val="121C3A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0" y="2240280"/>
            <a:ext cx="457200" cy="457200"/>
          </a:xfrm>
          <a:prstGeom prst="ellipse">
            <a:avLst/>
          </a:prstGeom>
          <a:solidFill>
            <a:srgbClr val="1B3A33"/>
          </a:solidFill>
          <a:ln/>
        </p:spPr>
      </p:sp>
      <p:sp>
        <p:nvSpPr>
          <p:cNvPr id="12" name="Shape 10"/>
          <p:cNvSpPr/>
          <p:nvPr/>
        </p:nvSpPr>
        <p:spPr>
          <a:xfrm>
            <a:off x="6364224" y="2386584"/>
            <a:ext cx="164592" cy="164592"/>
          </a:xfrm>
          <a:prstGeom prst="ellipse">
            <a:avLst/>
          </a:prstGeom>
          <a:solidFill>
            <a:srgbClr val="31D8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0" y="216712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Eavesdropping is detectable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8346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classical systems, interception can't hide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4069080"/>
            <a:ext cx="5120640" cy="1874520"/>
          </a:xfrm>
          <a:prstGeom prst="roundRect">
            <a:avLst>
              <a:gd name="adj" fmla="val 5854"/>
            </a:avLst>
          </a:prstGeom>
          <a:solidFill>
            <a:srgbClr val="121C3A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343400"/>
            <a:ext cx="457200" cy="457200"/>
          </a:xfrm>
          <a:prstGeom prst="ellipse">
            <a:avLst/>
          </a:prstGeom>
          <a:solidFill>
            <a:srgbClr val="1B3A33"/>
          </a:solidFill>
          <a:ln/>
        </p:spPr>
      </p:sp>
      <p:sp>
        <p:nvSpPr>
          <p:cNvPr id="17" name="Shape 15"/>
          <p:cNvSpPr/>
          <p:nvPr/>
        </p:nvSpPr>
        <p:spPr>
          <a:xfrm>
            <a:off x="923544" y="4489704"/>
            <a:ext cx="164592" cy="164592"/>
          </a:xfrm>
          <a:prstGeom prst="ellipse">
            <a:avLst/>
          </a:prstGeom>
          <a:solidFill>
            <a:srgbClr val="31D8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417320" y="42702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security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9377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up even against future quantum computers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943600" y="4069080"/>
            <a:ext cx="5120640" cy="1874520"/>
          </a:xfrm>
          <a:prstGeom prst="roundRect">
            <a:avLst>
              <a:gd name="adj" fmla="val 5854"/>
            </a:avLst>
          </a:prstGeom>
          <a:solidFill>
            <a:srgbClr val="121C3A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0" y="4343400"/>
            <a:ext cx="457200" cy="457200"/>
          </a:xfrm>
          <a:prstGeom prst="ellipse">
            <a:avLst/>
          </a:prstGeom>
          <a:solidFill>
            <a:srgbClr val="1B3A33"/>
          </a:solidFill>
          <a:ln/>
        </p:spPr>
      </p:sp>
      <p:sp>
        <p:nvSpPr>
          <p:cNvPr id="22" name="Shape 20"/>
          <p:cNvSpPr/>
          <p:nvPr/>
        </p:nvSpPr>
        <p:spPr>
          <a:xfrm>
            <a:off x="6364224" y="4489704"/>
            <a:ext cx="164592" cy="164592"/>
          </a:xfrm>
          <a:prstGeom prst="ellipse">
            <a:avLst/>
          </a:prstGeom>
          <a:solidFill>
            <a:srgbClr val="31D8C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0" y="42702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sensitive use</a:t>
            </a:r>
            <a:endParaRPr lang="en-US" sz="165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49377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Military, government, and banking communication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Cryptography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109728" cy="109728"/>
          </a:xfrm>
          <a:prstGeom prst="ellipse">
            <a:avLst/>
          </a:prstGeom>
          <a:solidFill>
            <a:srgbClr val="31D8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13232" y="484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5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open challenges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48256"/>
            <a:ext cx="457200" cy="457200"/>
          </a:xfrm>
          <a:prstGeom prst="ellipse">
            <a:avLst/>
          </a:prstGeom>
          <a:solidFill>
            <a:srgbClr val="3A2A1B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2194560"/>
            <a:ext cx="164592" cy="164592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34440" y="1920240"/>
            <a:ext cx="3291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is limited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1920240"/>
            <a:ext cx="68580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100–200 km without special repeater stations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935224"/>
            <a:ext cx="457200" cy="457200"/>
          </a:xfrm>
          <a:prstGeom prst="ellipse">
            <a:avLst/>
          </a:prstGeom>
          <a:solidFill>
            <a:srgbClr val="3A2A1B"/>
          </a:solidFill>
          <a:ln/>
        </p:spPr>
      </p:sp>
      <p:sp>
        <p:nvSpPr>
          <p:cNvPr id="10" name="Shape 8"/>
          <p:cNvSpPr/>
          <p:nvPr/>
        </p:nvSpPr>
        <p:spPr>
          <a:xfrm>
            <a:off x="694944" y="3081528"/>
            <a:ext cx="164592" cy="164592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34440" y="2807208"/>
            <a:ext cx="3291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Expensive, delicate hardware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807208"/>
            <a:ext cx="68580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single-photon sources and detectors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822192"/>
            <a:ext cx="457200" cy="457200"/>
          </a:xfrm>
          <a:prstGeom prst="ellipse">
            <a:avLst/>
          </a:prstGeom>
          <a:solidFill>
            <a:srgbClr val="3A2A1B"/>
          </a:solidFill>
          <a:ln/>
        </p:spPr>
      </p:sp>
      <p:sp>
        <p:nvSpPr>
          <p:cNvPr id="14" name="Shape 12"/>
          <p:cNvSpPr/>
          <p:nvPr/>
        </p:nvSpPr>
        <p:spPr>
          <a:xfrm>
            <a:off x="694944" y="3968496"/>
            <a:ext cx="164592" cy="164592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34440" y="3694176"/>
            <a:ext cx="3291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solves key exchange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3694176"/>
            <a:ext cx="68580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full message encryption or authentication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rgbClr val="3A2A1B"/>
          </a:solidFill>
          <a:ln/>
        </p:spPr>
      </p:sp>
      <p:sp>
        <p:nvSpPr>
          <p:cNvPr id="18" name="Shape 16"/>
          <p:cNvSpPr/>
          <p:nvPr/>
        </p:nvSpPr>
        <p:spPr>
          <a:xfrm>
            <a:off x="694944" y="4855464"/>
            <a:ext cx="164592" cy="164592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234440" y="4581144"/>
            <a:ext cx="3291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devices have flaws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4709160" y="4581144"/>
            <a:ext cx="68580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to side-channel attacks like detector blinding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596128"/>
            <a:ext cx="457200" cy="457200"/>
          </a:xfrm>
          <a:prstGeom prst="ellipse">
            <a:avLst/>
          </a:prstGeom>
          <a:solidFill>
            <a:srgbClr val="3A2A1B"/>
          </a:solidFill>
          <a:ln/>
        </p:spPr>
      </p:sp>
      <p:sp>
        <p:nvSpPr>
          <p:cNvPr id="22" name="Shape 20"/>
          <p:cNvSpPr/>
          <p:nvPr/>
        </p:nvSpPr>
        <p:spPr>
          <a:xfrm>
            <a:off x="694944" y="5742432"/>
            <a:ext cx="164592" cy="164592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234440" y="5468112"/>
            <a:ext cx="3291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internet-scale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5468112"/>
            <a:ext cx="68580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far from everyday, worldwide deployment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Cryptography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109728" cy="109728"/>
          </a:xfrm>
          <a:prstGeom prst="ellipse">
            <a:avLst/>
          </a:prstGeom>
          <a:solidFill>
            <a:srgbClr val="31D8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13232" y="484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5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it's already being used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3070555" cy="420624"/>
          </a:xfrm>
          <a:prstGeom prst="roundRect">
            <a:avLst>
              <a:gd name="adj" fmla="val 50000"/>
            </a:avLst>
          </a:prstGeom>
          <a:ln w="12700">
            <a:solidFill>
              <a:srgbClr val="2230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2057400"/>
            <a:ext cx="30705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China's Micius satellite (2016)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756355" y="2057400"/>
            <a:ext cx="3249778" cy="420624"/>
          </a:xfrm>
          <a:prstGeom prst="roundRect">
            <a:avLst>
              <a:gd name="adj" fmla="val 50000"/>
            </a:avLst>
          </a:prstGeom>
          <a:ln w="12700">
            <a:solidFill>
              <a:srgbClr val="2230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56355" y="2057400"/>
            <a:ext cx="3249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Beijing–Shanghai quantum backbone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189013" y="2057400"/>
            <a:ext cx="1547165" cy="420624"/>
          </a:xfrm>
          <a:prstGeom prst="roundRect">
            <a:avLst>
              <a:gd name="adj" fmla="val 50000"/>
            </a:avLst>
          </a:prstGeom>
          <a:ln w="12700">
            <a:solidFill>
              <a:srgbClr val="22305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89013" y="2057400"/>
            <a:ext cx="154716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pilots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919058" y="2057400"/>
            <a:ext cx="2622499" cy="420624"/>
          </a:xfrm>
          <a:prstGeom prst="roundRect">
            <a:avLst>
              <a:gd name="adj" fmla="val 50000"/>
            </a:avLst>
          </a:prstGeom>
          <a:ln w="12700">
            <a:solidFill>
              <a:srgbClr val="2230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19058" y="2057400"/>
            <a:ext cx="26224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defense links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587752"/>
            <a:ext cx="2264054" cy="420624"/>
          </a:xfrm>
          <a:prstGeom prst="roundRect">
            <a:avLst>
              <a:gd name="adj" fmla="val 50000"/>
            </a:avLst>
          </a:prstGeom>
          <a:ln w="12700">
            <a:solidFill>
              <a:srgbClr val="2230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587752"/>
            <a:ext cx="226405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Quantique · Toshiba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3657600"/>
            <a:ext cx="10607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◆"/>
            </a:pPr>
            <a:r>
              <a:rPr lang="en-US" sz="16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Satellite-based QKD has linked ground stations thousands of kilometers apart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◆"/>
            </a:pPr>
            <a:r>
              <a:rPr lang="en-US" sz="16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Fiber-optic QKD networks already operate at national scale in China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◆"/>
            </a:pPr>
            <a:r>
              <a:rPr lang="en-US" sz="16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banks have piloted QKD for securing high-value transactions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Cryptography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121C3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514600"/>
            <a:ext cx="1737360" cy="1737360"/>
          </a:xfrm>
          <a:prstGeom prst="ellipse">
            <a:avLst/>
          </a:prstGeom>
          <a:ln w="12700">
            <a:solidFill>
              <a:srgbClr val="2230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3300000">
            <a:off x="640080" y="2514600"/>
            <a:ext cx="1737360" cy="1737360"/>
          </a:xfrm>
          <a:prstGeom prst="ellipse">
            <a:avLst/>
          </a:prstGeom>
          <a:ln w="12700">
            <a:solidFill>
              <a:srgbClr val="2230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3300000">
            <a:off x="640080" y="2514600"/>
            <a:ext cx="1737360" cy="1737360"/>
          </a:xfrm>
          <a:prstGeom prst="ellipse">
            <a:avLst/>
          </a:prstGeom>
          <a:ln w="12700">
            <a:solidFill>
              <a:srgbClr val="2230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80744" y="3255264"/>
            <a:ext cx="256032" cy="256032"/>
          </a:xfrm>
          <a:prstGeom prst="ellipse">
            <a:avLst/>
          </a:prstGeom>
          <a:solidFill>
            <a:srgbClr val="8C7BFF"/>
          </a:solidFill>
          <a:ln/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566928"/>
            <a:ext cx="109728" cy="109728"/>
          </a:xfrm>
          <a:prstGeom prst="ellipse">
            <a:avLst/>
          </a:prstGeom>
          <a:solidFill>
            <a:srgbClr val="31D8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484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5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8686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is heading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965960"/>
            <a:ext cx="8229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◆"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repeaters to extend QKD beyond today's distance limits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◆"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research toward a full "quantum internet"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◆"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satellite-based systems for global coverage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◆"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QKD with post-quantum cryptography for layered defense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◆"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hardware that's easier to fold into existing networks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Cryptography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C3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85800"/>
            <a:ext cx="109728" cy="109728"/>
          </a:xfrm>
          <a:prstGeom prst="ellipse">
            <a:avLst/>
          </a:prstGeom>
          <a:solidFill>
            <a:srgbClr val="31D8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58952" y="6035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5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as the new</a:t>
            </a:r>
            <a:endParaRPr lang="en-US" sz="3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trust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6949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◆"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 communication with physics, not just mathematical difficulty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◆"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biggest strength: eavesdropping can't go unnoticed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◆"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held back by cost, distance, and hardware imperfections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◆"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best alongside classical and post-quantum methods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◆"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to play a growing role as the technology matures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412480" y="2011680"/>
            <a:ext cx="3108960" cy="3108960"/>
          </a:xfrm>
          <a:prstGeom prst="ellipse">
            <a:avLst/>
          </a:prstGeom>
          <a:ln w="15875">
            <a:solidFill>
              <a:srgbClr val="2230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3300000">
            <a:off x="8412480" y="2011680"/>
            <a:ext cx="3108960" cy="3108960"/>
          </a:xfrm>
          <a:prstGeom prst="ellipse">
            <a:avLst/>
          </a:prstGeom>
          <a:ln w="15875">
            <a:solidFill>
              <a:srgbClr val="2230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3300000">
            <a:off x="8412480" y="2011680"/>
            <a:ext cx="3108960" cy="3108960"/>
          </a:xfrm>
          <a:prstGeom prst="ellipse">
            <a:avLst/>
          </a:prstGeom>
          <a:ln w="15875">
            <a:solidFill>
              <a:srgbClr val="2230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29216" y="3328416"/>
            <a:ext cx="475488" cy="475488"/>
          </a:xfrm>
          <a:prstGeom prst="ellipse">
            <a:avLst/>
          </a:prstGeom>
          <a:solidFill>
            <a:srgbClr val="31D8C4"/>
          </a:solidFill>
          <a:ln/>
          <a:effectLst>
            <a:outerShdw blurRad="101600" dist="381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155680" y="2514600"/>
            <a:ext cx="201168" cy="201168"/>
          </a:xfrm>
          <a:prstGeom prst="ellipse">
            <a:avLst/>
          </a:prstGeom>
          <a:solidFill>
            <a:srgbClr val="8C7B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Cryptography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725</Words>
  <Application>Microsoft Office PowerPoint</Application>
  <PresentationFormat>Custom</PresentationFormat>
  <Paragraphs>144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Md. Iftehajul Hoque Adib</cp:lastModifiedBy>
  <cp:revision>2</cp:revision>
  <dcterms:created xsi:type="dcterms:W3CDTF">2026-09-26T18:45:48Z</dcterms:created>
  <dcterms:modified xsi:type="dcterms:W3CDTF">2026-09-27T17:50:37Z</dcterms:modified>
</cp:coreProperties>
</file>