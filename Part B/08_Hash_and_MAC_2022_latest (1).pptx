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3" r:id="rId2"/>
  </p:sldMasterIdLst>
  <p:notesMasterIdLst>
    <p:notesMasterId r:id="rId74"/>
  </p:notesMasterIdLst>
  <p:handoutMasterIdLst>
    <p:handoutMasterId r:id="rId75"/>
  </p:handoutMasterIdLst>
  <p:sldIdLst>
    <p:sldId id="829" r:id="rId3"/>
    <p:sldId id="899" r:id="rId4"/>
    <p:sldId id="1027" r:id="rId5"/>
    <p:sldId id="1045" r:id="rId6"/>
    <p:sldId id="1046" r:id="rId7"/>
    <p:sldId id="1047" r:id="rId8"/>
    <p:sldId id="1048" r:id="rId9"/>
    <p:sldId id="1028" r:id="rId10"/>
    <p:sldId id="1029" r:id="rId11"/>
    <p:sldId id="1030" r:id="rId12"/>
    <p:sldId id="1049" r:id="rId13"/>
    <p:sldId id="1050" r:id="rId14"/>
    <p:sldId id="1051" r:id="rId15"/>
    <p:sldId id="1052" r:id="rId16"/>
    <p:sldId id="1053" r:id="rId17"/>
    <p:sldId id="1054" r:id="rId18"/>
    <p:sldId id="1055" r:id="rId19"/>
    <p:sldId id="1031" r:id="rId20"/>
    <p:sldId id="1032" r:id="rId21"/>
    <p:sldId id="1079" r:id="rId22"/>
    <p:sldId id="1033" r:id="rId23"/>
    <p:sldId id="269" r:id="rId24"/>
    <p:sldId id="270" r:id="rId25"/>
    <p:sldId id="271" r:id="rId26"/>
    <p:sldId id="272" r:id="rId27"/>
    <p:sldId id="273" r:id="rId28"/>
    <p:sldId id="274" r:id="rId29"/>
    <p:sldId id="1034" r:id="rId30"/>
    <p:sldId id="1035" r:id="rId31"/>
    <p:sldId id="1036" r:id="rId32"/>
    <p:sldId id="1037" r:id="rId33"/>
    <p:sldId id="1038" r:id="rId34"/>
    <p:sldId id="1039" r:id="rId35"/>
    <p:sldId id="1040" r:id="rId36"/>
    <p:sldId id="1041" r:id="rId37"/>
    <p:sldId id="1042" r:id="rId38"/>
    <p:sldId id="1059" r:id="rId39"/>
    <p:sldId id="1060" r:id="rId40"/>
    <p:sldId id="1061" r:id="rId41"/>
    <p:sldId id="1043" r:id="rId42"/>
    <p:sldId id="1044" r:id="rId43"/>
    <p:sldId id="1076" r:id="rId44"/>
    <p:sldId id="1004" r:id="rId45"/>
    <p:sldId id="957" r:id="rId46"/>
    <p:sldId id="1075" r:id="rId47"/>
    <p:sldId id="1023" r:id="rId48"/>
    <p:sldId id="1024" r:id="rId49"/>
    <p:sldId id="1025" r:id="rId50"/>
    <p:sldId id="1074" r:id="rId51"/>
    <p:sldId id="1026" r:id="rId52"/>
    <p:sldId id="1056" r:id="rId53"/>
    <p:sldId id="1062" r:id="rId54"/>
    <p:sldId id="1077" r:id="rId55"/>
    <p:sldId id="1065" r:id="rId56"/>
    <p:sldId id="1066" r:id="rId57"/>
    <p:sldId id="1067" r:id="rId58"/>
    <p:sldId id="1064" r:id="rId59"/>
    <p:sldId id="1068" r:id="rId60"/>
    <p:sldId id="1069" r:id="rId61"/>
    <p:sldId id="1070" r:id="rId62"/>
    <p:sldId id="1071" r:id="rId63"/>
    <p:sldId id="1072" r:id="rId64"/>
    <p:sldId id="1073" r:id="rId65"/>
    <p:sldId id="257" r:id="rId66"/>
    <p:sldId id="258" r:id="rId67"/>
    <p:sldId id="259" r:id="rId68"/>
    <p:sldId id="260" r:id="rId69"/>
    <p:sldId id="261" r:id="rId70"/>
    <p:sldId id="262" r:id="rId71"/>
    <p:sldId id="263" r:id="rId72"/>
    <p:sldId id="264" r:id="rId73"/>
  </p:sldIdLst>
  <p:sldSz cx="12192000" cy="6858000"/>
  <p:notesSz cx="6858000" cy="9144000"/>
  <p:custShowLst>
    <p:custShow name="Custom Show 1" id="0">
      <p:sldLst>
        <p:sld r:id="rId3"/>
      </p:sldLst>
    </p:custShow>
  </p:custShow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browse/>
    <p:sldRg st="1" end="5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69900"/>
    <a:srgbClr val="080808"/>
    <a:srgbClr val="99CC00"/>
    <a:srgbClr val="CC3300"/>
    <a:srgbClr val="0000CC"/>
    <a:srgbClr val="0099CC"/>
    <a:srgbClr val="CC0000"/>
    <a:srgbClr val="FFFF00"/>
    <a:srgbClr val="CC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4" autoAdjust="0"/>
    <p:restoredTop sz="90239" autoAdjust="0"/>
  </p:normalViewPr>
  <p:slideViewPr>
    <p:cSldViewPr>
      <p:cViewPr varScale="1">
        <p:scale>
          <a:sx n="104" d="100"/>
          <a:sy n="104" d="100"/>
        </p:scale>
        <p:origin x="756" y="102"/>
      </p:cViewPr>
      <p:guideLst>
        <p:guide orient="horz" pos="2160"/>
        <p:guide pos="3840"/>
      </p:guideLst>
    </p:cSldViewPr>
  </p:slideViewPr>
  <p:outlineViewPr>
    <p:cViewPr>
      <p:scale>
        <a:sx n="33" d="100"/>
        <a:sy n="33" d="100"/>
      </p:scale>
      <p:origin x="0" y="3686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47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58470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58470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58470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6F33488A-B7C6-480F-B7F5-4587EE4CC9F6}" type="slidenum">
              <a:rPr lang="en-US"/>
              <a:pPr>
                <a:defRPr/>
              </a:pPr>
              <a:t>‹#›</a:t>
            </a:fld>
            <a:endParaRPr lang="en-US" dirty="0"/>
          </a:p>
        </p:txBody>
      </p:sp>
    </p:spTree>
    <p:extLst>
      <p:ext uri="{BB962C8B-B14F-4D97-AF65-F5344CB8AC3E}">
        <p14:creationId xmlns:p14="http://schemas.microsoft.com/office/powerpoint/2010/main" val="4850823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573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809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573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73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573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749F2D50-6E2B-46EF-97FB-6F795E0BE53E}" type="slidenum">
              <a:rPr lang="en-US"/>
              <a:pPr>
                <a:defRPr/>
              </a:pPr>
              <a:t>‹#›</a:t>
            </a:fld>
            <a:endParaRPr lang="en-US" dirty="0"/>
          </a:p>
        </p:txBody>
      </p:sp>
    </p:spTree>
    <p:extLst>
      <p:ext uri="{BB962C8B-B14F-4D97-AF65-F5344CB8AC3E}">
        <p14:creationId xmlns:p14="http://schemas.microsoft.com/office/powerpoint/2010/main" val="36757495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1</a:t>
            </a:fld>
            <a:endParaRPr lang="en-US" dirty="0"/>
          </a:p>
        </p:txBody>
      </p:sp>
    </p:spTree>
    <p:extLst>
      <p:ext uri="{BB962C8B-B14F-4D97-AF65-F5344CB8AC3E}">
        <p14:creationId xmlns:p14="http://schemas.microsoft.com/office/powerpoint/2010/main" val="4256131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ea typeface="ＭＳ Ｐゴシック" pitchFamily="34" charset="-128"/>
              </a:defRPr>
            </a:lvl1pPr>
            <a:lvl2pPr marL="742950" indent="-285750">
              <a:defRPr sz="1200">
                <a:solidFill>
                  <a:schemeClr val="tx1"/>
                </a:solidFill>
                <a:latin typeface="Arial" pitchFamily="34" charset="0"/>
                <a:ea typeface="ＭＳ Ｐゴシック" pitchFamily="34" charset="-128"/>
              </a:defRPr>
            </a:lvl2pPr>
            <a:lvl3pPr marL="1143000" indent="-228600">
              <a:defRPr sz="1200">
                <a:solidFill>
                  <a:schemeClr val="tx1"/>
                </a:solidFill>
                <a:latin typeface="Arial" pitchFamily="34" charset="0"/>
                <a:ea typeface="ＭＳ Ｐゴシック" pitchFamily="34" charset="-128"/>
              </a:defRPr>
            </a:lvl3pPr>
            <a:lvl4pPr marL="1600200" indent="-228600">
              <a:defRPr sz="1200">
                <a:solidFill>
                  <a:schemeClr val="tx1"/>
                </a:solidFill>
                <a:latin typeface="Arial" pitchFamily="34" charset="0"/>
                <a:ea typeface="ＭＳ Ｐゴシック" pitchFamily="34" charset="-128"/>
              </a:defRPr>
            </a:lvl4pPr>
            <a:lvl5pPr marL="2057400" indent="-228600">
              <a:defRPr sz="1200">
                <a:solidFill>
                  <a:schemeClr val="tx1"/>
                </a:solidFill>
                <a:latin typeface="Arial"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9pPr>
          </a:lstStyle>
          <a:p>
            <a:fld id="{64098343-368E-4995-BE67-2B8AC2FFE427}" type="slidenum">
              <a:rPr lang="en-AU"/>
              <a:pPr/>
              <a:t>6</a:t>
            </a:fld>
            <a:endParaRPr lang="en-AU"/>
          </a:p>
        </p:txBody>
      </p:sp>
      <p:sp>
        <p:nvSpPr>
          <p:cNvPr id="9219" name="Rectangle 2"/>
          <p:cNvSpPr>
            <a:spLocks noGrp="1" noRot="1" noChangeAspect="1" noChangeArrowheads="1" noTextEdit="1"/>
          </p:cNvSpPr>
          <p:nvPr>
            <p:ph type="sldImg"/>
          </p:nvPr>
        </p:nvSpPr>
        <p:spPr>
          <a:xfrm>
            <a:off x="381000" y="685800"/>
            <a:ext cx="6096000" cy="3429000"/>
          </a:xfrm>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latin typeface="Arial" pitchFamily="34" charset="0"/>
                <a:cs typeface="Arial" pitchFamily="34" charset="0"/>
              </a:rPr>
              <a:t>Message encryption by itself can provide a measure of authentication. The analysis differs for symmetric and public-key encryption schemes. </a:t>
            </a:r>
          </a:p>
          <a:p>
            <a:pPr eaLnBrk="1" hangingPunct="1"/>
            <a:r>
              <a:rPr lang="en-US" dirty="0">
                <a:latin typeface="Arial" pitchFamily="34" charset="0"/>
                <a:cs typeface="Arial" pitchFamily="34" charset="0"/>
              </a:rPr>
              <a:t>If use symmetric encryption, If no other party knows the key, then confidentiality is provided. As well, symmetric encryption provides authentication as well as confidentiality, since only the other party can have encrypted a properly constructed message (Stallings Figure 12.1a). Here, the </a:t>
            </a:r>
            <a:r>
              <a:rPr lang="en-US" dirty="0" err="1">
                <a:latin typeface="Arial" pitchFamily="34" charset="0"/>
                <a:cs typeface="Arial" pitchFamily="34" charset="0"/>
              </a:rPr>
              <a:t>ciphertext</a:t>
            </a:r>
            <a:r>
              <a:rPr lang="en-US" dirty="0">
                <a:latin typeface="Arial" pitchFamily="34" charset="0"/>
                <a:cs typeface="Arial" pitchFamily="34" charset="0"/>
              </a:rPr>
              <a:t> of the entire message serves as its authenticator, on the basis that only those who know the appropriate keys could have validly encrypted the message. This is provided you can recognize a valid message (</a:t>
            </a:r>
            <a:r>
              <a:rPr lang="en-US" dirty="0" err="1">
                <a:latin typeface="Arial" pitchFamily="34" charset="0"/>
                <a:cs typeface="Arial" pitchFamily="34" charset="0"/>
              </a:rPr>
              <a:t>ie</a:t>
            </a:r>
            <a:r>
              <a:rPr lang="en-US" dirty="0">
                <a:latin typeface="Arial" pitchFamily="34" charset="0"/>
                <a:cs typeface="Arial" pitchFamily="34" charset="0"/>
              </a:rPr>
              <a:t> if the message has </a:t>
            </a:r>
            <a:r>
              <a:rPr lang="en-AU" dirty="0">
                <a:latin typeface="Arial" pitchFamily="34" charset="0"/>
                <a:cs typeface="Arial" pitchFamily="34" charset="0"/>
              </a:rPr>
              <a:t>suitable structure such as redundancy or a checksum to detect any changes).</a:t>
            </a:r>
          </a:p>
          <a:p>
            <a:pPr eaLnBrk="1" hangingPunct="1"/>
            <a:endParaRPr lang="en-US" dirty="0">
              <a:latin typeface="Arial" pitchFamily="34" charset="0"/>
              <a:cs typeface="Arial" pitchFamily="34" charset="0"/>
            </a:endParaRPr>
          </a:p>
        </p:txBody>
      </p:sp>
    </p:spTree>
    <p:extLst>
      <p:ext uri="{BB962C8B-B14F-4D97-AF65-F5344CB8AC3E}">
        <p14:creationId xmlns:p14="http://schemas.microsoft.com/office/powerpoint/2010/main" val="4005305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ea typeface="ＭＳ Ｐゴシック" pitchFamily="34" charset="-128"/>
              </a:defRPr>
            </a:lvl1pPr>
            <a:lvl2pPr marL="742950" indent="-285750">
              <a:defRPr sz="1200">
                <a:solidFill>
                  <a:schemeClr val="tx1"/>
                </a:solidFill>
                <a:latin typeface="Arial" pitchFamily="34" charset="0"/>
                <a:ea typeface="ＭＳ Ｐゴシック" pitchFamily="34" charset="-128"/>
              </a:defRPr>
            </a:lvl2pPr>
            <a:lvl3pPr marL="1143000" indent="-228600">
              <a:defRPr sz="1200">
                <a:solidFill>
                  <a:schemeClr val="tx1"/>
                </a:solidFill>
                <a:latin typeface="Arial" pitchFamily="34" charset="0"/>
                <a:ea typeface="ＭＳ Ｐゴシック" pitchFamily="34" charset="-128"/>
              </a:defRPr>
            </a:lvl3pPr>
            <a:lvl4pPr marL="1600200" indent="-228600">
              <a:defRPr sz="1200">
                <a:solidFill>
                  <a:schemeClr val="tx1"/>
                </a:solidFill>
                <a:latin typeface="Arial" pitchFamily="34" charset="0"/>
                <a:ea typeface="ＭＳ Ｐゴシック" pitchFamily="34" charset="-128"/>
              </a:defRPr>
            </a:lvl4pPr>
            <a:lvl5pPr marL="2057400" indent="-228600">
              <a:defRPr sz="1200">
                <a:solidFill>
                  <a:schemeClr val="tx1"/>
                </a:solidFill>
                <a:latin typeface="Arial"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9pPr>
          </a:lstStyle>
          <a:p>
            <a:fld id="{64098343-368E-4995-BE67-2B8AC2FFE427}" type="slidenum">
              <a:rPr lang="en-AU"/>
              <a:pPr/>
              <a:t>7</a:t>
            </a:fld>
            <a:endParaRPr lang="en-AU"/>
          </a:p>
        </p:txBody>
      </p:sp>
      <p:sp>
        <p:nvSpPr>
          <p:cNvPr id="9219" name="Rectangle 2"/>
          <p:cNvSpPr>
            <a:spLocks noGrp="1" noRot="1" noChangeAspect="1" noChangeArrowheads="1" noTextEdit="1"/>
          </p:cNvSpPr>
          <p:nvPr>
            <p:ph type="sldImg"/>
          </p:nvPr>
        </p:nvSpPr>
        <p:spPr>
          <a:xfrm>
            <a:off x="381000" y="685800"/>
            <a:ext cx="6096000" cy="3429000"/>
          </a:xfrm>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cs typeface="Arial" pitchFamily="34" charset="0"/>
              </a:rPr>
              <a:t>Message encryption by itself can provide a measure of authentication. The analysis differs for symmetric and public-key encryption schemes. </a:t>
            </a:r>
          </a:p>
          <a:p>
            <a:pPr eaLnBrk="1" hangingPunct="1"/>
            <a:r>
              <a:rPr lang="en-US">
                <a:latin typeface="Arial" pitchFamily="34" charset="0"/>
                <a:cs typeface="Arial" pitchFamily="34" charset="0"/>
              </a:rPr>
              <a:t>If use symmetric encryption, If no other party knows the key, then confidentiality is provided. As well, symmetric encryption provides authentication as well as confidentiality, since only the other party can have encrypted a properly constructed message (Stallings Figure 12.1a). Here, the ciphertext of the entire message serves as its authenticator, on the basis that only those who know the appropriate keys could have validly encrypted the message. This is provided you can recognize a valid message (ie if the message has </a:t>
            </a:r>
            <a:r>
              <a:rPr lang="en-AU">
                <a:latin typeface="Arial" pitchFamily="34" charset="0"/>
                <a:cs typeface="Arial" pitchFamily="34" charset="0"/>
              </a:rPr>
              <a:t>suitable structure such as redundancy or a checksum to detect any changes).</a:t>
            </a:r>
          </a:p>
          <a:p>
            <a:pPr eaLnBrk="1" hangingPunct="1"/>
            <a:endParaRPr lang="en-US">
              <a:latin typeface="Arial" pitchFamily="34" charset="0"/>
              <a:cs typeface="Arial" pitchFamily="34" charset="0"/>
            </a:endParaRPr>
          </a:p>
        </p:txBody>
      </p:sp>
    </p:spTree>
    <p:extLst>
      <p:ext uri="{BB962C8B-B14F-4D97-AF65-F5344CB8AC3E}">
        <p14:creationId xmlns:p14="http://schemas.microsoft.com/office/powerpoint/2010/main" val="3800919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2494A8E0-7678-4F30-9C59-4B5755314B10}" type="slidenum">
              <a:rPr lang="en-US" sz="1200" b="0">
                <a:latin typeface="Times New Roman" panose="02020603050405020304" pitchFamily="18" charset="0"/>
              </a:rPr>
              <a:pPr/>
              <a:t>43</a:t>
            </a:fld>
            <a:endParaRPr lang="en-US" sz="1200" b="0">
              <a:latin typeface="Times New Roman" panose="02020603050405020304" pitchFamily="18" charset="0"/>
            </a:endParaRPr>
          </a:p>
        </p:txBody>
      </p:sp>
      <p:sp>
        <p:nvSpPr>
          <p:cNvPr id="110595" name="Rectangle 2"/>
          <p:cNvSpPr>
            <a:spLocks noGrp="1" noRot="1" noChangeAspect="1" noChangeArrowheads="1" noTextEdit="1"/>
          </p:cNvSpPr>
          <p:nvPr>
            <p:ph type="sldImg"/>
          </p:nvPr>
        </p:nvSpPr>
        <p:spPr>
          <a:xfrm>
            <a:off x="381000" y="685800"/>
            <a:ext cx="6096000" cy="3429000"/>
          </a:xfrm>
          <a:ln/>
        </p:spPr>
      </p:sp>
      <p:sp>
        <p:nvSpPr>
          <p:cNvPr id="110596"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412119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44</a:t>
            </a:fld>
            <a:endParaRPr lang="en-AU" dirty="0"/>
          </a:p>
        </p:txBody>
      </p:sp>
    </p:spTree>
    <p:extLst>
      <p:ext uri="{BB962C8B-B14F-4D97-AF65-F5344CB8AC3E}">
        <p14:creationId xmlns:p14="http://schemas.microsoft.com/office/powerpoint/2010/main" val="4072611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45</a:t>
            </a:fld>
            <a:endParaRPr lang="en-AU" dirty="0"/>
          </a:p>
        </p:txBody>
      </p:sp>
    </p:spTree>
    <p:extLst>
      <p:ext uri="{BB962C8B-B14F-4D97-AF65-F5344CB8AC3E}">
        <p14:creationId xmlns:p14="http://schemas.microsoft.com/office/powerpoint/2010/main" val="283909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46</a:t>
            </a:fld>
            <a:endParaRPr lang="en-AU" dirty="0"/>
          </a:p>
        </p:txBody>
      </p:sp>
    </p:spTree>
    <p:extLst>
      <p:ext uri="{BB962C8B-B14F-4D97-AF65-F5344CB8AC3E}">
        <p14:creationId xmlns:p14="http://schemas.microsoft.com/office/powerpoint/2010/main" val="4072611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47</a:t>
            </a:fld>
            <a:endParaRPr lang="en-AU" dirty="0"/>
          </a:p>
        </p:txBody>
      </p:sp>
    </p:spTree>
    <p:extLst>
      <p:ext uri="{BB962C8B-B14F-4D97-AF65-F5344CB8AC3E}">
        <p14:creationId xmlns:p14="http://schemas.microsoft.com/office/powerpoint/2010/main" val="4072611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48</a:t>
            </a:fld>
            <a:endParaRPr lang="en-AU" dirty="0"/>
          </a:p>
        </p:txBody>
      </p:sp>
    </p:spTree>
    <p:extLst>
      <p:ext uri="{BB962C8B-B14F-4D97-AF65-F5344CB8AC3E}">
        <p14:creationId xmlns:p14="http://schemas.microsoft.com/office/powerpoint/2010/main" val="4072611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49</a:t>
            </a:fld>
            <a:endParaRPr lang="en-AU" dirty="0"/>
          </a:p>
        </p:txBody>
      </p:sp>
    </p:spTree>
    <p:extLst>
      <p:ext uri="{BB962C8B-B14F-4D97-AF65-F5344CB8AC3E}">
        <p14:creationId xmlns:p14="http://schemas.microsoft.com/office/powerpoint/2010/main" val="2490993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50</a:t>
            </a:fld>
            <a:endParaRPr lang="en-AU" dirty="0"/>
          </a:p>
        </p:txBody>
      </p:sp>
    </p:spTree>
    <p:extLst>
      <p:ext uri="{BB962C8B-B14F-4D97-AF65-F5344CB8AC3E}">
        <p14:creationId xmlns:p14="http://schemas.microsoft.com/office/powerpoint/2010/main" val="4072611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4512D2D-F426-463B-A287-7F19E70A3F04}"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1C0370D3-2A0E-430D-9AB5-2A1EC2291BB5}"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D1AD4A7-0882-4109-99AA-A63B3268F595}"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74754" name="Rectangle 2"/>
          <p:cNvSpPr>
            <a:spLocks noGrp="1" noChangeArrowheads="1"/>
          </p:cNvSpPr>
          <p:nvPr>
            <p:ph type="ctrTitle"/>
          </p:nvPr>
        </p:nvSpPr>
        <p:spPr>
          <a:xfrm>
            <a:off x="914400" y="2130426"/>
            <a:ext cx="10363200" cy="1470025"/>
          </a:xfrm>
        </p:spPr>
        <p:txBody>
          <a:bodyPr/>
          <a:lstStyle>
            <a:lvl1pPr>
              <a:defRPr/>
            </a:lvl1pPr>
          </a:lstStyle>
          <a:p>
            <a:r>
              <a:rPr lang="en-US"/>
              <a:t>Click to edit Master title style</a:t>
            </a:r>
          </a:p>
        </p:txBody>
      </p:sp>
      <p:sp>
        <p:nvSpPr>
          <p:cNvPr id="74755"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r>
              <a:rPr lang="en-US"/>
              <a:t>Click to edit Master subtitle style</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8737600" y="6245225"/>
            <a:ext cx="2844800" cy="476250"/>
          </a:xfrm>
        </p:spPr>
        <p:txBody>
          <a:bodyPr/>
          <a:lstStyle>
            <a:lvl1pPr>
              <a:defRPr smtClean="0"/>
            </a:lvl1pPr>
          </a:lstStyle>
          <a:p>
            <a:pPr>
              <a:defRPr/>
            </a:pPr>
            <a:fld id="{C8B07C73-BD55-4794-AC9F-2E8189A32BE1}" type="slidenum">
              <a:rPr lang="en-US"/>
              <a:pPr>
                <a:defRPr/>
              </a:pPr>
              <a:t>‹#›</a:t>
            </a:fld>
            <a:endParaRPr lang="en-US" dirty="0"/>
          </a:p>
        </p:txBody>
      </p:sp>
    </p:spTree>
    <p:extLst>
      <p:ext uri="{BB962C8B-B14F-4D97-AF65-F5344CB8AC3E}">
        <p14:creationId xmlns:p14="http://schemas.microsoft.com/office/powerpoint/2010/main" val="252890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276999"/>
          </a:xfrm>
          <a:prstGeom prst="rect">
            <a:avLst/>
          </a:prstGeom>
        </p:spPr>
        <p:txBody>
          <a:bodyPr/>
          <a:lstStyle>
            <a:lvl1pPr>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a:lstStyle>
            <a:lvl1pPr>
              <a:defRPr/>
            </a:lvl1pPr>
          </a:lstStyle>
          <a:p>
            <a:endParaRPr/>
          </a:p>
        </p:txBody>
      </p:sp>
      <p:sp>
        <p:nvSpPr>
          <p:cNvPr id="4" name="Holder 4">
            <a:extLst>
              <a:ext uri="{FF2B5EF4-FFF2-40B4-BE49-F238E27FC236}">
                <a16:creationId xmlns:a16="http://schemas.microsoft.com/office/drawing/2014/main" id="{4CA3D1AA-E208-497A-928B-40A7B2B2030F}"/>
              </a:ext>
            </a:extLst>
          </p:cNvPr>
          <p:cNvSpPr>
            <a:spLocks noGrp="1" noChangeArrowheads="1"/>
          </p:cNvSpPr>
          <p:nvPr>
            <p:ph type="ftr" sz="quarter" idx="10"/>
          </p:nvPr>
        </p:nvSpPr>
        <p:spPr>
          <a:ln/>
        </p:spPr>
        <p:txBody>
          <a:bodyPr/>
          <a:lstStyle>
            <a:lvl1pPr>
              <a:defRPr/>
            </a:lvl1pPr>
          </a:lstStyle>
          <a:p>
            <a:endParaRPr lang="en-US" altLang="en-US"/>
          </a:p>
        </p:txBody>
      </p:sp>
      <p:sp>
        <p:nvSpPr>
          <p:cNvPr id="5" name="Holder 5">
            <a:extLst>
              <a:ext uri="{FF2B5EF4-FFF2-40B4-BE49-F238E27FC236}">
                <a16:creationId xmlns:a16="http://schemas.microsoft.com/office/drawing/2014/main" id="{5CF6E1EB-37A1-43D9-BD84-989ED5E56A72}"/>
              </a:ext>
            </a:extLst>
          </p:cNvPr>
          <p:cNvSpPr>
            <a:spLocks noGrp="1" noChangeArrowheads="1"/>
          </p:cNvSpPr>
          <p:nvPr>
            <p:ph type="dt" sz="half" idx="11"/>
          </p:nvPr>
        </p:nvSpPr>
        <p:spPr>
          <a:ln/>
        </p:spPr>
        <p:txBody>
          <a:bodyPr/>
          <a:lstStyle>
            <a:lvl1pPr>
              <a:defRPr/>
            </a:lvl1pPr>
          </a:lstStyle>
          <a:p>
            <a:fld id="{D9040764-07A7-4740-8C47-615DA305D99E}" type="datetimeFigureOut">
              <a:rPr lang="en-US" altLang="en-US"/>
              <a:pPr/>
              <a:t>9/17/2026</a:t>
            </a:fld>
            <a:endParaRPr lang="en-US" altLang="en-US"/>
          </a:p>
        </p:txBody>
      </p:sp>
      <p:sp>
        <p:nvSpPr>
          <p:cNvPr id="6" name="Holder 6">
            <a:extLst>
              <a:ext uri="{FF2B5EF4-FFF2-40B4-BE49-F238E27FC236}">
                <a16:creationId xmlns:a16="http://schemas.microsoft.com/office/drawing/2014/main" id="{D29B66A6-0A6F-4A37-B7F6-6A10C1437C6B}"/>
              </a:ext>
            </a:extLst>
          </p:cNvPr>
          <p:cNvSpPr>
            <a:spLocks noGrp="1"/>
          </p:cNvSpPr>
          <p:nvPr>
            <p:ph type="sldNum" sz="quarter" idx="12"/>
          </p:nvPr>
        </p:nvSpPr>
        <p:spPr/>
        <p:txBody>
          <a:bodyPr/>
          <a:lstStyle>
            <a:lvl1pPr>
              <a:defRPr/>
            </a:lvl1pPr>
          </a:lstStyle>
          <a:p>
            <a:fld id="{22C03A8A-07E0-412B-8094-DB1EDABC4685}" type="slidenum">
              <a:rPr lang="en-US" altLang="en-US"/>
              <a:pPr/>
              <a:t>‹#›</a:t>
            </a:fld>
            <a:endParaRPr lang="en-US" altLang="en-US"/>
          </a:p>
        </p:txBody>
      </p:sp>
    </p:spTree>
    <p:extLst>
      <p:ext uri="{BB962C8B-B14F-4D97-AF65-F5344CB8AC3E}">
        <p14:creationId xmlns:p14="http://schemas.microsoft.com/office/powerpoint/2010/main" val="3419328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913467" y="249238"/>
            <a:ext cx="8365067" cy="492443"/>
          </a:xfrm>
        </p:spPr>
        <p:txBody>
          <a:bodyPr/>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a:xfrm>
            <a:off x="986367" y="1247775"/>
            <a:ext cx="10219267" cy="369332"/>
          </a:xfrm>
        </p:spPr>
        <p:txBody>
          <a:bodyPr/>
          <a:lstStyle>
            <a:lvl1pPr>
              <a:defRPr sz="2400" b="0" i="0">
                <a:solidFill>
                  <a:srgbClr val="FF0000"/>
                </a:solidFill>
                <a:latin typeface="Arial"/>
                <a:cs typeface="Arial"/>
              </a:defRPr>
            </a:lvl1pPr>
          </a:lstStyle>
          <a:p>
            <a:endParaRPr/>
          </a:p>
        </p:txBody>
      </p:sp>
      <p:sp>
        <p:nvSpPr>
          <p:cNvPr id="4" name="Holder 4">
            <a:extLst>
              <a:ext uri="{FF2B5EF4-FFF2-40B4-BE49-F238E27FC236}">
                <a16:creationId xmlns:a16="http://schemas.microsoft.com/office/drawing/2014/main" id="{BF0426FC-58EC-4C81-84F5-E6D9E9F5783E}"/>
              </a:ext>
            </a:extLst>
          </p:cNvPr>
          <p:cNvSpPr>
            <a:spLocks noGrp="1" noChangeArrowheads="1"/>
          </p:cNvSpPr>
          <p:nvPr>
            <p:ph type="ftr" sz="quarter" idx="10"/>
          </p:nvPr>
        </p:nvSpPr>
        <p:spPr>
          <a:ln/>
        </p:spPr>
        <p:txBody>
          <a:bodyPr/>
          <a:lstStyle>
            <a:lvl1pPr>
              <a:defRPr/>
            </a:lvl1pPr>
          </a:lstStyle>
          <a:p>
            <a:endParaRPr lang="en-US" altLang="en-US"/>
          </a:p>
        </p:txBody>
      </p:sp>
      <p:sp>
        <p:nvSpPr>
          <p:cNvPr id="5" name="Holder 5">
            <a:extLst>
              <a:ext uri="{FF2B5EF4-FFF2-40B4-BE49-F238E27FC236}">
                <a16:creationId xmlns:a16="http://schemas.microsoft.com/office/drawing/2014/main" id="{368C2C4B-B346-45A5-8F8F-75FB18165A91}"/>
              </a:ext>
            </a:extLst>
          </p:cNvPr>
          <p:cNvSpPr>
            <a:spLocks noGrp="1" noChangeArrowheads="1"/>
          </p:cNvSpPr>
          <p:nvPr>
            <p:ph type="dt" sz="half" idx="11"/>
          </p:nvPr>
        </p:nvSpPr>
        <p:spPr>
          <a:ln/>
        </p:spPr>
        <p:txBody>
          <a:bodyPr/>
          <a:lstStyle>
            <a:lvl1pPr>
              <a:defRPr/>
            </a:lvl1pPr>
          </a:lstStyle>
          <a:p>
            <a:fld id="{9B1D84B5-2194-4DEF-A99B-BEE19BE150DD}" type="datetimeFigureOut">
              <a:rPr lang="en-US" altLang="en-US"/>
              <a:pPr/>
              <a:t>9/17/2026</a:t>
            </a:fld>
            <a:endParaRPr lang="en-US" altLang="en-US"/>
          </a:p>
        </p:txBody>
      </p:sp>
      <p:sp>
        <p:nvSpPr>
          <p:cNvPr id="6" name="Holder 6">
            <a:extLst>
              <a:ext uri="{FF2B5EF4-FFF2-40B4-BE49-F238E27FC236}">
                <a16:creationId xmlns:a16="http://schemas.microsoft.com/office/drawing/2014/main" id="{D56FB7DE-8E3E-4D4D-AB98-49F23654B344}"/>
              </a:ext>
            </a:extLst>
          </p:cNvPr>
          <p:cNvSpPr>
            <a:spLocks noGrp="1"/>
          </p:cNvSpPr>
          <p:nvPr>
            <p:ph type="sldNum" sz="quarter" idx="12"/>
          </p:nvPr>
        </p:nvSpPr>
        <p:spPr/>
        <p:txBody>
          <a:bodyPr/>
          <a:lstStyle>
            <a:lvl1pPr>
              <a:defRPr/>
            </a:lvl1pPr>
          </a:lstStyle>
          <a:p>
            <a:fld id="{B2296686-9AF6-48F4-AD82-8DEE627C2A3E}" type="slidenum">
              <a:rPr lang="en-US" altLang="en-US"/>
              <a:pPr/>
              <a:t>‹#›</a:t>
            </a:fld>
            <a:endParaRPr lang="en-US" altLang="en-US"/>
          </a:p>
        </p:txBody>
      </p:sp>
    </p:spTree>
    <p:extLst>
      <p:ext uri="{BB962C8B-B14F-4D97-AF65-F5344CB8AC3E}">
        <p14:creationId xmlns:p14="http://schemas.microsoft.com/office/powerpoint/2010/main" val="1827481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913467" y="249238"/>
            <a:ext cx="8365067" cy="492443"/>
          </a:xfrm>
        </p:spPr>
        <p:txBody>
          <a:bodyPr/>
          <a:lstStyle>
            <a:lvl1pPr>
              <a:defRPr sz="3200" b="0"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a:lstStyle>
            <a:lvl1pPr>
              <a:defRPr/>
            </a:lvl1pPr>
          </a:lstStyle>
          <a:p>
            <a:endParaRPr/>
          </a:p>
        </p:txBody>
      </p:sp>
      <p:sp>
        <p:nvSpPr>
          <p:cNvPr id="5" name="Holder 4">
            <a:extLst>
              <a:ext uri="{FF2B5EF4-FFF2-40B4-BE49-F238E27FC236}">
                <a16:creationId xmlns:a16="http://schemas.microsoft.com/office/drawing/2014/main" id="{1FB853A4-E3E8-4028-99BB-E18A1522766C}"/>
              </a:ext>
            </a:extLst>
          </p:cNvPr>
          <p:cNvSpPr>
            <a:spLocks noGrp="1" noChangeArrowheads="1"/>
          </p:cNvSpPr>
          <p:nvPr>
            <p:ph type="ftr" sz="quarter" idx="10"/>
          </p:nvPr>
        </p:nvSpPr>
        <p:spPr>
          <a:ln/>
        </p:spPr>
        <p:txBody>
          <a:bodyPr/>
          <a:lstStyle>
            <a:lvl1pPr>
              <a:defRPr/>
            </a:lvl1pPr>
          </a:lstStyle>
          <a:p>
            <a:endParaRPr lang="en-US" altLang="en-US"/>
          </a:p>
        </p:txBody>
      </p:sp>
      <p:sp>
        <p:nvSpPr>
          <p:cNvPr id="6" name="Holder 5">
            <a:extLst>
              <a:ext uri="{FF2B5EF4-FFF2-40B4-BE49-F238E27FC236}">
                <a16:creationId xmlns:a16="http://schemas.microsoft.com/office/drawing/2014/main" id="{26C979A6-6517-431D-8796-2D34F10937B3}"/>
              </a:ext>
            </a:extLst>
          </p:cNvPr>
          <p:cNvSpPr>
            <a:spLocks noGrp="1" noChangeArrowheads="1"/>
          </p:cNvSpPr>
          <p:nvPr>
            <p:ph type="dt" sz="half" idx="11"/>
          </p:nvPr>
        </p:nvSpPr>
        <p:spPr>
          <a:ln/>
        </p:spPr>
        <p:txBody>
          <a:bodyPr/>
          <a:lstStyle>
            <a:lvl1pPr>
              <a:defRPr/>
            </a:lvl1pPr>
          </a:lstStyle>
          <a:p>
            <a:fld id="{6E65E381-2852-4C4B-84F8-65F1914984AB}" type="datetimeFigureOut">
              <a:rPr lang="en-US" altLang="en-US"/>
              <a:pPr/>
              <a:t>9/17/2026</a:t>
            </a:fld>
            <a:endParaRPr lang="en-US" altLang="en-US"/>
          </a:p>
        </p:txBody>
      </p:sp>
      <p:sp>
        <p:nvSpPr>
          <p:cNvPr id="7" name="Holder 6">
            <a:extLst>
              <a:ext uri="{FF2B5EF4-FFF2-40B4-BE49-F238E27FC236}">
                <a16:creationId xmlns:a16="http://schemas.microsoft.com/office/drawing/2014/main" id="{D521D99F-314B-435E-88C9-5F82EF88C90B}"/>
              </a:ext>
            </a:extLst>
          </p:cNvPr>
          <p:cNvSpPr>
            <a:spLocks noGrp="1"/>
          </p:cNvSpPr>
          <p:nvPr>
            <p:ph type="sldNum" sz="quarter" idx="12"/>
          </p:nvPr>
        </p:nvSpPr>
        <p:spPr/>
        <p:txBody>
          <a:bodyPr/>
          <a:lstStyle>
            <a:lvl1pPr>
              <a:defRPr/>
            </a:lvl1pPr>
          </a:lstStyle>
          <a:p>
            <a:fld id="{A30353F9-947F-4878-93C8-A3EEB5E091D4}" type="slidenum">
              <a:rPr lang="en-US" altLang="en-US"/>
              <a:pPr/>
              <a:t>‹#›</a:t>
            </a:fld>
            <a:endParaRPr lang="en-US" altLang="en-US"/>
          </a:p>
        </p:txBody>
      </p:sp>
    </p:spTree>
    <p:extLst>
      <p:ext uri="{BB962C8B-B14F-4D97-AF65-F5344CB8AC3E}">
        <p14:creationId xmlns:p14="http://schemas.microsoft.com/office/powerpoint/2010/main" val="3898387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913467" y="249238"/>
            <a:ext cx="8365067" cy="492443"/>
          </a:xfrm>
        </p:spPr>
        <p:txBody>
          <a:bodyPr/>
          <a:lstStyle>
            <a:lvl1pPr>
              <a:defRPr sz="3200" b="0" i="0">
                <a:solidFill>
                  <a:schemeClr val="tx1"/>
                </a:solidFill>
                <a:latin typeface="Arial"/>
                <a:cs typeface="Arial"/>
              </a:defRPr>
            </a:lvl1pPr>
          </a:lstStyle>
          <a:p>
            <a:endParaRPr/>
          </a:p>
        </p:txBody>
      </p:sp>
      <p:sp>
        <p:nvSpPr>
          <p:cNvPr id="3" name="Holder 4">
            <a:extLst>
              <a:ext uri="{FF2B5EF4-FFF2-40B4-BE49-F238E27FC236}">
                <a16:creationId xmlns:a16="http://schemas.microsoft.com/office/drawing/2014/main" id="{689F5F2F-DA81-4473-A25A-4AA807C306D2}"/>
              </a:ext>
            </a:extLst>
          </p:cNvPr>
          <p:cNvSpPr>
            <a:spLocks noGrp="1" noChangeArrowheads="1"/>
          </p:cNvSpPr>
          <p:nvPr>
            <p:ph type="ftr" sz="quarter" idx="10"/>
          </p:nvPr>
        </p:nvSpPr>
        <p:spPr>
          <a:ln/>
        </p:spPr>
        <p:txBody>
          <a:bodyPr/>
          <a:lstStyle>
            <a:lvl1pPr>
              <a:defRPr/>
            </a:lvl1pPr>
          </a:lstStyle>
          <a:p>
            <a:endParaRPr lang="en-US" altLang="en-US"/>
          </a:p>
        </p:txBody>
      </p:sp>
      <p:sp>
        <p:nvSpPr>
          <p:cNvPr id="4" name="Holder 5">
            <a:extLst>
              <a:ext uri="{FF2B5EF4-FFF2-40B4-BE49-F238E27FC236}">
                <a16:creationId xmlns:a16="http://schemas.microsoft.com/office/drawing/2014/main" id="{D4C1F124-81C7-476E-8133-9ED2658135B4}"/>
              </a:ext>
            </a:extLst>
          </p:cNvPr>
          <p:cNvSpPr>
            <a:spLocks noGrp="1" noChangeArrowheads="1"/>
          </p:cNvSpPr>
          <p:nvPr>
            <p:ph type="dt" sz="half" idx="11"/>
          </p:nvPr>
        </p:nvSpPr>
        <p:spPr>
          <a:ln/>
        </p:spPr>
        <p:txBody>
          <a:bodyPr/>
          <a:lstStyle>
            <a:lvl1pPr>
              <a:defRPr/>
            </a:lvl1pPr>
          </a:lstStyle>
          <a:p>
            <a:fld id="{9013ADCE-43D9-440D-BE4B-8A5A6682D3D8}" type="datetimeFigureOut">
              <a:rPr lang="en-US" altLang="en-US"/>
              <a:pPr/>
              <a:t>9/17/2026</a:t>
            </a:fld>
            <a:endParaRPr lang="en-US" altLang="en-US"/>
          </a:p>
        </p:txBody>
      </p:sp>
      <p:sp>
        <p:nvSpPr>
          <p:cNvPr id="5" name="Holder 6">
            <a:extLst>
              <a:ext uri="{FF2B5EF4-FFF2-40B4-BE49-F238E27FC236}">
                <a16:creationId xmlns:a16="http://schemas.microsoft.com/office/drawing/2014/main" id="{A6A3393D-A4B3-4A20-BFD6-C33792D01922}"/>
              </a:ext>
            </a:extLst>
          </p:cNvPr>
          <p:cNvSpPr>
            <a:spLocks noGrp="1"/>
          </p:cNvSpPr>
          <p:nvPr>
            <p:ph type="sldNum" sz="quarter" idx="12"/>
          </p:nvPr>
        </p:nvSpPr>
        <p:spPr/>
        <p:txBody>
          <a:bodyPr/>
          <a:lstStyle>
            <a:lvl1pPr>
              <a:defRPr/>
            </a:lvl1pPr>
          </a:lstStyle>
          <a:p>
            <a:fld id="{B19041D9-E95B-44C2-A6EA-3C7071F91F4C}" type="slidenum">
              <a:rPr lang="en-US" altLang="en-US"/>
              <a:pPr/>
              <a:t>‹#›</a:t>
            </a:fld>
            <a:endParaRPr lang="en-US" altLang="en-US"/>
          </a:p>
        </p:txBody>
      </p:sp>
    </p:spTree>
    <p:extLst>
      <p:ext uri="{BB962C8B-B14F-4D97-AF65-F5344CB8AC3E}">
        <p14:creationId xmlns:p14="http://schemas.microsoft.com/office/powerpoint/2010/main" val="2986903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4">
            <a:extLst>
              <a:ext uri="{FF2B5EF4-FFF2-40B4-BE49-F238E27FC236}">
                <a16:creationId xmlns:a16="http://schemas.microsoft.com/office/drawing/2014/main" id="{ED0B08F6-4D38-4FF5-9C0C-F148E3C7DA66}"/>
              </a:ext>
            </a:extLst>
          </p:cNvPr>
          <p:cNvSpPr>
            <a:spLocks noGrp="1" noChangeArrowheads="1"/>
          </p:cNvSpPr>
          <p:nvPr>
            <p:ph type="ftr" sz="quarter" idx="10"/>
          </p:nvPr>
        </p:nvSpPr>
        <p:spPr>
          <a:ln/>
        </p:spPr>
        <p:txBody>
          <a:bodyPr/>
          <a:lstStyle>
            <a:lvl1pPr>
              <a:defRPr/>
            </a:lvl1pPr>
          </a:lstStyle>
          <a:p>
            <a:endParaRPr lang="en-US" altLang="en-US"/>
          </a:p>
        </p:txBody>
      </p:sp>
      <p:sp>
        <p:nvSpPr>
          <p:cNvPr id="3" name="Holder 5">
            <a:extLst>
              <a:ext uri="{FF2B5EF4-FFF2-40B4-BE49-F238E27FC236}">
                <a16:creationId xmlns:a16="http://schemas.microsoft.com/office/drawing/2014/main" id="{02212142-EFB9-47FA-9D4B-4EE0872D98F2}"/>
              </a:ext>
            </a:extLst>
          </p:cNvPr>
          <p:cNvSpPr>
            <a:spLocks noGrp="1" noChangeArrowheads="1"/>
          </p:cNvSpPr>
          <p:nvPr>
            <p:ph type="dt" sz="half" idx="11"/>
          </p:nvPr>
        </p:nvSpPr>
        <p:spPr>
          <a:ln/>
        </p:spPr>
        <p:txBody>
          <a:bodyPr/>
          <a:lstStyle>
            <a:lvl1pPr>
              <a:defRPr/>
            </a:lvl1pPr>
          </a:lstStyle>
          <a:p>
            <a:fld id="{4913BE45-E8B4-4E0B-A9F6-EBCEB34F2345}" type="datetimeFigureOut">
              <a:rPr lang="en-US" altLang="en-US"/>
              <a:pPr/>
              <a:t>9/17/2026</a:t>
            </a:fld>
            <a:endParaRPr lang="en-US" altLang="en-US"/>
          </a:p>
        </p:txBody>
      </p:sp>
      <p:sp>
        <p:nvSpPr>
          <p:cNvPr id="4" name="Holder 6">
            <a:extLst>
              <a:ext uri="{FF2B5EF4-FFF2-40B4-BE49-F238E27FC236}">
                <a16:creationId xmlns:a16="http://schemas.microsoft.com/office/drawing/2014/main" id="{228592F5-40E7-4E4A-B621-1FCFF4D9C594}"/>
              </a:ext>
            </a:extLst>
          </p:cNvPr>
          <p:cNvSpPr>
            <a:spLocks noGrp="1"/>
          </p:cNvSpPr>
          <p:nvPr>
            <p:ph type="sldNum" sz="quarter" idx="12"/>
          </p:nvPr>
        </p:nvSpPr>
        <p:spPr/>
        <p:txBody>
          <a:bodyPr/>
          <a:lstStyle>
            <a:lvl1pPr>
              <a:defRPr/>
            </a:lvl1pPr>
          </a:lstStyle>
          <a:p>
            <a:fld id="{A37AE0AF-CB2A-4070-83F0-C7EDD99F27C9}" type="slidenum">
              <a:rPr lang="en-US" altLang="en-US"/>
              <a:pPr/>
              <a:t>‹#›</a:t>
            </a:fld>
            <a:endParaRPr lang="en-US" altLang="en-US"/>
          </a:p>
        </p:txBody>
      </p:sp>
    </p:spTree>
    <p:extLst>
      <p:ext uri="{BB962C8B-B14F-4D97-AF65-F5344CB8AC3E}">
        <p14:creationId xmlns:p14="http://schemas.microsoft.com/office/powerpoint/2010/main" val="38276845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3732"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73734" name="Rectangle 6"/>
          <p:cNvSpPr>
            <a:spLocks noGrp="1" noChangeArrowheads="1"/>
          </p:cNvSpPr>
          <p:nvPr>
            <p:ph type="sldNum" sz="quarter" idx="4"/>
          </p:nvPr>
        </p:nvSpPr>
        <p:spPr bwMode="auto">
          <a:xfrm>
            <a:off x="8737600" y="6229350"/>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vl1pPr>
          </a:lstStyle>
          <a:p>
            <a:pPr>
              <a:defRPr/>
            </a:pPr>
            <a:fld id="{CC8D8CBA-988B-44C7-9959-56385BC0462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76" r:id="rId1"/>
    <p:sldLayoutId id="2147483680" r:id="rId2"/>
    <p:sldLayoutId id="2147483681" r:id="rId3"/>
    <p:sldLayoutId id="2147483682" r:id="rId4"/>
  </p:sldLayoutIdLst>
  <p:hf hdr="0" dt="0"/>
  <p:txStyles>
    <p:title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Holder 2">
            <a:extLst>
              <a:ext uri="{FF2B5EF4-FFF2-40B4-BE49-F238E27FC236}">
                <a16:creationId xmlns:a16="http://schemas.microsoft.com/office/drawing/2014/main" id="{C014F6EF-64C7-440D-873A-97F1AE14C400}"/>
              </a:ext>
            </a:extLst>
          </p:cNvPr>
          <p:cNvSpPr>
            <a:spLocks noGrp="1" noChangeArrowheads="1"/>
          </p:cNvSpPr>
          <p:nvPr>
            <p:ph type="title"/>
          </p:nvPr>
        </p:nvSpPr>
        <p:spPr bwMode="auto">
          <a:xfrm>
            <a:off x="1913467" y="249238"/>
            <a:ext cx="83650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1027" name="Holder 3">
            <a:extLst>
              <a:ext uri="{FF2B5EF4-FFF2-40B4-BE49-F238E27FC236}">
                <a16:creationId xmlns:a16="http://schemas.microsoft.com/office/drawing/2014/main" id="{09C0EF53-19D2-4AFB-AC39-E3AE9EAFAA0D}"/>
              </a:ext>
            </a:extLst>
          </p:cNvPr>
          <p:cNvSpPr>
            <a:spLocks noGrp="1" noChangeArrowheads="1"/>
          </p:cNvSpPr>
          <p:nvPr>
            <p:ph type="body" idx="1"/>
          </p:nvPr>
        </p:nvSpPr>
        <p:spPr bwMode="auto">
          <a:xfrm>
            <a:off x="986367" y="1247775"/>
            <a:ext cx="102192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1028" name="Holder 4">
            <a:extLst>
              <a:ext uri="{FF2B5EF4-FFF2-40B4-BE49-F238E27FC236}">
                <a16:creationId xmlns:a16="http://schemas.microsoft.com/office/drawing/2014/main" id="{7D9BCB2D-6E77-4F6C-BE65-85DB193FBEE8}"/>
              </a:ext>
            </a:extLst>
          </p:cNvPr>
          <p:cNvSpPr>
            <a:spLocks noGrp="1" noChangeArrowheads="1"/>
          </p:cNvSpPr>
          <p:nvPr>
            <p:ph type="ftr" sz="quarter" idx="5"/>
          </p:nvPr>
        </p:nvSpPr>
        <p:spPr bwMode="auto">
          <a:xfrm>
            <a:off x="4144434" y="6378575"/>
            <a:ext cx="390313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algn="ctr" eaLnBrk="1" hangingPunct="1">
              <a:defRPr>
                <a:solidFill>
                  <a:srgbClr val="898989"/>
                </a:solidFill>
              </a:defRPr>
            </a:lvl1pPr>
          </a:lstStyle>
          <a:p>
            <a:endParaRPr lang="en-US" altLang="en-US"/>
          </a:p>
        </p:txBody>
      </p:sp>
      <p:sp>
        <p:nvSpPr>
          <p:cNvPr id="1029" name="Holder 5">
            <a:extLst>
              <a:ext uri="{FF2B5EF4-FFF2-40B4-BE49-F238E27FC236}">
                <a16:creationId xmlns:a16="http://schemas.microsoft.com/office/drawing/2014/main" id="{3788B929-A272-4073-9813-AFBF140DB8B1}"/>
              </a:ext>
            </a:extLst>
          </p:cNvPr>
          <p:cNvSpPr>
            <a:spLocks noGrp="1" noChangeArrowheads="1"/>
          </p:cNvSpPr>
          <p:nvPr>
            <p:ph type="dt" sz="half" idx="6"/>
          </p:nvPr>
        </p:nvSpPr>
        <p:spPr bwMode="auto">
          <a:xfrm>
            <a:off x="609600" y="6378575"/>
            <a:ext cx="28045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1" hangingPunct="1">
              <a:defRPr>
                <a:solidFill>
                  <a:srgbClr val="898989"/>
                </a:solidFill>
              </a:defRPr>
            </a:lvl1pPr>
          </a:lstStyle>
          <a:p>
            <a:fld id="{F6943947-B438-4D7A-B53C-0DA788E4DD96}" type="datetimeFigureOut">
              <a:rPr lang="en-US" altLang="en-US"/>
              <a:pPr/>
              <a:t>9/17/2026</a:t>
            </a:fld>
            <a:endParaRPr lang="en-US" altLang="en-US"/>
          </a:p>
        </p:txBody>
      </p:sp>
      <p:sp>
        <p:nvSpPr>
          <p:cNvPr id="6" name="Holder 6">
            <a:extLst>
              <a:ext uri="{FF2B5EF4-FFF2-40B4-BE49-F238E27FC236}">
                <a16:creationId xmlns:a16="http://schemas.microsoft.com/office/drawing/2014/main" id="{BB94F0C5-7A7E-4048-AE4A-26FE4602FCB2}"/>
              </a:ext>
            </a:extLst>
          </p:cNvPr>
          <p:cNvSpPr>
            <a:spLocks noGrp="1"/>
          </p:cNvSpPr>
          <p:nvPr>
            <p:ph type="sldNum" sz="quarter" idx="7"/>
          </p:nvPr>
        </p:nvSpPr>
        <p:spPr>
          <a:xfrm>
            <a:off x="10841567" y="6294439"/>
            <a:ext cx="381000" cy="204351"/>
          </a:xfrm>
          <a:prstGeom prst="rect">
            <a:avLst/>
          </a:prstGeom>
        </p:spPr>
        <p:txBody>
          <a:bodyPr vert="horz" wrap="square" lIns="0" tIns="0" rIns="0" bIns="0" numCol="1" anchor="t" anchorCtr="0" compatLnSpc="1">
            <a:prstTxWarp prst="textNoShape">
              <a:avLst/>
            </a:prstTxWarp>
            <a:spAutoFit/>
          </a:bodyPr>
          <a:lstStyle>
            <a:lvl1pPr marL="38100" eaLnBrk="1" hangingPunct="1">
              <a:lnSpc>
                <a:spcPts val="1650"/>
              </a:lnSpc>
              <a:defRPr sz="1400">
                <a:cs typeface="Arial" panose="020B0604020202020204" pitchFamily="34" charset="0"/>
              </a:defRPr>
            </a:lvl1pPr>
          </a:lstStyle>
          <a:p>
            <a:fld id="{53284DAF-F201-463A-9A87-3E586AB9538A}" type="slidenum">
              <a:rPr lang="en-US" altLang="en-US"/>
              <a:pPr/>
              <a:t>‹#›</a:t>
            </a:fld>
            <a:endParaRPr lang="en-US" altLang="en-US"/>
          </a:p>
        </p:txBody>
      </p:sp>
    </p:spTree>
    <p:extLst>
      <p:ext uri="{BB962C8B-B14F-4D97-AF65-F5344CB8AC3E}">
        <p14:creationId xmlns:p14="http://schemas.microsoft.com/office/powerpoint/2010/main" val="69150462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anose="020F0502020204030204" pitchFamily="34" charset="0"/>
        </a:defRPr>
      </a:lvl2pPr>
      <a:lvl3pPr algn="ctr" rtl="0" eaLnBrk="0" fontAlgn="base" hangingPunct="0">
        <a:spcBef>
          <a:spcPct val="0"/>
        </a:spcBef>
        <a:spcAft>
          <a:spcPct val="0"/>
        </a:spcAft>
        <a:defRPr>
          <a:solidFill>
            <a:schemeClr val="tx2"/>
          </a:solidFill>
          <a:latin typeface="Calibri" panose="020F0502020204030204" pitchFamily="34" charset="0"/>
        </a:defRPr>
      </a:lvl3pPr>
      <a:lvl4pPr algn="ctr" rtl="0" eaLnBrk="0" fontAlgn="base" hangingPunct="0">
        <a:spcBef>
          <a:spcPct val="0"/>
        </a:spcBef>
        <a:spcAft>
          <a:spcPct val="0"/>
        </a:spcAft>
        <a:defRPr>
          <a:solidFill>
            <a:schemeClr val="tx2"/>
          </a:solidFill>
          <a:latin typeface="Calibri" panose="020F0502020204030204" pitchFamily="34" charset="0"/>
        </a:defRPr>
      </a:lvl4pPr>
      <a:lvl5pPr algn="ctr" rtl="0" eaLnBrk="0" fontAlgn="base" hangingPunct="0">
        <a:spcBef>
          <a:spcPct val="0"/>
        </a:spcBef>
        <a:spcAft>
          <a:spcPct val="0"/>
        </a:spcAft>
        <a:defRPr>
          <a:solidFill>
            <a:schemeClr val="tx2"/>
          </a:solidFill>
          <a:latin typeface="Calibri" panose="020F0502020204030204" pitchFamily="34" charset="0"/>
        </a:defRPr>
      </a:lvl5pPr>
      <a:lvl6pPr marL="457200" algn="ctr" rtl="0" eaLnBrk="0" fontAlgn="base" hangingPunct="0">
        <a:spcBef>
          <a:spcPct val="0"/>
        </a:spcBef>
        <a:spcAft>
          <a:spcPct val="0"/>
        </a:spcAft>
        <a:defRPr>
          <a:solidFill>
            <a:schemeClr val="tx2"/>
          </a:solidFill>
          <a:latin typeface="Calibri" panose="020F0502020204030204" pitchFamily="34" charset="0"/>
        </a:defRPr>
      </a:lvl6pPr>
      <a:lvl7pPr marL="914400" algn="ctr" rtl="0" eaLnBrk="0" fontAlgn="base" hangingPunct="0">
        <a:spcBef>
          <a:spcPct val="0"/>
        </a:spcBef>
        <a:spcAft>
          <a:spcPct val="0"/>
        </a:spcAft>
        <a:defRPr>
          <a:solidFill>
            <a:schemeClr val="tx2"/>
          </a:solidFill>
          <a:latin typeface="Calibri" panose="020F0502020204030204" pitchFamily="34" charset="0"/>
        </a:defRPr>
      </a:lvl7pPr>
      <a:lvl8pPr marL="1371600" algn="ctr" rtl="0" eaLnBrk="0" fontAlgn="base" hangingPunct="0">
        <a:spcBef>
          <a:spcPct val="0"/>
        </a:spcBef>
        <a:spcAft>
          <a:spcPct val="0"/>
        </a:spcAft>
        <a:defRPr>
          <a:solidFill>
            <a:schemeClr val="tx2"/>
          </a:solidFill>
          <a:latin typeface="Calibri" panose="020F0502020204030204" pitchFamily="34" charset="0"/>
        </a:defRPr>
      </a:lvl8pPr>
      <a:lvl9pPr marL="1828800" algn="ctr" rtl="0" eaLnBrk="0" fontAlgn="base" hangingPunct="0">
        <a:spcBef>
          <a:spcPct val="0"/>
        </a:spcBef>
        <a:spcAft>
          <a:spcPct val="0"/>
        </a:spcAft>
        <a:defRPr>
          <a:solidFill>
            <a:schemeClr val="tx2"/>
          </a:solidFill>
          <a:latin typeface="Calibri" panose="020F0502020204030204" pitchFamily="34" charset="0"/>
        </a:defRPr>
      </a:lvl9pPr>
    </p:titleStyle>
    <p:bodyStyle>
      <a:lvl1pPr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wmf"/><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w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wmf"/><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hyperlink" Target="http://www.gnupg.org/" TargetMode="Externa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Slide Number Placeholder 5"/>
          <p:cNvSpPr>
            <a:spLocks noGrp="1"/>
          </p:cNvSpPr>
          <p:nvPr>
            <p:ph type="sldNum" sz="quarter" idx="12"/>
          </p:nvPr>
        </p:nvSpPr>
        <p:spPr>
          <a:noFill/>
        </p:spPr>
        <p:txBody>
          <a:bodyPr/>
          <a:lstStyle/>
          <a:p>
            <a:fld id="{54E5B6B1-7EE7-4DA8-A041-A7583CA77706}" type="slidenum">
              <a:rPr lang="en-US"/>
              <a:pPr/>
              <a:t>1</a:t>
            </a:fld>
            <a:endParaRPr lang="en-US"/>
          </a:p>
        </p:txBody>
      </p:sp>
      <p:sp>
        <p:nvSpPr>
          <p:cNvPr id="6" name="Title 5"/>
          <p:cNvSpPr>
            <a:spLocks noGrp="1" noChangeArrowheads="1"/>
          </p:cNvSpPr>
          <p:nvPr>
            <p:ph type="ctrTitle"/>
          </p:nvPr>
        </p:nvSpPr>
        <p:spPr bwMode="auto">
          <a:xfrm>
            <a:off x="2057400" y="2590801"/>
            <a:ext cx="5791200" cy="1200329"/>
          </a:xfrm>
          <a:prstGeom prst="rect">
            <a:avLst/>
          </a:prstGeom>
          <a:noFill/>
          <a:ln w="9525">
            <a:noFill/>
            <a:miter lim="800000"/>
            <a:headEnd/>
            <a:tailEnd/>
          </a:ln>
        </p:spPr>
        <p:txBody>
          <a:bodyPr wrap="square">
            <a:spAutoFit/>
          </a:bodyPr>
          <a:lstStyle/>
          <a:p>
            <a:pPr algn="ctr"/>
            <a:r>
              <a:rPr lang="en-US" altLang="zh-CN" sz="3600" b="1" dirty="0">
                <a:solidFill>
                  <a:srgbClr val="FF0000"/>
                </a:solidFill>
                <a:latin typeface="Tw Cen MT" panose="020B0602020104020603" pitchFamily="34" charset="0"/>
                <a:ea typeface="SimSun" pitchFamily="2" charset="-122"/>
                <a:cs typeface="Times New Roman" pitchFamily="18" charset="0"/>
              </a:rPr>
              <a:t>Cryptographic Hash and MAC</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1" y="533400"/>
            <a:ext cx="2295525" cy="558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27719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a:t>
            </a:fld>
            <a:endParaRPr lang="en-US" dirty="0"/>
          </a:p>
        </p:txBody>
      </p:sp>
      <p:sp>
        <p:nvSpPr>
          <p:cNvPr id="3" name="Rectangle 2"/>
          <p:cNvSpPr/>
          <p:nvPr/>
        </p:nvSpPr>
        <p:spPr>
          <a:xfrm>
            <a:off x="2438400" y="1676400"/>
            <a:ext cx="7696200" cy="4093428"/>
          </a:xfrm>
          <a:prstGeom prst="rect">
            <a:avLst/>
          </a:prstGeom>
        </p:spPr>
        <p:txBody>
          <a:bodyPr wrap="square">
            <a:spAutoFit/>
          </a:bodyPr>
          <a:lstStyle/>
          <a:p>
            <a:pPr marL="457200" indent="-457200">
              <a:spcAft>
                <a:spcPts val="1200"/>
              </a:spcAft>
              <a:buFont typeface="+mj-lt"/>
              <a:buAutoNum type="arabicPeriod"/>
            </a:pPr>
            <a:r>
              <a:rPr lang="en-US" sz="2800" dirty="0">
                <a:latin typeface="Tw Cen MT" panose="020B0602020104020603" pitchFamily="34" charset="0"/>
                <a:cs typeface="Times New Roman" pitchFamily="18" charset="0"/>
              </a:rPr>
              <a:t>To introduce general ideas behind cryptographic  hash functions</a:t>
            </a:r>
          </a:p>
          <a:p>
            <a:pPr marL="457200" indent="-457200">
              <a:spcAft>
                <a:spcPts val="1200"/>
              </a:spcAft>
              <a:buFont typeface="+mj-lt"/>
              <a:buAutoNum type="arabicPeriod"/>
            </a:pPr>
            <a:r>
              <a:rPr lang="en-US" sz="2800" dirty="0">
                <a:latin typeface="Tw Cen MT" panose="020B0602020104020603" pitchFamily="34" charset="0"/>
                <a:cs typeface="Times New Roman" pitchFamily="18" charset="0"/>
              </a:rPr>
              <a:t> To discuss the </a:t>
            </a:r>
            <a:r>
              <a:rPr lang="en-US" sz="2800" dirty="0" err="1">
                <a:latin typeface="Tw Cen MT" panose="020B0602020104020603" pitchFamily="34" charset="0"/>
                <a:cs typeface="Times New Roman" pitchFamily="18" charset="0"/>
              </a:rPr>
              <a:t>Merkle-Damgard</a:t>
            </a:r>
            <a:r>
              <a:rPr lang="en-US" sz="2800" dirty="0">
                <a:latin typeface="Tw Cen MT" panose="020B0602020104020603" pitchFamily="34" charset="0"/>
                <a:cs typeface="Times New Roman" pitchFamily="18" charset="0"/>
              </a:rPr>
              <a:t> scheme as the basis  for iterated hash functions</a:t>
            </a:r>
          </a:p>
          <a:p>
            <a:pPr marL="457200" indent="-457200">
              <a:spcAft>
                <a:spcPts val="1200"/>
              </a:spcAft>
              <a:buFont typeface="+mj-lt"/>
              <a:buAutoNum type="arabicPeriod"/>
            </a:pPr>
            <a:r>
              <a:rPr lang="en-US" sz="2800" dirty="0">
                <a:latin typeface="Tw Cen MT" panose="020B0602020104020603" pitchFamily="34" charset="0"/>
                <a:cs typeface="Times New Roman" pitchFamily="18" charset="0"/>
              </a:rPr>
              <a:t> To distinguish between two categories of hash</a:t>
            </a:r>
            <a:br>
              <a:rPr lang="en-US" sz="2800" dirty="0">
                <a:latin typeface="Tw Cen MT" panose="020B0602020104020603" pitchFamily="34" charset="0"/>
                <a:cs typeface="Times New Roman" pitchFamily="18" charset="0"/>
              </a:rPr>
            </a:br>
            <a:r>
              <a:rPr lang="en-US" sz="2800" dirty="0">
                <a:latin typeface="Tw Cen MT" panose="020B0602020104020603" pitchFamily="34" charset="0"/>
                <a:cs typeface="Times New Roman" pitchFamily="18" charset="0"/>
              </a:rPr>
              <a:t> functions.</a:t>
            </a:r>
          </a:p>
          <a:p>
            <a:pPr marL="457200" indent="-457200">
              <a:spcAft>
                <a:spcPts val="1200"/>
              </a:spcAft>
              <a:buFont typeface="+mj-lt"/>
              <a:buAutoNum type="arabicPeriod"/>
            </a:pPr>
            <a:r>
              <a:rPr lang="en-US" sz="2800" dirty="0">
                <a:latin typeface="Tw Cen MT" panose="020B0602020104020603" pitchFamily="34" charset="0"/>
                <a:cs typeface="Times New Roman" pitchFamily="18" charset="0"/>
              </a:rPr>
              <a:t> To discuss the structure of SHA-512.</a:t>
            </a:r>
          </a:p>
          <a:p>
            <a:pPr>
              <a:spcAft>
                <a:spcPts val="1200"/>
              </a:spcAft>
            </a:pPr>
            <a:endParaRPr lang="en-US" sz="2400" dirty="0">
              <a:latin typeface="Tw Cen MT" panose="020B0602020104020603" pitchFamily="34" charset="0"/>
              <a:cs typeface="Times New Roman" pitchFamily="18" charset="0"/>
            </a:endParaRPr>
          </a:p>
        </p:txBody>
      </p:sp>
      <p:sp>
        <p:nvSpPr>
          <p:cNvPr id="4" name="Rectangle 3"/>
          <p:cNvSpPr/>
          <p:nvPr/>
        </p:nvSpPr>
        <p:spPr>
          <a:xfrm>
            <a:off x="4885412" y="838201"/>
            <a:ext cx="1444626" cy="584775"/>
          </a:xfrm>
          <a:prstGeom prst="rect">
            <a:avLst/>
          </a:prstGeom>
        </p:spPr>
        <p:txBody>
          <a:bodyPr wrap="none">
            <a:spAutoFit/>
          </a:bodyPr>
          <a:lstStyle/>
          <a:p>
            <a:r>
              <a:rPr lang="en-US" sz="3200" b="1" dirty="0">
                <a:solidFill>
                  <a:srgbClr val="FF0000"/>
                </a:solidFill>
                <a:latin typeface="Tw Cen MT" panose="020B0602020104020603" pitchFamily="34" charset="0"/>
              </a:rPr>
              <a:t>Outline</a:t>
            </a:r>
            <a:endParaRPr lang="en-US" sz="3200" dirty="0">
              <a:solidFill>
                <a:srgbClr val="FF0000"/>
              </a:solidFill>
              <a:latin typeface="Tw Cen MT" panose="020B0602020104020603" pitchFamily="34" charset="0"/>
            </a:endParaRPr>
          </a:p>
        </p:txBody>
      </p:sp>
    </p:spTree>
    <p:extLst>
      <p:ext uri="{BB962C8B-B14F-4D97-AF65-F5344CB8AC3E}">
        <p14:creationId xmlns:p14="http://schemas.microsoft.com/office/powerpoint/2010/main" val="12794719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a:t>
            </a:fld>
            <a:endParaRPr lang="en-US" dirty="0"/>
          </a:p>
        </p:txBody>
      </p:sp>
      <p:sp>
        <p:nvSpPr>
          <p:cNvPr id="4" name="Rectangle 3"/>
          <p:cNvSpPr/>
          <p:nvPr/>
        </p:nvSpPr>
        <p:spPr>
          <a:xfrm>
            <a:off x="4885412" y="838201"/>
            <a:ext cx="1444626" cy="584775"/>
          </a:xfrm>
          <a:prstGeom prst="rect">
            <a:avLst/>
          </a:prstGeom>
        </p:spPr>
        <p:txBody>
          <a:bodyPr wrap="none">
            <a:spAutoFit/>
          </a:bodyPr>
          <a:lstStyle/>
          <a:p>
            <a:r>
              <a:rPr lang="en-US" sz="3200" b="1" dirty="0">
                <a:solidFill>
                  <a:srgbClr val="FF0000"/>
                </a:solidFill>
                <a:latin typeface="Tw Cen MT" panose="020B0602020104020603" pitchFamily="34" charset="0"/>
              </a:rPr>
              <a:t>Outline</a:t>
            </a:r>
            <a:endParaRPr lang="en-US" sz="3200" dirty="0">
              <a:solidFill>
                <a:srgbClr val="FF0000"/>
              </a:solidFill>
              <a:latin typeface="Tw Cen MT" panose="020B0602020104020603" pitchFamily="34" charset="0"/>
            </a:endParaRPr>
          </a:p>
        </p:txBody>
      </p:sp>
      <p:sp>
        <p:nvSpPr>
          <p:cNvPr id="5" name="Rectangle 3"/>
          <p:cNvSpPr>
            <a:spLocks noChangeArrowheads="1"/>
          </p:cNvSpPr>
          <p:nvPr/>
        </p:nvSpPr>
        <p:spPr bwMode="auto">
          <a:xfrm>
            <a:off x="1905000" y="1403350"/>
            <a:ext cx="8534400" cy="469265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Aft>
                <a:spcPct val="55000"/>
              </a:spcAft>
            </a:pPr>
            <a:r>
              <a:rPr lang="en-US" sz="2800" dirty="0">
                <a:latin typeface="Tw Cen MT" pitchFamily="34" charset="0"/>
              </a:rPr>
              <a:t>❏  To define message integrity</a:t>
            </a:r>
          </a:p>
          <a:p>
            <a:pPr algn="just">
              <a:spcAft>
                <a:spcPct val="55000"/>
              </a:spcAft>
            </a:pPr>
            <a:r>
              <a:rPr lang="en-US" sz="2800" dirty="0">
                <a:latin typeface="Tw Cen MT" pitchFamily="34" charset="0"/>
              </a:rPr>
              <a:t>❏  To define message authentication</a:t>
            </a:r>
          </a:p>
          <a:p>
            <a:pPr algn="just">
              <a:spcAft>
                <a:spcPct val="55000"/>
              </a:spcAft>
            </a:pPr>
            <a:r>
              <a:rPr lang="en-US" sz="2800" dirty="0">
                <a:latin typeface="Tw Cen MT" pitchFamily="34" charset="0"/>
              </a:rPr>
              <a:t>❏  To define criteria for a cryptographic hash function</a:t>
            </a:r>
          </a:p>
          <a:p>
            <a:pPr algn="just">
              <a:spcAft>
                <a:spcPct val="55000"/>
              </a:spcAft>
            </a:pPr>
            <a:r>
              <a:rPr lang="en-US" sz="2800" dirty="0">
                <a:latin typeface="Tw Cen MT" pitchFamily="34" charset="0"/>
              </a:rPr>
              <a:t>❏  To define the Random Oracle Model and its role in</a:t>
            </a:r>
            <a:br>
              <a:rPr lang="en-US" sz="2800" dirty="0">
                <a:latin typeface="Tw Cen MT" pitchFamily="34" charset="0"/>
              </a:rPr>
            </a:br>
            <a:r>
              <a:rPr lang="en-US" sz="2800" dirty="0">
                <a:latin typeface="Tw Cen MT" pitchFamily="34" charset="0"/>
              </a:rPr>
              <a:t>      evaluating the security of cryptographic hash</a:t>
            </a:r>
            <a:br>
              <a:rPr lang="en-US" sz="2800" dirty="0">
                <a:latin typeface="Tw Cen MT" pitchFamily="34" charset="0"/>
              </a:rPr>
            </a:br>
            <a:r>
              <a:rPr lang="en-US" sz="2800" dirty="0">
                <a:latin typeface="Tw Cen MT" pitchFamily="34" charset="0"/>
              </a:rPr>
              <a:t>      functions</a:t>
            </a:r>
          </a:p>
          <a:p>
            <a:pPr algn="just">
              <a:spcAft>
                <a:spcPct val="55000"/>
              </a:spcAft>
            </a:pPr>
            <a:r>
              <a:rPr lang="en-US" sz="2800" dirty="0">
                <a:latin typeface="Tw Cen MT" pitchFamily="34" charset="0"/>
              </a:rPr>
              <a:t>❏  To distinguish between an MDC and a MAC</a:t>
            </a:r>
          </a:p>
          <a:p>
            <a:pPr algn="just">
              <a:spcAft>
                <a:spcPct val="55000"/>
              </a:spcAft>
            </a:pPr>
            <a:r>
              <a:rPr lang="en-US" sz="2800" dirty="0">
                <a:latin typeface="Tw Cen MT" pitchFamily="34" charset="0"/>
              </a:rPr>
              <a:t>❏  To discuss some common MACs</a:t>
            </a:r>
          </a:p>
        </p:txBody>
      </p:sp>
    </p:spTree>
    <p:extLst>
      <p:ext uri="{BB962C8B-B14F-4D97-AF65-F5344CB8AC3E}">
        <p14:creationId xmlns:p14="http://schemas.microsoft.com/office/powerpoint/2010/main" val="27494639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b="1" dirty="0">
                <a:solidFill>
                  <a:srgbClr val="FF0000"/>
                </a:solidFill>
                <a:latin typeface="Tw Cen MT" pitchFamily="34" charset="0"/>
              </a:rPr>
              <a:t>Message Authentication Requirements</a:t>
            </a:r>
            <a:endParaRPr lang="en-US" dirty="0">
              <a:solidFill>
                <a:srgbClr val="FF0000"/>
              </a:solidFill>
              <a:latin typeface="Tw Cen MT" pitchFamily="34" charset="0"/>
            </a:endParaRPr>
          </a:p>
        </p:txBody>
      </p:sp>
      <p:sp>
        <p:nvSpPr>
          <p:cNvPr id="6147" name="Rectangle 2"/>
          <p:cNvSpPr>
            <a:spLocks noChangeArrowheads="1"/>
          </p:cNvSpPr>
          <p:nvPr/>
        </p:nvSpPr>
        <p:spPr bwMode="auto">
          <a:xfrm>
            <a:off x="2743201" y="1828800"/>
            <a:ext cx="357187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buFontTx/>
              <a:buAutoNum type="arabicPeriod"/>
            </a:pPr>
            <a:r>
              <a:rPr lang="en-US" sz="2400" dirty="0">
                <a:latin typeface="Tw Cen MT" pitchFamily="34" charset="0"/>
                <a:cs typeface="CMSS12"/>
              </a:rPr>
              <a:t>Disclosure</a:t>
            </a:r>
          </a:p>
          <a:p>
            <a:pPr marL="342900" indent="-342900"/>
            <a:r>
              <a:rPr lang="en-US" sz="2400" dirty="0">
                <a:latin typeface="Tw Cen MT" pitchFamily="34" charset="0"/>
                <a:cs typeface="CMSS12"/>
              </a:rPr>
              <a:t>2.  Traffic analysis</a:t>
            </a:r>
          </a:p>
          <a:p>
            <a:pPr marL="342900" indent="-342900"/>
            <a:r>
              <a:rPr lang="en-US" sz="2400" dirty="0">
                <a:latin typeface="Tw Cen MT" pitchFamily="34" charset="0"/>
                <a:cs typeface="CMSS12"/>
              </a:rPr>
              <a:t>3. Masquerade</a:t>
            </a:r>
          </a:p>
          <a:p>
            <a:pPr marL="342900" indent="-342900"/>
            <a:r>
              <a:rPr lang="en-US" sz="2400" dirty="0">
                <a:latin typeface="Tw Cen MT" pitchFamily="34" charset="0"/>
                <a:cs typeface="CMSS12"/>
              </a:rPr>
              <a:t>4. Content modification</a:t>
            </a:r>
          </a:p>
          <a:p>
            <a:pPr marL="342900" indent="-342900"/>
            <a:r>
              <a:rPr lang="en-US" sz="2400" dirty="0">
                <a:latin typeface="Tw Cen MT" pitchFamily="34" charset="0"/>
                <a:cs typeface="CMSS12"/>
              </a:rPr>
              <a:t>5. Sequence modification</a:t>
            </a:r>
          </a:p>
          <a:p>
            <a:pPr marL="342900" indent="-342900"/>
            <a:r>
              <a:rPr lang="en-US" sz="2400" dirty="0">
                <a:latin typeface="Tw Cen MT" pitchFamily="34" charset="0"/>
                <a:cs typeface="CMSS12"/>
              </a:rPr>
              <a:t>6. Timing modification</a:t>
            </a:r>
          </a:p>
          <a:p>
            <a:pPr marL="342900" indent="-342900"/>
            <a:r>
              <a:rPr lang="en-US" sz="2400" dirty="0">
                <a:latin typeface="Tw Cen MT" pitchFamily="34" charset="0"/>
                <a:cs typeface="CMSS12"/>
              </a:rPr>
              <a:t>7. Source repudiation</a:t>
            </a:r>
          </a:p>
          <a:p>
            <a:pPr marL="342900" indent="-342900"/>
            <a:r>
              <a:rPr lang="en-US" sz="2400" dirty="0">
                <a:latin typeface="Tw Cen MT" pitchFamily="34" charset="0"/>
                <a:cs typeface="CMSS12"/>
              </a:rPr>
              <a:t>8. Destination repudiation</a:t>
            </a:r>
            <a:endParaRPr lang="en-US" dirty="0">
              <a:latin typeface="Tw Cen MT" pitchFamily="34" charset="0"/>
              <a:cs typeface="CMSS12"/>
            </a:endParaRPr>
          </a:p>
        </p:txBody>
      </p:sp>
    </p:spTree>
    <p:extLst>
      <p:ext uri="{BB962C8B-B14F-4D97-AF65-F5344CB8AC3E}">
        <p14:creationId xmlns:p14="http://schemas.microsoft.com/office/powerpoint/2010/main" val="18215732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b="1" dirty="0">
                <a:solidFill>
                  <a:srgbClr val="FF0000"/>
                </a:solidFill>
                <a:latin typeface="Tw Cen MT" pitchFamily="34" charset="0"/>
              </a:rPr>
              <a:t>Message Authentication Functions</a:t>
            </a:r>
            <a:endParaRPr lang="en-US" dirty="0">
              <a:solidFill>
                <a:srgbClr val="FF0000"/>
              </a:solidFill>
              <a:latin typeface="Tw Cen MT" pitchFamily="34" charset="0"/>
            </a:endParaRPr>
          </a:p>
        </p:txBody>
      </p:sp>
      <p:sp>
        <p:nvSpPr>
          <p:cNvPr id="4" name="Rectangle 3"/>
          <p:cNvSpPr txBox="1">
            <a:spLocks noChangeArrowheads="1"/>
          </p:cNvSpPr>
          <p:nvPr/>
        </p:nvSpPr>
        <p:spPr>
          <a:xfrm>
            <a:off x="2024063" y="1500189"/>
            <a:ext cx="8229600" cy="4454525"/>
          </a:xfrm>
          <a:prstGeom prst="rect">
            <a:avLst/>
          </a:prstGeom>
        </p:spPr>
        <p:txBody>
          <a:bodyPr/>
          <a:lstStyle/>
          <a:p>
            <a:pPr marL="342900" indent="-342900" algn="just">
              <a:spcBef>
                <a:spcPct val="20000"/>
              </a:spcBef>
              <a:buClr>
                <a:schemeClr val="hlink"/>
              </a:buClr>
              <a:buSzPct val="80000"/>
              <a:buBlip>
                <a:blip r:embed="rId2"/>
              </a:buBlip>
              <a:defRPr/>
            </a:pPr>
            <a:r>
              <a:rPr lang="en-US" sz="2400" b="1" dirty="0">
                <a:solidFill>
                  <a:srgbClr val="080808"/>
                </a:solidFill>
                <a:latin typeface="Tw Cen MT" pitchFamily="34" charset="0"/>
              </a:rPr>
              <a:t>Hash function: </a:t>
            </a:r>
            <a:r>
              <a:rPr lang="en-US" sz="2400" dirty="0">
                <a:solidFill>
                  <a:srgbClr val="080808"/>
                </a:solidFill>
                <a:latin typeface="Tw Cen MT" pitchFamily="34" charset="0"/>
              </a:rPr>
              <a:t>A function that maps a message of any length into a fixed length hash value, which serves as the authenticator</a:t>
            </a:r>
          </a:p>
          <a:p>
            <a:pPr marL="342900" indent="-342900" algn="just">
              <a:spcBef>
                <a:spcPct val="20000"/>
              </a:spcBef>
              <a:buClr>
                <a:schemeClr val="hlink"/>
              </a:buClr>
              <a:buSzPct val="80000"/>
              <a:buBlip>
                <a:blip r:embed="rId2"/>
              </a:buBlip>
              <a:defRPr/>
            </a:pPr>
            <a:endParaRPr lang="en-US" sz="2400" dirty="0">
              <a:solidFill>
                <a:srgbClr val="080808"/>
              </a:solidFill>
              <a:latin typeface="Tw Cen MT" pitchFamily="34" charset="0"/>
            </a:endParaRPr>
          </a:p>
          <a:p>
            <a:pPr marL="342900" indent="-342900" algn="just">
              <a:spcBef>
                <a:spcPct val="20000"/>
              </a:spcBef>
              <a:buClr>
                <a:schemeClr val="hlink"/>
              </a:buClr>
              <a:buSzPct val="80000"/>
              <a:buBlip>
                <a:blip r:embed="rId2"/>
              </a:buBlip>
              <a:defRPr/>
            </a:pPr>
            <a:r>
              <a:rPr lang="en-AU" sz="2400" kern="0" dirty="0">
                <a:solidFill>
                  <a:srgbClr val="080808"/>
                </a:solidFill>
                <a:latin typeface="Tw Cen MT" pitchFamily="34" charset="0"/>
                <a:cs typeface="CMSS12"/>
              </a:rPr>
              <a:t> </a:t>
            </a:r>
            <a:r>
              <a:rPr lang="en-US" sz="2400" b="1" dirty="0">
                <a:solidFill>
                  <a:srgbClr val="080808"/>
                </a:solidFill>
                <a:latin typeface="Tw Cen MT" pitchFamily="34" charset="0"/>
              </a:rPr>
              <a:t>Message encryption: </a:t>
            </a:r>
            <a:r>
              <a:rPr lang="en-US" sz="2400" dirty="0">
                <a:solidFill>
                  <a:srgbClr val="080808"/>
                </a:solidFill>
                <a:latin typeface="Tw Cen MT" pitchFamily="34" charset="0"/>
              </a:rPr>
              <a:t>The </a:t>
            </a:r>
            <a:r>
              <a:rPr lang="en-US" sz="2400" dirty="0" err="1">
                <a:solidFill>
                  <a:srgbClr val="080808"/>
                </a:solidFill>
                <a:latin typeface="Tw Cen MT" pitchFamily="34" charset="0"/>
              </a:rPr>
              <a:t>ciphertext</a:t>
            </a:r>
            <a:r>
              <a:rPr lang="en-US" sz="2400" dirty="0">
                <a:solidFill>
                  <a:srgbClr val="080808"/>
                </a:solidFill>
                <a:latin typeface="Tw Cen MT" pitchFamily="34" charset="0"/>
              </a:rPr>
              <a:t> of the entire message serves as its authenticator</a:t>
            </a:r>
          </a:p>
          <a:p>
            <a:pPr marL="342900" indent="-342900" algn="just">
              <a:spcBef>
                <a:spcPct val="20000"/>
              </a:spcBef>
              <a:buClr>
                <a:schemeClr val="hlink"/>
              </a:buClr>
              <a:buSzPct val="80000"/>
              <a:buBlip>
                <a:blip r:embed="rId2"/>
              </a:buBlip>
              <a:defRPr/>
            </a:pPr>
            <a:endParaRPr lang="en-AU" sz="2400" kern="0" dirty="0">
              <a:solidFill>
                <a:srgbClr val="080808"/>
              </a:solidFill>
              <a:latin typeface="Tw Cen MT" pitchFamily="34" charset="0"/>
              <a:cs typeface="CMSS12"/>
            </a:endParaRPr>
          </a:p>
          <a:p>
            <a:pPr marL="342900" indent="-342900" algn="just">
              <a:spcBef>
                <a:spcPct val="20000"/>
              </a:spcBef>
              <a:buClr>
                <a:schemeClr val="hlink"/>
              </a:buClr>
              <a:buSzPct val="80000"/>
              <a:buBlip>
                <a:blip r:embed="rId2"/>
              </a:buBlip>
              <a:defRPr/>
            </a:pPr>
            <a:r>
              <a:rPr lang="en-US" sz="2400" b="1" dirty="0">
                <a:solidFill>
                  <a:srgbClr val="080808"/>
                </a:solidFill>
                <a:latin typeface="Tw Cen MT" pitchFamily="34" charset="0"/>
              </a:rPr>
              <a:t>Message authentication code (MAC</a:t>
            </a:r>
            <a:r>
              <a:rPr lang="en-US" sz="2400" dirty="0">
                <a:solidFill>
                  <a:srgbClr val="080808"/>
                </a:solidFill>
                <a:latin typeface="Tw Cen MT" pitchFamily="34" charset="0"/>
              </a:rPr>
              <a:t>): A function of the message and a secret key that produces a fixed-length value that serves as the authenticator</a:t>
            </a:r>
            <a:endParaRPr lang="en-AU" sz="2400" kern="0" dirty="0">
              <a:solidFill>
                <a:srgbClr val="080808"/>
              </a:solidFill>
              <a:latin typeface="Tw Cen MT" pitchFamily="34" charset="0"/>
              <a:cs typeface="CMSS12"/>
            </a:endParaRPr>
          </a:p>
        </p:txBody>
      </p:sp>
    </p:spTree>
    <p:extLst>
      <p:ext uri="{BB962C8B-B14F-4D97-AF65-F5344CB8AC3E}">
        <p14:creationId xmlns:p14="http://schemas.microsoft.com/office/powerpoint/2010/main" val="38071579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752600" y="1"/>
            <a:ext cx="8686800" cy="1139825"/>
          </a:xfrm>
        </p:spPr>
        <p:txBody>
          <a:bodyPr/>
          <a:lstStyle/>
          <a:p>
            <a:pPr eaLnBrk="1" hangingPunct="1"/>
            <a:r>
              <a:rPr lang="en-US" b="1" dirty="0">
                <a:solidFill>
                  <a:srgbClr val="FF0000"/>
                </a:solidFill>
                <a:latin typeface="Tw Cen MT" pitchFamily="34" charset="0"/>
              </a:rPr>
              <a:t>Symmetric Message Encryption</a:t>
            </a:r>
            <a:endParaRPr lang="en-AU" b="1" dirty="0">
              <a:solidFill>
                <a:srgbClr val="FF0000"/>
              </a:solidFill>
              <a:latin typeface="Tw Cen MT" pitchFamily="34" charset="0"/>
            </a:endParaRPr>
          </a:p>
        </p:txBody>
      </p:sp>
      <p:sp>
        <p:nvSpPr>
          <p:cNvPr id="50179" name="Rectangle 3"/>
          <p:cNvSpPr>
            <a:spLocks noGrp="1" noChangeArrowheads="1"/>
          </p:cNvSpPr>
          <p:nvPr>
            <p:ph type="body" idx="1"/>
          </p:nvPr>
        </p:nvSpPr>
        <p:spPr>
          <a:xfrm>
            <a:off x="2238375" y="990601"/>
            <a:ext cx="7743826" cy="4454525"/>
          </a:xfrm>
        </p:spPr>
        <p:txBody>
          <a:bodyPr/>
          <a:lstStyle/>
          <a:p>
            <a:pPr eaLnBrk="1" hangingPunct="1">
              <a:buFontTx/>
              <a:buBlip>
                <a:blip r:embed="rId3"/>
              </a:buBlip>
            </a:pPr>
            <a:r>
              <a:rPr lang="en-US" dirty="0">
                <a:solidFill>
                  <a:srgbClr val="080808"/>
                </a:solidFill>
                <a:latin typeface="Tw Cen MT" pitchFamily="34" charset="0"/>
              </a:rPr>
              <a:t>encryption can also provides authentication</a:t>
            </a:r>
          </a:p>
          <a:p>
            <a:pPr eaLnBrk="1" hangingPunct="1">
              <a:buFontTx/>
              <a:buBlip>
                <a:blip r:embed="rId3"/>
              </a:buBlip>
            </a:pPr>
            <a:r>
              <a:rPr lang="en-US" dirty="0">
                <a:solidFill>
                  <a:srgbClr val="080808"/>
                </a:solidFill>
                <a:latin typeface="Tw Cen MT" pitchFamily="34" charset="0"/>
              </a:rPr>
              <a:t>if symmetric encryption is used then:</a:t>
            </a:r>
          </a:p>
          <a:p>
            <a:pPr lvl="1" eaLnBrk="1" hangingPunct="1">
              <a:buFontTx/>
              <a:buBlip>
                <a:blip r:embed="rId4"/>
              </a:buBlip>
            </a:pPr>
            <a:r>
              <a:rPr lang="en-US" dirty="0">
                <a:solidFill>
                  <a:srgbClr val="080808"/>
                </a:solidFill>
                <a:latin typeface="Tw Cen MT" pitchFamily="34" charset="0"/>
              </a:rPr>
              <a:t>receiver know sender must have created it</a:t>
            </a:r>
          </a:p>
          <a:p>
            <a:pPr lvl="1" eaLnBrk="1" hangingPunct="1">
              <a:buFontTx/>
              <a:buBlip>
                <a:blip r:embed="rId4"/>
              </a:buBlip>
            </a:pPr>
            <a:r>
              <a:rPr lang="en-US" dirty="0">
                <a:solidFill>
                  <a:srgbClr val="080808"/>
                </a:solidFill>
                <a:latin typeface="Tw Cen MT" pitchFamily="34" charset="0"/>
              </a:rPr>
              <a:t>since only sender and receiver now key used</a:t>
            </a:r>
          </a:p>
          <a:p>
            <a:pPr lvl="1" eaLnBrk="1" hangingPunct="1">
              <a:buFontTx/>
              <a:buBlip>
                <a:blip r:embed="rId4"/>
              </a:buBlip>
            </a:pPr>
            <a:r>
              <a:rPr lang="en-US" dirty="0">
                <a:solidFill>
                  <a:srgbClr val="080808"/>
                </a:solidFill>
                <a:latin typeface="Tw Cen MT" pitchFamily="34" charset="0"/>
              </a:rPr>
              <a:t>know content cannot have been altered</a:t>
            </a:r>
          </a:p>
          <a:p>
            <a:pPr lvl="1" eaLnBrk="1" hangingPunct="1">
              <a:buFontTx/>
              <a:buBlip>
                <a:blip r:embed="rId4"/>
              </a:buBlip>
            </a:pPr>
            <a:r>
              <a:rPr lang="en-US" dirty="0">
                <a:solidFill>
                  <a:srgbClr val="080808"/>
                </a:solidFill>
                <a:latin typeface="Tw Cen MT" pitchFamily="34" charset="0"/>
              </a:rPr>
              <a:t>if message has </a:t>
            </a:r>
            <a:r>
              <a:rPr lang="en-AU" dirty="0">
                <a:solidFill>
                  <a:srgbClr val="080808"/>
                </a:solidFill>
                <a:latin typeface="Tw Cen MT" pitchFamily="34" charset="0"/>
              </a:rPr>
              <a:t>suitable structure, redundancy or a checksum to detect any changes</a:t>
            </a:r>
          </a:p>
        </p:txBody>
      </p:sp>
      <p:pic>
        <p:nvPicPr>
          <p:cNvPr id="8196" name="Picture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4337505"/>
            <a:ext cx="6858000"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39945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79">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1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752600" y="1"/>
            <a:ext cx="8686800" cy="1139825"/>
          </a:xfrm>
        </p:spPr>
        <p:txBody>
          <a:bodyPr/>
          <a:lstStyle/>
          <a:p>
            <a:pPr eaLnBrk="1" hangingPunct="1"/>
            <a:r>
              <a:rPr lang="en-US" b="1" dirty="0">
                <a:solidFill>
                  <a:srgbClr val="FF0000"/>
                </a:solidFill>
                <a:latin typeface="Tw Cen MT" pitchFamily="34" charset="0"/>
              </a:rPr>
              <a:t>Message Encryption</a:t>
            </a:r>
            <a:endParaRPr lang="en-AU" b="1" dirty="0">
              <a:solidFill>
                <a:srgbClr val="FF0000"/>
              </a:solidFill>
              <a:latin typeface="Tw Cen MT" pitchFamily="34" charset="0"/>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1" y="990601"/>
            <a:ext cx="5438775" cy="532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98966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8</a:t>
            </a:fld>
            <a:endParaRPr lang="en-US" dirty="0"/>
          </a:p>
        </p:txBody>
      </p:sp>
      <p:sp>
        <p:nvSpPr>
          <p:cNvPr id="4" name="Rectangle 3"/>
          <p:cNvSpPr/>
          <p:nvPr/>
        </p:nvSpPr>
        <p:spPr>
          <a:xfrm>
            <a:off x="4267200" y="609601"/>
            <a:ext cx="3219536" cy="584775"/>
          </a:xfrm>
          <a:prstGeom prst="rect">
            <a:avLst/>
          </a:prstGeom>
        </p:spPr>
        <p:txBody>
          <a:bodyPr wrap="none">
            <a:spAutoFit/>
          </a:bodyPr>
          <a:lstStyle/>
          <a:p>
            <a:r>
              <a:rPr lang="en-US" sz="3200" b="1" dirty="0">
                <a:solidFill>
                  <a:srgbClr val="FF0000"/>
                </a:solidFill>
                <a:latin typeface="Tw Cen MT" panose="020B0602020104020603" pitchFamily="34" charset="0"/>
              </a:rPr>
              <a:t>Message Integrity</a:t>
            </a:r>
          </a:p>
        </p:txBody>
      </p:sp>
      <p:sp>
        <p:nvSpPr>
          <p:cNvPr id="6" name="Rectangle 5"/>
          <p:cNvSpPr>
            <a:spLocks noChangeArrowheads="1"/>
          </p:cNvSpPr>
          <p:nvPr/>
        </p:nvSpPr>
        <p:spPr bwMode="auto">
          <a:xfrm>
            <a:off x="1828800" y="1524001"/>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800" dirty="0">
                <a:latin typeface="Tw Cen MT" pitchFamily="34" charset="0"/>
              </a:rPr>
              <a:t>The cryptography systems that we have studied so far provide secrecy, or confidentiality, but not </a:t>
            </a:r>
            <a:r>
              <a:rPr lang="en-US" sz="2800" dirty="0">
                <a:solidFill>
                  <a:srgbClr val="FF0000"/>
                </a:solidFill>
                <a:latin typeface="Tw Cen MT" pitchFamily="34" charset="0"/>
              </a:rPr>
              <a:t>integrity. </a:t>
            </a:r>
            <a:r>
              <a:rPr lang="en-US" sz="2800" dirty="0">
                <a:latin typeface="Tw Cen MT" pitchFamily="34" charset="0"/>
              </a:rPr>
              <a:t>However, there are occasions where we may not even need secrecy but instead </a:t>
            </a:r>
            <a:r>
              <a:rPr lang="en-US" sz="2800" dirty="0">
                <a:solidFill>
                  <a:srgbClr val="FF0000"/>
                </a:solidFill>
                <a:latin typeface="Tw Cen MT" pitchFamily="34" charset="0"/>
              </a:rPr>
              <a:t>must have integrity. </a:t>
            </a:r>
          </a:p>
        </p:txBody>
      </p:sp>
      <p:sp>
        <p:nvSpPr>
          <p:cNvPr id="7" name="Rectangle 29"/>
          <p:cNvSpPr>
            <a:spLocks noChangeArrowheads="1"/>
          </p:cNvSpPr>
          <p:nvPr/>
        </p:nvSpPr>
        <p:spPr bwMode="auto">
          <a:xfrm>
            <a:off x="1828800" y="4362450"/>
            <a:ext cx="6705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sz="2400" dirty="0">
                <a:solidFill>
                  <a:schemeClr val="hlink"/>
                </a:solidFill>
                <a:latin typeface="Tw Cen MT" pitchFamily="34" charset="0"/>
              </a:rPr>
              <a:t>1</a:t>
            </a:r>
            <a:r>
              <a:rPr lang="en-US" sz="2400" dirty="0">
                <a:solidFill>
                  <a:srgbClr val="0033CC"/>
                </a:solidFill>
                <a:latin typeface="Tw Cen MT" pitchFamily="34" charset="0"/>
              </a:rPr>
              <a:t>	Document and Fingerprint</a:t>
            </a:r>
          </a:p>
          <a:p>
            <a:pPr>
              <a:buClr>
                <a:schemeClr val="tx1"/>
              </a:buClr>
              <a:buSzPct val="117000"/>
              <a:buFont typeface="Wingdings" pitchFamily="2" charset="2"/>
              <a:buNone/>
            </a:pPr>
            <a:r>
              <a:rPr lang="en-US" sz="2400" dirty="0">
                <a:solidFill>
                  <a:schemeClr val="hlink"/>
                </a:solidFill>
                <a:latin typeface="Tw Cen MT" pitchFamily="34" charset="0"/>
              </a:rPr>
              <a:t>2</a:t>
            </a:r>
            <a:r>
              <a:rPr lang="en-US" sz="2400" dirty="0">
                <a:solidFill>
                  <a:srgbClr val="0033CC"/>
                </a:solidFill>
                <a:latin typeface="Tw Cen MT" pitchFamily="34" charset="0"/>
              </a:rPr>
              <a:t>	Message and Message Digest</a:t>
            </a:r>
          </a:p>
          <a:p>
            <a:pPr>
              <a:buClr>
                <a:schemeClr val="tx1"/>
              </a:buClr>
              <a:buSzPct val="117000"/>
              <a:buFont typeface="Wingdings" pitchFamily="2" charset="2"/>
              <a:buNone/>
            </a:pPr>
            <a:r>
              <a:rPr lang="en-US" sz="2400" dirty="0">
                <a:solidFill>
                  <a:schemeClr val="hlink"/>
                </a:solidFill>
                <a:latin typeface="Tw Cen MT" pitchFamily="34" charset="0"/>
              </a:rPr>
              <a:t>3</a:t>
            </a:r>
            <a:r>
              <a:rPr lang="en-US" sz="2400" dirty="0">
                <a:solidFill>
                  <a:srgbClr val="0033CC"/>
                </a:solidFill>
                <a:latin typeface="Tw Cen MT" pitchFamily="34" charset="0"/>
              </a:rPr>
              <a:t>	Difference</a:t>
            </a:r>
          </a:p>
          <a:p>
            <a:pPr>
              <a:buClr>
                <a:schemeClr val="tx1"/>
              </a:buClr>
              <a:buSzPct val="117000"/>
              <a:buFont typeface="Wingdings" pitchFamily="2" charset="2"/>
              <a:buNone/>
            </a:pPr>
            <a:r>
              <a:rPr lang="en-US" sz="2400" dirty="0">
                <a:solidFill>
                  <a:schemeClr val="hlink"/>
                </a:solidFill>
                <a:latin typeface="Tw Cen MT" pitchFamily="34" charset="0"/>
              </a:rPr>
              <a:t>4</a:t>
            </a:r>
            <a:r>
              <a:rPr lang="en-US" sz="2400" dirty="0">
                <a:solidFill>
                  <a:srgbClr val="0033CC"/>
                </a:solidFill>
                <a:latin typeface="Tw Cen MT" pitchFamily="34" charset="0"/>
              </a:rPr>
              <a:t>	Checking Integrity</a:t>
            </a:r>
          </a:p>
          <a:p>
            <a:pPr>
              <a:buClr>
                <a:schemeClr val="tx1"/>
              </a:buClr>
              <a:buSzPct val="117000"/>
              <a:buFont typeface="Wingdings" pitchFamily="2" charset="2"/>
              <a:buNone/>
            </a:pPr>
            <a:r>
              <a:rPr lang="en-US" sz="2400" dirty="0">
                <a:solidFill>
                  <a:schemeClr val="hlink"/>
                </a:solidFill>
                <a:latin typeface="Tw Cen MT" pitchFamily="34" charset="0"/>
              </a:rPr>
              <a:t>5</a:t>
            </a:r>
            <a:r>
              <a:rPr lang="en-US" sz="2400" dirty="0">
                <a:solidFill>
                  <a:srgbClr val="0033CC"/>
                </a:solidFill>
                <a:latin typeface="Tw Cen MT" pitchFamily="34" charset="0"/>
              </a:rPr>
              <a:t>	Cryptographic Hash Function Criteria</a:t>
            </a:r>
          </a:p>
        </p:txBody>
      </p:sp>
      <p:sp>
        <p:nvSpPr>
          <p:cNvPr id="8" name="Text Box 30"/>
          <p:cNvSpPr txBox="1">
            <a:spLocks noChangeArrowheads="1"/>
          </p:cNvSpPr>
          <p:nvPr/>
        </p:nvSpPr>
        <p:spPr bwMode="auto">
          <a:xfrm>
            <a:off x="1981200" y="3624590"/>
            <a:ext cx="111017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800" i="1" u="sng" dirty="0">
                <a:solidFill>
                  <a:schemeClr val="hlink"/>
                </a:solidFill>
                <a:effectLst>
                  <a:outerShdw blurRad="38100" dist="38100" dir="2700000" algn="tl">
                    <a:srgbClr val="C0C0C0"/>
                  </a:outerShdw>
                </a:effectLst>
                <a:latin typeface="Tw Cen MT" pitchFamily="34" charset="0"/>
              </a:rPr>
              <a:t>Topics:</a:t>
            </a:r>
          </a:p>
        </p:txBody>
      </p:sp>
    </p:spTree>
    <p:extLst>
      <p:ext uri="{BB962C8B-B14F-4D97-AF65-F5344CB8AC3E}">
        <p14:creationId xmlns:p14="http://schemas.microsoft.com/office/powerpoint/2010/main" val="4658461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9</a:t>
            </a:fld>
            <a:endParaRPr lang="en-US" dirty="0"/>
          </a:p>
        </p:txBody>
      </p:sp>
      <p:sp>
        <p:nvSpPr>
          <p:cNvPr id="4" name="Rectangle 3"/>
          <p:cNvSpPr/>
          <p:nvPr/>
        </p:nvSpPr>
        <p:spPr>
          <a:xfrm>
            <a:off x="3962400" y="609601"/>
            <a:ext cx="4608954" cy="584775"/>
          </a:xfrm>
          <a:prstGeom prst="rect">
            <a:avLst/>
          </a:prstGeom>
        </p:spPr>
        <p:txBody>
          <a:bodyPr wrap="none">
            <a:spAutoFit/>
          </a:bodyPr>
          <a:lstStyle/>
          <a:p>
            <a:r>
              <a:rPr lang="en-US" sz="3200" b="1" dirty="0">
                <a:solidFill>
                  <a:srgbClr val="FF0000"/>
                </a:solidFill>
                <a:latin typeface="Tw Cen MT" panose="020B0602020104020603" pitchFamily="34" charset="0"/>
              </a:rPr>
              <a:t>Document and Fingerprint</a:t>
            </a:r>
          </a:p>
        </p:txBody>
      </p:sp>
      <p:sp>
        <p:nvSpPr>
          <p:cNvPr id="9" name="Rectangle 9"/>
          <p:cNvSpPr>
            <a:spLocks noChangeArrowheads="1"/>
          </p:cNvSpPr>
          <p:nvPr/>
        </p:nvSpPr>
        <p:spPr bwMode="auto">
          <a:xfrm>
            <a:off x="2133600" y="1524000"/>
            <a:ext cx="8001000" cy="224676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sz="2800" dirty="0">
                <a:latin typeface="Tw Cen MT" pitchFamily="34" charset="0"/>
              </a:rPr>
              <a:t>One way to preserve the integrity of a document is through the </a:t>
            </a:r>
            <a:r>
              <a:rPr lang="en-US" sz="2800" dirty="0">
                <a:solidFill>
                  <a:srgbClr val="FF0000"/>
                </a:solidFill>
                <a:latin typeface="Tw Cen MT" pitchFamily="34" charset="0"/>
              </a:rPr>
              <a:t>use of a fingerprint</a:t>
            </a:r>
            <a:r>
              <a:rPr lang="en-US" sz="2800" dirty="0">
                <a:latin typeface="Tw Cen MT" pitchFamily="34" charset="0"/>
              </a:rPr>
              <a:t>. If Alice needs to be sure that the contents of her document will not be changed, she can put her fingerprint at the bottom of the document. </a:t>
            </a:r>
          </a:p>
        </p:txBody>
      </p:sp>
    </p:spTree>
    <p:extLst>
      <p:ext uri="{BB962C8B-B14F-4D97-AF65-F5344CB8AC3E}">
        <p14:creationId xmlns:p14="http://schemas.microsoft.com/office/powerpoint/2010/main" val="33538593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10</a:t>
            </a:fld>
            <a:endParaRPr lang="en-US" dirty="0"/>
          </a:p>
        </p:txBody>
      </p:sp>
      <p:sp>
        <p:nvSpPr>
          <p:cNvPr id="4" name="Rectangle 3"/>
          <p:cNvSpPr/>
          <p:nvPr/>
        </p:nvSpPr>
        <p:spPr>
          <a:xfrm>
            <a:off x="3547732" y="625435"/>
            <a:ext cx="5248937" cy="584775"/>
          </a:xfrm>
          <a:prstGeom prst="rect">
            <a:avLst/>
          </a:prstGeom>
        </p:spPr>
        <p:txBody>
          <a:bodyPr wrap="none">
            <a:spAutoFit/>
          </a:bodyPr>
          <a:lstStyle/>
          <a:p>
            <a:r>
              <a:rPr lang="en-US" sz="3200" b="1" dirty="0">
                <a:solidFill>
                  <a:srgbClr val="FF0000"/>
                </a:solidFill>
                <a:latin typeface="Tw Cen MT" panose="020B0602020104020603" pitchFamily="34" charset="0"/>
              </a:rPr>
              <a:t>Message and Message Digest</a:t>
            </a:r>
          </a:p>
        </p:txBody>
      </p:sp>
      <p:sp>
        <p:nvSpPr>
          <p:cNvPr id="5" name="Rectangle 9"/>
          <p:cNvSpPr>
            <a:spLocks noChangeArrowheads="1"/>
          </p:cNvSpPr>
          <p:nvPr/>
        </p:nvSpPr>
        <p:spPr bwMode="auto">
          <a:xfrm>
            <a:off x="1827811" y="1239897"/>
            <a:ext cx="8686800" cy="26776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latin typeface="Tw Cen MT" pitchFamily="34" charset="0"/>
              </a:rPr>
              <a:t>The electronic equivalent of the document and fingerprint pair is the message and digest pair. </a:t>
            </a:r>
          </a:p>
          <a:p>
            <a:pPr algn="just"/>
            <a:endParaRPr lang="en-US" sz="2800" dirty="0">
              <a:latin typeface="Tw Cen MT" pitchFamily="34" charset="0"/>
            </a:endParaRPr>
          </a:p>
          <a:p>
            <a:pPr algn="just"/>
            <a:r>
              <a:rPr lang="en-US" sz="2800" dirty="0">
                <a:latin typeface="Tw Cen MT" pitchFamily="34" charset="0"/>
              </a:rPr>
              <a:t>A hash function H accepts a variable-length block of data M as input and produces</a:t>
            </a:r>
          </a:p>
          <a:p>
            <a:pPr algn="just"/>
            <a:r>
              <a:rPr lang="en-US" sz="2800" dirty="0">
                <a:latin typeface="Tw Cen MT" pitchFamily="34" charset="0"/>
              </a:rPr>
              <a:t>a fixed-size hash value h = H(M).</a:t>
            </a:r>
          </a:p>
        </p:txBody>
      </p:sp>
      <p:sp>
        <p:nvSpPr>
          <p:cNvPr id="6" name="Text Box 12"/>
          <p:cNvSpPr txBox="1">
            <a:spLocks noChangeArrowheads="1"/>
          </p:cNvSpPr>
          <p:nvPr/>
        </p:nvSpPr>
        <p:spPr bwMode="auto">
          <a:xfrm>
            <a:off x="5029200" y="4188768"/>
            <a:ext cx="31688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Message and digest</a:t>
            </a:r>
          </a:p>
        </p:txBody>
      </p:sp>
      <p:pic>
        <p:nvPicPr>
          <p:cNvPr id="7"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8887" y="4650432"/>
            <a:ext cx="5484813" cy="1795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35183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11</a:t>
            </a:fld>
            <a:endParaRPr lang="en-US" dirty="0"/>
          </a:p>
        </p:txBody>
      </p:sp>
      <p:sp>
        <p:nvSpPr>
          <p:cNvPr id="4" name="Rectangle 3"/>
          <p:cNvSpPr/>
          <p:nvPr/>
        </p:nvSpPr>
        <p:spPr>
          <a:xfrm>
            <a:off x="3547732" y="625435"/>
            <a:ext cx="5132559" cy="584775"/>
          </a:xfrm>
          <a:prstGeom prst="rect">
            <a:avLst/>
          </a:prstGeom>
        </p:spPr>
        <p:txBody>
          <a:bodyPr wrap="none">
            <a:spAutoFit/>
          </a:bodyPr>
          <a:lstStyle/>
          <a:p>
            <a:r>
              <a:rPr lang="en-US" sz="3200" b="1" dirty="0">
                <a:solidFill>
                  <a:srgbClr val="FF0000"/>
                </a:solidFill>
                <a:latin typeface="Tw Cen MT" panose="020B0602020104020603" pitchFamily="34" charset="0"/>
              </a:rPr>
              <a:t>Cryptographic Hash Function</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1" y="1371601"/>
            <a:ext cx="5286375" cy="4779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60286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12</a:t>
            </a:fld>
            <a:endParaRPr lang="en-US" dirty="0"/>
          </a:p>
        </p:txBody>
      </p:sp>
      <p:sp>
        <p:nvSpPr>
          <p:cNvPr id="4" name="Rectangle 3"/>
          <p:cNvSpPr/>
          <p:nvPr/>
        </p:nvSpPr>
        <p:spPr>
          <a:xfrm>
            <a:off x="2133601" y="625435"/>
            <a:ext cx="7698967" cy="584775"/>
          </a:xfrm>
          <a:prstGeom prst="rect">
            <a:avLst/>
          </a:prstGeom>
        </p:spPr>
        <p:txBody>
          <a:bodyPr wrap="none">
            <a:spAutoFit/>
          </a:bodyPr>
          <a:lstStyle/>
          <a:p>
            <a:r>
              <a:rPr lang="en-US" sz="3200" b="1" dirty="0">
                <a:solidFill>
                  <a:srgbClr val="FF0000"/>
                </a:solidFill>
                <a:latin typeface="Tw Cen MT" panose="020B0602020104020603" pitchFamily="34" charset="0"/>
              </a:rPr>
              <a:t>Application of Cryptographic Hash Function</a:t>
            </a:r>
          </a:p>
        </p:txBody>
      </p:sp>
      <p:sp>
        <p:nvSpPr>
          <p:cNvPr id="3" name="Rectangle 2"/>
          <p:cNvSpPr/>
          <p:nvPr/>
        </p:nvSpPr>
        <p:spPr>
          <a:xfrm>
            <a:off x="1905000" y="1524000"/>
            <a:ext cx="8153400" cy="1938992"/>
          </a:xfrm>
          <a:prstGeom prst="rect">
            <a:avLst/>
          </a:prstGeom>
        </p:spPr>
        <p:txBody>
          <a:bodyPr wrap="square">
            <a:spAutoFit/>
          </a:bodyPr>
          <a:lstStyle/>
          <a:p>
            <a:pPr algn="just"/>
            <a:r>
              <a:rPr lang="en-US" sz="2400" b="1" dirty="0">
                <a:latin typeface="Tw Cen MT" pitchFamily="34" charset="0"/>
              </a:rPr>
              <a:t>Message Authentication: </a:t>
            </a:r>
            <a:r>
              <a:rPr lang="en-US" sz="2400" dirty="0">
                <a:latin typeface="Tw Cen MT" pitchFamily="34" charset="0"/>
              </a:rPr>
              <a:t>Message authentication is a </a:t>
            </a:r>
            <a:r>
              <a:rPr lang="en-US" sz="2400" dirty="0" err="1">
                <a:latin typeface="Tw Cen MT" pitchFamily="34" charset="0"/>
              </a:rPr>
              <a:t>mecha-nism</a:t>
            </a:r>
            <a:r>
              <a:rPr lang="en-US" sz="2400" dirty="0">
                <a:latin typeface="Tw Cen MT" pitchFamily="34" charset="0"/>
              </a:rPr>
              <a:t> or service used to verify the integrity of a message. </a:t>
            </a:r>
          </a:p>
          <a:p>
            <a:pPr algn="just"/>
            <a:endParaRPr lang="en-US" sz="2400" dirty="0">
              <a:latin typeface="Tw Cen MT" pitchFamily="34" charset="0"/>
            </a:endParaRPr>
          </a:p>
          <a:p>
            <a:pPr algn="just"/>
            <a:r>
              <a:rPr lang="en-US" sz="2400" dirty="0">
                <a:latin typeface="Tw Cen MT" pitchFamily="34" charset="0"/>
              </a:rPr>
              <a:t>When a hash function is used to provide message authentication,</a:t>
            </a:r>
          </a:p>
          <a:p>
            <a:pPr algn="just"/>
            <a:r>
              <a:rPr lang="en-US" sz="2400" dirty="0">
                <a:latin typeface="Tw Cen MT" pitchFamily="34" charset="0"/>
              </a:rPr>
              <a:t>the hash function value is often referred to as a message digest.</a:t>
            </a:r>
          </a:p>
        </p:txBody>
      </p:sp>
    </p:spTree>
    <p:extLst>
      <p:ext uri="{BB962C8B-B14F-4D97-AF65-F5344CB8AC3E}">
        <p14:creationId xmlns:p14="http://schemas.microsoft.com/office/powerpoint/2010/main" val="11313392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13</a:t>
            </a:fld>
            <a:endParaRPr lang="en-US" dirty="0"/>
          </a:p>
        </p:txBody>
      </p:sp>
      <p:sp>
        <p:nvSpPr>
          <p:cNvPr id="4" name="Rectangle 3"/>
          <p:cNvSpPr/>
          <p:nvPr/>
        </p:nvSpPr>
        <p:spPr>
          <a:xfrm>
            <a:off x="2133601" y="625435"/>
            <a:ext cx="7698967" cy="584775"/>
          </a:xfrm>
          <a:prstGeom prst="rect">
            <a:avLst/>
          </a:prstGeom>
        </p:spPr>
        <p:txBody>
          <a:bodyPr wrap="none">
            <a:spAutoFit/>
          </a:bodyPr>
          <a:lstStyle/>
          <a:p>
            <a:r>
              <a:rPr lang="en-US" sz="3200" b="1" dirty="0">
                <a:solidFill>
                  <a:srgbClr val="FF0000"/>
                </a:solidFill>
                <a:latin typeface="Tw Cen MT" panose="020B0602020104020603" pitchFamily="34" charset="0"/>
              </a:rPr>
              <a:t>Application of Cryptographic Hash Function</a:t>
            </a:r>
          </a:p>
        </p:txBody>
      </p:sp>
      <p:sp>
        <p:nvSpPr>
          <p:cNvPr id="3" name="Rectangle 2"/>
          <p:cNvSpPr/>
          <p:nvPr/>
        </p:nvSpPr>
        <p:spPr>
          <a:xfrm>
            <a:off x="1925186" y="1371601"/>
            <a:ext cx="8153400" cy="830997"/>
          </a:xfrm>
          <a:prstGeom prst="rect">
            <a:avLst/>
          </a:prstGeom>
        </p:spPr>
        <p:txBody>
          <a:bodyPr wrap="square">
            <a:spAutoFit/>
          </a:bodyPr>
          <a:lstStyle/>
          <a:p>
            <a:pPr algn="just"/>
            <a:r>
              <a:rPr lang="en-US" sz="2400" dirty="0">
                <a:latin typeface="Tw Cen MT" pitchFamily="34" charset="0"/>
              </a:rPr>
              <a:t>Figures illustrates </a:t>
            </a:r>
            <a:r>
              <a:rPr lang="en-US" sz="2400" dirty="0">
                <a:solidFill>
                  <a:srgbClr val="FF0000"/>
                </a:solidFill>
                <a:latin typeface="Tw Cen MT" pitchFamily="34" charset="0"/>
              </a:rPr>
              <a:t>a variety of ways in which a hash code</a:t>
            </a:r>
            <a:r>
              <a:rPr lang="en-US" sz="2400" dirty="0">
                <a:latin typeface="Tw Cen MT" pitchFamily="34" charset="0"/>
              </a:rPr>
              <a:t> can be used to provide message authentication, as follows.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9320" y="2354997"/>
            <a:ext cx="7296150" cy="1854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282" y="4495801"/>
            <a:ext cx="7215188" cy="2040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99840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14</a:t>
            </a:fld>
            <a:endParaRPr lang="en-US" dirty="0"/>
          </a:p>
        </p:txBody>
      </p:sp>
      <p:sp>
        <p:nvSpPr>
          <p:cNvPr id="4" name="Rectangle 3"/>
          <p:cNvSpPr/>
          <p:nvPr/>
        </p:nvSpPr>
        <p:spPr>
          <a:xfrm>
            <a:off x="2133601" y="625435"/>
            <a:ext cx="7698967" cy="584775"/>
          </a:xfrm>
          <a:prstGeom prst="rect">
            <a:avLst/>
          </a:prstGeom>
        </p:spPr>
        <p:txBody>
          <a:bodyPr wrap="none">
            <a:spAutoFit/>
          </a:bodyPr>
          <a:lstStyle/>
          <a:p>
            <a:r>
              <a:rPr lang="en-US" sz="3200" b="1" dirty="0">
                <a:solidFill>
                  <a:srgbClr val="FF0000"/>
                </a:solidFill>
                <a:latin typeface="Tw Cen MT" panose="020B0602020104020603" pitchFamily="34" charset="0"/>
              </a:rPr>
              <a:t>Application of Cryptographic Hash Function</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1928" y="1524001"/>
            <a:ext cx="8345283" cy="205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1" y="4191000"/>
            <a:ext cx="8634413" cy="163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10198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15</a:t>
            </a:fld>
            <a:endParaRPr lang="en-US" dirty="0"/>
          </a:p>
        </p:txBody>
      </p:sp>
      <p:sp>
        <p:nvSpPr>
          <p:cNvPr id="4" name="Rectangle 3"/>
          <p:cNvSpPr/>
          <p:nvPr/>
        </p:nvSpPr>
        <p:spPr>
          <a:xfrm>
            <a:off x="2133600" y="625435"/>
            <a:ext cx="1010598" cy="584775"/>
          </a:xfrm>
          <a:prstGeom prst="rect">
            <a:avLst/>
          </a:prstGeom>
        </p:spPr>
        <p:txBody>
          <a:bodyPr wrap="none">
            <a:spAutoFit/>
          </a:bodyPr>
          <a:lstStyle/>
          <a:p>
            <a:r>
              <a:rPr lang="en-US" sz="3200" b="1" dirty="0">
                <a:solidFill>
                  <a:srgbClr val="FF0000"/>
                </a:solidFill>
                <a:latin typeface="Tw Cen MT" panose="020B0602020104020603" pitchFamily="34" charset="0"/>
              </a:rPr>
              <a:t>MAC</a:t>
            </a:r>
          </a:p>
        </p:txBody>
      </p:sp>
      <p:sp>
        <p:nvSpPr>
          <p:cNvPr id="3" name="Rectangle 2"/>
          <p:cNvSpPr/>
          <p:nvPr/>
        </p:nvSpPr>
        <p:spPr>
          <a:xfrm>
            <a:off x="2133600" y="1600200"/>
            <a:ext cx="8229600" cy="1938992"/>
          </a:xfrm>
          <a:prstGeom prst="rect">
            <a:avLst/>
          </a:prstGeom>
        </p:spPr>
        <p:txBody>
          <a:bodyPr wrap="square">
            <a:spAutoFit/>
          </a:bodyPr>
          <a:lstStyle/>
          <a:p>
            <a:pPr algn="just"/>
            <a:r>
              <a:rPr lang="en-US" sz="2400" dirty="0">
                <a:latin typeface="Tw Cen MT" pitchFamily="34" charset="0"/>
              </a:rPr>
              <a:t>More commonly, message authentication is achieved using a message authentication code (MAC), also known as </a:t>
            </a:r>
            <a:r>
              <a:rPr lang="en-US" sz="2400" dirty="0">
                <a:solidFill>
                  <a:srgbClr val="FF0000"/>
                </a:solidFill>
                <a:latin typeface="Tw Cen MT" pitchFamily="34" charset="0"/>
              </a:rPr>
              <a:t>a keyed hash </a:t>
            </a:r>
            <a:r>
              <a:rPr lang="en-US" sz="2400" dirty="0">
                <a:latin typeface="Tw Cen MT" pitchFamily="34" charset="0"/>
              </a:rPr>
              <a:t>function. Typically, MACs are used between two parties that </a:t>
            </a:r>
            <a:r>
              <a:rPr lang="en-US" sz="2400" dirty="0">
                <a:solidFill>
                  <a:srgbClr val="FF0000"/>
                </a:solidFill>
                <a:latin typeface="Tw Cen MT" pitchFamily="34" charset="0"/>
              </a:rPr>
              <a:t>share a secret key</a:t>
            </a:r>
            <a:r>
              <a:rPr lang="en-US" sz="2400" dirty="0">
                <a:latin typeface="Tw Cen MT" pitchFamily="34" charset="0"/>
              </a:rPr>
              <a:t> to authenticate information exchanged between those parties.</a:t>
            </a:r>
          </a:p>
        </p:txBody>
      </p:sp>
    </p:spTree>
    <p:extLst>
      <p:ext uri="{BB962C8B-B14F-4D97-AF65-F5344CB8AC3E}">
        <p14:creationId xmlns:p14="http://schemas.microsoft.com/office/powerpoint/2010/main" val="23978431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16</a:t>
            </a:fld>
            <a:endParaRPr lang="en-US" dirty="0"/>
          </a:p>
        </p:txBody>
      </p:sp>
      <p:sp>
        <p:nvSpPr>
          <p:cNvPr id="4" name="Rectangle 3"/>
          <p:cNvSpPr/>
          <p:nvPr/>
        </p:nvSpPr>
        <p:spPr>
          <a:xfrm>
            <a:off x="2133600" y="625434"/>
            <a:ext cx="3213124" cy="1077218"/>
          </a:xfrm>
          <a:prstGeom prst="rect">
            <a:avLst/>
          </a:prstGeom>
        </p:spPr>
        <p:txBody>
          <a:bodyPr wrap="none">
            <a:spAutoFit/>
          </a:bodyPr>
          <a:lstStyle/>
          <a:p>
            <a:r>
              <a:rPr lang="en-US" sz="3200" b="1" dirty="0">
                <a:solidFill>
                  <a:srgbClr val="FF0000"/>
                </a:solidFill>
                <a:latin typeface="Tw Cen MT" pitchFamily="34" charset="0"/>
              </a:rPr>
              <a:t>Digital Signatures</a:t>
            </a:r>
            <a:r>
              <a:rPr lang="en-US" sz="3200" dirty="0">
                <a:solidFill>
                  <a:srgbClr val="FF0000"/>
                </a:solidFill>
                <a:latin typeface="Tw Cen MT" pitchFamily="34" charset="0"/>
              </a:rPr>
              <a:t/>
            </a:r>
            <a:br>
              <a:rPr lang="en-US" sz="3200" dirty="0">
                <a:solidFill>
                  <a:srgbClr val="FF0000"/>
                </a:solidFill>
                <a:latin typeface="Tw Cen MT" pitchFamily="34" charset="0"/>
              </a:rPr>
            </a:br>
            <a:endParaRPr lang="en-US" sz="3200" b="1" dirty="0">
              <a:solidFill>
                <a:srgbClr val="FF0000"/>
              </a:solidFill>
              <a:latin typeface="Tw Cen MT" panose="020B0602020104020603" pitchFamily="34" charset="0"/>
            </a:endParaRPr>
          </a:p>
        </p:txBody>
      </p:sp>
      <p:sp>
        <p:nvSpPr>
          <p:cNvPr id="3" name="Rectangle 2"/>
          <p:cNvSpPr/>
          <p:nvPr/>
        </p:nvSpPr>
        <p:spPr>
          <a:xfrm>
            <a:off x="2096984" y="1295401"/>
            <a:ext cx="8229600" cy="461665"/>
          </a:xfrm>
          <a:prstGeom prst="rect">
            <a:avLst/>
          </a:prstGeom>
        </p:spPr>
        <p:txBody>
          <a:bodyPr wrap="square">
            <a:spAutoFit/>
          </a:bodyPr>
          <a:lstStyle/>
          <a:p>
            <a:pPr algn="just"/>
            <a:r>
              <a:rPr lang="en-US" sz="2400" dirty="0">
                <a:latin typeface="Tw Cen MT" pitchFamily="34" charset="0"/>
              </a:rPr>
              <a:t>A digital signature  is achieved throw:</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209801"/>
            <a:ext cx="7410450" cy="2148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266" y="4572001"/>
            <a:ext cx="8329613" cy="167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24218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17</a:t>
            </a:fld>
            <a:endParaRPr lang="en-US" dirty="0"/>
          </a:p>
        </p:txBody>
      </p:sp>
      <p:sp>
        <p:nvSpPr>
          <p:cNvPr id="4" name="Rectangle 3"/>
          <p:cNvSpPr/>
          <p:nvPr/>
        </p:nvSpPr>
        <p:spPr>
          <a:xfrm>
            <a:off x="2133601" y="625434"/>
            <a:ext cx="3397277" cy="1077218"/>
          </a:xfrm>
          <a:prstGeom prst="rect">
            <a:avLst/>
          </a:prstGeom>
        </p:spPr>
        <p:txBody>
          <a:bodyPr wrap="none">
            <a:spAutoFit/>
          </a:bodyPr>
          <a:lstStyle/>
          <a:p>
            <a:r>
              <a:rPr lang="en-US" sz="3200" b="1" dirty="0">
                <a:solidFill>
                  <a:srgbClr val="FF0000"/>
                </a:solidFill>
                <a:latin typeface="Tw Cen MT" pitchFamily="34" charset="0"/>
              </a:rPr>
              <a:t>Other Applications</a:t>
            </a:r>
            <a:br>
              <a:rPr lang="en-US" sz="3200" b="1" dirty="0">
                <a:solidFill>
                  <a:srgbClr val="FF0000"/>
                </a:solidFill>
                <a:latin typeface="Tw Cen MT" pitchFamily="34" charset="0"/>
              </a:rPr>
            </a:br>
            <a:endParaRPr lang="en-US" sz="3200" b="1" dirty="0">
              <a:solidFill>
                <a:srgbClr val="FF0000"/>
              </a:solidFill>
              <a:latin typeface="Tw Cen MT" pitchFamily="34" charset="0"/>
            </a:endParaRPr>
          </a:p>
        </p:txBody>
      </p:sp>
      <p:sp>
        <p:nvSpPr>
          <p:cNvPr id="3" name="Rectangle 2"/>
          <p:cNvSpPr/>
          <p:nvPr/>
        </p:nvSpPr>
        <p:spPr>
          <a:xfrm>
            <a:off x="2133600" y="1702652"/>
            <a:ext cx="7772400" cy="1938992"/>
          </a:xfrm>
          <a:prstGeom prst="rect">
            <a:avLst/>
          </a:prstGeom>
        </p:spPr>
        <p:txBody>
          <a:bodyPr wrap="square">
            <a:spAutoFit/>
          </a:bodyPr>
          <a:lstStyle/>
          <a:p>
            <a:pPr marL="342900" indent="-342900" algn="just">
              <a:buFont typeface="Wingdings" pitchFamily="2" charset="2"/>
              <a:buChar char="§"/>
            </a:pPr>
            <a:r>
              <a:rPr lang="en-US" sz="2400" dirty="0">
                <a:latin typeface="Tw Cen MT" pitchFamily="34" charset="0"/>
              </a:rPr>
              <a:t>One way </a:t>
            </a:r>
            <a:r>
              <a:rPr lang="en-US" sz="2400" dirty="0">
                <a:solidFill>
                  <a:srgbClr val="FF0000"/>
                </a:solidFill>
                <a:latin typeface="Tw Cen MT" pitchFamily="34" charset="0"/>
              </a:rPr>
              <a:t>password file:</a:t>
            </a:r>
          </a:p>
          <a:p>
            <a:pPr marL="342900" indent="-342900" algn="just">
              <a:buFont typeface="Wingdings" pitchFamily="2" charset="2"/>
              <a:buChar char="§"/>
            </a:pPr>
            <a:r>
              <a:rPr lang="en-US" sz="2400" dirty="0">
                <a:latin typeface="Tw Cen MT" pitchFamily="34" charset="0"/>
              </a:rPr>
              <a:t>Hash functions can be used for </a:t>
            </a:r>
            <a:r>
              <a:rPr lang="en-US" sz="2400" dirty="0">
                <a:solidFill>
                  <a:srgbClr val="FF0000"/>
                </a:solidFill>
                <a:latin typeface="Tw Cen MT" pitchFamily="34" charset="0"/>
              </a:rPr>
              <a:t>intrusion detection </a:t>
            </a:r>
            <a:r>
              <a:rPr lang="en-US" sz="2400" dirty="0">
                <a:latin typeface="Tw Cen MT" pitchFamily="34" charset="0"/>
              </a:rPr>
              <a:t>and </a:t>
            </a:r>
            <a:r>
              <a:rPr lang="en-US" sz="2400" dirty="0">
                <a:solidFill>
                  <a:srgbClr val="FF0000"/>
                </a:solidFill>
                <a:latin typeface="Tw Cen MT" pitchFamily="34" charset="0"/>
              </a:rPr>
              <a:t>virus detection. </a:t>
            </a:r>
          </a:p>
          <a:p>
            <a:pPr marL="342900" indent="-342900" algn="just">
              <a:buFont typeface="Wingdings" pitchFamily="2" charset="2"/>
              <a:buChar char="§"/>
            </a:pPr>
            <a:r>
              <a:rPr lang="en-US" sz="2400" dirty="0">
                <a:solidFill>
                  <a:srgbClr val="080808"/>
                </a:solidFill>
                <a:latin typeface="Tw Cen MT" pitchFamily="34" charset="0"/>
              </a:rPr>
              <a:t>can be used to construct a pseudorandom function (PRF) or a pseudorandom number generator (PRNG). </a:t>
            </a:r>
          </a:p>
        </p:txBody>
      </p:sp>
    </p:spTree>
    <p:extLst>
      <p:ext uri="{BB962C8B-B14F-4D97-AF65-F5344CB8AC3E}">
        <p14:creationId xmlns:p14="http://schemas.microsoft.com/office/powerpoint/2010/main" val="12036686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18</a:t>
            </a:fld>
            <a:endParaRPr lang="en-US" dirty="0"/>
          </a:p>
        </p:txBody>
      </p:sp>
      <p:sp>
        <p:nvSpPr>
          <p:cNvPr id="4" name="Rectangle 3"/>
          <p:cNvSpPr/>
          <p:nvPr/>
        </p:nvSpPr>
        <p:spPr>
          <a:xfrm>
            <a:off x="5070252" y="649185"/>
            <a:ext cx="1937197" cy="584775"/>
          </a:xfrm>
          <a:prstGeom prst="rect">
            <a:avLst/>
          </a:prstGeom>
        </p:spPr>
        <p:txBody>
          <a:bodyPr wrap="none">
            <a:spAutoFit/>
          </a:bodyPr>
          <a:lstStyle/>
          <a:p>
            <a:r>
              <a:rPr lang="en-US" sz="3200" b="1" dirty="0">
                <a:solidFill>
                  <a:srgbClr val="FF0000"/>
                </a:solidFill>
                <a:latin typeface="Tw Cen MT" panose="020B0602020104020603" pitchFamily="34" charset="0"/>
              </a:rPr>
              <a:t>Difference</a:t>
            </a:r>
          </a:p>
        </p:txBody>
      </p:sp>
      <p:sp>
        <p:nvSpPr>
          <p:cNvPr id="8" name="Rectangle 9"/>
          <p:cNvSpPr>
            <a:spLocks noChangeArrowheads="1"/>
          </p:cNvSpPr>
          <p:nvPr/>
        </p:nvSpPr>
        <p:spPr bwMode="auto">
          <a:xfrm>
            <a:off x="1981200" y="1447800"/>
            <a:ext cx="8115300" cy="26543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sz="2800" dirty="0">
                <a:latin typeface="Tw Cen MT" pitchFamily="34" charset="0"/>
              </a:rPr>
              <a:t>The two pairs (</a:t>
            </a:r>
            <a:r>
              <a:rPr lang="en-US" sz="2800" dirty="0">
                <a:solidFill>
                  <a:srgbClr val="FF0000"/>
                </a:solidFill>
                <a:latin typeface="Tw Cen MT" pitchFamily="34" charset="0"/>
              </a:rPr>
              <a:t>document / fingerprint</a:t>
            </a:r>
            <a:r>
              <a:rPr lang="en-US" sz="2800" dirty="0">
                <a:latin typeface="Tw Cen MT" pitchFamily="34" charset="0"/>
              </a:rPr>
              <a:t>) and (</a:t>
            </a:r>
            <a:r>
              <a:rPr lang="en-US" sz="2800" dirty="0">
                <a:solidFill>
                  <a:srgbClr val="FF0000"/>
                </a:solidFill>
                <a:latin typeface="Tw Cen MT" pitchFamily="34" charset="0"/>
              </a:rPr>
              <a:t>message / message digest</a:t>
            </a:r>
            <a:r>
              <a:rPr lang="en-US" sz="2800" dirty="0">
                <a:latin typeface="Tw Cen MT" pitchFamily="34" charset="0"/>
              </a:rPr>
              <a:t>) are similar, with some differences. The document and fingerprint are </a:t>
            </a:r>
            <a:r>
              <a:rPr lang="en-US" sz="2800" dirty="0">
                <a:solidFill>
                  <a:srgbClr val="FF0000"/>
                </a:solidFill>
                <a:latin typeface="Tw Cen MT" pitchFamily="34" charset="0"/>
              </a:rPr>
              <a:t>physically linked together</a:t>
            </a:r>
            <a:r>
              <a:rPr lang="en-US" sz="2800" dirty="0">
                <a:latin typeface="Tw Cen MT" pitchFamily="34" charset="0"/>
              </a:rPr>
              <a:t>. The message and message digest </a:t>
            </a:r>
            <a:r>
              <a:rPr lang="en-US" sz="2800" dirty="0">
                <a:solidFill>
                  <a:srgbClr val="FF0000"/>
                </a:solidFill>
                <a:latin typeface="Tw Cen MT" pitchFamily="34" charset="0"/>
              </a:rPr>
              <a:t>can be unlinked </a:t>
            </a:r>
            <a:r>
              <a:rPr lang="en-US" sz="2800" dirty="0">
                <a:latin typeface="Tw Cen MT" pitchFamily="34" charset="0"/>
              </a:rPr>
              <a:t>separately, and, most importantly, the message digest needs to be safe from change.</a:t>
            </a:r>
          </a:p>
        </p:txBody>
      </p:sp>
      <p:sp>
        <p:nvSpPr>
          <p:cNvPr id="9" name="Line 11"/>
          <p:cNvSpPr>
            <a:spLocks noChangeShapeType="1"/>
          </p:cNvSpPr>
          <p:nvPr/>
        </p:nvSpPr>
        <p:spPr bwMode="auto">
          <a:xfrm>
            <a:off x="1981200" y="4648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Tw Cen MT" pitchFamily="34" charset="0"/>
            </a:endParaRPr>
          </a:p>
        </p:txBody>
      </p:sp>
      <p:sp>
        <p:nvSpPr>
          <p:cNvPr id="10" name="Line 12"/>
          <p:cNvSpPr>
            <a:spLocks noChangeShapeType="1"/>
          </p:cNvSpPr>
          <p:nvPr/>
        </p:nvSpPr>
        <p:spPr bwMode="auto">
          <a:xfrm>
            <a:off x="1982788" y="5334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Tw Cen MT" pitchFamily="34" charset="0"/>
            </a:endParaRPr>
          </a:p>
        </p:txBody>
      </p:sp>
      <p:sp>
        <p:nvSpPr>
          <p:cNvPr id="11" name="Rectangle 13"/>
          <p:cNvSpPr>
            <a:spLocks noChangeArrowheads="1"/>
          </p:cNvSpPr>
          <p:nvPr/>
        </p:nvSpPr>
        <p:spPr bwMode="auto">
          <a:xfrm>
            <a:off x="2019300" y="4728401"/>
            <a:ext cx="8077200" cy="51911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800" dirty="0">
                <a:latin typeface="Tw Cen MT" pitchFamily="34" charset="0"/>
              </a:rPr>
              <a:t>The message digest needs to be safe from change.</a:t>
            </a:r>
          </a:p>
        </p:txBody>
      </p:sp>
    </p:spTree>
    <p:extLst>
      <p:ext uri="{BB962C8B-B14F-4D97-AF65-F5344CB8AC3E}">
        <p14:creationId xmlns:p14="http://schemas.microsoft.com/office/powerpoint/2010/main" val="8410495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19</a:t>
            </a:fld>
            <a:endParaRPr lang="en-US" dirty="0"/>
          </a:p>
        </p:txBody>
      </p:sp>
      <p:sp>
        <p:nvSpPr>
          <p:cNvPr id="4" name="Rectangle 3"/>
          <p:cNvSpPr/>
          <p:nvPr/>
        </p:nvSpPr>
        <p:spPr>
          <a:xfrm>
            <a:off x="4505146" y="649185"/>
            <a:ext cx="3267433" cy="584775"/>
          </a:xfrm>
          <a:prstGeom prst="rect">
            <a:avLst/>
          </a:prstGeom>
        </p:spPr>
        <p:txBody>
          <a:bodyPr wrap="none">
            <a:spAutoFit/>
          </a:bodyPr>
          <a:lstStyle/>
          <a:p>
            <a:r>
              <a:rPr lang="en-US" sz="3200" b="1" dirty="0">
                <a:solidFill>
                  <a:srgbClr val="FF0000"/>
                </a:solidFill>
                <a:latin typeface="Tw Cen MT" panose="020B0602020104020603" pitchFamily="34" charset="0"/>
              </a:rPr>
              <a:t>Checking Integrity</a:t>
            </a:r>
          </a:p>
        </p:txBody>
      </p:sp>
      <p:sp>
        <p:nvSpPr>
          <p:cNvPr id="12" name="Text Box 11"/>
          <p:cNvSpPr txBox="1">
            <a:spLocks noChangeArrowheads="1"/>
          </p:cNvSpPr>
          <p:nvPr/>
        </p:nvSpPr>
        <p:spPr bwMode="auto">
          <a:xfrm>
            <a:off x="4587971" y="1737755"/>
            <a:ext cx="290175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i="1" dirty="0">
                <a:latin typeface="Tw Cen MT" pitchFamily="34" charset="0"/>
              </a:rPr>
              <a:t>Checking integrity</a:t>
            </a:r>
          </a:p>
        </p:txBody>
      </p:sp>
      <p:pic>
        <p:nvPicPr>
          <p:cNvPr id="13"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1" y="2432049"/>
            <a:ext cx="7248525" cy="267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04705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20</a:t>
            </a:fld>
            <a:endParaRPr lang="en-US" dirty="0"/>
          </a:p>
        </p:txBody>
      </p:sp>
      <p:sp>
        <p:nvSpPr>
          <p:cNvPr id="4" name="Rectangle 3"/>
          <p:cNvSpPr/>
          <p:nvPr/>
        </p:nvSpPr>
        <p:spPr>
          <a:xfrm>
            <a:off x="3547732" y="625435"/>
            <a:ext cx="5132559" cy="584775"/>
          </a:xfrm>
          <a:prstGeom prst="rect">
            <a:avLst/>
          </a:prstGeom>
        </p:spPr>
        <p:txBody>
          <a:bodyPr wrap="none">
            <a:spAutoFit/>
          </a:bodyPr>
          <a:lstStyle/>
          <a:p>
            <a:r>
              <a:rPr lang="en-US" sz="3200" b="1" dirty="0">
                <a:solidFill>
                  <a:srgbClr val="FF0000"/>
                </a:solidFill>
                <a:latin typeface="Tw Cen MT" panose="020B0602020104020603" pitchFamily="34" charset="0"/>
              </a:rPr>
              <a:t>Cryptographic Hash Function</a:t>
            </a:r>
          </a:p>
        </p:txBody>
      </p:sp>
      <p:sp>
        <p:nvSpPr>
          <p:cNvPr id="3" name="Rectangle 2"/>
          <p:cNvSpPr/>
          <p:nvPr/>
        </p:nvSpPr>
        <p:spPr>
          <a:xfrm>
            <a:off x="980172" y="1372600"/>
            <a:ext cx="10602227" cy="4893647"/>
          </a:xfrm>
          <a:prstGeom prst="rect">
            <a:avLst/>
          </a:prstGeom>
        </p:spPr>
        <p:txBody>
          <a:bodyPr wrap="square">
            <a:spAutoFit/>
          </a:bodyPr>
          <a:lstStyle/>
          <a:p>
            <a:pPr marL="457200" lvl="0" indent="-457200" eaLnBrk="0" hangingPunct="0">
              <a:buFont typeface="+mj-lt"/>
              <a:buAutoNum type="arabicPeriod"/>
            </a:pPr>
            <a:r>
              <a:rPr lang="en-US" altLang="en-US" sz="2400" b="1" dirty="0">
                <a:latin typeface="Tw Cen MT" panose="020B0602020104020603" pitchFamily="34" charset="0"/>
              </a:rPr>
              <a:t>Variable-size input</a:t>
            </a:r>
            <a:r>
              <a:rPr lang="en-US" altLang="en-US" sz="2400" dirty="0">
                <a:latin typeface="Tw Cen MT" panose="020B0602020104020603" pitchFamily="34" charset="0"/>
              </a:rPr>
              <a:t>: Accepts a block of data of any arbitrary length.</a:t>
            </a:r>
          </a:p>
          <a:p>
            <a:pPr marL="457200" lvl="0" indent="-457200" eaLnBrk="0" hangingPunct="0">
              <a:buFont typeface="+mj-lt"/>
              <a:buAutoNum type="arabicPeriod"/>
            </a:pPr>
            <a:r>
              <a:rPr lang="en-US" altLang="en-US" sz="2400" b="1" dirty="0">
                <a:latin typeface="Tw Cen MT" panose="020B0602020104020603" pitchFamily="34" charset="0"/>
              </a:rPr>
              <a:t>Fixed-size output: </a:t>
            </a:r>
            <a:r>
              <a:rPr lang="en-US" altLang="en-US" sz="2400" dirty="0">
                <a:latin typeface="Tw Cen MT" panose="020B0602020104020603" pitchFamily="34" charset="0"/>
              </a:rPr>
              <a:t>Produces a hash value (digest) of a fixed length.</a:t>
            </a:r>
          </a:p>
          <a:p>
            <a:pPr marL="457200" lvl="0" indent="-457200" eaLnBrk="0" hangingPunct="0">
              <a:buFont typeface="+mj-lt"/>
              <a:buAutoNum type="arabicPeriod"/>
            </a:pPr>
            <a:r>
              <a:rPr lang="en-US" altLang="en-US" sz="2400" b="1" dirty="0">
                <a:latin typeface="Tw Cen MT" panose="020B0602020104020603" pitchFamily="34" charset="0"/>
              </a:rPr>
              <a:t>Efficiency: </a:t>
            </a:r>
            <a:r>
              <a:rPr lang="en-US" altLang="en-US" sz="2400" dirty="0">
                <a:latin typeface="Tw Cen MT" panose="020B0602020104020603" pitchFamily="34" charset="0"/>
              </a:rPr>
              <a:t>Easy to compute H(x) for any given message x in both hardware and software.</a:t>
            </a:r>
          </a:p>
          <a:p>
            <a:pPr marL="457200" lvl="0" indent="-457200" eaLnBrk="0" hangingPunct="0">
              <a:buFont typeface="+mj-lt"/>
              <a:buAutoNum type="arabicPeriod"/>
            </a:pPr>
            <a:r>
              <a:rPr lang="en-US" altLang="en-US" sz="2400" b="1" dirty="0" err="1">
                <a:latin typeface="Tw Cen MT" panose="020B0602020104020603" pitchFamily="34" charset="0"/>
              </a:rPr>
              <a:t>Pseudorandomness</a:t>
            </a:r>
            <a:r>
              <a:rPr lang="en-US" altLang="en-US" sz="2400" b="1" dirty="0">
                <a:latin typeface="Tw Cen MT" panose="020B0602020104020603" pitchFamily="34" charset="0"/>
              </a:rPr>
              <a:t>: </a:t>
            </a:r>
            <a:r>
              <a:rPr lang="en-US" altLang="en-US" sz="2400" dirty="0">
                <a:latin typeface="Tw Cen MT" panose="020B0602020104020603" pitchFamily="34" charset="0"/>
              </a:rPr>
              <a:t>Output demonstrates high entropy and satisfies statistical randomness properties</a:t>
            </a:r>
          </a:p>
          <a:p>
            <a:pPr marL="457200" lvl="0" indent="-457200" eaLnBrk="0" hangingPunct="0">
              <a:buFont typeface="+mj-lt"/>
              <a:buAutoNum type="arabicPeriod"/>
            </a:pPr>
            <a:r>
              <a:rPr lang="en-US" altLang="en-US" sz="2400" b="1" dirty="0">
                <a:latin typeface="Google Sans Text"/>
              </a:rPr>
              <a:t>Pre-image Resistance (One-Way Property):</a:t>
            </a:r>
            <a:r>
              <a:rPr lang="en-US" altLang="en-US" sz="2400" dirty="0">
                <a:latin typeface="Google Sans Text"/>
              </a:rPr>
              <a:t> For any given hash value h, it is computationally infeasible to find x such that  H(x) = h.</a:t>
            </a:r>
          </a:p>
          <a:p>
            <a:pPr marL="457200" lvl="0" indent="-457200" eaLnBrk="0" hangingPunct="0">
              <a:buFont typeface="+mj-lt"/>
              <a:buAutoNum type="arabicPeriod"/>
            </a:pPr>
            <a:r>
              <a:rPr lang="en-US" altLang="en-US" sz="2400" b="1" dirty="0">
                <a:latin typeface="Google Sans Text"/>
              </a:rPr>
              <a:t>Second Pre-image Resistance (Weak Collision Resistance):</a:t>
            </a:r>
            <a:r>
              <a:rPr lang="en-US" altLang="en-US" sz="2400" dirty="0">
                <a:latin typeface="Google Sans Text"/>
              </a:rPr>
              <a:t> For any given input x, it is computationally infeasible to find y ≠ x such that  H(y) = H(x).</a:t>
            </a:r>
          </a:p>
          <a:p>
            <a:pPr marL="457200" lvl="0" indent="-457200" eaLnBrk="0" hangingPunct="0">
              <a:buFont typeface="+mj-lt"/>
              <a:buAutoNum type="arabicPeriod"/>
            </a:pPr>
            <a:r>
              <a:rPr lang="en-US" altLang="en-US" sz="2400" b="1" dirty="0">
                <a:latin typeface="Google Sans Text"/>
              </a:rPr>
              <a:t>Collision Resistance (Strong Collision Resistance):</a:t>
            </a:r>
            <a:r>
              <a:rPr lang="en-US" altLang="en-US" sz="2400" dirty="0">
                <a:latin typeface="Google Sans Text"/>
              </a:rPr>
              <a:t> It is computationally infeasible to find any pair of distinct inputs (x, y)  such that  x ≠ y and H(x) = H(y)</a:t>
            </a:r>
            <a:endParaRPr lang="en-US" altLang="en-US" sz="2400" dirty="0">
              <a:latin typeface="Arial" panose="020B0604020202020204" pitchFamily="34" charset="0"/>
            </a:endParaRPr>
          </a:p>
          <a:p>
            <a:pPr marL="457200" indent="-457200">
              <a:buFont typeface="+mj-lt"/>
              <a:buAutoNum type="arabicPeriod"/>
            </a:pPr>
            <a:endParaRPr lang="en-GB" sz="2400" dirty="0">
              <a:latin typeface="Tw Cen MT" panose="020B0602020104020603" pitchFamily="34" charset="0"/>
            </a:endParaRPr>
          </a:p>
        </p:txBody>
      </p:sp>
    </p:spTree>
    <p:extLst>
      <p:ext uri="{BB962C8B-B14F-4D97-AF65-F5344CB8AC3E}">
        <p14:creationId xmlns:p14="http://schemas.microsoft.com/office/powerpoint/2010/main" val="24408744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21</a:t>
            </a:fld>
            <a:endParaRPr lang="en-US" dirty="0"/>
          </a:p>
        </p:txBody>
      </p:sp>
      <p:sp>
        <p:nvSpPr>
          <p:cNvPr id="4" name="Rectangle 3"/>
          <p:cNvSpPr/>
          <p:nvPr/>
        </p:nvSpPr>
        <p:spPr>
          <a:xfrm>
            <a:off x="2893368" y="533401"/>
            <a:ext cx="6472669" cy="584775"/>
          </a:xfrm>
          <a:prstGeom prst="rect">
            <a:avLst/>
          </a:prstGeom>
        </p:spPr>
        <p:txBody>
          <a:bodyPr wrap="none">
            <a:spAutoFit/>
          </a:bodyPr>
          <a:lstStyle/>
          <a:p>
            <a:r>
              <a:rPr lang="en-US" sz="3200" b="1" dirty="0">
                <a:solidFill>
                  <a:srgbClr val="FF0000"/>
                </a:solidFill>
                <a:latin typeface="Tw Cen MT" panose="020B0602020104020603" pitchFamily="34" charset="0"/>
              </a:rPr>
              <a:t>Cryptographic Hash Function Criteria</a:t>
            </a:r>
          </a:p>
        </p:txBody>
      </p:sp>
      <p:sp>
        <p:nvSpPr>
          <p:cNvPr id="6" name="Rectangle 9"/>
          <p:cNvSpPr>
            <a:spLocks noChangeArrowheads="1"/>
          </p:cNvSpPr>
          <p:nvPr/>
        </p:nvSpPr>
        <p:spPr bwMode="auto">
          <a:xfrm>
            <a:off x="1786302" y="1250782"/>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latin typeface="Tw Cen MT" pitchFamily="34" charset="0"/>
              </a:rPr>
              <a:t>A cryptographic hash function </a:t>
            </a:r>
            <a:r>
              <a:rPr lang="en-US" sz="2800" b="1" dirty="0">
                <a:latin typeface="Tw Cen MT" pitchFamily="34" charset="0"/>
              </a:rPr>
              <a:t>must satisfy </a:t>
            </a:r>
            <a:r>
              <a:rPr lang="en-US" sz="2800" dirty="0">
                <a:solidFill>
                  <a:srgbClr val="FF0000"/>
                </a:solidFill>
                <a:latin typeface="Tw Cen MT" pitchFamily="34" charset="0"/>
              </a:rPr>
              <a:t>three criteria</a:t>
            </a:r>
            <a:r>
              <a:rPr lang="en-US" sz="2800" dirty="0">
                <a:latin typeface="Tw Cen MT" pitchFamily="34" charset="0"/>
              </a:rPr>
              <a:t>: </a:t>
            </a:r>
            <a:r>
              <a:rPr lang="en-US" sz="2800" dirty="0" err="1">
                <a:latin typeface="Tw Cen MT" pitchFamily="34" charset="0"/>
              </a:rPr>
              <a:t>preimage</a:t>
            </a:r>
            <a:r>
              <a:rPr lang="en-US" sz="2800" dirty="0">
                <a:latin typeface="Tw Cen MT" pitchFamily="34" charset="0"/>
              </a:rPr>
              <a:t> resistance, second </a:t>
            </a:r>
            <a:r>
              <a:rPr lang="en-US" sz="2800" dirty="0" err="1">
                <a:latin typeface="Tw Cen MT" pitchFamily="34" charset="0"/>
              </a:rPr>
              <a:t>preimage</a:t>
            </a:r>
            <a:r>
              <a:rPr lang="en-US" sz="2800" dirty="0">
                <a:latin typeface="Tw Cen MT" pitchFamily="34" charset="0"/>
              </a:rPr>
              <a:t> resistance, and collision resistance.</a:t>
            </a:r>
          </a:p>
        </p:txBody>
      </p:sp>
      <p:sp>
        <p:nvSpPr>
          <p:cNvPr id="7" name="Text Box 11"/>
          <p:cNvSpPr txBox="1">
            <a:spLocks noChangeArrowheads="1"/>
          </p:cNvSpPr>
          <p:nvPr/>
        </p:nvSpPr>
        <p:spPr bwMode="auto">
          <a:xfrm>
            <a:off x="3425458" y="2986645"/>
            <a:ext cx="54268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Criteria of a cryptographic hash function</a:t>
            </a:r>
          </a:p>
        </p:txBody>
      </p:sp>
      <p:pic>
        <p:nvPicPr>
          <p:cNvPr id="8"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76" y="3810000"/>
            <a:ext cx="6562725" cy="181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0628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32D94B80-1766-4996-8233-B3574ED9C580}"/>
              </a:ext>
            </a:extLst>
          </p:cNvPr>
          <p:cNvSpPr>
            <a:spLocks noGrp="1"/>
          </p:cNvSpPr>
          <p:nvPr>
            <p:ph type="sldNum" sz="quarter" idx="12"/>
          </p:nvPr>
        </p:nvSpPr>
        <p:spPr/>
        <p:txBody>
          <a:bodyPr/>
          <a:lstStyle>
            <a:lvl1pPr marL="381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0089FDD-FC21-483B-9274-37AB644FCB46}" type="slidenum">
              <a:rPr lang="en-US" altLang="en-US"/>
              <a:pPr/>
              <a:t>22</a:t>
            </a:fld>
            <a:endParaRPr lang="en-US" altLang="en-US"/>
          </a:p>
        </p:txBody>
      </p:sp>
      <p:sp>
        <p:nvSpPr>
          <p:cNvPr id="2" name="object 2">
            <a:extLst>
              <a:ext uri="{FF2B5EF4-FFF2-40B4-BE49-F238E27FC236}">
                <a16:creationId xmlns:a16="http://schemas.microsoft.com/office/drawing/2014/main" id="{0FD92F57-20E9-441D-8337-D3FB798A49F2}"/>
              </a:ext>
            </a:extLst>
          </p:cNvPr>
          <p:cNvSpPr txBox="1">
            <a:spLocks noGrp="1"/>
          </p:cNvSpPr>
          <p:nvPr>
            <p:ph type="title"/>
          </p:nvPr>
        </p:nvSpPr>
        <p:spPr>
          <a:xfrm>
            <a:off x="2133600" y="362571"/>
            <a:ext cx="8365067" cy="998350"/>
          </a:xfrm>
        </p:spPr>
        <p:txBody>
          <a:bodyPr vert="horz" wrap="square" lIns="0" tIns="13335" rIns="0" bIns="0" numCol="1" rtlCol="0" anchor="t" anchorCtr="0" compatLnSpc="1">
            <a:prstTxWarp prst="textNoShape">
              <a:avLst/>
            </a:prstTxWarp>
            <a:spAutoFit/>
          </a:bodyPr>
          <a:lstStyle/>
          <a:p>
            <a:pPr marL="1905" eaLnBrk="1" hangingPunct="1">
              <a:defRPr/>
            </a:pPr>
            <a:r>
              <a:rPr b="1" kern="1200" dirty="0">
                <a:solidFill>
                  <a:srgbClr val="FF0000"/>
                </a:solidFill>
                <a:latin typeface="Tw Cen MT" panose="020B0602020104020603" pitchFamily="34" charset="0"/>
                <a:ea typeface="+mn-ea"/>
                <a:cs typeface="Arial" charset="0"/>
              </a:rPr>
              <a:t>One Way Function:</a:t>
            </a:r>
            <a:br>
              <a:rPr b="1" kern="1200" dirty="0">
                <a:solidFill>
                  <a:srgbClr val="FF0000"/>
                </a:solidFill>
                <a:latin typeface="Tw Cen MT" panose="020B0602020104020603" pitchFamily="34" charset="0"/>
                <a:ea typeface="+mn-ea"/>
                <a:cs typeface="Arial" charset="0"/>
              </a:rPr>
            </a:br>
            <a:r>
              <a:rPr b="1" kern="1200" dirty="0">
                <a:solidFill>
                  <a:srgbClr val="FF0000"/>
                </a:solidFill>
                <a:latin typeface="Tw Cen MT" panose="020B0602020104020603" pitchFamily="34" charset="0"/>
                <a:ea typeface="+mn-ea"/>
                <a:cs typeface="Arial" charset="0"/>
              </a:rPr>
              <a:t>what is computationally infeasible?</a:t>
            </a:r>
          </a:p>
        </p:txBody>
      </p:sp>
      <p:sp>
        <p:nvSpPr>
          <p:cNvPr id="3" name="object 3">
            <a:extLst>
              <a:ext uri="{FF2B5EF4-FFF2-40B4-BE49-F238E27FC236}">
                <a16:creationId xmlns:a16="http://schemas.microsoft.com/office/drawing/2014/main" id="{D7F15BEF-65AF-4FAF-A95A-D30621B8C6E8}"/>
              </a:ext>
            </a:extLst>
          </p:cNvPr>
          <p:cNvSpPr txBox="1"/>
          <p:nvPr/>
        </p:nvSpPr>
        <p:spPr>
          <a:xfrm>
            <a:off x="1905000" y="1905000"/>
            <a:ext cx="7581900" cy="3359253"/>
          </a:xfrm>
          <a:prstGeom prst="rect">
            <a:avLst/>
          </a:prstGeom>
        </p:spPr>
        <p:txBody>
          <a:bodyPr lIns="0" tIns="85725" rIns="0" bIns="0">
            <a:spAutoFit/>
          </a:bodyPr>
          <a:lstStyle>
            <a:lvl1pPr marL="368300" indent="-342900">
              <a:tabLst>
                <a:tab pos="368300" algn="l"/>
              </a:tabLst>
              <a:defRPr>
                <a:solidFill>
                  <a:schemeClr val="tx1"/>
                </a:solidFill>
                <a:latin typeface="Arial" panose="020B0604020202020204" pitchFamily="34" charset="0"/>
              </a:defRPr>
            </a:lvl1pPr>
            <a:lvl2pPr marL="768350" indent="-285750">
              <a:tabLst>
                <a:tab pos="368300" algn="l"/>
              </a:tabLst>
              <a:defRPr>
                <a:solidFill>
                  <a:schemeClr val="tx1"/>
                </a:solidFill>
                <a:latin typeface="Arial" panose="020B0604020202020204" pitchFamily="34" charset="0"/>
              </a:defRPr>
            </a:lvl2pPr>
            <a:lvl3pPr marL="1143000" indent="-228600">
              <a:tabLst>
                <a:tab pos="368300" algn="l"/>
              </a:tabLst>
              <a:defRPr>
                <a:solidFill>
                  <a:schemeClr val="tx1"/>
                </a:solidFill>
                <a:latin typeface="Arial" panose="020B0604020202020204" pitchFamily="34" charset="0"/>
              </a:defRPr>
            </a:lvl3pPr>
            <a:lvl4pPr marL="1600200" indent="-228600">
              <a:tabLst>
                <a:tab pos="368300" algn="l"/>
              </a:tabLst>
              <a:defRPr>
                <a:solidFill>
                  <a:schemeClr val="tx1"/>
                </a:solidFill>
                <a:latin typeface="Arial" panose="020B0604020202020204" pitchFamily="34" charset="0"/>
              </a:defRPr>
            </a:lvl4pPr>
            <a:lvl5pPr marL="2057400" indent="-228600">
              <a:tabLst>
                <a:tab pos="3683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683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683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683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68300" algn="l"/>
              </a:tabLst>
              <a:defRPr>
                <a:solidFill>
                  <a:schemeClr val="tx1"/>
                </a:solidFill>
                <a:latin typeface="Arial" panose="020B0604020202020204" pitchFamily="34" charset="0"/>
              </a:defRPr>
            </a:lvl9pPr>
          </a:lstStyle>
          <a:p>
            <a:pPr eaLnBrk="1" hangingPunct="1">
              <a:spcBef>
                <a:spcPts val="675"/>
              </a:spcBef>
              <a:buFontTx/>
              <a:buChar char="•"/>
            </a:pPr>
            <a:r>
              <a:rPr lang="en-US" altLang="en-US" sz="2800" dirty="0">
                <a:solidFill>
                  <a:srgbClr val="0070C0"/>
                </a:solidFill>
                <a:latin typeface="Tw Cen MT" pitchFamily="34" charset="0"/>
              </a:rPr>
              <a:t>Given y, find x such that h(x) = y</a:t>
            </a:r>
          </a:p>
          <a:p>
            <a:pPr lvl="1" eaLnBrk="1" hangingPunct="1">
              <a:spcBef>
                <a:spcPts val="488"/>
              </a:spcBef>
              <a:buFontTx/>
              <a:buChar char="–"/>
            </a:pPr>
            <a:r>
              <a:rPr lang="en-US" altLang="en-US" sz="2800" dirty="0">
                <a:latin typeface="Tw Cen MT" pitchFamily="34" charset="0"/>
              </a:rPr>
              <a:t>An inverse problem</a:t>
            </a:r>
          </a:p>
          <a:p>
            <a:pPr lvl="1" eaLnBrk="1" hangingPunct="1">
              <a:spcBef>
                <a:spcPts val="475"/>
              </a:spcBef>
              <a:buFontTx/>
              <a:buChar char="–"/>
            </a:pPr>
            <a:r>
              <a:rPr lang="en-US" altLang="en-US" sz="2800" dirty="0">
                <a:latin typeface="Tw Cen MT" pitchFamily="34" charset="0"/>
              </a:rPr>
              <a:t>If it is a cryptographic hash function with 128 bit digest, need to try about half of the messages to find a message that maps to y.</a:t>
            </a:r>
          </a:p>
          <a:p>
            <a:pPr lvl="1" eaLnBrk="1" hangingPunct="1">
              <a:spcBef>
                <a:spcPts val="475"/>
              </a:spcBef>
              <a:buFontTx/>
              <a:buChar char="–"/>
            </a:pPr>
            <a:r>
              <a:rPr lang="en-US" altLang="en-US" sz="2800" dirty="0">
                <a:latin typeface="Tw Cen MT" pitchFamily="34" charset="0"/>
              </a:rPr>
              <a:t>Need to try about 2127 messages</a:t>
            </a:r>
          </a:p>
          <a:p>
            <a:pPr lvl="1" eaLnBrk="1" hangingPunct="1">
              <a:spcBef>
                <a:spcPts val="475"/>
              </a:spcBef>
              <a:buFontTx/>
              <a:buChar char="–"/>
            </a:pPr>
            <a:r>
              <a:rPr lang="en-US" altLang="en-US" sz="2800" dirty="0">
                <a:latin typeface="Tw Cen MT" pitchFamily="34" charset="0"/>
              </a:rPr>
              <a:t>This should be computationally infeasible.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1F1B4358-2674-45B5-9E1A-72DBE2AADA30}"/>
              </a:ext>
            </a:extLst>
          </p:cNvPr>
          <p:cNvSpPr>
            <a:spLocks noGrp="1"/>
          </p:cNvSpPr>
          <p:nvPr>
            <p:ph type="sldNum" sz="quarter" idx="12"/>
          </p:nvPr>
        </p:nvSpPr>
        <p:spPr/>
        <p:txBody>
          <a:bodyPr/>
          <a:lstStyle>
            <a:lvl1pPr marL="381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8EF3233-1B24-46B2-BD47-6CDC492EC9BC}" type="slidenum">
              <a:rPr lang="en-US" altLang="en-US"/>
              <a:pPr/>
              <a:t>23</a:t>
            </a:fld>
            <a:endParaRPr lang="en-US" altLang="en-US"/>
          </a:p>
        </p:txBody>
      </p:sp>
      <p:sp>
        <p:nvSpPr>
          <p:cNvPr id="2" name="object 2">
            <a:extLst>
              <a:ext uri="{FF2B5EF4-FFF2-40B4-BE49-F238E27FC236}">
                <a16:creationId xmlns:a16="http://schemas.microsoft.com/office/drawing/2014/main" id="{2A731F0A-0E4D-41D0-963C-D4F41D668588}"/>
              </a:ext>
            </a:extLst>
          </p:cNvPr>
          <p:cNvSpPr txBox="1">
            <a:spLocks noGrp="1"/>
          </p:cNvSpPr>
          <p:nvPr>
            <p:ph type="title"/>
          </p:nvPr>
        </p:nvSpPr>
        <p:spPr>
          <a:xfrm>
            <a:off x="1447800" y="323317"/>
            <a:ext cx="9774767" cy="505908"/>
          </a:xfrm>
        </p:spPr>
        <p:txBody>
          <a:bodyPr vert="horz" wrap="square" lIns="0" tIns="13335" rIns="0" bIns="0" numCol="1" anchor="t" anchorCtr="0" compatLnSpc="1">
            <a:prstTxWarp prst="textNoShape">
              <a:avLst/>
            </a:prstTxWarp>
            <a:spAutoFit/>
          </a:bodyPr>
          <a:lstStyle/>
          <a:p>
            <a:pPr marL="1905" indent="-911225">
              <a:defRPr/>
            </a:pPr>
            <a:r>
              <a:rPr lang="en-US" altLang="en-US" b="1" kern="1200" dirty="0">
                <a:solidFill>
                  <a:srgbClr val="FF0000"/>
                </a:solidFill>
                <a:latin typeface="Tw Cen MT" panose="020B0602020104020603" pitchFamily="34" charset="0"/>
                <a:ea typeface="+mn-ea"/>
                <a:cs typeface="Arial" charset="0"/>
              </a:rPr>
              <a:t>Second pre-image resistant - computational cost</a:t>
            </a:r>
          </a:p>
        </p:txBody>
      </p:sp>
      <p:sp>
        <p:nvSpPr>
          <p:cNvPr id="3" name="object 3">
            <a:extLst>
              <a:ext uri="{FF2B5EF4-FFF2-40B4-BE49-F238E27FC236}">
                <a16:creationId xmlns:a16="http://schemas.microsoft.com/office/drawing/2014/main" id="{A10C2F2A-1665-4445-9B26-25DF30E6CDE2}"/>
              </a:ext>
            </a:extLst>
          </p:cNvPr>
          <p:cNvSpPr txBox="1"/>
          <p:nvPr/>
        </p:nvSpPr>
        <p:spPr>
          <a:xfrm>
            <a:off x="2276476" y="1323976"/>
            <a:ext cx="8391524" cy="2800126"/>
          </a:xfrm>
          <a:prstGeom prst="rect">
            <a:avLst/>
          </a:prstGeom>
        </p:spPr>
        <p:txBody>
          <a:bodyPr wrap="square" lIns="0" tIns="85725" rIns="0" bIns="0">
            <a:spAutoFit/>
          </a:bodyPr>
          <a:lstStyle>
            <a:lvl1pPr marL="368300" indent="-342900">
              <a:tabLst>
                <a:tab pos="368300" algn="l"/>
              </a:tabLst>
              <a:defRPr>
                <a:solidFill>
                  <a:schemeClr val="tx1"/>
                </a:solidFill>
                <a:latin typeface="Arial" panose="020B0604020202020204" pitchFamily="34" charset="0"/>
              </a:defRPr>
            </a:lvl1pPr>
            <a:lvl2pPr marL="768350" indent="-285750">
              <a:tabLst>
                <a:tab pos="368300" algn="l"/>
              </a:tabLst>
              <a:defRPr>
                <a:solidFill>
                  <a:schemeClr val="tx1"/>
                </a:solidFill>
                <a:latin typeface="Arial" panose="020B0604020202020204" pitchFamily="34" charset="0"/>
              </a:defRPr>
            </a:lvl2pPr>
            <a:lvl3pPr marL="1143000" indent="-228600">
              <a:tabLst>
                <a:tab pos="368300" algn="l"/>
              </a:tabLst>
              <a:defRPr>
                <a:solidFill>
                  <a:schemeClr val="tx1"/>
                </a:solidFill>
                <a:latin typeface="Arial" panose="020B0604020202020204" pitchFamily="34" charset="0"/>
              </a:defRPr>
            </a:lvl3pPr>
            <a:lvl4pPr marL="1600200" indent="-228600">
              <a:tabLst>
                <a:tab pos="368300" algn="l"/>
              </a:tabLst>
              <a:defRPr>
                <a:solidFill>
                  <a:schemeClr val="tx1"/>
                </a:solidFill>
                <a:latin typeface="Arial" panose="020B0604020202020204" pitchFamily="34" charset="0"/>
              </a:defRPr>
            </a:lvl4pPr>
            <a:lvl5pPr marL="2057400" indent="-228600">
              <a:tabLst>
                <a:tab pos="3683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683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683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683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68300" algn="l"/>
              </a:tabLst>
              <a:defRPr>
                <a:solidFill>
                  <a:schemeClr val="tx1"/>
                </a:solidFill>
                <a:latin typeface="Arial" panose="020B0604020202020204" pitchFamily="34" charset="0"/>
              </a:defRPr>
            </a:lvl9pPr>
          </a:lstStyle>
          <a:p>
            <a:pPr eaLnBrk="1" hangingPunct="1">
              <a:spcBef>
                <a:spcPts val="675"/>
              </a:spcBef>
              <a:buFontTx/>
              <a:buChar char="•"/>
            </a:pPr>
            <a:r>
              <a:rPr lang="en-US" altLang="en-US" sz="2800" dirty="0">
                <a:solidFill>
                  <a:srgbClr val="0070C0"/>
                </a:solidFill>
                <a:latin typeface="Tw Cen MT" pitchFamily="34" charset="0"/>
              </a:rPr>
              <a:t>Given x, find y</a:t>
            </a:r>
            <a:r>
              <a:rPr lang="en-US" altLang="en-US" sz="2800" dirty="0">
                <a:solidFill>
                  <a:srgbClr val="0070C0"/>
                </a:solidFill>
                <a:latin typeface="Google Sans Text"/>
              </a:rPr>
              <a:t> ≠</a:t>
            </a:r>
            <a:r>
              <a:rPr lang="en-US" altLang="en-US" sz="2800" dirty="0">
                <a:solidFill>
                  <a:srgbClr val="0070C0"/>
                </a:solidFill>
                <a:latin typeface="Tw Cen MT" pitchFamily="34" charset="0"/>
              </a:rPr>
              <a:t> x such that h(x) = h(y)</a:t>
            </a:r>
          </a:p>
          <a:p>
            <a:pPr lvl="1" eaLnBrk="1" hangingPunct="1">
              <a:spcBef>
                <a:spcPts val="488"/>
              </a:spcBef>
              <a:buFontTx/>
              <a:buChar char="–"/>
            </a:pPr>
            <a:r>
              <a:rPr lang="en-US" altLang="en-US" sz="2800" dirty="0">
                <a:latin typeface="Tw Cen MT" pitchFamily="34" charset="0"/>
              </a:rPr>
              <a:t>Try messages to find some y that maps to the same value as x.</a:t>
            </a:r>
          </a:p>
          <a:p>
            <a:pPr lvl="1" eaLnBrk="1" hangingPunct="1">
              <a:spcBef>
                <a:spcPts val="475"/>
              </a:spcBef>
              <a:buFontTx/>
              <a:buChar char="–"/>
            </a:pPr>
            <a:r>
              <a:rPr lang="en-US" altLang="en-US" sz="2800" dirty="0">
                <a:latin typeface="Tw Cen MT" pitchFamily="34" charset="0"/>
              </a:rPr>
              <a:t>For a 128 bit digest, the expected number of messages to try is again about 2127 messages for a 0.5 probability of success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3B8461B3-A19B-47C5-AEF0-C03BCA93D026}"/>
              </a:ext>
            </a:extLst>
          </p:cNvPr>
          <p:cNvSpPr>
            <a:spLocks noGrp="1"/>
          </p:cNvSpPr>
          <p:nvPr>
            <p:ph type="sldNum" sz="quarter" idx="12"/>
          </p:nvPr>
        </p:nvSpPr>
        <p:spPr/>
        <p:txBody>
          <a:bodyPr/>
          <a:lstStyle>
            <a:lvl1pPr marL="381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270AD7F-8726-4D15-9B8D-D31F8629A644}" type="slidenum">
              <a:rPr lang="en-US" altLang="en-US"/>
              <a:pPr/>
              <a:t>24</a:t>
            </a:fld>
            <a:endParaRPr lang="en-US" altLang="en-US"/>
          </a:p>
        </p:txBody>
      </p:sp>
      <p:sp>
        <p:nvSpPr>
          <p:cNvPr id="2" name="object 2">
            <a:extLst>
              <a:ext uri="{FF2B5EF4-FFF2-40B4-BE49-F238E27FC236}">
                <a16:creationId xmlns:a16="http://schemas.microsoft.com/office/drawing/2014/main" id="{2C46C86E-C6EC-4F1D-9DD0-FE515A0E3A02}"/>
              </a:ext>
            </a:extLst>
          </p:cNvPr>
          <p:cNvSpPr txBox="1">
            <a:spLocks noGrp="1"/>
          </p:cNvSpPr>
          <p:nvPr>
            <p:ph type="title"/>
          </p:nvPr>
        </p:nvSpPr>
        <p:spPr>
          <a:xfrm>
            <a:off x="2438400" y="451223"/>
            <a:ext cx="7108825" cy="514350"/>
          </a:xfrm>
        </p:spPr>
        <p:txBody>
          <a:bodyPr vert="horz" wrap="square" lIns="0" tIns="13335" rIns="0" bIns="0" numCol="1" rtlCol="0" anchor="t" anchorCtr="0" compatLnSpc="1">
            <a:prstTxWarp prst="textNoShape">
              <a:avLst/>
            </a:prstTxWarp>
            <a:spAutoFit/>
          </a:bodyPr>
          <a:lstStyle/>
          <a:p>
            <a:pPr marL="1905">
              <a:defRPr/>
            </a:pPr>
            <a:r>
              <a:rPr b="1" kern="1200" dirty="0">
                <a:solidFill>
                  <a:srgbClr val="FF0000"/>
                </a:solidFill>
                <a:latin typeface="Tw Cen MT" panose="020B0602020104020603" pitchFamily="34" charset="0"/>
                <a:ea typeface="+mn-ea"/>
                <a:cs typeface="Arial" charset="0"/>
              </a:rPr>
              <a:t>Collision Resistant - computational cost</a:t>
            </a:r>
          </a:p>
        </p:txBody>
      </p:sp>
      <p:sp>
        <p:nvSpPr>
          <p:cNvPr id="3" name="object 3">
            <a:extLst>
              <a:ext uri="{FF2B5EF4-FFF2-40B4-BE49-F238E27FC236}">
                <a16:creationId xmlns:a16="http://schemas.microsoft.com/office/drawing/2014/main" id="{DE883850-180A-47C3-886A-2988BE683C8A}"/>
              </a:ext>
            </a:extLst>
          </p:cNvPr>
          <p:cNvSpPr txBox="1"/>
          <p:nvPr/>
        </p:nvSpPr>
        <p:spPr>
          <a:xfrm>
            <a:off x="1219200" y="1323975"/>
            <a:ext cx="9829800" cy="4156907"/>
          </a:xfrm>
          <a:prstGeom prst="rect">
            <a:avLst/>
          </a:prstGeom>
        </p:spPr>
        <p:txBody>
          <a:bodyPr wrap="square" lIns="0" tIns="85725" rIns="0" bIns="0">
            <a:spAutoFit/>
          </a:bodyPr>
          <a:lstStyle>
            <a:lvl1pPr marL="393700" indent="-342900">
              <a:tabLst>
                <a:tab pos="393700" algn="l"/>
              </a:tabLst>
              <a:defRPr>
                <a:solidFill>
                  <a:schemeClr val="tx1"/>
                </a:solidFill>
                <a:latin typeface="Arial" panose="020B0604020202020204" pitchFamily="34" charset="0"/>
              </a:defRPr>
            </a:lvl1pPr>
            <a:lvl2pPr marL="793750" indent="-285750">
              <a:tabLst>
                <a:tab pos="393700" algn="l"/>
              </a:tabLst>
              <a:defRPr>
                <a:solidFill>
                  <a:schemeClr val="tx1"/>
                </a:solidFill>
                <a:latin typeface="Arial" panose="020B0604020202020204" pitchFamily="34" charset="0"/>
              </a:defRPr>
            </a:lvl2pPr>
            <a:lvl3pPr marL="1143000" indent="-228600">
              <a:tabLst>
                <a:tab pos="393700" algn="l"/>
              </a:tabLst>
              <a:defRPr>
                <a:solidFill>
                  <a:schemeClr val="tx1"/>
                </a:solidFill>
                <a:latin typeface="Arial" panose="020B0604020202020204" pitchFamily="34" charset="0"/>
              </a:defRPr>
            </a:lvl3pPr>
            <a:lvl4pPr marL="1600200" indent="-228600">
              <a:tabLst>
                <a:tab pos="393700" algn="l"/>
              </a:tabLst>
              <a:defRPr>
                <a:solidFill>
                  <a:schemeClr val="tx1"/>
                </a:solidFill>
                <a:latin typeface="Arial" panose="020B0604020202020204" pitchFamily="34" charset="0"/>
              </a:defRPr>
            </a:lvl4pPr>
            <a:lvl5pPr marL="2057400" indent="-228600">
              <a:tabLst>
                <a:tab pos="3937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937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937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937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93700" algn="l"/>
              </a:tabLst>
              <a:defRPr>
                <a:solidFill>
                  <a:schemeClr val="tx1"/>
                </a:solidFill>
                <a:latin typeface="Arial" panose="020B0604020202020204" pitchFamily="34" charset="0"/>
              </a:defRPr>
            </a:lvl9pPr>
          </a:lstStyle>
          <a:p>
            <a:pPr eaLnBrk="1" hangingPunct="1">
              <a:spcBef>
                <a:spcPts val="675"/>
              </a:spcBef>
              <a:buFontTx/>
              <a:buChar char="•"/>
            </a:pPr>
            <a:r>
              <a:rPr lang="en-US" altLang="en-US" sz="2800" dirty="0">
                <a:solidFill>
                  <a:srgbClr val="0070C0"/>
                </a:solidFill>
                <a:latin typeface="Tw Cen MT" pitchFamily="34" charset="0"/>
              </a:rPr>
              <a:t>Find y, x, with y</a:t>
            </a:r>
            <a:r>
              <a:rPr lang="en-US" altLang="en-US" sz="2800" dirty="0">
                <a:solidFill>
                  <a:srgbClr val="0070C0"/>
                </a:solidFill>
                <a:latin typeface="Google Sans Text"/>
              </a:rPr>
              <a:t> ≠</a:t>
            </a:r>
            <a:r>
              <a:rPr lang="en-US" altLang="en-US" sz="2800" dirty="0">
                <a:solidFill>
                  <a:srgbClr val="0070C0"/>
                </a:solidFill>
                <a:latin typeface="Tw Cen MT" pitchFamily="34" charset="0"/>
              </a:rPr>
              <a:t> x such that h(x) = h(y)</a:t>
            </a:r>
          </a:p>
          <a:p>
            <a:pPr lvl="1" algn="just" eaLnBrk="1" hangingPunct="1">
              <a:spcBef>
                <a:spcPts val="488"/>
              </a:spcBef>
              <a:buFontTx/>
              <a:buChar char="–"/>
            </a:pPr>
            <a:r>
              <a:rPr lang="en-US" altLang="en-US" sz="2800" dirty="0">
                <a:latin typeface="Tw Cen MT" pitchFamily="34" charset="0"/>
              </a:rPr>
              <a:t>For a cryptographic hash function, this requires solving the birthday problem, which is about 2</a:t>
            </a:r>
            <a:r>
              <a:rPr lang="en-US" altLang="en-US" sz="2800" baseline="30000" dirty="0">
                <a:latin typeface="Tw Cen MT" pitchFamily="34" charset="0"/>
              </a:rPr>
              <a:t>64</a:t>
            </a:r>
            <a:r>
              <a:rPr lang="en-US" altLang="en-US" sz="2800" dirty="0">
                <a:latin typeface="Tw Cen MT" pitchFamily="34" charset="0"/>
              </a:rPr>
              <a:t> messages for a 128 bit message digest</a:t>
            </a:r>
          </a:p>
          <a:p>
            <a:pPr lvl="1" algn="just" eaLnBrk="1" hangingPunct="1">
              <a:spcBef>
                <a:spcPts val="475"/>
              </a:spcBef>
              <a:buFontTx/>
              <a:buChar char="–"/>
            </a:pPr>
            <a:r>
              <a:rPr lang="en-US" altLang="en-US" sz="2800" dirty="0">
                <a:latin typeface="Tw Cen MT" pitchFamily="34" charset="0"/>
              </a:rPr>
              <a:t>Note that collision resistant</a:t>
            </a:r>
          </a:p>
          <a:p>
            <a:pPr algn="just" eaLnBrk="1" hangingPunct="1"/>
            <a:r>
              <a:rPr lang="en-US" altLang="en-US" sz="2800" dirty="0">
                <a:solidFill>
                  <a:srgbClr val="000000"/>
                </a:solidFill>
                <a:latin typeface="Symbol" panose="05050102010706020507" pitchFamily="18" charset="2"/>
                <a:ea typeface="Symbol" panose="05050102010706020507" pitchFamily="18" charset="2"/>
                <a:cs typeface="Symbol" panose="05050102010706020507" pitchFamily="18" charset="2"/>
              </a:rPr>
              <a:t></a:t>
            </a:r>
            <a:r>
              <a:rPr lang="en-US" altLang="en-US" sz="2800" dirty="0">
                <a:latin typeface="Tw Cen MT" pitchFamily="34" charset="0"/>
              </a:rPr>
              <a:t> second pre-image resistant</a:t>
            </a:r>
          </a:p>
          <a:p>
            <a:pPr lvl="1" algn="just" eaLnBrk="1" hangingPunct="1">
              <a:spcBef>
                <a:spcPts val="475"/>
              </a:spcBef>
              <a:buFontTx/>
              <a:buChar char="–"/>
            </a:pPr>
            <a:r>
              <a:rPr lang="en-US" altLang="en-US" sz="2800" dirty="0">
                <a:latin typeface="Tw Cen MT" pitchFamily="34" charset="0"/>
              </a:rPr>
              <a:t>Use (A</a:t>
            </a:r>
            <a:r>
              <a:rPr lang="en-US" altLang="en-US" sz="2800" dirty="0">
                <a:solidFill>
                  <a:srgbClr val="000000"/>
                </a:solidFill>
                <a:latin typeface="Symbol" panose="05050102010706020507" pitchFamily="18" charset="2"/>
                <a:ea typeface="Symbol" panose="05050102010706020507" pitchFamily="18" charset="2"/>
                <a:cs typeface="Symbol" panose="05050102010706020507" pitchFamily="18" charset="2"/>
              </a:rPr>
              <a:t>  </a:t>
            </a:r>
            <a:r>
              <a:rPr lang="en-US" altLang="en-US" sz="2800" dirty="0">
                <a:latin typeface="Tw Cen MT" pitchFamily="34" charset="0"/>
              </a:rPr>
              <a:t>B is the same as ¬B </a:t>
            </a:r>
            <a:r>
              <a:rPr lang="en-US" altLang="en-US" sz="2800" dirty="0">
                <a:solidFill>
                  <a:srgbClr val="000000"/>
                </a:solidFill>
                <a:latin typeface="Symbol" panose="05050102010706020507" pitchFamily="18" charset="2"/>
                <a:ea typeface="Symbol" panose="05050102010706020507" pitchFamily="18" charset="2"/>
                <a:cs typeface="Symbol" panose="05050102010706020507" pitchFamily="18" charset="2"/>
              </a:rPr>
              <a:t></a:t>
            </a:r>
            <a:r>
              <a:rPr lang="en-US" altLang="en-US" sz="2800" dirty="0">
                <a:latin typeface="Tw Cen MT" pitchFamily="34" charset="0"/>
              </a:rPr>
              <a:t> ¬ A)</a:t>
            </a:r>
          </a:p>
          <a:p>
            <a:pPr lvl="1" eaLnBrk="1" hangingPunct="1">
              <a:buFont typeface="Arial" panose="020B0604020202020204" pitchFamily="34" charset="0"/>
              <a:buChar char="–"/>
            </a:pPr>
            <a:endParaRPr lang="en-US" altLang="en-US" sz="2800" dirty="0">
              <a:latin typeface="Tw Cen MT" pitchFamily="34" charset="0"/>
            </a:endParaRPr>
          </a:p>
          <a:p>
            <a:pPr marL="508000" lvl="1" indent="0" eaLnBrk="1" hangingPunct="1">
              <a:spcBef>
                <a:spcPts val="38"/>
              </a:spcBef>
            </a:pPr>
            <a:endParaRPr lang="en-US" altLang="en-US" sz="2800" dirty="0">
              <a:latin typeface="Tw Cen MT"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6AEF9FD3-8138-4584-9155-7D1FAB8DC961}"/>
              </a:ext>
            </a:extLst>
          </p:cNvPr>
          <p:cNvSpPr>
            <a:spLocks noGrp="1"/>
          </p:cNvSpPr>
          <p:nvPr>
            <p:ph type="sldNum" sz="quarter" idx="12"/>
          </p:nvPr>
        </p:nvSpPr>
        <p:spPr/>
        <p:txBody>
          <a:bodyPr/>
          <a:lstStyle>
            <a:lvl1pPr marL="381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B5BE099-8B64-47E9-961F-B4EAAB92E76D}" type="slidenum">
              <a:rPr lang="en-US" altLang="en-US"/>
              <a:pPr/>
              <a:t>25</a:t>
            </a:fld>
            <a:endParaRPr lang="en-US" altLang="en-US"/>
          </a:p>
        </p:txBody>
      </p:sp>
      <p:sp>
        <p:nvSpPr>
          <p:cNvPr id="2" name="object 2">
            <a:extLst>
              <a:ext uri="{FF2B5EF4-FFF2-40B4-BE49-F238E27FC236}">
                <a16:creationId xmlns:a16="http://schemas.microsoft.com/office/drawing/2014/main" id="{E7B8D04D-E576-434F-A02E-C4226E88BFE1}"/>
              </a:ext>
            </a:extLst>
          </p:cNvPr>
          <p:cNvSpPr txBox="1">
            <a:spLocks noGrp="1"/>
          </p:cNvSpPr>
          <p:nvPr>
            <p:ph type="title"/>
          </p:nvPr>
        </p:nvSpPr>
        <p:spPr>
          <a:xfrm>
            <a:off x="3200400" y="591710"/>
            <a:ext cx="5238750" cy="514350"/>
          </a:xfrm>
        </p:spPr>
        <p:txBody>
          <a:bodyPr vert="horz" wrap="square" lIns="0" tIns="13335" rIns="0" bIns="0" numCol="1" rtlCol="0" anchor="t" anchorCtr="0" compatLnSpc="1">
            <a:prstTxWarp prst="textNoShape">
              <a:avLst/>
            </a:prstTxWarp>
            <a:spAutoFit/>
          </a:bodyPr>
          <a:lstStyle/>
          <a:p>
            <a:pPr marL="12700" eaLnBrk="1" fontAlgn="auto" hangingPunct="1">
              <a:spcBef>
                <a:spcPts val="105"/>
              </a:spcBef>
              <a:spcAft>
                <a:spcPts val="0"/>
              </a:spcAft>
              <a:defRPr/>
            </a:pPr>
            <a:r>
              <a:rPr b="1" kern="1200" dirty="0">
                <a:solidFill>
                  <a:srgbClr val="FF0000"/>
                </a:solidFill>
                <a:latin typeface="Tw Cen MT" panose="020B0602020104020603" pitchFamily="34" charset="0"/>
                <a:ea typeface="+mn-ea"/>
                <a:cs typeface="Arial" charset="0"/>
              </a:rPr>
              <a:t>Constructing Hash Functions</a:t>
            </a:r>
          </a:p>
        </p:txBody>
      </p:sp>
      <p:sp>
        <p:nvSpPr>
          <p:cNvPr id="3" name="object 3">
            <a:extLst>
              <a:ext uri="{FF2B5EF4-FFF2-40B4-BE49-F238E27FC236}">
                <a16:creationId xmlns:a16="http://schemas.microsoft.com/office/drawing/2014/main" id="{24AFF121-9670-4E5E-BA03-AF37BB0283FC}"/>
              </a:ext>
            </a:extLst>
          </p:cNvPr>
          <p:cNvSpPr txBox="1"/>
          <p:nvPr/>
        </p:nvSpPr>
        <p:spPr>
          <a:xfrm>
            <a:off x="1905000" y="1752600"/>
            <a:ext cx="9144000" cy="3600986"/>
          </a:xfrm>
          <a:prstGeom prst="rect">
            <a:avLst/>
          </a:prstGeom>
        </p:spPr>
        <p:txBody>
          <a:bodyPr wrap="square" lIns="0" tIns="12700" rIns="0" bIns="0">
            <a:spAutoFit/>
          </a:bodyPr>
          <a:lstStyle>
            <a:lvl1pPr marL="355600" indent="-342900">
              <a:tabLst>
                <a:tab pos="355600" algn="l"/>
              </a:tabLst>
              <a:defRPr>
                <a:solidFill>
                  <a:schemeClr val="tx1"/>
                </a:solidFill>
                <a:latin typeface="Arial" panose="020B0604020202020204" pitchFamily="34" charset="0"/>
              </a:defRPr>
            </a:lvl1pPr>
            <a:lvl2pPr marL="742950" indent="-285750">
              <a:tabLst>
                <a:tab pos="355600" algn="l"/>
              </a:tabLst>
              <a:defRPr>
                <a:solidFill>
                  <a:schemeClr val="tx1"/>
                </a:solidFill>
                <a:latin typeface="Arial" panose="020B0604020202020204" pitchFamily="34" charset="0"/>
              </a:defRPr>
            </a:lvl2pPr>
            <a:lvl3pPr marL="1143000" indent="-228600">
              <a:tabLst>
                <a:tab pos="355600" algn="l"/>
              </a:tabLst>
              <a:defRPr>
                <a:solidFill>
                  <a:schemeClr val="tx1"/>
                </a:solidFill>
                <a:latin typeface="Arial" panose="020B0604020202020204" pitchFamily="34" charset="0"/>
              </a:defRPr>
            </a:lvl3pPr>
            <a:lvl4pPr marL="1600200" indent="-228600">
              <a:tabLst>
                <a:tab pos="355600" algn="l"/>
              </a:tabLst>
              <a:defRPr>
                <a:solidFill>
                  <a:schemeClr val="tx1"/>
                </a:solidFill>
                <a:latin typeface="Arial" panose="020B0604020202020204" pitchFamily="34" charset="0"/>
              </a:defRPr>
            </a:lvl4pPr>
            <a:lvl5pPr marL="2057400" indent="-228600">
              <a:tabLst>
                <a:tab pos="355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55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55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55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55600" algn="l"/>
              </a:tabLst>
              <a:defRPr>
                <a:solidFill>
                  <a:schemeClr val="tx1"/>
                </a:solidFill>
                <a:latin typeface="Arial" panose="020B0604020202020204" pitchFamily="34" charset="0"/>
              </a:defRPr>
            </a:lvl9pPr>
          </a:lstStyle>
          <a:p>
            <a:pPr eaLnBrk="1" hangingPunct="1">
              <a:spcBef>
                <a:spcPts val="100"/>
              </a:spcBef>
              <a:buFontTx/>
              <a:buChar char="•"/>
            </a:pPr>
            <a:r>
              <a:rPr lang="en-US" altLang="en-US" sz="2800" dirty="0">
                <a:solidFill>
                  <a:srgbClr val="0070C0"/>
                </a:solidFill>
                <a:latin typeface="Tw Cen MT" pitchFamily="34" charset="0"/>
              </a:rPr>
              <a:t>Since constructing secure hash functions is a difficult problem, the following approach has been taken in practice:</a:t>
            </a:r>
          </a:p>
          <a:p>
            <a:pPr algn="just" eaLnBrk="1" hangingPunct="1">
              <a:spcBef>
                <a:spcPts val="488"/>
              </a:spcBef>
            </a:pPr>
            <a:r>
              <a:rPr lang="en-US" altLang="en-US" sz="2800" dirty="0">
                <a:latin typeface="Tw Cen MT" pitchFamily="34" charset="0"/>
              </a:rPr>
              <a:t>–  Construct a good compression function.  Since the domain of compression functions are “small” they are easier to test for the desired properties.</a:t>
            </a:r>
          </a:p>
          <a:p>
            <a:pPr eaLnBrk="1" hangingPunct="1">
              <a:spcBef>
                <a:spcPts val="575"/>
              </a:spcBef>
              <a:buFontTx/>
              <a:buChar char="•"/>
            </a:pPr>
            <a:r>
              <a:rPr lang="en-US" altLang="en-US" sz="2800" dirty="0">
                <a:solidFill>
                  <a:srgbClr val="0070C0"/>
                </a:solidFill>
                <a:latin typeface="Tw Cen MT" pitchFamily="34" charset="0"/>
              </a:rPr>
              <a:t>Use the MD construction (next) to turn a one-way, collision-resistant compression function into a hash function with similar properties.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C04BB76C-2F66-4A14-AAE9-55FF604A17B1}"/>
              </a:ext>
            </a:extLst>
          </p:cNvPr>
          <p:cNvSpPr txBox="1">
            <a:spLocks noGrp="1"/>
          </p:cNvSpPr>
          <p:nvPr>
            <p:ph type="title"/>
          </p:nvPr>
        </p:nvSpPr>
        <p:spPr>
          <a:xfrm>
            <a:off x="4065588" y="493713"/>
            <a:ext cx="4062412" cy="514350"/>
          </a:xfrm>
        </p:spPr>
        <p:txBody>
          <a:bodyPr vert="horz" wrap="square" lIns="0" tIns="13335" rIns="0" bIns="0" numCol="1" rtlCol="0" anchor="t" anchorCtr="0" compatLnSpc="1">
            <a:prstTxWarp prst="textNoShape">
              <a:avLst/>
            </a:prstTxWarp>
            <a:spAutoFit/>
          </a:bodyPr>
          <a:lstStyle/>
          <a:p>
            <a:pPr marL="12700" eaLnBrk="1" fontAlgn="auto" hangingPunct="1">
              <a:spcBef>
                <a:spcPts val="105"/>
              </a:spcBef>
              <a:spcAft>
                <a:spcPts val="0"/>
              </a:spcAft>
              <a:defRPr/>
            </a:pPr>
            <a:r>
              <a:rPr spc="-10" dirty="0"/>
              <a:t>Merkle-</a:t>
            </a:r>
            <a:r>
              <a:rPr dirty="0"/>
              <a:t>Damgard</a:t>
            </a:r>
            <a:r>
              <a:rPr spc="20" dirty="0">
                <a:latin typeface="Times New Roman"/>
                <a:cs typeface="Times New Roman"/>
              </a:rPr>
              <a:t> </a:t>
            </a:r>
            <a:r>
              <a:rPr spc="-20" dirty="0"/>
              <a:t>(MD)</a:t>
            </a:r>
          </a:p>
        </p:txBody>
      </p:sp>
      <p:pic>
        <p:nvPicPr>
          <p:cNvPr id="19459" name="object 3">
            <a:extLst>
              <a:ext uri="{FF2B5EF4-FFF2-40B4-BE49-F238E27FC236}">
                <a16:creationId xmlns:a16="http://schemas.microsoft.com/office/drawing/2014/main" id="{33B03C5A-CFF6-43BA-B589-A7BD3EDDE9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2800" y="1625601"/>
            <a:ext cx="7835900" cy="429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4">
            <a:extLst>
              <a:ext uri="{FF2B5EF4-FFF2-40B4-BE49-F238E27FC236}">
                <a16:creationId xmlns:a16="http://schemas.microsoft.com/office/drawing/2014/main" id="{981BAFFD-1248-4E56-9F78-7D02FFF6261E}"/>
              </a:ext>
            </a:extLst>
          </p:cNvPr>
          <p:cNvSpPr>
            <a:spLocks noGrp="1"/>
          </p:cNvSpPr>
          <p:nvPr>
            <p:ph type="sldNum" sz="quarter" idx="12"/>
          </p:nvPr>
        </p:nvSpPr>
        <p:spPr/>
        <p:txBody>
          <a:bodyPr/>
          <a:lstStyle>
            <a:lvl1pPr marL="381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8100" marR="0" lvl="0" indent="0" algn="l" defTabSz="914400" rtl="0" eaLnBrk="1" fontAlgn="base" latinLnBrk="0" hangingPunct="1">
              <a:lnSpc>
                <a:spcPts val="1650"/>
              </a:lnSpc>
              <a:spcBef>
                <a:spcPct val="0"/>
              </a:spcBef>
              <a:spcAft>
                <a:spcPct val="0"/>
              </a:spcAft>
              <a:buClrTx/>
              <a:buSzTx/>
              <a:buFontTx/>
              <a:buNone/>
              <a:tabLst/>
              <a:defRPr/>
            </a:pPr>
            <a:fld id="{88BA03B6-5EB2-4EC8-BDAD-78834D1FC65A}" type="slidenum">
              <a:rPr kumimoji="0" lang="en-US" altLang="en-US" sz="14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38100" marR="0" lvl="0" indent="0" algn="l" defTabSz="914400" rtl="0" eaLnBrk="1" fontAlgn="base" latinLnBrk="0" hangingPunct="1">
                <a:lnSpc>
                  <a:spcPts val="1650"/>
                </a:lnSpc>
                <a:spcBef>
                  <a:spcPct val="0"/>
                </a:spcBef>
                <a:spcAft>
                  <a:spcPct val="0"/>
                </a:spcAft>
                <a:buClrTx/>
                <a:buSzTx/>
                <a:buFontTx/>
                <a:buNone/>
                <a:tabLst/>
                <a:defRPr/>
              </a:pPr>
              <a:t>26</a:t>
            </a:fld>
            <a:endPar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DB01DA6-7E4E-4304-8634-5D80C6F78E71}"/>
              </a:ext>
            </a:extLst>
          </p:cNvPr>
          <p:cNvSpPr txBox="1">
            <a:spLocks noGrp="1"/>
          </p:cNvSpPr>
          <p:nvPr>
            <p:ph type="title"/>
          </p:nvPr>
        </p:nvSpPr>
        <p:spPr>
          <a:xfrm>
            <a:off x="3611564" y="493713"/>
            <a:ext cx="4967287" cy="514350"/>
          </a:xfrm>
        </p:spPr>
        <p:txBody>
          <a:bodyPr vert="horz" wrap="square" lIns="0" tIns="13335" rIns="0" bIns="0" numCol="1" rtlCol="0" anchor="t" anchorCtr="0" compatLnSpc="1">
            <a:prstTxWarp prst="textNoShape">
              <a:avLst/>
            </a:prstTxWarp>
            <a:spAutoFit/>
          </a:bodyPr>
          <a:lstStyle/>
          <a:p>
            <a:pPr marL="12700" eaLnBrk="1" fontAlgn="auto" hangingPunct="1">
              <a:spcBef>
                <a:spcPts val="105"/>
              </a:spcBef>
              <a:spcAft>
                <a:spcPts val="0"/>
              </a:spcAft>
              <a:defRPr/>
            </a:pPr>
            <a:r>
              <a:rPr dirty="0"/>
              <a:t>A</a:t>
            </a:r>
            <a:r>
              <a:rPr spc="35" dirty="0">
                <a:latin typeface="Times New Roman"/>
                <a:cs typeface="Times New Roman"/>
              </a:rPr>
              <a:t> </a:t>
            </a:r>
            <a:r>
              <a:rPr dirty="0"/>
              <a:t>Somewhat</a:t>
            </a:r>
            <a:r>
              <a:rPr spc="30" dirty="0">
                <a:latin typeface="Times New Roman"/>
                <a:cs typeface="Times New Roman"/>
              </a:rPr>
              <a:t> </a:t>
            </a:r>
            <a:r>
              <a:rPr dirty="0"/>
              <a:t>Different</a:t>
            </a:r>
            <a:r>
              <a:rPr spc="55" dirty="0">
                <a:latin typeface="Times New Roman"/>
                <a:cs typeface="Times New Roman"/>
              </a:rPr>
              <a:t> </a:t>
            </a:r>
            <a:r>
              <a:rPr spc="-20" dirty="0"/>
              <a:t>View</a:t>
            </a:r>
          </a:p>
        </p:txBody>
      </p:sp>
      <p:sp>
        <p:nvSpPr>
          <p:cNvPr id="3" name="object 3">
            <a:extLst>
              <a:ext uri="{FF2B5EF4-FFF2-40B4-BE49-F238E27FC236}">
                <a16:creationId xmlns:a16="http://schemas.microsoft.com/office/drawing/2014/main" id="{4B4BCFB0-B526-4D0A-AAB9-B684A8F522B3}"/>
              </a:ext>
            </a:extLst>
          </p:cNvPr>
          <p:cNvSpPr txBox="1"/>
          <p:nvPr/>
        </p:nvSpPr>
        <p:spPr>
          <a:xfrm>
            <a:off x="3276600" y="1600201"/>
            <a:ext cx="1600200" cy="408445"/>
          </a:xfrm>
          <a:prstGeom prst="rect">
            <a:avLst/>
          </a:prstGeom>
          <a:solidFill>
            <a:srgbClr val="00CC98"/>
          </a:solidFill>
          <a:ln w="12700">
            <a:solidFill>
              <a:srgbClr val="000000"/>
            </a:solidFill>
          </a:ln>
        </p:spPr>
        <p:txBody>
          <a:bodyPr lIns="0" tIns="38735" rIns="0" bIns="0">
            <a:spAutoFit/>
          </a:bodyPr>
          <a:lstStyle/>
          <a:p>
            <a:pPr marL="174625" eaLnBrk="1" fontAlgn="auto" hangingPunct="1">
              <a:spcBef>
                <a:spcPts val="305"/>
              </a:spcBef>
              <a:spcAft>
                <a:spcPts val="0"/>
              </a:spcAft>
              <a:defRPr/>
            </a:pPr>
            <a:r>
              <a:rPr sz="2400" kern="0" spc="-10" dirty="0">
                <a:solidFill>
                  <a:sysClr val="windowText" lastClr="000000"/>
                </a:solidFill>
                <a:latin typeface="Arial"/>
                <a:cs typeface="Arial"/>
              </a:rPr>
              <a:t>constant</a:t>
            </a:r>
            <a:endParaRPr sz="2400" kern="0">
              <a:solidFill>
                <a:sysClr val="windowText" lastClr="000000"/>
              </a:solidFill>
              <a:latin typeface="Arial"/>
              <a:cs typeface="Arial"/>
            </a:endParaRPr>
          </a:p>
        </p:txBody>
      </p:sp>
      <p:sp>
        <p:nvSpPr>
          <p:cNvPr id="4" name="object 4">
            <a:extLst>
              <a:ext uri="{FF2B5EF4-FFF2-40B4-BE49-F238E27FC236}">
                <a16:creationId xmlns:a16="http://schemas.microsoft.com/office/drawing/2014/main" id="{6BCECA61-D355-466F-B4AA-99FEC3D5477A}"/>
              </a:ext>
            </a:extLst>
          </p:cNvPr>
          <p:cNvSpPr txBox="1"/>
          <p:nvPr/>
        </p:nvSpPr>
        <p:spPr>
          <a:xfrm>
            <a:off x="6400800" y="1600201"/>
            <a:ext cx="2590800" cy="408445"/>
          </a:xfrm>
          <a:prstGeom prst="rect">
            <a:avLst/>
          </a:prstGeom>
          <a:solidFill>
            <a:srgbClr val="00CC98"/>
          </a:solidFill>
          <a:ln w="12700">
            <a:solidFill>
              <a:srgbClr val="000000"/>
            </a:solidFill>
          </a:ln>
        </p:spPr>
        <p:txBody>
          <a:bodyPr lIns="0" tIns="38735" rIns="0" bIns="0">
            <a:spAutoFit/>
          </a:bodyPr>
          <a:lstStyle/>
          <a:p>
            <a:pPr marL="182880" eaLnBrk="1" fontAlgn="auto" hangingPunct="1">
              <a:spcBef>
                <a:spcPts val="305"/>
              </a:spcBef>
              <a:spcAft>
                <a:spcPts val="0"/>
              </a:spcAft>
              <a:defRPr/>
            </a:pPr>
            <a:r>
              <a:rPr sz="2400" kern="0" dirty="0">
                <a:solidFill>
                  <a:sysClr val="windowText" lastClr="000000"/>
                </a:solidFill>
                <a:latin typeface="Arial"/>
                <a:cs typeface="Arial"/>
              </a:rPr>
              <a:t>padded</a:t>
            </a:r>
            <a:r>
              <a:rPr sz="2400" kern="0" spc="35" dirty="0">
                <a:solidFill>
                  <a:sysClr val="windowText" lastClr="000000"/>
                </a:solidFill>
                <a:latin typeface="Times New Roman"/>
                <a:cs typeface="Times New Roman"/>
              </a:rPr>
              <a:t> </a:t>
            </a:r>
            <a:r>
              <a:rPr sz="2400" kern="0" spc="-10" dirty="0">
                <a:solidFill>
                  <a:sysClr val="windowText" lastClr="000000"/>
                </a:solidFill>
                <a:latin typeface="Arial"/>
                <a:cs typeface="Arial"/>
              </a:rPr>
              <a:t>message</a:t>
            </a:r>
            <a:endParaRPr sz="2400" kern="0">
              <a:solidFill>
                <a:sysClr val="windowText" lastClr="000000"/>
              </a:solidFill>
              <a:latin typeface="Arial"/>
              <a:cs typeface="Arial"/>
            </a:endParaRPr>
          </a:p>
        </p:txBody>
      </p:sp>
      <p:grpSp>
        <p:nvGrpSpPr>
          <p:cNvPr id="20485" name="object 5">
            <a:extLst>
              <a:ext uri="{FF2B5EF4-FFF2-40B4-BE49-F238E27FC236}">
                <a16:creationId xmlns:a16="http://schemas.microsoft.com/office/drawing/2014/main" id="{90AD16D1-866C-48E3-B11E-2B7CDFEE8D31}"/>
              </a:ext>
            </a:extLst>
          </p:cNvPr>
          <p:cNvGrpSpPr>
            <a:grpSpLocks/>
          </p:cNvGrpSpPr>
          <p:nvPr/>
        </p:nvGrpSpPr>
        <p:grpSpPr bwMode="auto">
          <a:xfrm>
            <a:off x="3535363" y="4449763"/>
            <a:ext cx="927100" cy="393700"/>
            <a:chOff x="2011425" y="4449695"/>
            <a:chExt cx="927100" cy="393700"/>
          </a:xfrm>
        </p:grpSpPr>
        <p:sp>
          <p:nvSpPr>
            <p:cNvPr id="20507" name="object 6">
              <a:extLst>
                <a:ext uri="{FF2B5EF4-FFF2-40B4-BE49-F238E27FC236}">
                  <a16:creationId xmlns:a16="http://schemas.microsoft.com/office/drawing/2014/main" id="{A3E951EC-DC72-485B-883C-2747577AB5D8}"/>
                </a:ext>
              </a:extLst>
            </p:cNvPr>
            <p:cNvSpPr>
              <a:spLocks/>
            </p:cNvSpPr>
            <p:nvPr/>
          </p:nvSpPr>
          <p:spPr bwMode="auto">
            <a:xfrm>
              <a:off x="2017775" y="4456044"/>
              <a:ext cx="914400" cy="381000"/>
            </a:xfrm>
            <a:custGeom>
              <a:avLst/>
              <a:gdLst>
                <a:gd name="T0" fmla="*/ 850773 w 914400"/>
                <a:gd name="T1" fmla="*/ 0 h 381000"/>
                <a:gd name="T2" fmla="*/ 63495 w 914400"/>
                <a:gd name="T3" fmla="*/ 0 h 381000"/>
                <a:gd name="T4" fmla="*/ 38736 w 914400"/>
                <a:gd name="T5" fmla="*/ 4995 h 381000"/>
                <a:gd name="T6" fmla="*/ 18558 w 914400"/>
                <a:gd name="T7" fmla="*/ 18624 h 381000"/>
                <a:gd name="T8" fmla="*/ 4975 w 914400"/>
                <a:gd name="T9" fmla="*/ 38847 h 381000"/>
                <a:gd name="T10" fmla="*/ 0 w 914400"/>
                <a:gd name="T11" fmla="*/ 63627 h 381000"/>
                <a:gd name="T12" fmla="*/ 0 w 914400"/>
                <a:gd name="T13" fmla="*/ 317504 h 381000"/>
                <a:gd name="T14" fmla="*/ 4975 w 914400"/>
                <a:gd name="T15" fmla="*/ 342268 h 381000"/>
                <a:gd name="T16" fmla="*/ 18558 w 914400"/>
                <a:gd name="T17" fmla="*/ 362445 h 381000"/>
                <a:gd name="T18" fmla="*/ 38736 w 914400"/>
                <a:gd name="T19" fmla="*/ 376026 h 381000"/>
                <a:gd name="T20" fmla="*/ 63495 w 914400"/>
                <a:gd name="T21" fmla="*/ 381000 h 381000"/>
                <a:gd name="T22" fmla="*/ 850773 w 914400"/>
                <a:gd name="T23" fmla="*/ 381000 h 381000"/>
                <a:gd name="T24" fmla="*/ 875557 w 914400"/>
                <a:gd name="T25" fmla="*/ 376026 h 381000"/>
                <a:gd name="T26" fmla="*/ 895780 w 914400"/>
                <a:gd name="T27" fmla="*/ 362445 h 381000"/>
                <a:gd name="T28" fmla="*/ 909405 w 914400"/>
                <a:gd name="T29" fmla="*/ 342268 h 381000"/>
                <a:gd name="T30" fmla="*/ 914400 w 914400"/>
                <a:gd name="T31" fmla="*/ 317504 h 381000"/>
                <a:gd name="T32" fmla="*/ 914400 w 914400"/>
                <a:gd name="T33" fmla="*/ 63627 h 381000"/>
                <a:gd name="T34" fmla="*/ 909405 w 914400"/>
                <a:gd name="T35" fmla="*/ 38847 h 381000"/>
                <a:gd name="T36" fmla="*/ 895780 w 914400"/>
                <a:gd name="T37" fmla="*/ 18624 h 381000"/>
                <a:gd name="T38" fmla="*/ 875557 w 914400"/>
                <a:gd name="T39" fmla="*/ 4995 h 381000"/>
                <a:gd name="T40" fmla="*/ 850773 w 914400"/>
                <a:gd name="T41" fmla="*/ 0 h 381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4400" h="381000">
                  <a:moveTo>
                    <a:pt x="850773" y="0"/>
                  </a:moveTo>
                  <a:lnTo>
                    <a:pt x="63495" y="0"/>
                  </a:lnTo>
                  <a:lnTo>
                    <a:pt x="38736" y="4995"/>
                  </a:lnTo>
                  <a:lnTo>
                    <a:pt x="18558" y="18624"/>
                  </a:lnTo>
                  <a:lnTo>
                    <a:pt x="4975" y="38847"/>
                  </a:lnTo>
                  <a:lnTo>
                    <a:pt x="0" y="63627"/>
                  </a:lnTo>
                  <a:lnTo>
                    <a:pt x="0" y="317504"/>
                  </a:lnTo>
                  <a:lnTo>
                    <a:pt x="4975" y="342268"/>
                  </a:lnTo>
                  <a:lnTo>
                    <a:pt x="18558" y="362445"/>
                  </a:lnTo>
                  <a:lnTo>
                    <a:pt x="38736" y="376026"/>
                  </a:lnTo>
                  <a:lnTo>
                    <a:pt x="63495" y="381000"/>
                  </a:lnTo>
                  <a:lnTo>
                    <a:pt x="850773" y="381000"/>
                  </a:lnTo>
                  <a:lnTo>
                    <a:pt x="875557" y="376026"/>
                  </a:lnTo>
                  <a:lnTo>
                    <a:pt x="895780" y="362445"/>
                  </a:lnTo>
                  <a:lnTo>
                    <a:pt x="909405" y="342268"/>
                  </a:lnTo>
                  <a:lnTo>
                    <a:pt x="914400" y="317504"/>
                  </a:lnTo>
                  <a:lnTo>
                    <a:pt x="914400" y="63627"/>
                  </a:lnTo>
                  <a:lnTo>
                    <a:pt x="909405" y="38847"/>
                  </a:lnTo>
                  <a:lnTo>
                    <a:pt x="895780" y="18624"/>
                  </a:lnTo>
                  <a:lnTo>
                    <a:pt x="875557" y="4995"/>
                  </a:lnTo>
                  <a:lnTo>
                    <a:pt x="850773" y="0"/>
                  </a:lnTo>
                  <a:close/>
                </a:path>
              </a:pathLst>
            </a:custGeom>
            <a:solidFill>
              <a:srgbClr val="00CC9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0508" name="object 7">
              <a:extLst>
                <a:ext uri="{FF2B5EF4-FFF2-40B4-BE49-F238E27FC236}">
                  <a16:creationId xmlns:a16="http://schemas.microsoft.com/office/drawing/2014/main" id="{D26F18CF-840F-431D-BC79-7BB20CA94A17}"/>
                </a:ext>
              </a:extLst>
            </p:cNvPr>
            <p:cNvSpPr>
              <a:spLocks/>
            </p:cNvSpPr>
            <p:nvPr/>
          </p:nvSpPr>
          <p:spPr bwMode="auto">
            <a:xfrm>
              <a:off x="2017775" y="4456045"/>
              <a:ext cx="914400" cy="381000"/>
            </a:xfrm>
            <a:custGeom>
              <a:avLst/>
              <a:gdLst>
                <a:gd name="T0" fmla="*/ 0 w 914400"/>
                <a:gd name="T1" fmla="*/ 63626 h 381000"/>
                <a:gd name="T2" fmla="*/ 4975 w 914400"/>
                <a:gd name="T3" fmla="*/ 38847 h 381000"/>
                <a:gd name="T4" fmla="*/ 18558 w 914400"/>
                <a:gd name="T5" fmla="*/ 18624 h 381000"/>
                <a:gd name="T6" fmla="*/ 38736 w 914400"/>
                <a:gd name="T7" fmla="*/ 4995 h 381000"/>
                <a:gd name="T8" fmla="*/ 63495 w 914400"/>
                <a:gd name="T9" fmla="*/ 0 h 381000"/>
                <a:gd name="T10" fmla="*/ 850772 w 914400"/>
                <a:gd name="T11" fmla="*/ 0 h 381000"/>
                <a:gd name="T12" fmla="*/ 875557 w 914400"/>
                <a:gd name="T13" fmla="*/ 4995 h 381000"/>
                <a:gd name="T14" fmla="*/ 895780 w 914400"/>
                <a:gd name="T15" fmla="*/ 18624 h 381000"/>
                <a:gd name="T16" fmla="*/ 909405 w 914400"/>
                <a:gd name="T17" fmla="*/ 38847 h 381000"/>
                <a:gd name="T18" fmla="*/ 914399 w 914400"/>
                <a:gd name="T19" fmla="*/ 63626 h 381000"/>
                <a:gd name="T20" fmla="*/ 914399 w 914400"/>
                <a:gd name="T21" fmla="*/ 317504 h 381000"/>
                <a:gd name="T22" fmla="*/ 909405 w 914400"/>
                <a:gd name="T23" fmla="*/ 342268 h 381000"/>
                <a:gd name="T24" fmla="*/ 895780 w 914400"/>
                <a:gd name="T25" fmla="*/ 362445 h 381000"/>
                <a:gd name="T26" fmla="*/ 875557 w 914400"/>
                <a:gd name="T27" fmla="*/ 376026 h 381000"/>
                <a:gd name="T28" fmla="*/ 850772 w 914400"/>
                <a:gd name="T29" fmla="*/ 380999 h 381000"/>
                <a:gd name="T30" fmla="*/ 63495 w 914400"/>
                <a:gd name="T31" fmla="*/ 380999 h 381000"/>
                <a:gd name="T32" fmla="*/ 38736 w 914400"/>
                <a:gd name="T33" fmla="*/ 376026 h 381000"/>
                <a:gd name="T34" fmla="*/ 18558 w 914400"/>
                <a:gd name="T35" fmla="*/ 362445 h 381000"/>
                <a:gd name="T36" fmla="*/ 4975 w 914400"/>
                <a:gd name="T37" fmla="*/ 342268 h 381000"/>
                <a:gd name="T38" fmla="*/ 0 w 914400"/>
                <a:gd name="T39" fmla="*/ 317504 h 381000"/>
                <a:gd name="T40" fmla="*/ 0 w 914400"/>
                <a:gd name="T41" fmla="*/ 63626 h 381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4400" h="381000">
                  <a:moveTo>
                    <a:pt x="0" y="63626"/>
                  </a:moveTo>
                  <a:lnTo>
                    <a:pt x="4975" y="38847"/>
                  </a:lnTo>
                  <a:lnTo>
                    <a:pt x="18558" y="18624"/>
                  </a:lnTo>
                  <a:lnTo>
                    <a:pt x="38736" y="4995"/>
                  </a:lnTo>
                  <a:lnTo>
                    <a:pt x="63495" y="0"/>
                  </a:lnTo>
                  <a:lnTo>
                    <a:pt x="850772" y="0"/>
                  </a:lnTo>
                  <a:lnTo>
                    <a:pt x="875557" y="4995"/>
                  </a:lnTo>
                  <a:lnTo>
                    <a:pt x="895780" y="18624"/>
                  </a:lnTo>
                  <a:lnTo>
                    <a:pt x="909405" y="38847"/>
                  </a:lnTo>
                  <a:lnTo>
                    <a:pt x="914399" y="63626"/>
                  </a:lnTo>
                  <a:lnTo>
                    <a:pt x="914399" y="317504"/>
                  </a:lnTo>
                  <a:lnTo>
                    <a:pt x="909405" y="342268"/>
                  </a:lnTo>
                  <a:lnTo>
                    <a:pt x="895780" y="362445"/>
                  </a:lnTo>
                  <a:lnTo>
                    <a:pt x="875557" y="376026"/>
                  </a:lnTo>
                  <a:lnTo>
                    <a:pt x="850772" y="380999"/>
                  </a:lnTo>
                  <a:lnTo>
                    <a:pt x="63495" y="380999"/>
                  </a:lnTo>
                  <a:lnTo>
                    <a:pt x="38736" y="376026"/>
                  </a:lnTo>
                  <a:lnTo>
                    <a:pt x="18558" y="362445"/>
                  </a:lnTo>
                  <a:lnTo>
                    <a:pt x="4975" y="342268"/>
                  </a:lnTo>
                  <a:lnTo>
                    <a:pt x="0" y="317504"/>
                  </a:lnTo>
                  <a:lnTo>
                    <a:pt x="0" y="63626"/>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grpSp>
        <p:nvGrpSpPr>
          <p:cNvPr id="20486" name="object 8">
            <a:extLst>
              <a:ext uri="{FF2B5EF4-FFF2-40B4-BE49-F238E27FC236}">
                <a16:creationId xmlns:a16="http://schemas.microsoft.com/office/drawing/2014/main" id="{9C43DF78-7B54-4B69-A45E-21F82C6DD038}"/>
              </a:ext>
            </a:extLst>
          </p:cNvPr>
          <p:cNvGrpSpPr>
            <a:grpSpLocks/>
          </p:cNvGrpSpPr>
          <p:nvPr/>
        </p:nvGrpSpPr>
        <p:grpSpPr bwMode="auto">
          <a:xfrm>
            <a:off x="3535363" y="3459163"/>
            <a:ext cx="927100" cy="393700"/>
            <a:chOff x="2011425" y="3459226"/>
            <a:chExt cx="927100" cy="393700"/>
          </a:xfrm>
        </p:grpSpPr>
        <p:sp>
          <p:nvSpPr>
            <p:cNvPr id="20505" name="object 9">
              <a:extLst>
                <a:ext uri="{FF2B5EF4-FFF2-40B4-BE49-F238E27FC236}">
                  <a16:creationId xmlns:a16="http://schemas.microsoft.com/office/drawing/2014/main" id="{B0CFAC64-7BE1-4A3B-86DA-690871A12DEB}"/>
                </a:ext>
              </a:extLst>
            </p:cNvPr>
            <p:cNvSpPr>
              <a:spLocks/>
            </p:cNvSpPr>
            <p:nvPr/>
          </p:nvSpPr>
          <p:spPr bwMode="auto">
            <a:xfrm>
              <a:off x="2017775" y="3465575"/>
              <a:ext cx="914400" cy="381000"/>
            </a:xfrm>
            <a:custGeom>
              <a:avLst/>
              <a:gdLst>
                <a:gd name="T0" fmla="*/ 850773 w 914400"/>
                <a:gd name="T1" fmla="*/ 0 h 381000"/>
                <a:gd name="T2" fmla="*/ 63495 w 914400"/>
                <a:gd name="T3" fmla="*/ 0 h 381000"/>
                <a:gd name="T4" fmla="*/ 38736 w 914400"/>
                <a:gd name="T5" fmla="*/ 4973 h 381000"/>
                <a:gd name="T6" fmla="*/ 18558 w 914400"/>
                <a:gd name="T7" fmla="*/ 18554 h 381000"/>
                <a:gd name="T8" fmla="*/ 4975 w 914400"/>
                <a:gd name="T9" fmla="*/ 38730 h 381000"/>
                <a:gd name="T10" fmla="*/ 0 w 914400"/>
                <a:gd name="T11" fmla="*/ 63489 h 381000"/>
                <a:gd name="T12" fmla="*/ 0 w 914400"/>
                <a:gd name="T13" fmla="*/ 317357 h 381000"/>
                <a:gd name="T14" fmla="*/ 4975 w 914400"/>
                <a:gd name="T15" fmla="*/ 342151 h 381000"/>
                <a:gd name="T16" fmla="*/ 18558 w 914400"/>
                <a:gd name="T17" fmla="*/ 362378 h 381000"/>
                <a:gd name="T18" fmla="*/ 38736 w 914400"/>
                <a:gd name="T19" fmla="*/ 376005 h 381000"/>
                <a:gd name="T20" fmla="*/ 63495 w 914400"/>
                <a:gd name="T21" fmla="*/ 381000 h 381000"/>
                <a:gd name="T22" fmla="*/ 850773 w 914400"/>
                <a:gd name="T23" fmla="*/ 381000 h 381000"/>
                <a:gd name="T24" fmla="*/ 875557 w 914400"/>
                <a:gd name="T25" fmla="*/ 376005 h 381000"/>
                <a:gd name="T26" fmla="*/ 895780 w 914400"/>
                <a:gd name="T27" fmla="*/ 362378 h 381000"/>
                <a:gd name="T28" fmla="*/ 909405 w 914400"/>
                <a:gd name="T29" fmla="*/ 342151 h 381000"/>
                <a:gd name="T30" fmla="*/ 914400 w 914400"/>
                <a:gd name="T31" fmla="*/ 317357 h 381000"/>
                <a:gd name="T32" fmla="*/ 914400 w 914400"/>
                <a:gd name="T33" fmla="*/ 63489 h 381000"/>
                <a:gd name="T34" fmla="*/ 909405 w 914400"/>
                <a:gd name="T35" fmla="*/ 38730 h 381000"/>
                <a:gd name="T36" fmla="*/ 895780 w 914400"/>
                <a:gd name="T37" fmla="*/ 18554 h 381000"/>
                <a:gd name="T38" fmla="*/ 875557 w 914400"/>
                <a:gd name="T39" fmla="*/ 4973 h 381000"/>
                <a:gd name="T40" fmla="*/ 850773 w 914400"/>
                <a:gd name="T41" fmla="*/ 0 h 381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4400" h="381000">
                  <a:moveTo>
                    <a:pt x="850773" y="0"/>
                  </a:moveTo>
                  <a:lnTo>
                    <a:pt x="63495" y="0"/>
                  </a:lnTo>
                  <a:lnTo>
                    <a:pt x="38736" y="4973"/>
                  </a:lnTo>
                  <a:lnTo>
                    <a:pt x="18558" y="18554"/>
                  </a:lnTo>
                  <a:lnTo>
                    <a:pt x="4975" y="38730"/>
                  </a:lnTo>
                  <a:lnTo>
                    <a:pt x="0" y="63489"/>
                  </a:lnTo>
                  <a:lnTo>
                    <a:pt x="0" y="317357"/>
                  </a:lnTo>
                  <a:lnTo>
                    <a:pt x="4975" y="342151"/>
                  </a:lnTo>
                  <a:lnTo>
                    <a:pt x="18558" y="362378"/>
                  </a:lnTo>
                  <a:lnTo>
                    <a:pt x="38736" y="376005"/>
                  </a:lnTo>
                  <a:lnTo>
                    <a:pt x="63495" y="381000"/>
                  </a:lnTo>
                  <a:lnTo>
                    <a:pt x="850773" y="381000"/>
                  </a:lnTo>
                  <a:lnTo>
                    <a:pt x="875557" y="376005"/>
                  </a:lnTo>
                  <a:lnTo>
                    <a:pt x="895780" y="362378"/>
                  </a:lnTo>
                  <a:lnTo>
                    <a:pt x="909405" y="342151"/>
                  </a:lnTo>
                  <a:lnTo>
                    <a:pt x="914400" y="317357"/>
                  </a:lnTo>
                  <a:lnTo>
                    <a:pt x="914400" y="63489"/>
                  </a:lnTo>
                  <a:lnTo>
                    <a:pt x="909405" y="38730"/>
                  </a:lnTo>
                  <a:lnTo>
                    <a:pt x="895780" y="18554"/>
                  </a:lnTo>
                  <a:lnTo>
                    <a:pt x="875557" y="4973"/>
                  </a:lnTo>
                  <a:lnTo>
                    <a:pt x="850773" y="0"/>
                  </a:lnTo>
                  <a:close/>
                </a:path>
              </a:pathLst>
            </a:custGeom>
            <a:solidFill>
              <a:srgbClr val="00CC9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0506" name="object 10">
              <a:extLst>
                <a:ext uri="{FF2B5EF4-FFF2-40B4-BE49-F238E27FC236}">
                  <a16:creationId xmlns:a16="http://schemas.microsoft.com/office/drawing/2014/main" id="{A36CF5DC-947D-45F8-9FCD-7BF2A0D04140}"/>
                </a:ext>
              </a:extLst>
            </p:cNvPr>
            <p:cNvSpPr>
              <a:spLocks/>
            </p:cNvSpPr>
            <p:nvPr/>
          </p:nvSpPr>
          <p:spPr bwMode="auto">
            <a:xfrm>
              <a:off x="2017775" y="3465576"/>
              <a:ext cx="914400" cy="381000"/>
            </a:xfrm>
            <a:custGeom>
              <a:avLst/>
              <a:gdLst>
                <a:gd name="T0" fmla="*/ 0 w 914400"/>
                <a:gd name="T1" fmla="*/ 63489 h 381000"/>
                <a:gd name="T2" fmla="*/ 4975 w 914400"/>
                <a:gd name="T3" fmla="*/ 38730 h 381000"/>
                <a:gd name="T4" fmla="*/ 18558 w 914400"/>
                <a:gd name="T5" fmla="*/ 18554 h 381000"/>
                <a:gd name="T6" fmla="*/ 38736 w 914400"/>
                <a:gd name="T7" fmla="*/ 4973 h 381000"/>
                <a:gd name="T8" fmla="*/ 63495 w 914400"/>
                <a:gd name="T9" fmla="*/ 0 h 381000"/>
                <a:gd name="T10" fmla="*/ 850772 w 914400"/>
                <a:gd name="T11" fmla="*/ 0 h 381000"/>
                <a:gd name="T12" fmla="*/ 875557 w 914400"/>
                <a:gd name="T13" fmla="*/ 4973 h 381000"/>
                <a:gd name="T14" fmla="*/ 895780 w 914400"/>
                <a:gd name="T15" fmla="*/ 18554 h 381000"/>
                <a:gd name="T16" fmla="*/ 909405 w 914400"/>
                <a:gd name="T17" fmla="*/ 38730 h 381000"/>
                <a:gd name="T18" fmla="*/ 914399 w 914400"/>
                <a:gd name="T19" fmla="*/ 63489 h 381000"/>
                <a:gd name="T20" fmla="*/ 914399 w 914400"/>
                <a:gd name="T21" fmla="*/ 317357 h 381000"/>
                <a:gd name="T22" fmla="*/ 909405 w 914400"/>
                <a:gd name="T23" fmla="*/ 342151 h 381000"/>
                <a:gd name="T24" fmla="*/ 895780 w 914400"/>
                <a:gd name="T25" fmla="*/ 362378 h 381000"/>
                <a:gd name="T26" fmla="*/ 875557 w 914400"/>
                <a:gd name="T27" fmla="*/ 376005 h 381000"/>
                <a:gd name="T28" fmla="*/ 850772 w 914400"/>
                <a:gd name="T29" fmla="*/ 380999 h 381000"/>
                <a:gd name="T30" fmla="*/ 63495 w 914400"/>
                <a:gd name="T31" fmla="*/ 380999 h 381000"/>
                <a:gd name="T32" fmla="*/ 38736 w 914400"/>
                <a:gd name="T33" fmla="*/ 376005 h 381000"/>
                <a:gd name="T34" fmla="*/ 18558 w 914400"/>
                <a:gd name="T35" fmla="*/ 362378 h 381000"/>
                <a:gd name="T36" fmla="*/ 4975 w 914400"/>
                <a:gd name="T37" fmla="*/ 342151 h 381000"/>
                <a:gd name="T38" fmla="*/ 0 w 914400"/>
                <a:gd name="T39" fmla="*/ 317357 h 381000"/>
                <a:gd name="T40" fmla="*/ 0 w 914400"/>
                <a:gd name="T41" fmla="*/ 63489 h 381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4400" h="381000">
                  <a:moveTo>
                    <a:pt x="0" y="63489"/>
                  </a:moveTo>
                  <a:lnTo>
                    <a:pt x="4975" y="38730"/>
                  </a:lnTo>
                  <a:lnTo>
                    <a:pt x="18558" y="18554"/>
                  </a:lnTo>
                  <a:lnTo>
                    <a:pt x="38736" y="4973"/>
                  </a:lnTo>
                  <a:lnTo>
                    <a:pt x="63495" y="0"/>
                  </a:lnTo>
                  <a:lnTo>
                    <a:pt x="850772" y="0"/>
                  </a:lnTo>
                  <a:lnTo>
                    <a:pt x="875557" y="4973"/>
                  </a:lnTo>
                  <a:lnTo>
                    <a:pt x="895780" y="18554"/>
                  </a:lnTo>
                  <a:lnTo>
                    <a:pt x="909405" y="38730"/>
                  </a:lnTo>
                  <a:lnTo>
                    <a:pt x="914399" y="63489"/>
                  </a:lnTo>
                  <a:lnTo>
                    <a:pt x="914399" y="317357"/>
                  </a:lnTo>
                  <a:lnTo>
                    <a:pt x="909405" y="342151"/>
                  </a:lnTo>
                  <a:lnTo>
                    <a:pt x="895780" y="362378"/>
                  </a:lnTo>
                  <a:lnTo>
                    <a:pt x="875557" y="376005"/>
                  </a:lnTo>
                  <a:lnTo>
                    <a:pt x="850772" y="380999"/>
                  </a:lnTo>
                  <a:lnTo>
                    <a:pt x="63495" y="380999"/>
                  </a:lnTo>
                  <a:lnTo>
                    <a:pt x="38736" y="376005"/>
                  </a:lnTo>
                  <a:lnTo>
                    <a:pt x="18558" y="362378"/>
                  </a:lnTo>
                  <a:lnTo>
                    <a:pt x="4975" y="342151"/>
                  </a:lnTo>
                  <a:lnTo>
                    <a:pt x="0" y="317357"/>
                  </a:lnTo>
                  <a:lnTo>
                    <a:pt x="0" y="6348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grpSp>
        <p:nvGrpSpPr>
          <p:cNvPr id="20487" name="object 11">
            <a:extLst>
              <a:ext uri="{FF2B5EF4-FFF2-40B4-BE49-F238E27FC236}">
                <a16:creationId xmlns:a16="http://schemas.microsoft.com/office/drawing/2014/main" id="{2B9F5DD8-11E1-4515-A905-AA942B3E1949}"/>
              </a:ext>
            </a:extLst>
          </p:cNvPr>
          <p:cNvGrpSpPr>
            <a:grpSpLocks/>
          </p:cNvGrpSpPr>
          <p:nvPr/>
        </p:nvGrpSpPr>
        <p:grpSpPr bwMode="auto">
          <a:xfrm>
            <a:off x="3575050" y="2062164"/>
            <a:ext cx="927100" cy="1290637"/>
            <a:chOff x="2051050" y="2061849"/>
            <a:chExt cx="927100" cy="1290955"/>
          </a:xfrm>
        </p:grpSpPr>
        <p:sp>
          <p:nvSpPr>
            <p:cNvPr id="20502" name="object 12">
              <a:extLst>
                <a:ext uri="{FF2B5EF4-FFF2-40B4-BE49-F238E27FC236}">
                  <a16:creationId xmlns:a16="http://schemas.microsoft.com/office/drawing/2014/main" id="{5845B052-EBB6-49D6-BEC8-808D3C52832B}"/>
                </a:ext>
              </a:extLst>
            </p:cNvPr>
            <p:cNvSpPr>
              <a:spLocks/>
            </p:cNvSpPr>
            <p:nvPr/>
          </p:nvSpPr>
          <p:spPr bwMode="auto">
            <a:xfrm>
              <a:off x="2057400" y="2514599"/>
              <a:ext cx="914400" cy="381000"/>
            </a:xfrm>
            <a:custGeom>
              <a:avLst/>
              <a:gdLst>
                <a:gd name="T0" fmla="*/ 850904 w 914400"/>
                <a:gd name="T1" fmla="*/ 0 h 381000"/>
                <a:gd name="T2" fmla="*/ 63495 w 914400"/>
                <a:gd name="T3" fmla="*/ 0 h 381000"/>
                <a:gd name="T4" fmla="*/ 38787 w 914400"/>
                <a:gd name="T5" fmla="*/ 4991 h 381000"/>
                <a:gd name="T6" fmla="*/ 18603 w 914400"/>
                <a:gd name="T7" fmla="*/ 18600 h 381000"/>
                <a:gd name="T8" fmla="*/ 4992 w 914400"/>
                <a:gd name="T9" fmla="*/ 38781 h 381000"/>
                <a:gd name="T10" fmla="*/ 0 w 914400"/>
                <a:gd name="T11" fmla="*/ 63489 h 381000"/>
                <a:gd name="T12" fmla="*/ 0 w 914400"/>
                <a:gd name="T13" fmla="*/ 317510 h 381000"/>
                <a:gd name="T14" fmla="*/ 4992 w 914400"/>
                <a:gd name="T15" fmla="*/ 342218 h 381000"/>
                <a:gd name="T16" fmla="*/ 18603 w 914400"/>
                <a:gd name="T17" fmla="*/ 362399 h 381000"/>
                <a:gd name="T18" fmla="*/ 38787 w 914400"/>
                <a:gd name="T19" fmla="*/ 376008 h 381000"/>
                <a:gd name="T20" fmla="*/ 63495 w 914400"/>
                <a:gd name="T21" fmla="*/ 381000 h 381000"/>
                <a:gd name="T22" fmla="*/ 850904 w 914400"/>
                <a:gd name="T23" fmla="*/ 381000 h 381000"/>
                <a:gd name="T24" fmla="*/ 875612 w 914400"/>
                <a:gd name="T25" fmla="*/ 376008 h 381000"/>
                <a:gd name="T26" fmla="*/ 895796 w 914400"/>
                <a:gd name="T27" fmla="*/ 362399 h 381000"/>
                <a:gd name="T28" fmla="*/ 909407 w 914400"/>
                <a:gd name="T29" fmla="*/ 342218 h 381000"/>
                <a:gd name="T30" fmla="*/ 914400 w 914400"/>
                <a:gd name="T31" fmla="*/ 317510 h 381000"/>
                <a:gd name="T32" fmla="*/ 914400 w 914400"/>
                <a:gd name="T33" fmla="*/ 63489 h 381000"/>
                <a:gd name="T34" fmla="*/ 909407 w 914400"/>
                <a:gd name="T35" fmla="*/ 38781 h 381000"/>
                <a:gd name="T36" fmla="*/ 895796 w 914400"/>
                <a:gd name="T37" fmla="*/ 18600 h 381000"/>
                <a:gd name="T38" fmla="*/ 875612 w 914400"/>
                <a:gd name="T39" fmla="*/ 4991 h 381000"/>
                <a:gd name="T40" fmla="*/ 850904 w 914400"/>
                <a:gd name="T41" fmla="*/ 0 h 381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4400" h="381000">
                  <a:moveTo>
                    <a:pt x="850904" y="0"/>
                  </a:moveTo>
                  <a:lnTo>
                    <a:pt x="63495" y="0"/>
                  </a:lnTo>
                  <a:lnTo>
                    <a:pt x="38787" y="4991"/>
                  </a:lnTo>
                  <a:lnTo>
                    <a:pt x="18603" y="18600"/>
                  </a:lnTo>
                  <a:lnTo>
                    <a:pt x="4992" y="38781"/>
                  </a:lnTo>
                  <a:lnTo>
                    <a:pt x="0" y="63489"/>
                  </a:lnTo>
                  <a:lnTo>
                    <a:pt x="0" y="317510"/>
                  </a:lnTo>
                  <a:lnTo>
                    <a:pt x="4992" y="342218"/>
                  </a:lnTo>
                  <a:lnTo>
                    <a:pt x="18603" y="362399"/>
                  </a:lnTo>
                  <a:lnTo>
                    <a:pt x="38787" y="376008"/>
                  </a:lnTo>
                  <a:lnTo>
                    <a:pt x="63495" y="381000"/>
                  </a:lnTo>
                  <a:lnTo>
                    <a:pt x="850904" y="381000"/>
                  </a:lnTo>
                  <a:lnTo>
                    <a:pt x="875612" y="376008"/>
                  </a:lnTo>
                  <a:lnTo>
                    <a:pt x="895796" y="362399"/>
                  </a:lnTo>
                  <a:lnTo>
                    <a:pt x="909407" y="342218"/>
                  </a:lnTo>
                  <a:lnTo>
                    <a:pt x="914400" y="317510"/>
                  </a:lnTo>
                  <a:lnTo>
                    <a:pt x="914400" y="63489"/>
                  </a:lnTo>
                  <a:lnTo>
                    <a:pt x="909407" y="38781"/>
                  </a:lnTo>
                  <a:lnTo>
                    <a:pt x="895796" y="18600"/>
                  </a:lnTo>
                  <a:lnTo>
                    <a:pt x="875612" y="4991"/>
                  </a:lnTo>
                  <a:lnTo>
                    <a:pt x="850904" y="0"/>
                  </a:lnTo>
                  <a:close/>
                </a:path>
              </a:pathLst>
            </a:custGeom>
            <a:solidFill>
              <a:srgbClr val="00CC9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0503" name="object 13">
              <a:extLst>
                <a:ext uri="{FF2B5EF4-FFF2-40B4-BE49-F238E27FC236}">
                  <a16:creationId xmlns:a16="http://schemas.microsoft.com/office/drawing/2014/main" id="{C48FD902-3197-4A0D-A822-05C51B504EDD}"/>
                </a:ext>
              </a:extLst>
            </p:cNvPr>
            <p:cNvSpPr>
              <a:spLocks/>
            </p:cNvSpPr>
            <p:nvPr/>
          </p:nvSpPr>
          <p:spPr bwMode="auto">
            <a:xfrm>
              <a:off x="2057400" y="2514600"/>
              <a:ext cx="914400" cy="381000"/>
            </a:xfrm>
            <a:custGeom>
              <a:avLst/>
              <a:gdLst>
                <a:gd name="T0" fmla="*/ 0 w 914400"/>
                <a:gd name="T1" fmla="*/ 63489 h 381000"/>
                <a:gd name="T2" fmla="*/ 4992 w 914400"/>
                <a:gd name="T3" fmla="*/ 38781 h 381000"/>
                <a:gd name="T4" fmla="*/ 18603 w 914400"/>
                <a:gd name="T5" fmla="*/ 18600 h 381000"/>
                <a:gd name="T6" fmla="*/ 38787 w 914400"/>
                <a:gd name="T7" fmla="*/ 4991 h 381000"/>
                <a:gd name="T8" fmla="*/ 63495 w 914400"/>
                <a:gd name="T9" fmla="*/ 0 h 381000"/>
                <a:gd name="T10" fmla="*/ 850904 w 914400"/>
                <a:gd name="T11" fmla="*/ 0 h 381000"/>
                <a:gd name="T12" fmla="*/ 875612 w 914400"/>
                <a:gd name="T13" fmla="*/ 4991 h 381000"/>
                <a:gd name="T14" fmla="*/ 895796 w 914400"/>
                <a:gd name="T15" fmla="*/ 18600 h 381000"/>
                <a:gd name="T16" fmla="*/ 909407 w 914400"/>
                <a:gd name="T17" fmla="*/ 38781 h 381000"/>
                <a:gd name="T18" fmla="*/ 914399 w 914400"/>
                <a:gd name="T19" fmla="*/ 63489 h 381000"/>
                <a:gd name="T20" fmla="*/ 914399 w 914400"/>
                <a:gd name="T21" fmla="*/ 317510 h 381000"/>
                <a:gd name="T22" fmla="*/ 909407 w 914400"/>
                <a:gd name="T23" fmla="*/ 342218 h 381000"/>
                <a:gd name="T24" fmla="*/ 895796 w 914400"/>
                <a:gd name="T25" fmla="*/ 362399 h 381000"/>
                <a:gd name="T26" fmla="*/ 875612 w 914400"/>
                <a:gd name="T27" fmla="*/ 376008 h 381000"/>
                <a:gd name="T28" fmla="*/ 850904 w 914400"/>
                <a:gd name="T29" fmla="*/ 380999 h 381000"/>
                <a:gd name="T30" fmla="*/ 63495 w 914400"/>
                <a:gd name="T31" fmla="*/ 380999 h 381000"/>
                <a:gd name="T32" fmla="*/ 38787 w 914400"/>
                <a:gd name="T33" fmla="*/ 376008 h 381000"/>
                <a:gd name="T34" fmla="*/ 18603 w 914400"/>
                <a:gd name="T35" fmla="*/ 362399 h 381000"/>
                <a:gd name="T36" fmla="*/ 4992 w 914400"/>
                <a:gd name="T37" fmla="*/ 342218 h 381000"/>
                <a:gd name="T38" fmla="*/ 0 w 914400"/>
                <a:gd name="T39" fmla="*/ 317510 h 381000"/>
                <a:gd name="T40" fmla="*/ 0 w 914400"/>
                <a:gd name="T41" fmla="*/ 63489 h 381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4400" h="381000">
                  <a:moveTo>
                    <a:pt x="0" y="63489"/>
                  </a:moveTo>
                  <a:lnTo>
                    <a:pt x="4992" y="38781"/>
                  </a:lnTo>
                  <a:lnTo>
                    <a:pt x="18603" y="18600"/>
                  </a:lnTo>
                  <a:lnTo>
                    <a:pt x="38787" y="4991"/>
                  </a:lnTo>
                  <a:lnTo>
                    <a:pt x="63495" y="0"/>
                  </a:lnTo>
                  <a:lnTo>
                    <a:pt x="850904" y="0"/>
                  </a:lnTo>
                  <a:lnTo>
                    <a:pt x="875612" y="4991"/>
                  </a:lnTo>
                  <a:lnTo>
                    <a:pt x="895796" y="18600"/>
                  </a:lnTo>
                  <a:lnTo>
                    <a:pt x="909407" y="38781"/>
                  </a:lnTo>
                  <a:lnTo>
                    <a:pt x="914399" y="63489"/>
                  </a:lnTo>
                  <a:lnTo>
                    <a:pt x="914399" y="317510"/>
                  </a:lnTo>
                  <a:lnTo>
                    <a:pt x="909407" y="342218"/>
                  </a:lnTo>
                  <a:lnTo>
                    <a:pt x="895796" y="362399"/>
                  </a:lnTo>
                  <a:lnTo>
                    <a:pt x="875612" y="376008"/>
                  </a:lnTo>
                  <a:lnTo>
                    <a:pt x="850904" y="380999"/>
                  </a:lnTo>
                  <a:lnTo>
                    <a:pt x="63495" y="380999"/>
                  </a:lnTo>
                  <a:lnTo>
                    <a:pt x="38787" y="376008"/>
                  </a:lnTo>
                  <a:lnTo>
                    <a:pt x="18603" y="362399"/>
                  </a:lnTo>
                  <a:lnTo>
                    <a:pt x="4992" y="342218"/>
                  </a:lnTo>
                  <a:lnTo>
                    <a:pt x="0" y="317510"/>
                  </a:lnTo>
                  <a:lnTo>
                    <a:pt x="0" y="6348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0504" name="object 14">
              <a:extLst>
                <a:ext uri="{FF2B5EF4-FFF2-40B4-BE49-F238E27FC236}">
                  <a16:creationId xmlns:a16="http://schemas.microsoft.com/office/drawing/2014/main" id="{7661CE25-A77D-4682-9822-4E9A4757CB1F}"/>
                </a:ext>
              </a:extLst>
            </p:cNvPr>
            <p:cNvSpPr>
              <a:spLocks/>
            </p:cNvSpPr>
            <p:nvPr/>
          </p:nvSpPr>
          <p:spPr bwMode="auto">
            <a:xfrm>
              <a:off x="2464930" y="2061857"/>
              <a:ext cx="106680" cy="1290955"/>
            </a:xfrm>
            <a:custGeom>
              <a:avLst/>
              <a:gdLst>
                <a:gd name="T0" fmla="*/ 103390 w 106680"/>
                <a:gd name="T1" fmla="*/ 1203566 h 1290954"/>
                <a:gd name="T2" fmla="*/ 102489 w 106680"/>
                <a:gd name="T3" fmla="*/ 1199629 h 1290954"/>
                <a:gd name="T4" fmla="*/ 99441 w 106680"/>
                <a:gd name="T5" fmla="*/ 1197864 h 1290954"/>
                <a:gd name="T6" fmla="*/ 96532 w 106680"/>
                <a:gd name="T7" fmla="*/ 1195946 h 1290954"/>
                <a:gd name="T8" fmla="*/ 92583 w 106680"/>
                <a:gd name="T9" fmla="*/ 1196975 h 1290954"/>
                <a:gd name="T10" fmla="*/ 90678 w 106680"/>
                <a:gd name="T11" fmla="*/ 1199870 h 1290954"/>
                <a:gd name="T12" fmla="*/ 56807 w 106680"/>
                <a:gd name="T13" fmla="*/ 1255115 h 1290954"/>
                <a:gd name="T14" fmla="*/ 65532 w 106680"/>
                <a:gd name="T15" fmla="*/ 876782 h 1290954"/>
                <a:gd name="T16" fmla="*/ 52844 w 106680"/>
                <a:gd name="T17" fmla="*/ 876414 h 1290954"/>
                <a:gd name="T18" fmla="*/ 44107 w 106680"/>
                <a:gd name="T19" fmla="*/ 1254683 h 1290954"/>
                <a:gd name="T20" fmla="*/ 12839 w 106680"/>
                <a:gd name="T21" fmla="*/ 1198105 h 1290954"/>
                <a:gd name="T22" fmla="*/ 11188 w 106680"/>
                <a:gd name="T23" fmla="*/ 1195057 h 1290954"/>
                <a:gd name="T24" fmla="*/ 7239 w 106680"/>
                <a:gd name="T25" fmla="*/ 1193927 h 1290954"/>
                <a:gd name="T26" fmla="*/ 4191 w 106680"/>
                <a:gd name="T27" fmla="*/ 1195578 h 1290954"/>
                <a:gd name="T28" fmla="*/ 1143 w 106680"/>
                <a:gd name="T29" fmla="*/ 1197343 h 1290954"/>
                <a:gd name="T30" fmla="*/ 0 w 106680"/>
                <a:gd name="T31" fmla="*/ 1201153 h 1290954"/>
                <a:gd name="T32" fmla="*/ 1663 w 106680"/>
                <a:gd name="T33" fmla="*/ 1204201 h 1290954"/>
                <a:gd name="T34" fmla="*/ 49669 w 106680"/>
                <a:gd name="T35" fmla="*/ 1290942 h 1290954"/>
                <a:gd name="T36" fmla="*/ 57315 w 106680"/>
                <a:gd name="T37" fmla="*/ 1278509 h 1290954"/>
                <a:gd name="T38" fmla="*/ 101612 w 106680"/>
                <a:gd name="T39" fmla="*/ 1206487 h 1290954"/>
                <a:gd name="T40" fmla="*/ 103390 w 106680"/>
                <a:gd name="T41" fmla="*/ 1203566 h 1290954"/>
                <a:gd name="T42" fmla="*/ 106438 w 106680"/>
                <a:gd name="T43" fmla="*/ 325247 h 1290954"/>
                <a:gd name="T44" fmla="*/ 105156 w 106680"/>
                <a:gd name="T45" fmla="*/ 321284 h 1290954"/>
                <a:gd name="T46" fmla="*/ 102108 w 106680"/>
                <a:gd name="T47" fmla="*/ 319760 h 1290954"/>
                <a:gd name="T48" fmla="*/ 98945 w 106680"/>
                <a:gd name="T49" fmla="*/ 318122 h 1290954"/>
                <a:gd name="T50" fmla="*/ 95135 w 106680"/>
                <a:gd name="T51" fmla="*/ 319278 h 1290954"/>
                <a:gd name="T52" fmla="*/ 93548 w 106680"/>
                <a:gd name="T53" fmla="*/ 322567 h 1290954"/>
                <a:gd name="T54" fmla="*/ 63741 w 106680"/>
                <a:gd name="T55" fmla="*/ 380022 h 1290954"/>
                <a:gd name="T56" fmla="*/ 44843 w 106680"/>
                <a:gd name="T57" fmla="*/ 0 h 1290954"/>
                <a:gd name="T58" fmla="*/ 32270 w 106680"/>
                <a:gd name="T59" fmla="*/ 635 h 1290954"/>
                <a:gd name="T60" fmla="*/ 51041 w 106680"/>
                <a:gd name="T61" fmla="*/ 380428 h 1290954"/>
                <a:gd name="T62" fmla="*/ 13855 w 106680"/>
                <a:gd name="T63" fmla="*/ 323329 h 1290954"/>
                <a:gd name="T64" fmla="*/ 9906 w 106680"/>
                <a:gd name="T65" fmla="*/ 322567 h 1290954"/>
                <a:gd name="T66" fmla="*/ 6858 w 106680"/>
                <a:gd name="T67" fmla="*/ 324485 h 1290954"/>
                <a:gd name="T68" fmla="*/ 3949 w 106680"/>
                <a:gd name="T69" fmla="*/ 326377 h 1290954"/>
                <a:gd name="T70" fmla="*/ 3187 w 106680"/>
                <a:gd name="T71" fmla="*/ 330314 h 1290954"/>
                <a:gd name="T72" fmla="*/ 59194 w 106680"/>
                <a:gd name="T73" fmla="*/ 416293 h 1290954"/>
                <a:gd name="T74" fmla="*/ 65570 w 106680"/>
                <a:gd name="T75" fmla="*/ 403974 h 1290954"/>
                <a:gd name="T76" fmla="*/ 104775 w 106680"/>
                <a:gd name="T77" fmla="*/ 328295 h 1290954"/>
                <a:gd name="T78" fmla="*/ 106438 w 106680"/>
                <a:gd name="T79" fmla="*/ 325247 h 1290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6680" h="1290954">
                  <a:moveTo>
                    <a:pt x="103390" y="1203566"/>
                  </a:moveTo>
                  <a:lnTo>
                    <a:pt x="102489" y="1199629"/>
                  </a:lnTo>
                  <a:lnTo>
                    <a:pt x="99441" y="1197864"/>
                  </a:lnTo>
                  <a:lnTo>
                    <a:pt x="96532" y="1195946"/>
                  </a:lnTo>
                  <a:lnTo>
                    <a:pt x="92583" y="1196975"/>
                  </a:lnTo>
                  <a:lnTo>
                    <a:pt x="90678" y="1199870"/>
                  </a:lnTo>
                  <a:lnTo>
                    <a:pt x="56807" y="1255115"/>
                  </a:lnTo>
                  <a:lnTo>
                    <a:pt x="65532" y="876782"/>
                  </a:lnTo>
                  <a:lnTo>
                    <a:pt x="52844" y="876414"/>
                  </a:lnTo>
                  <a:lnTo>
                    <a:pt x="44107" y="1254683"/>
                  </a:lnTo>
                  <a:lnTo>
                    <a:pt x="12839" y="1198105"/>
                  </a:lnTo>
                  <a:lnTo>
                    <a:pt x="11188" y="1195057"/>
                  </a:lnTo>
                  <a:lnTo>
                    <a:pt x="7239" y="1193927"/>
                  </a:lnTo>
                  <a:lnTo>
                    <a:pt x="4191" y="1195578"/>
                  </a:lnTo>
                  <a:lnTo>
                    <a:pt x="1143" y="1197343"/>
                  </a:lnTo>
                  <a:lnTo>
                    <a:pt x="0" y="1201153"/>
                  </a:lnTo>
                  <a:lnTo>
                    <a:pt x="1663" y="1204201"/>
                  </a:lnTo>
                  <a:lnTo>
                    <a:pt x="49669" y="1290942"/>
                  </a:lnTo>
                  <a:lnTo>
                    <a:pt x="57315" y="1278509"/>
                  </a:lnTo>
                  <a:lnTo>
                    <a:pt x="101612" y="1206487"/>
                  </a:lnTo>
                  <a:lnTo>
                    <a:pt x="103390" y="1203566"/>
                  </a:lnTo>
                  <a:close/>
                </a:path>
                <a:path w="106680" h="1290954">
                  <a:moveTo>
                    <a:pt x="106438" y="325247"/>
                  </a:moveTo>
                  <a:lnTo>
                    <a:pt x="105156" y="321284"/>
                  </a:lnTo>
                  <a:lnTo>
                    <a:pt x="102108" y="319760"/>
                  </a:lnTo>
                  <a:lnTo>
                    <a:pt x="98945" y="318122"/>
                  </a:lnTo>
                  <a:lnTo>
                    <a:pt x="95135" y="319278"/>
                  </a:lnTo>
                  <a:lnTo>
                    <a:pt x="93548" y="322567"/>
                  </a:lnTo>
                  <a:lnTo>
                    <a:pt x="63741" y="380022"/>
                  </a:lnTo>
                  <a:lnTo>
                    <a:pt x="44843" y="0"/>
                  </a:lnTo>
                  <a:lnTo>
                    <a:pt x="32270" y="635"/>
                  </a:lnTo>
                  <a:lnTo>
                    <a:pt x="51041" y="380428"/>
                  </a:lnTo>
                  <a:lnTo>
                    <a:pt x="13855" y="323329"/>
                  </a:lnTo>
                  <a:lnTo>
                    <a:pt x="9906" y="322567"/>
                  </a:lnTo>
                  <a:lnTo>
                    <a:pt x="6858" y="324485"/>
                  </a:lnTo>
                  <a:lnTo>
                    <a:pt x="3949" y="326377"/>
                  </a:lnTo>
                  <a:lnTo>
                    <a:pt x="3187" y="330314"/>
                  </a:lnTo>
                  <a:lnTo>
                    <a:pt x="59194" y="416293"/>
                  </a:lnTo>
                  <a:lnTo>
                    <a:pt x="65570" y="403974"/>
                  </a:lnTo>
                  <a:lnTo>
                    <a:pt x="104775" y="328295"/>
                  </a:lnTo>
                  <a:lnTo>
                    <a:pt x="106438" y="3252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grpSp>
      <p:sp>
        <p:nvSpPr>
          <p:cNvPr id="20488" name="object 15">
            <a:extLst>
              <a:ext uri="{FF2B5EF4-FFF2-40B4-BE49-F238E27FC236}">
                <a16:creationId xmlns:a16="http://schemas.microsoft.com/office/drawing/2014/main" id="{854FF409-D128-41F1-9D65-8C195A700395}"/>
              </a:ext>
            </a:extLst>
          </p:cNvPr>
          <p:cNvSpPr>
            <a:spLocks/>
          </p:cNvSpPr>
          <p:nvPr/>
        </p:nvSpPr>
        <p:spPr bwMode="auto">
          <a:xfrm>
            <a:off x="3986214" y="3963988"/>
            <a:ext cx="103187" cy="381000"/>
          </a:xfrm>
          <a:custGeom>
            <a:avLst/>
            <a:gdLst>
              <a:gd name="T0" fmla="*/ 47375 w 103505"/>
              <a:gd name="T1" fmla="*/ 50804 h 381635"/>
              <a:gd name="T2" fmla="*/ 60447 w 103505"/>
              <a:gd name="T3" fmla="*/ 131 h 381635"/>
              <a:gd name="T4" fmla="*/ 47112 w 103505"/>
              <a:gd name="T5" fmla="*/ 88904 h 381635"/>
              <a:gd name="T6" fmla="*/ 59304 w 103505"/>
              <a:gd name="T7" fmla="*/ 139827 h 381635"/>
              <a:gd name="T8" fmla="*/ 47112 w 103505"/>
              <a:gd name="T9" fmla="*/ 88904 h 381635"/>
              <a:gd name="T10" fmla="*/ 45851 w 103505"/>
              <a:gd name="T11" fmla="*/ 228600 h 381635"/>
              <a:gd name="T12" fmla="*/ 59055 w 103505"/>
              <a:gd name="T13" fmla="*/ 177927 h 381635"/>
              <a:gd name="T14" fmla="*/ 7107 w 103505"/>
              <a:gd name="T15" fmla="*/ 284607 h 381635"/>
              <a:gd name="T16" fmla="*/ 1143 w 103505"/>
              <a:gd name="T17" fmla="*/ 288167 h 381635"/>
              <a:gd name="T18" fmla="*/ 1773 w 103505"/>
              <a:gd name="T19" fmla="*/ 295025 h 381635"/>
              <a:gd name="T20" fmla="*/ 58398 w 103505"/>
              <a:gd name="T21" fmla="*/ 368558 h 381635"/>
              <a:gd name="T22" fmla="*/ 44826 w 103505"/>
              <a:gd name="T23" fmla="*/ 355604 h 381635"/>
              <a:gd name="T24" fmla="*/ 12822 w 103505"/>
              <a:gd name="T25" fmla="*/ 288798 h 381635"/>
              <a:gd name="T26" fmla="*/ 7107 w 103505"/>
              <a:gd name="T27" fmla="*/ 284607 h 381635"/>
              <a:gd name="T28" fmla="*/ 44708 w 103505"/>
              <a:gd name="T29" fmla="*/ 368427 h 381635"/>
              <a:gd name="T30" fmla="*/ 57432 w 103505"/>
              <a:gd name="T31" fmla="*/ 365379 h 381635"/>
              <a:gd name="T32" fmla="*/ 51182 w 103505"/>
              <a:gd name="T33" fmla="*/ 355842 h 381635"/>
              <a:gd name="T34" fmla="*/ 44826 w 103505"/>
              <a:gd name="T35" fmla="*/ 355604 h 381635"/>
              <a:gd name="T36" fmla="*/ 92451 w 103505"/>
              <a:gd name="T37" fmla="*/ 286380 h 381635"/>
              <a:gd name="T38" fmla="*/ 51288 w 103505"/>
              <a:gd name="T39" fmla="*/ 355664 h 381635"/>
              <a:gd name="T40" fmla="*/ 57399 w 103505"/>
              <a:gd name="T41" fmla="*/ 368558 h 381635"/>
              <a:gd name="T42" fmla="*/ 101595 w 103505"/>
              <a:gd name="T43" fmla="*/ 295905 h 381635"/>
              <a:gd name="T44" fmla="*/ 102489 w 103505"/>
              <a:gd name="T45" fmla="*/ 289047 h 381635"/>
              <a:gd name="T46" fmla="*/ 96393 w 103505"/>
              <a:gd name="T47" fmla="*/ 285369 h 381635"/>
              <a:gd name="T48" fmla="*/ 45588 w 103505"/>
              <a:gd name="T49" fmla="*/ 365247 h 381635"/>
              <a:gd name="T50" fmla="*/ 51182 w 103505"/>
              <a:gd name="T51" fmla="*/ 355842 h 381635"/>
              <a:gd name="T52" fmla="*/ 51182 w 103505"/>
              <a:gd name="T53" fmla="*/ 355842 h 381635"/>
              <a:gd name="T54" fmla="*/ 57432 w 103505"/>
              <a:gd name="T55" fmla="*/ 365379 h 381635"/>
              <a:gd name="T56" fmla="*/ 51288 w 103505"/>
              <a:gd name="T57" fmla="*/ 355664 h 381635"/>
              <a:gd name="T58" fmla="*/ 51182 w 103505"/>
              <a:gd name="T59" fmla="*/ 355842 h 381635"/>
              <a:gd name="T60" fmla="*/ 51078 w 103505"/>
              <a:gd name="T61" fmla="*/ 355662 h 381635"/>
              <a:gd name="T62" fmla="*/ 44826 w 103505"/>
              <a:gd name="T63" fmla="*/ 355604 h 381635"/>
              <a:gd name="T64" fmla="*/ 51045 w 103505"/>
              <a:gd name="T65" fmla="*/ 355604 h 381635"/>
              <a:gd name="T66" fmla="*/ 45207 w 103505"/>
              <a:gd name="T67" fmla="*/ 317504 h 381635"/>
              <a:gd name="T68" fmla="*/ 58293 w 103505"/>
              <a:gd name="T69" fmla="*/ 266831 h 381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505" h="381635">
                <a:moveTo>
                  <a:pt x="47756" y="0"/>
                </a:moveTo>
                <a:lnTo>
                  <a:pt x="47375" y="50804"/>
                </a:lnTo>
                <a:lnTo>
                  <a:pt x="60066" y="50922"/>
                </a:lnTo>
                <a:lnTo>
                  <a:pt x="60447" y="131"/>
                </a:lnTo>
                <a:lnTo>
                  <a:pt x="47756" y="0"/>
                </a:lnTo>
                <a:close/>
              </a:path>
              <a:path w="103505" h="381635">
                <a:moveTo>
                  <a:pt x="47112" y="88904"/>
                </a:moveTo>
                <a:lnTo>
                  <a:pt x="46613" y="139695"/>
                </a:lnTo>
                <a:lnTo>
                  <a:pt x="59304" y="139827"/>
                </a:lnTo>
                <a:lnTo>
                  <a:pt x="59817" y="89022"/>
                </a:lnTo>
                <a:lnTo>
                  <a:pt x="47112" y="88904"/>
                </a:lnTo>
                <a:close/>
              </a:path>
              <a:path w="103505" h="381635">
                <a:moveTo>
                  <a:pt x="46350" y="177795"/>
                </a:moveTo>
                <a:lnTo>
                  <a:pt x="45851" y="228600"/>
                </a:lnTo>
                <a:lnTo>
                  <a:pt x="58542" y="228731"/>
                </a:lnTo>
                <a:lnTo>
                  <a:pt x="59055" y="177927"/>
                </a:lnTo>
                <a:lnTo>
                  <a:pt x="46350" y="177795"/>
                </a:lnTo>
                <a:close/>
              </a:path>
              <a:path w="103505" h="381635">
                <a:moveTo>
                  <a:pt x="7107" y="284607"/>
                </a:moveTo>
                <a:lnTo>
                  <a:pt x="4191" y="286380"/>
                </a:lnTo>
                <a:lnTo>
                  <a:pt x="1143" y="288167"/>
                </a:lnTo>
                <a:lnTo>
                  <a:pt x="0" y="291977"/>
                </a:lnTo>
                <a:lnTo>
                  <a:pt x="1773" y="295025"/>
                </a:lnTo>
                <a:lnTo>
                  <a:pt x="50922" y="381131"/>
                </a:lnTo>
                <a:lnTo>
                  <a:pt x="58398" y="368558"/>
                </a:lnTo>
                <a:lnTo>
                  <a:pt x="44708" y="368427"/>
                </a:lnTo>
                <a:lnTo>
                  <a:pt x="44826" y="355604"/>
                </a:lnTo>
                <a:lnTo>
                  <a:pt x="51045" y="355604"/>
                </a:lnTo>
                <a:lnTo>
                  <a:pt x="12822" y="288798"/>
                </a:lnTo>
                <a:lnTo>
                  <a:pt x="11049" y="285750"/>
                </a:lnTo>
                <a:lnTo>
                  <a:pt x="7107" y="284607"/>
                </a:lnTo>
                <a:close/>
              </a:path>
              <a:path w="103505" h="381635">
                <a:moveTo>
                  <a:pt x="44826" y="355604"/>
                </a:moveTo>
                <a:lnTo>
                  <a:pt x="44708" y="368427"/>
                </a:lnTo>
                <a:lnTo>
                  <a:pt x="57399" y="368558"/>
                </a:lnTo>
                <a:lnTo>
                  <a:pt x="57432" y="365379"/>
                </a:lnTo>
                <a:lnTo>
                  <a:pt x="45588" y="365247"/>
                </a:lnTo>
                <a:lnTo>
                  <a:pt x="51182" y="355842"/>
                </a:lnTo>
                <a:lnTo>
                  <a:pt x="51078" y="355662"/>
                </a:lnTo>
                <a:lnTo>
                  <a:pt x="44826" y="355604"/>
                </a:lnTo>
                <a:close/>
              </a:path>
              <a:path w="103505" h="381635">
                <a:moveTo>
                  <a:pt x="96393" y="285369"/>
                </a:moveTo>
                <a:lnTo>
                  <a:pt x="92451" y="286380"/>
                </a:lnTo>
                <a:lnTo>
                  <a:pt x="90678" y="289428"/>
                </a:lnTo>
                <a:lnTo>
                  <a:pt x="51288" y="355664"/>
                </a:lnTo>
                <a:lnTo>
                  <a:pt x="57531" y="355722"/>
                </a:lnTo>
                <a:lnTo>
                  <a:pt x="57399" y="368558"/>
                </a:lnTo>
                <a:lnTo>
                  <a:pt x="58398" y="368558"/>
                </a:lnTo>
                <a:lnTo>
                  <a:pt x="101595" y="295905"/>
                </a:lnTo>
                <a:lnTo>
                  <a:pt x="103382" y="292857"/>
                </a:lnTo>
                <a:lnTo>
                  <a:pt x="102489" y="289047"/>
                </a:lnTo>
                <a:lnTo>
                  <a:pt x="99441" y="287142"/>
                </a:lnTo>
                <a:lnTo>
                  <a:pt x="96393" y="285369"/>
                </a:lnTo>
                <a:close/>
              </a:path>
              <a:path w="103505" h="381635">
                <a:moveTo>
                  <a:pt x="51182" y="355842"/>
                </a:moveTo>
                <a:lnTo>
                  <a:pt x="45588" y="365247"/>
                </a:lnTo>
                <a:lnTo>
                  <a:pt x="56637" y="365379"/>
                </a:lnTo>
                <a:lnTo>
                  <a:pt x="51182" y="355842"/>
                </a:lnTo>
                <a:close/>
              </a:path>
              <a:path w="103505" h="381635">
                <a:moveTo>
                  <a:pt x="51288" y="355664"/>
                </a:moveTo>
                <a:lnTo>
                  <a:pt x="51182" y="355842"/>
                </a:lnTo>
                <a:lnTo>
                  <a:pt x="56637" y="365379"/>
                </a:lnTo>
                <a:lnTo>
                  <a:pt x="57432" y="365379"/>
                </a:lnTo>
                <a:lnTo>
                  <a:pt x="57531" y="355722"/>
                </a:lnTo>
                <a:lnTo>
                  <a:pt x="51288" y="355664"/>
                </a:lnTo>
                <a:close/>
              </a:path>
              <a:path w="103505" h="381635">
                <a:moveTo>
                  <a:pt x="51078" y="355662"/>
                </a:moveTo>
                <a:lnTo>
                  <a:pt x="51182" y="355842"/>
                </a:lnTo>
                <a:lnTo>
                  <a:pt x="51288" y="355664"/>
                </a:lnTo>
                <a:lnTo>
                  <a:pt x="51078" y="355662"/>
                </a:lnTo>
                <a:close/>
              </a:path>
              <a:path w="103505" h="381635">
                <a:moveTo>
                  <a:pt x="51045" y="355604"/>
                </a:moveTo>
                <a:lnTo>
                  <a:pt x="44826" y="355604"/>
                </a:lnTo>
                <a:lnTo>
                  <a:pt x="51078" y="355662"/>
                </a:lnTo>
                <a:lnTo>
                  <a:pt x="51045" y="355604"/>
                </a:lnTo>
                <a:close/>
              </a:path>
              <a:path w="103505" h="381635">
                <a:moveTo>
                  <a:pt x="45588" y="266700"/>
                </a:moveTo>
                <a:lnTo>
                  <a:pt x="45207" y="317504"/>
                </a:lnTo>
                <a:lnTo>
                  <a:pt x="57912" y="317622"/>
                </a:lnTo>
                <a:lnTo>
                  <a:pt x="58293" y="266831"/>
                </a:lnTo>
                <a:lnTo>
                  <a:pt x="45588" y="2667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0489" name="object 16">
            <a:extLst>
              <a:ext uri="{FF2B5EF4-FFF2-40B4-BE49-F238E27FC236}">
                <a16:creationId xmlns:a16="http://schemas.microsoft.com/office/drawing/2014/main" id="{87B4CED7-F001-40CC-8BDF-25454130E023}"/>
              </a:ext>
            </a:extLst>
          </p:cNvPr>
          <p:cNvSpPr>
            <a:spLocks/>
          </p:cNvSpPr>
          <p:nvPr/>
        </p:nvSpPr>
        <p:spPr bwMode="auto">
          <a:xfrm>
            <a:off x="3910014" y="5030788"/>
            <a:ext cx="103187" cy="304800"/>
          </a:xfrm>
          <a:custGeom>
            <a:avLst/>
            <a:gdLst>
              <a:gd name="T0" fmla="*/ 7120 w 103505"/>
              <a:gd name="T1" fmla="*/ 208407 h 305435"/>
              <a:gd name="T2" fmla="*/ 4072 w 103505"/>
              <a:gd name="T3" fmla="*/ 210062 h 305435"/>
              <a:gd name="T4" fmla="*/ 1024 w 103505"/>
              <a:gd name="T5" fmla="*/ 211836 h 305435"/>
              <a:gd name="T6" fmla="*/ 0 w 103505"/>
              <a:gd name="T7" fmla="*/ 215777 h 305435"/>
              <a:gd name="T8" fmla="*/ 1655 w 103505"/>
              <a:gd name="T9" fmla="*/ 218825 h 305435"/>
              <a:gd name="T10" fmla="*/ 50673 w 103505"/>
              <a:gd name="T11" fmla="*/ 304931 h 305435"/>
              <a:gd name="T12" fmla="*/ 58198 w 103505"/>
              <a:gd name="T13" fmla="*/ 292358 h 305435"/>
              <a:gd name="T14" fmla="*/ 44577 w 103505"/>
              <a:gd name="T15" fmla="*/ 292227 h 305435"/>
              <a:gd name="T16" fmla="*/ 44820 w 103505"/>
              <a:gd name="T17" fmla="*/ 268865 h 305435"/>
              <a:gd name="T18" fmla="*/ 12704 w 103505"/>
              <a:gd name="T19" fmla="*/ 212466 h 305435"/>
              <a:gd name="T20" fmla="*/ 11049 w 103505"/>
              <a:gd name="T21" fmla="*/ 209418 h 305435"/>
              <a:gd name="T22" fmla="*/ 7120 w 103505"/>
              <a:gd name="T23" fmla="*/ 208407 h 305435"/>
              <a:gd name="T24" fmla="*/ 44820 w 103505"/>
              <a:gd name="T25" fmla="*/ 268865 h 305435"/>
              <a:gd name="T26" fmla="*/ 44577 w 103505"/>
              <a:gd name="T27" fmla="*/ 292227 h 305435"/>
              <a:gd name="T28" fmla="*/ 57281 w 103505"/>
              <a:gd name="T29" fmla="*/ 292358 h 305435"/>
              <a:gd name="T30" fmla="*/ 57312 w 103505"/>
              <a:gd name="T31" fmla="*/ 289179 h 305435"/>
              <a:gd name="T32" fmla="*/ 45470 w 103505"/>
              <a:gd name="T33" fmla="*/ 289047 h 305435"/>
              <a:gd name="T34" fmla="*/ 51021 w 103505"/>
              <a:gd name="T35" fmla="*/ 279754 h 305435"/>
              <a:gd name="T36" fmla="*/ 44820 w 103505"/>
              <a:gd name="T37" fmla="*/ 268865 h 305435"/>
              <a:gd name="T38" fmla="*/ 96393 w 103505"/>
              <a:gd name="T39" fmla="*/ 209300 h 305435"/>
              <a:gd name="T40" fmla="*/ 92464 w 103505"/>
              <a:gd name="T41" fmla="*/ 210312 h 305435"/>
              <a:gd name="T42" fmla="*/ 90678 w 103505"/>
              <a:gd name="T43" fmla="*/ 213360 h 305435"/>
              <a:gd name="T44" fmla="*/ 57524 w 103505"/>
              <a:gd name="T45" fmla="*/ 268865 h 305435"/>
              <a:gd name="T46" fmla="*/ 57281 w 103505"/>
              <a:gd name="T47" fmla="*/ 292358 h 305435"/>
              <a:gd name="T48" fmla="*/ 58198 w 103505"/>
              <a:gd name="T49" fmla="*/ 292358 h 305435"/>
              <a:gd name="T50" fmla="*/ 101608 w 103505"/>
              <a:gd name="T51" fmla="*/ 219837 h 305435"/>
              <a:gd name="T52" fmla="*/ 103382 w 103505"/>
              <a:gd name="T53" fmla="*/ 216789 h 305435"/>
              <a:gd name="T54" fmla="*/ 102370 w 103505"/>
              <a:gd name="T55" fmla="*/ 212847 h 305435"/>
              <a:gd name="T56" fmla="*/ 99322 w 103505"/>
              <a:gd name="T57" fmla="*/ 211074 h 305435"/>
              <a:gd name="T58" fmla="*/ 96393 w 103505"/>
              <a:gd name="T59" fmla="*/ 209300 h 305435"/>
              <a:gd name="T60" fmla="*/ 51021 w 103505"/>
              <a:gd name="T61" fmla="*/ 279754 h 305435"/>
              <a:gd name="T62" fmla="*/ 45470 w 103505"/>
              <a:gd name="T63" fmla="*/ 289047 h 305435"/>
              <a:gd name="T64" fmla="*/ 56388 w 103505"/>
              <a:gd name="T65" fmla="*/ 289179 h 305435"/>
              <a:gd name="T66" fmla="*/ 51021 w 103505"/>
              <a:gd name="T67" fmla="*/ 279754 h 305435"/>
              <a:gd name="T68" fmla="*/ 57515 w 103505"/>
              <a:gd name="T69" fmla="*/ 268881 h 305435"/>
              <a:gd name="T70" fmla="*/ 51021 w 103505"/>
              <a:gd name="T71" fmla="*/ 279754 h 305435"/>
              <a:gd name="T72" fmla="*/ 56388 w 103505"/>
              <a:gd name="T73" fmla="*/ 289179 h 305435"/>
              <a:gd name="T74" fmla="*/ 57312 w 103505"/>
              <a:gd name="T75" fmla="*/ 289179 h 305435"/>
              <a:gd name="T76" fmla="*/ 57515 w 103505"/>
              <a:gd name="T77" fmla="*/ 268881 h 305435"/>
              <a:gd name="T78" fmla="*/ 47625 w 103505"/>
              <a:gd name="T79" fmla="*/ 0 h 305435"/>
              <a:gd name="T80" fmla="*/ 44829 w 103505"/>
              <a:gd name="T81" fmla="*/ 268881 h 305435"/>
              <a:gd name="T82" fmla="*/ 51021 w 103505"/>
              <a:gd name="T83" fmla="*/ 279754 h 305435"/>
              <a:gd name="T84" fmla="*/ 57515 w 103505"/>
              <a:gd name="T85" fmla="*/ 268865 h 305435"/>
              <a:gd name="T86" fmla="*/ 60198 w 103505"/>
              <a:gd name="T87" fmla="*/ 131 h 305435"/>
              <a:gd name="T88" fmla="*/ 47625 w 103505"/>
              <a:gd name="T89" fmla="*/ 0 h 305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3505" h="305435">
                <a:moveTo>
                  <a:pt x="7120" y="208407"/>
                </a:moveTo>
                <a:lnTo>
                  <a:pt x="4072" y="210062"/>
                </a:lnTo>
                <a:lnTo>
                  <a:pt x="1024" y="211836"/>
                </a:lnTo>
                <a:lnTo>
                  <a:pt x="0" y="215777"/>
                </a:lnTo>
                <a:lnTo>
                  <a:pt x="1655" y="218825"/>
                </a:lnTo>
                <a:lnTo>
                  <a:pt x="50673" y="304931"/>
                </a:lnTo>
                <a:lnTo>
                  <a:pt x="58198" y="292358"/>
                </a:lnTo>
                <a:lnTo>
                  <a:pt x="44577" y="292227"/>
                </a:lnTo>
                <a:lnTo>
                  <a:pt x="44820" y="268865"/>
                </a:lnTo>
                <a:lnTo>
                  <a:pt x="12704" y="212466"/>
                </a:lnTo>
                <a:lnTo>
                  <a:pt x="11049" y="209418"/>
                </a:lnTo>
                <a:lnTo>
                  <a:pt x="7120" y="208407"/>
                </a:lnTo>
                <a:close/>
              </a:path>
              <a:path w="103505" h="305435">
                <a:moveTo>
                  <a:pt x="44820" y="268865"/>
                </a:moveTo>
                <a:lnTo>
                  <a:pt x="44577" y="292227"/>
                </a:lnTo>
                <a:lnTo>
                  <a:pt x="57281" y="292358"/>
                </a:lnTo>
                <a:lnTo>
                  <a:pt x="57312" y="289179"/>
                </a:lnTo>
                <a:lnTo>
                  <a:pt x="45470" y="289047"/>
                </a:lnTo>
                <a:lnTo>
                  <a:pt x="51021" y="279754"/>
                </a:lnTo>
                <a:lnTo>
                  <a:pt x="44820" y="268865"/>
                </a:lnTo>
                <a:close/>
              </a:path>
              <a:path w="103505" h="305435">
                <a:moveTo>
                  <a:pt x="96393" y="209300"/>
                </a:moveTo>
                <a:lnTo>
                  <a:pt x="92464" y="210312"/>
                </a:lnTo>
                <a:lnTo>
                  <a:pt x="90678" y="213360"/>
                </a:lnTo>
                <a:lnTo>
                  <a:pt x="57524" y="268865"/>
                </a:lnTo>
                <a:lnTo>
                  <a:pt x="57281" y="292358"/>
                </a:lnTo>
                <a:lnTo>
                  <a:pt x="58198" y="292358"/>
                </a:lnTo>
                <a:lnTo>
                  <a:pt x="101608" y="219837"/>
                </a:lnTo>
                <a:lnTo>
                  <a:pt x="103382" y="216789"/>
                </a:lnTo>
                <a:lnTo>
                  <a:pt x="102370" y="212847"/>
                </a:lnTo>
                <a:lnTo>
                  <a:pt x="99322" y="211074"/>
                </a:lnTo>
                <a:lnTo>
                  <a:pt x="96393" y="209300"/>
                </a:lnTo>
                <a:close/>
              </a:path>
              <a:path w="103505" h="305435">
                <a:moveTo>
                  <a:pt x="51021" y="279754"/>
                </a:moveTo>
                <a:lnTo>
                  <a:pt x="45470" y="289047"/>
                </a:lnTo>
                <a:lnTo>
                  <a:pt x="56388" y="289179"/>
                </a:lnTo>
                <a:lnTo>
                  <a:pt x="51021" y="279754"/>
                </a:lnTo>
                <a:close/>
              </a:path>
              <a:path w="103505" h="305435">
                <a:moveTo>
                  <a:pt x="57515" y="268881"/>
                </a:moveTo>
                <a:lnTo>
                  <a:pt x="51021" y="279754"/>
                </a:lnTo>
                <a:lnTo>
                  <a:pt x="56388" y="289179"/>
                </a:lnTo>
                <a:lnTo>
                  <a:pt x="57312" y="289179"/>
                </a:lnTo>
                <a:lnTo>
                  <a:pt x="57515" y="268881"/>
                </a:lnTo>
                <a:close/>
              </a:path>
              <a:path w="103505" h="305435">
                <a:moveTo>
                  <a:pt x="47625" y="0"/>
                </a:moveTo>
                <a:lnTo>
                  <a:pt x="44829" y="268881"/>
                </a:lnTo>
                <a:lnTo>
                  <a:pt x="51021" y="279754"/>
                </a:lnTo>
                <a:lnTo>
                  <a:pt x="57515" y="268865"/>
                </a:lnTo>
                <a:lnTo>
                  <a:pt x="60198" y="131"/>
                </a:lnTo>
                <a:lnTo>
                  <a:pt x="476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7" name="object 17">
            <a:extLst>
              <a:ext uri="{FF2B5EF4-FFF2-40B4-BE49-F238E27FC236}">
                <a16:creationId xmlns:a16="http://schemas.microsoft.com/office/drawing/2014/main" id="{450A74B7-9E0F-4810-A101-DF3200F33AAF}"/>
              </a:ext>
            </a:extLst>
          </p:cNvPr>
          <p:cNvSpPr txBox="1"/>
          <p:nvPr/>
        </p:nvSpPr>
        <p:spPr>
          <a:xfrm>
            <a:off x="3276600" y="5481638"/>
            <a:ext cx="1600200" cy="409086"/>
          </a:xfrm>
          <a:prstGeom prst="rect">
            <a:avLst/>
          </a:prstGeom>
          <a:solidFill>
            <a:srgbClr val="00CC98"/>
          </a:solidFill>
          <a:ln w="12700">
            <a:solidFill>
              <a:srgbClr val="000000"/>
            </a:solidFill>
          </a:ln>
        </p:spPr>
        <p:txBody>
          <a:bodyPr lIns="0" tIns="39370" rIns="0" bIns="0">
            <a:spAutoFit/>
          </a:bodyPr>
          <a:lstStyle/>
          <a:p>
            <a:pPr marL="100965" eaLnBrk="1" fontAlgn="auto" hangingPunct="1">
              <a:spcBef>
                <a:spcPts val="310"/>
              </a:spcBef>
              <a:spcAft>
                <a:spcPts val="0"/>
              </a:spcAft>
              <a:defRPr/>
            </a:pPr>
            <a:r>
              <a:rPr sz="2400" kern="0" dirty="0">
                <a:solidFill>
                  <a:sysClr val="windowText" lastClr="000000"/>
                </a:solidFill>
                <a:latin typeface="Arial"/>
                <a:cs typeface="Arial"/>
              </a:rPr>
              <a:t>msg</a:t>
            </a:r>
            <a:r>
              <a:rPr sz="2400" kern="0" spc="50" dirty="0">
                <a:solidFill>
                  <a:sysClr val="windowText" lastClr="000000"/>
                </a:solidFill>
                <a:latin typeface="Times New Roman"/>
                <a:cs typeface="Times New Roman"/>
              </a:rPr>
              <a:t> </a:t>
            </a:r>
            <a:r>
              <a:rPr sz="2400" kern="0" spc="-10" dirty="0">
                <a:solidFill>
                  <a:sysClr val="windowText" lastClr="000000"/>
                </a:solidFill>
                <a:latin typeface="Arial"/>
                <a:cs typeface="Arial"/>
              </a:rPr>
              <a:t>digest</a:t>
            </a:r>
            <a:endParaRPr sz="2400" kern="0">
              <a:solidFill>
                <a:sysClr val="windowText" lastClr="000000"/>
              </a:solidFill>
              <a:latin typeface="Arial"/>
              <a:cs typeface="Arial"/>
            </a:endParaRPr>
          </a:p>
        </p:txBody>
      </p:sp>
      <p:grpSp>
        <p:nvGrpSpPr>
          <p:cNvPr id="20491" name="object 18">
            <a:extLst>
              <a:ext uri="{FF2B5EF4-FFF2-40B4-BE49-F238E27FC236}">
                <a16:creationId xmlns:a16="http://schemas.microsoft.com/office/drawing/2014/main" id="{05AA1D2F-4640-482A-810C-7D6620F6D1A2}"/>
              </a:ext>
            </a:extLst>
          </p:cNvPr>
          <p:cNvGrpSpPr>
            <a:grpSpLocks/>
          </p:cNvGrpSpPr>
          <p:nvPr/>
        </p:nvGrpSpPr>
        <p:grpSpPr bwMode="auto">
          <a:xfrm>
            <a:off x="4724400" y="2128838"/>
            <a:ext cx="2217738" cy="514350"/>
            <a:chOff x="3200400" y="2128774"/>
            <a:chExt cx="2218055" cy="514350"/>
          </a:xfrm>
        </p:grpSpPr>
        <p:sp>
          <p:nvSpPr>
            <p:cNvPr id="20500" name="object 19">
              <a:extLst>
                <a:ext uri="{FF2B5EF4-FFF2-40B4-BE49-F238E27FC236}">
                  <a16:creationId xmlns:a16="http://schemas.microsoft.com/office/drawing/2014/main" id="{F15B8ADF-E41F-4990-828F-99E4AB7E3F4D}"/>
                </a:ext>
              </a:extLst>
            </p:cNvPr>
            <p:cNvSpPr>
              <a:spLocks/>
            </p:cNvSpPr>
            <p:nvPr/>
          </p:nvSpPr>
          <p:spPr bwMode="auto">
            <a:xfrm>
              <a:off x="5408676" y="2135124"/>
              <a:ext cx="3175" cy="457200"/>
            </a:xfrm>
            <a:custGeom>
              <a:avLst/>
              <a:gdLst>
                <a:gd name="T0" fmla="*/ 3169 w 3175"/>
                <a:gd name="T1" fmla="*/ 0 h 457200"/>
                <a:gd name="T2" fmla="*/ 0 w 3175"/>
                <a:gd name="T3" fmla="*/ 457199 h 457200"/>
              </a:gdLst>
              <a:ahLst/>
              <a:cxnLst>
                <a:cxn ang="0">
                  <a:pos x="T0" y="T1"/>
                </a:cxn>
                <a:cxn ang="0">
                  <a:pos x="T2" y="T3"/>
                </a:cxn>
              </a:cxnLst>
              <a:rect l="0" t="0" r="r" b="b"/>
              <a:pathLst>
                <a:path w="3175" h="457200">
                  <a:moveTo>
                    <a:pt x="3169" y="0"/>
                  </a:moveTo>
                  <a:lnTo>
                    <a:pt x="0" y="457199"/>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0501" name="object 20">
              <a:extLst>
                <a:ext uri="{FF2B5EF4-FFF2-40B4-BE49-F238E27FC236}">
                  <a16:creationId xmlns:a16="http://schemas.microsoft.com/office/drawing/2014/main" id="{92CAAD9E-506D-42C4-BB92-F3F906CCFEC3}"/>
                </a:ext>
              </a:extLst>
            </p:cNvPr>
            <p:cNvSpPr>
              <a:spLocks/>
            </p:cNvSpPr>
            <p:nvPr/>
          </p:nvSpPr>
          <p:spPr bwMode="auto">
            <a:xfrm>
              <a:off x="3200400" y="2539105"/>
              <a:ext cx="2209800" cy="103505"/>
            </a:xfrm>
            <a:custGeom>
              <a:avLst/>
              <a:gdLst>
                <a:gd name="T0" fmla="*/ 88635 w 2209800"/>
                <a:gd name="T1" fmla="*/ 0 h 103505"/>
                <a:gd name="T2" fmla="*/ 0 w 2209800"/>
                <a:gd name="T3" fmla="*/ 51694 h 103505"/>
                <a:gd name="T4" fmla="*/ 85587 w 2209800"/>
                <a:gd name="T5" fmla="*/ 101742 h 103505"/>
                <a:gd name="T6" fmla="*/ 88513 w 2209800"/>
                <a:gd name="T7" fmla="*/ 103510 h 103505"/>
                <a:gd name="T8" fmla="*/ 92445 w 2209800"/>
                <a:gd name="T9" fmla="*/ 102504 h 103505"/>
                <a:gd name="T10" fmla="*/ 94244 w 2209800"/>
                <a:gd name="T11" fmla="*/ 99456 h 103505"/>
                <a:gd name="T12" fmla="*/ 96012 w 2209800"/>
                <a:gd name="T13" fmla="*/ 96408 h 103505"/>
                <a:gd name="T14" fmla="*/ 95006 w 2209800"/>
                <a:gd name="T15" fmla="*/ 92445 h 103505"/>
                <a:gd name="T16" fmla="*/ 36016 w 2209800"/>
                <a:gd name="T17" fmla="*/ 58050 h 103505"/>
                <a:gd name="T18" fmla="*/ 12588 w 2209800"/>
                <a:gd name="T19" fmla="*/ 58033 h 103505"/>
                <a:gd name="T20" fmla="*/ 12588 w 2209800"/>
                <a:gd name="T21" fmla="*/ 45354 h 103505"/>
                <a:gd name="T22" fmla="*/ 36041 w 2209800"/>
                <a:gd name="T23" fmla="*/ 45354 h 103505"/>
                <a:gd name="T24" fmla="*/ 95006 w 2209800"/>
                <a:gd name="T25" fmla="*/ 11064 h 103505"/>
                <a:gd name="T26" fmla="*/ 96012 w 2209800"/>
                <a:gd name="T27" fmla="*/ 7101 h 103505"/>
                <a:gd name="T28" fmla="*/ 94244 w 2209800"/>
                <a:gd name="T29" fmla="*/ 4053 h 103505"/>
                <a:gd name="T30" fmla="*/ 92598 w 2209800"/>
                <a:gd name="T31" fmla="*/ 1005 h 103505"/>
                <a:gd name="T32" fmla="*/ 88635 w 2209800"/>
                <a:gd name="T33" fmla="*/ 0 h 103505"/>
                <a:gd name="T34" fmla="*/ 36013 w 2209800"/>
                <a:gd name="T35" fmla="*/ 45370 h 103505"/>
                <a:gd name="T36" fmla="*/ 25127 w 2209800"/>
                <a:gd name="T37" fmla="*/ 51701 h 103505"/>
                <a:gd name="T38" fmla="*/ 36016 w 2209800"/>
                <a:gd name="T39" fmla="*/ 58050 h 103505"/>
                <a:gd name="T40" fmla="*/ 2209800 w 2209800"/>
                <a:gd name="T41" fmla="*/ 59557 h 103505"/>
                <a:gd name="T42" fmla="*/ 2209800 w 2209800"/>
                <a:gd name="T43" fmla="*/ 46878 h 103505"/>
                <a:gd name="T44" fmla="*/ 36013 w 2209800"/>
                <a:gd name="T45" fmla="*/ 45370 h 103505"/>
                <a:gd name="T46" fmla="*/ 12588 w 2209800"/>
                <a:gd name="T47" fmla="*/ 45354 h 103505"/>
                <a:gd name="T48" fmla="*/ 12588 w 2209800"/>
                <a:gd name="T49" fmla="*/ 58033 h 103505"/>
                <a:gd name="T50" fmla="*/ 36016 w 2209800"/>
                <a:gd name="T51" fmla="*/ 58050 h 103505"/>
                <a:gd name="T52" fmla="*/ 34472 w 2209800"/>
                <a:gd name="T53" fmla="*/ 57150 h 103505"/>
                <a:gd name="T54" fmla="*/ 15758 w 2209800"/>
                <a:gd name="T55" fmla="*/ 57150 h 103505"/>
                <a:gd name="T56" fmla="*/ 15758 w 2209800"/>
                <a:gd name="T57" fmla="*/ 46238 h 103505"/>
                <a:gd name="T58" fmla="*/ 34521 w 2209800"/>
                <a:gd name="T59" fmla="*/ 46238 h 103505"/>
                <a:gd name="T60" fmla="*/ 36013 w 2209800"/>
                <a:gd name="T61" fmla="*/ 45370 h 103505"/>
                <a:gd name="T62" fmla="*/ 12588 w 2209800"/>
                <a:gd name="T63" fmla="*/ 45354 h 103505"/>
                <a:gd name="T64" fmla="*/ 15758 w 2209800"/>
                <a:gd name="T65" fmla="*/ 46238 h 103505"/>
                <a:gd name="T66" fmla="*/ 15758 w 2209800"/>
                <a:gd name="T67" fmla="*/ 57150 h 103505"/>
                <a:gd name="T68" fmla="*/ 25127 w 2209800"/>
                <a:gd name="T69" fmla="*/ 51701 h 103505"/>
                <a:gd name="T70" fmla="*/ 15758 w 2209800"/>
                <a:gd name="T71" fmla="*/ 46238 h 103505"/>
                <a:gd name="T72" fmla="*/ 25127 w 2209800"/>
                <a:gd name="T73" fmla="*/ 51701 h 103505"/>
                <a:gd name="T74" fmla="*/ 15758 w 2209800"/>
                <a:gd name="T75" fmla="*/ 57150 h 103505"/>
                <a:gd name="T76" fmla="*/ 34472 w 2209800"/>
                <a:gd name="T77" fmla="*/ 57150 h 103505"/>
                <a:gd name="T78" fmla="*/ 25127 w 2209800"/>
                <a:gd name="T79" fmla="*/ 51701 h 103505"/>
                <a:gd name="T80" fmla="*/ 34521 w 2209800"/>
                <a:gd name="T81" fmla="*/ 46238 h 103505"/>
                <a:gd name="T82" fmla="*/ 15758 w 2209800"/>
                <a:gd name="T83" fmla="*/ 46238 h 103505"/>
                <a:gd name="T84" fmla="*/ 25140 w 2209800"/>
                <a:gd name="T85" fmla="*/ 51694 h 103505"/>
                <a:gd name="T86" fmla="*/ 34521 w 2209800"/>
                <a:gd name="T87" fmla="*/ 46238 h 103505"/>
                <a:gd name="T88" fmla="*/ 36041 w 2209800"/>
                <a:gd name="T89" fmla="*/ 45354 h 103505"/>
                <a:gd name="T90" fmla="*/ 12588 w 2209800"/>
                <a:gd name="T91" fmla="*/ 45354 h 103505"/>
                <a:gd name="T92" fmla="*/ 36013 w 2209800"/>
                <a:gd name="T93" fmla="*/ 45370 h 103505"/>
                <a:gd name="T94" fmla="*/ 36041 w 2209800"/>
                <a:gd name="T95" fmla="*/ 45354 h 103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09800" h="103505">
                  <a:moveTo>
                    <a:pt x="88635" y="0"/>
                  </a:moveTo>
                  <a:lnTo>
                    <a:pt x="0" y="51694"/>
                  </a:lnTo>
                  <a:lnTo>
                    <a:pt x="85587" y="101742"/>
                  </a:lnTo>
                  <a:lnTo>
                    <a:pt x="88513" y="103510"/>
                  </a:lnTo>
                  <a:lnTo>
                    <a:pt x="92445" y="102504"/>
                  </a:lnTo>
                  <a:lnTo>
                    <a:pt x="94244" y="99456"/>
                  </a:lnTo>
                  <a:lnTo>
                    <a:pt x="96012" y="96408"/>
                  </a:lnTo>
                  <a:lnTo>
                    <a:pt x="95006" y="92445"/>
                  </a:lnTo>
                  <a:lnTo>
                    <a:pt x="36016" y="58050"/>
                  </a:lnTo>
                  <a:lnTo>
                    <a:pt x="12588" y="58033"/>
                  </a:lnTo>
                  <a:lnTo>
                    <a:pt x="12588" y="45354"/>
                  </a:lnTo>
                  <a:lnTo>
                    <a:pt x="36041" y="45354"/>
                  </a:lnTo>
                  <a:lnTo>
                    <a:pt x="95006" y="11064"/>
                  </a:lnTo>
                  <a:lnTo>
                    <a:pt x="96012" y="7101"/>
                  </a:lnTo>
                  <a:lnTo>
                    <a:pt x="94244" y="4053"/>
                  </a:lnTo>
                  <a:lnTo>
                    <a:pt x="92598" y="1005"/>
                  </a:lnTo>
                  <a:lnTo>
                    <a:pt x="88635" y="0"/>
                  </a:lnTo>
                  <a:close/>
                </a:path>
                <a:path w="2209800" h="103505">
                  <a:moveTo>
                    <a:pt x="36013" y="45370"/>
                  </a:moveTo>
                  <a:lnTo>
                    <a:pt x="25127" y="51701"/>
                  </a:lnTo>
                  <a:lnTo>
                    <a:pt x="36016" y="58050"/>
                  </a:lnTo>
                  <a:lnTo>
                    <a:pt x="2209800" y="59557"/>
                  </a:lnTo>
                  <a:lnTo>
                    <a:pt x="2209800" y="46878"/>
                  </a:lnTo>
                  <a:lnTo>
                    <a:pt x="36013" y="45370"/>
                  </a:lnTo>
                  <a:close/>
                </a:path>
                <a:path w="2209800" h="103505">
                  <a:moveTo>
                    <a:pt x="12588" y="45354"/>
                  </a:moveTo>
                  <a:lnTo>
                    <a:pt x="12588" y="58033"/>
                  </a:lnTo>
                  <a:lnTo>
                    <a:pt x="36016" y="58050"/>
                  </a:lnTo>
                  <a:lnTo>
                    <a:pt x="34472" y="57150"/>
                  </a:lnTo>
                  <a:lnTo>
                    <a:pt x="15758" y="57150"/>
                  </a:lnTo>
                  <a:lnTo>
                    <a:pt x="15758" y="46238"/>
                  </a:lnTo>
                  <a:lnTo>
                    <a:pt x="34521" y="46238"/>
                  </a:lnTo>
                  <a:lnTo>
                    <a:pt x="36013" y="45370"/>
                  </a:lnTo>
                  <a:lnTo>
                    <a:pt x="12588" y="45354"/>
                  </a:lnTo>
                  <a:close/>
                </a:path>
                <a:path w="2209800" h="103505">
                  <a:moveTo>
                    <a:pt x="15758" y="46238"/>
                  </a:moveTo>
                  <a:lnTo>
                    <a:pt x="15758" y="57150"/>
                  </a:lnTo>
                  <a:lnTo>
                    <a:pt x="25127" y="51701"/>
                  </a:lnTo>
                  <a:lnTo>
                    <a:pt x="15758" y="46238"/>
                  </a:lnTo>
                  <a:close/>
                </a:path>
                <a:path w="2209800" h="103505">
                  <a:moveTo>
                    <a:pt x="25127" y="51701"/>
                  </a:moveTo>
                  <a:lnTo>
                    <a:pt x="15758" y="57150"/>
                  </a:lnTo>
                  <a:lnTo>
                    <a:pt x="34472" y="57150"/>
                  </a:lnTo>
                  <a:lnTo>
                    <a:pt x="25127" y="51701"/>
                  </a:lnTo>
                  <a:close/>
                </a:path>
                <a:path w="2209800" h="103505">
                  <a:moveTo>
                    <a:pt x="34521" y="46238"/>
                  </a:moveTo>
                  <a:lnTo>
                    <a:pt x="15758" y="46238"/>
                  </a:lnTo>
                  <a:lnTo>
                    <a:pt x="25140" y="51694"/>
                  </a:lnTo>
                  <a:lnTo>
                    <a:pt x="34521" y="46238"/>
                  </a:lnTo>
                  <a:close/>
                </a:path>
                <a:path w="2209800" h="103505">
                  <a:moveTo>
                    <a:pt x="36041" y="45354"/>
                  </a:moveTo>
                  <a:lnTo>
                    <a:pt x="12588" y="45354"/>
                  </a:lnTo>
                  <a:lnTo>
                    <a:pt x="36013" y="45370"/>
                  </a:lnTo>
                  <a:lnTo>
                    <a:pt x="36041" y="453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grpSp>
      <p:grpSp>
        <p:nvGrpSpPr>
          <p:cNvPr id="20492" name="object 21">
            <a:extLst>
              <a:ext uri="{FF2B5EF4-FFF2-40B4-BE49-F238E27FC236}">
                <a16:creationId xmlns:a16="http://schemas.microsoft.com/office/drawing/2014/main" id="{81F43FCA-1777-4A3D-8D42-5B38CBDCFF74}"/>
              </a:ext>
            </a:extLst>
          </p:cNvPr>
          <p:cNvGrpSpPr>
            <a:grpSpLocks/>
          </p:cNvGrpSpPr>
          <p:nvPr/>
        </p:nvGrpSpPr>
        <p:grpSpPr bwMode="auto">
          <a:xfrm>
            <a:off x="4572000" y="2128838"/>
            <a:ext cx="2979738" cy="1504950"/>
            <a:chOff x="3048000" y="2128774"/>
            <a:chExt cx="2980055" cy="1504315"/>
          </a:xfrm>
        </p:grpSpPr>
        <p:sp>
          <p:nvSpPr>
            <p:cNvPr id="20498" name="object 22">
              <a:extLst>
                <a:ext uri="{FF2B5EF4-FFF2-40B4-BE49-F238E27FC236}">
                  <a16:creationId xmlns:a16="http://schemas.microsoft.com/office/drawing/2014/main" id="{AD2203F3-328C-497C-AA29-D4D62C5BF2E2}"/>
                </a:ext>
              </a:extLst>
            </p:cNvPr>
            <p:cNvSpPr>
              <a:spLocks/>
            </p:cNvSpPr>
            <p:nvPr/>
          </p:nvSpPr>
          <p:spPr bwMode="auto">
            <a:xfrm>
              <a:off x="6018275" y="2135124"/>
              <a:ext cx="3175" cy="1447800"/>
            </a:xfrm>
            <a:custGeom>
              <a:avLst/>
              <a:gdLst>
                <a:gd name="T0" fmla="*/ 3169 w 3175"/>
                <a:gd name="T1" fmla="*/ 0 h 1447800"/>
                <a:gd name="T2" fmla="*/ 0 w 3175"/>
                <a:gd name="T3" fmla="*/ 1447799 h 1447800"/>
              </a:gdLst>
              <a:ahLst/>
              <a:cxnLst>
                <a:cxn ang="0">
                  <a:pos x="T0" y="T1"/>
                </a:cxn>
                <a:cxn ang="0">
                  <a:pos x="T2" y="T3"/>
                </a:cxn>
              </a:cxnLst>
              <a:rect l="0" t="0" r="r" b="b"/>
              <a:pathLst>
                <a:path w="3175" h="1447800">
                  <a:moveTo>
                    <a:pt x="3169" y="0"/>
                  </a:moveTo>
                  <a:lnTo>
                    <a:pt x="0" y="1447799"/>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0499" name="object 23">
              <a:extLst>
                <a:ext uri="{FF2B5EF4-FFF2-40B4-BE49-F238E27FC236}">
                  <a16:creationId xmlns:a16="http://schemas.microsoft.com/office/drawing/2014/main" id="{AD43344D-A5FC-481C-AD8E-578010685148}"/>
                </a:ext>
              </a:extLst>
            </p:cNvPr>
            <p:cNvSpPr>
              <a:spLocks/>
            </p:cNvSpPr>
            <p:nvPr/>
          </p:nvSpPr>
          <p:spPr bwMode="auto">
            <a:xfrm>
              <a:off x="3048000" y="3529705"/>
              <a:ext cx="2971800" cy="103505"/>
            </a:xfrm>
            <a:custGeom>
              <a:avLst/>
              <a:gdLst>
                <a:gd name="T0" fmla="*/ 88635 w 2971800"/>
                <a:gd name="T1" fmla="*/ 0 h 103504"/>
                <a:gd name="T2" fmla="*/ 0 w 2971800"/>
                <a:gd name="T3" fmla="*/ 51694 h 103504"/>
                <a:gd name="T4" fmla="*/ 85587 w 2971800"/>
                <a:gd name="T5" fmla="*/ 101742 h 103504"/>
                <a:gd name="T6" fmla="*/ 88513 w 2971800"/>
                <a:gd name="T7" fmla="*/ 103388 h 103504"/>
                <a:gd name="T8" fmla="*/ 92445 w 2971800"/>
                <a:gd name="T9" fmla="*/ 102351 h 103504"/>
                <a:gd name="T10" fmla="*/ 94244 w 2971800"/>
                <a:gd name="T11" fmla="*/ 99456 h 103504"/>
                <a:gd name="T12" fmla="*/ 96012 w 2971800"/>
                <a:gd name="T13" fmla="*/ 96408 h 103504"/>
                <a:gd name="T14" fmla="*/ 95006 w 2971800"/>
                <a:gd name="T15" fmla="*/ 92445 h 103504"/>
                <a:gd name="T16" fmla="*/ 36009 w 2971800"/>
                <a:gd name="T17" fmla="*/ 58045 h 103504"/>
                <a:gd name="T18" fmla="*/ 12588 w 2971800"/>
                <a:gd name="T19" fmla="*/ 58033 h 103504"/>
                <a:gd name="T20" fmla="*/ 12588 w 2971800"/>
                <a:gd name="T21" fmla="*/ 45354 h 103504"/>
                <a:gd name="T22" fmla="*/ 36041 w 2971800"/>
                <a:gd name="T23" fmla="*/ 45354 h 103504"/>
                <a:gd name="T24" fmla="*/ 95006 w 2971800"/>
                <a:gd name="T25" fmla="*/ 11064 h 103504"/>
                <a:gd name="T26" fmla="*/ 96012 w 2971800"/>
                <a:gd name="T27" fmla="*/ 7101 h 103504"/>
                <a:gd name="T28" fmla="*/ 94244 w 2971800"/>
                <a:gd name="T29" fmla="*/ 4053 h 103504"/>
                <a:gd name="T30" fmla="*/ 92445 w 2971800"/>
                <a:gd name="T31" fmla="*/ 1005 h 103504"/>
                <a:gd name="T32" fmla="*/ 88635 w 2971800"/>
                <a:gd name="T33" fmla="*/ 0 h 103504"/>
                <a:gd name="T34" fmla="*/ 36021 w 2971800"/>
                <a:gd name="T35" fmla="*/ 45366 h 103504"/>
                <a:gd name="T36" fmla="*/ 25127 w 2971800"/>
                <a:gd name="T37" fmla="*/ 51701 h 103504"/>
                <a:gd name="T38" fmla="*/ 36009 w 2971800"/>
                <a:gd name="T39" fmla="*/ 58045 h 103504"/>
                <a:gd name="T40" fmla="*/ 2971800 w 2971800"/>
                <a:gd name="T41" fmla="*/ 59557 h 103504"/>
                <a:gd name="T42" fmla="*/ 2971800 w 2971800"/>
                <a:gd name="T43" fmla="*/ 46878 h 103504"/>
                <a:gd name="T44" fmla="*/ 36021 w 2971800"/>
                <a:gd name="T45" fmla="*/ 45366 h 103504"/>
                <a:gd name="T46" fmla="*/ 12588 w 2971800"/>
                <a:gd name="T47" fmla="*/ 45354 h 103504"/>
                <a:gd name="T48" fmla="*/ 12588 w 2971800"/>
                <a:gd name="T49" fmla="*/ 58033 h 103504"/>
                <a:gd name="T50" fmla="*/ 36009 w 2971800"/>
                <a:gd name="T51" fmla="*/ 58045 h 103504"/>
                <a:gd name="T52" fmla="*/ 34472 w 2971800"/>
                <a:gd name="T53" fmla="*/ 57150 h 103504"/>
                <a:gd name="T54" fmla="*/ 15758 w 2971800"/>
                <a:gd name="T55" fmla="*/ 57150 h 103504"/>
                <a:gd name="T56" fmla="*/ 15758 w 2971800"/>
                <a:gd name="T57" fmla="*/ 46238 h 103504"/>
                <a:gd name="T58" fmla="*/ 34521 w 2971800"/>
                <a:gd name="T59" fmla="*/ 46238 h 103504"/>
                <a:gd name="T60" fmla="*/ 36021 w 2971800"/>
                <a:gd name="T61" fmla="*/ 45366 h 103504"/>
                <a:gd name="T62" fmla="*/ 12588 w 2971800"/>
                <a:gd name="T63" fmla="*/ 45354 h 103504"/>
                <a:gd name="T64" fmla="*/ 15758 w 2971800"/>
                <a:gd name="T65" fmla="*/ 46238 h 103504"/>
                <a:gd name="T66" fmla="*/ 15758 w 2971800"/>
                <a:gd name="T67" fmla="*/ 57150 h 103504"/>
                <a:gd name="T68" fmla="*/ 25127 w 2971800"/>
                <a:gd name="T69" fmla="*/ 51701 h 103504"/>
                <a:gd name="T70" fmla="*/ 15758 w 2971800"/>
                <a:gd name="T71" fmla="*/ 46238 h 103504"/>
                <a:gd name="T72" fmla="*/ 25127 w 2971800"/>
                <a:gd name="T73" fmla="*/ 51701 h 103504"/>
                <a:gd name="T74" fmla="*/ 15758 w 2971800"/>
                <a:gd name="T75" fmla="*/ 57150 h 103504"/>
                <a:gd name="T76" fmla="*/ 34472 w 2971800"/>
                <a:gd name="T77" fmla="*/ 57150 h 103504"/>
                <a:gd name="T78" fmla="*/ 25127 w 2971800"/>
                <a:gd name="T79" fmla="*/ 51701 h 103504"/>
                <a:gd name="T80" fmla="*/ 34521 w 2971800"/>
                <a:gd name="T81" fmla="*/ 46238 h 103504"/>
                <a:gd name="T82" fmla="*/ 15758 w 2971800"/>
                <a:gd name="T83" fmla="*/ 46238 h 103504"/>
                <a:gd name="T84" fmla="*/ 25140 w 2971800"/>
                <a:gd name="T85" fmla="*/ 51694 h 103504"/>
                <a:gd name="T86" fmla="*/ 34521 w 2971800"/>
                <a:gd name="T87" fmla="*/ 46238 h 103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971800" h="103504">
                  <a:moveTo>
                    <a:pt x="88635" y="0"/>
                  </a:moveTo>
                  <a:lnTo>
                    <a:pt x="0" y="51694"/>
                  </a:lnTo>
                  <a:lnTo>
                    <a:pt x="85587" y="101742"/>
                  </a:lnTo>
                  <a:lnTo>
                    <a:pt x="88513" y="103388"/>
                  </a:lnTo>
                  <a:lnTo>
                    <a:pt x="92445" y="102351"/>
                  </a:lnTo>
                  <a:lnTo>
                    <a:pt x="94244" y="99456"/>
                  </a:lnTo>
                  <a:lnTo>
                    <a:pt x="96012" y="96408"/>
                  </a:lnTo>
                  <a:lnTo>
                    <a:pt x="95006" y="92445"/>
                  </a:lnTo>
                  <a:lnTo>
                    <a:pt x="36009" y="58045"/>
                  </a:lnTo>
                  <a:lnTo>
                    <a:pt x="12588" y="58033"/>
                  </a:lnTo>
                  <a:lnTo>
                    <a:pt x="12588" y="45354"/>
                  </a:lnTo>
                  <a:lnTo>
                    <a:pt x="36041" y="45354"/>
                  </a:lnTo>
                  <a:lnTo>
                    <a:pt x="95006" y="11064"/>
                  </a:lnTo>
                  <a:lnTo>
                    <a:pt x="96012" y="7101"/>
                  </a:lnTo>
                  <a:lnTo>
                    <a:pt x="94244" y="4053"/>
                  </a:lnTo>
                  <a:lnTo>
                    <a:pt x="92445" y="1005"/>
                  </a:lnTo>
                  <a:lnTo>
                    <a:pt x="88635" y="0"/>
                  </a:lnTo>
                  <a:close/>
                </a:path>
                <a:path w="2971800" h="103504">
                  <a:moveTo>
                    <a:pt x="36021" y="45366"/>
                  </a:moveTo>
                  <a:lnTo>
                    <a:pt x="25127" y="51701"/>
                  </a:lnTo>
                  <a:lnTo>
                    <a:pt x="36009" y="58045"/>
                  </a:lnTo>
                  <a:lnTo>
                    <a:pt x="2971800" y="59557"/>
                  </a:lnTo>
                  <a:lnTo>
                    <a:pt x="2971800" y="46878"/>
                  </a:lnTo>
                  <a:lnTo>
                    <a:pt x="36021" y="45366"/>
                  </a:lnTo>
                  <a:close/>
                </a:path>
                <a:path w="2971800" h="103504">
                  <a:moveTo>
                    <a:pt x="12588" y="45354"/>
                  </a:moveTo>
                  <a:lnTo>
                    <a:pt x="12588" y="58033"/>
                  </a:lnTo>
                  <a:lnTo>
                    <a:pt x="36009" y="58045"/>
                  </a:lnTo>
                  <a:lnTo>
                    <a:pt x="34472" y="57150"/>
                  </a:lnTo>
                  <a:lnTo>
                    <a:pt x="15758" y="57150"/>
                  </a:lnTo>
                  <a:lnTo>
                    <a:pt x="15758" y="46238"/>
                  </a:lnTo>
                  <a:lnTo>
                    <a:pt x="34521" y="46238"/>
                  </a:lnTo>
                  <a:lnTo>
                    <a:pt x="36021" y="45366"/>
                  </a:lnTo>
                  <a:lnTo>
                    <a:pt x="12588" y="45354"/>
                  </a:lnTo>
                  <a:close/>
                </a:path>
                <a:path w="2971800" h="103504">
                  <a:moveTo>
                    <a:pt x="15758" y="46238"/>
                  </a:moveTo>
                  <a:lnTo>
                    <a:pt x="15758" y="57150"/>
                  </a:lnTo>
                  <a:lnTo>
                    <a:pt x="25127" y="51701"/>
                  </a:lnTo>
                  <a:lnTo>
                    <a:pt x="15758" y="46238"/>
                  </a:lnTo>
                  <a:close/>
                </a:path>
                <a:path w="2971800" h="103504">
                  <a:moveTo>
                    <a:pt x="25127" y="51701"/>
                  </a:moveTo>
                  <a:lnTo>
                    <a:pt x="15758" y="57150"/>
                  </a:lnTo>
                  <a:lnTo>
                    <a:pt x="34472" y="57150"/>
                  </a:lnTo>
                  <a:lnTo>
                    <a:pt x="25127" y="51701"/>
                  </a:lnTo>
                  <a:close/>
                </a:path>
                <a:path w="2971800" h="103504">
                  <a:moveTo>
                    <a:pt x="34521" y="46238"/>
                  </a:moveTo>
                  <a:lnTo>
                    <a:pt x="15758" y="46238"/>
                  </a:lnTo>
                  <a:lnTo>
                    <a:pt x="25140" y="51694"/>
                  </a:lnTo>
                  <a:lnTo>
                    <a:pt x="34521" y="462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grpSp>
      <p:grpSp>
        <p:nvGrpSpPr>
          <p:cNvPr id="20493" name="object 24">
            <a:extLst>
              <a:ext uri="{FF2B5EF4-FFF2-40B4-BE49-F238E27FC236}">
                <a16:creationId xmlns:a16="http://schemas.microsoft.com/office/drawing/2014/main" id="{2846E593-8265-4BD1-8B2F-A582D5B07FDC}"/>
              </a:ext>
            </a:extLst>
          </p:cNvPr>
          <p:cNvGrpSpPr>
            <a:grpSpLocks/>
          </p:cNvGrpSpPr>
          <p:nvPr/>
        </p:nvGrpSpPr>
        <p:grpSpPr bwMode="auto">
          <a:xfrm>
            <a:off x="4724400" y="2128838"/>
            <a:ext cx="4046538" cy="2495550"/>
            <a:chOff x="3200400" y="2128774"/>
            <a:chExt cx="4046854" cy="2494915"/>
          </a:xfrm>
        </p:grpSpPr>
        <p:sp>
          <p:nvSpPr>
            <p:cNvPr id="20496" name="object 25">
              <a:extLst>
                <a:ext uri="{FF2B5EF4-FFF2-40B4-BE49-F238E27FC236}">
                  <a16:creationId xmlns:a16="http://schemas.microsoft.com/office/drawing/2014/main" id="{2B11068C-DD6E-4131-96CE-017A25EE580B}"/>
                </a:ext>
              </a:extLst>
            </p:cNvPr>
            <p:cNvSpPr>
              <a:spLocks/>
            </p:cNvSpPr>
            <p:nvPr/>
          </p:nvSpPr>
          <p:spPr bwMode="auto">
            <a:xfrm>
              <a:off x="7237475" y="2135124"/>
              <a:ext cx="3175" cy="2438400"/>
            </a:xfrm>
            <a:custGeom>
              <a:avLst/>
              <a:gdLst>
                <a:gd name="T0" fmla="*/ 3169 w 3175"/>
                <a:gd name="T1" fmla="*/ 0 h 2438400"/>
                <a:gd name="T2" fmla="*/ 0 w 3175"/>
                <a:gd name="T3" fmla="*/ 2438399 h 2438400"/>
              </a:gdLst>
              <a:ahLst/>
              <a:cxnLst>
                <a:cxn ang="0">
                  <a:pos x="T0" y="T1"/>
                </a:cxn>
                <a:cxn ang="0">
                  <a:pos x="T2" y="T3"/>
                </a:cxn>
              </a:cxnLst>
              <a:rect l="0" t="0" r="r" b="b"/>
              <a:pathLst>
                <a:path w="3175" h="2438400">
                  <a:moveTo>
                    <a:pt x="3169" y="0"/>
                  </a:moveTo>
                  <a:lnTo>
                    <a:pt x="0" y="2438399"/>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0497" name="object 26">
              <a:extLst>
                <a:ext uri="{FF2B5EF4-FFF2-40B4-BE49-F238E27FC236}">
                  <a16:creationId xmlns:a16="http://schemas.microsoft.com/office/drawing/2014/main" id="{EFB8100F-CBA2-4F5A-AC11-79436280BDC6}"/>
                </a:ext>
              </a:extLst>
            </p:cNvPr>
            <p:cNvSpPr>
              <a:spLocks/>
            </p:cNvSpPr>
            <p:nvPr/>
          </p:nvSpPr>
          <p:spPr bwMode="auto">
            <a:xfrm>
              <a:off x="3200400" y="4520314"/>
              <a:ext cx="4038600" cy="103505"/>
            </a:xfrm>
            <a:custGeom>
              <a:avLst/>
              <a:gdLst>
                <a:gd name="T0" fmla="*/ 88635 w 4038600"/>
                <a:gd name="T1" fmla="*/ 0 h 103504"/>
                <a:gd name="T2" fmla="*/ 0 w 4038600"/>
                <a:gd name="T3" fmla="*/ 51684 h 103504"/>
                <a:gd name="T4" fmla="*/ 88635 w 4038600"/>
                <a:gd name="T5" fmla="*/ 103369 h 103504"/>
                <a:gd name="T6" fmla="*/ 92445 w 4038600"/>
                <a:gd name="T7" fmla="*/ 102357 h 103504"/>
                <a:gd name="T8" fmla="*/ 94244 w 4038600"/>
                <a:gd name="T9" fmla="*/ 99309 h 103504"/>
                <a:gd name="T10" fmla="*/ 96012 w 4038600"/>
                <a:gd name="T11" fmla="*/ 96393 h 103504"/>
                <a:gd name="T12" fmla="*/ 95006 w 4038600"/>
                <a:gd name="T13" fmla="*/ 92451 h 103504"/>
                <a:gd name="T14" fmla="*/ 36019 w 4038600"/>
                <a:gd name="T15" fmla="*/ 58039 h 103504"/>
                <a:gd name="T16" fmla="*/ 12435 w 4038600"/>
                <a:gd name="T17" fmla="*/ 58030 h 103504"/>
                <a:gd name="T18" fmla="*/ 12435 w 4038600"/>
                <a:gd name="T19" fmla="*/ 45339 h 103504"/>
                <a:gd name="T20" fmla="*/ 36001 w 4038600"/>
                <a:gd name="T21" fmla="*/ 45339 h 103504"/>
                <a:gd name="T22" fmla="*/ 91958 w 4038600"/>
                <a:gd name="T23" fmla="*/ 12691 h 103504"/>
                <a:gd name="T24" fmla="*/ 95006 w 4038600"/>
                <a:gd name="T25" fmla="*/ 11049 h 103504"/>
                <a:gd name="T26" fmla="*/ 96012 w 4038600"/>
                <a:gd name="T27" fmla="*/ 7107 h 103504"/>
                <a:gd name="T28" fmla="*/ 94244 w 4038600"/>
                <a:gd name="T29" fmla="*/ 4059 h 103504"/>
                <a:gd name="T30" fmla="*/ 92445 w 4038600"/>
                <a:gd name="T31" fmla="*/ 1011 h 103504"/>
                <a:gd name="T32" fmla="*/ 88635 w 4038600"/>
                <a:gd name="T33" fmla="*/ 0 h 103504"/>
                <a:gd name="T34" fmla="*/ 35986 w 4038600"/>
                <a:gd name="T35" fmla="*/ 45347 h 103504"/>
                <a:gd name="T36" fmla="*/ 25125 w 4038600"/>
                <a:gd name="T37" fmla="*/ 51684 h 103504"/>
                <a:gd name="T38" fmla="*/ 36019 w 4038600"/>
                <a:gd name="T39" fmla="*/ 58039 h 103504"/>
                <a:gd name="T40" fmla="*/ 4038600 w 4038600"/>
                <a:gd name="T41" fmla="*/ 59554 h 103504"/>
                <a:gd name="T42" fmla="*/ 4038600 w 4038600"/>
                <a:gd name="T43" fmla="*/ 46863 h 103504"/>
                <a:gd name="T44" fmla="*/ 35986 w 4038600"/>
                <a:gd name="T45" fmla="*/ 45347 h 103504"/>
                <a:gd name="T46" fmla="*/ 12435 w 4038600"/>
                <a:gd name="T47" fmla="*/ 45339 h 103504"/>
                <a:gd name="T48" fmla="*/ 12435 w 4038600"/>
                <a:gd name="T49" fmla="*/ 58030 h 103504"/>
                <a:gd name="T50" fmla="*/ 36019 w 4038600"/>
                <a:gd name="T51" fmla="*/ 58039 h 103504"/>
                <a:gd name="T52" fmla="*/ 34493 w 4038600"/>
                <a:gd name="T53" fmla="*/ 57150 h 103504"/>
                <a:gd name="T54" fmla="*/ 15758 w 4038600"/>
                <a:gd name="T55" fmla="*/ 57150 h 103504"/>
                <a:gd name="T56" fmla="*/ 15758 w 4038600"/>
                <a:gd name="T57" fmla="*/ 46219 h 103504"/>
                <a:gd name="T58" fmla="*/ 34492 w 4038600"/>
                <a:gd name="T59" fmla="*/ 46219 h 103504"/>
                <a:gd name="T60" fmla="*/ 35986 w 4038600"/>
                <a:gd name="T61" fmla="*/ 45347 h 103504"/>
                <a:gd name="T62" fmla="*/ 12435 w 4038600"/>
                <a:gd name="T63" fmla="*/ 45339 h 103504"/>
                <a:gd name="T64" fmla="*/ 15758 w 4038600"/>
                <a:gd name="T65" fmla="*/ 46219 h 103504"/>
                <a:gd name="T66" fmla="*/ 15758 w 4038600"/>
                <a:gd name="T67" fmla="*/ 57150 h 103504"/>
                <a:gd name="T68" fmla="*/ 25125 w 4038600"/>
                <a:gd name="T69" fmla="*/ 51684 h 103504"/>
                <a:gd name="T70" fmla="*/ 15758 w 4038600"/>
                <a:gd name="T71" fmla="*/ 46219 h 103504"/>
                <a:gd name="T72" fmla="*/ 25125 w 4038600"/>
                <a:gd name="T73" fmla="*/ 51684 h 103504"/>
                <a:gd name="T74" fmla="*/ 15758 w 4038600"/>
                <a:gd name="T75" fmla="*/ 57150 h 103504"/>
                <a:gd name="T76" fmla="*/ 34493 w 4038600"/>
                <a:gd name="T77" fmla="*/ 57150 h 103504"/>
                <a:gd name="T78" fmla="*/ 25125 w 4038600"/>
                <a:gd name="T79" fmla="*/ 51684 h 103504"/>
                <a:gd name="T80" fmla="*/ 34492 w 4038600"/>
                <a:gd name="T81" fmla="*/ 46219 h 103504"/>
                <a:gd name="T82" fmla="*/ 15758 w 4038600"/>
                <a:gd name="T83" fmla="*/ 46219 h 103504"/>
                <a:gd name="T84" fmla="*/ 25125 w 4038600"/>
                <a:gd name="T85" fmla="*/ 51684 h 103504"/>
                <a:gd name="T86" fmla="*/ 34492 w 4038600"/>
                <a:gd name="T87" fmla="*/ 46219 h 103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038600" h="103504">
                  <a:moveTo>
                    <a:pt x="88635" y="0"/>
                  </a:moveTo>
                  <a:lnTo>
                    <a:pt x="0" y="51684"/>
                  </a:lnTo>
                  <a:lnTo>
                    <a:pt x="88635" y="103369"/>
                  </a:lnTo>
                  <a:lnTo>
                    <a:pt x="92445" y="102357"/>
                  </a:lnTo>
                  <a:lnTo>
                    <a:pt x="94244" y="99309"/>
                  </a:lnTo>
                  <a:lnTo>
                    <a:pt x="96012" y="96393"/>
                  </a:lnTo>
                  <a:lnTo>
                    <a:pt x="95006" y="92451"/>
                  </a:lnTo>
                  <a:lnTo>
                    <a:pt x="36019" y="58039"/>
                  </a:lnTo>
                  <a:lnTo>
                    <a:pt x="12435" y="58030"/>
                  </a:lnTo>
                  <a:lnTo>
                    <a:pt x="12435" y="45339"/>
                  </a:lnTo>
                  <a:lnTo>
                    <a:pt x="36001" y="45339"/>
                  </a:lnTo>
                  <a:lnTo>
                    <a:pt x="91958" y="12691"/>
                  </a:lnTo>
                  <a:lnTo>
                    <a:pt x="95006" y="11049"/>
                  </a:lnTo>
                  <a:lnTo>
                    <a:pt x="96012" y="7107"/>
                  </a:lnTo>
                  <a:lnTo>
                    <a:pt x="94244" y="4059"/>
                  </a:lnTo>
                  <a:lnTo>
                    <a:pt x="92445" y="1011"/>
                  </a:lnTo>
                  <a:lnTo>
                    <a:pt x="88635" y="0"/>
                  </a:lnTo>
                  <a:close/>
                </a:path>
                <a:path w="4038600" h="103504">
                  <a:moveTo>
                    <a:pt x="35986" y="45347"/>
                  </a:moveTo>
                  <a:lnTo>
                    <a:pt x="25125" y="51684"/>
                  </a:lnTo>
                  <a:lnTo>
                    <a:pt x="36019" y="58039"/>
                  </a:lnTo>
                  <a:lnTo>
                    <a:pt x="4038600" y="59554"/>
                  </a:lnTo>
                  <a:lnTo>
                    <a:pt x="4038600" y="46863"/>
                  </a:lnTo>
                  <a:lnTo>
                    <a:pt x="35986" y="45347"/>
                  </a:lnTo>
                  <a:close/>
                </a:path>
                <a:path w="4038600" h="103504">
                  <a:moveTo>
                    <a:pt x="12435" y="45339"/>
                  </a:moveTo>
                  <a:lnTo>
                    <a:pt x="12435" y="58030"/>
                  </a:lnTo>
                  <a:lnTo>
                    <a:pt x="36019" y="58039"/>
                  </a:lnTo>
                  <a:lnTo>
                    <a:pt x="34493" y="57150"/>
                  </a:lnTo>
                  <a:lnTo>
                    <a:pt x="15758" y="57150"/>
                  </a:lnTo>
                  <a:lnTo>
                    <a:pt x="15758" y="46219"/>
                  </a:lnTo>
                  <a:lnTo>
                    <a:pt x="34492" y="46219"/>
                  </a:lnTo>
                  <a:lnTo>
                    <a:pt x="35986" y="45347"/>
                  </a:lnTo>
                  <a:lnTo>
                    <a:pt x="12435" y="45339"/>
                  </a:lnTo>
                  <a:close/>
                </a:path>
                <a:path w="4038600" h="103504">
                  <a:moveTo>
                    <a:pt x="15758" y="46219"/>
                  </a:moveTo>
                  <a:lnTo>
                    <a:pt x="15758" y="57150"/>
                  </a:lnTo>
                  <a:lnTo>
                    <a:pt x="25125" y="51684"/>
                  </a:lnTo>
                  <a:lnTo>
                    <a:pt x="15758" y="46219"/>
                  </a:lnTo>
                  <a:close/>
                </a:path>
                <a:path w="4038600" h="103504">
                  <a:moveTo>
                    <a:pt x="25125" y="51684"/>
                  </a:moveTo>
                  <a:lnTo>
                    <a:pt x="15758" y="57150"/>
                  </a:lnTo>
                  <a:lnTo>
                    <a:pt x="34493" y="57150"/>
                  </a:lnTo>
                  <a:lnTo>
                    <a:pt x="25125" y="51684"/>
                  </a:lnTo>
                  <a:close/>
                </a:path>
                <a:path w="4038600" h="103504">
                  <a:moveTo>
                    <a:pt x="34492" y="46219"/>
                  </a:moveTo>
                  <a:lnTo>
                    <a:pt x="15758" y="46219"/>
                  </a:lnTo>
                  <a:lnTo>
                    <a:pt x="25125" y="51684"/>
                  </a:lnTo>
                  <a:lnTo>
                    <a:pt x="34492" y="462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grpSp>
      <p:sp>
        <p:nvSpPr>
          <p:cNvPr id="27" name="object 27">
            <a:extLst>
              <a:ext uri="{FF2B5EF4-FFF2-40B4-BE49-F238E27FC236}">
                <a16:creationId xmlns:a16="http://schemas.microsoft.com/office/drawing/2014/main" id="{FCB62CB3-0092-445A-A2F6-DA86AC445A95}"/>
              </a:ext>
            </a:extLst>
          </p:cNvPr>
          <p:cNvSpPr txBox="1"/>
          <p:nvPr/>
        </p:nvSpPr>
        <p:spPr>
          <a:xfrm>
            <a:off x="3589338" y="2028825"/>
            <a:ext cx="3162300" cy="2808288"/>
          </a:xfrm>
          <a:prstGeom prst="rect">
            <a:avLst/>
          </a:prstGeom>
        </p:spPr>
        <p:txBody>
          <a:bodyPr lIns="0" tIns="67310" rIns="0" bIns="0">
            <a:spAutoFit/>
          </a:bodyPr>
          <a:lstStyle/>
          <a:p>
            <a:pPr marL="1616075" eaLnBrk="1" fontAlgn="auto" hangingPunct="1">
              <a:spcBef>
                <a:spcPts val="530"/>
              </a:spcBef>
              <a:spcAft>
                <a:spcPts val="0"/>
              </a:spcAft>
              <a:defRPr/>
            </a:pPr>
            <a:r>
              <a:rPr sz="2400" kern="0" dirty="0">
                <a:solidFill>
                  <a:sysClr val="windowText" lastClr="000000"/>
                </a:solidFill>
                <a:latin typeface="Arial"/>
                <a:cs typeface="Arial"/>
              </a:rPr>
              <a:t>one</a:t>
            </a:r>
            <a:r>
              <a:rPr sz="2400" kern="0" spc="35" dirty="0">
                <a:solidFill>
                  <a:sysClr val="windowText" lastClr="000000"/>
                </a:solidFill>
                <a:latin typeface="Times New Roman"/>
                <a:cs typeface="Times New Roman"/>
              </a:rPr>
              <a:t> </a:t>
            </a:r>
            <a:r>
              <a:rPr sz="2400" kern="0" spc="-10" dirty="0">
                <a:solidFill>
                  <a:sysClr val="windowText" lastClr="000000"/>
                </a:solidFill>
                <a:latin typeface="Arial"/>
                <a:cs typeface="Arial"/>
              </a:rPr>
              <a:t>block</a:t>
            </a:r>
            <a:endParaRPr sz="2400" kern="0">
              <a:solidFill>
                <a:sysClr val="windowText" lastClr="000000"/>
              </a:solidFill>
              <a:latin typeface="Arial"/>
              <a:cs typeface="Arial"/>
            </a:endParaRPr>
          </a:p>
          <a:p>
            <a:pPr marL="52705" eaLnBrk="1" fontAlgn="auto" hangingPunct="1">
              <a:spcBef>
                <a:spcPts val="434"/>
              </a:spcBef>
              <a:spcAft>
                <a:spcPts val="0"/>
              </a:spcAft>
              <a:defRPr/>
            </a:pPr>
            <a:r>
              <a:rPr sz="2400" kern="0" spc="-10" dirty="0">
                <a:solidFill>
                  <a:sysClr val="windowText" lastClr="000000"/>
                </a:solidFill>
                <a:latin typeface="Arial"/>
                <a:cs typeface="Arial"/>
              </a:rPr>
              <a:t>digest</a:t>
            </a:r>
            <a:endParaRPr sz="2400" kern="0">
              <a:solidFill>
                <a:sysClr val="windowText" lastClr="000000"/>
              </a:solidFill>
              <a:latin typeface="Arial"/>
              <a:cs typeface="Arial"/>
            </a:endParaRPr>
          </a:p>
          <a:p>
            <a:pPr marL="1692275" eaLnBrk="1" fontAlgn="auto" hangingPunct="1">
              <a:spcBef>
                <a:spcPts val="1010"/>
              </a:spcBef>
              <a:spcAft>
                <a:spcPts val="0"/>
              </a:spcAft>
              <a:defRPr/>
            </a:pPr>
            <a:r>
              <a:rPr sz="2400" kern="0" dirty="0">
                <a:solidFill>
                  <a:sysClr val="windowText" lastClr="000000"/>
                </a:solidFill>
                <a:latin typeface="Arial"/>
                <a:cs typeface="Arial"/>
              </a:rPr>
              <a:t>one</a:t>
            </a:r>
            <a:r>
              <a:rPr sz="2400" kern="0" spc="50" dirty="0">
                <a:solidFill>
                  <a:sysClr val="windowText" lastClr="000000"/>
                </a:solidFill>
                <a:latin typeface="Times New Roman"/>
                <a:cs typeface="Times New Roman"/>
              </a:rPr>
              <a:t> </a:t>
            </a:r>
            <a:r>
              <a:rPr sz="2400" kern="0" spc="-10" dirty="0">
                <a:solidFill>
                  <a:sysClr val="windowText" lastClr="000000"/>
                </a:solidFill>
                <a:latin typeface="Arial"/>
                <a:cs typeface="Arial"/>
              </a:rPr>
              <a:t>block</a:t>
            </a:r>
            <a:endParaRPr sz="2400" kern="0">
              <a:solidFill>
                <a:sysClr val="windowText" lastClr="000000"/>
              </a:solidFill>
              <a:latin typeface="Arial"/>
              <a:cs typeface="Arial"/>
            </a:endParaRPr>
          </a:p>
          <a:p>
            <a:pPr marL="12700" eaLnBrk="1" fontAlgn="auto" hangingPunct="1">
              <a:spcBef>
                <a:spcPts val="720"/>
              </a:spcBef>
              <a:spcAft>
                <a:spcPts val="0"/>
              </a:spcAft>
              <a:defRPr/>
            </a:pPr>
            <a:r>
              <a:rPr sz="2400" kern="0" spc="-10" dirty="0">
                <a:solidFill>
                  <a:sysClr val="windowText" lastClr="000000"/>
                </a:solidFill>
                <a:latin typeface="Arial"/>
                <a:cs typeface="Arial"/>
              </a:rPr>
              <a:t>digest</a:t>
            </a:r>
            <a:endParaRPr sz="2400" kern="0">
              <a:solidFill>
                <a:sysClr val="windowText" lastClr="000000"/>
              </a:solidFill>
              <a:latin typeface="Arial"/>
              <a:cs typeface="Arial"/>
            </a:endParaRPr>
          </a:p>
          <a:p>
            <a:pPr marL="1844675" eaLnBrk="1" fontAlgn="auto" hangingPunct="1">
              <a:spcBef>
                <a:spcPts val="1320"/>
              </a:spcBef>
              <a:spcAft>
                <a:spcPts val="0"/>
              </a:spcAft>
              <a:defRPr/>
            </a:pPr>
            <a:r>
              <a:rPr sz="2400" kern="0" dirty="0">
                <a:solidFill>
                  <a:sysClr val="windowText" lastClr="000000"/>
                </a:solidFill>
                <a:latin typeface="Arial"/>
                <a:cs typeface="Arial"/>
              </a:rPr>
              <a:t>one</a:t>
            </a:r>
            <a:r>
              <a:rPr sz="2400" kern="0" spc="35" dirty="0">
                <a:solidFill>
                  <a:sysClr val="windowText" lastClr="000000"/>
                </a:solidFill>
                <a:latin typeface="Times New Roman"/>
                <a:cs typeface="Times New Roman"/>
              </a:rPr>
              <a:t> </a:t>
            </a:r>
            <a:r>
              <a:rPr sz="2400" kern="0" spc="-10" dirty="0">
                <a:solidFill>
                  <a:sysClr val="windowText" lastClr="000000"/>
                </a:solidFill>
                <a:latin typeface="Arial"/>
                <a:cs typeface="Arial"/>
              </a:rPr>
              <a:t>block</a:t>
            </a:r>
            <a:endParaRPr sz="2400" kern="0">
              <a:solidFill>
                <a:sysClr val="windowText" lastClr="000000"/>
              </a:solidFill>
              <a:latin typeface="Arial"/>
              <a:cs typeface="Arial"/>
            </a:endParaRPr>
          </a:p>
          <a:p>
            <a:pPr marL="12700" eaLnBrk="1" fontAlgn="auto" hangingPunct="1">
              <a:spcBef>
                <a:spcPts val="720"/>
              </a:spcBef>
              <a:spcAft>
                <a:spcPts val="0"/>
              </a:spcAft>
              <a:defRPr/>
            </a:pPr>
            <a:r>
              <a:rPr sz="2400" kern="0" spc="-10" dirty="0">
                <a:solidFill>
                  <a:sysClr val="windowText" lastClr="000000"/>
                </a:solidFill>
                <a:latin typeface="Arial"/>
                <a:cs typeface="Arial"/>
              </a:rPr>
              <a:t>digest</a:t>
            </a:r>
            <a:endParaRPr sz="2400" kern="0">
              <a:solidFill>
                <a:sysClr val="windowText" lastClr="000000"/>
              </a:solidFill>
              <a:latin typeface="Arial"/>
              <a:cs typeface="Arial"/>
            </a:endParaRPr>
          </a:p>
        </p:txBody>
      </p:sp>
      <p:sp>
        <p:nvSpPr>
          <p:cNvPr id="28" name="object 28">
            <a:extLst>
              <a:ext uri="{FF2B5EF4-FFF2-40B4-BE49-F238E27FC236}">
                <a16:creationId xmlns:a16="http://schemas.microsoft.com/office/drawing/2014/main" id="{93550094-12A9-413C-B72F-AA590D0673A3}"/>
              </a:ext>
            </a:extLst>
          </p:cNvPr>
          <p:cNvSpPr>
            <a:spLocks noGrp="1"/>
          </p:cNvSpPr>
          <p:nvPr>
            <p:ph type="sldNum" sz="quarter" idx="12"/>
          </p:nvPr>
        </p:nvSpPr>
        <p:spPr/>
        <p:txBody>
          <a:bodyPr/>
          <a:lstStyle>
            <a:lvl1pPr marL="381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68E2EAC-5882-42C8-A10E-9D3BC9020FE9}" type="slidenum">
              <a:rPr lang="en-US" altLang="en-US"/>
              <a:pPr/>
              <a:t>27</a:t>
            </a:fld>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28</a:t>
            </a:fld>
            <a:endParaRPr lang="en-US" dirty="0"/>
          </a:p>
        </p:txBody>
      </p:sp>
      <p:sp>
        <p:nvSpPr>
          <p:cNvPr id="4" name="Rectangle 3"/>
          <p:cNvSpPr/>
          <p:nvPr/>
        </p:nvSpPr>
        <p:spPr>
          <a:xfrm>
            <a:off x="4114801" y="375498"/>
            <a:ext cx="3701013" cy="584775"/>
          </a:xfrm>
          <a:prstGeom prst="rect">
            <a:avLst/>
          </a:prstGeom>
        </p:spPr>
        <p:txBody>
          <a:bodyPr wrap="none">
            <a:spAutoFit/>
          </a:bodyPr>
          <a:lstStyle/>
          <a:p>
            <a:r>
              <a:rPr lang="en-US" sz="3200" b="1" dirty="0" err="1">
                <a:solidFill>
                  <a:srgbClr val="FF0000"/>
                </a:solidFill>
                <a:latin typeface="Tw Cen MT" panose="020B0602020104020603" pitchFamily="34" charset="0"/>
              </a:rPr>
              <a:t>Preimage</a:t>
            </a:r>
            <a:r>
              <a:rPr lang="en-US" sz="3200" b="1" dirty="0">
                <a:solidFill>
                  <a:srgbClr val="FF0000"/>
                </a:solidFill>
                <a:latin typeface="Tw Cen MT" panose="020B0602020104020603" pitchFamily="34" charset="0"/>
              </a:rPr>
              <a:t> Resistance</a:t>
            </a:r>
          </a:p>
        </p:txBody>
      </p:sp>
      <p:sp>
        <p:nvSpPr>
          <p:cNvPr id="9" name="Rectangle 9"/>
          <p:cNvSpPr>
            <a:spLocks noChangeArrowheads="1"/>
          </p:cNvSpPr>
          <p:nvPr/>
        </p:nvSpPr>
        <p:spPr bwMode="auto">
          <a:xfrm>
            <a:off x="1752600" y="973138"/>
            <a:ext cx="8686800" cy="5191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err="1">
                <a:solidFill>
                  <a:schemeClr val="folHlink"/>
                </a:solidFill>
                <a:latin typeface="Tw Cen MT" pitchFamily="34" charset="0"/>
              </a:rPr>
              <a:t>Preimage</a:t>
            </a:r>
            <a:r>
              <a:rPr lang="en-US" sz="2800" dirty="0">
                <a:solidFill>
                  <a:schemeClr val="folHlink"/>
                </a:solidFill>
                <a:latin typeface="Tw Cen MT" pitchFamily="34" charset="0"/>
              </a:rPr>
              <a:t> Resistance</a:t>
            </a:r>
            <a:endParaRPr lang="en-US" sz="2800" dirty="0">
              <a:latin typeface="Tw Cen MT" pitchFamily="34" charset="0"/>
            </a:endParaRPr>
          </a:p>
        </p:txBody>
      </p:sp>
      <p:pic>
        <p:nvPicPr>
          <p:cNvPr id="10"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8650" y="1752600"/>
            <a:ext cx="8235950" cy="642938"/>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5426" y="2895600"/>
            <a:ext cx="6973888" cy="362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 Box 15"/>
          <p:cNvSpPr txBox="1">
            <a:spLocks noChangeArrowheads="1"/>
          </p:cNvSpPr>
          <p:nvPr/>
        </p:nvSpPr>
        <p:spPr bwMode="auto">
          <a:xfrm>
            <a:off x="7554913" y="3124201"/>
            <a:ext cx="21371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i="1" dirty="0" err="1">
                <a:latin typeface="Tw Cen MT" pitchFamily="34" charset="0"/>
              </a:rPr>
              <a:t>Preimage</a:t>
            </a:r>
            <a:endParaRPr lang="en-US" sz="2000" i="1" dirty="0">
              <a:latin typeface="Tw Cen MT" pitchFamily="34" charset="0"/>
            </a:endParaRPr>
          </a:p>
        </p:txBody>
      </p:sp>
    </p:spTree>
    <p:extLst>
      <p:ext uri="{BB962C8B-B14F-4D97-AF65-F5344CB8AC3E}">
        <p14:creationId xmlns:p14="http://schemas.microsoft.com/office/powerpoint/2010/main" val="25235978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29</a:t>
            </a:fld>
            <a:endParaRPr lang="en-US" dirty="0"/>
          </a:p>
        </p:txBody>
      </p:sp>
      <p:sp>
        <p:nvSpPr>
          <p:cNvPr id="4" name="Rectangle 3"/>
          <p:cNvSpPr/>
          <p:nvPr/>
        </p:nvSpPr>
        <p:spPr>
          <a:xfrm>
            <a:off x="4114801" y="375498"/>
            <a:ext cx="3701013" cy="584775"/>
          </a:xfrm>
          <a:prstGeom prst="rect">
            <a:avLst/>
          </a:prstGeom>
        </p:spPr>
        <p:txBody>
          <a:bodyPr wrap="none">
            <a:spAutoFit/>
          </a:bodyPr>
          <a:lstStyle/>
          <a:p>
            <a:r>
              <a:rPr lang="en-US" sz="3200" b="1" dirty="0" err="1">
                <a:solidFill>
                  <a:srgbClr val="FF0000"/>
                </a:solidFill>
                <a:latin typeface="Tw Cen MT" panose="020B0602020104020603" pitchFamily="34" charset="0"/>
              </a:rPr>
              <a:t>Preimage</a:t>
            </a:r>
            <a:r>
              <a:rPr lang="en-US" sz="3200" b="1" dirty="0">
                <a:solidFill>
                  <a:srgbClr val="FF0000"/>
                </a:solidFill>
                <a:latin typeface="Tw Cen MT" panose="020B0602020104020603" pitchFamily="34" charset="0"/>
              </a:rPr>
              <a:t> Resistance</a:t>
            </a:r>
          </a:p>
        </p:txBody>
      </p:sp>
      <p:sp>
        <p:nvSpPr>
          <p:cNvPr id="8" name="Rectangle 10"/>
          <p:cNvSpPr>
            <a:spLocks noChangeArrowheads="1"/>
          </p:cNvSpPr>
          <p:nvPr/>
        </p:nvSpPr>
        <p:spPr bwMode="auto">
          <a:xfrm>
            <a:off x="1905000" y="1595865"/>
            <a:ext cx="8382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400">
                <a:latin typeface="Tw Cen MT" pitchFamily="34" charset="0"/>
              </a:rPr>
              <a:t>Can we use a conventional lossless compression method such as </a:t>
            </a:r>
            <a:r>
              <a:rPr lang="en-US" sz="2400" i="1">
                <a:solidFill>
                  <a:schemeClr val="hlink"/>
                </a:solidFill>
                <a:latin typeface="Tw Cen MT" pitchFamily="34" charset="0"/>
              </a:rPr>
              <a:t>StuffIt</a:t>
            </a:r>
            <a:r>
              <a:rPr lang="en-US" sz="2400">
                <a:latin typeface="Tw Cen MT" pitchFamily="34" charset="0"/>
              </a:rPr>
              <a:t> as a cryptographic hash function?</a:t>
            </a:r>
          </a:p>
        </p:txBody>
      </p:sp>
      <p:sp>
        <p:nvSpPr>
          <p:cNvPr id="13" name="Text Box 11"/>
          <p:cNvSpPr txBox="1">
            <a:spLocks noChangeArrowheads="1"/>
          </p:cNvSpPr>
          <p:nvPr/>
        </p:nvSpPr>
        <p:spPr bwMode="auto">
          <a:xfrm>
            <a:off x="1802894" y="1066801"/>
            <a:ext cx="1321306"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400" dirty="0">
                <a:solidFill>
                  <a:schemeClr val="bg1"/>
                </a:solidFill>
                <a:latin typeface="Tw Cen MT" pitchFamily="34" charset="0"/>
              </a:rPr>
              <a:t>Example </a:t>
            </a:r>
            <a:endParaRPr lang="en-US" sz="2000" i="1" dirty="0">
              <a:solidFill>
                <a:schemeClr val="bg1"/>
              </a:solidFill>
              <a:latin typeface="Tw Cen MT" pitchFamily="34" charset="0"/>
            </a:endParaRPr>
          </a:p>
        </p:txBody>
      </p:sp>
      <p:sp>
        <p:nvSpPr>
          <p:cNvPr id="14" name="Rectangle 12"/>
          <p:cNvSpPr>
            <a:spLocks noChangeArrowheads="1"/>
          </p:cNvSpPr>
          <p:nvPr/>
        </p:nvSpPr>
        <p:spPr bwMode="auto">
          <a:xfrm>
            <a:off x="1905000" y="2584362"/>
            <a:ext cx="838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400">
                <a:solidFill>
                  <a:schemeClr val="hlink"/>
                </a:solidFill>
                <a:latin typeface="Tw Cen MT" pitchFamily="34" charset="0"/>
              </a:rPr>
              <a:t>Solution</a:t>
            </a:r>
          </a:p>
          <a:p>
            <a:pPr algn="just" eaLnBrk="1" hangingPunct="1"/>
            <a:r>
              <a:rPr lang="en-US" sz="2400">
                <a:latin typeface="Tw Cen MT" pitchFamily="34" charset="0"/>
              </a:rPr>
              <a:t>We cannot. A lossless compression method creates a compressed message that is reversible. </a:t>
            </a:r>
          </a:p>
        </p:txBody>
      </p:sp>
      <p:sp>
        <p:nvSpPr>
          <p:cNvPr id="15" name="Rectangle 16"/>
          <p:cNvSpPr>
            <a:spLocks noChangeArrowheads="1"/>
          </p:cNvSpPr>
          <p:nvPr/>
        </p:nvSpPr>
        <p:spPr bwMode="auto">
          <a:xfrm>
            <a:off x="1905000" y="4661844"/>
            <a:ext cx="838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400">
                <a:latin typeface="Tw Cen MT" pitchFamily="34" charset="0"/>
              </a:rPr>
              <a:t>Can we use a checksum function as a cryptographic hash function?</a:t>
            </a:r>
          </a:p>
        </p:txBody>
      </p:sp>
      <p:sp>
        <p:nvSpPr>
          <p:cNvPr id="16" name="Text Box 17"/>
          <p:cNvSpPr txBox="1">
            <a:spLocks noChangeArrowheads="1"/>
          </p:cNvSpPr>
          <p:nvPr/>
        </p:nvSpPr>
        <p:spPr bwMode="auto">
          <a:xfrm>
            <a:off x="1802894" y="3962401"/>
            <a:ext cx="1397506"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400" dirty="0">
                <a:solidFill>
                  <a:schemeClr val="bg1"/>
                </a:solidFill>
                <a:latin typeface="Tw Cen MT" pitchFamily="34" charset="0"/>
              </a:rPr>
              <a:t>Example </a:t>
            </a:r>
            <a:endParaRPr lang="en-US" sz="2000" i="1" dirty="0">
              <a:solidFill>
                <a:schemeClr val="bg1"/>
              </a:solidFill>
              <a:latin typeface="Tw Cen MT" pitchFamily="34" charset="0"/>
            </a:endParaRPr>
          </a:p>
        </p:txBody>
      </p:sp>
      <p:sp>
        <p:nvSpPr>
          <p:cNvPr id="17" name="Rectangle 18"/>
          <p:cNvSpPr>
            <a:spLocks noChangeArrowheads="1"/>
          </p:cNvSpPr>
          <p:nvPr/>
        </p:nvSpPr>
        <p:spPr bwMode="auto">
          <a:xfrm>
            <a:off x="1905000" y="5183374"/>
            <a:ext cx="838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400" dirty="0">
                <a:solidFill>
                  <a:schemeClr val="hlink"/>
                </a:solidFill>
                <a:latin typeface="Tw Cen MT" pitchFamily="34" charset="0"/>
              </a:rPr>
              <a:t>Solution</a:t>
            </a:r>
          </a:p>
          <a:p>
            <a:pPr algn="just" eaLnBrk="1" hangingPunct="1"/>
            <a:r>
              <a:rPr lang="en-US" sz="2400" dirty="0">
                <a:latin typeface="Tw Cen MT" pitchFamily="34" charset="0"/>
              </a:rPr>
              <a:t>We cannot. A checksum function is not </a:t>
            </a:r>
            <a:r>
              <a:rPr lang="en-US" sz="2400" dirty="0" err="1">
                <a:latin typeface="Tw Cen MT" pitchFamily="34" charset="0"/>
              </a:rPr>
              <a:t>preimage</a:t>
            </a:r>
            <a:r>
              <a:rPr lang="en-US" sz="2400" dirty="0">
                <a:latin typeface="Tw Cen MT" pitchFamily="34" charset="0"/>
              </a:rPr>
              <a:t> resistant, Eve may find several messages whose checksum matches the given one.</a:t>
            </a:r>
          </a:p>
        </p:txBody>
      </p:sp>
    </p:spTree>
    <p:extLst>
      <p:ext uri="{BB962C8B-B14F-4D97-AF65-F5344CB8AC3E}">
        <p14:creationId xmlns:p14="http://schemas.microsoft.com/office/powerpoint/2010/main" val="18560153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30</a:t>
            </a:fld>
            <a:endParaRPr lang="en-US" dirty="0"/>
          </a:p>
        </p:txBody>
      </p:sp>
      <p:sp>
        <p:nvSpPr>
          <p:cNvPr id="4" name="Rectangle 3"/>
          <p:cNvSpPr/>
          <p:nvPr/>
        </p:nvSpPr>
        <p:spPr>
          <a:xfrm>
            <a:off x="3886200" y="304801"/>
            <a:ext cx="5021888" cy="584775"/>
          </a:xfrm>
          <a:prstGeom prst="rect">
            <a:avLst/>
          </a:prstGeom>
        </p:spPr>
        <p:txBody>
          <a:bodyPr wrap="none">
            <a:spAutoFit/>
          </a:bodyPr>
          <a:lstStyle/>
          <a:p>
            <a:r>
              <a:rPr lang="en-US" sz="3200" b="1" dirty="0">
                <a:solidFill>
                  <a:srgbClr val="FF0000"/>
                </a:solidFill>
                <a:latin typeface="Tw Cen MT" panose="020B0602020104020603" pitchFamily="34" charset="0"/>
              </a:rPr>
              <a:t>Second </a:t>
            </a:r>
            <a:r>
              <a:rPr lang="en-US" sz="3200" b="1" dirty="0" err="1">
                <a:solidFill>
                  <a:srgbClr val="FF0000"/>
                </a:solidFill>
                <a:latin typeface="Tw Cen MT" panose="020B0602020104020603" pitchFamily="34" charset="0"/>
              </a:rPr>
              <a:t>Preimage</a:t>
            </a:r>
            <a:r>
              <a:rPr lang="en-US" sz="3200" b="1" dirty="0">
                <a:solidFill>
                  <a:srgbClr val="FF0000"/>
                </a:solidFill>
                <a:latin typeface="Tw Cen MT" panose="020B0602020104020603" pitchFamily="34" charset="0"/>
              </a:rPr>
              <a:t> Resistance</a:t>
            </a:r>
          </a:p>
        </p:txBody>
      </p:sp>
      <p:sp>
        <p:nvSpPr>
          <p:cNvPr id="10" name="Rectangle 9"/>
          <p:cNvSpPr>
            <a:spLocks noChangeArrowheads="1"/>
          </p:cNvSpPr>
          <p:nvPr/>
        </p:nvSpPr>
        <p:spPr bwMode="auto">
          <a:xfrm>
            <a:off x="1779795" y="998796"/>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solidFill>
                  <a:schemeClr val="folHlink"/>
                </a:solidFill>
                <a:latin typeface="Tw Cen MT" pitchFamily="34" charset="0"/>
              </a:rPr>
              <a:t>Second </a:t>
            </a:r>
            <a:r>
              <a:rPr lang="en-US" sz="2800" dirty="0" err="1">
                <a:solidFill>
                  <a:schemeClr val="folHlink"/>
                </a:solidFill>
                <a:latin typeface="Tw Cen MT" pitchFamily="34" charset="0"/>
              </a:rPr>
              <a:t>Preimage</a:t>
            </a:r>
            <a:r>
              <a:rPr lang="en-US" sz="2800" dirty="0">
                <a:solidFill>
                  <a:schemeClr val="folHlink"/>
                </a:solidFill>
                <a:latin typeface="Tw Cen MT" pitchFamily="34" charset="0"/>
              </a:rPr>
              <a:t> Resistance</a:t>
            </a:r>
            <a:endParaRPr lang="en-US" sz="2800" dirty="0">
              <a:latin typeface="Tw Cen MT" pitchFamily="34" charset="0"/>
            </a:endParaRPr>
          </a:p>
        </p:txBody>
      </p:sp>
      <p:pic>
        <p:nvPicPr>
          <p:cNvPr id="11"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9795" y="1590139"/>
            <a:ext cx="8583612" cy="635000"/>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 Box 13"/>
          <p:cNvSpPr txBox="1">
            <a:spLocks noChangeArrowheads="1"/>
          </p:cNvSpPr>
          <p:nvPr/>
        </p:nvSpPr>
        <p:spPr bwMode="auto">
          <a:xfrm>
            <a:off x="4624389" y="2286001"/>
            <a:ext cx="29976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Second </a:t>
            </a:r>
            <a:r>
              <a:rPr lang="en-US" sz="2000" dirty="0" err="1">
                <a:latin typeface="Tw Cen MT" pitchFamily="34" charset="0"/>
              </a:rPr>
              <a:t>preimage</a:t>
            </a:r>
            <a:endParaRPr lang="en-US" sz="2000" dirty="0">
              <a:latin typeface="Tw Cen MT" pitchFamily="34" charset="0"/>
            </a:endParaRPr>
          </a:p>
        </p:txBody>
      </p:sp>
      <p:pic>
        <p:nvPicPr>
          <p:cNvPr id="1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865438"/>
            <a:ext cx="7202488" cy="376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72754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31</a:t>
            </a:fld>
            <a:endParaRPr lang="en-US" dirty="0"/>
          </a:p>
        </p:txBody>
      </p:sp>
      <p:sp>
        <p:nvSpPr>
          <p:cNvPr id="4" name="Rectangle 3"/>
          <p:cNvSpPr/>
          <p:nvPr/>
        </p:nvSpPr>
        <p:spPr>
          <a:xfrm>
            <a:off x="3886200" y="304801"/>
            <a:ext cx="3577198" cy="584775"/>
          </a:xfrm>
          <a:prstGeom prst="rect">
            <a:avLst/>
          </a:prstGeom>
        </p:spPr>
        <p:txBody>
          <a:bodyPr wrap="none">
            <a:spAutoFit/>
          </a:bodyPr>
          <a:lstStyle/>
          <a:p>
            <a:r>
              <a:rPr lang="en-US" sz="3200" b="1" dirty="0" err="1">
                <a:solidFill>
                  <a:srgbClr val="FF0000"/>
                </a:solidFill>
                <a:latin typeface="Tw Cen MT" panose="020B0602020104020603" pitchFamily="34" charset="0"/>
              </a:rPr>
              <a:t>Collison</a:t>
            </a:r>
            <a:r>
              <a:rPr lang="en-US" sz="3200" b="1" dirty="0">
                <a:solidFill>
                  <a:srgbClr val="FF0000"/>
                </a:solidFill>
                <a:latin typeface="Tw Cen MT" panose="020B0602020104020603" pitchFamily="34" charset="0"/>
              </a:rPr>
              <a:t>  Resistance</a:t>
            </a:r>
          </a:p>
        </p:txBody>
      </p:sp>
      <p:sp>
        <p:nvSpPr>
          <p:cNvPr id="8" name="Rectangle 9"/>
          <p:cNvSpPr>
            <a:spLocks noChangeArrowheads="1"/>
          </p:cNvSpPr>
          <p:nvPr/>
        </p:nvSpPr>
        <p:spPr bwMode="auto">
          <a:xfrm>
            <a:off x="1752600" y="990601"/>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a:solidFill>
                  <a:schemeClr val="folHlink"/>
                </a:solidFill>
                <a:latin typeface="Tw Cen MT" pitchFamily="34" charset="0"/>
              </a:rPr>
              <a:t>Collision Resistance</a:t>
            </a:r>
            <a:endParaRPr lang="en-US" sz="2800">
              <a:latin typeface="Tw Cen MT" pitchFamily="34" charset="0"/>
            </a:endParaRPr>
          </a:p>
        </p:txBody>
      </p:sp>
      <p:pic>
        <p:nvPicPr>
          <p:cNvPr id="9"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9600" y="1676401"/>
            <a:ext cx="8255000" cy="682625"/>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 Box 12"/>
          <p:cNvSpPr txBox="1">
            <a:spLocks noChangeArrowheads="1"/>
          </p:cNvSpPr>
          <p:nvPr/>
        </p:nvSpPr>
        <p:spPr bwMode="auto">
          <a:xfrm>
            <a:off x="5379077" y="2921646"/>
            <a:ext cx="20361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Collision</a:t>
            </a:r>
          </a:p>
        </p:txBody>
      </p:sp>
      <p:pic>
        <p:nvPicPr>
          <p:cNvPr id="14"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3138" y="3833814"/>
            <a:ext cx="7129462" cy="2414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9855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32</a:t>
            </a:fld>
            <a:endParaRPr lang="en-US" dirty="0"/>
          </a:p>
        </p:txBody>
      </p:sp>
      <p:sp>
        <p:nvSpPr>
          <p:cNvPr id="4" name="Rectangle 3"/>
          <p:cNvSpPr/>
          <p:nvPr/>
        </p:nvSpPr>
        <p:spPr>
          <a:xfrm>
            <a:off x="3886200" y="304801"/>
            <a:ext cx="4014048" cy="584775"/>
          </a:xfrm>
          <a:prstGeom prst="rect">
            <a:avLst/>
          </a:prstGeom>
        </p:spPr>
        <p:txBody>
          <a:bodyPr wrap="none">
            <a:spAutoFit/>
          </a:bodyPr>
          <a:lstStyle/>
          <a:p>
            <a:r>
              <a:rPr lang="en-US" sz="3200" b="1" dirty="0">
                <a:solidFill>
                  <a:srgbClr val="FF0000"/>
                </a:solidFill>
                <a:latin typeface="Tw Cen MT" panose="020B0602020104020603" pitchFamily="34" charset="0"/>
              </a:rPr>
              <a:t>Random Oracle Model</a:t>
            </a:r>
          </a:p>
        </p:txBody>
      </p:sp>
      <p:sp>
        <p:nvSpPr>
          <p:cNvPr id="10" name="Rectangle 5"/>
          <p:cNvSpPr>
            <a:spLocks noChangeArrowheads="1"/>
          </p:cNvSpPr>
          <p:nvPr/>
        </p:nvSpPr>
        <p:spPr bwMode="auto">
          <a:xfrm>
            <a:off x="2057400" y="1447800"/>
            <a:ext cx="7924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800" dirty="0">
                <a:latin typeface="Tw Cen MT" pitchFamily="34" charset="0"/>
              </a:rPr>
              <a:t>The Random Oracle Model, which was introduced in 1993 by </a:t>
            </a:r>
            <a:r>
              <a:rPr lang="en-US" sz="2800" dirty="0" err="1">
                <a:latin typeface="Tw Cen MT" pitchFamily="34" charset="0"/>
              </a:rPr>
              <a:t>Bellare</a:t>
            </a:r>
            <a:r>
              <a:rPr lang="en-US" sz="2800" dirty="0">
                <a:latin typeface="Tw Cen MT" pitchFamily="34" charset="0"/>
              </a:rPr>
              <a:t> and </a:t>
            </a:r>
            <a:r>
              <a:rPr lang="en-US" sz="2800" dirty="0" err="1">
                <a:latin typeface="Tw Cen MT" pitchFamily="34" charset="0"/>
              </a:rPr>
              <a:t>Rogaway</a:t>
            </a:r>
            <a:r>
              <a:rPr lang="en-US" sz="2800" dirty="0">
                <a:latin typeface="Tw Cen MT" pitchFamily="34" charset="0"/>
              </a:rPr>
              <a:t>, is an </a:t>
            </a:r>
            <a:r>
              <a:rPr lang="en-US" sz="2800" dirty="0">
                <a:solidFill>
                  <a:srgbClr val="FF0000"/>
                </a:solidFill>
                <a:latin typeface="Tw Cen MT" pitchFamily="34" charset="0"/>
              </a:rPr>
              <a:t>ideal mathematical model for a hash function. </a:t>
            </a:r>
          </a:p>
        </p:txBody>
      </p:sp>
      <p:sp>
        <p:nvSpPr>
          <p:cNvPr id="11" name="Rectangle 6"/>
          <p:cNvSpPr>
            <a:spLocks noChangeArrowheads="1"/>
          </p:cNvSpPr>
          <p:nvPr/>
        </p:nvSpPr>
        <p:spPr bwMode="auto">
          <a:xfrm>
            <a:off x="2057400" y="4495800"/>
            <a:ext cx="6705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sz="2400" dirty="0">
                <a:solidFill>
                  <a:schemeClr val="hlink"/>
                </a:solidFill>
                <a:latin typeface="Tw Cen MT" pitchFamily="34" charset="0"/>
              </a:rPr>
              <a:t>1</a:t>
            </a:r>
            <a:r>
              <a:rPr lang="en-US" sz="2400" dirty="0">
                <a:solidFill>
                  <a:srgbClr val="0033CC"/>
                </a:solidFill>
                <a:latin typeface="Tw Cen MT" pitchFamily="34" charset="0"/>
              </a:rPr>
              <a:t>	Pigeonhole Principle</a:t>
            </a:r>
          </a:p>
          <a:p>
            <a:pPr>
              <a:buClr>
                <a:schemeClr val="tx1"/>
              </a:buClr>
              <a:buSzPct val="117000"/>
              <a:buFont typeface="Wingdings" pitchFamily="2" charset="2"/>
              <a:buNone/>
            </a:pPr>
            <a:r>
              <a:rPr lang="en-US" sz="2400" dirty="0">
                <a:solidFill>
                  <a:schemeClr val="hlink"/>
                </a:solidFill>
                <a:latin typeface="Tw Cen MT" pitchFamily="34" charset="0"/>
              </a:rPr>
              <a:t>2</a:t>
            </a:r>
            <a:r>
              <a:rPr lang="en-US" sz="2400" dirty="0">
                <a:solidFill>
                  <a:srgbClr val="0033CC"/>
                </a:solidFill>
                <a:latin typeface="Tw Cen MT" pitchFamily="34" charset="0"/>
              </a:rPr>
              <a:t>	Birthday Problems</a:t>
            </a:r>
          </a:p>
          <a:p>
            <a:pPr>
              <a:buClr>
                <a:schemeClr val="tx1"/>
              </a:buClr>
              <a:buSzPct val="117000"/>
              <a:buFont typeface="Wingdings" pitchFamily="2" charset="2"/>
              <a:buNone/>
            </a:pPr>
            <a:r>
              <a:rPr lang="en-US" sz="2400" dirty="0">
                <a:solidFill>
                  <a:schemeClr val="hlink"/>
                </a:solidFill>
                <a:latin typeface="Tw Cen MT" pitchFamily="34" charset="0"/>
              </a:rPr>
              <a:t>3</a:t>
            </a:r>
            <a:r>
              <a:rPr lang="en-US" sz="2400" dirty="0">
                <a:solidFill>
                  <a:srgbClr val="0033CC"/>
                </a:solidFill>
                <a:latin typeface="Tw Cen MT" pitchFamily="34" charset="0"/>
              </a:rPr>
              <a:t>	Attacks on Random Oracle Model</a:t>
            </a:r>
          </a:p>
          <a:p>
            <a:pPr>
              <a:buClr>
                <a:schemeClr val="tx1"/>
              </a:buClr>
              <a:buSzPct val="117000"/>
              <a:buFont typeface="Wingdings" pitchFamily="2" charset="2"/>
              <a:buNone/>
            </a:pPr>
            <a:r>
              <a:rPr lang="en-US" sz="2400" dirty="0">
                <a:solidFill>
                  <a:schemeClr val="hlink"/>
                </a:solidFill>
                <a:latin typeface="Tw Cen MT" pitchFamily="34" charset="0"/>
              </a:rPr>
              <a:t>4</a:t>
            </a:r>
            <a:r>
              <a:rPr lang="en-US" sz="2400" dirty="0">
                <a:solidFill>
                  <a:srgbClr val="0033CC"/>
                </a:solidFill>
                <a:latin typeface="Tw Cen MT" pitchFamily="34" charset="0"/>
              </a:rPr>
              <a:t>	Attacks on the Structure</a:t>
            </a:r>
          </a:p>
        </p:txBody>
      </p:sp>
      <p:sp>
        <p:nvSpPr>
          <p:cNvPr id="12" name="Text Box 7"/>
          <p:cNvSpPr txBox="1">
            <a:spLocks noChangeArrowheads="1"/>
          </p:cNvSpPr>
          <p:nvPr/>
        </p:nvSpPr>
        <p:spPr bwMode="auto">
          <a:xfrm>
            <a:off x="2209801" y="3704066"/>
            <a:ext cx="12059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800" u="sng" dirty="0">
                <a:solidFill>
                  <a:schemeClr val="hlink"/>
                </a:solidFill>
                <a:effectLst>
                  <a:outerShdw blurRad="38100" dist="38100" dir="2700000" algn="tl">
                    <a:srgbClr val="C0C0C0"/>
                  </a:outerShdw>
                </a:effectLst>
                <a:latin typeface="Tw Cen MT" pitchFamily="34" charset="0"/>
              </a:rPr>
              <a:t>Topics :</a:t>
            </a:r>
          </a:p>
        </p:txBody>
      </p:sp>
    </p:spTree>
    <p:extLst>
      <p:ext uri="{BB962C8B-B14F-4D97-AF65-F5344CB8AC3E}">
        <p14:creationId xmlns:p14="http://schemas.microsoft.com/office/powerpoint/2010/main" val="15646261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33</a:t>
            </a:fld>
            <a:endParaRPr lang="en-US" dirty="0"/>
          </a:p>
        </p:txBody>
      </p:sp>
      <p:sp>
        <p:nvSpPr>
          <p:cNvPr id="4" name="Rectangle 3"/>
          <p:cNvSpPr/>
          <p:nvPr/>
        </p:nvSpPr>
        <p:spPr>
          <a:xfrm>
            <a:off x="4012776" y="376054"/>
            <a:ext cx="4014048" cy="584775"/>
          </a:xfrm>
          <a:prstGeom prst="rect">
            <a:avLst/>
          </a:prstGeom>
        </p:spPr>
        <p:txBody>
          <a:bodyPr wrap="none">
            <a:spAutoFit/>
          </a:bodyPr>
          <a:lstStyle/>
          <a:p>
            <a:r>
              <a:rPr lang="en-US" sz="3200" b="1" dirty="0">
                <a:solidFill>
                  <a:srgbClr val="FF0000"/>
                </a:solidFill>
                <a:latin typeface="Tw Cen MT" panose="020B0602020104020603" pitchFamily="34" charset="0"/>
              </a:rPr>
              <a:t>Random Oracle Model</a:t>
            </a:r>
          </a:p>
        </p:txBody>
      </p:sp>
      <p:sp>
        <p:nvSpPr>
          <p:cNvPr id="10" name="Rectangle 5"/>
          <p:cNvSpPr>
            <a:spLocks noChangeArrowheads="1"/>
          </p:cNvSpPr>
          <p:nvPr/>
        </p:nvSpPr>
        <p:spPr bwMode="auto">
          <a:xfrm>
            <a:off x="2057400" y="1143000"/>
            <a:ext cx="7924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800" dirty="0">
                <a:latin typeface="Tw Cen MT" pitchFamily="34" charset="0"/>
              </a:rPr>
              <a:t>The Random Oracle Model, which was introduced in 1993 by </a:t>
            </a:r>
            <a:r>
              <a:rPr lang="en-US" sz="2800" dirty="0" err="1">
                <a:latin typeface="Tw Cen MT" pitchFamily="34" charset="0"/>
              </a:rPr>
              <a:t>Bellare</a:t>
            </a:r>
            <a:r>
              <a:rPr lang="en-US" sz="2800" dirty="0">
                <a:latin typeface="Tw Cen MT" pitchFamily="34" charset="0"/>
              </a:rPr>
              <a:t> and </a:t>
            </a:r>
            <a:r>
              <a:rPr lang="en-US" sz="2800" dirty="0" err="1">
                <a:latin typeface="Tw Cen MT" pitchFamily="34" charset="0"/>
              </a:rPr>
              <a:t>Rogaway</a:t>
            </a:r>
            <a:r>
              <a:rPr lang="en-US" sz="2800" dirty="0">
                <a:latin typeface="Tw Cen MT" pitchFamily="34" charset="0"/>
              </a:rPr>
              <a:t>, is an ideal mathematical model for a hash function. </a:t>
            </a:r>
          </a:p>
        </p:txBody>
      </p:sp>
      <p:sp>
        <p:nvSpPr>
          <p:cNvPr id="11" name="Rectangle 6"/>
          <p:cNvSpPr>
            <a:spLocks noChangeArrowheads="1"/>
          </p:cNvSpPr>
          <p:nvPr/>
        </p:nvSpPr>
        <p:spPr bwMode="auto">
          <a:xfrm>
            <a:off x="2065317" y="3581400"/>
            <a:ext cx="778328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just">
              <a:buClr>
                <a:schemeClr val="tx1"/>
              </a:buClr>
              <a:buSzPct val="100000"/>
              <a:buFont typeface="+mj-lt"/>
              <a:buAutoNum type="arabicPeriod"/>
            </a:pPr>
            <a:r>
              <a:rPr lang="en-US" sz="2400" dirty="0">
                <a:solidFill>
                  <a:srgbClr val="0033CC"/>
                </a:solidFill>
                <a:latin typeface="Tw Cen MT" pitchFamily="34" charset="0"/>
              </a:rPr>
              <a:t>For </a:t>
            </a:r>
            <a:r>
              <a:rPr lang="en-US" sz="2400" dirty="0">
                <a:solidFill>
                  <a:srgbClr val="FF0000"/>
                </a:solidFill>
                <a:latin typeface="Tw Cen MT" pitchFamily="34" charset="0"/>
              </a:rPr>
              <a:t>new message</a:t>
            </a:r>
            <a:r>
              <a:rPr lang="en-US" sz="2400" dirty="0">
                <a:solidFill>
                  <a:srgbClr val="0033CC"/>
                </a:solidFill>
                <a:latin typeface="Tw Cen MT" pitchFamily="34" charset="0"/>
              </a:rPr>
              <a:t>, creates </a:t>
            </a:r>
            <a:r>
              <a:rPr lang="en-US" sz="2400" dirty="0">
                <a:solidFill>
                  <a:srgbClr val="FF0000"/>
                </a:solidFill>
                <a:latin typeface="Tw Cen MT" pitchFamily="34" charset="0"/>
              </a:rPr>
              <a:t>random digest </a:t>
            </a:r>
            <a:r>
              <a:rPr lang="en-US" sz="2400" dirty="0">
                <a:solidFill>
                  <a:srgbClr val="0033CC"/>
                </a:solidFill>
                <a:latin typeface="Tw Cen MT" pitchFamily="34" charset="0"/>
              </a:rPr>
              <a:t>and </a:t>
            </a:r>
            <a:r>
              <a:rPr lang="en-US" sz="2400" dirty="0">
                <a:solidFill>
                  <a:srgbClr val="FF0000"/>
                </a:solidFill>
                <a:latin typeface="Tw Cen MT" pitchFamily="34" charset="0"/>
              </a:rPr>
              <a:t>stores both </a:t>
            </a:r>
            <a:r>
              <a:rPr lang="en-US" sz="2400" dirty="0">
                <a:solidFill>
                  <a:srgbClr val="0033CC"/>
                </a:solidFill>
                <a:latin typeface="Tw Cen MT" pitchFamily="34" charset="0"/>
              </a:rPr>
              <a:t>of them</a:t>
            </a:r>
          </a:p>
          <a:p>
            <a:pPr marL="457200" indent="-457200" algn="just">
              <a:buClr>
                <a:schemeClr val="tx1"/>
              </a:buClr>
              <a:buSzPct val="100000"/>
              <a:buFont typeface="+mj-lt"/>
              <a:buAutoNum type="arabicPeriod"/>
            </a:pPr>
            <a:r>
              <a:rPr lang="en-US" sz="2400" dirty="0">
                <a:solidFill>
                  <a:srgbClr val="FF0000"/>
                </a:solidFill>
                <a:latin typeface="Tw Cen MT" pitchFamily="34" charset="0"/>
              </a:rPr>
              <a:t>If message </a:t>
            </a:r>
            <a:r>
              <a:rPr lang="en-US" sz="2400" dirty="0">
                <a:solidFill>
                  <a:srgbClr val="0033CC"/>
                </a:solidFill>
                <a:latin typeface="Tw Cen MT" pitchFamily="34" charset="0"/>
              </a:rPr>
              <a:t>is  given, </a:t>
            </a:r>
            <a:r>
              <a:rPr lang="en-US" sz="2400" dirty="0">
                <a:solidFill>
                  <a:srgbClr val="FF0000"/>
                </a:solidFill>
                <a:latin typeface="Tw Cen MT" pitchFamily="34" charset="0"/>
              </a:rPr>
              <a:t>returns digest </a:t>
            </a:r>
            <a:r>
              <a:rPr lang="en-US" sz="2400" dirty="0">
                <a:solidFill>
                  <a:srgbClr val="0033CC"/>
                </a:solidFill>
                <a:latin typeface="Tw Cen MT" pitchFamily="34" charset="0"/>
              </a:rPr>
              <a:t>if exists</a:t>
            </a:r>
          </a:p>
          <a:p>
            <a:pPr marL="457200" indent="-457200" algn="just">
              <a:buClr>
                <a:schemeClr val="tx1"/>
              </a:buClr>
              <a:buSzPct val="100000"/>
              <a:buFont typeface="+mj-lt"/>
              <a:buAutoNum type="arabicPeriod"/>
            </a:pPr>
            <a:endParaRPr lang="en-US" sz="2400" dirty="0">
              <a:solidFill>
                <a:srgbClr val="0033CC"/>
              </a:solidFill>
              <a:latin typeface="Tw Cen MT" pitchFamily="34" charset="0"/>
            </a:endParaRPr>
          </a:p>
          <a:p>
            <a:pPr marL="457200" indent="-457200" algn="just">
              <a:buClr>
                <a:schemeClr val="tx1"/>
              </a:buClr>
              <a:buSzPct val="100000"/>
              <a:buFont typeface="+mj-lt"/>
              <a:buAutoNum type="arabicPeriod"/>
            </a:pPr>
            <a:r>
              <a:rPr lang="en-US" sz="2400" dirty="0">
                <a:solidFill>
                  <a:srgbClr val="FF0000"/>
                </a:solidFill>
                <a:latin typeface="Tw Cen MT" pitchFamily="34" charset="0"/>
              </a:rPr>
              <a:t>Digest for new message is independent </a:t>
            </a:r>
            <a:r>
              <a:rPr lang="en-US" sz="2400" dirty="0">
                <a:solidFill>
                  <a:srgbClr val="0033CC"/>
                </a:solidFill>
                <a:latin typeface="Tw Cen MT" pitchFamily="34" charset="0"/>
              </a:rPr>
              <a:t>from all previous digests	</a:t>
            </a:r>
          </a:p>
        </p:txBody>
      </p:sp>
      <p:sp>
        <p:nvSpPr>
          <p:cNvPr id="3" name="TextBox 2"/>
          <p:cNvSpPr txBox="1"/>
          <p:nvPr/>
        </p:nvSpPr>
        <p:spPr>
          <a:xfrm>
            <a:off x="2209800" y="2895600"/>
            <a:ext cx="6698288" cy="523220"/>
          </a:xfrm>
          <a:prstGeom prst="rect">
            <a:avLst/>
          </a:prstGeom>
          <a:noFill/>
        </p:spPr>
        <p:txBody>
          <a:bodyPr wrap="square" rtlCol="0">
            <a:spAutoFit/>
          </a:bodyPr>
          <a:lstStyle/>
          <a:p>
            <a:r>
              <a:rPr lang="en-US" sz="2800" b="1" dirty="0" err="1">
                <a:solidFill>
                  <a:srgbClr val="669900"/>
                </a:solidFill>
                <a:latin typeface="Tw Cen MT" pitchFamily="34" charset="0"/>
              </a:rPr>
              <a:t>Behaviour</a:t>
            </a:r>
            <a:r>
              <a:rPr lang="en-US" sz="2800" b="1" dirty="0">
                <a:solidFill>
                  <a:srgbClr val="669900"/>
                </a:solidFill>
                <a:latin typeface="Tw Cen MT" pitchFamily="34" charset="0"/>
              </a:rPr>
              <a:t> of Random Oracle  Model:</a:t>
            </a:r>
          </a:p>
        </p:txBody>
      </p:sp>
    </p:spTree>
    <p:extLst>
      <p:ext uri="{BB962C8B-B14F-4D97-AF65-F5344CB8AC3E}">
        <p14:creationId xmlns:p14="http://schemas.microsoft.com/office/powerpoint/2010/main" val="23069058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34</a:t>
            </a:fld>
            <a:endParaRPr lang="en-US" dirty="0"/>
          </a:p>
        </p:txBody>
      </p:sp>
      <p:sp>
        <p:nvSpPr>
          <p:cNvPr id="4" name="Rectangle 3"/>
          <p:cNvSpPr/>
          <p:nvPr/>
        </p:nvSpPr>
        <p:spPr>
          <a:xfrm>
            <a:off x="4191000" y="668441"/>
            <a:ext cx="3695242" cy="584775"/>
          </a:xfrm>
          <a:prstGeom prst="rect">
            <a:avLst/>
          </a:prstGeom>
        </p:spPr>
        <p:txBody>
          <a:bodyPr wrap="none">
            <a:spAutoFit/>
          </a:bodyPr>
          <a:lstStyle/>
          <a:p>
            <a:r>
              <a:rPr lang="en-US" sz="3200" b="1" dirty="0">
                <a:solidFill>
                  <a:srgbClr val="FF0000"/>
                </a:solidFill>
                <a:latin typeface="Tw Cen MT" panose="020B0602020104020603" pitchFamily="34" charset="0"/>
              </a:rPr>
              <a:t>Pigeonhole Principal</a:t>
            </a:r>
          </a:p>
        </p:txBody>
      </p:sp>
      <p:sp>
        <p:nvSpPr>
          <p:cNvPr id="3" name="TextBox 2"/>
          <p:cNvSpPr txBox="1"/>
          <p:nvPr/>
        </p:nvSpPr>
        <p:spPr>
          <a:xfrm>
            <a:off x="2209800" y="2895600"/>
            <a:ext cx="6698288" cy="523220"/>
          </a:xfrm>
          <a:prstGeom prst="rect">
            <a:avLst/>
          </a:prstGeom>
          <a:noFill/>
        </p:spPr>
        <p:txBody>
          <a:bodyPr wrap="square" rtlCol="0">
            <a:spAutoFit/>
          </a:bodyPr>
          <a:lstStyle/>
          <a:p>
            <a:r>
              <a:rPr lang="en-US" sz="2800" b="1" dirty="0" err="1">
                <a:solidFill>
                  <a:srgbClr val="669900"/>
                </a:solidFill>
                <a:latin typeface="Tw Cen MT" pitchFamily="34" charset="0"/>
              </a:rPr>
              <a:t>Behaviour</a:t>
            </a:r>
            <a:r>
              <a:rPr lang="en-US" sz="2800" b="1" dirty="0">
                <a:solidFill>
                  <a:srgbClr val="669900"/>
                </a:solidFill>
                <a:latin typeface="Tw Cen MT" pitchFamily="34" charset="0"/>
              </a:rPr>
              <a:t> of Random Oracle  Model:</a:t>
            </a:r>
          </a:p>
        </p:txBody>
      </p:sp>
      <p:sp>
        <p:nvSpPr>
          <p:cNvPr id="7" name="Rectangle 9"/>
          <p:cNvSpPr>
            <a:spLocks noChangeArrowheads="1"/>
          </p:cNvSpPr>
          <p:nvPr/>
        </p:nvSpPr>
        <p:spPr bwMode="auto">
          <a:xfrm>
            <a:off x="1981200" y="1219201"/>
            <a:ext cx="8382000" cy="2227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sz="2800" dirty="0">
                <a:latin typeface="Tw Cen MT" pitchFamily="34" charset="0"/>
              </a:rPr>
              <a:t>If </a:t>
            </a:r>
            <a:r>
              <a:rPr lang="en-US" sz="2800" b="1" dirty="0">
                <a:solidFill>
                  <a:srgbClr val="FF0000"/>
                </a:solidFill>
                <a:latin typeface="Tw Cen MT" pitchFamily="34" charset="0"/>
              </a:rPr>
              <a:t>n</a:t>
            </a:r>
            <a:r>
              <a:rPr lang="en-US" sz="2800" dirty="0">
                <a:latin typeface="Tw Cen MT" pitchFamily="34" charset="0"/>
              </a:rPr>
              <a:t> pigeonholes are occupied by </a:t>
            </a:r>
            <a:r>
              <a:rPr lang="en-US" sz="2800" b="1" dirty="0">
                <a:solidFill>
                  <a:srgbClr val="FF0000"/>
                </a:solidFill>
                <a:latin typeface="Tw Cen MT" pitchFamily="34" charset="0"/>
              </a:rPr>
              <a:t>n + 1</a:t>
            </a:r>
            <a:r>
              <a:rPr lang="en-US" sz="2800" b="1" dirty="0">
                <a:latin typeface="Tw Cen MT" pitchFamily="34" charset="0"/>
              </a:rPr>
              <a:t> </a:t>
            </a:r>
            <a:r>
              <a:rPr lang="en-US" sz="2800" dirty="0">
                <a:latin typeface="Tw Cen MT" pitchFamily="34" charset="0"/>
              </a:rPr>
              <a:t>pigeons, then </a:t>
            </a:r>
            <a:r>
              <a:rPr lang="en-US" sz="2800" dirty="0">
                <a:solidFill>
                  <a:srgbClr val="FF0000"/>
                </a:solidFill>
                <a:latin typeface="Tw Cen MT" pitchFamily="34" charset="0"/>
              </a:rPr>
              <a:t>at least one pigeonhole</a:t>
            </a:r>
            <a:r>
              <a:rPr lang="en-US" sz="2800" dirty="0">
                <a:latin typeface="Tw Cen MT" pitchFamily="34" charset="0"/>
              </a:rPr>
              <a:t> </a:t>
            </a:r>
            <a:r>
              <a:rPr lang="en-US" sz="2800" dirty="0">
                <a:solidFill>
                  <a:srgbClr val="FF0000"/>
                </a:solidFill>
                <a:latin typeface="Tw Cen MT" pitchFamily="34" charset="0"/>
              </a:rPr>
              <a:t>is occupied by </a:t>
            </a:r>
            <a:r>
              <a:rPr lang="en-US" sz="2800" b="1" dirty="0">
                <a:solidFill>
                  <a:srgbClr val="FF0000"/>
                </a:solidFill>
                <a:latin typeface="Tw Cen MT" pitchFamily="34" charset="0"/>
              </a:rPr>
              <a:t>two pigeons</a:t>
            </a:r>
            <a:r>
              <a:rPr lang="en-US" sz="2800" dirty="0">
                <a:solidFill>
                  <a:srgbClr val="FF0000"/>
                </a:solidFill>
                <a:latin typeface="Tw Cen MT" pitchFamily="34" charset="0"/>
              </a:rPr>
              <a:t>.</a:t>
            </a:r>
            <a:r>
              <a:rPr lang="en-US" sz="2800" dirty="0">
                <a:latin typeface="Tw Cen MT" pitchFamily="34" charset="0"/>
              </a:rPr>
              <a:t> The generalized version of the pigeonhole principle is that if </a:t>
            </a:r>
            <a:r>
              <a:rPr lang="en-US" sz="2800" b="1" dirty="0">
                <a:solidFill>
                  <a:srgbClr val="0000FF"/>
                </a:solidFill>
                <a:latin typeface="Tw Cen MT" pitchFamily="34" charset="0"/>
              </a:rPr>
              <a:t>n</a:t>
            </a:r>
            <a:r>
              <a:rPr lang="en-US" sz="2800" dirty="0">
                <a:solidFill>
                  <a:srgbClr val="FF0000"/>
                </a:solidFill>
                <a:latin typeface="Tw Cen MT" pitchFamily="34" charset="0"/>
              </a:rPr>
              <a:t> </a:t>
            </a:r>
            <a:r>
              <a:rPr lang="en-US" sz="2800" dirty="0">
                <a:latin typeface="Tw Cen MT" pitchFamily="34" charset="0"/>
              </a:rPr>
              <a:t>pigeonholes are occupied by </a:t>
            </a:r>
            <a:r>
              <a:rPr lang="en-US" sz="2800" b="1" dirty="0" err="1">
                <a:solidFill>
                  <a:srgbClr val="0000FF"/>
                </a:solidFill>
                <a:latin typeface="Tw Cen MT" pitchFamily="34" charset="0"/>
              </a:rPr>
              <a:t>kn</a:t>
            </a:r>
            <a:r>
              <a:rPr lang="en-US" sz="2800" b="1" dirty="0">
                <a:solidFill>
                  <a:srgbClr val="0000FF"/>
                </a:solidFill>
                <a:latin typeface="Tw Cen MT" pitchFamily="34" charset="0"/>
              </a:rPr>
              <a:t> + 1 </a:t>
            </a:r>
            <a:r>
              <a:rPr lang="en-US" sz="2800" dirty="0">
                <a:latin typeface="Tw Cen MT" pitchFamily="34" charset="0"/>
              </a:rPr>
              <a:t>pigeons, then at least one pigeonhole is occupied by </a:t>
            </a:r>
            <a:r>
              <a:rPr lang="en-US" sz="2800" b="1" dirty="0">
                <a:solidFill>
                  <a:srgbClr val="0000FF"/>
                </a:solidFill>
                <a:latin typeface="Tw Cen MT" pitchFamily="34" charset="0"/>
              </a:rPr>
              <a:t>k + 1 </a:t>
            </a:r>
            <a:r>
              <a:rPr lang="en-US" sz="2800" dirty="0">
                <a:latin typeface="Tw Cen MT" pitchFamily="34" charset="0"/>
              </a:rPr>
              <a:t>pigeons.</a:t>
            </a:r>
          </a:p>
        </p:txBody>
      </p:sp>
      <p:pic>
        <p:nvPicPr>
          <p:cNvPr id="6" name="Picture 5"/>
          <p:cNvPicPr>
            <a:picLocks noChangeAspect="1"/>
          </p:cNvPicPr>
          <p:nvPr/>
        </p:nvPicPr>
        <p:blipFill>
          <a:blip r:embed="rId2"/>
          <a:stretch>
            <a:fillRect/>
          </a:stretch>
        </p:blipFill>
        <p:spPr>
          <a:xfrm>
            <a:off x="4038600" y="3657600"/>
            <a:ext cx="4252912" cy="2633602"/>
          </a:xfrm>
          <a:prstGeom prst="rect">
            <a:avLst/>
          </a:prstGeom>
        </p:spPr>
      </p:pic>
      <p:sp>
        <p:nvSpPr>
          <p:cNvPr id="8" name="TextBox 7"/>
          <p:cNvSpPr txBox="1"/>
          <p:nvPr/>
        </p:nvSpPr>
        <p:spPr>
          <a:xfrm>
            <a:off x="2438400" y="4495800"/>
            <a:ext cx="1143000" cy="369332"/>
          </a:xfrm>
          <a:prstGeom prst="rect">
            <a:avLst/>
          </a:prstGeom>
          <a:noFill/>
        </p:spPr>
        <p:txBody>
          <a:bodyPr wrap="square" rtlCol="0">
            <a:spAutoFit/>
          </a:bodyPr>
          <a:lstStyle/>
          <a:p>
            <a:r>
              <a:rPr lang="en-GB" dirty="0"/>
              <a:t>n=12</a:t>
            </a:r>
          </a:p>
        </p:txBody>
      </p:sp>
    </p:spTree>
    <p:extLst>
      <p:ext uri="{BB962C8B-B14F-4D97-AF65-F5344CB8AC3E}">
        <p14:creationId xmlns:p14="http://schemas.microsoft.com/office/powerpoint/2010/main" val="1240106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35</a:t>
            </a:fld>
            <a:endParaRPr lang="en-US" dirty="0"/>
          </a:p>
        </p:txBody>
      </p:sp>
      <p:sp>
        <p:nvSpPr>
          <p:cNvPr id="4" name="Rectangle 3"/>
          <p:cNvSpPr/>
          <p:nvPr/>
        </p:nvSpPr>
        <p:spPr>
          <a:xfrm>
            <a:off x="4191000" y="668441"/>
            <a:ext cx="3695242" cy="584775"/>
          </a:xfrm>
          <a:prstGeom prst="rect">
            <a:avLst/>
          </a:prstGeom>
        </p:spPr>
        <p:txBody>
          <a:bodyPr wrap="none">
            <a:spAutoFit/>
          </a:bodyPr>
          <a:lstStyle/>
          <a:p>
            <a:r>
              <a:rPr lang="en-US" sz="3200" b="1" dirty="0">
                <a:solidFill>
                  <a:srgbClr val="FF0000"/>
                </a:solidFill>
                <a:latin typeface="Tw Cen MT" panose="020B0602020104020603" pitchFamily="34" charset="0"/>
              </a:rPr>
              <a:t>Pigeonhole Principal</a:t>
            </a:r>
          </a:p>
        </p:txBody>
      </p:sp>
      <p:sp>
        <p:nvSpPr>
          <p:cNvPr id="6" name="Rectangle 11"/>
          <p:cNvSpPr>
            <a:spLocks noChangeArrowheads="1"/>
          </p:cNvSpPr>
          <p:nvPr/>
        </p:nvSpPr>
        <p:spPr bwMode="auto">
          <a:xfrm>
            <a:off x="1981201" y="2286000"/>
            <a:ext cx="815340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400" dirty="0">
                <a:latin typeface="Tw Cen MT" pitchFamily="34" charset="0"/>
              </a:rPr>
              <a:t>Assume that the messages in a hash function are 6 bits long and the digests are only 4 bits long. Then the possible number of digests (pigeonholes) is 24 = 16, and the possible number of messages (pigeons) is 26 = 64. This means </a:t>
            </a:r>
            <a:r>
              <a:rPr lang="en-US" sz="2400" i="1" dirty="0">
                <a:latin typeface="Tw Cen MT" pitchFamily="34" charset="0"/>
              </a:rPr>
              <a:t>n</a:t>
            </a:r>
            <a:r>
              <a:rPr lang="en-US" sz="2400" dirty="0">
                <a:latin typeface="Tw Cen MT" pitchFamily="34" charset="0"/>
              </a:rPr>
              <a:t> = 16 and </a:t>
            </a:r>
            <a:r>
              <a:rPr lang="en-US" sz="2400" i="1" dirty="0" err="1">
                <a:latin typeface="Tw Cen MT" pitchFamily="34" charset="0"/>
              </a:rPr>
              <a:t>kn</a:t>
            </a:r>
            <a:r>
              <a:rPr lang="en-US" sz="2400" dirty="0">
                <a:latin typeface="Tw Cen MT" pitchFamily="34" charset="0"/>
              </a:rPr>
              <a:t> + 1 = 64, so </a:t>
            </a:r>
            <a:r>
              <a:rPr lang="en-US" sz="2400" i="1" dirty="0">
                <a:latin typeface="Tw Cen MT" pitchFamily="34" charset="0"/>
              </a:rPr>
              <a:t>k</a:t>
            </a:r>
            <a:r>
              <a:rPr lang="en-US" sz="2400" dirty="0">
                <a:latin typeface="Tw Cen MT" pitchFamily="34" charset="0"/>
              </a:rPr>
              <a:t> is larger than 3. The conclusion is that at least one digest corresponds to </a:t>
            </a:r>
            <a:r>
              <a:rPr lang="en-US" sz="2400" dirty="0">
                <a:solidFill>
                  <a:srgbClr val="FF0000"/>
                </a:solidFill>
                <a:latin typeface="Tw Cen MT" pitchFamily="34" charset="0"/>
              </a:rPr>
              <a:t>four (i.e., </a:t>
            </a:r>
            <a:r>
              <a:rPr lang="en-US" sz="2400" i="1" dirty="0">
                <a:solidFill>
                  <a:srgbClr val="FF0000"/>
                </a:solidFill>
                <a:latin typeface="Tw Cen MT" pitchFamily="34" charset="0"/>
              </a:rPr>
              <a:t>k</a:t>
            </a:r>
            <a:r>
              <a:rPr lang="en-US" sz="2400" dirty="0">
                <a:solidFill>
                  <a:srgbClr val="FF0000"/>
                </a:solidFill>
                <a:latin typeface="Tw Cen MT" pitchFamily="34" charset="0"/>
              </a:rPr>
              <a:t> + 1) messages</a:t>
            </a:r>
            <a:r>
              <a:rPr lang="en-US" sz="2400" dirty="0">
                <a:latin typeface="Tw Cen MT" pitchFamily="34" charset="0"/>
              </a:rPr>
              <a:t>.</a:t>
            </a:r>
          </a:p>
        </p:txBody>
      </p:sp>
      <p:sp>
        <p:nvSpPr>
          <p:cNvPr id="8" name="Text Box 12"/>
          <p:cNvSpPr txBox="1">
            <a:spLocks noChangeArrowheads="1"/>
          </p:cNvSpPr>
          <p:nvPr/>
        </p:nvSpPr>
        <p:spPr bwMode="auto">
          <a:xfrm>
            <a:off x="1981200" y="1600200"/>
            <a:ext cx="1324402"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bg1"/>
                </a:solidFill>
                <a:latin typeface="Tw Cen MT" pitchFamily="34" charset="0"/>
              </a:rPr>
              <a:t>Example </a:t>
            </a:r>
            <a:endParaRPr lang="en-US" sz="2000" i="1" dirty="0">
              <a:solidFill>
                <a:schemeClr val="bg1"/>
              </a:solidFill>
              <a:latin typeface="Tw Cen MT" pitchFamily="34" charset="0"/>
            </a:endParaRPr>
          </a:p>
        </p:txBody>
      </p:sp>
    </p:spTree>
    <p:extLst>
      <p:ext uri="{BB962C8B-B14F-4D97-AF65-F5344CB8AC3E}">
        <p14:creationId xmlns:p14="http://schemas.microsoft.com/office/powerpoint/2010/main" val="13272764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36</a:t>
            </a:fld>
            <a:endParaRPr lang="en-US" dirty="0"/>
          </a:p>
        </p:txBody>
      </p:sp>
      <p:grpSp>
        <p:nvGrpSpPr>
          <p:cNvPr id="20" name="Group 19"/>
          <p:cNvGrpSpPr/>
          <p:nvPr/>
        </p:nvGrpSpPr>
        <p:grpSpPr>
          <a:xfrm>
            <a:off x="1751610" y="668439"/>
            <a:ext cx="8840190" cy="5921492"/>
            <a:chOff x="227610" y="668439"/>
            <a:chExt cx="8840190" cy="5921492"/>
          </a:xfrm>
        </p:grpSpPr>
        <p:sp>
          <p:nvSpPr>
            <p:cNvPr id="4" name="Rectangle 3"/>
            <p:cNvSpPr/>
            <p:nvPr/>
          </p:nvSpPr>
          <p:spPr>
            <a:xfrm>
              <a:off x="2999002" y="668439"/>
              <a:ext cx="3332579" cy="584775"/>
            </a:xfrm>
            <a:prstGeom prst="rect">
              <a:avLst/>
            </a:prstGeom>
          </p:spPr>
          <p:txBody>
            <a:bodyPr wrap="none">
              <a:spAutoFit/>
            </a:bodyPr>
            <a:lstStyle/>
            <a:p>
              <a:r>
                <a:rPr lang="en-US" sz="3200" b="1" dirty="0">
                  <a:solidFill>
                    <a:srgbClr val="FF0000"/>
                  </a:solidFill>
                  <a:latin typeface="Tw Cen MT" panose="020B0602020104020603" pitchFamily="34" charset="0"/>
                </a:rPr>
                <a:t>Birthday Problems</a:t>
              </a:r>
            </a:p>
          </p:txBody>
        </p:sp>
        <p:sp>
          <p:nvSpPr>
            <p:cNvPr id="11" name="Text Box 11"/>
            <p:cNvSpPr txBox="1">
              <a:spLocks noChangeArrowheads="1"/>
            </p:cNvSpPr>
            <p:nvPr/>
          </p:nvSpPr>
          <p:spPr bwMode="auto">
            <a:xfrm>
              <a:off x="337457" y="1253214"/>
              <a:ext cx="83119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Four birthday problems are usually encountered in Probability courses</a:t>
              </a:r>
            </a:p>
          </p:txBody>
        </p:sp>
        <p:pic>
          <p:nvPicPr>
            <p:cNvPr id="12"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907840"/>
              <a:ext cx="6781800" cy="4035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04800" y="4800600"/>
              <a:ext cx="1143000" cy="646331"/>
            </a:xfrm>
            <a:prstGeom prst="rect">
              <a:avLst/>
            </a:prstGeom>
            <a:noFill/>
          </p:spPr>
          <p:txBody>
            <a:bodyPr wrap="square" rtlCol="0">
              <a:spAutoFit/>
            </a:bodyPr>
            <a:lstStyle/>
            <a:p>
              <a:r>
                <a:rPr lang="en-US" b="1" dirty="0">
                  <a:solidFill>
                    <a:srgbClr val="0000FF"/>
                  </a:solidFill>
                </a:rPr>
                <a:t>Birthday paradox</a:t>
              </a:r>
            </a:p>
          </p:txBody>
        </p:sp>
        <p:sp>
          <p:nvSpPr>
            <p:cNvPr id="5" name="TextBox 4"/>
            <p:cNvSpPr txBox="1"/>
            <p:nvPr/>
          </p:nvSpPr>
          <p:spPr>
            <a:xfrm>
              <a:off x="227610" y="2057400"/>
              <a:ext cx="1143000" cy="1477328"/>
            </a:xfrm>
            <a:prstGeom prst="rect">
              <a:avLst/>
            </a:prstGeom>
            <a:noFill/>
          </p:spPr>
          <p:txBody>
            <a:bodyPr wrap="square" rtlCol="0">
              <a:spAutoFit/>
            </a:bodyPr>
            <a:lstStyle/>
            <a:p>
              <a:r>
                <a:rPr lang="en-US" dirty="0">
                  <a:solidFill>
                    <a:srgbClr val="FF0000"/>
                  </a:solidFill>
                </a:rPr>
                <a:t>What Min number, k, list size</a:t>
              </a:r>
            </a:p>
          </p:txBody>
        </p:sp>
        <p:sp>
          <p:nvSpPr>
            <p:cNvPr id="13" name="TextBox 12"/>
            <p:cNvSpPr txBox="1"/>
            <p:nvPr/>
          </p:nvSpPr>
          <p:spPr>
            <a:xfrm>
              <a:off x="3657600" y="2590800"/>
              <a:ext cx="1447800" cy="646331"/>
            </a:xfrm>
            <a:prstGeom prst="rect">
              <a:avLst/>
            </a:prstGeom>
            <a:noFill/>
          </p:spPr>
          <p:txBody>
            <a:bodyPr wrap="square" rtlCol="0">
              <a:spAutoFit/>
            </a:bodyPr>
            <a:lstStyle/>
            <a:p>
              <a:r>
                <a:rPr lang="en-US" dirty="0">
                  <a:solidFill>
                    <a:srgbClr val="FF0000"/>
                  </a:solidFill>
                </a:rPr>
                <a:t>At least one matches</a:t>
              </a:r>
            </a:p>
          </p:txBody>
        </p:sp>
        <p:sp>
          <p:nvSpPr>
            <p:cNvPr id="14" name="TextBox 13"/>
            <p:cNvSpPr txBox="1"/>
            <p:nvPr/>
          </p:nvSpPr>
          <p:spPr>
            <a:xfrm>
              <a:off x="7162800" y="1907840"/>
              <a:ext cx="1752600" cy="369332"/>
            </a:xfrm>
            <a:prstGeom prst="rect">
              <a:avLst/>
            </a:prstGeom>
            <a:noFill/>
          </p:spPr>
          <p:txBody>
            <a:bodyPr wrap="square" rtlCol="0">
              <a:spAutoFit/>
            </a:bodyPr>
            <a:lstStyle/>
            <a:p>
              <a:r>
                <a:rPr lang="en-US" dirty="0">
                  <a:solidFill>
                    <a:srgbClr val="FF0000"/>
                  </a:solidFill>
                </a:rPr>
                <a:t>Selected value</a:t>
              </a:r>
            </a:p>
          </p:txBody>
        </p:sp>
        <p:sp>
          <p:nvSpPr>
            <p:cNvPr id="15" name="TextBox 14"/>
            <p:cNvSpPr txBox="1"/>
            <p:nvPr/>
          </p:nvSpPr>
          <p:spPr>
            <a:xfrm>
              <a:off x="2628900" y="4191000"/>
              <a:ext cx="1752600" cy="369332"/>
            </a:xfrm>
            <a:prstGeom prst="rect">
              <a:avLst/>
            </a:prstGeom>
            <a:noFill/>
          </p:spPr>
          <p:txBody>
            <a:bodyPr wrap="square" rtlCol="0">
              <a:spAutoFit/>
            </a:bodyPr>
            <a:lstStyle/>
            <a:p>
              <a:r>
                <a:rPr lang="en-US" dirty="0">
                  <a:solidFill>
                    <a:srgbClr val="FF0000"/>
                  </a:solidFill>
                </a:rPr>
                <a:t>Any two values</a:t>
              </a:r>
            </a:p>
          </p:txBody>
        </p:sp>
        <p:sp>
          <p:nvSpPr>
            <p:cNvPr id="16" name="TextBox 15"/>
            <p:cNvSpPr txBox="1"/>
            <p:nvPr/>
          </p:nvSpPr>
          <p:spPr>
            <a:xfrm>
              <a:off x="4998081" y="5943600"/>
              <a:ext cx="2667000" cy="646331"/>
            </a:xfrm>
            <a:prstGeom prst="rect">
              <a:avLst/>
            </a:prstGeom>
            <a:noFill/>
          </p:spPr>
          <p:txBody>
            <a:bodyPr wrap="square" rtlCol="0">
              <a:spAutoFit/>
            </a:bodyPr>
            <a:lstStyle/>
            <a:p>
              <a:r>
                <a:rPr lang="en-US" dirty="0">
                  <a:solidFill>
                    <a:srgbClr val="FF0000"/>
                  </a:solidFill>
                </a:rPr>
                <a:t>Min number k values (same two </a:t>
              </a:r>
              <a:r>
                <a:rPr lang="en-US" dirty="0" err="1">
                  <a:solidFill>
                    <a:srgbClr val="FF0000"/>
                  </a:solidFill>
                </a:rPr>
                <a:t>sts</a:t>
              </a:r>
              <a:r>
                <a:rPr lang="en-US" dirty="0">
                  <a:solidFill>
                    <a:srgbClr val="FF0000"/>
                  </a:solidFill>
                </a:rPr>
                <a:t>)</a:t>
              </a:r>
            </a:p>
          </p:txBody>
        </p:sp>
        <p:sp>
          <p:nvSpPr>
            <p:cNvPr id="17" name="TextBox 16"/>
            <p:cNvSpPr txBox="1"/>
            <p:nvPr/>
          </p:nvSpPr>
          <p:spPr>
            <a:xfrm>
              <a:off x="5609606" y="4205844"/>
              <a:ext cx="1752600" cy="369332"/>
            </a:xfrm>
            <a:prstGeom prst="rect">
              <a:avLst/>
            </a:prstGeom>
            <a:noFill/>
          </p:spPr>
          <p:txBody>
            <a:bodyPr wrap="square" rtlCol="0">
              <a:spAutoFit/>
            </a:bodyPr>
            <a:lstStyle/>
            <a:p>
              <a:r>
                <a:rPr lang="en-US" dirty="0">
                  <a:solidFill>
                    <a:srgbClr val="FF0000"/>
                  </a:solidFill>
                </a:rPr>
                <a:t> any value</a:t>
              </a:r>
            </a:p>
          </p:txBody>
        </p:sp>
        <p:sp>
          <p:nvSpPr>
            <p:cNvPr id="19" name="TextBox 18"/>
            <p:cNvSpPr txBox="1"/>
            <p:nvPr/>
          </p:nvSpPr>
          <p:spPr>
            <a:xfrm>
              <a:off x="7924800" y="4939099"/>
              <a:ext cx="1143000" cy="646331"/>
            </a:xfrm>
            <a:prstGeom prst="rect">
              <a:avLst/>
            </a:prstGeom>
            <a:noFill/>
          </p:spPr>
          <p:txBody>
            <a:bodyPr wrap="square" rtlCol="0">
              <a:spAutoFit/>
            </a:bodyPr>
            <a:lstStyle/>
            <a:p>
              <a:r>
                <a:rPr lang="en-US" dirty="0">
                  <a:solidFill>
                    <a:srgbClr val="FF0000"/>
                  </a:solidFill>
                </a:rPr>
                <a:t> any value</a:t>
              </a:r>
            </a:p>
          </p:txBody>
        </p:sp>
      </p:grpSp>
    </p:spTree>
    <p:extLst>
      <p:ext uri="{BB962C8B-B14F-4D97-AF65-F5344CB8AC3E}">
        <p14:creationId xmlns:p14="http://schemas.microsoft.com/office/powerpoint/2010/main" val="37991625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37</a:t>
            </a:fld>
            <a:endParaRPr lang="en-US" dirty="0"/>
          </a:p>
        </p:txBody>
      </p:sp>
      <p:sp>
        <p:nvSpPr>
          <p:cNvPr id="4" name="Rectangle 3"/>
          <p:cNvSpPr/>
          <p:nvPr/>
        </p:nvSpPr>
        <p:spPr>
          <a:xfrm>
            <a:off x="4636717" y="533401"/>
            <a:ext cx="3332579" cy="584775"/>
          </a:xfrm>
          <a:prstGeom prst="rect">
            <a:avLst/>
          </a:prstGeom>
        </p:spPr>
        <p:txBody>
          <a:bodyPr wrap="none">
            <a:spAutoFit/>
          </a:bodyPr>
          <a:lstStyle/>
          <a:p>
            <a:r>
              <a:rPr lang="en-US" sz="3200" b="1" dirty="0">
                <a:solidFill>
                  <a:srgbClr val="FF0000"/>
                </a:solidFill>
                <a:latin typeface="Tw Cen MT" panose="020B0602020104020603" pitchFamily="34" charset="0"/>
              </a:rPr>
              <a:t>Birthday Problems</a:t>
            </a:r>
          </a:p>
        </p:txBody>
      </p:sp>
      <p:pic>
        <p:nvPicPr>
          <p:cNvPr id="6" name="Picture 5"/>
          <p:cNvPicPr>
            <a:picLocks noChangeAspect="1"/>
          </p:cNvPicPr>
          <p:nvPr/>
        </p:nvPicPr>
        <p:blipFill>
          <a:blip r:embed="rId2"/>
          <a:stretch>
            <a:fillRect/>
          </a:stretch>
        </p:blipFill>
        <p:spPr>
          <a:xfrm>
            <a:off x="2133601" y="1371601"/>
            <a:ext cx="7743825" cy="4524375"/>
          </a:xfrm>
          <a:prstGeom prst="rect">
            <a:avLst/>
          </a:prstGeom>
        </p:spPr>
      </p:pic>
    </p:spTree>
    <p:extLst>
      <p:ext uri="{BB962C8B-B14F-4D97-AF65-F5344CB8AC3E}">
        <p14:creationId xmlns:p14="http://schemas.microsoft.com/office/powerpoint/2010/main" val="7292951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38</a:t>
            </a:fld>
            <a:endParaRPr lang="en-US" dirty="0"/>
          </a:p>
        </p:txBody>
      </p:sp>
      <p:sp>
        <p:nvSpPr>
          <p:cNvPr id="4" name="Rectangle 3"/>
          <p:cNvSpPr/>
          <p:nvPr/>
        </p:nvSpPr>
        <p:spPr>
          <a:xfrm>
            <a:off x="4636717" y="533401"/>
            <a:ext cx="3332579" cy="584775"/>
          </a:xfrm>
          <a:prstGeom prst="rect">
            <a:avLst/>
          </a:prstGeom>
        </p:spPr>
        <p:txBody>
          <a:bodyPr wrap="none">
            <a:spAutoFit/>
          </a:bodyPr>
          <a:lstStyle/>
          <a:p>
            <a:r>
              <a:rPr lang="en-US" sz="3200" b="1" dirty="0">
                <a:solidFill>
                  <a:srgbClr val="FF0000"/>
                </a:solidFill>
                <a:latin typeface="Tw Cen MT" panose="020B0602020104020603" pitchFamily="34" charset="0"/>
              </a:rPr>
              <a:t>Birthday Problems</a:t>
            </a:r>
          </a:p>
        </p:txBody>
      </p:sp>
      <p:pic>
        <p:nvPicPr>
          <p:cNvPr id="3" name="Picture 2"/>
          <p:cNvPicPr>
            <a:picLocks noChangeAspect="1"/>
          </p:cNvPicPr>
          <p:nvPr/>
        </p:nvPicPr>
        <p:blipFill>
          <a:blip r:embed="rId2"/>
          <a:stretch>
            <a:fillRect/>
          </a:stretch>
        </p:blipFill>
        <p:spPr>
          <a:xfrm>
            <a:off x="1981201" y="1447801"/>
            <a:ext cx="8201025" cy="4600575"/>
          </a:xfrm>
          <a:prstGeom prst="rect">
            <a:avLst/>
          </a:prstGeom>
        </p:spPr>
      </p:pic>
      <p:pic>
        <p:nvPicPr>
          <p:cNvPr id="9" name="Picture 8"/>
          <p:cNvPicPr>
            <a:picLocks noChangeAspect="1"/>
          </p:cNvPicPr>
          <p:nvPr/>
        </p:nvPicPr>
        <p:blipFill>
          <a:blip r:embed="rId3"/>
          <a:stretch>
            <a:fillRect/>
          </a:stretch>
        </p:blipFill>
        <p:spPr>
          <a:xfrm>
            <a:off x="1981200" y="5257801"/>
            <a:ext cx="609600" cy="561975"/>
          </a:xfrm>
          <a:prstGeom prst="rect">
            <a:avLst/>
          </a:prstGeom>
        </p:spPr>
      </p:pic>
      <p:pic>
        <p:nvPicPr>
          <p:cNvPr id="10" name="Picture 9"/>
          <p:cNvPicPr>
            <a:picLocks noChangeAspect="1"/>
          </p:cNvPicPr>
          <p:nvPr/>
        </p:nvPicPr>
        <p:blipFill>
          <a:blip r:embed="rId4"/>
          <a:stretch>
            <a:fillRect/>
          </a:stretch>
        </p:blipFill>
        <p:spPr>
          <a:xfrm>
            <a:off x="2438400" y="5334001"/>
            <a:ext cx="607030" cy="523875"/>
          </a:xfrm>
          <a:prstGeom prst="rect">
            <a:avLst/>
          </a:prstGeom>
        </p:spPr>
      </p:pic>
    </p:spTree>
    <p:extLst>
      <p:ext uri="{BB962C8B-B14F-4D97-AF65-F5344CB8AC3E}">
        <p14:creationId xmlns:p14="http://schemas.microsoft.com/office/powerpoint/2010/main" val="16500261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39</a:t>
            </a:fld>
            <a:endParaRPr lang="en-US" dirty="0"/>
          </a:p>
        </p:txBody>
      </p:sp>
      <p:sp>
        <p:nvSpPr>
          <p:cNvPr id="4" name="Rectangle 3"/>
          <p:cNvSpPr/>
          <p:nvPr/>
        </p:nvSpPr>
        <p:spPr>
          <a:xfrm>
            <a:off x="4636717" y="533401"/>
            <a:ext cx="3332579" cy="584775"/>
          </a:xfrm>
          <a:prstGeom prst="rect">
            <a:avLst/>
          </a:prstGeom>
        </p:spPr>
        <p:txBody>
          <a:bodyPr wrap="none">
            <a:spAutoFit/>
          </a:bodyPr>
          <a:lstStyle/>
          <a:p>
            <a:r>
              <a:rPr lang="en-US" sz="3200" b="1" dirty="0">
                <a:solidFill>
                  <a:srgbClr val="FF0000"/>
                </a:solidFill>
                <a:latin typeface="Tw Cen MT" panose="020B0602020104020603" pitchFamily="34" charset="0"/>
              </a:rPr>
              <a:t>Birthday Problems</a:t>
            </a:r>
          </a:p>
        </p:txBody>
      </p:sp>
      <p:pic>
        <p:nvPicPr>
          <p:cNvPr id="5" name="Picture 4"/>
          <p:cNvPicPr>
            <a:picLocks noChangeAspect="1"/>
          </p:cNvPicPr>
          <p:nvPr/>
        </p:nvPicPr>
        <p:blipFill>
          <a:blip r:embed="rId2"/>
          <a:stretch>
            <a:fillRect/>
          </a:stretch>
        </p:blipFill>
        <p:spPr>
          <a:xfrm>
            <a:off x="2005013" y="1528763"/>
            <a:ext cx="8181975" cy="3800475"/>
          </a:xfrm>
          <a:prstGeom prst="rect">
            <a:avLst/>
          </a:prstGeom>
        </p:spPr>
      </p:pic>
      <p:pic>
        <p:nvPicPr>
          <p:cNvPr id="6" name="Picture 5"/>
          <p:cNvPicPr>
            <a:picLocks noChangeAspect="1"/>
          </p:cNvPicPr>
          <p:nvPr/>
        </p:nvPicPr>
        <p:blipFill>
          <a:blip r:embed="rId3"/>
          <a:stretch>
            <a:fillRect/>
          </a:stretch>
        </p:blipFill>
        <p:spPr>
          <a:xfrm>
            <a:off x="5486401" y="2362201"/>
            <a:ext cx="276225" cy="276225"/>
          </a:xfrm>
          <a:prstGeom prst="rect">
            <a:avLst/>
          </a:prstGeom>
        </p:spPr>
      </p:pic>
      <p:pic>
        <p:nvPicPr>
          <p:cNvPr id="7" name="Picture 6"/>
          <p:cNvPicPr>
            <a:picLocks noChangeAspect="1"/>
          </p:cNvPicPr>
          <p:nvPr/>
        </p:nvPicPr>
        <p:blipFill>
          <a:blip r:embed="rId3"/>
          <a:stretch>
            <a:fillRect/>
          </a:stretch>
        </p:blipFill>
        <p:spPr>
          <a:xfrm>
            <a:off x="3886201" y="2819401"/>
            <a:ext cx="276225" cy="276225"/>
          </a:xfrm>
          <a:prstGeom prst="rect">
            <a:avLst/>
          </a:prstGeom>
        </p:spPr>
      </p:pic>
      <p:pic>
        <p:nvPicPr>
          <p:cNvPr id="8" name="Picture 7"/>
          <p:cNvPicPr>
            <a:picLocks noChangeAspect="1"/>
          </p:cNvPicPr>
          <p:nvPr/>
        </p:nvPicPr>
        <p:blipFill>
          <a:blip r:embed="rId3"/>
          <a:stretch>
            <a:fillRect/>
          </a:stretch>
        </p:blipFill>
        <p:spPr>
          <a:xfrm>
            <a:off x="3643533" y="3629465"/>
            <a:ext cx="276225" cy="276225"/>
          </a:xfrm>
          <a:prstGeom prst="rect">
            <a:avLst/>
          </a:prstGeom>
        </p:spPr>
      </p:pic>
      <p:pic>
        <p:nvPicPr>
          <p:cNvPr id="9" name="Picture 8"/>
          <p:cNvPicPr>
            <a:picLocks noChangeAspect="1"/>
          </p:cNvPicPr>
          <p:nvPr/>
        </p:nvPicPr>
        <p:blipFill>
          <a:blip r:embed="rId3"/>
          <a:stretch>
            <a:fillRect/>
          </a:stretch>
        </p:blipFill>
        <p:spPr>
          <a:xfrm>
            <a:off x="3733801" y="4419601"/>
            <a:ext cx="276225" cy="276225"/>
          </a:xfrm>
          <a:prstGeom prst="rect">
            <a:avLst/>
          </a:prstGeom>
        </p:spPr>
      </p:pic>
      <p:pic>
        <p:nvPicPr>
          <p:cNvPr id="10" name="Picture 9"/>
          <p:cNvPicPr>
            <a:picLocks noChangeAspect="1"/>
          </p:cNvPicPr>
          <p:nvPr/>
        </p:nvPicPr>
        <p:blipFill>
          <a:blip r:embed="rId3"/>
          <a:stretch>
            <a:fillRect/>
          </a:stretch>
        </p:blipFill>
        <p:spPr>
          <a:xfrm>
            <a:off x="3886201" y="4828737"/>
            <a:ext cx="276225" cy="276225"/>
          </a:xfrm>
          <a:prstGeom prst="rect">
            <a:avLst/>
          </a:prstGeom>
        </p:spPr>
      </p:pic>
      <p:pic>
        <p:nvPicPr>
          <p:cNvPr id="11" name="Picture 10"/>
          <p:cNvPicPr>
            <a:picLocks noChangeAspect="1"/>
          </p:cNvPicPr>
          <p:nvPr/>
        </p:nvPicPr>
        <p:blipFill>
          <a:blip r:embed="rId3"/>
          <a:stretch>
            <a:fillRect/>
          </a:stretch>
        </p:blipFill>
        <p:spPr>
          <a:xfrm>
            <a:off x="5520397" y="1600201"/>
            <a:ext cx="276225" cy="276225"/>
          </a:xfrm>
          <a:prstGeom prst="rect">
            <a:avLst/>
          </a:prstGeom>
        </p:spPr>
      </p:pic>
      <p:pic>
        <p:nvPicPr>
          <p:cNvPr id="12" name="Picture 11"/>
          <p:cNvPicPr>
            <a:picLocks noChangeAspect="1"/>
          </p:cNvPicPr>
          <p:nvPr/>
        </p:nvPicPr>
        <p:blipFill>
          <a:blip r:embed="rId3"/>
          <a:stretch>
            <a:fillRect/>
          </a:stretch>
        </p:blipFill>
        <p:spPr>
          <a:xfrm>
            <a:off x="2300069" y="3166405"/>
            <a:ext cx="276225" cy="276225"/>
          </a:xfrm>
          <a:prstGeom prst="rect">
            <a:avLst/>
          </a:prstGeom>
        </p:spPr>
      </p:pic>
    </p:spTree>
    <p:extLst>
      <p:ext uri="{BB962C8B-B14F-4D97-AF65-F5344CB8AC3E}">
        <p14:creationId xmlns:p14="http://schemas.microsoft.com/office/powerpoint/2010/main" val="15639437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40</a:t>
            </a:fld>
            <a:endParaRPr lang="en-US" dirty="0"/>
          </a:p>
        </p:txBody>
      </p:sp>
      <p:sp>
        <p:nvSpPr>
          <p:cNvPr id="4" name="Rectangle 3"/>
          <p:cNvSpPr/>
          <p:nvPr/>
        </p:nvSpPr>
        <p:spPr>
          <a:xfrm>
            <a:off x="4523003" y="668440"/>
            <a:ext cx="3332579" cy="584775"/>
          </a:xfrm>
          <a:prstGeom prst="rect">
            <a:avLst/>
          </a:prstGeom>
        </p:spPr>
        <p:txBody>
          <a:bodyPr wrap="none">
            <a:spAutoFit/>
          </a:bodyPr>
          <a:lstStyle/>
          <a:p>
            <a:r>
              <a:rPr lang="en-US" sz="3200" b="1" dirty="0">
                <a:solidFill>
                  <a:srgbClr val="FF0000"/>
                </a:solidFill>
                <a:latin typeface="Tw Cen MT" panose="020B0602020104020603" pitchFamily="34" charset="0"/>
              </a:rPr>
              <a:t>Birthday Problems</a:t>
            </a:r>
          </a:p>
        </p:txBody>
      </p:sp>
      <p:sp>
        <p:nvSpPr>
          <p:cNvPr id="18" name="Rectangle 9"/>
          <p:cNvSpPr>
            <a:spLocks noChangeArrowheads="1"/>
          </p:cNvSpPr>
          <p:nvPr/>
        </p:nvSpPr>
        <p:spPr bwMode="auto">
          <a:xfrm>
            <a:off x="1752600" y="1279934"/>
            <a:ext cx="8686800" cy="138499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solidFill>
                  <a:schemeClr val="folHlink"/>
                </a:solidFill>
                <a:latin typeface="Tw Cen MT" pitchFamily="34" charset="0"/>
              </a:rPr>
              <a:t>Summary of Solutions</a:t>
            </a:r>
          </a:p>
          <a:p>
            <a:pPr algn="just"/>
            <a:r>
              <a:rPr lang="en-US" sz="2800" dirty="0">
                <a:latin typeface="Tw Cen MT" pitchFamily="34" charset="0"/>
              </a:rPr>
              <a:t>Solutions to these problems are given in Appendix E for interested readers; The results are summarized in Table.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1163" y="2819401"/>
            <a:ext cx="8829675" cy="300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92689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41</a:t>
            </a:fld>
            <a:endParaRPr lang="en-US" dirty="0"/>
          </a:p>
        </p:txBody>
      </p:sp>
      <p:sp>
        <p:nvSpPr>
          <p:cNvPr id="4" name="Rectangle 3"/>
          <p:cNvSpPr/>
          <p:nvPr/>
        </p:nvSpPr>
        <p:spPr>
          <a:xfrm>
            <a:off x="4768558" y="533401"/>
            <a:ext cx="2247731" cy="584775"/>
          </a:xfrm>
          <a:prstGeom prst="rect">
            <a:avLst/>
          </a:prstGeom>
        </p:spPr>
        <p:txBody>
          <a:bodyPr wrap="none">
            <a:spAutoFit/>
          </a:bodyPr>
          <a:lstStyle/>
          <a:p>
            <a:r>
              <a:rPr lang="en-US" sz="3200" b="1" dirty="0">
                <a:solidFill>
                  <a:srgbClr val="FF0000"/>
                </a:solidFill>
                <a:latin typeface="Tw Cen MT" panose="020B0602020104020603" pitchFamily="34" charset="0"/>
              </a:rPr>
              <a:t>Comparison</a:t>
            </a:r>
          </a:p>
        </p:txBody>
      </p:sp>
      <p:sp>
        <p:nvSpPr>
          <p:cNvPr id="6" name="Rectangle 9"/>
          <p:cNvSpPr>
            <a:spLocks noChangeArrowheads="1"/>
          </p:cNvSpPr>
          <p:nvPr/>
        </p:nvSpPr>
        <p:spPr bwMode="auto">
          <a:xfrm>
            <a:off x="1711324" y="1253215"/>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solidFill>
                  <a:schemeClr val="folHlink"/>
                </a:solidFill>
                <a:latin typeface="Tw Cen MT" pitchFamily="34" charset="0"/>
              </a:rPr>
              <a:t>Comparison</a:t>
            </a:r>
            <a:endParaRPr lang="en-US" sz="2800" dirty="0">
              <a:latin typeface="Tw Cen MT" pitchFamily="34" charset="0"/>
            </a:endParaRPr>
          </a:p>
        </p:txBody>
      </p:sp>
      <p:sp>
        <p:nvSpPr>
          <p:cNvPr id="7" name="Text Box 11"/>
          <p:cNvSpPr txBox="1">
            <a:spLocks noChangeArrowheads="1"/>
          </p:cNvSpPr>
          <p:nvPr/>
        </p:nvSpPr>
        <p:spPr bwMode="auto">
          <a:xfrm>
            <a:off x="3706054" y="1772328"/>
            <a:ext cx="43727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i="1" dirty="0">
                <a:latin typeface="Tw Cen MT" pitchFamily="34" charset="0"/>
              </a:rPr>
              <a:t>Graph of four birthday problem</a:t>
            </a:r>
          </a:p>
        </p:txBody>
      </p:sp>
      <p:pic>
        <p:nvPicPr>
          <p:cNvPr id="8"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3402" y="2416630"/>
            <a:ext cx="7834312" cy="424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8111447" y="3657601"/>
            <a:ext cx="1143000" cy="646331"/>
          </a:xfrm>
          <a:prstGeom prst="rect">
            <a:avLst/>
          </a:prstGeom>
          <a:noFill/>
        </p:spPr>
        <p:txBody>
          <a:bodyPr wrap="square" rtlCol="0">
            <a:spAutoFit/>
          </a:bodyPr>
          <a:lstStyle/>
          <a:p>
            <a:r>
              <a:rPr lang="en-US" dirty="0">
                <a:solidFill>
                  <a:srgbClr val="FF0000"/>
                </a:solidFill>
                <a:latin typeface="Tw Cen MT" pitchFamily="34" charset="0"/>
              </a:rPr>
              <a:t>Collision attack</a:t>
            </a:r>
          </a:p>
        </p:txBody>
      </p:sp>
      <p:sp>
        <p:nvSpPr>
          <p:cNvPr id="10" name="TextBox 9"/>
          <p:cNvSpPr txBox="1"/>
          <p:nvPr/>
        </p:nvSpPr>
        <p:spPr>
          <a:xfrm>
            <a:off x="9174183" y="3137940"/>
            <a:ext cx="1341417" cy="646331"/>
          </a:xfrm>
          <a:prstGeom prst="rect">
            <a:avLst/>
          </a:prstGeom>
          <a:noFill/>
        </p:spPr>
        <p:txBody>
          <a:bodyPr wrap="square" rtlCol="0">
            <a:spAutoFit/>
          </a:bodyPr>
          <a:lstStyle/>
          <a:p>
            <a:r>
              <a:rPr lang="en-US" dirty="0" err="1">
                <a:solidFill>
                  <a:srgbClr val="FF0000"/>
                </a:solidFill>
                <a:latin typeface="Tw Cen MT" pitchFamily="34" charset="0"/>
              </a:rPr>
              <a:t>Preimage</a:t>
            </a:r>
            <a:r>
              <a:rPr lang="en-US" dirty="0">
                <a:solidFill>
                  <a:srgbClr val="FF0000"/>
                </a:solidFill>
                <a:latin typeface="Tw Cen MT" pitchFamily="34" charset="0"/>
              </a:rPr>
              <a:t>  attack</a:t>
            </a:r>
          </a:p>
        </p:txBody>
      </p:sp>
      <p:sp>
        <p:nvSpPr>
          <p:cNvPr id="5" name="TextBox 4"/>
          <p:cNvSpPr txBox="1"/>
          <p:nvPr/>
        </p:nvSpPr>
        <p:spPr>
          <a:xfrm>
            <a:off x="2667001" y="2400197"/>
            <a:ext cx="1326197" cy="369332"/>
          </a:xfrm>
          <a:prstGeom prst="rect">
            <a:avLst/>
          </a:prstGeom>
          <a:noFill/>
        </p:spPr>
        <p:txBody>
          <a:bodyPr wrap="none" rtlCol="0">
            <a:spAutoFit/>
          </a:bodyPr>
          <a:lstStyle/>
          <a:p>
            <a:r>
              <a:rPr lang="en-US" dirty="0">
                <a:latin typeface="Tw Cen MT" pitchFamily="34" charset="0"/>
              </a:rPr>
              <a:t>, probability</a:t>
            </a:r>
          </a:p>
        </p:txBody>
      </p:sp>
    </p:spTree>
    <p:extLst>
      <p:ext uri="{BB962C8B-B14F-4D97-AF65-F5344CB8AC3E}">
        <p14:creationId xmlns:p14="http://schemas.microsoft.com/office/powerpoint/2010/main" val="21092756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42</a:t>
            </a:fld>
            <a:endParaRPr lang="en-US" dirty="0"/>
          </a:p>
        </p:txBody>
      </p:sp>
      <p:sp>
        <p:nvSpPr>
          <p:cNvPr id="4" name="Rectangle 3"/>
          <p:cNvSpPr/>
          <p:nvPr/>
        </p:nvSpPr>
        <p:spPr>
          <a:xfrm>
            <a:off x="3352800" y="457201"/>
            <a:ext cx="5876352" cy="584775"/>
          </a:xfrm>
          <a:prstGeom prst="rect">
            <a:avLst/>
          </a:prstGeom>
        </p:spPr>
        <p:txBody>
          <a:bodyPr wrap="none">
            <a:spAutoFit/>
          </a:bodyPr>
          <a:lstStyle/>
          <a:p>
            <a:r>
              <a:rPr lang="en-GB" sz="3200" dirty="0">
                <a:solidFill>
                  <a:srgbClr val="FF0000"/>
                </a:solidFill>
                <a:latin typeface="Tw Cen MT" panose="020B0602020104020603" pitchFamily="34" charset="0"/>
              </a:rPr>
              <a:t>Examples of Crypto Hash Functions</a:t>
            </a:r>
            <a:endParaRPr lang="en-US" sz="3200" b="1" dirty="0">
              <a:solidFill>
                <a:srgbClr val="FF0000"/>
              </a:solidFill>
              <a:latin typeface="Tw Cen MT" panose="020B0602020104020603" pitchFamily="34" charset="0"/>
            </a:endParaRPr>
          </a:p>
        </p:txBody>
      </p:sp>
      <p:sp>
        <p:nvSpPr>
          <p:cNvPr id="6" name="Rectangle 9"/>
          <p:cNvSpPr>
            <a:spLocks noChangeArrowheads="1"/>
          </p:cNvSpPr>
          <p:nvPr/>
        </p:nvSpPr>
        <p:spPr bwMode="auto">
          <a:xfrm>
            <a:off x="1711324" y="1253215"/>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solidFill>
                  <a:schemeClr val="folHlink"/>
                </a:solidFill>
                <a:latin typeface="Tw Cen MT" pitchFamily="34" charset="0"/>
              </a:rPr>
              <a:t>Comparison</a:t>
            </a:r>
            <a:endParaRPr lang="en-US" sz="2800" dirty="0">
              <a:latin typeface="Tw Cen MT" pitchFamily="34" charset="0"/>
            </a:endParaRPr>
          </a:p>
        </p:txBody>
      </p:sp>
      <p:sp>
        <p:nvSpPr>
          <p:cNvPr id="9" name="Rectangle 8"/>
          <p:cNvSpPr/>
          <p:nvPr/>
        </p:nvSpPr>
        <p:spPr>
          <a:xfrm>
            <a:off x="1828800" y="1981200"/>
            <a:ext cx="8001000" cy="3416320"/>
          </a:xfrm>
          <a:prstGeom prst="rect">
            <a:avLst/>
          </a:prstGeom>
        </p:spPr>
        <p:txBody>
          <a:bodyPr wrap="square">
            <a:spAutoFit/>
          </a:bodyPr>
          <a:lstStyle/>
          <a:p>
            <a:pPr marL="342900" indent="-342900" algn="just">
              <a:lnSpc>
                <a:spcPct val="150000"/>
              </a:lnSpc>
              <a:buFont typeface="Wingdings" panose="05000000000000000000" pitchFamily="2" charset="2"/>
              <a:buChar char="§"/>
            </a:pPr>
            <a:r>
              <a:rPr lang="en-GB" sz="2400" dirty="0">
                <a:latin typeface="Tw Cen MT" panose="020B0602020104020603" pitchFamily="34" charset="0"/>
              </a:rPr>
              <a:t>MD4 = Message Digest 4 - 32b operations </a:t>
            </a:r>
          </a:p>
          <a:p>
            <a:pPr marL="342900" indent="-342900" algn="just">
              <a:lnSpc>
                <a:spcPct val="150000"/>
              </a:lnSpc>
              <a:buFont typeface="Wingdings" panose="05000000000000000000" pitchFamily="2" charset="2"/>
              <a:buChar char="§"/>
            </a:pPr>
            <a:r>
              <a:rPr lang="en-GB" sz="2400" dirty="0">
                <a:latin typeface="Tw Cen MT" panose="020B0602020104020603" pitchFamily="34" charset="0"/>
              </a:rPr>
              <a:t>MD5 = Message Digest 5 - 32b operations </a:t>
            </a:r>
          </a:p>
          <a:p>
            <a:pPr marL="342900" indent="-342900" algn="just">
              <a:lnSpc>
                <a:spcPct val="150000"/>
              </a:lnSpc>
              <a:buFont typeface="Wingdings" panose="05000000000000000000" pitchFamily="2" charset="2"/>
              <a:buChar char="§"/>
            </a:pPr>
            <a:r>
              <a:rPr lang="en-GB" sz="2400" dirty="0">
                <a:latin typeface="Tw Cen MT" panose="020B0602020104020603" pitchFamily="34" charset="0"/>
              </a:rPr>
              <a:t>SHA = Secure hash algorithm [NIST] </a:t>
            </a:r>
          </a:p>
          <a:p>
            <a:pPr marL="342900" indent="-342900" algn="just">
              <a:lnSpc>
                <a:spcPct val="150000"/>
              </a:lnSpc>
              <a:buFont typeface="Wingdings" panose="05000000000000000000" pitchFamily="2" charset="2"/>
              <a:buChar char="§"/>
            </a:pPr>
            <a:r>
              <a:rPr lang="en-GB" sz="2400" dirty="0">
                <a:latin typeface="Tw Cen MT" panose="020B0602020104020603" pitchFamily="34" charset="0"/>
              </a:rPr>
              <a:t>SHA-1 = Updated SHA </a:t>
            </a:r>
          </a:p>
          <a:p>
            <a:pPr marL="342900" indent="-342900" algn="just">
              <a:lnSpc>
                <a:spcPct val="150000"/>
              </a:lnSpc>
              <a:buFont typeface="Wingdings" panose="05000000000000000000" pitchFamily="2" charset="2"/>
              <a:buChar char="§"/>
            </a:pPr>
            <a:r>
              <a:rPr lang="en-GB" sz="2400" dirty="0">
                <a:latin typeface="Tw Cen MT" panose="020B0602020104020603" pitchFamily="34" charset="0"/>
              </a:rPr>
              <a:t>SHA-2 = SHA-224, SHA-256, SHA-384, SHA-512 </a:t>
            </a:r>
            <a:r>
              <a:rPr lang="en-GB" sz="2400" dirty="0" err="1">
                <a:latin typeface="Tw Cen MT" panose="020B0602020104020603" pitchFamily="34" charset="0"/>
              </a:rPr>
              <a:t>SHA-512</a:t>
            </a:r>
            <a:r>
              <a:rPr lang="en-GB" sz="2400" dirty="0">
                <a:latin typeface="Tw Cen MT" panose="020B0602020104020603" pitchFamily="34" charset="0"/>
              </a:rPr>
              <a:t> uses 64-bit operations</a:t>
            </a:r>
          </a:p>
        </p:txBody>
      </p:sp>
    </p:spTree>
    <p:extLst>
      <p:ext uri="{BB962C8B-B14F-4D97-AF65-F5344CB8AC3E}">
        <p14:creationId xmlns:p14="http://schemas.microsoft.com/office/powerpoint/2010/main" val="2585908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Slide Number Placeholder 1"/>
          <p:cNvSpPr>
            <a:spLocks noGrp="1"/>
          </p:cNvSpPr>
          <p:nvPr>
            <p:ph type="sldNum" sz="quarter" idx="10"/>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gn="just"/>
            <a:fld id="{9869E540-A311-4645-8657-E7EDA055E3E5}" type="slidenum">
              <a:rPr lang="en-US" sz="2400" b="0">
                <a:solidFill>
                  <a:schemeClr val="bg2"/>
                </a:solidFill>
                <a:latin typeface="Tw Cen MT" panose="020B0602020104020603" pitchFamily="34" charset="0"/>
              </a:rPr>
              <a:pPr algn="just"/>
              <a:t>43</a:t>
            </a:fld>
            <a:endParaRPr lang="en-US" sz="2400" b="0" dirty="0">
              <a:solidFill>
                <a:schemeClr val="bg2"/>
              </a:solidFill>
              <a:latin typeface="Tw Cen MT" panose="020B0602020104020603" pitchFamily="34" charset="0"/>
            </a:endParaRPr>
          </a:p>
        </p:txBody>
      </p:sp>
      <p:sp>
        <p:nvSpPr>
          <p:cNvPr id="859139" name="Text Box 3"/>
          <p:cNvSpPr txBox="1">
            <a:spLocks noChangeArrowheads="1"/>
          </p:cNvSpPr>
          <p:nvPr/>
        </p:nvSpPr>
        <p:spPr bwMode="auto">
          <a:xfrm>
            <a:off x="1819225" y="520536"/>
            <a:ext cx="685668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a:defRPr/>
            </a:pPr>
            <a:r>
              <a:rPr lang="en-US" sz="3600" b="1" dirty="0">
                <a:solidFill>
                  <a:srgbClr val="FF0000"/>
                </a:solidFill>
                <a:latin typeface="Tw Cen MT" panose="020B0602020104020603" pitchFamily="34" charset="0"/>
              </a:rPr>
              <a:t>Cryptographic hash function Types</a:t>
            </a:r>
          </a:p>
        </p:txBody>
      </p:sp>
      <p:sp>
        <p:nvSpPr>
          <p:cNvPr id="38917" name="Text Box 4"/>
          <p:cNvSpPr txBox="1">
            <a:spLocks noChangeArrowheads="1"/>
          </p:cNvSpPr>
          <p:nvPr/>
        </p:nvSpPr>
        <p:spPr bwMode="auto">
          <a:xfrm>
            <a:off x="9753601" y="64008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gn="just"/>
            <a:endParaRPr lang="en-US" sz="2400">
              <a:latin typeface="Tw Cen MT" panose="020B0602020104020603" pitchFamily="34" charset="0"/>
            </a:endParaRPr>
          </a:p>
        </p:txBody>
      </p:sp>
      <p:sp>
        <p:nvSpPr>
          <p:cNvPr id="9" name="Content Placeholder 2"/>
          <p:cNvSpPr txBox="1">
            <a:spLocks/>
          </p:cNvSpPr>
          <p:nvPr/>
        </p:nvSpPr>
        <p:spPr>
          <a:xfrm>
            <a:off x="1676401" y="1524000"/>
            <a:ext cx="8762999" cy="2362200"/>
          </a:xfrm>
          <a:prstGeom prst="rect">
            <a:avLst/>
          </a:prstGeom>
        </p:spPr>
        <p:txBody>
          <a:bodyPr>
            <a:normAutofit/>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spcBef>
                <a:spcPts val="0"/>
              </a:spcBef>
              <a:spcAft>
                <a:spcPts val="1200"/>
              </a:spcAft>
            </a:pPr>
            <a:r>
              <a:rPr lang="en-US" sz="2800" dirty="0">
                <a:solidFill>
                  <a:schemeClr val="tx1"/>
                </a:solidFill>
                <a:latin typeface="Tw Cen MT" pitchFamily="34" charset="0"/>
              </a:rPr>
              <a:t>A cryptographic hash function takes a message of arbitrary length and creates a message digest of fixed length. The ultimate goal in this lesson is to discuss the details of the two most promising cryptographic hash algorithms SHA-512 and Whirlpool. </a:t>
            </a:r>
            <a:endParaRPr lang="en-US" dirty="0">
              <a:solidFill>
                <a:schemeClr val="tx1"/>
              </a:solidFill>
              <a:latin typeface="Tw Cen MT" panose="020B0602020104020603" pitchFamily="34" charset="0"/>
            </a:endParaRPr>
          </a:p>
        </p:txBody>
      </p:sp>
      <p:sp>
        <p:nvSpPr>
          <p:cNvPr id="10" name="Rectangle 6"/>
          <p:cNvSpPr>
            <a:spLocks noChangeArrowheads="1"/>
          </p:cNvSpPr>
          <p:nvPr/>
        </p:nvSpPr>
        <p:spPr bwMode="auto">
          <a:xfrm>
            <a:off x="2057400" y="4953001"/>
            <a:ext cx="6705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buClr>
                <a:schemeClr val="tx1"/>
              </a:buClr>
              <a:buSzPct val="117000"/>
              <a:buFont typeface="Wingdings" pitchFamily="2" charset="2"/>
              <a:buNone/>
            </a:pPr>
            <a:r>
              <a:rPr lang="en-US" sz="2400" dirty="0">
                <a:solidFill>
                  <a:schemeClr val="hlink"/>
                </a:solidFill>
                <a:latin typeface="Tw Cen MT" pitchFamily="34" charset="0"/>
              </a:rPr>
              <a:t>1 </a:t>
            </a:r>
            <a:r>
              <a:rPr lang="en-US" sz="2400" dirty="0">
                <a:solidFill>
                  <a:srgbClr val="0033CC"/>
                </a:solidFill>
                <a:latin typeface="Tw Cen MT" pitchFamily="34" charset="0"/>
              </a:rPr>
              <a:t>Iterated Hash Function</a:t>
            </a:r>
          </a:p>
          <a:p>
            <a:pPr>
              <a:buClr>
                <a:schemeClr val="tx1"/>
              </a:buClr>
              <a:buSzPct val="117000"/>
              <a:buFont typeface="Wingdings" pitchFamily="2" charset="2"/>
              <a:buNone/>
            </a:pPr>
            <a:r>
              <a:rPr lang="en-US" sz="2400" dirty="0">
                <a:solidFill>
                  <a:schemeClr val="hlink"/>
                </a:solidFill>
                <a:latin typeface="Tw Cen MT" pitchFamily="34" charset="0"/>
              </a:rPr>
              <a:t>2 </a:t>
            </a:r>
            <a:r>
              <a:rPr lang="en-US" sz="2400" dirty="0">
                <a:solidFill>
                  <a:srgbClr val="0033CC"/>
                </a:solidFill>
                <a:latin typeface="Tw Cen MT" pitchFamily="34" charset="0"/>
              </a:rPr>
              <a:t>Two Groups of Compression Functions</a:t>
            </a:r>
          </a:p>
          <a:p>
            <a:pPr algn="just">
              <a:buClr>
                <a:schemeClr val="tx1"/>
              </a:buClr>
              <a:buSzPct val="117000"/>
              <a:buFont typeface="Wingdings" panose="05000000000000000000" pitchFamily="2" charset="2"/>
              <a:buNone/>
            </a:pPr>
            <a:endParaRPr lang="en-US" sz="2400" dirty="0">
              <a:solidFill>
                <a:srgbClr val="0033CC"/>
              </a:solidFill>
              <a:latin typeface="Tw Cen MT" pitchFamily="34" charset="0"/>
            </a:endParaRPr>
          </a:p>
        </p:txBody>
      </p:sp>
    </p:spTree>
    <p:extLst>
      <p:ext uri="{BB962C8B-B14F-4D97-AF65-F5344CB8AC3E}">
        <p14:creationId xmlns:p14="http://schemas.microsoft.com/office/powerpoint/2010/main" val="20451885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4475" y="533401"/>
            <a:ext cx="6705600" cy="609601"/>
          </a:xfrm>
        </p:spPr>
        <p:txBody>
          <a:bodyPr/>
          <a:lstStyle/>
          <a:p>
            <a:pPr>
              <a:lnSpc>
                <a:spcPts val="4800"/>
              </a:lnSpc>
            </a:pPr>
            <a:r>
              <a:rPr lang="en-US" sz="3600" b="1" dirty="0">
                <a:solidFill>
                  <a:srgbClr val="CC3300"/>
                </a:solidFill>
                <a:latin typeface="Tw Cen MT" panose="020B0602020104020603" pitchFamily="34" charset="0"/>
              </a:rPr>
              <a:t>Iterated Hash Function</a:t>
            </a:r>
          </a:p>
        </p:txBody>
      </p:sp>
      <p:sp>
        <p:nvSpPr>
          <p:cNvPr id="8" name="Rectangle 11"/>
          <p:cNvSpPr>
            <a:spLocks noChangeArrowheads="1"/>
          </p:cNvSpPr>
          <p:nvPr/>
        </p:nvSpPr>
        <p:spPr bwMode="auto">
          <a:xfrm>
            <a:off x="2361210" y="1295400"/>
            <a:ext cx="7162800" cy="20005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sz="2800" b="1" dirty="0" err="1">
                <a:solidFill>
                  <a:srgbClr val="669900"/>
                </a:solidFill>
                <a:latin typeface="Tw Cen MT" pitchFamily="34" charset="0"/>
              </a:rPr>
              <a:t>Merkle-Damgard</a:t>
            </a:r>
            <a:r>
              <a:rPr lang="en-US" sz="2800" b="1" dirty="0">
                <a:solidFill>
                  <a:srgbClr val="669900"/>
                </a:solidFill>
                <a:latin typeface="Tw Cen MT" pitchFamily="34" charset="0"/>
              </a:rPr>
              <a:t> Scheme : </a:t>
            </a:r>
            <a:r>
              <a:rPr lang="en-US" sz="2400" dirty="0">
                <a:latin typeface="Tw Cen MT" pitchFamily="34" charset="0"/>
              </a:rPr>
              <a:t>All cryptographic hash functions need to create a fixed-size digest out of a variable size message -&gt; iteration</a:t>
            </a:r>
          </a:p>
          <a:p>
            <a:pPr algn="just"/>
            <a:r>
              <a:rPr lang="en-GB" sz="2400" dirty="0">
                <a:solidFill>
                  <a:srgbClr val="FF0000"/>
                </a:solidFill>
                <a:latin typeface="Tw Cen MT" panose="020B0602020104020603" pitchFamily="34" charset="0"/>
              </a:rPr>
              <a:t>If compression function is collision resistant</a:t>
            </a:r>
            <a:r>
              <a:rPr lang="en-GB" sz="2400" dirty="0">
                <a:latin typeface="Tw Cen MT" panose="020B0602020104020603" pitchFamily="34" charset="0"/>
              </a:rPr>
              <a:t>, </a:t>
            </a:r>
            <a:r>
              <a:rPr lang="en-GB" sz="2400" dirty="0">
                <a:solidFill>
                  <a:srgbClr val="FF0000"/>
                </a:solidFill>
                <a:latin typeface="Tw Cen MT" panose="020B0602020104020603" pitchFamily="34" charset="0"/>
              </a:rPr>
              <a:t>the entire structure is collision resistant</a:t>
            </a:r>
            <a:r>
              <a:rPr lang="en-GB" sz="2400" dirty="0">
                <a:latin typeface="Tw Cen MT" panose="020B0602020104020603" pitchFamily="34" charset="0"/>
              </a:rPr>
              <a:t> </a:t>
            </a:r>
            <a:endParaRPr lang="en-US" sz="2400" dirty="0">
              <a:latin typeface="Tw Cen MT" pitchFamily="34" charset="0"/>
            </a:endParaRPr>
          </a:p>
        </p:txBody>
      </p:sp>
      <p:grpSp>
        <p:nvGrpSpPr>
          <p:cNvPr id="10" name="Group 9"/>
          <p:cNvGrpSpPr/>
          <p:nvPr/>
        </p:nvGrpSpPr>
        <p:grpSpPr>
          <a:xfrm>
            <a:off x="2362200" y="3581400"/>
            <a:ext cx="7448994" cy="2617788"/>
            <a:chOff x="247206" y="2971800"/>
            <a:chExt cx="8515794" cy="3151188"/>
          </a:xfrm>
        </p:grpSpPr>
        <p:pic>
          <p:nvPicPr>
            <p:cNvPr id="7"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550" y="2971800"/>
              <a:ext cx="8299450" cy="315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247206" y="5407720"/>
              <a:ext cx="1180008" cy="629831"/>
            </a:xfrm>
            <a:prstGeom prst="rect">
              <a:avLst/>
            </a:prstGeom>
            <a:noFill/>
          </p:spPr>
          <p:txBody>
            <a:bodyPr wrap="square" rtlCol="0">
              <a:spAutoFit/>
            </a:bodyPr>
            <a:lstStyle/>
            <a:p>
              <a:r>
                <a:rPr lang="en-US" sz="1400" dirty="0"/>
                <a:t>Initial Vector</a:t>
              </a:r>
            </a:p>
          </p:txBody>
        </p:sp>
      </p:grpSp>
    </p:spTree>
    <p:extLst>
      <p:ext uri="{BB962C8B-B14F-4D97-AF65-F5344CB8AC3E}">
        <p14:creationId xmlns:p14="http://schemas.microsoft.com/office/powerpoint/2010/main" val="15535445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4475" y="533401"/>
            <a:ext cx="6705600" cy="609601"/>
          </a:xfrm>
        </p:spPr>
        <p:txBody>
          <a:bodyPr/>
          <a:lstStyle/>
          <a:p>
            <a:pPr>
              <a:lnSpc>
                <a:spcPts val="4800"/>
              </a:lnSpc>
            </a:pPr>
            <a:r>
              <a:rPr lang="en-US" sz="3600" b="1" dirty="0">
                <a:solidFill>
                  <a:srgbClr val="CC3300"/>
                </a:solidFill>
                <a:latin typeface="Tw Cen MT" panose="020B0602020104020603" pitchFamily="34" charset="0"/>
              </a:rPr>
              <a:t>Iterated Hash Function</a:t>
            </a:r>
          </a:p>
        </p:txBody>
      </p:sp>
      <p:pic>
        <p:nvPicPr>
          <p:cNvPr id="3" name="Picture 2"/>
          <p:cNvPicPr>
            <a:picLocks noChangeAspect="1"/>
          </p:cNvPicPr>
          <p:nvPr/>
        </p:nvPicPr>
        <p:blipFill>
          <a:blip r:embed="rId3"/>
          <a:stretch>
            <a:fillRect/>
          </a:stretch>
        </p:blipFill>
        <p:spPr>
          <a:xfrm>
            <a:off x="1981201" y="1905000"/>
            <a:ext cx="7500839" cy="3733800"/>
          </a:xfrm>
          <a:prstGeom prst="rect">
            <a:avLst/>
          </a:prstGeom>
        </p:spPr>
      </p:pic>
    </p:spTree>
    <p:extLst>
      <p:ext uri="{BB962C8B-B14F-4D97-AF65-F5344CB8AC3E}">
        <p14:creationId xmlns:p14="http://schemas.microsoft.com/office/powerpoint/2010/main" val="27316104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0"/>
          <p:cNvSpPr txBox="1">
            <a:spLocks noGrp="1" noChangeArrowheads="1"/>
          </p:cNvSpPr>
          <p:nvPr>
            <p:ph type="title"/>
          </p:nvPr>
        </p:nvSpPr>
        <p:spPr bwMode="auto">
          <a:xfrm>
            <a:off x="2742756" y="545813"/>
            <a:ext cx="678903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rgbClr val="FF0000"/>
                </a:solidFill>
                <a:latin typeface="Tw Cen MT" pitchFamily="34" charset="0"/>
              </a:rPr>
              <a:t>Two Groups of Compression Functions</a:t>
            </a:r>
          </a:p>
        </p:txBody>
      </p:sp>
      <p:sp>
        <p:nvSpPr>
          <p:cNvPr id="6" name="Rectangle 9"/>
          <p:cNvSpPr>
            <a:spLocks noChangeArrowheads="1"/>
          </p:cNvSpPr>
          <p:nvPr/>
        </p:nvSpPr>
        <p:spPr bwMode="auto">
          <a:xfrm>
            <a:off x="1752600" y="1323975"/>
            <a:ext cx="8686800" cy="5232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latin typeface="Tw Cen MT" pitchFamily="34" charset="0"/>
              </a:rPr>
              <a:t>1. The compression function is made from scratch.</a:t>
            </a:r>
          </a:p>
        </p:txBody>
      </p:sp>
      <p:sp>
        <p:nvSpPr>
          <p:cNvPr id="9" name="Rectangle 11"/>
          <p:cNvSpPr>
            <a:spLocks noChangeArrowheads="1"/>
          </p:cNvSpPr>
          <p:nvPr/>
        </p:nvSpPr>
        <p:spPr bwMode="auto">
          <a:xfrm>
            <a:off x="1752600" y="3533776"/>
            <a:ext cx="8686800" cy="9541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a:latin typeface="Tw Cen MT" pitchFamily="34" charset="0"/>
              </a:rPr>
              <a:t>2. A symmetric-key block cipher serves as a compression function.</a:t>
            </a:r>
          </a:p>
        </p:txBody>
      </p:sp>
      <p:sp>
        <p:nvSpPr>
          <p:cNvPr id="10" name="Rectangle 12"/>
          <p:cNvSpPr>
            <a:spLocks noChangeArrowheads="1"/>
          </p:cNvSpPr>
          <p:nvPr/>
        </p:nvSpPr>
        <p:spPr bwMode="auto">
          <a:xfrm>
            <a:off x="2164649" y="2209800"/>
            <a:ext cx="7862702" cy="523220"/>
          </a:xfrm>
          <a:prstGeom prst="rect">
            <a:avLst/>
          </a:prstGeom>
          <a:solidFill>
            <a:schemeClr val="bg1"/>
          </a:solidFill>
          <a:ln w="381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sz="2800" b="1" dirty="0">
                <a:solidFill>
                  <a:schemeClr val="folHlink"/>
                </a:solidFill>
                <a:latin typeface="Tw Cen MT" pitchFamily="34" charset="0"/>
              </a:rPr>
              <a:t>Message Digest (MD) </a:t>
            </a:r>
            <a:r>
              <a:rPr lang="en-US" sz="2800" dirty="0">
                <a:solidFill>
                  <a:schemeClr val="folHlink"/>
                </a:solidFill>
                <a:latin typeface="Tw Cen MT" pitchFamily="34" charset="0"/>
              </a:rPr>
              <a:t>(by Ron </a:t>
            </a:r>
            <a:r>
              <a:rPr lang="en-US" sz="2800" dirty="0" err="1">
                <a:solidFill>
                  <a:schemeClr val="folHlink"/>
                </a:solidFill>
                <a:latin typeface="Tw Cen MT" pitchFamily="34" charset="0"/>
              </a:rPr>
              <a:t>Rivest</a:t>
            </a:r>
            <a:r>
              <a:rPr lang="en-US" sz="2800" dirty="0">
                <a:solidFill>
                  <a:schemeClr val="folHlink"/>
                </a:solidFill>
                <a:latin typeface="Tw Cen MT" pitchFamily="34" charset="0"/>
              </a:rPr>
              <a:t>), </a:t>
            </a:r>
            <a:r>
              <a:rPr lang="en-US" sz="2800" b="1" dirty="0">
                <a:solidFill>
                  <a:schemeClr val="folHlink"/>
                </a:solidFill>
                <a:latin typeface="Tw Cen MT" pitchFamily="34" charset="0"/>
              </a:rPr>
              <a:t>SHA (by NIST</a:t>
            </a:r>
            <a:endParaRPr lang="en-US" sz="2800" b="1" dirty="0">
              <a:latin typeface="Tw Cen MT" pitchFamily="34" charset="0"/>
            </a:endParaRPr>
          </a:p>
        </p:txBody>
      </p:sp>
      <p:sp>
        <p:nvSpPr>
          <p:cNvPr id="11" name="Rectangle 13"/>
          <p:cNvSpPr>
            <a:spLocks noChangeArrowheads="1"/>
          </p:cNvSpPr>
          <p:nvPr/>
        </p:nvSpPr>
        <p:spPr bwMode="auto">
          <a:xfrm>
            <a:off x="2971800" y="4614863"/>
            <a:ext cx="1866900" cy="523220"/>
          </a:xfrm>
          <a:prstGeom prst="rect">
            <a:avLst/>
          </a:prstGeom>
          <a:solidFill>
            <a:schemeClr val="bg1"/>
          </a:solidFill>
          <a:ln w="381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b="1" dirty="0">
                <a:solidFill>
                  <a:schemeClr val="folHlink"/>
                </a:solidFill>
                <a:latin typeface="Tw Cen MT" pitchFamily="34" charset="0"/>
              </a:rPr>
              <a:t>Whirlpool</a:t>
            </a:r>
            <a:endParaRPr lang="en-US" sz="2800" b="1" dirty="0">
              <a:latin typeface="Tw Cen MT" pitchFamily="34" charset="0"/>
            </a:endParaRPr>
          </a:p>
        </p:txBody>
      </p:sp>
    </p:spTree>
    <p:extLst>
      <p:ext uri="{BB962C8B-B14F-4D97-AF65-F5344CB8AC3E}">
        <p14:creationId xmlns:p14="http://schemas.microsoft.com/office/powerpoint/2010/main" val="38308262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0"/>
          <p:cNvSpPr txBox="1">
            <a:spLocks noGrp="1" noChangeArrowheads="1"/>
          </p:cNvSpPr>
          <p:nvPr>
            <p:ph type="title"/>
          </p:nvPr>
        </p:nvSpPr>
        <p:spPr bwMode="auto">
          <a:xfrm>
            <a:off x="4225531" y="545813"/>
            <a:ext cx="382348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rgbClr val="FF0000"/>
                </a:solidFill>
                <a:latin typeface="Tw Cen MT" pitchFamily="34" charset="0"/>
              </a:rPr>
              <a:t>Secure Hash Function</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3089" y="2105025"/>
            <a:ext cx="8505825"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04287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0"/>
          <p:cNvSpPr txBox="1">
            <a:spLocks noGrp="1" noChangeArrowheads="1"/>
          </p:cNvSpPr>
          <p:nvPr>
            <p:ph type="title"/>
          </p:nvPr>
        </p:nvSpPr>
        <p:spPr bwMode="auto">
          <a:xfrm>
            <a:off x="2701081" y="545813"/>
            <a:ext cx="68723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rgbClr val="FF0000"/>
                </a:solidFill>
                <a:latin typeface="Tw Cen MT" pitchFamily="34" charset="0"/>
              </a:rPr>
              <a:t>Hash Functions Based on Block Ciphers</a:t>
            </a:r>
          </a:p>
        </p:txBody>
      </p:sp>
      <p:sp>
        <p:nvSpPr>
          <p:cNvPr id="4" name="Rectangle 9"/>
          <p:cNvSpPr>
            <a:spLocks noChangeArrowheads="1"/>
          </p:cNvSpPr>
          <p:nvPr/>
        </p:nvSpPr>
        <p:spPr bwMode="auto">
          <a:xfrm>
            <a:off x="1752600" y="1371600"/>
            <a:ext cx="8686800" cy="107721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3200" dirty="0">
                <a:solidFill>
                  <a:schemeClr val="folHlink"/>
                </a:solidFill>
                <a:latin typeface="Tw Cen MT" pitchFamily="34" charset="0"/>
              </a:rPr>
              <a:t>Rabin Scheme (based on M-D scheme) </a:t>
            </a:r>
            <a:r>
              <a:rPr lang="en-US" sz="3200" dirty="0">
                <a:solidFill>
                  <a:srgbClr val="002060"/>
                </a:solidFill>
                <a:latin typeface="Tw Cen MT" pitchFamily="34" charset="0"/>
              </a:rPr>
              <a:t>uses </a:t>
            </a:r>
            <a:r>
              <a:rPr lang="en-US" sz="3200" b="1" dirty="0">
                <a:solidFill>
                  <a:srgbClr val="FF0000"/>
                </a:solidFill>
                <a:latin typeface="Tw Cen MT" pitchFamily="34" charset="0"/>
              </a:rPr>
              <a:t>any cipher</a:t>
            </a:r>
            <a:r>
              <a:rPr lang="en-US" sz="3200" dirty="0">
                <a:solidFill>
                  <a:srgbClr val="002060"/>
                </a:solidFill>
                <a:latin typeface="Tw Cen MT" pitchFamily="34" charset="0"/>
              </a:rPr>
              <a:t> as compression function</a:t>
            </a:r>
          </a:p>
        </p:txBody>
      </p:sp>
      <p:sp>
        <p:nvSpPr>
          <p:cNvPr id="6" name="Text Box 11"/>
          <p:cNvSpPr txBox="1">
            <a:spLocks noChangeArrowheads="1"/>
          </p:cNvSpPr>
          <p:nvPr/>
        </p:nvSpPr>
        <p:spPr bwMode="auto">
          <a:xfrm>
            <a:off x="4191000" y="2438401"/>
            <a:ext cx="25763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Rabin scheme</a:t>
            </a:r>
          </a:p>
        </p:txBody>
      </p:sp>
      <p:pic>
        <p:nvPicPr>
          <p:cNvPr id="7"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9600" y="3067050"/>
            <a:ext cx="82550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362200" y="6002194"/>
            <a:ext cx="5715000" cy="369332"/>
          </a:xfrm>
          <a:prstGeom prst="rect">
            <a:avLst/>
          </a:prstGeom>
          <a:noFill/>
        </p:spPr>
        <p:txBody>
          <a:bodyPr wrap="square" rtlCol="0">
            <a:spAutoFit/>
          </a:bodyPr>
          <a:lstStyle/>
          <a:p>
            <a:pPr marL="285750" indent="-285750">
              <a:buFont typeface="Wingdings" pitchFamily="2" charset="2"/>
              <a:buChar char="§"/>
            </a:pPr>
            <a:r>
              <a:rPr lang="en-US" dirty="0">
                <a:solidFill>
                  <a:srgbClr val="FF0000"/>
                </a:solidFill>
              </a:rPr>
              <a:t>vulnerable to meet-in-the-middle attack</a:t>
            </a:r>
          </a:p>
        </p:txBody>
      </p:sp>
    </p:spTree>
    <p:extLst>
      <p:ext uri="{BB962C8B-B14F-4D97-AF65-F5344CB8AC3E}">
        <p14:creationId xmlns:p14="http://schemas.microsoft.com/office/powerpoint/2010/main" val="1947653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0"/>
          <p:cNvSpPr txBox="1">
            <a:spLocks noGrp="1" noChangeArrowheads="1"/>
          </p:cNvSpPr>
          <p:nvPr>
            <p:ph type="title"/>
          </p:nvPr>
        </p:nvSpPr>
        <p:spPr bwMode="auto">
          <a:xfrm>
            <a:off x="2701081" y="545813"/>
            <a:ext cx="68723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rgbClr val="FF0000"/>
                </a:solidFill>
                <a:latin typeface="Tw Cen MT" pitchFamily="34" charset="0"/>
              </a:rPr>
              <a:t>Hash Functions Based on Block Ciphers</a:t>
            </a:r>
          </a:p>
        </p:txBody>
      </p:sp>
      <p:sp>
        <p:nvSpPr>
          <p:cNvPr id="4" name="Rectangle 9"/>
          <p:cNvSpPr>
            <a:spLocks noChangeArrowheads="1"/>
          </p:cNvSpPr>
          <p:nvPr/>
        </p:nvSpPr>
        <p:spPr bwMode="auto">
          <a:xfrm>
            <a:off x="1752600" y="1371601"/>
            <a:ext cx="8686800" cy="9541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solidFill>
                  <a:schemeClr val="folHlink"/>
                </a:solidFill>
                <a:latin typeface="Tw Cen MT" pitchFamily="34" charset="0"/>
              </a:rPr>
              <a:t>Rabin Scheme (based on M-D scheme) </a:t>
            </a:r>
            <a:r>
              <a:rPr lang="en-US" sz="2800" dirty="0">
                <a:solidFill>
                  <a:srgbClr val="002060"/>
                </a:solidFill>
                <a:latin typeface="Tw Cen MT" pitchFamily="34" charset="0"/>
              </a:rPr>
              <a:t>uses any cipher as compression function</a:t>
            </a:r>
          </a:p>
        </p:txBody>
      </p:sp>
      <p:sp>
        <p:nvSpPr>
          <p:cNvPr id="6" name="Text Box 11"/>
          <p:cNvSpPr txBox="1">
            <a:spLocks noChangeArrowheads="1"/>
          </p:cNvSpPr>
          <p:nvPr/>
        </p:nvSpPr>
        <p:spPr bwMode="auto">
          <a:xfrm>
            <a:off x="4191000" y="2438401"/>
            <a:ext cx="25763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Rabin scheme</a:t>
            </a:r>
          </a:p>
        </p:txBody>
      </p:sp>
      <p:pic>
        <p:nvPicPr>
          <p:cNvPr id="7"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9600" y="3067050"/>
            <a:ext cx="82550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362200" y="6002194"/>
            <a:ext cx="5715000" cy="369332"/>
          </a:xfrm>
          <a:prstGeom prst="rect">
            <a:avLst/>
          </a:prstGeom>
          <a:noFill/>
        </p:spPr>
        <p:txBody>
          <a:bodyPr wrap="square" rtlCol="0">
            <a:spAutoFit/>
          </a:bodyPr>
          <a:lstStyle/>
          <a:p>
            <a:pPr marL="285750" indent="-285750">
              <a:buFont typeface="Wingdings" pitchFamily="2" charset="2"/>
              <a:buChar char="§"/>
            </a:pPr>
            <a:r>
              <a:rPr lang="en-US" dirty="0">
                <a:solidFill>
                  <a:srgbClr val="FF0000"/>
                </a:solidFill>
              </a:rPr>
              <a:t>vulnerable to meet-in-the-middle attack</a:t>
            </a:r>
          </a:p>
        </p:txBody>
      </p:sp>
    </p:spTree>
    <p:extLst>
      <p:ext uri="{BB962C8B-B14F-4D97-AF65-F5344CB8AC3E}">
        <p14:creationId xmlns:p14="http://schemas.microsoft.com/office/powerpoint/2010/main" val="6854601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0"/>
          <p:cNvSpPr txBox="1">
            <a:spLocks noGrp="1" noChangeArrowheads="1"/>
          </p:cNvSpPr>
          <p:nvPr>
            <p:ph type="title"/>
          </p:nvPr>
        </p:nvSpPr>
        <p:spPr bwMode="auto">
          <a:xfrm>
            <a:off x="2701081" y="545813"/>
            <a:ext cx="68723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rgbClr val="FF0000"/>
                </a:solidFill>
                <a:latin typeface="Tw Cen MT" pitchFamily="34" charset="0"/>
              </a:rPr>
              <a:t>Hash Functions Based on Block Ciphers</a:t>
            </a:r>
          </a:p>
        </p:txBody>
      </p:sp>
      <p:sp>
        <p:nvSpPr>
          <p:cNvPr id="2" name="TextBox 1"/>
          <p:cNvSpPr txBox="1"/>
          <p:nvPr/>
        </p:nvSpPr>
        <p:spPr>
          <a:xfrm>
            <a:off x="2362200" y="6002194"/>
            <a:ext cx="5715000" cy="369332"/>
          </a:xfrm>
          <a:prstGeom prst="rect">
            <a:avLst/>
          </a:prstGeom>
          <a:noFill/>
        </p:spPr>
        <p:txBody>
          <a:bodyPr wrap="square" rtlCol="0">
            <a:spAutoFit/>
          </a:bodyPr>
          <a:lstStyle/>
          <a:p>
            <a:pPr marL="285750" indent="-285750">
              <a:buFont typeface="Wingdings" pitchFamily="2" charset="2"/>
              <a:buChar char="§"/>
            </a:pPr>
            <a:r>
              <a:rPr lang="en-US" dirty="0">
                <a:solidFill>
                  <a:srgbClr val="FF0000"/>
                </a:solidFill>
              </a:rPr>
              <a:t>To protect from meet-in-the-middle attack</a:t>
            </a:r>
          </a:p>
        </p:txBody>
      </p:sp>
      <p:sp>
        <p:nvSpPr>
          <p:cNvPr id="8" name="Rectangle 9"/>
          <p:cNvSpPr>
            <a:spLocks noChangeArrowheads="1"/>
          </p:cNvSpPr>
          <p:nvPr/>
        </p:nvSpPr>
        <p:spPr bwMode="auto">
          <a:xfrm>
            <a:off x="1752600" y="1359932"/>
            <a:ext cx="8686800" cy="5232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b="1" dirty="0">
                <a:solidFill>
                  <a:schemeClr val="folHlink"/>
                </a:solidFill>
                <a:latin typeface="Tw Cen MT" pitchFamily="34" charset="0"/>
              </a:rPr>
              <a:t>Davies-Meyer Scheme</a:t>
            </a:r>
            <a:endParaRPr lang="en-US" sz="2800" b="1" dirty="0">
              <a:latin typeface="Tw Cen MT" pitchFamily="34" charset="0"/>
            </a:endParaRPr>
          </a:p>
        </p:txBody>
      </p:sp>
      <p:sp>
        <p:nvSpPr>
          <p:cNvPr id="9" name="Text Box 11"/>
          <p:cNvSpPr txBox="1">
            <a:spLocks noChangeArrowheads="1"/>
          </p:cNvSpPr>
          <p:nvPr/>
        </p:nvSpPr>
        <p:spPr bwMode="auto">
          <a:xfrm>
            <a:off x="4191000" y="1981201"/>
            <a:ext cx="333745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Davies-Meyer scheme</a:t>
            </a:r>
          </a:p>
        </p:txBody>
      </p:sp>
      <p:pic>
        <p:nvPicPr>
          <p:cNvPr id="10"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838450"/>
            <a:ext cx="8610600" cy="272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88591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51</a:t>
            </a:fld>
            <a:endParaRPr lang="en-US" dirty="0"/>
          </a:p>
        </p:txBody>
      </p:sp>
      <p:sp>
        <p:nvSpPr>
          <p:cNvPr id="4" name="Text Box 10"/>
          <p:cNvSpPr txBox="1">
            <a:spLocks noChangeArrowheads="1"/>
          </p:cNvSpPr>
          <p:nvPr/>
        </p:nvSpPr>
        <p:spPr bwMode="auto">
          <a:xfrm>
            <a:off x="4114801" y="228601"/>
            <a:ext cx="40847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Secure Hash Algorithm</a:t>
            </a:r>
          </a:p>
        </p:txBody>
      </p:sp>
      <p:pic>
        <p:nvPicPr>
          <p:cNvPr id="5" name="Picture 4"/>
          <p:cNvPicPr>
            <a:picLocks noChangeAspect="1"/>
          </p:cNvPicPr>
          <p:nvPr/>
        </p:nvPicPr>
        <p:blipFill>
          <a:blip r:embed="rId2"/>
          <a:stretch>
            <a:fillRect/>
          </a:stretch>
        </p:blipFill>
        <p:spPr>
          <a:xfrm>
            <a:off x="2057401" y="914401"/>
            <a:ext cx="7877175" cy="5153025"/>
          </a:xfrm>
          <a:prstGeom prst="rect">
            <a:avLst/>
          </a:prstGeom>
        </p:spPr>
      </p:pic>
    </p:spTree>
    <p:extLst>
      <p:ext uri="{BB962C8B-B14F-4D97-AF65-F5344CB8AC3E}">
        <p14:creationId xmlns:p14="http://schemas.microsoft.com/office/powerpoint/2010/main" val="27640799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52</a:t>
            </a:fld>
            <a:endParaRPr lang="en-US" dirty="0"/>
          </a:p>
        </p:txBody>
      </p:sp>
      <p:sp>
        <p:nvSpPr>
          <p:cNvPr id="4" name="Text Box 10"/>
          <p:cNvSpPr txBox="1">
            <a:spLocks noChangeArrowheads="1"/>
          </p:cNvSpPr>
          <p:nvPr/>
        </p:nvSpPr>
        <p:spPr bwMode="auto">
          <a:xfrm>
            <a:off x="5522234" y="228601"/>
            <a:ext cx="126989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SHA-1</a:t>
            </a:r>
          </a:p>
        </p:txBody>
      </p:sp>
      <p:pic>
        <p:nvPicPr>
          <p:cNvPr id="3" name="Picture 2"/>
          <p:cNvPicPr>
            <a:picLocks noChangeAspect="1"/>
          </p:cNvPicPr>
          <p:nvPr/>
        </p:nvPicPr>
        <p:blipFill>
          <a:blip r:embed="rId2"/>
          <a:stretch>
            <a:fillRect/>
          </a:stretch>
        </p:blipFill>
        <p:spPr>
          <a:xfrm>
            <a:off x="2205038" y="1042988"/>
            <a:ext cx="7781925" cy="4772025"/>
          </a:xfrm>
          <a:prstGeom prst="rect">
            <a:avLst/>
          </a:prstGeom>
        </p:spPr>
      </p:pic>
      <p:sp>
        <p:nvSpPr>
          <p:cNvPr id="5" name="Rectangle 4"/>
          <p:cNvSpPr/>
          <p:nvPr/>
        </p:nvSpPr>
        <p:spPr>
          <a:xfrm>
            <a:off x="2286000" y="6019800"/>
            <a:ext cx="6781800" cy="369332"/>
          </a:xfrm>
          <a:prstGeom prst="rect">
            <a:avLst/>
          </a:prstGeom>
        </p:spPr>
        <p:txBody>
          <a:bodyPr wrap="square">
            <a:spAutoFit/>
          </a:bodyPr>
          <a:lstStyle/>
          <a:p>
            <a:r>
              <a:rPr lang="en-GB" dirty="0" err="1"/>
              <a:t>Wt</a:t>
            </a:r>
            <a:r>
              <a:rPr lang="en-GB" dirty="0"/>
              <a:t> = ( W[t-3]⊕W[t-8]⊕W[t-14]⊕W[t-16] ) &lt;&lt;&lt; 1</a:t>
            </a:r>
          </a:p>
        </p:txBody>
      </p:sp>
    </p:spTree>
    <p:extLst>
      <p:ext uri="{BB962C8B-B14F-4D97-AF65-F5344CB8AC3E}">
        <p14:creationId xmlns:p14="http://schemas.microsoft.com/office/powerpoint/2010/main" val="493052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53</a:t>
            </a:fld>
            <a:endParaRPr lang="en-US" dirty="0"/>
          </a:p>
        </p:txBody>
      </p:sp>
      <p:sp>
        <p:nvSpPr>
          <p:cNvPr id="4" name="Text Box 10"/>
          <p:cNvSpPr txBox="1">
            <a:spLocks noChangeArrowheads="1"/>
          </p:cNvSpPr>
          <p:nvPr/>
        </p:nvSpPr>
        <p:spPr bwMode="auto">
          <a:xfrm>
            <a:off x="5522234" y="228601"/>
            <a:ext cx="126989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SHA-1</a:t>
            </a:r>
          </a:p>
        </p:txBody>
      </p:sp>
      <p:pic>
        <p:nvPicPr>
          <p:cNvPr id="5" name="Picture 4"/>
          <p:cNvPicPr>
            <a:picLocks noChangeAspect="1"/>
          </p:cNvPicPr>
          <p:nvPr/>
        </p:nvPicPr>
        <p:blipFill>
          <a:blip r:embed="rId2"/>
          <a:stretch>
            <a:fillRect/>
          </a:stretch>
        </p:blipFill>
        <p:spPr>
          <a:xfrm>
            <a:off x="6553201" y="2057401"/>
            <a:ext cx="3937635" cy="3343275"/>
          </a:xfrm>
          <a:prstGeom prst="rect">
            <a:avLst/>
          </a:prstGeom>
        </p:spPr>
      </p:pic>
      <p:sp>
        <p:nvSpPr>
          <p:cNvPr id="6" name="Rectangle 5"/>
          <p:cNvSpPr/>
          <p:nvPr/>
        </p:nvSpPr>
        <p:spPr>
          <a:xfrm>
            <a:off x="1676400" y="3429000"/>
            <a:ext cx="5257800" cy="369332"/>
          </a:xfrm>
          <a:prstGeom prst="rect">
            <a:avLst/>
          </a:prstGeom>
        </p:spPr>
        <p:txBody>
          <a:bodyPr wrap="square">
            <a:spAutoFit/>
          </a:bodyPr>
          <a:lstStyle/>
          <a:p>
            <a:r>
              <a:rPr lang="en-GB" dirty="0">
                <a:latin typeface="Tw Cen MT" panose="020B0602020104020603" pitchFamily="34" charset="0"/>
              </a:rPr>
              <a:t>W[t] = ( W[t-3]⊕W[t-8]⊕W[t-14]⊕W[t-16] ) &lt;&lt;&lt; 1</a:t>
            </a:r>
          </a:p>
        </p:txBody>
      </p:sp>
      <p:sp>
        <p:nvSpPr>
          <p:cNvPr id="7" name="Rectangle 6"/>
          <p:cNvSpPr/>
          <p:nvPr/>
        </p:nvSpPr>
        <p:spPr>
          <a:xfrm>
            <a:off x="1905000" y="2362201"/>
            <a:ext cx="4572000" cy="646331"/>
          </a:xfrm>
          <a:prstGeom prst="rect">
            <a:avLst/>
          </a:prstGeom>
        </p:spPr>
        <p:txBody>
          <a:bodyPr>
            <a:spAutoFit/>
          </a:bodyPr>
          <a:lstStyle/>
          <a:p>
            <a:r>
              <a:rPr lang="en-GB" dirty="0">
                <a:latin typeface="Tw Cen MT" panose="020B0602020104020603" pitchFamily="34" charset="0"/>
              </a:rPr>
              <a:t>2. The second step </a:t>
            </a:r>
            <a:r>
              <a:rPr lang="en-GB" dirty="0">
                <a:solidFill>
                  <a:srgbClr val="FF0000"/>
                </a:solidFill>
                <a:latin typeface="Tw Cen MT" panose="020B0602020104020603" pitchFamily="34" charset="0"/>
              </a:rPr>
              <a:t>massage word </a:t>
            </a:r>
            <a:r>
              <a:rPr lang="en-GB" dirty="0">
                <a:latin typeface="Tw Cen MT" panose="020B0602020104020603" pitchFamily="34" charset="0"/>
              </a:rPr>
              <a:t>W[0-15] extended into 80 word W[16-79]</a:t>
            </a:r>
          </a:p>
        </p:txBody>
      </p:sp>
      <p:sp>
        <p:nvSpPr>
          <p:cNvPr id="8" name="Rectangle 7"/>
          <p:cNvSpPr/>
          <p:nvPr/>
        </p:nvSpPr>
        <p:spPr>
          <a:xfrm>
            <a:off x="1981200" y="4191001"/>
            <a:ext cx="4572000" cy="646331"/>
          </a:xfrm>
          <a:prstGeom prst="rect">
            <a:avLst/>
          </a:prstGeom>
        </p:spPr>
        <p:txBody>
          <a:bodyPr>
            <a:spAutoFit/>
          </a:bodyPr>
          <a:lstStyle/>
          <a:p>
            <a:r>
              <a:rPr lang="en-GB" dirty="0">
                <a:latin typeface="Tw Cen MT" panose="020B0602020104020603" pitchFamily="34" charset="0"/>
              </a:rPr>
              <a:t>3. In the third step 5 variable (A to E) is added which is equal to (H0 to H4)</a:t>
            </a:r>
          </a:p>
        </p:txBody>
      </p:sp>
      <p:sp>
        <p:nvSpPr>
          <p:cNvPr id="9" name="Rectangle 8"/>
          <p:cNvSpPr/>
          <p:nvPr/>
        </p:nvSpPr>
        <p:spPr>
          <a:xfrm>
            <a:off x="1828800" y="914400"/>
            <a:ext cx="7543800" cy="369332"/>
          </a:xfrm>
          <a:prstGeom prst="rect">
            <a:avLst/>
          </a:prstGeom>
        </p:spPr>
        <p:txBody>
          <a:bodyPr wrap="square">
            <a:spAutoFit/>
          </a:bodyPr>
          <a:lstStyle/>
          <a:p>
            <a:r>
              <a:rPr lang="en-GB" dirty="0">
                <a:latin typeface="Tw Cen MT" panose="020B0602020104020603" pitchFamily="34" charset="0"/>
              </a:rPr>
              <a:t>1. In the first step hash variables are initialized. </a:t>
            </a:r>
            <a:r>
              <a:rPr lang="en-GB" dirty="0">
                <a:solidFill>
                  <a:srgbClr val="FF0000"/>
                </a:solidFill>
                <a:latin typeface="Tw Cen MT" panose="020B0602020104020603" pitchFamily="34" charset="0"/>
              </a:rPr>
              <a:t>let</a:t>
            </a:r>
          </a:p>
        </p:txBody>
      </p:sp>
      <p:sp>
        <p:nvSpPr>
          <p:cNvPr id="10" name="Rectangle 9"/>
          <p:cNvSpPr/>
          <p:nvPr/>
        </p:nvSpPr>
        <p:spPr>
          <a:xfrm>
            <a:off x="4953000" y="2971800"/>
            <a:ext cx="1317990" cy="369332"/>
          </a:xfrm>
          <a:prstGeom prst="rect">
            <a:avLst/>
          </a:prstGeom>
        </p:spPr>
        <p:txBody>
          <a:bodyPr wrap="none">
            <a:spAutoFit/>
          </a:bodyPr>
          <a:lstStyle/>
          <a:p>
            <a:r>
              <a:rPr lang="en-GB" dirty="0">
                <a:latin typeface="Tw Cen MT" panose="020B0602020104020603" pitchFamily="34" charset="0"/>
              </a:rPr>
              <a:t>16 ≤ t ≤ 79</a:t>
            </a:r>
          </a:p>
        </p:txBody>
      </p:sp>
      <p:sp>
        <p:nvSpPr>
          <p:cNvPr id="11" name="Rectangle 10"/>
          <p:cNvSpPr/>
          <p:nvPr/>
        </p:nvSpPr>
        <p:spPr>
          <a:xfrm>
            <a:off x="1905000" y="5181601"/>
            <a:ext cx="4572000" cy="646331"/>
          </a:xfrm>
          <a:prstGeom prst="rect">
            <a:avLst/>
          </a:prstGeom>
        </p:spPr>
        <p:txBody>
          <a:bodyPr>
            <a:spAutoFit/>
          </a:bodyPr>
          <a:lstStyle/>
          <a:p>
            <a:r>
              <a:rPr lang="en-GB" dirty="0">
                <a:latin typeface="Tw Cen MT" panose="020B0602020104020603" pitchFamily="34" charset="0"/>
              </a:rPr>
              <a:t>4. The fourth step is the main loop which is (A to E) will be calculated in 80 Round as following:</a:t>
            </a:r>
          </a:p>
        </p:txBody>
      </p:sp>
      <p:pic>
        <p:nvPicPr>
          <p:cNvPr id="12" name="Picture 11"/>
          <p:cNvPicPr>
            <a:picLocks noChangeAspect="1"/>
          </p:cNvPicPr>
          <p:nvPr/>
        </p:nvPicPr>
        <p:blipFill>
          <a:blip r:embed="rId3"/>
          <a:stretch>
            <a:fillRect/>
          </a:stretch>
        </p:blipFill>
        <p:spPr>
          <a:xfrm>
            <a:off x="1828800" y="1371600"/>
            <a:ext cx="6286500" cy="647700"/>
          </a:xfrm>
          <a:prstGeom prst="rect">
            <a:avLst/>
          </a:prstGeom>
        </p:spPr>
      </p:pic>
      <p:sp>
        <p:nvSpPr>
          <p:cNvPr id="13" name="Rectangle 12"/>
          <p:cNvSpPr/>
          <p:nvPr/>
        </p:nvSpPr>
        <p:spPr>
          <a:xfrm>
            <a:off x="8431490" y="1447800"/>
            <a:ext cx="2236510" cy="369332"/>
          </a:xfrm>
          <a:prstGeom prst="rect">
            <a:avLst/>
          </a:prstGeom>
        </p:spPr>
        <p:txBody>
          <a:bodyPr wrap="none">
            <a:spAutoFit/>
          </a:bodyPr>
          <a:lstStyle/>
          <a:p>
            <a:r>
              <a:rPr lang="en-GB" dirty="0">
                <a:solidFill>
                  <a:srgbClr val="FF0000"/>
                </a:solidFill>
              </a:rPr>
              <a:t>k is round constants</a:t>
            </a:r>
          </a:p>
        </p:txBody>
      </p:sp>
      <p:cxnSp>
        <p:nvCxnSpPr>
          <p:cNvPr id="15" name="Straight Arrow Connector 14"/>
          <p:cNvCxnSpPr/>
          <p:nvPr/>
        </p:nvCxnSpPr>
        <p:spPr bwMode="auto">
          <a:xfrm>
            <a:off x="1981200" y="3810000"/>
            <a:ext cx="7315200" cy="0"/>
          </a:xfrm>
          <a:prstGeom prst="straightConnector1">
            <a:avLst/>
          </a:prstGeom>
          <a:solidFill>
            <a:schemeClr val="accent1"/>
          </a:solidFill>
          <a:ln w="25400" cap="flat" cmpd="sng" algn="ctr">
            <a:solidFill>
              <a:srgbClr val="0000FF"/>
            </a:solidFill>
            <a:prstDash val="solid"/>
            <a:round/>
            <a:headEnd type="none" w="med" len="med"/>
            <a:tailEnd type="triangle"/>
          </a:ln>
          <a:effectLst/>
        </p:spPr>
      </p:cxnSp>
    </p:spTree>
    <p:extLst>
      <p:ext uri="{BB962C8B-B14F-4D97-AF65-F5344CB8AC3E}">
        <p14:creationId xmlns:p14="http://schemas.microsoft.com/office/powerpoint/2010/main" val="20842598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54</a:t>
            </a:fld>
            <a:endParaRPr lang="en-US" dirty="0"/>
          </a:p>
        </p:txBody>
      </p:sp>
      <p:sp>
        <p:nvSpPr>
          <p:cNvPr id="4" name="Text Box 10"/>
          <p:cNvSpPr txBox="1">
            <a:spLocks noChangeArrowheads="1"/>
          </p:cNvSpPr>
          <p:nvPr/>
        </p:nvSpPr>
        <p:spPr bwMode="auto">
          <a:xfrm>
            <a:off x="5522234" y="228601"/>
            <a:ext cx="126989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SHA-1</a:t>
            </a:r>
          </a:p>
        </p:txBody>
      </p:sp>
      <p:pic>
        <p:nvPicPr>
          <p:cNvPr id="5" name="Picture 4"/>
          <p:cNvPicPr>
            <a:picLocks noChangeAspect="1"/>
          </p:cNvPicPr>
          <p:nvPr/>
        </p:nvPicPr>
        <p:blipFill>
          <a:blip r:embed="rId2"/>
          <a:stretch>
            <a:fillRect/>
          </a:stretch>
        </p:blipFill>
        <p:spPr>
          <a:xfrm>
            <a:off x="1752600" y="2209800"/>
            <a:ext cx="8771306" cy="2438400"/>
          </a:xfrm>
          <a:prstGeom prst="rect">
            <a:avLst/>
          </a:prstGeom>
        </p:spPr>
      </p:pic>
    </p:spTree>
    <p:extLst>
      <p:ext uri="{BB962C8B-B14F-4D97-AF65-F5344CB8AC3E}">
        <p14:creationId xmlns:p14="http://schemas.microsoft.com/office/powerpoint/2010/main" val="29942430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55</a:t>
            </a:fld>
            <a:endParaRPr lang="en-US" dirty="0"/>
          </a:p>
        </p:txBody>
      </p:sp>
      <p:sp>
        <p:nvSpPr>
          <p:cNvPr id="4" name="Text Box 10"/>
          <p:cNvSpPr txBox="1">
            <a:spLocks noChangeArrowheads="1"/>
          </p:cNvSpPr>
          <p:nvPr/>
        </p:nvSpPr>
        <p:spPr bwMode="auto">
          <a:xfrm>
            <a:off x="5522234" y="228601"/>
            <a:ext cx="126989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SHA-2</a:t>
            </a:r>
          </a:p>
        </p:txBody>
      </p:sp>
      <p:sp>
        <p:nvSpPr>
          <p:cNvPr id="3" name="Rectangle 2"/>
          <p:cNvSpPr/>
          <p:nvPr/>
        </p:nvSpPr>
        <p:spPr>
          <a:xfrm>
            <a:off x="2133600" y="914400"/>
            <a:ext cx="7924800" cy="2308324"/>
          </a:xfrm>
          <a:prstGeom prst="rect">
            <a:avLst/>
          </a:prstGeom>
        </p:spPr>
        <p:txBody>
          <a:bodyPr wrap="square">
            <a:spAutoFit/>
          </a:bodyPr>
          <a:lstStyle/>
          <a:p>
            <a:pPr marL="457200" indent="-457200">
              <a:buFont typeface="Wingdings" panose="05000000000000000000" pitchFamily="2" charset="2"/>
              <a:buChar char="§"/>
            </a:pPr>
            <a:r>
              <a:rPr lang="en-GB" sz="2400" dirty="0">
                <a:latin typeface="Tw Cen MT" panose="020B0602020104020603" pitchFamily="34" charset="0"/>
              </a:rPr>
              <a:t>SHA-256 uses 32-bit operations</a:t>
            </a:r>
          </a:p>
          <a:p>
            <a:pPr marL="457200" indent="-457200">
              <a:buFont typeface="Wingdings" panose="05000000000000000000" pitchFamily="2" charset="2"/>
              <a:buChar char="§"/>
            </a:pPr>
            <a:r>
              <a:rPr lang="en-GB" sz="2400" dirty="0">
                <a:latin typeface="Tw Cen MT" panose="020B0602020104020603" pitchFamily="34" charset="0"/>
              </a:rPr>
              <a:t>SHA-512 uses 64-bit operations</a:t>
            </a:r>
          </a:p>
          <a:p>
            <a:pPr marL="457200" indent="-457200">
              <a:buFont typeface="Wingdings" panose="05000000000000000000" pitchFamily="2" charset="2"/>
              <a:buChar char="§"/>
            </a:pPr>
            <a:r>
              <a:rPr lang="en-GB" sz="2400" dirty="0">
                <a:latin typeface="Tw Cen MT" panose="020B0602020104020603" pitchFamily="34" charset="0"/>
              </a:rPr>
              <a:t>Use different shift amounts and additive constants</a:t>
            </a:r>
          </a:p>
          <a:p>
            <a:pPr marL="457200" indent="-457200">
              <a:buFont typeface="Wingdings" panose="05000000000000000000" pitchFamily="2" charset="2"/>
              <a:buChar char="§"/>
            </a:pPr>
            <a:r>
              <a:rPr lang="en-GB" sz="2400" dirty="0">
                <a:latin typeface="Tw Cen MT" panose="020B0602020104020603" pitchFamily="34" charset="0"/>
              </a:rPr>
              <a:t>SHA-224 and SHA-384 are simply truncated versions of SHA256 and SHA-512 using different initial values.</a:t>
            </a:r>
          </a:p>
          <a:p>
            <a:pPr marL="457200" indent="-457200">
              <a:buFont typeface="Wingdings" panose="05000000000000000000" pitchFamily="2" charset="2"/>
              <a:buChar char="§"/>
            </a:pPr>
            <a:r>
              <a:rPr lang="en-GB" sz="2400" dirty="0">
                <a:latin typeface="Tw Cen MT" panose="020B0602020104020603" pitchFamily="34" charset="0"/>
              </a:rPr>
              <a:t>SHA-224 matches the key length of two-key triple-DES</a:t>
            </a:r>
          </a:p>
        </p:txBody>
      </p:sp>
      <p:pic>
        <p:nvPicPr>
          <p:cNvPr id="6" name="Picture 5"/>
          <p:cNvPicPr>
            <a:picLocks noChangeAspect="1"/>
          </p:cNvPicPr>
          <p:nvPr/>
        </p:nvPicPr>
        <p:blipFill>
          <a:blip r:embed="rId2"/>
          <a:stretch>
            <a:fillRect/>
          </a:stretch>
        </p:blipFill>
        <p:spPr>
          <a:xfrm>
            <a:off x="1828801" y="3505200"/>
            <a:ext cx="8620125" cy="1962150"/>
          </a:xfrm>
          <a:prstGeom prst="rect">
            <a:avLst/>
          </a:prstGeom>
        </p:spPr>
      </p:pic>
    </p:spTree>
    <p:extLst>
      <p:ext uri="{BB962C8B-B14F-4D97-AF65-F5344CB8AC3E}">
        <p14:creationId xmlns:p14="http://schemas.microsoft.com/office/powerpoint/2010/main" val="14774286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56</a:t>
            </a:fld>
            <a:endParaRPr lang="en-US" dirty="0"/>
          </a:p>
        </p:txBody>
      </p:sp>
      <p:sp>
        <p:nvSpPr>
          <p:cNvPr id="4" name="Text Box 10"/>
          <p:cNvSpPr txBox="1">
            <a:spLocks noChangeArrowheads="1"/>
          </p:cNvSpPr>
          <p:nvPr/>
        </p:nvSpPr>
        <p:spPr bwMode="auto">
          <a:xfrm>
            <a:off x="4114801" y="228601"/>
            <a:ext cx="40847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Secure Hash Algorithm</a:t>
            </a:r>
          </a:p>
        </p:txBody>
      </p:sp>
      <p:pic>
        <p:nvPicPr>
          <p:cNvPr id="3" name="Picture 2"/>
          <p:cNvPicPr>
            <a:picLocks noChangeAspect="1"/>
          </p:cNvPicPr>
          <p:nvPr/>
        </p:nvPicPr>
        <p:blipFill>
          <a:blip r:embed="rId2"/>
          <a:stretch>
            <a:fillRect/>
          </a:stretch>
        </p:blipFill>
        <p:spPr>
          <a:xfrm>
            <a:off x="2124075" y="1619250"/>
            <a:ext cx="7943850" cy="3619500"/>
          </a:xfrm>
          <a:prstGeom prst="rect">
            <a:avLst/>
          </a:prstGeom>
        </p:spPr>
      </p:pic>
    </p:spTree>
    <p:extLst>
      <p:ext uri="{BB962C8B-B14F-4D97-AF65-F5344CB8AC3E}">
        <p14:creationId xmlns:p14="http://schemas.microsoft.com/office/powerpoint/2010/main" val="26602376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57</a:t>
            </a:fld>
            <a:endParaRPr lang="en-US" dirty="0"/>
          </a:p>
        </p:txBody>
      </p:sp>
      <p:sp>
        <p:nvSpPr>
          <p:cNvPr id="4" name="Text Box 10"/>
          <p:cNvSpPr txBox="1">
            <a:spLocks noChangeArrowheads="1"/>
          </p:cNvSpPr>
          <p:nvPr/>
        </p:nvSpPr>
        <p:spPr bwMode="auto">
          <a:xfrm>
            <a:off x="5304225" y="228601"/>
            <a:ext cx="17059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SHA-512</a:t>
            </a:r>
          </a:p>
        </p:txBody>
      </p:sp>
      <p:pic>
        <p:nvPicPr>
          <p:cNvPr id="5" name="Picture 4"/>
          <p:cNvPicPr>
            <a:picLocks noChangeAspect="1"/>
          </p:cNvPicPr>
          <p:nvPr/>
        </p:nvPicPr>
        <p:blipFill>
          <a:blip r:embed="rId2"/>
          <a:stretch>
            <a:fillRect/>
          </a:stretch>
        </p:blipFill>
        <p:spPr>
          <a:xfrm>
            <a:off x="2590800" y="762001"/>
            <a:ext cx="6781800" cy="5673237"/>
          </a:xfrm>
          <a:prstGeom prst="rect">
            <a:avLst/>
          </a:prstGeom>
        </p:spPr>
      </p:pic>
    </p:spTree>
    <p:extLst>
      <p:ext uri="{BB962C8B-B14F-4D97-AF65-F5344CB8AC3E}">
        <p14:creationId xmlns:p14="http://schemas.microsoft.com/office/powerpoint/2010/main" val="38506009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58</a:t>
            </a:fld>
            <a:endParaRPr lang="en-US" dirty="0"/>
          </a:p>
        </p:txBody>
      </p:sp>
      <p:sp>
        <p:nvSpPr>
          <p:cNvPr id="4" name="Text Box 10"/>
          <p:cNvSpPr txBox="1">
            <a:spLocks noChangeArrowheads="1"/>
          </p:cNvSpPr>
          <p:nvPr/>
        </p:nvSpPr>
        <p:spPr bwMode="auto">
          <a:xfrm>
            <a:off x="5304225" y="228601"/>
            <a:ext cx="17059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SHA-512</a:t>
            </a:r>
          </a:p>
        </p:txBody>
      </p:sp>
      <p:pic>
        <p:nvPicPr>
          <p:cNvPr id="3" name="Picture 2"/>
          <p:cNvPicPr>
            <a:picLocks noChangeAspect="1"/>
          </p:cNvPicPr>
          <p:nvPr/>
        </p:nvPicPr>
        <p:blipFill>
          <a:blip r:embed="rId2"/>
          <a:stretch>
            <a:fillRect/>
          </a:stretch>
        </p:blipFill>
        <p:spPr>
          <a:xfrm>
            <a:off x="4038600" y="838201"/>
            <a:ext cx="4419600" cy="5383449"/>
          </a:xfrm>
          <a:prstGeom prst="rect">
            <a:avLst/>
          </a:prstGeom>
        </p:spPr>
      </p:pic>
      <p:sp>
        <p:nvSpPr>
          <p:cNvPr id="6" name="Rectangle 5"/>
          <p:cNvSpPr/>
          <p:nvPr/>
        </p:nvSpPr>
        <p:spPr>
          <a:xfrm>
            <a:off x="3048000" y="6172200"/>
            <a:ext cx="6400800" cy="369332"/>
          </a:xfrm>
          <a:prstGeom prst="rect">
            <a:avLst/>
          </a:prstGeom>
        </p:spPr>
        <p:txBody>
          <a:bodyPr wrap="square">
            <a:spAutoFit/>
          </a:bodyPr>
          <a:lstStyle/>
          <a:p>
            <a:r>
              <a:rPr lang="en-GB" dirty="0"/>
              <a:t>SHA-512 Processing of a Single 1024-Bit Block (</a:t>
            </a:r>
            <a:r>
              <a:rPr lang="en-GB" dirty="0">
                <a:solidFill>
                  <a:srgbClr val="FF0000"/>
                </a:solidFill>
              </a:rPr>
              <a:t>single block</a:t>
            </a:r>
            <a:r>
              <a:rPr lang="en-GB" dirty="0"/>
              <a:t>)</a:t>
            </a:r>
          </a:p>
        </p:txBody>
      </p:sp>
    </p:spTree>
    <p:extLst>
      <p:ext uri="{BB962C8B-B14F-4D97-AF65-F5344CB8AC3E}">
        <p14:creationId xmlns:p14="http://schemas.microsoft.com/office/powerpoint/2010/main" val="38510375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59</a:t>
            </a:fld>
            <a:endParaRPr lang="en-US" dirty="0"/>
          </a:p>
        </p:txBody>
      </p:sp>
      <p:sp>
        <p:nvSpPr>
          <p:cNvPr id="4" name="Text Box 10"/>
          <p:cNvSpPr txBox="1">
            <a:spLocks noChangeArrowheads="1"/>
          </p:cNvSpPr>
          <p:nvPr/>
        </p:nvSpPr>
        <p:spPr bwMode="auto">
          <a:xfrm>
            <a:off x="3915223" y="228601"/>
            <a:ext cx="4483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SHA-512 Round Function</a:t>
            </a:r>
          </a:p>
        </p:txBody>
      </p:sp>
      <p:sp>
        <p:nvSpPr>
          <p:cNvPr id="6" name="Rectangle 5"/>
          <p:cNvSpPr/>
          <p:nvPr/>
        </p:nvSpPr>
        <p:spPr>
          <a:xfrm>
            <a:off x="3429000" y="5486401"/>
            <a:ext cx="6400800" cy="646331"/>
          </a:xfrm>
          <a:prstGeom prst="rect">
            <a:avLst/>
          </a:prstGeom>
        </p:spPr>
        <p:txBody>
          <a:bodyPr wrap="square">
            <a:spAutoFit/>
          </a:bodyPr>
          <a:lstStyle/>
          <a:p>
            <a:r>
              <a:rPr lang="en-GB" dirty="0"/>
              <a:t>Elementary SHA-512 Operation (single round) </a:t>
            </a:r>
            <a:br>
              <a:rPr lang="en-GB" dirty="0"/>
            </a:br>
            <a:endParaRPr lang="en-GB" dirty="0"/>
          </a:p>
        </p:txBody>
      </p:sp>
      <p:pic>
        <p:nvPicPr>
          <p:cNvPr id="5" name="Picture 4"/>
          <p:cNvPicPr>
            <a:picLocks noChangeAspect="1"/>
          </p:cNvPicPr>
          <p:nvPr/>
        </p:nvPicPr>
        <p:blipFill>
          <a:blip r:embed="rId2"/>
          <a:stretch>
            <a:fillRect/>
          </a:stretch>
        </p:blipFill>
        <p:spPr>
          <a:xfrm>
            <a:off x="3124200" y="1066800"/>
            <a:ext cx="5562600" cy="3919638"/>
          </a:xfrm>
          <a:prstGeom prst="rect">
            <a:avLst/>
          </a:prstGeom>
        </p:spPr>
      </p:pic>
    </p:spTree>
    <p:extLst>
      <p:ext uri="{BB962C8B-B14F-4D97-AF65-F5344CB8AC3E}">
        <p14:creationId xmlns:p14="http://schemas.microsoft.com/office/powerpoint/2010/main" val="36215081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60</a:t>
            </a:fld>
            <a:endParaRPr lang="en-US" dirty="0"/>
          </a:p>
        </p:txBody>
      </p:sp>
      <p:sp>
        <p:nvSpPr>
          <p:cNvPr id="4" name="Text Box 10"/>
          <p:cNvSpPr txBox="1">
            <a:spLocks noChangeArrowheads="1"/>
          </p:cNvSpPr>
          <p:nvPr/>
        </p:nvSpPr>
        <p:spPr bwMode="auto">
          <a:xfrm>
            <a:off x="5304225" y="228601"/>
            <a:ext cx="17059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SHA-512</a:t>
            </a:r>
          </a:p>
        </p:txBody>
      </p:sp>
      <p:sp>
        <p:nvSpPr>
          <p:cNvPr id="6" name="Rectangle 5"/>
          <p:cNvSpPr/>
          <p:nvPr/>
        </p:nvSpPr>
        <p:spPr>
          <a:xfrm>
            <a:off x="3124200" y="5562601"/>
            <a:ext cx="6400800" cy="646331"/>
          </a:xfrm>
          <a:prstGeom prst="rect">
            <a:avLst/>
          </a:prstGeom>
        </p:spPr>
        <p:txBody>
          <a:bodyPr wrap="square">
            <a:spAutoFit/>
          </a:bodyPr>
          <a:lstStyle/>
          <a:p>
            <a:r>
              <a:rPr lang="en-GB" dirty="0"/>
              <a:t>Elementary SHA-512 Operation (single round) </a:t>
            </a:r>
            <a:br>
              <a:rPr lang="en-GB" dirty="0"/>
            </a:br>
            <a:endParaRPr lang="en-GB" dirty="0"/>
          </a:p>
        </p:txBody>
      </p:sp>
      <p:pic>
        <p:nvPicPr>
          <p:cNvPr id="3" name="Picture 2"/>
          <p:cNvPicPr>
            <a:picLocks noChangeAspect="1"/>
          </p:cNvPicPr>
          <p:nvPr/>
        </p:nvPicPr>
        <p:blipFill>
          <a:blip r:embed="rId2"/>
          <a:stretch>
            <a:fillRect/>
          </a:stretch>
        </p:blipFill>
        <p:spPr>
          <a:xfrm>
            <a:off x="2133600" y="1371600"/>
            <a:ext cx="7772400" cy="3048000"/>
          </a:xfrm>
          <a:prstGeom prst="rect">
            <a:avLst/>
          </a:prstGeom>
        </p:spPr>
      </p:pic>
    </p:spTree>
    <p:extLst>
      <p:ext uri="{BB962C8B-B14F-4D97-AF65-F5344CB8AC3E}">
        <p14:creationId xmlns:p14="http://schemas.microsoft.com/office/powerpoint/2010/main" val="35560769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61</a:t>
            </a:fld>
            <a:endParaRPr lang="en-US" dirty="0"/>
          </a:p>
        </p:txBody>
      </p:sp>
      <p:sp>
        <p:nvSpPr>
          <p:cNvPr id="4" name="Text Box 10"/>
          <p:cNvSpPr txBox="1">
            <a:spLocks noChangeArrowheads="1"/>
          </p:cNvSpPr>
          <p:nvPr/>
        </p:nvSpPr>
        <p:spPr bwMode="auto">
          <a:xfrm>
            <a:off x="3069700" y="381001"/>
            <a:ext cx="61766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SHA-512: 80-Word Input Sequence </a:t>
            </a:r>
          </a:p>
        </p:txBody>
      </p:sp>
      <p:pic>
        <p:nvPicPr>
          <p:cNvPr id="5" name="Picture 4"/>
          <p:cNvPicPr>
            <a:picLocks noChangeAspect="1"/>
          </p:cNvPicPr>
          <p:nvPr/>
        </p:nvPicPr>
        <p:blipFill>
          <a:blip r:embed="rId2"/>
          <a:stretch>
            <a:fillRect/>
          </a:stretch>
        </p:blipFill>
        <p:spPr>
          <a:xfrm>
            <a:off x="2347913" y="1909763"/>
            <a:ext cx="7496175" cy="3038475"/>
          </a:xfrm>
          <a:prstGeom prst="rect">
            <a:avLst/>
          </a:prstGeom>
        </p:spPr>
      </p:pic>
      <p:sp>
        <p:nvSpPr>
          <p:cNvPr id="7" name="TextBox 6"/>
          <p:cNvSpPr txBox="1"/>
          <p:nvPr/>
        </p:nvSpPr>
        <p:spPr>
          <a:xfrm>
            <a:off x="2209800" y="5562601"/>
            <a:ext cx="7620000" cy="584775"/>
          </a:xfrm>
          <a:prstGeom prst="rect">
            <a:avLst/>
          </a:prstGeom>
          <a:noFill/>
        </p:spPr>
        <p:txBody>
          <a:bodyPr wrap="square" rtlCol="0">
            <a:spAutoFit/>
          </a:bodyPr>
          <a:lstStyle/>
          <a:p>
            <a:r>
              <a:rPr lang="en-GB" sz="3200" dirty="0">
                <a:solidFill>
                  <a:srgbClr val="FF0000"/>
                </a:solidFill>
                <a:latin typeface="Tw Cen MT" panose="020B0602020104020603" pitchFamily="34" charset="0"/>
              </a:rPr>
              <a:t>From 16 words (1024 bits)  to 80 words</a:t>
            </a:r>
          </a:p>
        </p:txBody>
      </p:sp>
    </p:spTree>
    <p:extLst>
      <p:ext uri="{BB962C8B-B14F-4D97-AF65-F5344CB8AC3E}">
        <p14:creationId xmlns:p14="http://schemas.microsoft.com/office/powerpoint/2010/main" val="41533901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62</a:t>
            </a:fld>
            <a:endParaRPr lang="en-US" dirty="0"/>
          </a:p>
        </p:txBody>
      </p:sp>
      <p:sp>
        <p:nvSpPr>
          <p:cNvPr id="4" name="Text Box 10"/>
          <p:cNvSpPr txBox="1">
            <a:spLocks noChangeArrowheads="1"/>
          </p:cNvSpPr>
          <p:nvPr/>
        </p:nvSpPr>
        <p:spPr bwMode="auto">
          <a:xfrm>
            <a:off x="5468587" y="381001"/>
            <a:ext cx="137890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SHA-3 </a:t>
            </a:r>
          </a:p>
        </p:txBody>
      </p:sp>
      <p:sp>
        <p:nvSpPr>
          <p:cNvPr id="3" name="Rectangle 2"/>
          <p:cNvSpPr/>
          <p:nvPr/>
        </p:nvSpPr>
        <p:spPr>
          <a:xfrm>
            <a:off x="2209800" y="1720840"/>
            <a:ext cx="8305800" cy="3046988"/>
          </a:xfrm>
          <a:prstGeom prst="rect">
            <a:avLst/>
          </a:prstGeom>
        </p:spPr>
        <p:txBody>
          <a:bodyPr wrap="square">
            <a:spAutoFit/>
          </a:bodyPr>
          <a:lstStyle/>
          <a:p>
            <a:pPr marL="457200" indent="-457200">
              <a:buFont typeface="Wingdings" panose="05000000000000000000" pitchFamily="2" charset="2"/>
              <a:buChar char="§"/>
            </a:pPr>
            <a:r>
              <a:rPr lang="en-GB" sz="2400" dirty="0">
                <a:latin typeface="Tw Cen MT" panose="020B0602020104020603" pitchFamily="34" charset="0"/>
              </a:rPr>
              <a:t>SHA-2 (esp. SHA-512) seems secure</a:t>
            </a:r>
          </a:p>
          <a:p>
            <a:r>
              <a:rPr lang="en-GB" sz="2400" dirty="0">
                <a:latin typeface="Tw Cen MT" panose="020B0602020104020603" pitchFamily="34" charset="0"/>
              </a:rPr>
              <a:t>	Shares same structure and mathematical operations as 	predecessors so have concern</a:t>
            </a:r>
          </a:p>
          <a:p>
            <a:pPr marL="457200" indent="-457200">
              <a:buFont typeface="Wingdings" panose="05000000000000000000" pitchFamily="2" charset="2"/>
              <a:buChar char="§"/>
            </a:pPr>
            <a:r>
              <a:rPr lang="en-GB" sz="2400" dirty="0">
                <a:latin typeface="Tw Cen MT" panose="020B0602020104020603" pitchFamily="34" charset="0"/>
              </a:rPr>
              <a:t>NIST announced in 2007 a competition for the SHA-3</a:t>
            </a:r>
          </a:p>
          <a:p>
            <a:r>
              <a:rPr lang="en-GB" sz="2400" dirty="0">
                <a:latin typeface="Tw Cen MT" panose="020B0602020104020603" pitchFamily="34" charset="0"/>
              </a:rPr>
              <a:t>	Has had 3 rounds of narrowing down the selections</a:t>
            </a:r>
          </a:p>
          <a:p>
            <a:r>
              <a:rPr lang="en-GB" sz="2400" dirty="0">
                <a:latin typeface="Tw Cen MT" panose="020B0602020104020603" pitchFamily="34" charset="0"/>
              </a:rPr>
              <a:t>	Five algorithms advanced to the third (and final) round in</a:t>
            </a:r>
          </a:p>
          <a:p>
            <a:r>
              <a:rPr lang="en-GB" sz="2400" dirty="0">
                <a:latin typeface="Tw Cen MT" panose="020B0602020104020603" pitchFamily="34" charset="0"/>
              </a:rPr>
              <a:t>	December 2010</a:t>
            </a:r>
          </a:p>
          <a:p>
            <a:r>
              <a:rPr lang="en-GB" sz="2400" dirty="0">
                <a:latin typeface="Tw Cen MT" panose="020B0602020104020603" pitchFamily="34" charset="0"/>
              </a:rPr>
              <a:t>	Final selection announced in 2012</a:t>
            </a:r>
          </a:p>
        </p:txBody>
      </p:sp>
    </p:spTree>
    <p:extLst>
      <p:ext uri="{BB962C8B-B14F-4D97-AF65-F5344CB8AC3E}">
        <p14:creationId xmlns:p14="http://schemas.microsoft.com/office/powerpoint/2010/main" val="42816179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63</a:t>
            </a:fld>
            <a:endParaRPr lang="en-US" dirty="0"/>
          </a:p>
        </p:txBody>
      </p:sp>
      <p:sp>
        <p:nvSpPr>
          <p:cNvPr id="4" name="Text Box 10"/>
          <p:cNvSpPr txBox="1">
            <a:spLocks noChangeArrowheads="1"/>
          </p:cNvSpPr>
          <p:nvPr/>
        </p:nvSpPr>
        <p:spPr bwMode="auto">
          <a:xfrm>
            <a:off x="4876800" y="457201"/>
            <a:ext cx="137890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SHA-3 </a:t>
            </a:r>
          </a:p>
        </p:txBody>
      </p:sp>
      <p:sp>
        <p:nvSpPr>
          <p:cNvPr id="3" name="Rectangle 2"/>
          <p:cNvSpPr/>
          <p:nvPr/>
        </p:nvSpPr>
        <p:spPr>
          <a:xfrm>
            <a:off x="2209800" y="1720840"/>
            <a:ext cx="8305800" cy="3046988"/>
          </a:xfrm>
          <a:prstGeom prst="rect">
            <a:avLst/>
          </a:prstGeom>
        </p:spPr>
        <p:txBody>
          <a:bodyPr wrap="square">
            <a:spAutoFit/>
          </a:bodyPr>
          <a:lstStyle/>
          <a:p>
            <a:r>
              <a:rPr lang="en-GB" sz="2400" dirty="0">
                <a:latin typeface="Tw Cen MT" panose="020B0602020104020603" pitchFamily="34" charset="0"/>
              </a:rPr>
              <a:t> Replace SHA-2 with SHA-3 in any use</a:t>
            </a:r>
          </a:p>
          <a:p>
            <a:r>
              <a:rPr lang="en-GB" sz="2400" dirty="0">
                <a:latin typeface="Tw Cen MT" panose="020B0602020104020603" pitchFamily="34" charset="0"/>
              </a:rPr>
              <a:t>	So use same hash sizes</a:t>
            </a:r>
          </a:p>
          <a:p>
            <a:r>
              <a:rPr lang="en-GB" sz="2400" dirty="0">
                <a:latin typeface="Tw Cen MT" panose="020B0602020104020603" pitchFamily="34" charset="0"/>
              </a:rPr>
              <a:t> Preserve the online nature of SHA-2</a:t>
            </a:r>
          </a:p>
          <a:p>
            <a:r>
              <a:rPr lang="en-GB" sz="2400" dirty="0">
                <a:latin typeface="Tw Cen MT" panose="020B0602020104020603" pitchFamily="34" charset="0"/>
              </a:rPr>
              <a:t>	So must process small blocks (512 / 1024 bits)</a:t>
            </a:r>
          </a:p>
          <a:p>
            <a:r>
              <a:rPr lang="en-GB" sz="2400" dirty="0">
                <a:latin typeface="Tw Cen MT" panose="020B0602020104020603" pitchFamily="34" charset="0"/>
              </a:rPr>
              <a:t> Evaluation criteria</a:t>
            </a:r>
          </a:p>
          <a:p>
            <a:r>
              <a:rPr lang="en-GB" sz="2400" dirty="0">
                <a:latin typeface="Tw Cen MT" panose="020B0602020104020603" pitchFamily="34" charset="0"/>
              </a:rPr>
              <a:t>	Security close to theoretical max for hash sizes</a:t>
            </a:r>
          </a:p>
          <a:p>
            <a:r>
              <a:rPr lang="en-GB" sz="2400" dirty="0">
                <a:latin typeface="Tw Cen MT" panose="020B0602020104020603" pitchFamily="34" charset="0"/>
              </a:rPr>
              <a:t>	Cost in time &amp; memory</a:t>
            </a:r>
          </a:p>
          <a:p>
            <a:r>
              <a:rPr lang="en-GB" sz="2400" dirty="0">
                <a:latin typeface="Tw Cen MT" panose="020B0602020104020603" pitchFamily="34" charset="0"/>
              </a:rPr>
              <a:t>	Characteristics: such as flexibility &amp; simplicity</a:t>
            </a:r>
          </a:p>
        </p:txBody>
      </p:sp>
    </p:spTree>
    <p:extLst>
      <p:ext uri="{BB962C8B-B14F-4D97-AF65-F5344CB8AC3E}">
        <p14:creationId xmlns:p14="http://schemas.microsoft.com/office/powerpoint/2010/main" val="35620438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AE50F686-7FAE-4158-B528-EB49AC8441A4}"/>
              </a:ext>
            </a:extLst>
          </p:cNvPr>
          <p:cNvSpPr>
            <a:spLocks noGrp="1"/>
          </p:cNvSpPr>
          <p:nvPr>
            <p:ph type="sldNum" sz="quarter" idx="12"/>
          </p:nvPr>
        </p:nvSpPr>
        <p:spPr/>
        <p:txBody>
          <a:bodyPr/>
          <a:lstStyle>
            <a:lvl1pPr marL="381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8100" marR="0" lvl="0" indent="0" algn="l" defTabSz="914400" rtl="0" eaLnBrk="1" fontAlgn="base" latinLnBrk="0" hangingPunct="1">
              <a:lnSpc>
                <a:spcPts val="1650"/>
              </a:lnSpc>
              <a:spcBef>
                <a:spcPct val="0"/>
              </a:spcBef>
              <a:spcAft>
                <a:spcPct val="0"/>
              </a:spcAft>
              <a:buClrTx/>
              <a:buSzTx/>
              <a:buFontTx/>
              <a:buNone/>
              <a:tabLst/>
              <a:defRPr/>
            </a:pPr>
            <a:fld id="{B5CFD07B-520A-4AF5-9B0F-EC226B746D65}" type="slidenum">
              <a:rPr kumimoji="0" lang="en-US" altLang="en-US" sz="14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38100" marR="0" lvl="0" indent="0" algn="l" defTabSz="914400" rtl="0" eaLnBrk="1" fontAlgn="base" latinLnBrk="0" hangingPunct="1">
                <a:lnSpc>
                  <a:spcPts val="1650"/>
                </a:lnSpc>
                <a:spcBef>
                  <a:spcPct val="0"/>
                </a:spcBef>
                <a:spcAft>
                  <a:spcPct val="0"/>
                </a:spcAft>
                <a:buClrTx/>
                <a:buSzTx/>
                <a:buFontTx/>
                <a:buNone/>
                <a:tabLst/>
                <a:defRPr/>
              </a:pPr>
              <a:t>64</a:t>
            </a:fld>
            <a:endPar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object 2">
            <a:extLst>
              <a:ext uri="{FF2B5EF4-FFF2-40B4-BE49-F238E27FC236}">
                <a16:creationId xmlns:a16="http://schemas.microsoft.com/office/drawing/2014/main" id="{F1088F66-2997-4D25-B78A-4CF6CDA6D445}"/>
              </a:ext>
            </a:extLst>
          </p:cNvPr>
          <p:cNvSpPr txBox="1">
            <a:spLocks noGrp="1"/>
          </p:cNvSpPr>
          <p:nvPr>
            <p:ph type="title"/>
          </p:nvPr>
        </p:nvSpPr>
        <p:spPr>
          <a:xfrm>
            <a:off x="1913466" y="381000"/>
            <a:ext cx="8365067" cy="998350"/>
          </a:xfrm>
        </p:spPr>
        <p:txBody>
          <a:bodyPr vert="horz" wrap="square" lIns="0" tIns="13335" rIns="0" bIns="0" numCol="1" anchor="t" anchorCtr="0" compatLnSpc="1">
            <a:prstTxWarp prst="textNoShape">
              <a:avLst/>
            </a:prstTxWarp>
            <a:spAutoFit/>
          </a:bodyPr>
          <a:lstStyle/>
          <a:p>
            <a:pPr marL="442913" indent="368300" eaLnBrk="1" hangingPunct="1">
              <a:spcBef>
                <a:spcPts val="100"/>
              </a:spcBef>
            </a:pPr>
            <a:r>
              <a:rPr lang="en-US" altLang="en-US" dirty="0">
                <a:latin typeface="Arial" panose="020B0604020202020204" pitchFamily="34" charset="0"/>
                <a:cs typeface="Arial" panose="020B0604020202020204" pitchFamily="34" charset="0"/>
              </a:rPr>
              <a:t>Secret</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Key</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Cryptography:</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Insecure</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Channels</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and</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Media</a:t>
            </a:r>
          </a:p>
        </p:txBody>
      </p:sp>
      <p:sp>
        <p:nvSpPr>
          <p:cNvPr id="3" name="object 3">
            <a:extLst>
              <a:ext uri="{FF2B5EF4-FFF2-40B4-BE49-F238E27FC236}">
                <a16:creationId xmlns:a16="http://schemas.microsoft.com/office/drawing/2014/main" id="{AE748BF2-B91E-4FD0-BA26-17730EBC3BE7}"/>
              </a:ext>
            </a:extLst>
          </p:cNvPr>
          <p:cNvSpPr txBox="1"/>
          <p:nvPr/>
        </p:nvSpPr>
        <p:spPr>
          <a:xfrm>
            <a:off x="2289174" y="1628775"/>
            <a:ext cx="9140825" cy="4097275"/>
          </a:xfrm>
          <a:prstGeom prst="rect">
            <a:avLst/>
          </a:prstGeom>
        </p:spPr>
        <p:txBody>
          <a:bodyPr wrap="square" lIns="0" tIns="49530" rIns="0" bIns="0">
            <a:spAutoFit/>
          </a:bodyPr>
          <a:lstStyle>
            <a:lvl1pPr marL="355600" indent="-342900">
              <a:tabLst>
                <a:tab pos="355600" algn="l"/>
              </a:tabLst>
              <a:defRPr>
                <a:solidFill>
                  <a:schemeClr val="tx1"/>
                </a:solidFill>
                <a:latin typeface="Arial" panose="020B0604020202020204" pitchFamily="34" charset="0"/>
              </a:defRPr>
            </a:lvl1pPr>
            <a:lvl2pPr marL="755650" indent="-285750">
              <a:tabLst>
                <a:tab pos="355600" algn="l"/>
              </a:tabLst>
              <a:defRPr>
                <a:solidFill>
                  <a:schemeClr val="tx1"/>
                </a:solidFill>
                <a:latin typeface="Arial" panose="020B0604020202020204" pitchFamily="34" charset="0"/>
              </a:defRPr>
            </a:lvl2pPr>
            <a:lvl3pPr marL="1143000" indent="-228600">
              <a:tabLst>
                <a:tab pos="355600" algn="l"/>
              </a:tabLst>
              <a:defRPr>
                <a:solidFill>
                  <a:schemeClr val="tx1"/>
                </a:solidFill>
                <a:latin typeface="Arial" panose="020B0604020202020204" pitchFamily="34" charset="0"/>
              </a:defRPr>
            </a:lvl3pPr>
            <a:lvl4pPr marL="1600200" indent="-228600">
              <a:tabLst>
                <a:tab pos="355600" algn="l"/>
              </a:tabLst>
              <a:defRPr>
                <a:solidFill>
                  <a:schemeClr val="tx1"/>
                </a:solidFill>
                <a:latin typeface="Arial" panose="020B0604020202020204" pitchFamily="34" charset="0"/>
              </a:defRPr>
            </a:lvl4pPr>
            <a:lvl5pPr marL="2057400" indent="-228600">
              <a:tabLst>
                <a:tab pos="355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55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55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55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55600" algn="l"/>
              </a:tabLst>
              <a:defRPr>
                <a:solidFill>
                  <a:schemeClr val="tx1"/>
                </a:solidFill>
                <a:latin typeface="Arial" panose="020B0604020202020204" pitchFamily="34" charset="0"/>
              </a:defRPr>
            </a:lvl9pPr>
          </a:lstStyle>
          <a:p>
            <a:pPr marL="355600" marR="0" lvl="0" indent="-342900" algn="l" defTabSz="914400" rtl="0" eaLnBrk="1" fontAlgn="base" latinLnBrk="0" hangingPunct="1">
              <a:lnSpc>
                <a:spcPct val="100000"/>
              </a:lnSpc>
              <a:spcBef>
                <a:spcPts val="388"/>
              </a:spcBef>
              <a:spcAft>
                <a:spcPct val="0"/>
              </a:spcAft>
              <a:buClrTx/>
              <a:buSzTx/>
              <a:buFontTx/>
              <a:buChar char="•"/>
              <a:tabLst>
                <a:tab pos="355600" algn="l"/>
              </a:tabLst>
              <a:defRPr/>
            </a:pPr>
            <a:r>
              <a:rPr kumimoji="0" lang="en-US" altLang="en-US" sz="2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Confidentiality</a:t>
            </a:r>
            <a:endParaRPr kumimoji="0" lang="en-US"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755650" marR="0" lvl="1" indent="-285750" algn="just" defTabSz="914400" rtl="0" eaLnBrk="1" fontAlgn="base" latinLnBrk="0" hangingPunct="1">
              <a:lnSpc>
                <a:spcPts val="2163"/>
              </a:lnSpc>
              <a:spcBef>
                <a:spcPts val="513"/>
              </a:spcBef>
              <a:spcAft>
                <a:spcPct val="0"/>
              </a:spcAft>
              <a:buClrTx/>
              <a:buSzTx/>
              <a:buFontTx/>
              <a:buChar char="–"/>
              <a:tabLst>
                <a:tab pos="355600" algn="l"/>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Using</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secret</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key</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cipher</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such</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as</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DES/CBC,</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we</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can</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assure</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that</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messages</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sent</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on</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medium</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cannot</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be</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tapped</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by</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an</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eavesdropper</a:t>
            </a:r>
          </a:p>
          <a:p>
            <a:pPr marL="755650" marR="0" lvl="1" indent="-285750" algn="just" defTabSz="914400" rtl="0" eaLnBrk="1" fontAlgn="base" latinLnBrk="0" hangingPunct="1">
              <a:lnSpc>
                <a:spcPts val="2163"/>
              </a:lnSpc>
              <a:spcBef>
                <a:spcPts val="475"/>
              </a:spcBef>
              <a:spcAft>
                <a:spcPct val="0"/>
              </a:spcAft>
              <a:buClrTx/>
              <a:buSzTx/>
              <a:buFontTx/>
              <a:buChar char="–"/>
              <a:tabLst>
                <a:tab pos="355600" algn="l"/>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Distribute</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secret</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key</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between</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two</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parties,</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then</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use</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encryption on the sender’s side and decryption on the receiver’s side using any of the block or stream ciphers</a:t>
            </a:r>
          </a:p>
          <a:p>
            <a:pPr marL="755650" marR="0" lvl="1" indent="-285750" algn="just" defTabSz="914400" rtl="0" eaLnBrk="1" fontAlgn="base" latinLnBrk="0" hangingPunct="1">
              <a:lnSpc>
                <a:spcPts val="2275"/>
              </a:lnSpc>
              <a:spcBef>
                <a:spcPts val="213"/>
              </a:spcBef>
              <a:spcAft>
                <a:spcPct val="0"/>
              </a:spcAft>
              <a:buClrTx/>
              <a:buSzTx/>
              <a:buFontTx/>
              <a:buChar char="–"/>
              <a:tabLst>
                <a:tab pos="355600" algn="l"/>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Can</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use</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same</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technique</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for</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storing</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information</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on</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 disk:</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encrypt</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information</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and</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decrypt</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when</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needed</a:t>
            </a:r>
          </a:p>
          <a:p>
            <a:pPr marL="355600" marR="0" lvl="0" indent="-342900" algn="l" defTabSz="914400" rtl="0" eaLnBrk="1" fontAlgn="base" latinLnBrk="0" hangingPunct="1">
              <a:lnSpc>
                <a:spcPct val="100000"/>
              </a:lnSpc>
              <a:spcBef>
                <a:spcPct val="0"/>
              </a:spcBef>
              <a:spcAft>
                <a:spcPct val="0"/>
              </a:spcAft>
              <a:buClrTx/>
              <a:buSzTx/>
              <a:buFontTx/>
              <a:buNone/>
              <a:tabLst>
                <a:tab pos="355600" algn="l"/>
              </a:tabLst>
              <a:defRPr/>
            </a:pPr>
            <a:endParaRPr kumimoji="0" lang="en-US" altLang="en-US" sz="25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755650" marR="0" lvl="1" indent="-285750" algn="l" defTabSz="914400" rtl="0" eaLnBrk="1" fontAlgn="base" latinLnBrk="0" hangingPunct="1">
              <a:lnSpc>
                <a:spcPct val="100000"/>
              </a:lnSpc>
              <a:spcBef>
                <a:spcPct val="0"/>
              </a:spcBef>
              <a:spcAft>
                <a:spcPct val="0"/>
              </a:spcAft>
              <a:buClrTx/>
              <a:buSzTx/>
              <a:buFontTx/>
              <a:buChar char="–"/>
              <a:tabLst>
                <a:tab pos="355600" algn="l"/>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Check</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tool</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GnuPG</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hlinkClick r:id="rId2"/>
              </a:rPr>
              <a:t>http://www.gnupg.org/</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7556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355600" algn="l"/>
              </a:tabLst>
              <a:defRPr/>
            </a:pPr>
            <a:endParaRPr kumimoji="0" lang="en-US" altLang="en-US" sz="3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355600" marR="0" lvl="0" indent="-342900" algn="l" defTabSz="914400" rtl="0" eaLnBrk="1" fontAlgn="base" latinLnBrk="0" hangingPunct="1">
              <a:lnSpc>
                <a:spcPct val="100000"/>
              </a:lnSpc>
              <a:spcBef>
                <a:spcPct val="0"/>
              </a:spcBef>
              <a:spcAft>
                <a:spcPct val="0"/>
              </a:spcAft>
              <a:buClrTx/>
              <a:buSzTx/>
              <a:buFontTx/>
              <a:buChar char="•"/>
              <a:tabLst>
                <a:tab pos="355600" algn="l"/>
              </a:tabLst>
              <a:defRPr/>
            </a:pPr>
            <a:r>
              <a:rPr kumimoji="0" lang="en-US" altLang="en-US" sz="2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Integrity?</a:t>
            </a:r>
            <a:endParaRPr kumimoji="0" lang="en-US"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B8025023-C129-46E0-A333-075F2717CA9E}"/>
              </a:ext>
            </a:extLst>
          </p:cNvPr>
          <p:cNvSpPr>
            <a:spLocks noGrp="1"/>
          </p:cNvSpPr>
          <p:nvPr>
            <p:ph type="sldNum" sz="quarter" idx="12"/>
          </p:nvPr>
        </p:nvSpPr>
        <p:spPr/>
        <p:txBody>
          <a:bodyPr/>
          <a:lstStyle>
            <a:lvl1pPr marL="381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8100" marR="0" lvl="0" indent="0" algn="l" defTabSz="914400" rtl="0" eaLnBrk="1" fontAlgn="base" latinLnBrk="0" hangingPunct="1">
              <a:lnSpc>
                <a:spcPts val="1650"/>
              </a:lnSpc>
              <a:spcBef>
                <a:spcPct val="0"/>
              </a:spcBef>
              <a:spcAft>
                <a:spcPct val="0"/>
              </a:spcAft>
              <a:buClrTx/>
              <a:buSzTx/>
              <a:buFontTx/>
              <a:buNone/>
              <a:tabLst/>
              <a:defRPr/>
            </a:pPr>
            <a:fld id="{52158DCB-F374-4914-93A1-30326ACCAA31}" type="slidenum">
              <a:rPr kumimoji="0" lang="en-US" altLang="en-US" sz="14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38100" marR="0" lvl="0" indent="0" algn="l" defTabSz="914400" rtl="0" eaLnBrk="1" fontAlgn="base" latinLnBrk="0" hangingPunct="1">
                <a:lnSpc>
                  <a:spcPts val="1650"/>
                </a:lnSpc>
                <a:spcBef>
                  <a:spcPct val="0"/>
                </a:spcBef>
                <a:spcAft>
                  <a:spcPct val="0"/>
                </a:spcAft>
                <a:buClrTx/>
                <a:buSzTx/>
                <a:buFontTx/>
                <a:buNone/>
                <a:tabLst/>
                <a:defRPr/>
              </a:pPr>
              <a:t>65</a:t>
            </a:fld>
            <a:endPar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object 2">
            <a:extLst>
              <a:ext uri="{FF2B5EF4-FFF2-40B4-BE49-F238E27FC236}">
                <a16:creationId xmlns:a16="http://schemas.microsoft.com/office/drawing/2014/main" id="{FFAE6777-6CD0-4B42-BD2B-FEB3BB09956D}"/>
              </a:ext>
            </a:extLst>
          </p:cNvPr>
          <p:cNvSpPr txBox="1">
            <a:spLocks noGrp="1"/>
          </p:cNvSpPr>
          <p:nvPr>
            <p:ph type="title"/>
          </p:nvPr>
        </p:nvSpPr>
        <p:spPr>
          <a:xfrm>
            <a:off x="4030664" y="493713"/>
            <a:ext cx="4130675" cy="514350"/>
          </a:xfrm>
        </p:spPr>
        <p:txBody>
          <a:bodyPr vert="horz" wrap="square" lIns="0" tIns="13335" rIns="0" bIns="0" numCol="1" rtlCol="0" anchor="t" anchorCtr="0" compatLnSpc="1">
            <a:prstTxWarp prst="textNoShape">
              <a:avLst/>
            </a:prstTxWarp>
            <a:spAutoFit/>
          </a:bodyPr>
          <a:lstStyle/>
          <a:p>
            <a:pPr marL="12700" eaLnBrk="1" fontAlgn="auto" hangingPunct="1">
              <a:spcBef>
                <a:spcPts val="105"/>
              </a:spcBef>
              <a:spcAft>
                <a:spcPts val="0"/>
              </a:spcAft>
              <a:defRPr/>
            </a:pPr>
            <a:r>
              <a:rPr dirty="0"/>
              <a:t>Checksums</a:t>
            </a:r>
            <a:r>
              <a:rPr spc="10" dirty="0">
                <a:latin typeface="Times New Roman"/>
                <a:cs typeface="Times New Roman"/>
              </a:rPr>
              <a:t> </a:t>
            </a:r>
            <a:r>
              <a:rPr dirty="0"/>
              <a:t>and</a:t>
            </a:r>
            <a:r>
              <a:rPr spc="35" dirty="0">
                <a:latin typeface="Times New Roman"/>
                <a:cs typeface="Times New Roman"/>
              </a:rPr>
              <a:t> </a:t>
            </a:r>
            <a:r>
              <a:rPr spc="-20" dirty="0"/>
              <a:t>CRCs</a:t>
            </a:r>
          </a:p>
        </p:txBody>
      </p:sp>
      <p:sp>
        <p:nvSpPr>
          <p:cNvPr id="3" name="object 3">
            <a:extLst>
              <a:ext uri="{FF2B5EF4-FFF2-40B4-BE49-F238E27FC236}">
                <a16:creationId xmlns:a16="http://schemas.microsoft.com/office/drawing/2014/main" id="{98AF8F0B-BAA5-4A35-AFD4-DB5EF3844336}"/>
              </a:ext>
            </a:extLst>
          </p:cNvPr>
          <p:cNvSpPr txBox="1"/>
          <p:nvPr/>
        </p:nvSpPr>
        <p:spPr>
          <a:xfrm>
            <a:off x="2289175" y="1397001"/>
            <a:ext cx="7475538" cy="3770313"/>
          </a:xfrm>
          <a:prstGeom prst="rect">
            <a:avLst/>
          </a:prstGeom>
        </p:spPr>
        <p:txBody>
          <a:bodyPr lIns="0" tIns="12700" rIns="0" bIns="0">
            <a:spAutoFit/>
          </a:bodyPr>
          <a:lstStyle>
            <a:lvl1pPr marL="355600" indent="-342900">
              <a:tabLst>
                <a:tab pos="355600" algn="l"/>
              </a:tabLst>
              <a:defRPr>
                <a:solidFill>
                  <a:schemeClr val="tx1"/>
                </a:solidFill>
                <a:latin typeface="Arial" panose="020B0604020202020204" pitchFamily="34" charset="0"/>
              </a:defRPr>
            </a:lvl1pPr>
            <a:lvl2pPr marL="755650" indent="-285750">
              <a:tabLst>
                <a:tab pos="355600" algn="l"/>
              </a:tabLst>
              <a:defRPr>
                <a:solidFill>
                  <a:schemeClr val="tx1"/>
                </a:solidFill>
                <a:latin typeface="Arial" panose="020B0604020202020204" pitchFamily="34" charset="0"/>
              </a:defRPr>
            </a:lvl2pPr>
            <a:lvl3pPr marL="1143000" indent="-228600">
              <a:tabLst>
                <a:tab pos="355600" algn="l"/>
              </a:tabLst>
              <a:defRPr>
                <a:solidFill>
                  <a:schemeClr val="tx1"/>
                </a:solidFill>
                <a:latin typeface="Arial" panose="020B0604020202020204" pitchFamily="34" charset="0"/>
              </a:defRPr>
            </a:lvl3pPr>
            <a:lvl4pPr marL="1600200" indent="-228600">
              <a:tabLst>
                <a:tab pos="355600" algn="l"/>
              </a:tabLst>
              <a:defRPr>
                <a:solidFill>
                  <a:schemeClr val="tx1"/>
                </a:solidFill>
                <a:latin typeface="Arial" panose="020B0604020202020204" pitchFamily="34" charset="0"/>
              </a:defRPr>
            </a:lvl4pPr>
            <a:lvl5pPr marL="2057400" indent="-228600">
              <a:tabLst>
                <a:tab pos="355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55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55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55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55600" algn="l"/>
              </a:tabLst>
              <a:defRPr>
                <a:solidFill>
                  <a:schemeClr val="tx1"/>
                </a:solidFill>
                <a:latin typeface="Arial" panose="020B0604020202020204" pitchFamily="34" charset="0"/>
              </a:defRPr>
            </a:lvl9pPr>
          </a:lstStyle>
          <a:p>
            <a:pPr marL="355600" marR="0" lvl="0" indent="-342900" algn="l" defTabSz="914400" rtl="0" eaLnBrk="1" fontAlgn="base" latinLnBrk="0" hangingPunct="1">
              <a:lnSpc>
                <a:spcPct val="100000"/>
              </a:lnSpc>
              <a:spcBef>
                <a:spcPts val="100"/>
              </a:spcBef>
              <a:spcAft>
                <a:spcPct val="0"/>
              </a:spcAft>
              <a:buClrTx/>
              <a:buSzTx/>
              <a:buFontTx/>
              <a:buChar char="•"/>
              <a:tabLst>
                <a:tab pos="355600" algn="l"/>
              </a:tabLst>
              <a:defRPr/>
            </a:pP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Used</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to</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provide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integrity</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checks</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against</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1" i="1"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random</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1" i="1"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faults</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t>
            </a: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355600" marR="0" lvl="0" indent="-342900" algn="l" defTabSz="914400" rtl="0" eaLnBrk="1" fontAlgn="base" latinLnBrk="0" hangingPunct="1">
              <a:lnSpc>
                <a:spcPct val="100000"/>
              </a:lnSpc>
              <a:spcBef>
                <a:spcPts val="575"/>
              </a:spcBef>
              <a:spcAft>
                <a:spcPct val="0"/>
              </a:spcAft>
              <a:buClrTx/>
              <a:buSzTx/>
              <a:buFont typeface="Arial" panose="020B0604020202020204" pitchFamily="34" charset="0"/>
              <a:buChar char="•"/>
              <a:tabLst>
                <a:tab pos="355600" algn="l"/>
              </a:tabLst>
              <a:defRPr/>
            </a:pPr>
            <a:r>
              <a:rPr kumimoji="0" lang="en-US" altLang="en-US" sz="2400" b="1"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Not</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sufficient</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for</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1"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protection</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1"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against</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1" i="1"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malicious</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1"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or</a:t>
            </a: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355600" marR="0" lvl="0" indent="-342900" algn="l" defTabSz="914400" rtl="0" eaLnBrk="1" fontAlgn="base" latinLnBrk="0" hangingPunct="1">
              <a:lnSpc>
                <a:spcPct val="100000"/>
              </a:lnSpc>
              <a:spcBef>
                <a:spcPct val="0"/>
              </a:spcBef>
              <a:spcAft>
                <a:spcPct val="0"/>
              </a:spcAft>
              <a:buClrTx/>
              <a:buSzTx/>
              <a:buFontTx/>
              <a:buNone/>
              <a:tabLst>
                <a:tab pos="355600" algn="l"/>
              </a:tabLst>
              <a:defRPr/>
            </a:pPr>
            <a:r>
              <a:rPr kumimoji="0" lang="en-US" altLang="en-US" sz="2400" b="1" i="1"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intentional</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1"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modification</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t>
            </a: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755650" marR="0" lvl="1" indent="-285750" algn="l" defTabSz="914400" rtl="0" eaLnBrk="1" fontAlgn="base" latinLnBrk="0" hangingPunct="1">
              <a:lnSpc>
                <a:spcPct val="100000"/>
              </a:lnSpc>
              <a:spcBef>
                <a:spcPts val="488"/>
              </a:spcBef>
              <a:spcAft>
                <a:spcPct val="0"/>
              </a:spcAft>
              <a:buClrTx/>
              <a:buSzTx/>
              <a:buFontTx/>
              <a:buChar char="–"/>
              <a:tabLst>
                <a:tab pos="355600" algn="l"/>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Easy</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to</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make</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changes</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and</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re-compute</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CRC</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to</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match.</a:t>
            </a:r>
          </a:p>
          <a:p>
            <a:pPr marL="355600" marR="0" lvl="0" indent="-342900" algn="l" defTabSz="914400" rtl="0" eaLnBrk="1" fontAlgn="base" latinLnBrk="0" hangingPunct="1">
              <a:lnSpc>
                <a:spcPct val="100000"/>
              </a:lnSpc>
              <a:spcBef>
                <a:spcPts val="575"/>
              </a:spcBef>
              <a:spcAft>
                <a:spcPct val="0"/>
              </a:spcAft>
              <a:buClrTx/>
              <a:buSzTx/>
              <a:buFontTx/>
              <a:buChar char="•"/>
              <a:tabLst>
                <a:tab pos="355600" algn="l"/>
              </a:tabLst>
              <a:defRPr/>
            </a:pP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In</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the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past,</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it</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was</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believed</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that</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the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use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of</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CRCs</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within</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encryption</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was</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sufficient</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to</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provide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integrity.</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However,</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that</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is</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no</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longer</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considered</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adequate:</a:t>
            </a: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755650" marR="0" lvl="1" indent="-285750" algn="l" defTabSz="914400" rtl="0" eaLnBrk="1" fontAlgn="base" latinLnBrk="0" hangingPunct="1">
              <a:lnSpc>
                <a:spcPct val="100000"/>
              </a:lnSpc>
              <a:spcBef>
                <a:spcPts val="488"/>
              </a:spcBef>
              <a:spcAft>
                <a:spcPct val="0"/>
              </a:spcAft>
              <a:buClrTx/>
              <a:buSzTx/>
              <a:buFontTx/>
              <a:buChar char="–"/>
              <a:tabLst>
                <a:tab pos="355600" algn="l"/>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Example:</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use</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of</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CRCs</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in</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WEP</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protocol</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resulted</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in</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serious</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vulnerability,</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allowing</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for</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powerful</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active</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attacks.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5421EDB9-D967-4CBA-908D-7D40DCD39308}"/>
              </a:ext>
            </a:extLst>
          </p:cNvPr>
          <p:cNvSpPr>
            <a:spLocks noGrp="1"/>
          </p:cNvSpPr>
          <p:nvPr>
            <p:ph type="sldNum" sz="quarter" idx="12"/>
          </p:nvPr>
        </p:nvSpPr>
        <p:spPr/>
        <p:txBody>
          <a:bodyPr/>
          <a:lstStyle>
            <a:lvl1pPr marL="381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8100" marR="0" lvl="0" indent="0" algn="l" defTabSz="914400" rtl="0" eaLnBrk="1" fontAlgn="base" latinLnBrk="0" hangingPunct="1">
              <a:lnSpc>
                <a:spcPts val="1650"/>
              </a:lnSpc>
              <a:spcBef>
                <a:spcPct val="0"/>
              </a:spcBef>
              <a:spcAft>
                <a:spcPct val="0"/>
              </a:spcAft>
              <a:buClrTx/>
              <a:buSzTx/>
              <a:buFontTx/>
              <a:buNone/>
              <a:tabLst/>
              <a:defRPr/>
            </a:pPr>
            <a:fld id="{7F05D65F-B4E0-4F49-972B-4E2B7F12762A}" type="slidenum">
              <a:rPr kumimoji="0" lang="en-US" altLang="en-US" sz="14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38100" marR="0" lvl="0" indent="0" algn="l" defTabSz="914400" rtl="0" eaLnBrk="1" fontAlgn="base" latinLnBrk="0" hangingPunct="1">
                <a:lnSpc>
                  <a:spcPts val="1650"/>
                </a:lnSpc>
                <a:spcBef>
                  <a:spcPct val="0"/>
                </a:spcBef>
                <a:spcAft>
                  <a:spcPct val="0"/>
                </a:spcAft>
                <a:buClrTx/>
                <a:buSzTx/>
                <a:buFontTx/>
                <a:buNone/>
                <a:tabLst/>
                <a:defRPr/>
              </a:pPr>
              <a:t>66</a:t>
            </a:fld>
            <a:endPar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object 2">
            <a:extLst>
              <a:ext uri="{FF2B5EF4-FFF2-40B4-BE49-F238E27FC236}">
                <a16:creationId xmlns:a16="http://schemas.microsoft.com/office/drawing/2014/main" id="{B477209E-3556-4F48-8A92-AE1D69CEE666}"/>
              </a:ext>
            </a:extLst>
          </p:cNvPr>
          <p:cNvSpPr txBox="1">
            <a:spLocks noGrp="1"/>
          </p:cNvSpPr>
          <p:nvPr>
            <p:ph type="title"/>
          </p:nvPr>
        </p:nvSpPr>
        <p:spPr>
          <a:xfrm>
            <a:off x="2886075" y="569913"/>
            <a:ext cx="6731000" cy="512762"/>
          </a:xfrm>
        </p:spPr>
        <p:txBody>
          <a:bodyPr vert="horz" wrap="square" lIns="0" tIns="13335" rIns="0" bIns="0" numCol="1" rtlCol="0" anchor="t" anchorCtr="0" compatLnSpc="1">
            <a:prstTxWarp prst="textNoShape">
              <a:avLst/>
            </a:prstTxWarp>
            <a:spAutoFit/>
          </a:bodyPr>
          <a:lstStyle/>
          <a:p>
            <a:pPr marL="12700" eaLnBrk="1" fontAlgn="auto" hangingPunct="1">
              <a:spcBef>
                <a:spcPts val="105"/>
              </a:spcBef>
              <a:spcAft>
                <a:spcPts val="0"/>
              </a:spcAft>
              <a:defRPr/>
            </a:pPr>
            <a:r>
              <a:rPr dirty="0"/>
              <a:t>Message</a:t>
            </a:r>
            <a:r>
              <a:rPr spc="10" dirty="0">
                <a:latin typeface="Times New Roman"/>
                <a:cs typeface="Times New Roman"/>
              </a:rPr>
              <a:t> </a:t>
            </a:r>
            <a:r>
              <a:rPr dirty="0"/>
              <a:t>Authentication</a:t>
            </a:r>
            <a:r>
              <a:rPr spc="55" dirty="0">
                <a:latin typeface="Times New Roman"/>
                <a:cs typeface="Times New Roman"/>
              </a:rPr>
              <a:t> </a:t>
            </a:r>
            <a:r>
              <a:rPr dirty="0"/>
              <a:t>Code</a:t>
            </a:r>
            <a:r>
              <a:rPr spc="40" dirty="0">
                <a:latin typeface="Times New Roman"/>
                <a:cs typeface="Times New Roman"/>
              </a:rPr>
              <a:t> </a:t>
            </a:r>
            <a:r>
              <a:rPr spc="-10" dirty="0"/>
              <a:t>(MAC)</a:t>
            </a:r>
          </a:p>
        </p:txBody>
      </p:sp>
      <p:sp>
        <p:nvSpPr>
          <p:cNvPr id="3" name="object 3">
            <a:extLst>
              <a:ext uri="{FF2B5EF4-FFF2-40B4-BE49-F238E27FC236}">
                <a16:creationId xmlns:a16="http://schemas.microsoft.com/office/drawing/2014/main" id="{505356A3-D942-4096-8E02-B19DE8D72106}"/>
              </a:ext>
            </a:extLst>
          </p:cNvPr>
          <p:cNvSpPr txBox="1"/>
          <p:nvPr/>
        </p:nvSpPr>
        <p:spPr>
          <a:xfrm>
            <a:off x="2289176" y="1397001"/>
            <a:ext cx="7605713" cy="3444533"/>
          </a:xfrm>
          <a:prstGeom prst="rect">
            <a:avLst/>
          </a:prstGeom>
        </p:spPr>
        <p:txBody>
          <a:bodyPr lIns="0" tIns="12700" rIns="0" bIns="0">
            <a:spAutoFit/>
          </a:bodyPr>
          <a:lstStyle>
            <a:lvl1pPr marL="355600" indent="-342900">
              <a:tabLst>
                <a:tab pos="355600" algn="l"/>
              </a:tabLst>
              <a:defRPr>
                <a:solidFill>
                  <a:schemeClr val="tx1"/>
                </a:solidFill>
                <a:latin typeface="Arial" panose="020B0604020202020204" pitchFamily="34" charset="0"/>
              </a:defRPr>
            </a:lvl1pPr>
            <a:lvl2pPr marL="755650" indent="-285750">
              <a:tabLst>
                <a:tab pos="355600" algn="l"/>
              </a:tabLst>
              <a:defRPr>
                <a:solidFill>
                  <a:schemeClr val="tx1"/>
                </a:solidFill>
                <a:latin typeface="Arial" panose="020B0604020202020204" pitchFamily="34" charset="0"/>
              </a:defRPr>
            </a:lvl2pPr>
            <a:lvl3pPr marL="1143000" indent="-228600">
              <a:tabLst>
                <a:tab pos="355600" algn="l"/>
              </a:tabLst>
              <a:defRPr>
                <a:solidFill>
                  <a:schemeClr val="tx1"/>
                </a:solidFill>
                <a:latin typeface="Arial" panose="020B0604020202020204" pitchFamily="34" charset="0"/>
              </a:defRPr>
            </a:lvl3pPr>
            <a:lvl4pPr marL="1600200" indent="-228600">
              <a:tabLst>
                <a:tab pos="355600" algn="l"/>
              </a:tabLst>
              <a:defRPr>
                <a:solidFill>
                  <a:schemeClr val="tx1"/>
                </a:solidFill>
                <a:latin typeface="Arial" panose="020B0604020202020204" pitchFamily="34" charset="0"/>
              </a:defRPr>
            </a:lvl4pPr>
            <a:lvl5pPr marL="2057400" indent="-228600">
              <a:tabLst>
                <a:tab pos="355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55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55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55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55600" algn="l"/>
              </a:tabLst>
              <a:defRPr>
                <a:solidFill>
                  <a:schemeClr val="tx1"/>
                </a:solidFill>
                <a:latin typeface="Arial" panose="020B0604020202020204" pitchFamily="34" charset="0"/>
              </a:defRPr>
            </a:lvl9pPr>
          </a:lstStyle>
          <a:p>
            <a:pPr marL="355600" marR="0" lvl="0" indent="-342900" algn="l" defTabSz="914400" rtl="0" eaLnBrk="1" fontAlgn="base" latinLnBrk="0" hangingPunct="1">
              <a:lnSpc>
                <a:spcPct val="100000"/>
              </a:lnSpc>
              <a:spcBef>
                <a:spcPts val="100"/>
              </a:spcBef>
              <a:spcAft>
                <a:spcPct val="0"/>
              </a:spcAft>
              <a:buClrTx/>
              <a:buSzTx/>
              <a:buFontTx/>
              <a:buChar char="•"/>
              <a:tabLst>
                <a:tab pos="355600" algn="l"/>
              </a:tabLst>
              <a:defRPr/>
            </a:pP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MAC</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is</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cryptographic</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checksum</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that</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serves</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as</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an</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authenticator</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of</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the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message</a:t>
            </a: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755650" marR="0" lvl="1" indent="-285750" algn="l" defTabSz="914400" rtl="0" eaLnBrk="1" fontAlgn="base" latinLnBrk="0" hangingPunct="1">
              <a:lnSpc>
                <a:spcPct val="100000"/>
              </a:lnSpc>
              <a:spcBef>
                <a:spcPts val="488"/>
              </a:spcBef>
              <a:spcAft>
                <a:spcPct val="0"/>
              </a:spcAft>
              <a:buClrTx/>
              <a:buSzTx/>
              <a:buFontTx/>
              <a:buChar char="–"/>
              <a:tabLst>
                <a:tab pos="355600" algn="l"/>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Generate</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fixed</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length</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MAC</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(say</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128</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bits)</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from</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an</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arbitrary</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message</a:t>
            </a:r>
          </a:p>
          <a:p>
            <a:pPr marL="755650" marR="0" lvl="1" indent="-285750" algn="l" defTabSz="914400" rtl="0" eaLnBrk="1" fontAlgn="base" latinLnBrk="0" hangingPunct="1">
              <a:lnSpc>
                <a:spcPct val="100000"/>
              </a:lnSpc>
              <a:spcBef>
                <a:spcPts val="475"/>
              </a:spcBef>
              <a:spcAft>
                <a:spcPct val="0"/>
              </a:spcAft>
              <a:buClrTx/>
              <a:buSzTx/>
              <a:buFontTx/>
              <a:buChar char="–"/>
              <a:tabLst>
                <a:tab pos="355600" algn="l"/>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 “secret” key is used to generate the MAC</a:t>
            </a:r>
          </a:p>
          <a:p>
            <a:pPr marL="755650" marR="0" lvl="1" indent="-285750" algn="l" defTabSz="914400" rtl="0" eaLnBrk="1" fontAlgn="base" latinLnBrk="0" hangingPunct="1">
              <a:lnSpc>
                <a:spcPct val="100000"/>
              </a:lnSpc>
              <a:spcBef>
                <a:spcPts val="488"/>
              </a:spcBef>
              <a:spcAft>
                <a:spcPct val="0"/>
              </a:spcAft>
              <a:buClrTx/>
              <a:buSzTx/>
              <a:buFontTx/>
              <a:buChar char="–"/>
              <a:tabLst>
                <a:tab pos="355600" algn="l"/>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MAC</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should</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not</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be</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invertible</a:t>
            </a:r>
          </a:p>
          <a:p>
            <a:pPr marL="7556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355600" algn="l"/>
              </a:tabLst>
              <a:defRPr/>
            </a:pPr>
            <a:endParaRPr kumimoji="0" lang="en-US" altLang="en-US" sz="2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355600" marR="0" lvl="0" indent="-342900" algn="l" defTabSz="914400" rtl="0" eaLnBrk="1" fontAlgn="base" latinLnBrk="0" hangingPunct="1">
              <a:lnSpc>
                <a:spcPct val="100000"/>
              </a:lnSpc>
              <a:spcBef>
                <a:spcPts val="1500"/>
              </a:spcBef>
              <a:spcAft>
                <a:spcPct val="0"/>
              </a:spcAft>
              <a:buClrTx/>
              <a:buSzTx/>
              <a:buFontTx/>
              <a:buChar char="•"/>
              <a:tabLst>
                <a:tab pos="355600" algn="l"/>
              </a:tabLst>
              <a:defRPr/>
            </a:pP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The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term</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message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integrity</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code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(MIC)</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is</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sometimes</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used</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and</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probably</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more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accurate</a:t>
            </a: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394155BF-4ACA-4BF8-A141-4F263478BAE6}"/>
              </a:ext>
            </a:extLst>
          </p:cNvPr>
          <p:cNvSpPr txBox="1">
            <a:spLocks noGrp="1"/>
          </p:cNvSpPr>
          <p:nvPr>
            <p:ph type="title"/>
          </p:nvPr>
        </p:nvSpPr>
        <p:spPr>
          <a:xfrm>
            <a:off x="4954589" y="493713"/>
            <a:ext cx="2282825" cy="514350"/>
          </a:xfrm>
        </p:spPr>
        <p:txBody>
          <a:bodyPr vert="horz" wrap="square" lIns="0" tIns="13335" rIns="0" bIns="0" numCol="1" rtlCol="0" anchor="t" anchorCtr="0" compatLnSpc="1">
            <a:prstTxWarp prst="textNoShape">
              <a:avLst/>
            </a:prstTxWarp>
            <a:spAutoFit/>
          </a:bodyPr>
          <a:lstStyle/>
          <a:p>
            <a:pPr marL="12700" eaLnBrk="1" fontAlgn="auto" hangingPunct="1">
              <a:spcBef>
                <a:spcPts val="105"/>
              </a:spcBef>
              <a:spcAft>
                <a:spcPts val="0"/>
              </a:spcAft>
              <a:defRPr/>
            </a:pPr>
            <a:r>
              <a:rPr dirty="0"/>
              <a:t>Using</a:t>
            </a:r>
            <a:r>
              <a:rPr spc="25" dirty="0">
                <a:latin typeface="Times New Roman"/>
                <a:cs typeface="Times New Roman"/>
              </a:rPr>
              <a:t> </a:t>
            </a:r>
            <a:r>
              <a:rPr spc="-20" dirty="0"/>
              <a:t>MACs</a:t>
            </a:r>
          </a:p>
        </p:txBody>
      </p:sp>
      <p:grpSp>
        <p:nvGrpSpPr>
          <p:cNvPr id="6147" name="object 3">
            <a:extLst>
              <a:ext uri="{FF2B5EF4-FFF2-40B4-BE49-F238E27FC236}">
                <a16:creationId xmlns:a16="http://schemas.microsoft.com/office/drawing/2014/main" id="{66D7C999-2E39-4E6D-8F95-1701291A73E7}"/>
              </a:ext>
            </a:extLst>
          </p:cNvPr>
          <p:cNvGrpSpPr>
            <a:grpSpLocks/>
          </p:cNvGrpSpPr>
          <p:nvPr/>
        </p:nvGrpSpPr>
        <p:grpSpPr bwMode="auto">
          <a:xfrm>
            <a:off x="3422650" y="3270250"/>
            <a:ext cx="1384300" cy="1155700"/>
            <a:chOff x="1898650" y="3270250"/>
            <a:chExt cx="1384300" cy="1155700"/>
          </a:xfrm>
        </p:grpSpPr>
        <p:sp>
          <p:nvSpPr>
            <p:cNvPr id="6167" name="object 4">
              <a:extLst>
                <a:ext uri="{FF2B5EF4-FFF2-40B4-BE49-F238E27FC236}">
                  <a16:creationId xmlns:a16="http://schemas.microsoft.com/office/drawing/2014/main" id="{48B64864-0273-4287-BCCE-BB6E50C7892D}"/>
                </a:ext>
              </a:extLst>
            </p:cNvPr>
            <p:cNvSpPr>
              <a:spLocks/>
            </p:cNvSpPr>
            <p:nvPr/>
          </p:nvSpPr>
          <p:spPr bwMode="auto">
            <a:xfrm>
              <a:off x="1905000" y="3276600"/>
              <a:ext cx="1371600" cy="1143000"/>
            </a:xfrm>
            <a:custGeom>
              <a:avLst/>
              <a:gdLst>
                <a:gd name="T0" fmla="*/ 1371599 w 1371600"/>
                <a:gd name="T1" fmla="*/ 0 h 1143000"/>
                <a:gd name="T2" fmla="*/ 0 w 1371600"/>
                <a:gd name="T3" fmla="*/ 0 h 1143000"/>
                <a:gd name="T4" fmla="*/ 0 w 1371600"/>
                <a:gd name="T5" fmla="*/ 1142999 h 1143000"/>
                <a:gd name="T6" fmla="*/ 1371599 w 1371600"/>
                <a:gd name="T7" fmla="*/ 1142999 h 1143000"/>
                <a:gd name="T8" fmla="*/ 1371599 w 1371600"/>
                <a:gd name="T9" fmla="*/ 0 h 1143000"/>
              </a:gdLst>
              <a:ahLst/>
              <a:cxnLst>
                <a:cxn ang="0">
                  <a:pos x="T0" y="T1"/>
                </a:cxn>
                <a:cxn ang="0">
                  <a:pos x="T2" y="T3"/>
                </a:cxn>
                <a:cxn ang="0">
                  <a:pos x="T4" y="T5"/>
                </a:cxn>
                <a:cxn ang="0">
                  <a:pos x="T6" y="T7"/>
                </a:cxn>
                <a:cxn ang="0">
                  <a:pos x="T8" y="T9"/>
                </a:cxn>
              </a:cxnLst>
              <a:rect l="0" t="0" r="r" b="b"/>
              <a:pathLst>
                <a:path w="1371600" h="1143000">
                  <a:moveTo>
                    <a:pt x="1371599" y="0"/>
                  </a:moveTo>
                  <a:lnTo>
                    <a:pt x="0" y="0"/>
                  </a:lnTo>
                  <a:lnTo>
                    <a:pt x="0" y="1142999"/>
                  </a:lnTo>
                  <a:lnTo>
                    <a:pt x="1371599" y="1142999"/>
                  </a:lnTo>
                  <a:lnTo>
                    <a:pt x="1371599" y="0"/>
                  </a:lnTo>
                  <a:close/>
                </a:path>
              </a:pathLst>
            </a:custGeom>
            <a:solidFill>
              <a:srgbClr val="00CC9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168" name="object 5">
              <a:extLst>
                <a:ext uri="{FF2B5EF4-FFF2-40B4-BE49-F238E27FC236}">
                  <a16:creationId xmlns:a16="http://schemas.microsoft.com/office/drawing/2014/main" id="{DF22231B-F4BA-48CA-A357-729DF1CFF1FE}"/>
                </a:ext>
              </a:extLst>
            </p:cNvPr>
            <p:cNvSpPr>
              <a:spLocks/>
            </p:cNvSpPr>
            <p:nvPr/>
          </p:nvSpPr>
          <p:spPr bwMode="auto">
            <a:xfrm>
              <a:off x="1905000" y="3276600"/>
              <a:ext cx="1371600" cy="1143000"/>
            </a:xfrm>
            <a:custGeom>
              <a:avLst/>
              <a:gdLst>
                <a:gd name="T0" fmla="*/ 0 w 1371600"/>
                <a:gd name="T1" fmla="*/ 1142999 h 1143000"/>
                <a:gd name="T2" fmla="*/ 1371599 w 1371600"/>
                <a:gd name="T3" fmla="*/ 1142999 h 1143000"/>
                <a:gd name="T4" fmla="*/ 1371599 w 1371600"/>
                <a:gd name="T5" fmla="*/ 0 h 1143000"/>
                <a:gd name="T6" fmla="*/ 0 w 1371600"/>
                <a:gd name="T7" fmla="*/ 0 h 1143000"/>
                <a:gd name="T8" fmla="*/ 0 w 1371600"/>
                <a:gd name="T9" fmla="*/ 1142999 h 1143000"/>
              </a:gdLst>
              <a:ahLst/>
              <a:cxnLst>
                <a:cxn ang="0">
                  <a:pos x="T0" y="T1"/>
                </a:cxn>
                <a:cxn ang="0">
                  <a:pos x="T2" y="T3"/>
                </a:cxn>
                <a:cxn ang="0">
                  <a:pos x="T4" y="T5"/>
                </a:cxn>
                <a:cxn ang="0">
                  <a:pos x="T6" y="T7"/>
                </a:cxn>
                <a:cxn ang="0">
                  <a:pos x="T8" y="T9"/>
                </a:cxn>
              </a:cxnLst>
              <a:rect l="0" t="0" r="r" b="b"/>
              <a:pathLst>
                <a:path w="1371600" h="1143000">
                  <a:moveTo>
                    <a:pt x="0" y="1142999"/>
                  </a:moveTo>
                  <a:lnTo>
                    <a:pt x="1371599" y="1142999"/>
                  </a:lnTo>
                  <a:lnTo>
                    <a:pt x="1371599" y="0"/>
                  </a:lnTo>
                  <a:lnTo>
                    <a:pt x="0" y="0"/>
                  </a:lnTo>
                  <a:lnTo>
                    <a:pt x="0" y="114299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6" name="object 6">
            <a:extLst>
              <a:ext uri="{FF2B5EF4-FFF2-40B4-BE49-F238E27FC236}">
                <a16:creationId xmlns:a16="http://schemas.microsoft.com/office/drawing/2014/main" id="{B64904BE-7FE5-4CBF-8984-8BDB7F7F2315}"/>
              </a:ext>
            </a:extLst>
          </p:cNvPr>
          <p:cNvSpPr txBox="1"/>
          <p:nvPr/>
        </p:nvSpPr>
        <p:spPr>
          <a:xfrm>
            <a:off x="3435350" y="3646489"/>
            <a:ext cx="1358900" cy="390525"/>
          </a:xfrm>
          <a:prstGeom prst="rect">
            <a:avLst/>
          </a:prstGeom>
        </p:spPr>
        <p:txBody>
          <a:bodyPr lIns="0" tIns="12700" rIns="0" bIns="0">
            <a:spAutoFit/>
          </a:bodyPr>
          <a:lstStyle/>
          <a:p>
            <a:pPr marL="340360" marR="0" lvl="0" indent="0" algn="l" defTabSz="914400" rtl="0" eaLnBrk="1" fontAlgn="auto" latinLnBrk="0" hangingPunct="1">
              <a:lnSpc>
                <a:spcPct val="100000"/>
              </a:lnSpc>
              <a:spcBef>
                <a:spcPts val="100"/>
              </a:spcBef>
              <a:spcAft>
                <a:spcPts val="0"/>
              </a:spcAft>
              <a:buClrTx/>
              <a:buSzTx/>
              <a:buFontTx/>
              <a:buNone/>
              <a:tabLst/>
              <a:defRPr/>
            </a:pPr>
            <a:r>
              <a:rPr kumimoji="0" sz="2400" b="0" i="0" u="none" strike="noStrike" kern="0" cap="none" spc="-25" normalizeH="0" baseline="0" noProof="0" dirty="0">
                <a:ln>
                  <a:noFill/>
                </a:ln>
                <a:solidFill>
                  <a:sysClr val="windowText" lastClr="000000"/>
                </a:solidFill>
                <a:effectLst/>
                <a:uLnTx/>
                <a:uFillTx/>
                <a:latin typeface="Arial"/>
                <a:ea typeface="+mn-ea"/>
                <a:cs typeface="Arial"/>
              </a:rPr>
              <a:t>MAC</a:t>
            </a:r>
            <a:endParaRPr kumimoji="0" sz="24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7" name="object 7">
            <a:extLst>
              <a:ext uri="{FF2B5EF4-FFF2-40B4-BE49-F238E27FC236}">
                <a16:creationId xmlns:a16="http://schemas.microsoft.com/office/drawing/2014/main" id="{B5B19284-F2F6-48DB-9B00-378334EB3B8C}"/>
              </a:ext>
            </a:extLst>
          </p:cNvPr>
          <p:cNvSpPr txBox="1"/>
          <p:nvPr/>
        </p:nvSpPr>
        <p:spPr>
          <a:xfrm>
            <a:off x="3584576" y="2844801"/>
            <a:ext cx="1006475" cy="392113"/>
          </a:xfrm>
          <a:prstGeom prst="rect">
            <a:avLst/>
          </a:prstGeom>
        </p:spPr>
        <p:txBody>
          <a:bodyPr lIns="0" tIns="12700" rIns="0" bIns="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2400" b="0" i="0" u="none" strike="noStrike" kern="0" cap="none" spc="-10" normalizeH="0" baseline="0" noProof="0" dirty="0">
                <a:ln>
                  <a:noFill/>
                </a:ln>
                <a:solidFill>
                  <a:sysClr val="windowText" lastClr="000000"/>
                </a:solidFill>
                <a:effectLst/>
                <a:uLnTx/>
                <a:uFillTx/>
                <a:latin typeface="Arial"/>
                <a:ea typeface="+mn-ea"/>
                <a:cs typeface="Arial"/>
              </a:rPr>
              <a:t>Sender</a:t>
            </a:r>
            <a:endParaRPr kumimoji="0" sz="2400" b="0" i="0" u="none" strike="noStrike" kern="0" cap="none" spc="0" normalizeH="0" baseline="0" noProof="0">
              <a:ln>
                <a:noFill/>
              </a:ln>
              <a:solidFill>
                <a:sysClr val="windowText" lastClr="000000"/>
              </a:solidFill>
              <a:effectLst/>
              <a:uLnTx/>
              <a:uFillTx/>
              <a:latin typeface="Arial"/>
              <a:ea typeface="+mn-ea"/>
              <a:cs typeface="Arial"/>
            </a:endParaRPr>
          </a:p>
        </p:txBody>
      </p:sp>
      <p:grpSp>
        <p:nvGrpSpPr>
          <p:cNvPr id="6150" name="object 8">
            <a:extLst>
              <a:ext uri="{FF2B5EF4-FFF2-40B4-BE49-F238E27FC236}">
                <a16:creationId xmlns:a16="http://schemas.microsoft.com/office/drawing/2014/main" id="{2D3132A3-10D4-4823-A3D4-3A80C188DA99}"/>
              </a:ext>
            </a:extLst>
          </p:cNvPr>
          <p:cNvGrpSpPr>
            <a:grpSpLocks/>
          </p:cNvGrpSpPr>
          <p:nvPr/>
        </p:nvGrpSpPr>
        <p:grpSpPr bwMode="auto">
          <a:xfrm>
            <a:off x="7994650" y="3270250"/>
            <a:ext cx="1384300" cy="1155700"/>
            <a:chOff x="6470650" y="3270250"/>
            <a:chExt cx="1384300" cy="1155700"/>
          </a:xfrm>
        </p:grpSpPr>
        <p:sp>
          <p:nvSpPr>
            <p:cNvPr id="6165" name="object 9">
              <a:extLst>
                <a:ext uri="{FF2B5EF4-FFF2-40B4-BE49-F238E27FC236}">
                  <a16:creationId xmlns:a16="http://schemas.microsoft.com/office/drawing/2014/main" id="{6EF42B98-27EC-4A29-AF82-1F3F218793AD}"/>
                </a:ext>
              </a:extLst>
            </p:cNvPr>
            <p:cNvSpPr>
              <a:spLocks/>
            </p:cNvSpPr>
            <p:nvPr/>
          </p:nvSpPr>
          <p:spPr bwMode="auto">
            <a:xfrm>
              <a:off x="6477000" y="3276600"/>
              <a:ext cx="1371600" cy="1143000"/>
            </a:xfrm>
            <a:custGeom>
              <a:avLst/>
              <a:gdLst>
                <a:gd name="T0" fmla="*/ 1371599 w 1371600"/>
                <a:gd name="T1" fmla="*/ 0 h 1143000"/>
                <a:gd name="T2" fmla="*/ 0 w 1371600"/>
                <a:gd name="T3" fmla="*/ 0 h 1143000"/>
                <a:gd name="T4" fmla="*/ 0 w 1371600"/>
                <a:gd name="T5" fmla="*/ 1142999 h 1143000"/>
                <a:gd name="T6" fmla="*/ 1371599 w 1371600"/>
                <a:gd name="T7" fmla="*/ 1142999 h 1143000"/>
                <a:gd name="T8" fmla="*/ 1371599 w 1371600"/>
                <a:gd name="T9" fmla="*/ 0 h 1143000"/>
              </a:gdLst>
              <a:ahLst/>
              <a:cxnLst>
                <a:cxn ang="0">
                  <a:pos x="T0" y="T1"/>
                </a:cxn>
                <a:cxn ang="0">
                  <a:pos x="T2" y="T3"/>
                </a:cxn>
                <a:cxn ang="0">
                  <a:pos x="T4" y="T5"/>
                </a:cxn>
                <a:cxn ang="0">
                  <a:pos x="T6" y="T7"/>
                </a:cxn>
                <a:cxn ang="0">
                  <a:pos x="T8" y="T9"/>
                </a:cxn>
              </a:cxnLst>
              <a:rect l="0" t="0" r="r" b="b"/>
              <a:pathLst>
                <a:path w="1371600" h="1143000">
                  <a:moveTo>
                    <a:pt x="1371599" y="0"/>
                  </a:moveTo>
                  <a:lnTo>
                    <a:pt x="0" y="0"/>
                  </a:lnTo>
                  <a:lnTo>
                    <a:pt x="0" y="1142999"/>
                  </a:lnTo>
                  <a:lnTo>
                    <a:pt x="1371599" y="1142999"/>
                  </a:lnTo>
                  <a:lnTo>
                    <a:pt x="1371599" y="0"/>
                  </a:lnTo>
                  <a:close/>
                </a:path>
              </a:pathLst>
            </a:custGeom>
            <a:solidFill>
              <a:srgbClr val="00CC9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166" name="object 10">
              <a:extLst>
                <a:ext uri="{FF2B5EF4-FFF2-40B4-BE49-F238E27FC236}">
                  <a16:creationId xmlns:a16="http://schemas.microsoft.com/office/drawing/2014/main" id="{058D0C36-745D-445F-8420-095EF5EFFEE2}"/>
                </a:ext>
              </a:extLst>
            </p:cNvPr>
            <p:cNvSpPr>
              <a:spLocks/>
            </p:cNvSpPr>
            <p:nvPr/>
          </p:nvSpPr>
          <p:spPr bwMode="auto">
            <a:xfrm>
              <a:off x="6477000" y="3276600"/>
              <a:ext cx="1371600" cy="1143000"/>
            </a:xfrm>
            <a:custGeom>
              <a:avLst/>
              <a:gdLst>
                <a:gd name="T0" fmla="*/ 0 w 1371600"/>
                <a:gd name="T1" fmla="*/ 1142999 h 1143000"/>
                <a:gd name="T2" fmla="*/ 1371599 w 1371600"/>
                <a:gd name="T3" fmla="*/ 1142999 h 1143000"/>
                <a:gd name="T4" fmla="*/ 1371599 w 1371600"/>
                <a:gd name="T5" fmla="*/ 0 h 1143000"/>
                <a:gd name="T6" fmla="*/ 0 w 1371600"/>
                <a:gd name="T7" fmla="*/ 0 h 1143000"/>
                <a:gd name="T8" fmla="*/ 0 w 1371600"/>
                <a:gd name="T9" fmla="*/ 1142999 h 1143000"/>
              </a:gdLst>
              <a:ahLst/>
              <a:cxnLst>
                <a:cxn ang="0">
                  <a:pos x="T0" y="T1"/>
                </a:cxn>
                <a:cxn ang="0">
                  <a:pos x="T2" y="T3"/>
                </a:cxn>
                <a:cxn ang="0">
                  <a:pos x="T4" y="T5"/>
                </a:cxn>
                <a:cxn ang="0">
                  <a:pos x="T6" y="T7"/>
                </a:cxn>
                <a:cxn ang="0">
                  <a:pos x="T8" y="T9"/>
                </a:cxn>
              </a:cxnLst>
              <a:rect l="0" t="0" r="r" b="b"/>
              <a:pathLst>
                <a:path w="1371600" h="1143000">
                  <a:moveTo>
                    <a:pt x="0" y="1142999"/>
                  </a:moveTo>
                  <a:lnTo>
                    <a:pt x="1371599" y="1142999"/>
                  </a:lnTo>
                  <a:lnTo>
                    <a:pt x="1371599" y="0"/>
                  </a:lnTo>
                  <a:lnTo>
                    <a:pt x="0" y="0"/>
                  </a:lnTo>
                  <a:lnTo>
                    <a:pt x="0" y="114299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11" name="object 11">
            <a:extLst>
              <a:ext uri="{FF2B5EF4-FFF2-40B4-BE49-F238E27FC236}">
                <a16:creationId xmlns:a16="http://schemas.microsoft.com/office/drawing/2014/main" id="{9CA2CC0C-A499-4B37-8477-7ACCAB56C2B8}"/>
              </a:ext>
            </a:extLst>
          </p:cNvPr>
          <p:cNvSpPr txBox="1"/>
          <p:nvPr/>
        </p:nvSpPr>
        <p:spPr>
          <a:xfrm>
            <a:off x="8007350" y="3646489"/>
            <a:ext cx="1358900" cy="390525"/>
          </a:xfrm>
          <a:prstGeom prst="rect">
            <a:avLst/>
          </a:prstGeom>
        </p:spPr>
        <p:txBody>
          <a:bodyPr lIns="0" tIns="12700" rIns="0" bIns="0">
            <a:spAutoFit/>
          </a:bodyPr>
          <a:lstStyle/>
          <a:p>
            <a:pPr marL="340995" marR="0" lvl="0" indent="0" algn="l" defTabSz="914400" rtl="0" eaLnBrk="1" fontAlgn="auto" latinLnBrk="0" hangingPunct="1">
              <a:lnSpc>
                <a:spcPct val="100000"/>
              </a:lnSpc>
              <a:spcBef>
                <a:spcPts val="100"/>
              </a:spcBef>
              <a:spcAft>
                <a:spcPts val="0"/>
              </a:spcAft>
              <a:buClrTx/>
              <a:buSzTx/>
              <a:buFontTx/>
              <a:buNone/>
              <a:tabLst/>
              <a:defRPr/>
            </a:pPr>
            <a:r>
              <a:rPr kumimoji="0" sz="2400" b="0" i="0" u="none" strike="noStrike" kern="0" cap="none" spc="-25" normalizeH="0" baseline="0" noProof="0" dirty="0">
                <a:ln>
                  <a:noFill/>
                </a:ln>
                <a:solidFill>
                  <a:sysClr val="windowText" lastClr="000000"/>
                </a:solidFill>
                <a:effectLst/>
                <a:uLnTx/>
                <a:uFillTx/>
                <a:latin typeface="Arial"/>
                <a:ea typeface="+mn-ea"/>
                <a:cs typeface="Arial"/>
              </a:rPr>
              <a:t>MAC</a:t>
            </a:r>
            <a:endParaRPr kumimoji="0" sz="24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12" name="object 12">
            <a:extLst>
              <a:ext uri="{FF2B5EF4-FFF2-40B4-BE49-F238E27FC236}">
                <a16:creationId xmlns:a16="http://schemas.microsoft.com/office/drawing/2014/main" id="{0D723EC7-FC26-4076-8F2C-FB0D5296426D}"/>
              </a:ext>
            </a:extLst>
          </p:cNvPr>
          <p:cNvSpPr txBox="1"/>
          <p:nvPr/>
        </p:nvSpPr>
        <p:spPr>
          <a:xfrm>
            <a:off x="8080375" y="2844801"/>
            <a:ext cx="1227138" cy="392113"/>
          </a:xfrm>
          <a:prstGeom prst="rect">
            <a:avLst/>
          </a:prstGeom>
        </p:spPr>
        <p:txBody>
          <a:bodyPr lIns="0" tIns="12700" rIns="0" bIns="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2400" b="0" i="0" u="none" strike="noStrike" kern="0" cap="none" spc="-10" normalizeH="0" baseline="0" noProof="0" dirty="0">
                <a:ln>
                  <a:noFill/>
                </a:ln>
                <a:solidFill>
                  <a:sysClr val="windowText" lastClr="000000"/>
                </a:solidFill>
                <a:effectLst/>
                <a:uLnTx/>
                <a:uFillTx/>
                <a:latin typeface="Arial"/>
                <a:ea typeface="+mn-ea"/>
                <a:cs typeface="Arial"/>
              </a:rPr>
              <a:t>Receiver</a:t>
            </a:r>
            <a:endParaRPr kumimoji="0" sz="24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6153" name="object 13">
            <a:extLst>
              <a:ext uri="{FF2B5EF4-FFF2-40B4-BE49-F238E27FC236}">
                <a16:creationId xmlns:a16="http://schemas.microsoft.com/office/drawing/2014/main" id="{91245A70-A2FB-41BA-A8A4-47F7B74A42AD}"/>
              </a:ext>
            </a:extLst>
          </p:cNvPr>
          <p:cNvSpPr txBox="1">
            <a:spLocks noChangeArrowheads="1"/>
          </p:cNvSpPr>
          <p:nvPr/>
        </p:nvSpPr>
        <p:spPr bwMode="auto">
          <a:xfrm>
            <a:off x="2822575" y="1854201"/>
            <a:ext cx="2286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12700" marR="0" lvl="0" indent="0" algn="l" defTabSz="914400" rtl="0" eaLnBrk="1" fontAlgn="base" latinLnBrk="0" hangingPunct="1">
              <a:lnSpc>
                <a:spcPct val="100000"/>
              </a:lnSpc>
              <a:spcBef>
                <a:spcPts val="1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K</a:t>
            </a:r>
          </a:p>
        </p:txBody>
      </p:sp>
      <p:grpSp>
        <p:nvGrpSpPr>
          <p:cNvPr id="6154" name="object 14">
            <a:extLst>
              <a:ext uri="{FF2B5EF4-FFF2-40B4-BE49-F238E27FC236}">
                <a16:creationId xmlns:a16="http://schemas.microsoft.com/office/drawing/2014/main" id="{AF596BDF-7B61-4B34-ACAA-3229359054EF}"/>
              </a:ext>
            </a:extLst>
          </p:cNvPr>
          <p:cNvGrpSpPr>
            <a:grpSpLocks/>
          </p:cNvGrpSpPr>
          <p:nvPr/>
        </p:nvGrpSpPr>
        <p:grpSpPr bwMode="auto">
          <a:xfrm>
            <a:off x="2438400" y="2051051"/>
            <a:ext cx="7169150" cy="2347913"/>
            <a:chOff x="914269" y="2051060"/>
            <a:chExt cx="7169784" cy="2348230"/>
          </a:xfrm>
        </p:grpSpPr>
        <p:sp>
          <p:nvSpPr>
            <p:cNvPr id="6162" name="object 15">
              <a:extLst>
                <a:ext uri="{FF2B5EF4-FFF2-40B4-BE49-F238E27FC236}">
                  <a16:creationId xmlns:a16="http://schemas.microsoft.com/office/drawing/2014/main" id="{3806DB1A-D1F5-4E55-9A59-2E01D1F8ADF6}"/>
                </a:ext>
              </a:extLst>
            </p:cNvPr>
            <p:cNvSpPr>
              <a:spLocks/>
            </p:cNvSpPr>
            <p:nvPr/>
          </p:nvSpPr>
          <p:spPr bwMode="auto">
            <a:xfrm>
              <a:off x="914260" y="2051062"/>
              <a:ext cx="7169784" cy="2348230"/>
            </a:xfrm>
            <a:custGeom>
              <a:avLst/>
              <a:gdLst>
                <a:gd name="T0" fmla="*/ 956183 w 7169784"/>
                <a:gd name="T1" fmla="*/ 2316480 h 2348229"/>
                <a:gd name="T2" fmla="*/ 903351 w 7169784"/>
                <a:gd name="T3" fmla="*/ 2316480 h 2348229"/>
                <a:gd name="T4" fmla="*/ 890651 w 7169784"/>
                <a:gd name="T5" fmla="*/ 2316480 h 2348229"/>
                <a:gd name="T6" fmla="*/ 890016 w 7169784"/>
                <a:gd name="T7" fmla="*/ 2347963 h 2348229"/>
                <a:gd name="T8" fmla="*/ 956183 w 7169784"/>
                <a:gd name="T9" fmla="*/ 2316480 h 2348229"/>
                <a:gd name="T10" fmla="*/ 966863 w 7169784"/>
                <a:gd name="T11" fmla="*/ 2311387 h 2348229"/>
                <a:gd name="T12" fmla="*/ 891540 w 7169784"/>
                <a:gd name="T13" fmla="*/ 2271763 h 2348229"/>
                <a:gd name="T14" fmla="*/ 890905 w 7169784"/>
                <a:gd name="T15" fmla="*/ 2303526 h 2348229"/>
                <a:gd name="T16" fmla="*/ 266 w 7169784"/>
                <a:gd name="T17" fmla="*/ 2286000 h 2348229"/>
                <a:gd name="T18" fmla="*/ 0 w 7169784"/>
                <a:gd name="T19" fmla="*/ 2298687 h 2348229"/>
                <a:gd name="T20" fmla="*/ 890651 w 7169784"/>
                <a:gd name="T21" fmla="*/ 2316226 h 2348229"/>
                <a:gd name="T22" fmla="*/ 903351 w 7169784"/>
                <a:gd name="T23" fmla="*/ 2316226 h 2348229"/>
                <a:gd name="T24" fmla="*/ 956703 w 7169784"/>
                <a:gd name="T25" fmla="*/ 2316226 h 2348229"/>
                <a:gd name="T26" fmla="*/ 966863 w 7169784"/>
                <a:gd name="T27" fmla="*/ 2311387 h 2348229"/>
                <a:gd name="T28" fmla="*/ 990739 w 7169784"/>
                <a:gd name="T29" fmla="*/ 1797037 h 2348229"/>
                <a:gd name="T30" fmla="*/ 978039 w 7169784"/>
                <a:gd name="T31" fmla="*/ 1790700 h 2348229"/>
                <a:gd name="T32" fmla="*/ 914539 w 7169784"/>
                <a:gd name="T33" fmla="*/ 1758937 h 2348229"/>
                <a:gd name="T34" fmla="*/ 914539 w 7169784"/>
                <a:gd name="T35" fmla="*/ 1790700 h 2348229"/>
                <a:gd name="T36" fmla="*/ 504964 w 7169784"/>
                <a:gd name="T37" fmla="*/ 1790700 h 2348229"/>
                <a:gd name="T38" fmla="*/ 504964 w 7169784"/>
                <a:gd name="T39" fmla="*/ 234937 h 2348229"/>
                <a:gd name="T40" fmla="*/ 492252 w 7169784"/>
                <a:gd name="T41" fmla="*/ 234937 h 2348229"/>
                <a:gd name="T42" fmla="*/ 492252 w 7169784"/>
                <a:gd name="T43" fmla="*/ 1803387 h 2348229"/>
                <a:gd name="T44" fmla="*/ 914539 w 7169784"/>
                <a:gd name="T45" fmla="*/ 1803387 h 2348229"/>
                <a:gd name="T46" fmla="*/ 914539 w 7169784"/>
                <a:gd name="T47" fmla="*/ 1835137 h 2348229"/>
                <a:gd name="T48" fmla="*/ 978039 w 7169784"/>
                <a:gd name="T49" fmla="*/ 1803387 h 2348229"/>
                <a:gd name="T50" fmla="*/ 990739 w 7169784"/>
                <a:gd name="T51" fmla="*/ 1797037 h 2348229"/>
                <a:gd name="T52" fmla="*/ 7169277 w 7169784"/>
                <a:gd name="T53" fmla="*/ 0 h 2348229"/>
                <a:gd name="T54" fmla="*/ 692277 w 7169784"/>
                <a:gd name="T55" fmla="*/ 0 h 2348229"/>
                <a:gd name="T56" fmla="*/ 692277 w 7169784"/>
                <a:gd name="T57" fmla="*/ 12687 h 2348229"/>
                <a:gd name="T58" fmla="*/ 7156590 w 7169784"/>
                <a:gd name="T59" fmla="*/ 12687 h 2348229"/>
                <a:gd name="T60" fmla="*/ 7156590 w 7169784"/>
                <a:gd name="T61" fmla="*/ 1790700 h 2348229"/>
                <a:gd name="T62" fmla="*/ 7010540 w 7169784"/>
                <a:gd name="T63" fmla="*/ 1790700 h 2348229"/>
                <a:gd name="T64" fmla="*/ 7010540 w 7169784"/>
                <a:gd name="T65" fmla="*/ 1758937 h 2348229"/>
                <a:gd name="T66" fmla="*/ 6934340 w 7169784"/>
                <a:gd name="T67" fmla="*/ 1797037 h 2348229"/>
                <a:gd name="T68" fmla="*/ 7010540 w 7169784"/>
                <a:gd name="T69" fmla="*/ 1835137 h 2348229"/>
                <a:gd name="T70" fmla="*/ 7010540 w 7169784"/>
                <a:gd name="T71" fmla="*/ 1803387 h 2348229"/>
                <a:gd name="T72" fmla="*/ 7169277 w 7169784"/>
                <a:gd name="T73" fmla="*/ 1803387 h 2348229"/>
                <a:gd name="T74" fmla="*/ 7169277 w 7169784"/>
                <a:gd name="T75" fmla="*/ 1797037 h 2348229"/>
                <a:gd name="T76" fmla="*/ 7169277 w 7169784"/>
                <a:gd name="T77" fmla="*/ 1790700 h 2348229"/>
                <a:gd name="T78" fmla="*/ 7169277 w 7169784"/>
                <a:gd name="T79" fmla="*/ 12687 h 2348229"/>
                <a:gd name="T80" fmla="*/ 7169277 w 7169784"/>
                <a:gd name="T81" fmla="*/ 6337 h 2348229"/>
                <a:gd name="T82" fmla="*/ 7169277 w 7169784"/>
                <a:gd name="T83" fmla="*/ 0 h 2348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169784" h="2348229">
                  <a:moveTo>
                    <a:pt x="956183" y="2316480"/>
                  </a:moveTo>
                  <a:lnTo>
                    <a:pt x="903351" y="2316480"/>
                  </a:lnTo>
                  <a:lnTo>
                    <a:pt x="890651" y="2316480"/>
                  </a:lnTo>
                  <a:lnTo>
                    <a:pt x="890016" y="2347963"/>
                  </a:lnTo>
                  <a:lnTo>
                    <a:pt x="956183" y="2316480"/>
                  </a:lnTo>
                  <a:close/>
                </a:path>
                <a:path w="7169784" h="2348229">
                  <a:moveTo>
                    <a:pt x="966863" y="2311387"/>
                  </a:moveTo>
                  <a:lnTo>
                    <a:pt x="891540" y="2271763"/>
                  </a:lnTo>
                  <a:lnTo>
                    <a:pt x="890905" y="2303526"/>
                  </a:lnTo>
                  <a:lnTo>
                    <a:pt x="266" y="2286000"/>
                  </a:lnTo>
                  <a:lnTo>
                    <a:pt x="0" y="2298687"/>
                  </a:lnTo>
                  <a:lnTo>
                    <a:pt x="890651" y="2316226"/>
                  </a:lnTo>
                  <a:lnTo>
                    <a:pt x="903351" y="2316226"/>
                  </a:lnTo>
                  <a:lnTo>
                    <a:pt x="956703" y="2316226"/>
                  </a:lnTo>
                  <a:lnTo>
                    <a:pt x="966863" y="2311387"/>
                  </a:lnTo>
                  <a:close/>
                </a:path>
                <a:path w="7169784" h="2348229">
                  <a:moveTo>
                    <a:pt x="990739" y="1797037"/>
                  </a:moveTo>
                  <a:lnTo>
                    <a:pt x="978039" y="1790700"/>
                  </a:lnTo>
                  <a:lnTo>
                    <a:pt x="914539" y="1758937"/>
                  </a:lnTo>
                  <a:lnTo>
                    <a:pt x="914539" y="1790700"/>
                  </a:lnTo>
                  <a:lnTo>
                    <a:pt x="504964" y="1790700"/>
                  </a:lnTo>
                  <a:lnTo>
                    <a:pt x="504964" y="234937"/>
                  </a:lnTo>
                  <a:lnTo>
                    <a:pt x="492252" y="234937"/>
                  </a:lnTo>
                  <a:lnTo>
                    <a:pt x="492252" y="1803387"/>
                  </a:lnTo>
                  <a:lnTo>
                    <a:pt x="914539" y="1803387"/>
                  </a:lnTo>
                  <a:lnTo>
                    <a:pt x="914539" y="1835137"/>
                  </a:lnTo>
                  <a:lnTo>
                    <a:pt x="978039" y="1803387"/>
                  </a:lnTo>
                  <a:lnTo>
                    <a:pt x="990739" y="1797037"/>
                  </a:lnTo>
                  <a:close/>
                </a:path>
                <a:path w="7169784" h="2348229">
                  <a:moveTo>
                    <a:pt x="7169277" y="0"/>
                  </a:moveTo>
                  <a:lnTo>
                    <a:pt x="692277" y="0"/>
                  </a:lnTo>
                  <a:lnTo>
                    <a:pt x="692277" y="12687"/>
                  </a:lnTo>
                  <a:lnTo>
                    <a:pt x="7156590" y="12687"/>
                  </a:lnTo>
                  <a:lnTo>
                    <a:pt x="7156590" y="1790700"/>
                  </a:lnTo>
                  <a:lnTo>
                    <a:pt x="7010540" y="1790700"/>
                  </a:lnTo>
                  <a:lnTo>
                    <a:pt x="7010540" y="1758937"/>
                  </a:lnTo>
                  <a:lnTo>
                    <a:pt x="6934340" y="1797037"/>
                  </a:lnTo>
                  <a:lnTo>
                    <a:pt x="7010540" y="1835137"/>
                  </a:lnTo>
                  <a:lnTo>
                    <a:pt x="7010540" y="1803387"/>
                  </a:lnTo>
                  <a:lnTo>
                    <a:pt x="7169277" y="1803387"/>
                  </a:lnTo>
                  <a:lnTo>
                    <a:pt x="7169277" y="1797037"/>
                  </a:lnTo>
                  <a:lnTo>
                    <a:pt x="7169277" y="1790700"/>
                  </a:lnTo>
                  <a:lnTo>
                    <a:pt x="7169277" y="12687"/>
                  </a:lnTo>
                  <a:lnTo>
                    <a:pt x="7169277" y="6337"/>
                  </a:lnTo>
                  <a:lnTo>
                    <a:pt x="71692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163" name="object 16">
              <a:extLst>
                <a:ext uri="{FF2B5EF4-FFF2-40B4-BE49-F238E27FC236}">
                  <a16:creationId xmlns:a16="http://schemas.microsoft.com/office/drawing/2014/main" id="{103BA295-315E-4F69-B246-3AEF42772AFD}"/>
                </a:ext>
              </a:extLst>
            </p:cNvPr>
            <p:cNvSpPr>
              <a:spLocks/>
            </p:cNvSpPr>
            <p:nvPr/>
          </p:nvSpPr>
          <p:spPr bwMode="auto">
            <a:xfrm>
              <a:off x="3352800" y="3733800"/>
              <a:ext cx="2971800" cy="228600"/>
            </a:xfrm>
            <a:custGeom>
              <a:avLst/>
              <a:gdLst>
                <a:gd name="T0" fmla="*/ 2228849 w 2971800"/>
                <a:gd name="T1" fmla="*/ 0 h 228600"/>
                <a:gd name="T2" fmla="*/ 2228849 w 2971800"/>
                <a:gd name="T3" fmla="*/ 57149 h 228600"/>
                <a:gd name="T4" fmla="*/ 0 w 2971800"/>
                <a:gd name="T5" fmla="*/ 57149 h 228600"/>
                <a:gd name="T6" fmla="*/ 0 w 2971800"/>
                <a:gd name="T7" fmla="*/ 171449 h 228600"/>
                <a:gd name="T8" fmla="*/ 2228849 w 2971800"/>
                <a:gd name="T9" fmla="*/ 171449 h 228600"/>
                <a:gd name="T10" fmla="*/ 2228849 w 2971800"/>
                <a:gd name="T11" fmla="*/ 228599 h 228600"/>
                <a:gd name="T12" fmla="*/ 2971799 w 2971800"/>
                <a:gd name="T13" fmla="*/ 114299 h 228600"/>
                <a:gd name="T14" fmla="*/ 2228849 w 2971800"/>
                <a:gd name="T15" fmla="*/ 0 h 228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71800" h="228600">
                  <a:moveTo>
                    <a:pt x="2228849" y="0"/>
                  </a:moveTo>
                  <a:lnTo>
                    <a:pt x="2228849" y="57149"/>
                  </a:lnTo>
                  <a:lnTo>
                    <a:pt x="0" y="57149"/>
                  </a:lnTo>
                  <a:lnTo>
                    <a:pt x="0" y="171449"/>
                  </a:lnTo>
                  <a:lnTo>
                    <a:pt x="2228849" y="171449"/>
                  </a:lnTo>
                  <a:lnTo>
                    <a:pt x="2228849" y="228599"/>
                  </a:lnTo>
                  <a:lnTo>
                    <a:pt x="2971799" y="114299"/>
                  </a:lnTo>
                  <a:lnTo>
                    <a:pt x="2228849" y="0"/>
                  </a:lnTo>
                  <a:close/>
                </a:path>
              </a:pathLst>
            </a:custGeom>
            <a:solidFill>
              <a:srgbClr val="00CC9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164" name="object 17">
              <a:extLst>
                <a:ext uri="{FF2B5EF4-FFF2-40B4-BE49-F238E27FC236}">
                  <a16:creationId xmlns:a16="http://schemas.microsoft.com/office/drawing/2014/main" id="{911790ED-FE5C-49A2-8166-8DA41DE79345}"/>
                </a:ext>
              </a:extLst>
            </p:cNvPr>
            <p:cNvSpPr>
              <a:spLocks/>
            </p:cNvSpPr>
            <p:nvPr/>
          </p:nvSpPr>
          <p:spPr bwMode="auto">
            <a:xfrm>
              <a:off x="3352800" y="3733800"/>
              <a:ext cx="2971800" cy="228600"/>
            </a:xfrm>
            <a:custGeom>
              <a:avLst/>
              <a:gdLst>
                <a:gd name="T0" fmla="*/ 0 w 2971800"/>
                <a:gd name="T1" fmla="*/ 57149 h 228600"/>
                <a:gd name="T2" fmla="*/ 2228849 w 2971800"/>
                <a:gd name="T3" fmla="*/ 57149 h 228600"/>
                <a:gd name="T4" fmla="*/ 2228849 w 2971800"/>
                <a:gd name="T5" fmla="*/ 0 h 228600"/>
                <a:gd name="T6" fmla="*/ 2971799 w 2971800"/>
                <a:gd name="T7" fmla="*/ 114299 h 228600"/>
                <a:gd name="T8" fmla="*/ 2228849 w 2971800"/>
                <a:gd name="T9" fmla="*/ 228599 h 228600"/>
                <a:gd name="T10" fmla="*/ 2228849 w 2971800"/>
                <a:gd name="T11" fmla="*/ 171449 h 228600"/>
                <a:gd name="T12" fmla="*/ 0 w 2971800"/>
                <a:gd name="T13" fmla="*/ 171449 h 228600"/>
                <a:gd name="T14" fmla="*/ 0 w 2971800"/>
                <a:gd name="T15" fmla="*/ 57149 h 228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71800" h="228600">
                  <a:moveTo>
                    <a:pt x="0" y="57149"/>
                  </a:moveTo>
                  <a:lnTo>
                    <a:pt x="2228849" y="57149"/>
                  </a:lnTo>
                  <a:lnTo>
                    <a:pt x="2228849" y="0"/>
                  </a:lnTo>
                  <a:lnTo>
                    <a:pt x="2971799" y="114299"/>
                  </a:lnTo>
                  <a:lnTo>
                    <a:pt x="2228849" y="228599"/>
                  </a:lnTo>
                  <a:lnTo>
                    <a:pt x="2228849" y="171449"/>
                  </a:lnTo>
                  <a:lnTo>
                    <a:pt x="0" y="171449"/>
                  </a:lnTo>
                  <a:lnTo>
                    <a:pt x="0" y="5714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18" name="object 18">
            <a:extLst>
              <a:ext uri="{FF2B5EF4-FFF2-40B4-BE49-F238E27FC236}">
                <a16:creationId xmlns:a16="http://schemas.microsoft.com/office/drawing/2014/main" id="{CEB5AB29-D210-4A8C-A096-F918D2CAA44B}"/>
              </a:ext>
            </a:extLst>
          </p:cNvPr>
          <p:cNvSpPr txBox="1"/>
          <p:nvPr/>
        </p:nvSpPr>
        <p:spPr>
          <a:xfrm>
            <a:off x="1984376" y="4064000"/>
            <a:ext cx="320675" cy="450850"/>
          </a:xfrm>
          <a:prstGeom prst="rect">
            <a:avLst/>
          </a:prstGeom>
        </p:spPr>
        <p:txBody>
          <a:bodyPr lIns="0" tIns="12065" rIns="0" bIns="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0" cap="none" spc="-5" normalizeH="0" baseline="0" noProof="0" dirty="0">
                <a:ln>
                  <a:noFill/>
                </a:ln>
                <a:solidFill>
                  <a:sysClr val="windowText" lastClr="000000"/>
                </a:solidFill>
                <a:effectLst/>
                <a:uLnTx/>
                <a:uFillTx/>
                <a:latin typeface="Arial"/>
                <a:ea typeface="+mn-ea"/>
                <a:cs typeface="Arial"/>
              </a:rPr>
              <a:t>M</a:t>
            </a:r>
            <a:endParaRPr kumimoji="0" sz="28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19" name="object 19">
            <a:extLst>
              <a:ext uri="{FF2B5EF4-FFF2-40B4-BE49-F238E27FC236}">
                <a16:creationId xmlns:a16="http://schemas.microsoft.com/office/drawing/2014/main" id="{E8960506-D009-4F49-9307-C946E713C705}"/>
              </a:ext>
            </a:extLst>
          </p:cNvPr>
          <p:cNvSpPr txBox="1"/>
          <p:nvPr/>
        </p:nvSpPr>
        <p:spPr>
          <a:xfrm>
            <a:off x="5794376" y="3379789"/>
            <a:ext cx="625475" cy="390525"/>
          </a:xfrm>
          <a:prstGeom prst="rect">
            <a:avLst/>
          </a:prstGeom>
        </p:spPr>
        <p:txBody>
          <a:bodyPr lIns="0" tIns="12700" rIns="0" bIns="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Arial"/>
                <a:ea typeface="+mn-ea"/>
                <a:cs typeface="Arial"/>
              </a:rPr>
              <a:t>M,</a:t>
            </a:r>
            <a:r>
              <a:rPr kumimoji="0" sz="2400" b="0" i="0" u="none" strike="noStrike" kern="0" cap="none" spc="-5" normalizeH="0" baseline="0" noProof="0" dirty="0">
                <a:ln>
                  <a:noFill/>
                </a:ln>
                <a:solidFill>
                  <a:sysClr val="windowText" lastClr="000000"/>
                </a:solidFill>
                <a:effectLst/>
                <a:uLnTx/>
                <a:uFillTx/>
                <a:latin typeface="Times New Roman"/>
                <a:ea typeface="+mn-ea"/>
                <a:cs typeface="Times New Roman"/>
              </a:rPr>
              <a:t> </a:t>
            </a:r>
            <a:r>
              <a:rPr kumimoji="0" sz="2400" b="0" i="0" u="none" strike="noStrike" kern="0" cap="none" spc="-50" normalizeH="0" baseline="0" noProof="0" dirty="0">
                <a:ln>
                  <a:noFill/>
                </a:ln>
                <a:solidFill>
                  <a:sysClr val="windowText" lastClr="000000"/>
                </a:solidFill>
                <a:effectLst/>
                <a:uLnTx/>
                <a:uFillTx/>
                <a:latin typeface="Arial"/>
                <a:ea typeface="+mn-ea"/>
                <a:cs typeface="Arial"/>
              </a:rPr>
              <a:t>T</a:t>
            </a:r>
            <a:endParaRPr kumimoji="0" sz="24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20" name="object 20">
            <a:extLst>
              <a:ext uri="{FF2B5EF4-FFF2-40B4-BE49-F238E27FC236}">
                <a16:creationId xmlns:a16="http://schemas.microsoft.com/office/drawing/2014/main" id="{BF3C8456-0DAB-4667-8D72-8A7273FF5D62}"/>
              </a:ext>
            </a:extLst>
          </p:cNvPr>
          <p:cNvSpPr txBox="1"/>
          <p:nvPr/>
        </p:nvSpPr>
        <p:spPr>
          <a:xfrm>
            <a:off x="6632576" y="4140200"/>
            <a:ext cx="322263" cy="450850"/>
          </a:xfrm>
          <a:prstGeom prst="rect">
            <a:avLst/>
          </a:prstGeom>
        </p:spPr>
        <p:txBody>
          <a:bodyPr lIns="0" tIns="12065" rIns="0" bIns="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0" cap="none" spc="-5" normalizeH="0" baseline="0" noProof="0" dirty="0">
                <a:ln>
                  <a:noFill/>
                </a:ln>
                <a:solidFill>
                  <a:sysClr val="windowText" lastClr="000000"/>
                </a:solidFill>
                <a:effectLst/>
                <a:uLnTx/>
                <a:uFillTx/>
                <a:latin typeface="Arial"/>
                <a:ea typeface="+mn-ea"/>
                <a:cs typeface="Arial"/>
              </a:rPr>
              <a:t>M</a:t>
            </a:r>
            <a:endParaRPr kumimoji="0" sz="28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6158" name="object 21">
            <a:extLst>
              <a:ext uri="{FF2B5EF4-FFF2-40B4-BE49-F238E27FC236}">
                <a16:creationId xmlns:a16="http://schemas.microsoft.com/office/drawing/2014/main" id="{1E6DF0BE-2DE5-427D-A757-A098C358A4E3}"/>
              </a:ext>
            </a:extLst>
          </p:cNvPr>
          <p:cNvSpPr>
            <a:spLocks/>
          </p:cNvSpPr>
          <p:nvPr/>
        </p:nvSpPr>
        <p:spPr bwMode="auto">
          <a:xfrm>
            <a:off x="4000500" y="4354514"/>
            <a:ext cx="4724400" cy="522287"/>
          </a:xfrm>
          <a:custGeom>
            <a:avLst/>
            <a:gdLst>
              <a:gd name="T0" fmla="*/ 76200 w 4724400"/>
              <a:gd name="T1" fmla="*/ 446011 h 522604"/>
              <a:gd name="T2" fmla="*/ 44437 w 4724400"/>
              <a:gd name="T3" fmla="*/ 446011 h 522604"/>
              <a:gd name="T4" fmla="*/ 44437 w 4724400"/>
              <a:gd name="T5" fmla="*/ 65011 h 522604"/>
              <a:gd name="T6" fmla="*/ 31750 w 4724400"/>
              <a:gd name="T7" fmla="*/ 65011 h 522604"/>
              <a:gd name="T8" fmla="*/ 31750 w 4724400"/>
              <a:gd name="T9" fmla="*/ 446011 h 522604"/>
              <a:gd name="T10" fmla="*/ 0 w 4724400"/>
              <a:gd name="T11" fmla="*/ 446011 h 522604"/>
              <a:gd name="T12" fmla="*/ 38100 w 4724400"/>
              <a:gd name="T13" fmla="*/ 522211 h 522604"/>
              <a:gd name="T14" fmla="*/ 69837 w 4724400"/>
              <a:gd name="T15" fmla="*/ 458724 h 522604"/>
              <a:gd name="T16" fmla="*/ 76200 w 4724400"/>
              <a:gd name="T17" fmla="*/ 446011 h 522604"/>
              <a:gd name="T18" fmla="*/ 3989819 w 4724400"/>
              <a:gd name="T19" fmla="*/ 44691 h 522604"/>
              <a:gd name="T20" fmla="*/ 3936885 w 4724400"/>
              <a:gd name="T21" fmla="*/ 44691 h 522604"/>
              <a:gd name="T22" fmla="*/ 3924160 w 4724400"/>
              <a:gd name="T23" fmla="*/ 44691 h 522604"/>
              <a:gd name="T24" fmla="*/ 3923538 w 4724400"/>
              <a:gd name="T25" fmla="*/ 76200 h 522604"/>
              <a:gd name="T26" fmla="*/ 3989819 w 4724400"/>
              <a:gd name="T27" fmla="*/ 44691 h 522604"/>
              <a:gd name="T28" fmla="*/ 4000500 w 4724400"/>
              <a:gd name="T29" fmla="*/ 39624 h 522604"/>
              <a:gd name="T30" fmla="*/ 3925062 w 4724400"/>
              <a:gd name="T31" fmla="*/ 0 h 522604"/>
              <a:gd name="T32" fmla="*/ 3924427 w 4724400"/>
              <a:gd name="T33" fmla="*/ 31750 h 522604"/>
              <a:gd name="T34" fmla="*/ 3033763 w 4724400"/>
              <a:gd name="T35" fmla="*/ 14211 h 522604"/>
              <a:gd name="T36" fmla="*/ 3033636 w 4724400"/>
              <a:gd name="T37" fmla="*/ 26911 h 522604"/>
              <a:gd name="T38" fmla="*/ 3924173 w 4724400"/>
              <a:gd name="T39" fmla="*/ 44437 h 522604"/>
              <a:gd name="T40" fmla="*/ 3936885 w 4724400"/>
              <a:gd name="T41" fmla="*/ 44437 h 522604"/>
              <a:gd name="T42" fmla="*/ 3990352 w 4724400"/>
              <a:gd name="T43" fmla="*/ 44437 h 522604"/>
              <a:gd name="T44" fmla="*/ 4000500 w 4724400"/>
              <a:gd name="T45" fmla="*/ 39624 h 522604"/>
              <a:gd name="T46" fmla="*/ 4724400 w 4724400"/>
              <a:gd name="T47" fmla="*/ 446011 h 522604"/>
              <a:gd name="T48" fmla="*/ 4692637 w 4724400"/>
              <a:gd name="T49" fmla="*/ 446011 h 522604"/>
              <a:gd name="T50" fmla="*/ 4692637 w 4724400"/>
              <a:gd name="T51" fmla="*/ 65011 h 522604"/>
              <a:gd name="T52" fmla="*/ 4679937 w 4724400"/>
              <a:gd name="T53" fmla="*/ 65011 h 522604"/>
              <a:gd name="T54" fmla="*/ 4679937 w 4724400"/>
              <a:gd name="T55" fmla="*/ 446011 h 522604"/>
              <a:gd name="T56" fmla="*/ 4648200 w 4724400"/>
              <a:gd name="T57" fmla="*/ 446011 h 522604"/>
              <a:gd name="T58" fmla="*/ 4686300 w 4724400"/>
              <a:gd name="T59" fmla="*/ 522211 h 522604"/>
              <a:gd name="T60" fmla="*/ 4718037 w 4724400"/>
              <a:gd name="T61" fmla="*/ 458724 h 522604"/>
              <a:gd name="T62" fmla="*/ 4724400 w 4724400"/>
              <a:gd name="T63" fmla="*/ 446011 h 522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724400" h="522604">
                <a:moveTo>
                  <a:pt x="76200" y="446011"/>
                </a:moveTo>
                <a:lnTo>
                  <a:pt x="44437" y="446011"/>
                </a:lnTo>
                <a:lnTo>
                  <a:pt x="44437" y="65011"/>
                </a:lnTo>
                <a:lnTo>
                  <a:pt x="31750" y="65011"/>
                </a:lnTo>
                <a:lnTo>
                  <a:pt x="31750" y="446011"/>
                </a:lnTo>
                <a:lnTo>
                  <a:pt x="0" y="446011"/>
                </a:lnTo>
                <a:lnTo>
                  <a:pt x="38100" y="522211"/>
                </a:lnTo>
                <a:lnTo>
                  <a:pt x="69837" y="458724"/>
                </a:lnTo>
                <a:lnTo>
                  <a:pt x="76200" y="446011"/>
                </a:lnTo>
                <a:close/>
              </a:path>
              <a:path w="4724400" h="522604">
                <a:moveTo>
                  <a:pt x="3989819" y="44691"/>
                </a:moveTo>
                <a:lnTo>
                  <a:pt x="3936885" y="44691"/>
                </a:lnTo>
                <a:lnTo>
                  <a:pt x="3924160" y="44691"/>
                </a:lnTo>
                <a:lnTo>
                  <a:pt x="3923538" y="76200"/>
                </a:lnTo>
                <a:lnTo>
                  <a:pt x="3989819" y="44691"/>
                </a:lnTo>
                <a:close/>
              </a:path>
              <a:path w="4724400" h="522604">
                <a:moveTo>
                  <a:pt x="4000500" y="39624"/>
                </a:moveTo>
                <a:lnTo>
                  <a:pt x="3925062" y="0"/>
                </a:lnTo>
                <a:lnTo>
                  <a:pt x="3924427" y="31750"/>
                </a:lnTo>
                <a:lnTo>
                  <a:pt x="3033763" y="14211"/>
                </a:lnTo>
                <a:lnTo>
                  <a:pt x="3033636" y="26911"/>
                </a:lnTo>
                <a:lnTo>
                  <a:pt x="3924173" y="44437"/>
                </a:lnTo>
                <a:lnTo>
                  <a:pt x="3936885" y="44437"/>
                </a:lnTo>
                <a:lnTo>
                  <a:pt x="3990352" y="44437"/>
                </a:lnTo>
                <a:lnTo>
                  <a:pt x="4000500" y="39624"/>
                </a:lnTo>
                <a:close/>
              </a:path>
              <a:path w="4724400" h="522604">
                <a:moveTo>
                  <a:pt x="4724400" y="446011"/>
                </a:moveTo>
                <a:lnTo>
                  <a:pt x="4692637" y="446011"/>
                </a:lnTo>
                <a:lnTo>
                  <a:pt x="4692637" y="65011"/>
                </a:lnTo>
                <a:lnTo>
                  <a:pt x="4679937" y="65011"/>
                </a:lnTo>
                <a:lnTo>
                  <a:pt x="4679937" y="446011"/>
                </a:lnTo>
                <a:lnTo>
                  <a:pt x="4648200" y="446011"/>
                </a:lnTo>
                <a:lnTo>
                  <a:pt x="4686300" y="522211"/>
                </a:lnTo>
                <a:lnTo>
                  <a:pt x="4718037" y="458724"/>
                </a:lnTo>
                <a:lnTo>
                  <a:pt x="4724400" y="4460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159" name="object 22">
            <a:extLst>
              <a:ext uri="{FF2B5EF4-FFF2-40B4-BE49-F238E27FC236}">
                <a16:creationId xmlns:a16="http://schemas.microsoft.com/office/drawing/2014/main" id="{C47776EF-D7EE-490D-872B-A19167825137}"/>
              </a:ext>
            </a:extLst>
          </p:cNvPr>
          <p:cNvSpPr txBox="1">
            <a:spLocks noChangeArrowheads="1"/>
          </p:cNvSpPr>
          <p:nvPr/>
        </p:nvSpPr>
        <p:spPr bwMode="auto">
          <a:xfrm>
            <a:off x="3965575" y="4979989"/>
            <a:ext cx="21113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12700" marR="0" lvl="0" indent="0" algn="l" defTabSz="914400" rtl="0" eaLnBrk="1" fontAlgn="base" latinLnBrk="0" hangingPunct="1">
              <a:lnSpc>
                <a:spcPct val="100000"/>
              </a:lnSpc>
              <a:spcBef>
                <a:spcPts val="1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a:t>
            </a:r>
          </a:p>
        </p:txBody>
      </p:sp>
      <p:sp>
        <p:nvSpPr>
          <p:cNvPr id="24" name="object 24">
            <a:extLst>
              <a:ext uri="{FF2B5EF4-FFF2-40B4-BE49-F238E27FC236}">
                <a16:creationId xmlns:a16="http://schemas.microsoft.com/office/drawing/2014/main" id="{8D672C67-2C9C-42BF-823A-BCDF65EA3E4F}"/>
              </a:ext>
            </a:extLst>
          </p:cNvPr>
          <p:cNvSpPr>
            <a:spLocks noGrp="1"/>
          </p:cNvSpPr>
          <p:nvPr>
            <p:ph type="sldNum" sz="quarter" idx="12"/>
          </p:nvPr>
        </p:nvSpPr>
        <p:spPr/>
        <p:txBody>
          <a:bodyPr/>
          <a:lstStyle>
            <a:lvl1pPr marL="381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8100" marR="0" lvl="0" indent="0" algn="l" defTabSz="914400" rtl="0" eaLnBrk="1" fontAlgn="base" latinLnBrk="0" hangingPunct="1">
              <a:lnSpc>
                <a:spcPts val="1650"/>
              </a:lnSpc>
              <a:spcBef>
                <a:spcPct val="0"/>
              </a:spcBef>
              <a:spcAft>
                <a:spcPct val="0"/>
              </a:spcAft>
              <a:buClrTx/>
              <a:buSzTx/>
              <a:buFontTx/>
              <a:buNone/>
              <a:tabLst/>
              <a:defRPr/>
            </a:pPr>
            <a:fld id="{AB57CA0D-B6D0-4868-9567-AF980B7B5E7B}" type="slidenum">
              <a:rPr kumimoji="0" lang="en-US" altLang="en-US" sz="14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38100" marR="0" lvl="0" indent="0" algn="l" defTabSz="914400" rtl="0" eaLnBrk="1" fontAlgn="base" latinLnBrk="0" hangingPunct="1">
                <a:lnSpc>
                  <a:spcPts val="1650"/>
                </a:lnSpc>
                <a:spcBef>
                  <a:spcPct val="0"/>
                </a:spcBef>
                <a:spcAft>
                  <a:spcPct val="0"/>
                </a:spcAft>
                <a:buClrTx/>
                <a:buSzTx/>
                <a:buFontTx/>
                <a:buNone/>
                <a:tabLst/>
                <a:defRPr/>
              </a:pPr>
              <a:t>67</a:t>
            </a:fld>
            <a:endPar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 name="object 23">
            <a:extLst>
              <a:ext uri="{FF2B5EF4-FFF2-40B4-BE49-F238E27FC236}">
                <a16:creationId xmlns:a16="http://schemas.microsoft.com/office/drawing/2014/main" id="{2E4A04F2-1FC4-4222-9257-1DE68F27CAFE}"/>
              </a:ext>
            </a:extLst>
          </p:cNvPr>
          <p:cNvSpPr txBox="1"/>
          <p:nvPr/>
        </p:nvSpPr>
        <p:spPr>
          <a:xfrm>
            <a:off x="8613775" y="4903789"/>
            <a:ext cx="279400" cy="390525"/>
          </a:xfrm>
          <a:prstGeom prst="rect">
            <a:avLst/>
          </a:prstGeom>
        </p:spPr>
        <p:txBody>
          <a:bodyPr lIns="0" tIns="12700" rIns="0" bIns="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2400" b="0" i="0" u="none" strike="noStrike" kern="0" cap="none" spc="-25" normalizeH="0" baseline="0" noProof="0" dirty="0">
                <a:ln>
                  <a:noFill/>
                </a:ln>
                <a:solidFill>
                  <a:sysClr val="windowText" lastClr="000000"/>
                </a:solidFill>
                <a:effectLst/>
                <a:uLnTx/>
                <a:uFillTx/>
                <a:latin typeface="Arial"/>
                <a:ea typeface="+mn-ea"/>
                <a:cs typeface="Arial"/>
              </a:rPr>
              <a:t>T’</a:t>
            </a:r>
            <a:endParaRPr kumimoji="0" sz="2400" b="0" i="0" u="none" strike="noStrike" kern="0" cap="none" spc="0" normalizeH="0" baseline="0" noProof="0">
              <a:ln>
                <a:noFill/>
              </a:ln>
              <a:solidFill>
                <a:sysClr val="windowText" lastClr="000000"/>
              </a:solidFill>
              <a:effectLst/>
              <a:uLnTx/>
              <a:uFillTx/>
              <a:latin typeface="Arial"/>
              <a:ea typeface="+mn-ea"/>
              <a:cs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992D2252-E498-4840-9899-629F544AE5EE}"/>
              </a:ext>
            </a:extLst>
          </p:cNvPr>
          <p:cNvSpPr txBox="1">
            <a:spLocks noGrp="1"/>
          </p:cNvSpPr>
          <p:nvPr>
            <p:ph type="title"/>
          </p:nvPr>
        </p:nvSpPr>
        <p:spPr>
          <a:xfrm>
            <a:off x="3306763" y="417513"/>
            <a:ext cx="5580062" cy="514350"/>
          </a:xfrm>
        </p:spPr>
        <p:txBody>
          <a:bodyPr vert="horz" wrap="square" lIns="0" tIns="13335" rIns="0" bIns="0" numCol="1" rtlCol="0" anchor="t" anchorCtr="0" compatLnSpc="1">
            <a:prstTxWarp prst="textNoShape">
              <a:avLst/>
            </a:prstTxWarp>
            <a:spAutoFit/>
          </a:bodyPr>
          <a:lstStyle/>
          <a:p>
            <a:pPr marL="12700" eaLnBrk="1" fontAlgn="auto" hangingPunct="1">
              <a:spcBef>
                <a:spcPts val="105"/>
              </a:spcBef>
              <a:spcAft>
                <a:spcPts val="0"/>
              </a:spcAft>
              <a:defRPr/>
            </a:pPr>
            <a:r>
              <a:rPr dirty="0"/>
              <a:t>MAC</a:t>
            </a:r>
            <a:r>
              <a:rPr spc="40" dirty="0">
                <a:latin typeface="Times New Roman"/>
                <a:cs typeface="Times New Roman"/>
              </a:rPr>
              <a:t> </a:t>
            </a:r>
            <a:r>
              <a:rPr dirty="0"/>
              <a:t>using</a:t>
            </a:r>
            <a:r>
              <a:rPr spc="55" dirty="0">
                <a:latin typeface="Times New Roman"/>
                <a:cs typeface="Times New Roman"/>
              </a:rPr>
              <a:t> </a:t>
            </a:r>
            <a:r>
              <a:rPr dirty="0"/>
              <a:t>Secret</a:t>
            </a:r>
            <a:r>
              <a:rPr spc="55" dirty="0">
                <a:latin typeface="Times New Roman"/>
                <a:cs typeface="Times New Roman"/>
              </a:rPr>
              <a:t> </a:t>
            </a:r>
            <a:r>
              <a:rPr dirty="0"/>
              <a:t>Key</a:t>
            </a:r>
            <a:r>
              <a:rPr spc="60" dirty="0">
                <a:latin typeface="Times New Roman"/>
                <a:cs typeface="Times New Roman"/>
              </a:rPr>
              <a:t> </a:t>
            </a:r>
            <a:r>
              <a:rPr spc="-10" dirty="0"/>
              <a:t>System</a:t>
            </a:r>
          </a:p>
        </p:txBody>
      </p:sp>
      <p:sp>
        <p:nvSpPr>
          <p:cNvPr id="3" name="object 3">
            <a:extLst>
              <a:ext uri="{FF2B5EF4-FFF2-40B4-BE49-F238E27FC236}">
                <a16:creationId xmlns:a16="http://schemas.microsoft.com/office/drawing/2014/main" id="{B87EEC08-A3A9-4357-AEA4-0437436C5DAD}"/>
              </a:ext>
            </a:extLst>
          </p:cNvPr>
          <p:cNvSpPr txBox="1"/>
          <p:nvPr/>
        </p:nvSpPr>
        <p:spPr>
          <a:xfrm>
            <a:off x="2035176" y="4691064"/>
            <a:ext cx="6645275" cy="1366837"/>
          </a:xfrm>
          <a:prstGeom prst="rect">
            <a:avLst/>
          </a:prstGeom>
        </p:spPr>
        <p:txBody>
          <a:bodyPr lIns="0" tIns="43180" rIns="0" bIns="0">
            <a:spAutoFit/>
          </a:bodyPr>
          <a:lstStyle/>
          <a:p>
            <a:pPr marL="381000" marR="0" lvl="0" indent="-343535" algn="l" defTabSz="914400" rtl="0" eaLnBrk="1" fontAlgn="auto" latinLnBrk="0" hangingPunct="1">
              <a:lnSpc>
                <a:spcPct val="100000"/>
              </a:lnSpc>
              <a:spcBef>
                <a:spcPts val="340"/>
              </a:spcBef>
              <a:spcAft>
                <a:spcPts val="0"/>
              </a:spcAft>
              <a:buClrTx/>
              <a:buSzTx/>
              <a:buFontTx/>
              <a:buChar char="•"/>
              <a:tabLst>
                <a:tab pos="381000" algn="l"/>
                <a:tab pos="381635" algn="l"/>
              </a:tabLst>
              <a:defRPr/>
            </a:pPr>
            <a:r>
              <a:rPr kumimoji="0" sz="2000" b="0" i="0" u="none" strike="noStrike" kern="0" cap="none" spc="0" normalizeH="0" baseline="0" noProof="0" dirty="0">
                <a:ln>
                  <a:noFill/>
                </a:ln>
                <a:solidFill>
                  <a:srgbClr val="FF0000"/>
                </a:solidFill>
                <a:effectLst/>
                <a:uLnTx/>
                <a:uFillTx/>
                <a:latin typeface="Arial"/>
                <a:ea typeface="+mn-ea"/>
                <a:cs typeface="Arial"/>
              </a:rPr>
              <a:t>Interested</a:t>
            </a:r>
            <a:r>
              <a:rPr kumimoji="0" sz="2000" b="0" i="0" u="none" strike="noStrike" kern="0" cap="none" spc="-40"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in</a:t>
            </a:r>
            <a:r>
              <a:rPr kumimoji="0" sz="2000" b="0" i="0" u="none" strike="noStrike" kern="0" cap="none" spc="35"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integrity;</a:t>
            </a:r>
            <a:r>
              <a:rPr kumimoji="0" sz="2000" b="0" i="0" u="none" strike="noStrike" kern="0" cap="none" spc="15"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not</a:t>
            </a:r>
            <a:r>
              <a:rPr kumimoji="0" sz="2000" b="0" i="0" u="none" strike="noStrike" kern="0" cap="none" spc="30"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10" normalizeH="0" baseline="0" noProof="0" dirty="0">
                <a:ln>
                  <a:noFill/>
                </a:ln>
                <a:solidFill>
                  <a:srgbClr val="FF0000"/>
                </a:solidFill>
                <a:effectLst/>
                <a:uLnTx/>
                <a:uFillTx/>
                <a:latin typeface="Arial"/>
                <a:ea typeface="+mn-ea"/>
                <a:cs typeface="Arial"/>
              </a:rPr>
              <a:t>confidentiality</a:t>
            </a:r>
            <a:endParaRPr kumimoji="0" sz="2000" b="0" i="0" u="none" strike="noStrike" kern="0" cap="none" spc="0" normalizeH="0" baseline="0" noProof="0">
              <a:ln>
                <a:noFill/>
              </a:ln>
              <a:solidFill>
                <a:sysClr val="windowText" lastClr="000000"/>
              </a:solidFill>
              <a:effectLst/>
              <a:uLnTx/>
              <a:uFillTx/>
              <a:latin typeface="Arial"/>
              <a:ea typeface="+mn-ea"/>
              <a:cs typeface="Arial"/>
            </a:endParaRPr>
          </a:p>
          <a:p>
            <a:pPr marL="381000" marR="0" lvl="0" indent="-343535" algn="l" defTabSz="914400" rtl="0" eaLnBrk="1" fontAlgn="auto" latinLnBrk="0" hangingPunct="1">
              <a:lnSpc>
                <a:spcPct val="100000"/>
              </a:lnSpc>
              <a:spcBef>
                <a:spcPts val="240"/>
              </a:spcBef>
              <a:spcAft>
                <a:spcPts val="0"/>
              </a:spcAft>
              <a:buClrTx/>
              <a:buSzTx/>
              <a:buFontTx/>
              <a:buChar char="•"/>
              <a:tabLst>
                <a:tab pos="381000" algn="l"/>
                <a:tab pos="381635" algn="l"/>
              </a:tabLst>
              <a:defRPr/>
            </a:pPr>
            <a:r>
              <a:rPr kumimoji="0" sz="2000" b="0" i="0" u="none" strike="noStrike" kern="0" cap="none" spc="0" normalizeH="0" baseline="0" noProof="0" dirty="0">
                <a:ln>
                  <a:noFill/>
                </a:ln>
                <a:solidFill>
                  <a:srgbClr val="FF0000"/>
                </a:solidFill>
                <a:effectLst/>
                <a:uLnTx/>
                <a:uFillTx/>
                <a:latin typeface="Arial"/>
                <a:ea typeface="+mn-ea"/>
                <a:cs typeface="Arial"/>
              </a:rPr>
              <a:t>Encrypt</a:t>
            </a:r>
            <a:r>
              <a:rPr kumimoji="0" sz="2000" b="0" i="0" u="none" strike="noStrike" kern="0" cap="none" spc="-10"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message;</a:t>
            </a:r>
            <a:r>
              <a:rPr kumimoji="0" sz="2000" b="0" i="0" u="none" strike="noStrike" kern="0" cap="none" spc="5"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use</a:t>
            </a:r>
            <a:r>
              <a:rPr kumimoji="0" sz="2000" b="0" i="0" u="none" strike="noStrike" kern="0" cap="none" spc="35"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last</a:t>
            </a:r>
            <a:r>
              <a:rPr kumimoji="0" sz="2000" b="0" i="0" u="none" strike="noStrike" kern="0" cap="none" spc="35"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encrypted</a:t>
            </a:r>
            <a:r>
              <a:rPr kumimoji="0" sz="2000" b="0" i="0" u="none" strike="noStrike" kern="0" cap="none" spc="10"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block</a:t>
            </a:r>
            <a:r>
              <a:rPr kumimoji="0" sz="2000" b="0" i="0" u="none" strike="noStrike" kern="0" cap="none" spc="25"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as</a:t>
            </a:r>
            <a:r>
              <a:rPr kumimoji="0" sz="2000" b="0" i="0" u="none" strike="noStrike" kern="0" cap="none" spc="35"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the</a:t>
            </a:r>
            <a:r>
              <a:rPr kumimoji="0" sz="2000" b="0" i="0" u="none" strike="noStrike" kern="0" cap="none" spc="35"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25" normalizeH="0" baseline="0" noProof="0" dirty="0">
                <a:ln>
                  <a:noFill/>
                </a:ln>
                <a:solidFill>
                  <a:srgbClr val="FF0000"/>
                </a:solidFill>
                <a:effectLst/>
                <a:uLnTx/>
                <a:uFillTx/>
                <a:latin typeface="Arial"/>
                <a:ea typeface="+mn-ea"/>
                <a:cs typeface="Arial"/>
              </a:rPr>
              <a:t>MAC</a:t>
            </a:r>
            <a:endParaRPr kumimoji="0" sz="2000" b="0" i="0" u="none" strike="noStrike" kern="0" cap="none" spc="0" normalizeH="0" baseline="0" noProof="0">
              <a:ln>
                <a:noFill/>
              </a:ln>
              <a:solidFill>
                <a:sysClr val="windowText" lastClr="000000"/>
              </a:solidFill>
              <a:effectLst/>
              <a:uLnTx/>
              <a:uFillTx/>
              <a:latin typeface="Arial"/>
              <a:ea typeface="+mn-ea"/>
              <a:cs typeface="Arial"/>
            </a:endParaRPr>
          </a:p>
          <a:p>
            <a:pPr marL="381000" marR="0" lvl="0" indent="-343535" algn="l" defTabSz="914400" rtl="0" eaLnBrk="1" fontAlgn="auto" latinLnBrk="0" hangingPunct="1">
              <a:lnSpc>
                <a:spcPct val="100000"/>
              </a:lnSpc>
              <a:spcBef>
                <a:spcPts val="240"/>
              </a:spcBef>
              <a:spcAft>
                <a:spcPts val="0"/>
              </a:spcAft>
              <a:buClrTx/>
              <a:buSzTx/>
              <a:buFontTx/>
              <a:buChar char="•"/>
              <a:tabLst>
                <a:tab pos="381000" algn="l"/>
                <a:tab pos="381635" algn="l"/>
              </a:tabLst>
              <a:defRPr/>
            </a:pPr>
            <a:r>
              <a:rPr kumimoji="0" sz="2000" b="0" i="0" u="none" strike="noStrike" kern="0" cap="none" spc="0" normalizeH="0" baseline="0" noProof="0" dirty="0">
                <a:ln>
                  <a:noFill/>
                </a:ln>
                <a:solidFill>
                  <a:srgbClr val="FF0000"/>
                </a:solidFill>
                <a:effectLst/>
                <a:uLnTx/>
                <a:uFillTx/>
                <a:latin typeface="Arial"/>
                <a:ea typeface="+mn-ea"/>
                <a:cs typeface="Arial"/>
              </a:rPr>
              <a:t>Send</a:t>
            </a:r>
            <a:r>
              <a:rPr kumimoji="0" sz="2000" b="0" i="0" u="none" strike="noStrike" kern="0" cap="none" spc="15"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message</a:t>
            </a:r>
            <a:r>
              <a:rPr kumimoji="0" sz="2000" b="0" i="0" u="none" strike="noStrike" kern="0" cap="none" spc="5"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a:t>
            </a:r>
            <a:r>
              <a:rPr kumimoji="0" sz="2000" b="0" i="0" u="none" strike="noStrike" kern="0" cap="none" spc="30"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CBC</a:t>
            </a:r>
            <a:r>
              <a:rPr kumimoji="0" sz="2000" b="0" i="0" u="none" strike="noStrike" kern="0" cap="none" spc="45"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10" normalizeH="0" baseline="0" noProof="0" dirty="0">
                <a:ln>
                  <a:noFill/>
                </a:ln>
                <a:solidFill>
                  <a:srgbClr val="FF0000"/>
                </a:solidFill>
                <a:effectLst/>
                <a:uLnTx/>
                <a:uFillTx/>
                <a:latin typeface="Arial"/>
                <a:ea typeface="+mn-ea"/>
                <a:cs typeface="Arial"/>
              </a:rPr>
              <a:t>residue</a:t>
            </a:r>
            <a:endParaRPr kumimoji="0" sz="2000" b="0" i="0" u="none" strike="noStrike" kern="0" cap="none" spc="0" normalizeH="0" baseline="0" noProof="0">
              <a:ln>
                <a:noFill/>
              </a:ln>
              <a:solidFill>
                <a:sysClr val="windowText" lastClr="000000"/>
              </a:solidFill>
              <a:effectLst/>
              <a:uLnTx/>
              <a:uFillTx/>
              <a:latin typeface="Arial"/>
              <a:ea typeface="+mn-ea"/>
              <a:cs typeface="Arial"/>
            </a:endParaRPr>
          </a:p>
          <a:p>
            <a:pPr marL="449580" marR="0" lvl="0" indent="-412115" algn="l" defTabSz="914400" rtl="0" eaLnBrk="1" fontAlgn="auto" latinLnBrk="0" hangingPunct="1">
              <a:lnSpc>
                <a:spcPct val="100000"/>
              </a:lnSpc>
              <a:spcBef>
                <a:spcPts val="240"/>
              </a:spcBef>
              <a:spcAft>
                <a:spcPts val="0"/>
              </a:spcAft>
              <a:buClrTx/>
              <a:buSzTx/>
              <a:buFontTx/>
              <a:buChar char="•"/>
              <a:tabLst>
                <a:tab pos="449580" algn="l"/>
                <a:tab pos="450215" algn="l"/>
              </a:tabLst>
              <a:defRPr/>
            </a:pPr>
            <a:r>
              <a:rPr kumimoji="0" sz="2000" b="0" i="0" u="none" strike="noStrike" kern="0" cap="none" spc="0" normalizeH="0" baseline="0" noProof="0" dirty="0">
                <a:ln>
                  <a:noFill/>
                </a:ln>
                <a:solidFill>
                  <a:srgbClr val="FF0000"/>
                </a:solidFill>
                <a:effectLst/>
                <a:uLnTx/>
                <a:uFillTx/>
                <a:latin typeface="Arial"/>
                <a:ea typeface="+mn-ea"/>
                <a:cs typeface="Arial"/>
              </a:rPr>
              <a:t>m</a:t>
            </a:r>
            <a:r>
              <a:rPr kumimoji="0" sz="1950" b="0" i="0" u="none" strike="noStrike" kern="0" cap="none" spc="0" normalizeH="0" baseline="-21367" noProof="0" dirty="0">
                <a:ln>
                  <a:noFill/>
                </a:ln>
                <a:solidFill>
                  <a:srgbClr val="FF0000"/>
                </a:solidFill>
                <a:effectLst/>
                <a:uLnTx/>
                <a:uFillTx/>
                <a:latin typeface="Arial"/>
                <a:ea typeface="+mn-ea"/>
                <a:cs typeface="Arial"/>
              </a:rPr>
              <a:t>1</a:t>
            </a:r>
            <a:r>
              <a:rPr kumimoji="0" sz="1950" b="0" i="0" u="none" strike="noStrike" kern="0" cap="none" spc="330" normalizeH="0" baseline="-21367"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a:t>
            </a:r>
            <a:r>
              <a:rPr kumimoji="0" sz="2000" b="0" i="0" u="none" strike="noStrike" kern="0" cap="none" spc="55"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m</a:t>
            </a:r>
            <a:r>
              <a:rPr kumimoji="0" sz="1950" b="0" i="0" u="none" strike="noStrike" kern="0" cap="none" spc="0" normalizeH="0" baseline="-21367" noProof="0" dirty="0">
                <a:ln>
                  <a:noFill/>
                </a:ln>
                <a:solidFill>
                  <a:srgbClr val="FF0000"/>
                </a:solidFill>
                <a:effectLst/>
                <a:uLnTx/>
                <a:uFillTx/>
                <a:latin typeface="Arial"/>
                <a:ea typeface="+mn-ea"/>
                <a:cs typeface="Arial"/>
              </a:rPr>
              <a:t>2</a:t>
            </a:r>
            <a:r>
              <a:rPr kumimoji="0" sz="1950" b="0" i="0" u="none" strike="noStrike" kern="0" cap="none" spc="330" normalizeH="0" baseline="-21367"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a:t>
            </a:r>
            <a:r>
              <a:rPr kumimoji="0" sz="2000" b="0" i="0" u="none" strike="noStrike" kern="0" cap="none" spc="60"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m</a:t>
            </a:r>
            <a:r>
              <a:rPr kumimoji="0" sz="1950" b="0" i="0" u="none" strike="noStrike" kern="0" cap="none" spc="0" normalizeH="0" baseline="-21367" noProof="0" dirty="0">
                <a:ln>
                  <a:noFill/>
                </a:ln>
                <a:solidFill>
                  <a:srgbClr val="FF0000"/>
                </a:solidFill>
                <a:effectLst/>
                <a:uLnTx/>
                <a:uFillTx/>
                <a:latin typeface="Arial"/>
                <a:ea typeface="+mn-ea"/>
                <a:cs typeface="Arial"/>
              </a:rPr>
              <a:t>3</a:t>
            </a:r>
            <a:r>
              <a:rPr kumimoji="0" sz="1950" b="0" i="0" u="none" strike="noStrike" kern="0" cap="none" spc="330" normalizeH="0" baseline="-21367"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a:t>
            </a:r>
            <a:r>
              <a:rPr kumimoji="0" sz="2000" b="0" i="0" u="none" strike="noStrike" kern="0" cap="none" spc="55"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m</a:t>
            </a:r>
            <a:r>
              <a:rPr kumimoji="0" sz="1950" b="0" i="0" u="none" strike="noStrike" kern="0" cap="none" spc="0" normalizeH="0" baseline="-21367" noProof="0" dirty="0">
                <a:ln>
                  <a:noFill/>
                </a:ln>
                <a:solidFill>
                  <a:srgbClr val="FF0000"/>
                </a:solidFill>
                <a:effectLst/>
                <a:uLnTx/>
                <a:uFillTx/>
                <a:latin typeface="Arial"/>
                <a:ea typeface="+mn-ea"/>
                <a:cs typeface="Arial"/>
              </a:rPr>
              <a:t>4</a:t>
            </a:r>
            <a:r>
              <a:rPr kumimoji="0" sz="1950" b="0" i="0" u="none" strike="noStrike" kern="0" cap="none" spc="337" normalizeH="0" baseline="-21367" noProof="0" dirty="0">
                <a:ln>
                  <a:noFill/>
                </a:ln>
                <a:solidFill>
                  <a:srgbClr val="FF0000"/>
                </a:solidFill>
                <a:effectLst/>
                <a:uLnTx/>
                <a:uFillTx/>
                <a:latin typeface="Times New Roman"/>
                <a:ea typeface="+mn-ea"/>
                <a:cs typeface="Times New Roman"/>
              </a:rPr>
              <a:t> </a:t>
            </a:r>
            <a:r>
              <a:rPr kumimoji="0" sz="2000" b="0" i="0" u="none" strike="noStrike" kern="0" cap="none" spc="0" normalizeH="0" baseline="0" noProof="0" dirty="0">
                <a:ln>
                  <a:noFill/>
                </a:ln>
                <a:solidFill>
                  <a:srgbClr val="FF0000"/>
                </a:solidFill>
                <a:effectLst/>
                <a:uLnTx/>
                <a:uFillTx/>
                <a:latin typeface="Arial"/>
                <a:ea typeface="+mn-ea"/>
                <a:cs typeface="Arial"/>
              </a:rPr>
              <a:t>||</a:t>
            </a:r>
            <a:r>
              <a:rPr kumimoji="0" sz="2000" b="0" i="0" u="none" strike="noStrike" kern="0" cap="none" spc="65" normalizeH="0" baseline="0" noProof="0" dirty="0">
                <a:ln>
                  <a:noFill/>
                </a:ln>
                <a:solidFill>
                  <a:srgbClr val="FF0000"/>
                </a:solidFill>
                <a:effectLst/>
                <a:uLnTx/>
                <a:uFillTx/>
                <a:latin typeface="Times New Roman"/>
                <a:ea typeface="+mn-ea"/>
                <a:cs typeface="Times New Roman"/>
              </a:rPr>
              <a:t> </a:t>
            </a:r>
            <a:r>
              <a:rPr kumimoji="0" sz="2000" b="0" i="0" u="none" strike="noStrike" kern="0" cap="none" spc="-25" normalizeH="0" baseline="0" noProof="0" dirty="0">
                <a:ln>
                  <a:noFill/>
                </a:ln>
                <a:solidFill>
                  <a:srgbClr val="FF0000"/>
                </a:solidFill>
                <a:effectLst/>
                <a:uLnTx/>
                <a:uFillTx/>
                <a:latin typeface="Arial"/>
                <a:ea typeface="+mn-ea"/>
                <a:cs typeface="Arial"/>
              </a:rPr>
              <a:t>c</a:t>
            </a:r>
            <a:r>
              <a:rPr kumimoji="0" sz="1950" b="0" i="0" u="none" strike="noStrike" kern="0" cap="none" spc="-37" normalizeH="0" baseline="-21367" noProof="0" dirty="0">
                <a:ln>
                  <a:noFill/>
                </a:ln>
                <a:solidFill>
                  <a:srgbClr val="FF0000"/>
                </a:solidFill>
                <a:effectLst/>
                <a:uLnTx/>
                <a:uFillTx/>
                <a:latin typeface="Arial"/>
                <a:ea typeface="+mn-ea"/>
                <a:cs typeface="Arial"/>
              </a:rPr>
              <a:t>4</a:t>
            </a:r>
            <a:endParaRPr kumimoji="0" sz="1950" b="0" i="0" u="none" strike="noStrike" kern="0" cap="none" spc="0" normalizeH="0" baseline="-21367" noProof="0">
              <a:ln>
                <a:noFill/>
              </a:ln>
              <a:solidFill>
                <a:sysClr val="windowText" lastClr="000000"/>
              </a:solidFill>
              <a:effectLst/>
              <a:uLnTx/>
              <a:uFillTx/>
              <a:latin typeface="Arial"/>
              <a:ea typeface="+mn-ea"/>
              <a:cs typeface="Arial"/>
            </a:endParaRPr>
          </a:p>
        </p:txBody>
      </p:sp>
      <p:grpSp>
        <p:nvGrpSpPr>
          <p:cNvPr id="7172" name="object 4">
            <a:extLst>
              <a:ext uri="{FF2B5EF4-FFF2-40B4-BE49-F238E27FC236}">
                <a16:creationId xmlns:a16="http://schemas.microsoft.com/office/drawing/2014/main" id="{7DB949F1-EE55-4DCF-8BCE-02490A1A00DB}"/>
              </a:ext>
            </a:extLst>
          </p:cNvPr>
          <p:cNvGrpSpPr>
            <a:grpSpLocks/>
          </p:cNvGrpSpPr>
          <p:nvPr/>
        </p:nvGrpSpPr>
        <p:grpSpPr bwMode="auto">
          <a:xfrm>
            <a:off x="6811963" y="1289050"/>
            <a:ext cx="393700" cy="1073150"/>
            <a:chOff x="5288026" y="1289050"/>
            <a:chExt cx="393700" cy="1073150"/>
          </a:xfrm>
        </p:grpSpPr>
        <p:sp>
          <p:nvSpPr>
            <p:cNvPr id="7234" name="object 5">
              <a:extLst>
                <a:ext uri="{FF2B5EF4-FFF2-40B4-BE49-F238E27FC236}">
                  <a16:creationId xmlns:a16="http://schemas.microsoft.com/office/drawing/2014/main" id="{3D676AB4-458B-4CE7-BDA0-28D3A1EA6BB2}"/>
                </a:ext>
              </a:extLst>
            </p:cNvPr>
            <p:cNvSpPr>
              <a:spLocks/>
            </p:cNvSpPr>
            <p:nvPr/>
          </p:nvSpPr>
          <p:spPr bwMode="auto">
            <a:xfrm>
              <a:off x="5294376" y="1295400"/>
              <a:ext cx="381000" cy="457200"/>
            </a:xfrm>
            <a:custGeom>
              <a:avLst/>
              <a:gdLst>
                <a:gd name="T0" fmla="*/ 380999 w 381000"/>
                <a:gd name="T1" fmla="*/ 0 h 457200"/>
                <a:gd name="T2" fmla="*/ 0 w 381000"/>
                <a:gd name="T3" fmla="*/ 0 h 457200"/>
                <a:gd name="T4" fmla="*/ 0 w 381000"/>
                <a:gd name="T5" fmla="*/ 457199 h 457200"/>
                <a:gd name="T6" fmla="*/ 380999 w 381000"/>
                <a:gd name="T7" fmla="*/ 457199 h 457200"/>
                <a:gd name="T8" fmla="*/ 380999 w 381000"/>
                <a:gd name="T9" fmla="*/ 0 h 457200"/>
              </a:gdLst>
              <a:ahLst/>
              <a:cxnLst>
                <a:cxn ang="0">
                  <a:pos x="T0" y="T1"/>
                </a:cxn>
                <a:cxn ang="0">
                  <a:pos x="T2" y="T3"/>
                </a:cxn>
                <a:cxn ang="0">
                  <a:pos x="T4" y="T5"/>
                </a:cxn>
                <a:cxn ang="0">
                  <a:pos x="T6" y="T7"/>
                </a:cxn>
                <a:cxn ang="0">
                  <a:pos x="T8" y="T9"/>
                </a:cxn>
              </a:cxnLst>
              <a:rect l="0" t="0" r="r" b="b"/>
              <a:pathLst>
                <a:path w="381000" h="457200">
                  <a:moveTo>
                    <a:pt x="380999" y="0"/>
                  </a:moveTo>
                  <a:lnTo>
                    <a:pt x="0" y="0"/>
                  </a:lnTo>
                  <a:lnTo>
                    <a:pt x="0" y="457199"/>
                  </a:lnTo>
                  <a:lnTo>
                    <a:pt x="380999" y="457199"/>
                  </a:lnTo>
                  <a:lnTo>
                    <a:pt x="380999" y="0"/>
                  </a:lnTo>
                  <a:close/>
                </a:path>
              </a:pathLst>
            </a:custGeom>
            <a:solidFill>
              <a:srgbClr val="00CC9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235" name="object 6">
              <a:extLst>
                <a:ext uri="{FF2B5EF4-FFF2-40B4-BE49-F238E27FC236}">
                  <a16:creationId xmlns:a16="http://schemas.microsoft.com/office/drawing/2014/main" id="{FB3832EB-76B0-4909-AD79-C915CA8C5AE4}"/>
                </a:ext>
              </a:extLst>
            </p:cNvPr>
            <p:cNvSpPr>
              <a:spLocks/>
            </p:cNvSpPr>
            <p:nvPr/>
          </p:nvSpPr>
          <p:spPr bwMode="auto">
            <a:xfrm>
              <a:off x="5294376" y="1295400"/>
              <a:ext cx="381000" cy="457200"/>
            </a:xfrm>
            <a:custGeom>
              <a:avLst/>
              <a:gdLst>
                <a:gd name="T0" fmla="*/ 0 w 381000"/>
                <a:gd name="T1" fmla="*/ 457199 h 457200"/>
                <a:gd name="T2" fmla="*/ 380999 w 381000"/>
                <a:gd name="T3" fmla="*/ 457199 h 457200"/>
                <a:gd name="T4" fmla="*/ 380999 w 381000"/>
                <a:gd name="T5" fmla="*/ 0 h 457200"/>
                <a:gd name="T6" fmla="*/ 0 w 381000"/>
                <a:gd name="T7" fmla="*/ 0 h 457200"/>
                <a:gd name="T8" fmla="*/ 0 w 381000"/>
                <a:gd name="T9" fmla="*/ 457199 h 457200"/>
              </a:gdLst>
              <a:ahLst/>
              <a:cxnLst>
                <a:cxn ang="0">
                  <a:pos x="T0" y="T1"/>
                </a:cxn>
                <a:cxn ang="0">
                  <a:pos x="T2" y="T3"/>
                </a:cxn>
                <a:cxn ang="0">
                  <a:pos x="T4" y="T5"/>
                </a:cxn>
                <a:cxn ang="0">
                  <a:pos x="T6" y="T7"/>
                </a:cxn>
                <a:cxn ang="0">
                  <a:pos x="T8" y="T9"/>
                </a:cxn>
              </a:cxnLst>
              <a:rect l="0" t="0" r="r" b="b"/>
              <a:pathLst>
                <a:path w="381000" h="457200">
                  <a:moveTo>
                    <a:pt x="0" y="457199"/>
                  </a:moveTo>
                  <a:lnTo>
                    <a:pt x="380999" y="457199"/>
                  </a:lnTo>
                  <a:lnTo>
                    <a:pt x="380999" y="0"/>
                  </a:lnTo>
                  <a:lnTo>
                    <a:pt x="0" y="0"/>
                  </a:lnTo>
                  <a:lnTo>
                    <a:pt x="0" y="45719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236" name="object 7">
              <a:extLst>
                <a:ext uri="{FF2B5EF4-FFF2-40B4-BE49-F238E27FC236}">
                  <a16:creationId xmlns:a16="http://schemas.microsoft.com/office/drawing/2014/main" id="{5D915FEE-B9CE-4955-B7A5-00A1030FD169}"/>
                </a:ext>
              </a:extLst>
            </p:cNvPr>
            <p:cNvSpPr>
              <a:spLocks/>
            </p:cNvSpPr>
            <p:nvPr/>
          </p:nvSpPr>
          <p:spPr bwMode="auto">
            <a:xfrm>
              <a:off x="5484754" y="1752605"/>
              <a:ext cx="76200" cy="609600"/>
            </a:xfrm>
            <a:custGeom>
              <a:avLst/>
              <a:gdLst>
                <a:gd name="T0" fmla="*/ 31735 w 76200"/>
                <a:gd name="T1" fmla="*/ 533393 h 609600"/>
                <a:gd name="T2" fmla="*/ 0 w 76200"/>
                <a:gd name="T3" fmla="*/ 533393 h 609600"/>
                <a:gd name="T4" fmla="*/ 38100 w 76200"/>
                <a:gd name="T5" fmla="*/ 609593 h 609600"/>
                <a:gd name="T6" fmla="*/ 69844 w 76200"/>
                <a:gd name="T7" fmla="*/ 546104 h 609600"/>
                <a:gd name="T8" fmla="*/ 31735 w 76200"/>
                <a:gd name="T9" fmla="*/ 546104 h 609600"/>
                <a:gd name="T10" fmla="*/ 31735 w 76200"/>
                <a:gd name="T11" fmla="*/ 533393 h 609600"/>
                <a:gd name="T12" fmla="*/ 44439 w 76200"/>
                <a:gd name="T13" fmla="*/ 0 h 609600"/>
                <a:gd name="T14" fmla="*/ 31735 w 76200"/>
                <a:gd name="T15" fmla="*/ 0 h 609600"/>
                <a:gd name="T16" fmla="*/ 31735 w 76200"/>
                <a:gd name="T17" fmla="*/ 546104 h 609600"/>
                <a:gd name="T18" fmla="*/ 44439 w 76200"/>
                <a:gd name="T19" fmla="*/ 546104 h 609600"/>
                <a:gd name="T20" fmla="*/ 44439 w 76200"/>
                <a:gd name="T21" fmla="*/ 0 h 609600"/>
                <a:gd name="T22" fmla="*/ 76200 w 76200"/>
                <a:gd name="T23" fmla="*/ 533393 h 609600"/>
                <a:gd name="T24" fmla="*/ 44439 w 76200"/>
                <a:gd name="T25" fmla="*/ 533393 h 609600"/>
                <a:gd name="T26" fmla="*/ 44439 w 76200"/>
                <a:gd name="T27" fmla="*/ 546104 h 609600"/>
                <a:gd name="T28" fmla="*/ 69844 w 76200"/>
                <a:gd name="T29" fmla="*/ 546104 h 609600"/>
                <a:gd name="T30" fmla="*/ 76200 w 76200"/>
                <a:gd name="T31" fmla="*/ 533393 h 609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200" h="609600">
                  <a:moveTo>
                    <a:pt x="31735" y="533393"/>
                  </a:moveTo>
                  <a:lnTo>
                    <a:pt x="0" y="533393"/>
                  </a:lnTo>
                  <a:lnTo>
                    <a:pt x="38100" y="609593"/>
                  </a:lnTo>
                  <a:lnTo>
                    <a:pt x="69844" y="546104"/>
                  </a:lnTo>
                  <a:lnTo>
                    <a:pt x="31735" y="546104"/>
                  </a:lnTo>
                  <a:lnTo>
                    <a:pt x="31735" y="533393"/>
                  </a:lnTo>
                  <a:close/>
                </a:path>
                <a:path w="76200" h="609600">
                  <a:moveTo>
                    <a:pt x="44439" y="0"/>
                  </a:moveTo>
                  <a:lnTo>
                    <a:pt x="31735" y="0"/>
                  </a:lnTo>
                  <a:lnTo>
                    <a:pt x="31735" y="546104"/>
                  </a:lnTo>
                  <a:lnTo>
                    <a:pt x="44439" y="546104"/>
                  </a:lnTo>
                  <a:lnTo>
                    <a:pt x="44439" y="0"/>
                  </a:lnTo>
                  <a:close/>
                </a:path>
                <a:path w="76200" h="609600">
                  <a:moveTo>
                    <a:pt x="76200" y="533393"/>
                  </a:moveTo>
                  <a:lnTo>
                    <a:pt x="44439" y="533393"/>
                  </a:lnTo>
                  <a:lnTo>
                    <a:pt x="44439" y="546104"/>
                  </a:lnTo>
                  <a:lnTo>
                    <a:pt x="69844" y="546104"/>
                  </a:lnTo>
                  <a:lnTo>
                    <a:pt x="76200" y="5333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7173" name="object 8">
            <a:extLst>
              <a:ext uri="{FF2B5EF4-FFF2-40B4-BE49-F238E27FC236}">
                <a16:creationId xmlns:a16="http://schemas.microsoft.com/office/drawing/2014/main" id="{2DACE523-3C14-4ECD-AA02-AB124B7CD929}"/>
              </a:ext>
            </a:extLst>
          </p:cNvPr>
          <p:cNvSpPr>
            <a:spLocks/>
          </p:cNvSpPr>
          <p:nvPr/>
        </p:nvSpPr>
        <p:spPr bwMode="auto">
          <a:xfrm>
            <a:off x="4037013" y="1752600"/>
            <a:ext cx="76200" cy="609600"/>
          </a:xfrm>
          <a:custGeom>
            <a:avLst/>
            <a:gdLst>
              <a:gd name="T0" fmla="*/ 31754 w 76200"/>
              <a:gd name="T1" fmla="*/ 533393 h 609600"/>
              <a:gd name="T2" fmla="*/ 0 w 76200"/>
              <a:gd name="T3" fmla="*/ 533393 h 609600"/>
              <a:gd name="T4" fmla="*/ 38100 w 76200"/>
              <a:gd name="T5" fmla="*/ 609593 h 609600"/>
              <a:gd name="T6" fmla="*/ 69844 w 76200"/>
              <a:gd name="T7" fmla="*/ 546104 h 609600"/>
              <a:gd name="T8" fmla="*/ 31754 w 76200"/>
              <a:gd name="T9" fmla="*/ 546104 h 609600"/>
              <a:gd name="T10" fmla="*/ 31754 w 76200"/>
              <a:gd name="T11" fmla="*/ 533393 h 609600"/>
              <a:gd name="T12" fmla="*/ 44458 w 76200"/>
              <a:gd name="T13" fmla="*/ 0 h 609600"/>
              <a:gd name="T14" fmla="*/ 31754 w 76200"/>
              <a:gd name="T15" fmla="*/ 0 h 609600"/>
              <a:gd name="T16" fmla="*/ 31754 w 76200"/>
              <a:gd name="T17" fmla="*/ 546104 h 609600"/>
              <a:gd name="T18" fmla="*/ 44458 w 76200"/>
              <a:gd name="T19" fmla="*/ 546104 h 609600"/>
              <a:gd name="T20" fmla="*/ 44458 w 76200"/>
              <a:gd name="T21" fmla="*/ 0 h 609600"/>
              <a:gd name="T22" fmla="*/ 76200 w 76200"/>
              <a:gd name="T23" fmla="*/ 533393 h 609600"/>
              <a:gd name="T24" fmla="*/ 44458 w 76200"/>
              <a:gd name="T25" fmla="*/ 533393 h 609600"/>
              <a:gd name="T26" fmla="*/ 44458 w 76200"/>
              <a:gd name="T27" fmla="*/ 546104 h 609600"/>
              <a:gd name="T28" fmla="*/ 69844 w 76200"/>
              <a:gd name="T29" fmla="*/ 546104 h 609600"/>
              <a:gd name="T30" fmla="*/ 76200 w 76200"/>
              <a:gd name="T31" fmla="*/ 533393 h 609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200" h="609600">
                <a:moveTo>
                  <a:pt x="31754" y="533393"/>
                </a:moveTo>
                <a:lnTo>
                  <a:pt x="0" y="533393"/>
                </a:lnTo>
                <a:lnTo>
                  <a:pt x="38100" y="609593"/>
                </a:lnTo>
                <a:lnTo>
                  <a:pt x="69844" y="546104"/>
                </a:lnTo>
                <a:lnTo>
                  <a:pt x="31754" y="546104"/>
                </a:lnTo>
                <a:lnTo>
                  <a:pt x="31754" y="533393"/>
                </a:lnTo>
                <a:close/>
              </a:path>
              <a:path w="76200" h="609600">
                <a:moveTo>
                  <a:pt x="44458" y="0"/>
                </a:moveTo>
                <a:lnTo>
                  <a:pt x="31754" y="0"/>
                </a:lnTo>
                <a:lnTo>
                  <a:pt x="31754" y="546104"/>
                </a:lnTo>
                <a:lnTo>
                  <a:pt x="44458" y="546104"/>
                </a:lnTo>
                <a:lnTo>
                  <a:pt x="44458" y="0"/>
                </a:lnTo>
                <a:close/>
              </a:path>
              <a:path w="76200" h="609600">
                <a:moveTo>
                  <a:pt x="76200" y="533393"/>
                </a:moveTo>
                <a:lnTo>
                  <a:pt x="44458" y="533393"/>
                </a:lnTo>
                <a:lnTo>
                  <a:pt x="44458" y="546104"/>
                </a:lnTo>
                <a:lnTo>
                  <a:pt x="69844" y="546104"/>
                </a:lnTo>
                <a:lnTo>
                  <a:pt x="76200" y="5333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174" name="object 9">
            <a:extLst>
              <a:ext uri="{FF2B5EF4-FFF2-40B4-BE49-F238E27FC236}">
                <a16:creationId xmlns:a16="http://schemas.microsoft.com/office/drawing/2014/main" id="{85181E06-DF8D-41D8-A9D9-E45DF1BBC41B}"/>
              </a:ext>
            </a:extLst>
          </p:cNvPr>
          <p:cNvSpPr>
            <a:spLocks/>
          </p:cNvSpPr>
          <p:nvPr/>
        </p:nvSpPr>
        <p:spPr bwMode="auto">
          <a:xfrm>
            <a:off x="6018213" y="1752600"/>
            <a:ext cx="76200" cy="609600"/>
          </a:xfrm>
          <a:custGeom>
            <a:avLst/>
            <a:gdLst>
              <a:gd name="T0" fmla="*/ 31735 w 76200"/>
              <a:gd name="T1" fmla="*/ 533393 h 609600"/>
              <a:gd name="T2" fmla="*/ 0 w 76200"/>
              <a:gd name="T3" fmla="*/ 533393 h 609600"/>
              <a:gd name="T4" fmla="*/ 38100 w 76200"/>
              <a:gd name="T5" fmla="*/ 609593 h 609600"/>
              <a:gd name="T6" fmla="*/ 69844 w 76200"/>
              <a:gd name="T7" fmla="*/ 546104 h 609600"/>
              <a:gd name="T8" fmla="*/ 31735 w 76200"/>
              <a:gd name="T9" fmla="*/ 546104 h 609600"/>
              <a:gd name="T10" fmla="*/ 31735 w 76200"/>
              <a:gd name="T11" fmla="*/ 533393 h 609600"/>
              <a:gd name="T12" fmla="*/ 44439 w 76200"/>
              <a:gd name="T13" fmla="*/ 0 h 609600"/>
              <a:gd name="T14" fmla="*/ 31735 w 76200"/>
              <a:gd name="T15" fmla="*/ 0 h 609600"/>
              <a:gd name="T16" fmla="*/ 31735 w 76200"/>
              <a:gd name="T17" fmla="*/ 546104 h 609600"/>
              <a:gd name="T18" fmla="*/ 44439 w 76200"/>
              <a:gd name="T19" fmla="*/ 546104 h 609600"/>
              <a:gd name="T20" fmla="*/ 44439 w 76200"/>
              <a:gd name="T21" fmla="*/ 0 h 609600"/>
              <a:gd name="T22" fmla="*/ 76200 w 76200"/>
              <a:gd name="T23" fmla="*/ 533393 h 609600"/>
              <a:gd name="T24" fmla="*/ 44439 w 76200"/>
              <a:gd name="T25" fmla="*/ 533393 h 609600"/>
              <a:gd name="T26" fmla="*/ 44439 w 76200"/>
              <a:gd name="T27" fmla="*/ 546104 h 609600"/>
              <a:gd name="T28" fmla="*/ 69844 w 76200"/>
              <a:gd name="T29" fmla="*/ 546104 h 609600"/>
              <a:gd name="T30" fmla="*/ 76200 w 76200"/>
              <a:gd name="T31" fmla="*/ 533393 h 609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200" h="609600">
                <a:moveTo>
                  <a:pt x="31735" y="533393"/>
                </a:moveTo>
                <a:lnTo>
                  <a:pt x="0" y="533393"/>
                </a:lnTo>
                <a:lnTo>
                  <a:pt x="38100" y="609593"/>
                </a:lnTo>
                <a:lnTo>
                  <a:pt x="69844" y="546104"/>
                </a:lnTo>
                <a:lnTo>
                  <a:pt x="31735" y="546104"/>
                </a:lnTo>
                <a:lnTo>
                  <a:pt x="31735" y="533393"/>
                </a:lnTo>
                <a:close/>
              </a:path>
              <a:path w="76200" h="609600">
                <a:moveTo>
                  <a:pt x="44439" y="0"/>
                </a:moveTo>
                <a:lnTo>
                  <a:pt x="31735" y="0"/>
                </a:lnTo>
                <a:lnTo>
                  <a:pt x="31735" y="546104"/>
                </a:lnTo>
                <a:lnTo>
                  <a:pt x="44439" y="546104"/>
                </a:lnTo>
                <a:lnTo>
                  <a:pt x="44439" y="0"/>
                </a:lnTo>
                <a:close/>
              </a:path>
              <a:path w="76200" h="609600">
                <a:moveTo>
                  <a:pt x="76200" y="533393"/>
                </a:moveTo>
                <a:lnTo>
                  <a:pt x="44439" y="533393"/>
                </a:lnTo>
                <a:lnTo>
                  <a:pt x="44439" y="546104"/>
                </a:lnTo>
                <a:lnTo>
                  <a:pt x="69844" y="546104"/>
                </a:lnTo>
                <a:lnTo>
                  <a:pt x="76200" y="5333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175" name="object 10">
            <a:extLst>
              <a:ext uri="{FF2B5EF4-FFF2-40B4-BE49-F238E27FC236}">
                <a16:creationId xmlns:a16="http://schemas.microsoft.com/office/drawing/2014/main" id="{23930FC6-74B2-4BB9-9808-BAA97066D3BD}"/>
              </a:ext>
            </a:extLst>
          </p:cNvPr>
          <p:cNvSpPr>
            <a:spLocks/>
          </p:cNvSpPr>
          <p:nvPr/>
        </p:nvSpPr>
        <p:spPr bwMode="auto">
          <a:xfrm>
            <a:off x="4951413" y="1752600"/>
            <a:ext cx="76200" cy="609600"/>
          </a:xfrm>
          <a:custGeom>
            <a:avLst/>
            <a:gdLst>
              <a:gd name="T0" fmla="*/ 31735 w 76200"/>
              <a:gd name="T1" fmla="*/ 533393 h 609600"/>
              <a:gd name="T2" fmla="*/ 0 w 76200"/>
              <a:gd name="T3" fmla="*/ 533393 h 609600"/>
              <a:gd name="T4" fmla="*/ 38100 w 76200"/>
              <a:gd name="T5" fmla="*/ 609593 h 609600"/>
              <a:gd name="T6" fmla="*/ 69844 w 76200"/>
              <a:gd name="T7" fmla="*/ 546104 h 609600"/>
              <a:gd name="T8" fmla="*/ 31735 w 76200"/>
              <a:gd name="T9" fmla="*/ 546104 h 609600"/>
              <a:gd name="T10" fmla="*/ 31735 w 76200"/>
              <a:gd name="T11" fmla="*/ 533393 h 609600"/>
              <a:gd name="T12" fmla="*/ 44439 w 76200"/>
              <a:gd name="T13" fmla="*/ 0 h 609600"/>
              <a:gd name="T14" fmla="*/ 31735 w 76200"/>
              <a:gd name="T15" fmla="*/ 0 h 609600"/>
              <a:gd name="T16" fmla="*/ 31735 w 76200"/>
              <a:gd name="T17" fmla="*/ 546104 h 609600"/>
              <a:gd name="T18" fmla="*/ 44439 w 76200"/>
              <a:gd name="T19" fmla="*/ 546104 h 609600"/>
              <a:gd name="T20" fmla="*/ 44439 w 76200"/>
              <a:gd name="T21" fmla="*/ 0 h 609600"/>
              <a:gd name="T22" fmla="*/ 76200 w 76200"/>
              <a:gd name="T23" fmla="*/ 533393 h 609600"/>
              <a:gd name="T24" fmla="*/ 44439 w 76200"/>
              <a:gd name="T25" fmla="*/ 533393 h 609600"/>
              <a:gd name="T26" fmla="*/ 44439 w 76200"/>
              <a:gd name="T27" fmla="*/ 546104 h 609600"/>
              <a:gd name="T28" fmla="*/ 69844 w 76200"/>
              <a:gd name="T29" fmla="*/ 546104 h 609600"/>
              <a:gd name="T30" fmla="*/ 76200 w 76200"/>
              <a:gd name="T31" fmla="*/ 533393 h 609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200" h="609600">
                <a:moveTo>
                  <a:pt x="31735" y="533393"/>
                </a:moveTo>
                <a:lnTo>
                  <a:pt x="0" y="533393"/>
                </a:lnTo>
                <a:lnTo>
                  <a:pt x="38100" y="609593"/>
                </a:lnTo>
                <a:lnTo>
                  <a:pt x="69844" y="546104"/>
                </a:lnTo>
                <a:lnTo>
                  <a:pt x="31735" y="546104"/>
                </a:lnTo>
                <a:lnTo>
                  <a:pt x="31735" y="533393"/>
                </a:lnTo>
                <a:close/>
              </a:path>
              <a:path w="76200" h="609600">
                <a:moveTo>
                  <a:pt x="44439" y="0"/>
                </a:moveTo>
                <a:lnTo>
                  <a:pt x="31735" y="0"/>
                </a:lnTo>
                <a:lnTo>
                  <a:pt x="31735" y="546104"/>
                </a:lnTo>
                <a:lnTo>
                  <a:pt x="44439" y="546104"/>
                </a:lnTo>
                <a:lnTo>
                  <a:pt x="44439" y="0"/>
                </a:lnTo>
                <a:close/>
              </a:path>
              <a:path w="76200" h="609600">
                <a:moveTo>
                  <a:pt x="76200" y="533393"/>
                </a:moveTo>
                <a:lnTo>
                  <a:pt x="44439" y="533393"/>
                </a:lnTo>
                <a:lnTo>
                  <a:pt x="44439" y="546104"/>
                </a:lnTo>
                <a:lnTo>
                  <a:pt x="69844" y="546104"/>
                </a:lnTo>
                <a:lnTo>
                  <a:pt x="76200" y="5333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nvGrpSpPr>
          <p:cNvPr id="7176" name="object 11">
            <a:extLst>
              <a:ext uri="{FF2B5EF4-FFF2-40B4-BE49-F238E27FC236}">
                <a16:creationId xmlns:a16="http://schemas.microsoft.com/office/drawing/2014/main" id="{5CEC811A-CD1E-4C33-B07F-3B3DB51A1D77}"/>
              </a:ext>
            </a:extLst>
          </p:cNvPr>
          <p:cNvGrpSpPr>
            <a:grpSpLocks/>
          </p:cNvGrpSpPr>
          <p:nvPr/>
        </p:nvGrpSpPr>
        <p:grpSpPr bwMode="auto">
          <a:xfrm>
            <a:off x="3916364" y="3879850"/>
            <a:ext cx="312737" cy="469900"/>
            <a:chOff x="2392425" y="3879850"/>
            <a:chExt cx="313055" cy="469900"/>
          </a:xfrm>
        </p:grpSpPr>
        <p:sp>
          <p:nvSpPr>
            <p:cNvPr id="7232" name="object 12">
              <a:extLst>
                <a:ext uri="{FF2B5EF4-FFF2-40B4-BE49-F238E27FC236}">
                  <a16:creationId xmlns:a16="http://schemas.microsoft.com/office/drawing/2014/main" id="{E7C893CB-2410-43D4-8DE3-EC2A2EA5FA00}"/>
                </a:ext>
              </a:extLst>
            </p:cNvPr>
            <p:cNvSpPr>
              <a:spLocks/>
            </p:cNvSpPr>
            <p:nvPr/>
          </p:nvSpPr>
          <p:spPr bwMode="auto">
            <a:xfrm>
              <a:off x="2398775" y="3886200"/>
              <a:ext cx="300355" cy="457200"/>
            </a:xfrm>
            <a:custGeom>
              <a:avLst/>
              <a:gdLst>
                <a:gd name="T0" fmla="*/ 300037 w 300355"/>
                <a:gd name="T1" fmla="*/ 0 h 457200"/>
                <a:gd name="T2" fmla="*/ 0 w 300355"/>
                <a:gd name="T3" fmla="*/ 0 h 457200"/>
                <a:gd name="T4" fmla="*/ 0 w 300355"/>
                <a:gd name="T5" fmla="*/ 457199 h 457200"/>
                <a:gd name="T6" fmla="*/ 300037 w 300355"/>
                <a:gd name="T7" fmla="*/ 457199 h 457200"/>
                <a:gd name="T8" fmla="*/ 300037 w 300355"/>
                <a:gd name="T9" fmla="*/ 0 h 457200"/>
              </a:gdLst>
              <a:ahLst/>
              <a:cxnLst>
                <a:cxn ang="0">
                  <a:pos x="T0" y="T1"/>
                </a:cxn>
                <a:cxn ang="0">
                  <a:pos x="T2" y="T3"/>
                </a:cxn>
                <a:cxn ang="0">
                  <a:pos x="T4" y="T5"/>
                </a:cxn>
                <a:cxn ang="0">
                  <a:pos x="T6" y="T7"/>
                </a:cxn>
                <a:cxn ang="0">
                  <a:pos x="T8" y="T9"/>
                </a:cxn>
              </a:cxnLst>
              <a:rect l="0" t="0" r="r" b="b"/>
              <a:pathLst>
                <a:path w="300355" h="457200">
                  <a:moveTo>
                    <a:pt x="300037" y="0"/>
                  </a:moveTo>
                  <a:lnTo>
                    <a:pt x="0" y="0"/>
                  </a:lnTo>
                  <a:lnTo>
                    <a:pt x="0" y="457199"/>
                  </a:lnTo>
                  <a:lnTo>
                    <a:pt x="300037" y="457199"/>
                  </a:lnTo>
                  <a:lnTo>
                    <a:pt x="300037" y="0"/>
                  </a:lnTo>
                  <a:close/>
                </a:path>
              </a:pathLst>
            </a:custGeom>
            <a:solidFill>
              <a:srgbClr val="00CC9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233" name="object 13">
              <a:extLst>
                <a:ext uri="{FF2B5EF4-FFF2-40B4-BE49-F238E27FC236}">
                  <a16:creationId xmlns:a16="http://schemas.microsoft.com/office/drawing/2014/main" id="{AD292438-53C1-4019-853C-3B7820C3C6D1}"/>
                </a:ext>
              </a:extLst>
            </p:cNvPr>
            <p:cNvSpPr>
              <a:spLocks/>
            </p:cNvSpPr>
            <p:nvPr/>
          </p:nvSpPr>
          <p:spPr bwMode="auto">
            <a:xfrm>
              <a:off x="2398775" y="3886200"/>
              <a:ext cx="300355" cy="457200"/>
            </a:xfrm>
            <a:custGeom>
              <a:avLst/>
              <a:gdLst>
                <a:gd name="T0" fmla="*/ 0 w 300355"/>
                <a:gd name="T1" fmla="*/ 457199 h 457200"/>
                <a:gd name="T2" fmla="*/ 300037 w 300355"/>
                <a:gd name="T3" fmla="*/ 457199 h 457200"/>
                <a:gd name="T4" fmla="*/ 300037 w 300355"/>
                <a:gd name="T5" fmla="*/ 0 h 457200"/>
                <a:gd name="T6" fmla="*/ 0 w 300355"/>
                <a:gd name="T7" fmla="*/ 0 h 457200"/>
                <a:gd name="T8" fmla="*/ 0 w 300355"/>
                <a:gd name="T9" fmla="*/ 457199 h 457200"/>
              </a:gdLst>
              <a:ahLst/>
              <a:cxnLst>
                <a:cxn ang="0">
                  <a:pos x="T0" y="T1"/>
                </a:cxn>
                <a:cxn ang="0">
                  <a:pos x="T2" y="T3"/>
                </a:cxn>
                <a:cxn ang="0">
                  <a:pos x="T4" y="T5"/>
                </a:cxn>
                <a:cxn ang="0">
                  <a:pos x="T6" y="T7"/>
                </a:cxn>
                <a:cxn ang="0">
                  <a:pos x="T8" y="T9"/>
                </a:cxn>
              </a:cxnLst>
              <a:rect l="0" t="0" r="r" b="b"/>
              <a:pathLst>
                <a:path w="300355" h="457200">
                  <a:moveTo>
                    <a:pt x="0" y="457199"/>
                  </a:moveTo>
                  <a:lnTo>
                    <a:pt x="300037" y="457199"/>
                  </a:lnTo>
                  <a:lnTo>
                    <a:pt x="300037" y="0"/>
                  </a:lnTo>
                  <a:lnTo>
                    <a:pt x="0" y="0"/>
                  </a:lnTo>
                  <a:lnTo>
                    <a:pt x="0" y="45719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7177" name="object 14">
            <a:extLst>
              <a:ext uri="{FF2B5EF4-FFF2-40B4-BE49-F238E27FC236}">
                <a16:creationId xmlns:a16="http://schemas.microsoft.com/office/drawing/2014/main" id="{B3F398DA-2591-4D28-A4C1-43664399CA2E}"/>
              </a:ext>
            </a:extLst>
          </p:cNvPr>
          <p:cNvGrpSpPr>
            <a:grpSpLocks/>
          </p:cNvGrpSpPr>
          <p:nvPr/>
        </p:nvGrpSpPr>
        <p:grpSpPr bwMode="auto">
          <a:xfrm>
            <a:off x="4819650" y="3879850"/>
            <a:ext cx="312738" cy="469900"/>
            <a:chOff x="3295639" y="3879850"/>
            <a:chExt cx="313055" cy="469900"/>
          </a:xfrm>
        </p:grpSpPr>
        <p:sp>
          <p:nvSpPr>
            <p:cNvPr id="7230" name="object 15">
              <a:extLst>
                <a:ext uri="{FF2B5EF4-FFF2-40B4-BE49-F238E27FC236}">
                  <a16:creationId xmlns:a16="http://schemas.microsoft.com/office/drawing/2014/main" id="{715B2556-75D0-40E0-98B4-36D75A14C0BF}"/>
                </a:ext>
              </a:extLst>
            </p:cNvPr>
            <p:cNvSpPr>
              <a:spLocks/>
            </p:cNvSpPr>
            <p:nvPr/>
          </p:nvSpPr>
          <p:spPr bwMode="auto">
            <a:xfrm>
              <a:off x="3301989" y="3886200"/>
              <a:ext cx="300355" cy="457200"/>
            </a:xfrm>
            <a:custGeom>
              <a:avLst/>
              <a:gdLst>
                <a:gd name="T0" fmla="*/ 300037 w 300354"/>
                <a:gd name="T1" fmla="*/ 0 h 457200"/>
                <a:gd name="T2" fmla="*/ 0 w 300354"/>
                <a:gd name="T3" fmla="*/ 0 h 457200"/>
                <a:gd name="T4" fmla="*/ 0 w 300354"/>
                <a:gd name="T5" fmla="*/ 457199 h 457200"/>
                <a:gd name="T6" fmla="*/ 300037 w 300354"/>
                <a:gd name="T7" fmla="*/ 457199 h 457200"/>
                <a:gd name="T8" fmla="*/ 300037 w 300354"/>
                <a:gd name="T9" fmla="*/ 0 h 457200"/>
              </a:gdLst>
              <a:ahLst/>
              <a:cxnLst>
                <a:cxn ang="0">
                  <a:pos x="T0" y="T1"/>
                </a:cxn>
                <a:cxn ang="0">
                  <a:pos x="T2" y="T3"/>
                </a:cxn>
                <a:cxn ang="0">
                  <a:pos x="T4" y="T5"/>
                </a:cxn>
                <a:cxn ang="0">
                  <a:pos x="T6" y="T7"/>
                </a:cxn>
                <a:cxn ang="0">
                  <a:pos x="T8" y="T9"/>
                </a:cxn>
              </a:cxnLst>
              <a:rect l="0" t="0" r="r" b="b"/>
              <a:pathLst>
                <a:path w="300354" h="457200">
                  <a:moveTo>
                    <a:pt x="300037" y="0"/>
                  </a:moveTo>
                  <a:lnTo>
                    <a:pt x="0" y="0"/>
                  </a:lnTo>
                  <a:lnTo>
                    <a:pt x="0" y="457199"/>
                  </a:lnTo>
                  <a:lnTo>
                    <a:pt x="300037" y="457199"/>
                  </a:lnTo>
                  <a:lnTo>
                    <a:pt x="300037" y="0"/>
                  </a:lnTo>
                  <a:close/>
                </a:path>
              </a:pathLst>
            </a:custGeom>
            <a:solidFill>
              <a:srgbClr val="00CC9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231" name="object 16">
              <a:extLst>
                <a:ext uri="{FF2B5EF4-FFF2-40B4-BE49-F238E27FC236}">
                  <a16:creationId xmlns:a16="http://schemas.microsoft.com/office/drawing/2014/main" id="{C17F230C-8D65-4202-815B-369EA0FC2369}"/>
                </a:ext>
              </a:extLst>
            </p:cNvPr>
            <p:cNvSpPr>
              <a:spLocks/>
            </p:cNvSpPr>
            <p:nvPr/>
          </p:nvSpPr>
          <p:spPr bwMode="auto">
            <a:xfrm>
              <a:off x="3301989" y="3886200"/>
              <a:ext cx="300355" cy="457200"/>
            </a:xfrm>
            <a:custGeom>
              <a:avLst/>
              <a:gdLst>
                <a:gd name="T0" fmla="*/ 0 w 300354"/>
                <a:gd name="T1" fmla="*/ 457199 h 457200"/>
                <a:gd name="T2" fmla="*/ 300037 w 300354"/>
                <a:gd name="T3" fmla="*/ 457199 h 457200"/>
                <a:gd name="T4" fmla="*/ 300037 w 300354"/>
                <a:gd name="T5" fmla="*/ 0 h 457200"/>
                <a:gd name="T6" fmla="*/ 0 w 300354"/>
                <a:gd name="T7" fmla="*/ 0 h 457200"/>
                <a:gd name="T8" fmla="*/ 0 w 300354"/>
                <a:gd name="T9" fmla="*/ 457199 h 457200"/>
              </a:gdLst>
              <a:ahLst/>
              <a:cxnLst>
                <a:cxn ang="0">
                  <a:pos x="T0" y="T1"/>
                </a:cxn>
                <a:cxn ang="0">
                  <a:pos x="T2" y="T3"/>
                </a:cxn>
                <a:cxn ang="0">
                  <a:pos x="T4" y="T5"/>
                </a:cxn>
                <a:cxn ang="0">
                  <a:pos x="T6" y="T7"/>
                </a:cxn>
                <a:cxn ang="0">
                  <a:pos x="T8" y="T9"/>
                </a:cxn>
              </a:cxnLst>
              <a:rect l="0" t="0" r="r" b="b"/>
              <a:pathLst>
                <a:path w="300354" h="457200">
                  <a:moveTo>
                    <a:pt x="0" y="457199"/>
                  </a:moveTo>
                  <a:lnTo>
                    <a:pt x="300037" y="457199"/>
                  </a:lnTo>
                  <a:lnTo>
                    <a:pt x="300037" y="0"/>
                  </a:lnTo>
                  <a:lnTo>
                    <a:pt x="0" y="0"/>
                  </a:lnTo>
                  <a:lnTo>
                    <a:pt x="0" y="45719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7178" name="object 17">
            <a:extLst>
              <a:ext uri="{FF2B5EF4-FFF2-40B4-BE49-F238E27FC236}">
                <a16:creationId xmlns:a16="http://schemas.microsoft.com/office/drawing/2014/main" id="{B514CD5F-EF16-43D3-AFDB-EEEF331859A0}"/>
              </a:ext>
            </a:extLst>
          </p:cNvPr>
          <p:cNvGrpSpPr>
            <a:grpSpLocks/>
          </p:cNvGrpSpPr>
          <p:nvPr/>
        </p:nvGrpSpPr>
        <p:grpSpPr bwMode="auto">
          <a:xfrm>
            <a:off x="5797551" y="3879850"/>
            <a:ext cx="314325" cy="469900"/>
            <a:chOff x="4273560" y="3879850"/>
            <a:chExt cx="314325" cy="469900"/>
          </a:xfrm>
        </p:grpSpPr>
        <p:sp>
          <p:nvSpPr>
            <p:cNvPr id="7228" name="object 18">
              <a:extLst>
                <a:ext uri="{FF2B5EF4-FFF2-40B4-BE49-F238E27FC236}">
                  <a16:creationId xmlns:a16="http://schemas.microsoft.com/office/drawing/2014/main" id="{ED8A637D-9263-4941-9538-2B22D493280E}"/>
                </a:ext>
              </a:extLst>
            </p:cNvPr>
            <p:cNvSpPr>
              <a:spLocks/>
            </p:cNvSpPr>
            <p:nvPr/>
          </p:nvSpPr>
          <p:spPr bwMode="auto">
            <a:xfrm>
              <a:off x="4279910" y="3886200"/>
              <a:ext cx="301625" cy="457200"/>
            </a:xfrm>
            <a:custGeom>
              <a:avLst/>
              <a:gdLst>
                <a:gd name="T0" fmla="*/ 301620 w 301625"/>
                <a:gd name="T1" fmla="*/ 0 h 457200"/>
                <a:gd name="T2" fmla="*/ 0 w 301625"/>
                <a:gd name="T3" fmla="*/ 0 h 457200"/>
                <a:gd name="T4" fmla="*/ 0 w 301625"/>
                <a:gd name="T5" fmla="*/ 457199 h 457200"/>
                <a:gd name="T6" fmla="*/ 301620 w 301625"/>
                <a:gd name="T7" fmla="*/ 457199 h 457200"/>
                <a:gd name="T8" fmla="*/ 301620 w 301625"/>
                <a:gd name="T9" fmla="*/ 0 h 457200"/>
              </a:gdLst>
              <a:ahLst/>
              <a:cxnLst>
                <a:cxn ang="0">
                  <a:pos x="T0" y="T1"/>
                </a:cxn>
                <a:cxn ang="0">
                  <a:pos x="T2" y="T3"/>
                </a:cxn>
                <a:cxn ang="0">
                  <a:pos x="T4" y="T5"/>
                </a:cxn>
                <a:cxn ang="0">
                  <a:pos x="T6" y="T7"/>
                </a:cxn>
                <a:cxn ang="0">
                  <a:pos x="T8" y="T9"/>
                </a:cxn>
              </a:cxnLst>
              <a:rect l="0" t="0" r="r" b="b"/>
              <a:pathLst>
                <a:path w="301625" h="457200">
                  <a:moveTo>
                    <a:pt x="301620" y="0"/>
                  </a:moveTo>
                  <a:lnTo>
                    <a:pt x="0" y="0"/>
                  </a:lnTo>
                  <a:lnTo>
                    <a:pt x="0" y="457199"/>
                  </a:lnTo>
                  <a:lnTo>
                    <a:pt x="301620" y="457199"/>
                  </a:lnTo>
                  <a:lnTo>
                    <a:pt x="301620" y="0"/>
                  </a:lnTo>
                  <a:close/>
                </a:path>
              </a:pathLst>
            </a:custGeom>
            <a:solidFill>
              <a:srgbClr val="00CC9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229" name="object 19">
              <a:extLst>
                <a:ext uri="{FF2B5EF4-FFF2-40B4-BE49-F238E27FC236}">
                  <a16:creationId xmlns:a16="http://schemas.microsoft.com/office/drawing/2014/main" id="{61EA33AA-5090-4B5F-A7DD-98FFBD9FE991}"/>
                </a:ext>
              </a:extLst>
            </p:cNvPr>
            <p:cNvSpPr>
              <a:spLocks/>
            </p:cNvSpPr>
            <p:nvPr/>
          </p:nvSpPr>
          <p:spPr bwMode="auto">
            <a:xfrm>
              <a:off x="4279910" y="3886200"/>
              <a:ext cx="301625" cy="457200"/>
            </a:xfrm>
            <a:custGeom>
              <a:avLst/>
              <a:gdLst>
                <a:gd name="T0" fmla="*/ 0 w 301625"/>
                <a:gd name="T1" fmla="*/ 457199 h 457200"/>
                <a:gd name="T2" fmla="*/ 301620 w 301625"/>
                <a:gd name="T3" fmla="*/ 457199 h 457200"/>
                <a:gd name="T4" fmla="*/ 301620 w 301625"/>
                <a:gd name="T5" fmla="*/ 0 h 457200"/>
                <a:gd name="T6" fmla="*/ 0 w 301625"/>
                <a:gd name="T7" fmla="*/ 0 h 457200"/>
                <a:gd name="T8" fmla="*/ 0 w 301625"/>
                <a:gd name="T9" fmla="*/ 457199 h 457200"/>
              </a:gdLst>
              <a:ahLst/>
              <a:cxnLst>
                <a:cxn ang="0">
                  <a:pos x="T0" y="T1"/>
                </a:cxn>
                <a:cxn ang="0">
                  <a:pos x="T2" y="T3"/>
                </a:cxn>
                <a:cxn ang="0">
                  <a:pos x="T4" y="T5"/>
                </a:cxn>
                <a:cxn ang="0">
                  <a:pos x="T6" y="T7"/>
                </a:cxn>
                <a:cxn ang="0">
                  <a:pos x="T8" y="T9"/>
                </a:cxn>
              </a:cxnLst>
              <a:rect l="0" t="0" r="r" b="b"/>
              <a:pathLst>
                <a:path w="301625" h="457200">
                  <a:moveTo>
                    <a:pt x="0" y="457199"/>
                  </a:moveTo>
                  <a:lnTo>
                    <a:pt x="301620" y="457199"/>
                  </a:lnTo>
                  <a:lnTo>
                    <a:pt x="301620" y="0"/>
                  </a:lnTo>
                  <a:lnTo>
                    <a:pt x="0" y="0"/>
                  </a:lnTo>
                  <a:lnTo>
                    <a:pt x="0" y="45719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aphicFrame>
        <p:nvGraphicFramePr>
          <p:cNvPr id="20" name="object 20">
            <a:extLst>
              <a:ext uri="{FF2B5EF4-FFF2-40B4-BE49-F238E27FC236}">
                <a16:creationId xmlns:a16="http://schemas.microsoft.com/office/drawing/2014/main" id="{51E50621-F5F7-4086-9CAD-06CB69AAB1E4}"/>
              </a:ext>
            </a:extLst>
          </p:cNvPr>
          <p:cNvGraphicFramePr>
            <a:graphicFrameLocks noGrp="1"/>
          </p:cNvGraphicFramePr>
          <p:nvPr/>
        </p:nvGraphicFramePr>
        <p:xfrm>
          <a:off x="3916363" y="1295401"/>
          <a:ext cx="4989512" cy="3046414"/>
        </p:xfrm>
        <a:graphic>
          <a:graphicData uri="http://schemas.openxmlformats.org/drawingml/2006/table">
            <a:tbl>
              <a:tblPr firstRow="1" bandRow="1">
                <a:tableStyleId>{2D5ABB26-0587-4C30-8999-92F81FD0307C}</a:tableStyleId>
              </a:tblPr>
              <a:tblGrid>
                <a:gridCol w="381024">
                  <a:extLst>
                    <a:ext uri="{9D8B030D-6E8A-4147-A177-3AD203B41FA5}">
                      <a16:colId xmlns:a16="http://schemas.microsoft.com/office/drawing/2014/main" val="20000"/>
                    </a:ext>
                  </a:extLst>
                </a:gridCol>
                <a:gridCol w="527719">
                  <a:extLst>
                    <a:ext uri="{9D8B030D-6E8A-4147-A177-3AD203B41FA5}">
                      <a16:colId xmlns:a16="http://schemas.microsoft.com/office/drawing/2014/main" val="20001"/>
                    </a:ext>
                  </a:extLst>
                </a:gridCol>
                <a:gridCol w="386740">
                  <a:extLst>
                    <a:ext uri="{9D8B030D-6E8A-4147-A177-3AD203B41FA5}">
                      <a16:colId xmlns:a16="http://schemas.microsoft.com/office/drawing/2014/main" val="20002"/>
                    </a:ext>
                  </a:extLst>
                </a:gridCol>
                <a:gridCol w="597573">
                  <a:extLst>
                    <a:ext uri="{9D8B030D-6E8A-4147-A177-3AD203B41FA5}">
                      <a16:colId xmlns:a16="http://schemas.microsoft.com/office/drawing/2014/main" val="20003"/>
                    </a:ext>
                  </a:extLst>
                </a:gridCol>
                <a:gridCol w="393089">
                  <a:extLst>
                    <a:ext uri="{9D8B030D-6E8A-4147-A177-3AD203B41FA5}">
                      <a16:colId xmlns:a16="http://schemas.microsoft.com/office/drawing/2014/main" val="20004"/>
                    </a:ext>
                  </a:extLst>
                </a:gridCol>
                <a:gridCol w="574712">
                  <a:extLst>
                    <a:ext uri="{9D8B030D-6E8A-4147-A177-3AD203B41FA5}">
                      <a16:colId xmlns:a16="http://schemas.microsoft.com/office/drawing/2014/main" val="20005"/>
                    </a:ext>
                  </a:extLst>
                </a:gridCol>
                <a:gridCol w="34927">
                  <a:extLst>
                    <a:ext uri="{9D8B030D-6E8A-4147-A177-3AD203B41FA5}">
                      <a16:colId xmlns:a16="http://schemas.microsoft.com/office/drawing/2014/main" val="20006"/>
                    </a:ext>
                  </a:extLst>
                </a:gridCol>
                <a:gridCol w="2093728">
                  <a:extLst>
                    <a:ext uri="{9D8B030D-6E8A-4147-A177-3AD203B41FA5}">
                      <a16:colId xmlns:a16="http://schemas.microsoft.com/office/drawing/2014/main" val="20007"/>
                    </a:ext>
                  </a:extLst>
                </a:gridCol>
              </a:tblGrid>
              <a:tr h="456613">
                <a:tc>
                  <a:txBody>
                    <a:bodyPr/>
                    <a:lstStyle/>
                    <a:p>
                      <a:pPr marL="38735">
                        <a:lnSpc>
                          <a:spcPct val="100000"/>
                        </a:lnSpc>
                        <a:spcBef>
                          <a:spcPts val="545"/>
                        </a:spcBef>
                      </a:pPr>
                      <a:r>
                        <a:rPr sz="2000" i="1" spc="-25" dirty="0">
                          <a:latin typeface="Arial"/>
                          <a:cs typeface="Arial"/>
                        </a:rPr>
                        <a:t>m</a:t>
                      </a:r>
                      <a:r>
                        <a:rPr sz="2000" i="1" spc="-37" baseline="-21367" dirty="0">
                          <a:latin typeface="Arial"/>
                          <a:cs typeface="Arial"/>
                        </a:rPr>
                        <a:t>1</a:t>
                      </a:r>
                      <a:endParaRPr sz="2000" baseline="-21367">
                        <a:latin typeface="Arial"/>
                        <a:cs typeface="Arial"/>
                      </a:endParaRPr>
                    </a:p>
                  </a:txBody>
                  <a:tcPr marL="0" marR="0" marT="69222"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solidFill>
                      <a:srgbClr val="00CC98"/>
                    </a:solidFill>
                  </a:tcPr>
                </a:tc>
                <a:tc>
                  <a:txBody>
                    <a:bodyPr/>
                    <a:lstStyle/>
                    <a:p>
                      <a:pPr marL="44450">
                        <a:lnSpc>
                          <a:spcPct val="100000"/>
                        </a:lnSpc>
                        <a:spcBef>
                          <a:spcPts val="545"/>
                        </a:spcBef>
                      </a:pPr>
                      <a:r>
                        <a:rPr sz="2000" i="1" spc="-25" dirty="0">
                          <a:latin typeface="Arial"/>
                          <a:cs typeface="Arial"/>
                        </a:rPr>
                        <a:t>m</a:t>
                      </a:r>
                      <a:r>
                        <a:rPr sz="2000" i="1" spc="-37" baseline="-21367" dirty="0">
                          <a:latin typeface="Arial"/>
                          <a:cs typeface="Arial"/>
                        </a:rPr>
                        <a:t>2</a:t>
                      </a:r>
                      <a:endParaRPr sz="2000" baseline="-21367">
                        <a:latin typeface="Arial"/>
                        <a:cs typeface="Arial"/>
                      </a:endParaRPr>
                    </a:p>
                  </a:txBody>
                  <a:tcPr marL="0" marR="0" marT="69222" marB="0">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solidFill>
                      <a:srgbClr val="00CC98"/>
                    </a:solidFill>
                  </a:tcPr>
                </a:tc>
                <a:tc>
                  <a:txBody>
                    <a:bodyPr/>
                    <a:lstStyle/>
                    <a:p>
                      <a:pPr marL="50800">
                        <a:lnSpc>
                          <a:spcPct val="100000"/>
                        </a:lnSpc>
                        <a:spcBef>
                          <a:spcPts val="545"/>
                        </a:spcBef>
                      </a:pPr>
                      <a:r>
                        <a:rPr sz="2000" i="1" spc="-25" dirty="0">
                          <a:latin typeface="Arial"/>
                          <a:cs typeface="Arial"/>
                        </a:rPr>
                        <a:t>m</a:t>
                      </a:r>
                      <a:r>
                        <a:rPr sz="2000" i="1" spc="-37" baseline="-21367" dirty="0">
                          <a:latin typeface="Arial"/>
                          <a:cs typeface="Arial"/>
                        </a:rPr>
                        <a:t>3</a:t>
                      </a:r>
                      <a:endParaRPr sz="2000" baseline="-21367">
                        <a:latin typeface="Arial"/>
                        <a:cs typeface="Arial"/>
                      </a:endParaRPr>
                    </a:p>
                  </a:txBody>
                  <a:tcPr marL="0" marR="0" marT="69222" marB="0">
                    <a:lnR w="19050">
                      <a:solidFill>
                        <a:srgbClr val="000000"/>
                      </a:solidFill>
                      <a:prstDash val="solid"/>
                    </a:lnR>
                    <a:lnT w="19050">
                      <a:solidFill>
                        <a:srgbClr val="000000"/>
                      </a:solidFill>
                      <a:prstDash val="solid"/>
                    </a:lnT>
                    <a:lnB w="19050">
                      <a:solidFill>
                        <a:srgbClr val="000000"/>
                      </a:solidFill>
                      <a:prstDash val="solid"/>
                    </a:lnB>
                    <a:solidFill>
                      <a:srgbClr val="00CC98"/>
                    </a:solidFill>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tcPr>
                </a:tc>
                <a:tc>
                  <a:txBody>
                    <a:bodyPr/>
                    <a:lstStyle/>
                    <a:p>
                      <a:pPr>
                        <a:lnSpc>
                          <a:spcPct val="100000"/>
                        </a:lnSpc>
                      </a:pPr>
                      <a:endParaRPr sz="2100">
                        <a:latin typeface="Times New Roman"/>
                        <a:cs typeface="Times New Roman"/>
                      </a:endParaRPr>
                    </a:p>
                  </a:txBody>
                  <a:tcPr marL="0" marR="0" marT="0" marB="0"/>
                </a:tc>
                <a:tc>
                  <a:txBody>
                    <a:bodyPr/>
                    <a:lstStyle/>
                    <a:p>
                      <a:pPr marL="39370">
                        <a:lnSpc>
                          <a:spcPct val="100000"/>
                        </a:lnSpc>
                        <a:spcBef>
                          <a:spcPts val="545"/>
                        </a:spcBef>
                      </a:pPr>
                      <a:r>
                        <a:rPr sz="2000" i="1" spc="-25" dirty="0">
                          <a:latin typeface="Arial"/>
                          <a:cs typeface="Arial"/>
                        </a:rPr>
                        <a:t>m</a:t>
                      </a:r>
                      <a:r>
                        <a:rPr sz="2000" i="1" spc="-37" baseline="-21367" dirty="0">
                          <a:latin typeface="Arial"/>
                          <a:cs typeface="Arial"/>
                        </a:rPr>
                        <a:t>4</a:t>
                      </a:r>
                      <a:endParaRPr sz="2000" baseline="-21367">
                        <a:latin typeface="Arial"/>
                        <a:cs typeface="Arial"/>
                      </a:endParaRPr>
                    </a:p>
                  </a:txBody>
                  <a:tcPr marL="0" marR="0" marT="69222" marB="0"/>
                </a:tc>
                <a:extLst>
                  <a:ext uri="{0D108BD9-81ED-4DB2-BD59-A6C34878D82A}">
                    <a16:rowId xmlns:a16="http://schemas.microsoft.com/office/drawing/2014/main" val="10000"/>
                  </a:ext>
                </a:extLst>
              </a:tr>
              <a:tr h="2133188">
                <a:tc>
                  <a:txBody>
                    <a:bodyPr/>
                    <a:lstStyle/>
                    <a:p>
                      <a:pPr>
                        <a:lnSpc>
                          <a:spcPct val="100000"/>
                        </a:lnSpc>
                        <a:spcBef>
                          <a:spcPts val="50"/>
                        </a:spcBef>
                      </a:pPr>
                      <a:endParaRPr sz="3400">
                        <a:latin typeface="Times New Roman"/>
                        <a:cs typeface="Times New Roman"/>
                      </a:endParaRPr>
                    </a:p>
                    <a:p>
                      <a:pPr marL="54610">
                        <a:lnSpc>
                          <a:spcPct val="100000"/>
                        </a:lnSpc>
                      </a:pPr>
                      <a:r>
                        <a:rPr sz="2400" dirty="0">
                          <a:latin typeface="Symbol"/>
                          <a:cs typeface="Symbol"/>
                        </a:rPr>
                        <a:t></a:t>
                      </a:r>
                      <a:endParaRPr sz="2400">
                        <a:latin typeface="Symbol"/>
                        <a:cs typeface="Symbol"/>
                      </a:endParaRPr>
                    </a:p>
                    <a:p>
                      <a:pPr marL="91440">
                        <a:lnSpc>
                          <a:spcPct val="100000"/>
                        </a:lnSpc>
                        <a:spcBef>
                          <a:spcPts val="2525"/>
                        </a:spcBef>
                      </a:pPr>
                      <a:r>
                        <a:rPr sz="2400" i="1" dirty="0">
                          <a:latin typeface="Arial"/>
                          <a:cs typeface="Arial"/>
                        </a:rPr>
                        <a:t>E</a:t>
                      </a:r>
                      <a:endParaRPr sz="2400">
                        <a:latin typeface="Arial"/>
                        <a:cs typeface="Arial"/>
                      </a:endParaRPr>
                    </a:p>
                  </a:txBody>
                  <a:tcPr marL="0" marR="0" marT="6351" marB="0">
                    <a:lnT w="19050">
                      <a:solidFill>
                        <a:srgbClr val="000000"/>
                      </a:solidFill>
                      <a:prstDash val="solid"/>
                    </a:lnT>
                  </a:tcPr>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spcBef>
                          <a:spcPts val="50"/>
                        </a:spcBef>
                      </a:pPr>
                      <a:endParaRPr sz="3400">
                        <a:latin typeface="Times New Roman"/>
                        <a:cs typeface="Times New Roman"/>
                      </a:endParaRPr>
                    </a:p>
                    <a:p>
                      <a:pPr marL="20955">
                        <a:lnSpc>
                          <a:spcPct val="100000"/>
                        </a:lnSpc>
                      </a:pPr>
                      <a:r>
                        <a:rPr sz="2400" dirty="0">
                          <a:latin typeface="Symbol"/>
                          <a:cs typeface="Symbol"/>
                        </a:rPr>
                        <a:t></a:t>
                      </a:r>
                      <a:endParaRPr sz="2400">
                        <a:latin typeface="Symbol"/>
                        <a:cs typeface="Symbol"/>
                      </a:endParaRPr>
                    </a:p>
                    <a:p>
                      <a:pPr marL="97155">
                        <a:lnSpc>
                          <a:spcPct val="100000"/>
                        </a:lnSpc>
                        <a:spcBef>
                          <a:spcPts val="2525"/>
                        </a:spcBef>
                      </a:pPr>
                      <a:r>
                        <a:rPr sz="2400" i="1" dirty="0">
                          <a:latin typeface="Arial"/>
                          <a:cs typeface="Arial"/>
                        </a:rPr>
                        <a:t>E</a:t>
                      </a:r>
                      <a:endParaRPr sz="2400">
                        <a:latin typeface="Arial"/>
                        <a:cs typeface="Arial"/>
                      </a:endParaRPr>
                    </a:p>
                  </a:txBody>
                  <a:tcPr marL="0" marR="0" marT="6351" marB="0">
                    <a:lnT w="19050">
                      <a:solidFill>
                        <a:srgbClr val="000000"/>
                      </a:solidFill>
                      <a:prstDash val="solid"/>
                    </a:lnT>
                  </a:tcPr>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spcBef>
                          <a:spcPts val="50"/>
                        </a:spcBef>
                      </a:pPr>
                      <a:endParaRPr sz="3400">
                        <a:latin typeface="Times New Roman"/>
                        <a:cs typeface="Times New Roman"/>
                      </a:endParaRPr>
                    </a:p>
                    <a:p>
                      <a:pPr marL="103505">
                        <a:lnSpc>
                          <a:spcPct val="100000"/>
                        </a:lnSpc>
                      </a:pPr>
                      <a:r>
                        <a:rPr sz="2400" dirty="0">
                          <a:latin typeface="Symbol"/>
                          <a:cs typeface="Symbol"/>
                        </a:rPr>
                        <a:t></a:t>
                      </a:r>
                      <a:endParaRPr sz="2400">
                        <a:latin typeface="Symbol"/>
                        <a:cs typeface="Symbol"/>
                      </a:endParaRPr>
                    </a:p>
                    <a:p>
                      <a:pPr marL="103505">
                        <a:lnSpc>
                          <a:spcPct val="100000"/>
                        </a:lnSpc>
                        <a:spcBef>
                          <a:spcPts val="2525"/>
                        </a:spcBef>
                      </a:pPr>
                      <a:r>
                        <a:rPr sz="2400" i="1" dirty="0">
                          <a:latin typeface="Arial"/>
                          <a:cs typeface="Arial"/>
                        </a:rPr>
                        <a:t>E</a:t>
                      </a:r>
                      <a:endParaRPr sz="2400">
                        <a:latin typeface="Arial"/>
                        <a:cs typeface="Arial"/>
                      </a:endParaRPr>
                    </a:p>
                  </a:txBody>
                  <a:tcPr marL="0" marR="0" marT="6351" marB="0">
                    <a:lnT w="19050">
                      <a:solidFill>
                        <a:srgbClr val="000000"/>
                      </a:solidFill>
                      <a:prstDash val="solid"/>
                    </a:lnT>
                  </a:tcPr>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pPr>
                      <a:endParaRPr sz="2100">
                        <a:latin typeface="Times New Roman"/>
                        <a:cs typeface="Times New Roman"/>
                      </a:endParaRPr>
                    </a:p>
                  </a:txBody>
                  <a:tcPr marL="0" marR="0" marT="0" marB="0">
                    <a:lnB w="19050">
                      <a:solidFill>
                        <a:srgbClr val="000000"/>
                      </a:solidFill>
                      <a:prstDash val="solid"/>
                    </a:lnB>
                  </a:tcPr>
                </a:tc>
                <a:tc>
                  <a:txBody>
                    <a:bodyPr/>
                    <a:lstStyle/>
                    <a:p>
                      <a:pPr>
                        <a:lnSpc>
                          <a:spcPct val="100000"/>
                        </a:lnSpc>
                        <a:spcBef>
                          <a:spcPts val="50"/>
                        </a:spcBef>
                      </a:pPr>
                      <a:endParaRPr sz="3400">
                        <a:latin typeface="Times New Roman"/>
                        <a:cs typeface="Times New Roman"/>
                      </a:endParaRPr>
                    </a:p>
                    <a:p>
                      <a:pPr marL="92075">
                        <a:lnSpc>
                          <a:spcPct val="100000"/>
                        </a:lnSpc>
                      </a:pPr>
                      <a:r>
                        <a:rPr sz="2400" dirty="0">
                          <a:latin typeface="Symbol"/>
                          <a:cs typeface="Symbol"/>
                        </a:rPr>
                        <a:t></a:t>
                      </a:r>
                      <a:endParaRPr sz="2400">
                        <a:latin typeface="Symbol"/>
                        <a:cs typeface="Symbol"/>
                      </a:endParaRPr>
                    </a:p>
                    <a:p>
                      <a:pPr marL="92075">
                        <a:lnSpc>
                          <a:spcPct val="100000"/>
                        </a:lnSpc>
                        <a:spcBef>
                          <a:spcPts val="2525"/>
                        </a:spcBef>
                      </a:pPr>
                      <a:r>
                        <a:rPr sz="2400" i="1" dirty="0">
                          <a:latin typeface="Arial"/>
                          <a:cs typeface="Arial"/>
                        </a:rPr>
                        <a:t>E</a:t>
                      </a:r>
                      <a:endParaRPr sz="2400">
                        <a:latin typeface="Arial"/>
                        <a:cs typeface="Arial"/>
                      </a:endParaRPr>
                    </a:p>
                  </a:txBody>
                  <a:tcPr marL="0" marR="0" marT="6351" marB="0">
                    <a:lnB w="19050">
                      <a:solidFill>
                        <a:srgbClr val="000000"/>
                      </a:solidFill>
                      <a:prstDash val="solid"/>
                    </a:lnB>
                  </a:tcPr>
                </a:tc>
                <a:extLst>
                  <a:ext uri="{0D108BD9-81ED-4DB2-BD59-A6C34878D82A}">
                    <a16:rowId xmlns:a16="http://schemas.microsoft.com/office/drawing/2014/main" val="10001"/>
                  </a:ext>
                </a:extLst>
              </a:tr>
              <a:tr h="456613">
                <a:tc>
                  <a:txBody>
                    <a:bodyPr/>
                    <a:lstStyle/>
                    <a:p>
                      <a:pPr marL="38735">
                        <a:lnSpc>
                          <a:spcPct val="100000"/>
                        </a:lnSpc>
                        <a:spcBef>
                          <a:spcPts val="550"/>
                        </a:spcBef>
                      </a:pPr>
                      <a:r>
                        <a:rPr sz="2000" i="1" spc="-25" dirty="0">
                          <a:latin typeface="Arial"/>
                          <a:cs typeface="Arial"/>
                        </a:rPr>
                        <a:t>c</a:t>
                      </a:r>
                      <a:r>
                        <a:rPr sz="2000" i="1" spc="-37" baseline="-21367" dirty="0">
                          <a:latin typeface="Arial"/>
                          <a:cs typeface="Arial"/>
                        </a:rPr>
                        <a:t>1</a:t>
                      </a:r>
                      <a:endParaRPr sz="2000" baseline="-21367">
                        <a:latin typeface="Arial"/>
                        <a:cs typeface="Arial"/>
                      </a:endParaRPr>
                    </a:p>
                  </a:txBody>
                  <a:tcPr marL="0" marR="0" marT="69857" marB="0"/>
                </a:tc>
                <a:tc>
                  <a:txBody>
                    <a:bodyPr/>
                    <a:lstStyle/>
                    <a:p>
                      <a:pPr>
                        <a:lnSpc>
                          <a:spcPct val="100000"/>
                        </a:lnSpc>
                      </a:pPr>
                      <a:endParaRPr sz="2100">
                        <a:latin typeface="Times New Roman"/>
                        <a:cs typeface="Times New Roman"/>
                      </a:endParaRPr>
                    </a:p>
                  </a:txBody>
                  <a:tcPr marL="0" marR="0" marT="0" marB="0"/>
                </a:tc>
                <a:tc>
                  <a:txBody>
                    <a:bodyPr/>
                    <a:lstStyle/>
                    <a:p>
                      <a:pPr marL="33655">
                        <a:lnSpc>
                          <a:spcPct val="100000"/>
                        </a:lnSpc>
                        <a:spcBef>
                          <a:spcPts val="550"/>
                        </a:spcBef>
                      </a:pPr>
                      <a:r>
                        <a:rPr sz="2000" i="1" spc="-25" dirty="0">
                          <a:latin typeface="Arial"/>
                          <a:cs typeface="Arial"/>
                        </a:rPr>
                        <a:t>c</a:t>
                      </a:r>
                      <a:r>
                        <a:rPr sz="2000" i="1" spc="-37" baseline="-21367" dirty="0">
                          <a:latin typeface="Arial"/>
                          <a:cs typeface="Arial"/>
                        </a:rPr>
                        <a:t>2</a:t>
                      </a:r>
                      <a:endParaRPr sz="2000" baseline="-21367">
                        <a:latin typeface="Arial"/>
                        <a:cs typeface="Arial"/>
                      </a:endParaRPr>
                    </a:p>
                  </a:txBody>
                  <a:tcPr marL="0" marR="0" marT="69857" marB="0"/>
                </a:tc>
                <a:tc>
                  <a:txBody>
                    <a:bodyPr/>
                    <a:lstStyle/>
                    <a:p>
                      <a:pPr>
                        <a:lnSpc>
                          <a:spcPct val="100000"/>
                        </a:lnSpc>
                      </a:pPr>
                      <a:endParaRPr sz="2100">
                        <a:latin typeface="Times New Roman"/>
                        <a:cs typeface="Times New Roman"/>
                      </a:endParaRPr>
                    </a:p>
                  </a:txBody>
                  <a:tcPr marL="0" marR="0" marT="0" marB="0"/>
                </a:tc>
                <a:tc>
                  <a:txBody>
                    <a:bodyPr/>
                    <a:lstStyle/>
                    <a:p>
                      <a:pPr marL="28575">
                        <a:lnSpc>
                          <a:spcPct val="100000"/>
                        </a:lnSpc>
                        <a:spcBef>
                          <a:spcPts val="550"/>
                        </a:spcBef>
                      </a:pPr>
                      <a:r>
                        <a:rPr sz="2000" i="1" spc="-25" dirty="0">
                          <a:latin typeface="Arial"/>
                          <a:cs typeface="Arial"/>
                        </a:rPr>
                        <a:t>c</a:t>
                      </a:r>
                      <a:r>
                        <a:rPr sz="2000" i="1" spc="-37" baseline="-21367" dirty="0">
                          <a:latin typeface="Arial"/>
                          <a:cs typeface="Arial"/>
                        </a:rPr>
                        <a:t>3</a:t>
                      </a:r>
                      <a:endParaRPr sz="2000" baseline="-21367">
                        <a:latin typeface="Arial"/>
                        <a:cs typeface="Arial"/>
                      </a:endParaRPr>
                    </a:p>
                  </a:txBody>
                  <a:tcPr marL="0" marR="0" marT="69857" marB="0"/>
                </a:tc>
                <a:tc>
                  <a:txBody>
                    <a:bodyPr/>
                    <a:lstStyle/>
                    <a:p>
                      <a:pPr>
                        <a:lnSpc>
                          <a:spcPct val="100000"/>
                        </a:lnSpc>
                      </a:pPr>
                      <a:endParaRPr sz="2100">
                        <a:latin typeface="Times New Roman"/>
                        <a:cs typeface="Times New Roman"/>
                      </a:endParaRPr>
                    </a:p>
                  </a:txBody>
                  <a:tcPr marL="0" marR="0" marT="0" marB="0">
                    <a:lnR w="19050">
                      <a:solidFill>
                        <a:srgbClr val="000000"/>
                      </a:solidFill>
                      <a:prstDash val="solid"/>
                    </a:lnR>
                  </a:tcPr>
                </a:tc>
                <a:tc>
                  <a:txBody>
                    <a:bodyPr/>
                    <a:lstStyle/>
                    <a:p>
                      <a:pPr>
                        <a:lnSpc>
                          <a:spcPct val="100000"/>
                        </a:lnSpc>
                      </a:pPr>
                      <a:endParaRPr sz="2100">
                        <a:latin typeface="Times New Roman"/>
                        <a:cs typeface="Times New Roman"/>
                      </a:endParaRPr>
                    </a:p>
                  </a:txBody>
                  <a:tcPr marL="0" marR="0" marT="0" marB="0">
                    <a:lnL w="19050">
                      <a:solidFill>
                        <a:srgbClr val="000000"/>
                      </a:solidFill>
                      <a:prstDash val="solid"/>
                    </a:lnL>
                    <a:lnT w="19050">
                      <a:solidFill>
                        <a:srgbClr val="000000"/>
                      </a:solidFill>
                      <a:prstDash val="solid"/>
                    </a:lnT>
                    <a:lnB w="19050">
                      <a:solidFill>
                        <a:srgbClr val="000000"/>
                      </a:solidFill>
                      <a:prstDash val="solid"/>
                    </a:lnB>
                    <a:solidFill>
                      <a:srgbClr val="00CC98"/>
                    </a:solidFill>
                  </a:tcPr>
                </a:tc>
                <a:tc>
                  <a:txBody>
                    <a:bodyPr/>
                    <a:lstStyle/>
                    <a:p>
                      <a:pPr marL="55880">
                        <a:lnSpc>
                          <a:spcPct val="100000"/>
                        </a:lnSpc>
                        <a:spcBef>
                          <a:spcPts val="550"/>
                        </a:spcBef>
                      </a:pPr>
                      <a:r>
                        <a:rPr sz="2000" i="1" dirty="0">
                          <a:latin typeface="Arial"/>
                          <a:cs typeface="Arial"/>
                        </a:rPr>
                        <a:t>c</a:t>
                      </a:r>
                      <a:r>
                        <a:rPr sz="2000" i="1" baseline="-21367" dirty="0">
                          <a:latin typeface="Arial"/>
                          <a:cs typeface="Arial"/>
                        </a:rPr>
                        <a:t>4</a:t>
                      </a:r>
                      <a:r>
                        <a:rPr sz="2000" i="1" dirty="0">
                          <a:latin typeface="Arial"/>
                          <a:cs typeface="Arial"/>
                        </a:rPr>
                        <a:t>:</a:t>
                      </a:r>
                      <a:r>
                        <a:rPr sz="2000" spc="10" dirty="0">
                          <a:latin typeface="Times New Roman"/>
                          <a:cs typeface="Times New Roman"/>
                        </a:rPr>
                        <a:t> </a:t>
                      </a:r>
                      <a:r>
                        <a:rPr sz="2000" i="1" dirty="0">
                          <a:latin typeface="Arial"/>
                          <a:cs typeface="Arial"/>
                        </a:rPr>
                        <a:t>CBC</a:t>
                      </a:r>
                      <a:r>
                        <a:rPr sz="2000" spc="60" dirty="0">
                          <a:latin typeface="Times New Roman"/>
                          <a:cs typeface="Times New Roman"/>
                        </a:rPr>
                        <a:t> </a:t>
                      </a:r>
                      <a:r>
                        <a:rPr sz="2000" i="1" spc="-10" dirty="0">
                          <a:latin typeface="Arial"/>
                          <a:cs typeface="Arial"/>
                        </a:rPr>
                        <a:t>Residue</a:t>
                      </a:r>
                      <a:endParaRPr sz="2000">
                        <a:latin typeface="Arial"/>
                        <a:cs typeface="Arial"/>
                      </a:endParaRPr>
                    </a:p>
                  </a:txBody>
                  <a:tcPr marL="0" marR="0" marT="69857" marB="0">
                    <a:lnR w="19050">
                      <a:solidFill>
                        <a:srgbClr val="000000"/>
                      </a:solidFill>
                      <a:prstDash val="solid"/>
                    </a:lnR>
                    <a:lnT w="19050">
                      <a:solidFill>
                        <a:srgbClr val="000000"/>
                      </a:solidFill>
                      <a:prstDash val="solid"/>
                    </a:lnT>
                    <a:lnB w="19050">
                      <a:solidFill>
                        <a:srgbClr val="000000"/>
                      </a:solidFill>
                      <a:prstDash val="solid"/>
                    </a:lnB>
                    <a:solidFill>
                      <a:srgbClr val="00CC98"/>
                    </a:solidFill>
                  </a:tcPr>
                </a:tc>
                <a:extLst>
                  <a:ext uri="{0D108BD9-81ED-4DB2-BD59-A6C34878D82A}">
                    <a16:rowId xmlns:a16="http://schemas.microsoft.com/office/drawing/2014/main" val="10002"/>
                  </a:ext>
                </a:extLst>
              </a:tr>
            </a:tbl>
          </a:graphicData>
        </a:graphic>
      </p:graphicFrame>
      <p:sp>
        <p:nvSpPr>
          <p:cNvPr id="7218" name="object 21">
            <a:extLst>
              <a:ext uri="{FF2B5EF4-FFF2-40B4-BE49-F238E27FC236}">
                <a16:creationId xmlns:a16="http://schemas.microsoft.com/office/drawing/2014/main" id="{06DD4D5E-D4E4-472A-950E-E6FD94EB32B7}"/>
              </a:ext>
            </a:extLst>
          </p:cNvPr>
          <p:cNvSpPr>
            <a:spLocks/>
          </p:cNvSpPr>
          <p:nvPr/>
        </p:nvSpPr>
        <p:spPr bwMode="auto">
          <a:xfrm>
            <a:off x="7008813" y="3276600"/>
            <a:ext cx="76200" cy="609600"/>
          </a:xfrm>
          <a:custGeom>
            <a:avLst/>
            <a:gdLst>
              <a:gd name="T0" fmla="*/ 31735 w 76200"/>
              <a:gd name="T1" fmla="*/ 533400 h 609600"/>
              <a:gd name="T2" fmla="*/ 0 w 76200"/>
              <a:gd name="T3" fmla="*/ 533400 h 609600"/>
              <a:gd name="T4" fmla="*/ 38100 w 76200"/>
              <a:gd name="T5" fmla="*/ 609600 h 609600"/>
              <a:gd name="T6" fmla="*/ 69847 w 76200"/>
              <a:gd name="T7" fmla="*/ 546104 h 609600"/>
              <a:gd name="T8" fmla="*/ 31735 w 76200"/>
              <a:gd name="T9" fmla="*/ 546104 h 609600"/>
              <a:gd name="T10" fmla="*/ 31735 w 76200"/>
              <a:gd name="T11" fmla="*/ 533400 h 609600"/>
              <a:gd name="T12" fmla="*/ 44439 w 76200"/>
              <a:gd name="T13" fmla="*/ 0 h 609600"/>
              <a:gd name="T14" fmla="*/ 31735 w 76200"/>
              <a:gd name="T15" fmla="*/ 0 h 609600"/>
              <a:gd name="T16" fmla="*/ 31735 w 76200"/>
              <a:gd name="T17" fmla="*/ 546104 h 609600"/>
              <a:gd name="T18" fmla="*/ 44439 w 76200"/>
              <a:gd name="T19" fmla="*/ 546104 h 609600"/>
              <a:gd name="T20" fmla="*/ 44439 w 76200"/>
              <a:gd name="T21" fmla="*/ 0 h 609600"/>
              <a:gd name="T22" fmla="*/ 76200 w 76200"/>
              <a:gd name="T23" fmla="*/ 533400 h 609600"/>
              <a:gd name="T24" fmla="*/ 44439 w 76200"/>
              <a:gd name="T25" fmla="*/ 533400 h 609600"/>
              <a:gd name="T26" fmla="*/ 44439 w 76200"/>
              <a:gd name="T27" fmla="*/ 546104 h 609600"/>
              <a:gd name="T28" fmla="*/ 69847 w 76200"/>
              <a:gd name="T29" fmla="*/ 546104 h 609600"/>
              <a:gd name="T30" fmla="*/ 76200 w 76200"/>
              <a:gd name="T31" fmla="*/ 533400 h 609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200" h="609600">
                <a:moveTo>
                  <a:pt x="31735" y="533400"/>
                </a:moveTo>
                <a:lnTo>
                  <a:pt x="0" y="533400"/>
                </a:lnTo>
                <a:lnTo>
                  <a:pt x="38100" y="609600"/>
                </a:lnTo>
                <a:lnTo>
                  <a:pt x="69847" y="546104"/>
                </a:lnTo>
                <a:lnTo>
                  <a:pt x="31735" y="546104"/>
                </a:lnTo>
                <a:lnTo>
                  <a:pt x="31735" y="533400"/>
                </a:lnTo>
                <a:close/>
              </a:path>
              <a:path w="76200" h="609600">
                <a:moveTo>
                  <a:pt x="44439" y="0"/>
                </a:moveTo>
                <a:lnTo>
                  <a:pt x="31735" y="0"/>
                </a:lnTo>
                <a:lnTo>
                  <a:pt x="31735" y="546104"/>
                </a:lnTo>
                <a:lnTo>
                  <a:pt x="44439" y="546104"/>
                </a:lnTo>
                <a:lnTo>
                  <a:pt x="44439" y="0"/>
                </a:lnTo>
                <a:close/>
              </a:path>
              <a:path w="76200" h="609600">
                <a:moveTo>
                  <a:pt x="76200" y="533400"/>
                </a:moveTo>
                <a:lnTo>
                  <a:pt x="44439" y="533400"/>
                </a:lnTo>
                <a:lnTo>
                  <a:pt x="44439" y="546104"/>
                </a:lnTo>
                <a:lnTo>
                  <a:pt x="69847" y="546104"/>
                </a:lnTo>
                <a:lnTo>
                  <a:pt x="76200" y="5334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219" name="object 22">
            <a:extLst>
              <a:ext uri="{FF2B5EF4-FFF2-40B4-BE49-F238E27FC236}">
                <a16:creationId xmlns:a16="http://schemas.microsoft.com/office/drawing/2014/main" id="{4A8CBB61-8315-4871-BDFB-D48ACC7CF6E9}"/>
              </a:ext>
            </a:extLst>
          </p:cNvPr>
          <p:cNvSpPr>
            <a:spLocks/>
          </p:cNvSpPr>
          <p:nvPr/>
        </p:nvSpPr>
        <p:spPr bwMode="auto">
          <a:xfrm>
            <a:off x="4113213" y="3276600"/>
            <a:ext cx="76200" cy="609600"/>
          </a:xfrm>
          <a:custGeom>
            <a:avLst/>
            <a:gdLst>
              <a:gd name="T0" fmla="*/ 31754 w 76200"/>
              <a:gd name="T1" fmla="*/ 533400 h 609600"/>
              <a:gd name="T2" fmla="*/ 0 w 76200"/>
              <a:gd name="T3" fmla="*/ 533400 h 609600"/>
              <a:gd name="T4" fmla="*/ 38100 w 76200"/>
              <a:gd name="T5" fmla="*/ 609600 h 609600"/>
              <a:gd name="T6" fmla="*/ 69847 w 76200"/>
              <a:gd name="T7" fmla="*/ 546104 h 609600"/>
              <a:gd name="T8" fmla="*/ 31754 w 76200"/>
              <a:gd name="T9" fmla="*/ 546104 h 609600"/>
              <a:gd name="T10" fmla="*/ 31754 w 76200"/>
              <a:gd name="T11" fmla="*/ 533400 h 609600"/>
              <a:gd name="T12" fmla="*/ 44458 w 76200"/>
              <a:gd name="T13" fmla="*/ 0 h 609600"/>
              <a:gd name="T14" fmla="*/ 31754 w 76200"/>
              <a:gd name="T15" fmla="*/ 0 h 609600"/>
              <a:gd name="T16" fmla="*/ 31754 w 76200"/>
              <a:gd name="T17" fmla="*/ 546104 h 609600"/>
              <a:gd name="T18" fmla="*/ 44458 w 76200"/>
              <a:gd name="T19" fmla="*/ 546104 h 609600"/>
              <a:gd name="T20" fmla="*/ 44458 w 76200"/>
              <a:gd name="T21" fmla="*/ 0 h 609600"/>
              <a:gd name="T22" fmla="*/ 76200 w 76200"/>
              <a:gd name="T23" fmla="*/ 533400 h 609600"/>
              <a:gd name="T24" fmla="*/ 44458 w 76200"/>
              <a:gd name="T25" fmla="*/ 533400 h 609600"/>
              <a:gd name="T26" fmla="*/ 44458 w 76200"/>
              <a:gd name="T27" fmla="*/ 546104 h 609600"/>
              <a:gd name="T28" fmla="*/ 69847 w 76200"/>
              <a:gd name="T29" fmla="*/ 546104 h 609600"/>
              <a:gd name="T30" fmla="*/ 76200 w 76200"/>
              <a:gd name="T31" fmla="*/ 533400 h 609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200" h="609600">
                <a:moveTo>
                  <a:pt x="31754" y="533400"/>
                </a:moveTo>
                <a:lnTo>
                  <a:pt x="0" y="533400"/>
                </a:lnTo>
                <a:lnTo>
                  <a:pt x="38100" y="609600"/>
                </a:lnTo>
                <a:lnTo>
                  <a:pt x="69847" y="546104"/>
                </a:lnTo>
                <a:lnTo>
                  <a:pt x="31754" y="546104"/>
                </a:lnTo>
                <a:lnTo>
                  <a:pt x="31754" y="533400"/>
                </a:lnTo>
                <a:close/>
              </a:path>
              <a:path w="76200" h="609600">
                <a:moveTo>
                  <a:pt x="44458" y="0"/>
                </a:moveTo>
                <a:lnTo>
                  <a:pt x="31754" y="0"/>
                </a:lnTo>
                <a:lnTo>
                  <a:pt x="31754" y="546104"/>
                </a:lnTo>
                <a:lnTo>
                  <a:pt x="44458" y="546104"/>
                </a:lnTo>
                <a:lnTo>
                  <a:pt x="44458" y="0"/>
                </a:lnTo>
                <a:close/>
              </a:path>
              <a:path w="76200" h="609600">
                <a:moveTo>
                  <a:pt x="76200" y="533400"/>
                </a:moveTo>
                <a:lnTo>
                  <a:pt x="44458" y="533400"/>
                </a:lnTo>
                <a:lnTo>
                  <a:pt x="44458" y="546104"/>
                </a:lnTo>
                <a:lnTo>
                  <a:pt x="69847" y="546104"/>
                </a:lnTo>
                <a:lnTo>
                  <a:pt x="76200" y="5334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220" name="object 23">
            <a:extLst>
              <a:ext uri="{FF2B5EF4-FFF2-40B4-BE49-F238E27FC236}">
                <a16:creationId xmlns:a16="http://schemas.microsoft.com/office/drawing/2014/main" id="{87B50A89-CC32-4D8E-A8E2-D57DCC522BA8}"/>
              </a:ext>
            </a:extLst>
          </p:cNvPr>
          <p:cNvSpPr>
            <a:spLocks/>
          </p:cNvSpPr>
          <p:nvPr/>
        </p:nvSpPr>
        <p:spPr bwMode="auto">
          <a:xfrm>
            <a:off x="4113213" y="2590800"/>
            <a:ext cx="76200" cy="381000"/>
          </a:xfrm>
          <a:custGeom>
            <a:avLst/>
            <a:gdLst>
              <a:gd name="T0" fmla="*/ 31754 w 76200"/>
              <a:gd name="T1" fmla="*/ 304793 h 381000"/>
              <a:gd name="T2" fmla="*/ 0 w 76200"/>
              <a:gd name="T3" fmla="*/ 304793 h 381000"/>
              <a:gd name="T4" fmla="*/ 38100 w 76200"/>
              <a:gd name="T5" fmla="*/ 380993 h 381000"/>
              <a:gd name="T6" fmla="*/ 69844 w 76200"/>
              <a:gd name="T7" fmla="*/ 317504 h 381000"/>
              <a:gd name="T8" fmla="*/ 31754 w 76200"/>
              <a:gd name="T9" fmla="*/ 317504 h 381000"/>
              <a:gd name="T10" fmla="*/ 31754 w 76200"/>
              <a:gd name="T11" fmla="*/ 304793 h 381000"/>
              <a:gd name="T12" fmla="*/ 44458 w 76200"/>
              <a:gd name="T13" fmla="*/ 0 h 381000"/>
              <a:gd name="T14" fmla="*/ 31754 w 76200"/>
              <a:gd name="T15" fmla="*/ 0 h 381000"/>
              <a:gd name="T16" fmla="*/ 31754 w 76200"/>
              <a:gd name="T17" fmla="*/ 317504 h 381000"/>
              <a:gd name="T18" fmla="*/ 44458 w 76200"/>
              <a:gd name="T19" fmla="*/ 317504 h 381000"/>
              <a:gd name="T20" fmla="*/ 44458 w 76200"/>
              <a:gd name="T21" fmla="*/ 0 h 381000"/>
              <a:gd name="T22" fmla="*/ 76200 w 76200"/>
              <a:gd name="T23" fmla="*/ 304793 h 381000"/>
              <a:gd name="T24" fmla="*/ 44458 w 76200"/>
              <a:gd name="T25" fmla="*/ 304793 h 381000"/>
              <a:gd name="T26" fmla="*/ 44458 w 76200"/>
              <a:gd name="T27" fmla="*/ 317504 h 381000"/>
              <a:gd name="T28" fmla="*/ 69844 w 76200"/>
              <a:gd name="T29" fmla="*/ 317504 h 381000"/>
              <a:gd name="T30" fmla="*/ 76200 w 76200"/>
              <a:gd name="T31" fmla="*/ 304793 h 381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200" h="381000">
                <a:moveTo>
                  <a:pt x="31754" y="304793"/>
                </a:moveTo>
                <a:lnTo>
                  <a:pt x="0" y="304793"/>
                </a:lnTo>
                <a:lnTo>
                  <a:pt x="38100" y="380993"/>
                </a:lnTo>
                <a:lnTo>
                  <a:pt x="69844" y="317504"/>
                </a:lnTo>
                <a:lnTo>
                  <a:pt x="31754" y="317504"/>
                </a:lnTo>
                <a:lnTo>
                  <a:pt x="31754" y="304793"/>
                </a:lnTo>
                <a:close/>
              </a:path>
              <a:path w="76200" h="381000">
                <a:moveTo>
                  <a:pt x="44458" y="0"/>
                </a:moveTo>
                <a:lnTo>
                  <a:pt x="31754" y="0"/>
                </a:lnTo>
                <a:lnTo>
                  <a:pt x="31754" y="317504"/>
                </a:lnTo>
                <a:lnTo>
                  <a:pt x="44458" y="317504"/>
                </a:lnTo>
                <a:lnTo>
                  <a:pt x="44458" y="0"/>
                </a:lnTo>
                <a:close/>
              </a:path>
              <a:path w="76200" h="381000">
                <a:moveTo>
                  <a:pt x="76200" y="304793"/>
                </a:moveTo>
                <a:lnTo>
                  <a:pt x="44458" y="304793"/>
                </a:lnTo>
                <a:lnTo>
                  <a:pt x="44458" y="317504"/>
                </a:lnTo>
                <a:lnTo>
                  <a:pt x="69844" y="317504"/>
                </a:lnTo>
                <a:lnTo>
                  <a:pt x="76200" y="3047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221" name="object 24">
            <a:extLst>
              <a:ext uri="{FF2B5EF4-FFF2-40B4-BE49-F238E27FC236}">
                <a16:creationId xmlns:a16="http://schemas.microsoft.com/office/drawing/2014/main" id="{3577E284-AC46-490F-B14F-66CCDE9F05F0}"/>
              </a:ext>
            </a:extLst>
          </p:cNvPr>
          <p:cNvSpPr>
            <a:spLocks/>
          </p:cNvSpPr>
          <p:nvPr/>
        </p:nvSpPr>
        <p:spPr bwMode="auto">
          <a:xfrm>
            <a:off x="7008813" y="2590800"/>
            <a:ext cx="76200" cy="381000"/>
          </a:xfrm>
          <a:custGeom>
            <a:avLst/>
            <a:gdLst>
              <a:gd name="T0" fmla="*/ 31735 w 76200"/>
              <a:gd name="T1" fmla="*/ 304793 h 381000"/>
              <a:gd name="T2" fmla="*/ 0 w 76200"/>
              <a:gd name="T3" fmla="*/ 304793 h 381000"/>
              <a:gd name="T4" fmla="*/ 38100 w 76200"/>
              <a:gd name="T5" fmla="*/ 380993 h 381000"/>
              <a:gd name="T6" fmla="*/ 69844 w 76200"/>
              <a:gd name="T7" fmla="*/ 317504 h 381000"/>
              <a:gd name="T8" fmla="*/ 31735 w 76200"/>
              <a:gd name="T9" fmla="*/ 317504 h 381000"/>
              <a:gd name="T10" fmla="*/ 31735 w 76200"/>
              <a:gd name="T11" fmla="*/ 304793 h 381000"/>
              <a:gd name="T12" fmla="*/ 44439 w 76200"/>
              <a:gd name="T13" fmla="*/ 0 h 381000"/>
              <a:gd name="T14" fmla="*/ 31735 w 76200"/>
              <a:gd name="T15" fmla="*/ 0 h 381000"/>
              <a:gd name="T16" fmla="*/ 31735 w 76200"/>
              <a:gd name="T17" fmla="*/ 317504 h 381000"/>
              <a:gd name="T18" fmla="*/ 44439 w 76200"/>
              <a:gd name="T19" fmla="*/ 317504 h 381000"/>
              <a:gd name="T20" fmla="*/ 44439 w 76200"/>
              <a:gd name="T21" fmla="*/ 0 h 381000"/>
              <a:gd name="T22" fmla="*/ 76200 w 76200"/>
              <a:gd name="T23" fmla="*/ 304793 h 381000"/>
              <a:gd name="T24" fmla="*/ 44439 w 76200"/>
              <a:gd name="T25" fmla="*/ 304793 h 381000"/>
              <a:gd name="T26" fmla="*/ 44439 w 76200"/>
              <a:gd name="T27" fmla="*/ 317504 h 381000"/>
              <a:gd name="T28" fmla="*/ 69844 w 76200"/>
              <a:gd name="T29" fmla="*/ 317504 h 381000"/>
              <a:gd name="T30" fmla="*/ 76200 w 76200"/>
              <a:gd name="T31" fmla="*/ 304793 h 381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200" h="381000">
                <a:moveTo>
                  <a:pt x="31735" y="304793"/>
                </a:moveTo>
                <a:lnTo>
                  <a:pt x="0" y="304793"/>
                </a:lnTo>
                <a:lnTo>
                  <a:pt x="38100" y="380993"/>
                </a:lnTo>
                <a:lnTo>
                  <a:pt x="69844" y="317504"/>
                </a:lnTo>
                <a:lnTo>
                  <a:pt x="31735" y="317504"/>
                </a:lnTo>
                <a:lnTo>
                  <a:pt x="31735" y="304793"/>
                </a:lnTo>
                <a:close/>
              </a:path>
              <a:path w="76200" h="381000">
                <a:moveTo>
                  <a:pt x="44439" y="0"/>
                </a:moveTo>
                <a:lnTo>
                  <a:pt x="31735" y="0"/>
                </a:lnTo>
                <a:lnTo>
                  <a:pt x="31735" y="317504"/>
                </a:lnTo>
                <a:lnTo>
                  <a:pt x="44439" y="317504"/>
                </a:lnTo>
                <a:lnTo>
                  <a:pt x="44439" y="0"/>
                </a:lnTo>
                <a:close/>
              </a:path>
              <a:path w="76200" h="381000">
                <a:moveTo>
                  <a:pt x="76200" y="304793"/>
                </a:moveTo>
                <a:lnTo>
                  <a:pt x="44439" y="304793"/>
                </a:lnTo>
                <a:lnTo>
                  <a:pt x="44439" y="317504"/>
                </a:lnTo>
                <a:lnTo>
                  <a:pt x="69844" y="317504"/>
                </a:lnTo>
                <a:lnTo>
                  <a:pt x="76200" y="3047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222" name="object 25">
            <a:extLst>
              <a:ext uri="{FF2B5EF4-FFF2-40B4-BE49-F238E27FC236}">
                <a16:creationId xmlns:a16="http://schemas.microsoft.com/office/drawing/2014/main" id="{C40F7C7A-5DAD-446E-B5DC-2FD3215BD893}"/>
              </a:ext>
            </a:extLst>
          </p:cNvPr>
          <p:cNvSpPr>
            <a:spLocks/>
          </p:cNvSpPr>
          <p:nvPr/>
        </p:nvSpPr>
        <p:spPr bwMode="auto">
          <a:xfrm>
            <a:off x="6018213" y="2590800"/>
            <a:ext cx="76200" cy="381000"/>
          </a:xfrm>
          <a:custGeom>
            <a:avLst/>
            <a:gdLst>
              <a:gd name="T0" fmla="*/ 31735 w 76200"/>
              <a:gd name="T1" fmla="*/ 304793 h 381000"/>
              <a:gd name="T2" fmla="*/ 0 w 76200"/>
              <a:gd name="T3" fmla="*/ 304793 h 381000"/>
              <a:gd name="T4" fmla="*/ 38100 w 76200"/>
              <a:gd name="T5" fmla="*/ 380993 h 381000"/>
              <a:gd name="T6" fmla="*/ 69844 w 76200"/>
              <a:gd name="T7" fmla="*/ 317504 h 381000"/>
              <a:gd name="T8" fmla="*/ 31735 w 76200"/>
              <a:gd name="T9" fmla="*/ 317504 h 381000"/>
              <a:gd name="T10" fmla="*/ 31735 w 76200"/>
              <a:gd name="T11" fmla="*/ 304793 h 381000"/>
              <a:gd name="T12" fmla="*/ 44439 w 76200"/>
              <a:gd name="T13" fmla="*/ 0 h 381000"/>
              <a:gd name="T14" fmla="*/ 31735 w 76200"/>
              <a:gd name="T15" fmla="*/ 0 h 381000"/>
              <a:gd name="T16" fmla="*/ 31735 w 76200"/>
              <a:gd name="T17" fmla="*/ 317504 h 381000"/>
              <a:gd name="T18" fmla="*/ 44439 w 76200"/>
              <a:gd name="T19" fmla="*/ 317504 h 381000"/>
              <a:gd name="T20" fmla="*/ 44439 w 76200"/>
              <a:gd name="T21" fmla="*/ 0 h 381000"/>
              <a:gd name="T22" fmla="*/ 76200 w 76200"/>
              <a:gd name="T23" fmla="*/ 304793 h 381000"/>
              <a:gd name="T24" fmla="*/ 44439 w 76200"/>
              <a:gd name="T25" fmla="*/ 304793 h 381000"/>
              <a:gd name="T26" fmla="*/ 44439 w 76200"/>
              <a:gd name="T27" fmla="*/ 317504 h 381000"/>
              <a:gd name="T28" fmla="*/ 69844 w 76200"/>
              <a:gd name="T29" fmla="*/ 317504 h 381000"/>
              <a:gd name="T30" fmla="*/ 76200 w 76200"/>
              <a:gd name="T31" fmla="*/ 304793 h 381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200" h="381000">
                <a:moveTo>
                  <a:pt x="31735" y="304793"/>
                </a:moveTo>
                <a:lnTo>
                  <a:pt x="0" y="304793"/>
                </a:lnTo>
                <a:lnTo>
                  <a:pt x="38100" y="380993"/>
                </a:lnTo>
                <a:lnTo>
                  <a:pt x="69844" y="317504"/>
                </a:lnTo>
                <a:lnTo>
                  <a:pt x="31735" y="317504"/>
                </a:lnTo>
                <a:lnTo>
                  <a:pt x="31735" y="304793"/>
                </a:lnTo>
                <a:close/>
              </a:path>
              <a:path w="76200" h="381000">
                <a:moveTo>
                  <a:pt x="44439" y="0"/>
                </a:moveTo>
                <a:lnTo>
                  <a:pt x="31735" y="0"/>
                </a:lnTo>
                <a:lnTo>
                  <a:pt x="31735" y="317504"/>
                </a:lnTo>
                <a:lnTo>
                  <a:pt x="44439" y="317504"/>
                </a:lnTo>
                <a:lnTo>
                  <a:pt x="44439" y="0"/>
                </a:lnTo>
                <a:close/>
              </a:path>
              <a:path w="76200" h="381000">
                <a:moveTo>
                  <a:pt x="76200" y="304793"/>
                </a:moveTo>
                <a:lnTo>
                  <a:pt x="44439" y="304793"/>
                </a:lnTo>
                <a:lnTo>
                  <a:pt x="44439" y="317504"/>
                </a:lnTo>
                <a:lnTo>
                  <a:pt x="69844" y="317504"/>
                </a:lnTo>
                <a:lnTo>
                  <a:pt x="76200" y="3047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223" name="object 26">
            <a:extLst>
              <a:ext uri="{FF2B5EF4-FFF2-40B4-BE49-F238E27FC236}">
                <a16:creationId xmlns:a16="http://schemas.microsoft.com/office/drawing/2014/main" id="{D34C0808-2839-4CCA-ADFE-4106B02CFBBF}"/>
              </a:ext>
            </a:extLst>
          </p:cNvPr>
          <p:cNvSpPr>
            <a:spLocks/>
          </p:cNvSpPr>
          <p:nvPr/>
        </p:nvSpPr>
        <p:spPr bwMode="auto">
          <a:xfrm>
            <a:off x="4951413" y="2590800"/>
            <a:ext cx="76200" cy="381000"/>
          </a:xfrm>
          <a:custGeom>
            <a:avLst/>
            <a:gdLst>
              <a:gd name="T0" fmla="*/ 31735 w 76200"/>
              <a:gd name="T1" fmla="*/ 304793 h 381000"/>
              <a:gd name="T2" fmla="*/ 0 w 76200"/>
              <a:gd name="T3" fmla="*/ 304793 h 381000"/>
              <a:gd name="T4" fmla="*/ 38100 w 76200"/>
              <a:gd name="T5" fmla="*/ 380993 h 381000"/>
              <a:gd name="T6" fmla="*/ 69844 w 76200"/>
              <a:gd name="T7" fmla="*/ 317504 h 381000"/>
              <a:gd name="T8" fmla="*/ 31735 w 76200"/>
              <a:gd name="T9" fmla="*/ 317504 h 381000"/>
              <a:gd name="T10" fmla="*/ 31735 w 76200"/>
              <a:gd name="T11" fmla="*/ 304793 h 381000"/>
              <a:gd name="T12" fmla="*/ 44439 w 76200"/>
              <a:gd name="T13" fmla="*/ 0 h 381000"/>
              <a:gd name="T14" fmla="*/ 31735 w 76200"/>
              <a:gd name="T15" fmla="*/ 0 h 381000"/>
              <a:gd name="T16" fmla="*/ 31735 w 76200"/>
              <a:gd name="T17" fmla="*/ 317504 h 381000"/>
              <a:gd name="T18" fmla="*/ 44439 w 76200"/>
              <a:gd name="T19" fmla="*/ 317504 h 381000"/>
              <a:gd name="T20" fmla="*/ 44439 w 76200"/>
              <a:gd name="T21" fmla="*/ 0 h 381000"/>
              <a:gd name="T22" fmla="*/ 76200 w 76200"/>
              <a:gd name="T23" fmla="*/ 304793 h 381000"/>
              <a:gd name="T24" fmla="*/ 44439 w 76200"/>
              <a:gd name="T25" fmla="*/ 304793 h 381000"/>
              <a:gd name="T26" fmla="*/ 44439 w 76200"/>
              <a:gd name="T27" fmla="*/ 317504 h 381000"/>
              <a:gd name="T28" fmla="*/ 69844 w 76200"/>
              <a:gd name="T29" fmla="*/ 317504 h 381000"/>
              <a:gd name="T30" fmla="*/ 76200 w 76200"/>
              <a:gd name="T31" fmla="*/ 304793 h 381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200" h="381000">
                <a:moveTo>
                  <a:pt x="31735" y="304793"/>
                </a:moveTo>
                <a:lnTo>
                  <a:pt x="0" y="304793"/>
                </a:lnTo>
                <a:lnTo>
                  <a:pt x="38100" y="380993"/>
                </a:lnTo>
                <a:lnTo>
                  <a:pt x="69844" y="317504"/>
                </a:lnTo>
                <a:lnTo>
                  <a:pt x="31735" y="317504"/>
                </a:lnTo>
                <a:lnTo>
                  <a:pt x="31735" y="304793"/>
                </a:lnTo>
                <a:close/>
              </a:path>
              <a:path w="76200" h="381000">
                <a:moveTo>
                  <a:pt x="44439" y="0"/>
                </a:moveTo>
                <a:lnTo>
                  <a:pt x="31735" y="0"/>
                </a:lnTo>
                <a:lnTo>
                  <a:pt x="31735" y="317504"/>
                </a:lnTo>
                <a:lnTo>
                  <a:pt x="44439" y="317504"/>
                </a:lnTo>
                <a:lnTo>
                  <a:pt x="44439" y="0"/>
                </a:lnTo>
                <a:close/>
              </a:path>
              <a:path w="76200" h="381000">
                <a:moveTo>
                  <a:pt x="76200" y="304793"/>
                </a:moveTo>
                <a:lnTo>
                  <a:pt x="44439" y="304793"/>
                </a:lnTo>
                <a:lnTo>
                  <a:pt x="44439" y="317504"/>
                </a:lnTo>
                <a:lnTo>
                  <a:pt x="69844" y="317504"/>
                </a:lnTo>
                <a:lnTo>
                  <a:pt x="76200" y="3047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224" name="object 27">
            <a:extLst>
              <a:ext uri="{FF2B5EF4-FFF2-40B4-BE49-F238E27FC236}">
                <a16:creationId xmlns:a16="http://schemas.microsoft.com/office/drawing/2014/main" id="{920C5CF9-112E-415E-AD2D-2C65E2ED421C}"/>
              </a:ext>
            </a:extLst>
          </p:cNvPr>
          <p:cNvSpPr>
            <a:spLocks/>
          </p:cNvSpPr>
          <p:nvPr/>
        </p:nvSpPr>
        <p:spPr bwMode="auto">
          <a:xfrm>
            <a:off x="4297363" y="2514601"/>
            <a:ext cx="730250" cy="1374775"/>
          </a:xfrm>
          <a:custGeom>
            <a:avLst/>
            <a:gdLst>
              <a:gd name="T0" fmla="*/ 547230 w 730250"/>
              <a:gd name="T1" fmla="*/ 84836 h 1374139"/>
              <a:gd name="T2" fmla="*/ 544601 w 730250"/>
              <a:gd name="T3" fmla="*/ 56908 h 1374139"/>
              <a:gd name="T4" fmla="*/ 539242 w 730250"/>
              <a:gd name="T5" fmla="*/ 0 h 1374139"/>
              <a:gd name="T6" fmla="*/ 476123 w 730250"/>
              <a:gd name="T7" fmla="*/ 57150 h 1374139"/>
              <a:gd name="T8" fmla="*/ 505815 w 730250"/>
              <a:gd name="T9" fmla="*/ 68719 h 1374139"/>
              <a:gd name="T10" fmla="*/ 0 w 730250"/>
              <a:gd name="T11" fmla="*/ 1369314 h 1374139"/>
              <a:gd name="T12" fmla="*/ 11811 w 730250"/>
              <a:gd name="T13" fmla="*/ 1373886 h 1374139"/>
              <a:gd name="T14" fmla="*/ 517626 w 730250"/>
              <a:gd name="T15" fmla="*/ 73317 h 1374139"/>
              <a:gd name="T16" fmla="*/ 547230 w 730250"/>
              <a:gd name="T17" fmla="*/ 84836 h 1374139"/>
              <a:gd name="T18" fmla="*/ 729742 w 730250"/>
              <a:gd name="T19" fmla="*/ 1295400 h 1374139"/>
              <a:gd name="T20" fmla="*/ 697979 w 730250"/>
              <a:gd name="T21" fmla="*/ 1295400 h 1374139"/>
              <a:gd name="T22" fmla="*/ 697979 w 730250"/>
              <a:gd name="T23" fmla="*/ 762000 h 1374139"/>
              <a:gd name="T24" fmla="*/ 685279 w 730250"/>
              <a:gd name="T25" fmla="*/ 762000 h 1374139"/>
              <a:gd name="T26" fmla="*/ 685279 w 730250"/>
              <a:gd name="T27" fmla="*/ 1295400 h 1374139"/>
              <a:gd name="T28" fmla="*/ 653542 w 730250"/>
              <a:gd name="T29" fmla="*/ 1295400 h 1374139"/>
              <a:gd name="T30" fmla="*/ 691642 w 730250"/>
              <a:gd name="T31" fmla="*/ 1371600 h 1374139"/>
              <a:gd name="T32" fmla="*/ 723392 w 730250"/>
              <a:gd name="T33" fmla="*/ 1308112 h 1374139"/>
              <a:gd name="T34" fmla="*/ 729742 w 730250"/>
              <a:gd name="T35" fmla="*/ 1295400 h 1374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0250" h="1374139">
                <a:moveTo>
                  <a:pt x="547230" y="84836"/>
                </a:moveTo>
                <a:lnTo>
                  <a:pt x="544601" y="56908"/>
                </a:lnTo>
                <a:lnTo>
                  <a:pt x="539242" y="0"/>
                </a:lnTo>
                <a:lnTo>
                  <a:pt x="476123" y="57150"/>
                </a:lnTo>
                <a:lnTo>
                  <a:pt x="505815" y="68719"/>
                </a:lnTo>
                <a:lnTo>
                  <a:pt x="0" y="1369314"/>
                </a:lnTo>
                <a:lnTo>
                  <a:pt x="11811" y="1373886"/>
                </a:lnTo>
                <a:lnTo>
                  <a:pt x="517626" y="73317"/>
                </a:lnTo>
                <a:lnTo>
                  <a:pt x="547230" y="84836"/>
                </a:lnTo>
                <a:close/>
              </a:path>
              <a:path w="730250" h="1374139">
                <a:moveTo>
                  <a:pt x="729742" y="1295400"/>
                </a:moveTo>
                <a:lnTo>
                  <a:pt x="697979" y="1295400"/>
                </a:lnTo>
                <a:lnTo>
                  <a:pt x="697979" y="762000"/>
                </a:lnTo>
                <a:lnTo>
                  <a:pt x="685279" y="762000"/>
                </a:lnTo>
                <a:lnTo>
                  <a:pt x="685279" y="1295400"/>
                </a:lnTo>
                <a:lnTo>
                  <a:pt x="653542" y="1295400"/>
                </a:lnTo>
                <a:lnTo>
                  <a:pt x="691642" y="1371600"/>
                </a:lnTo>
                <a:lnTo>
                  <a:pt x="723392" y="1308112"/>
                </a:lnTo>
                <a:lnTo>
                  <a:pt x="729742" y="12954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225" name="object 28">
            <a:extLst>
              <a:ext uri="{FF2B5EF4-FFF2-40B4-BE49-F238E27FC236}">
                <a16:creationId xmlns:a16="http://schemas.microsoft.com/office/drawing/2014/main" id="{CE19E690-B12C-4C3F-8F84-B5C26544ADA0}"/>
              </a:ext>
            </a:extLst>
          </p:cNvPr>
          <p:cNvSpPr>
            <a:spLocks/>
          </p:cNvSpPr>
          <p:nvPr/>
        </p:nvSpPr>
        <p:spPr bwMode="auto">
          <a:xfrm>
            <a:off x="5211763" y="2514601"/>
            <a:ext cx="882650" cy="1374775"/>
          </a:xfrm>
          <a:custGeom>
            <a:avLst/>
            <a:gdLst>
              <a:gd name="T0" fmla="*/ 691375 w 882014"/>
              <a:gd name="T1" fmla="*/ 0 h 1374775"/>
              <a:gd name="T2" fmla="*/ 623316 w 882014"/>
              <a:gd name="T3" fmla="*/ 51054 h 1374775"/>
              <a:gd name="T4" fmla="*/ 651675 w 882014"/>
              <a:gd name="T5" fmla="*/ 65303 h 1374775"/>
              <a:gd name="T6" fmla="*/ 0 w 882014"/>
              <a:gd name="T7" fmla="*/ 1368806 h 1374775"/>
              <a:gd name="T8" fmla="*/ 11277 w 882014"/>
              <a:gd name="T9" fmla="*/ 1374406 h 1374775"/>
              <a:gd name="T10" fmla="*/ 663092 w 882014"/>
              <a:gd name="T11" fmla="*/ 71031 h 1374775"/>
              <a:gd name="T12" fmla="*/ 691375 w 882014"/>
              <a:gd name="T13" fmla="*/ 85229 h 1374775"/>
              <a:gd name="T14" fmla="*/ 691375 w 882014"/>
              <a:gd name="T15" fmla="*/ 53987 h 1374775"/>
              <a:gd name="T16" fmla="*/ 691375 w 882014"/>
              <a:gd name="T17" fmla="*/ 0 h 1374775"/>
              <a:gd name="T18" fmla="*/ 881875 w 882014"/>
              <a:gd name="T19" fmla="*/ 1295400 h 1374775"/>
              <a:gd name="T20" fmla="*/ 850112 w 882014"/>
              <a:gd name="T21" fmla="*/ 1295400 h 1374775"/>
              <a:gd name="T22" fmla="*/ 850112 w 882014"/>
              <a:gd name="T23" fmla="*/ 762000 h 1374775"/>
              <a:gd name="T24" fmla="*/ 837412 w 882014"/>
              <a:gd name="T25" fmla="*/ 762000 h 1374775"/>
              <a:gd name="T26" fmla="*/ 837412 w 882014"/>
              <a:gd name="T27" fmla="*/ 1295400 h 1374775"/>
              <a:gd name="T28" fmla="*/ 805675 w 882014"/>
              <a:gd name="T29" fmla="*/ 1295400 h 1374775"/>
              <a:gd name="T30" fmla="*/ 843775 w 882014"/>
              <a:gd name="T31" fmla="*/ 1371600 h 1374775"/>
              <a:gd name="T32" fmla="*/ 875525 w 882014"/>
              <a:gd name="T33" fmla="*/ 1308112 h 1374775"/>
              <a:gd name="T34" fmla="*/ 881875 w 882014"/>
              <a:gd name="T35" fmla="*/ 1295400 h 13747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2014" h="1374775">
                <a:moveTo>
                  <a:pt x="691375" y="0"/>
                </a:moveTo>
                <a:lnTo>
                  <a:pt x="623316" y="51054"/>
                </a:lnTo>
                <a:lnTo>
                  <a:pt x="651675" y="65303"/>
                </a:lnTo>
                <a:lnTo>
                  <a:pt x="0" y="1368806"/>
                </a:lnTo>
                <a:lnTo>
                  <a:pt x="11277" y="1374406"/>
                </a:lnTo>
                <a:lnTo>
                  <a:pt x="663092" y="71031"/>
                </a:lnTo>
                <a:lnTo>
                  <a:pt x="691375" y="85229"/>
                </a:lnTo>
                <a:lnTo>
                  <a:pt x="691375" y="53987"/>
                </a:lnTo>
                <a:lnTo>
                  <a:pt x="691375" y="0"/>
                </a:lnTo>
                <a:close/>
              </a:path>
              <a:path w="882014" h="1374775">
                <a:moveTo>
                  <a:pt x="881875" y="1295400"/>
                </a:moveTo>
                <a:lnTo>
                  <a:pt x="850112" y="1295400"/>
                </a:lnTo>
                <a:lnTo>
                  <a:pt x="850112" y="762000"/>
                </a:lnTo>
                <a:lnTo>
                  <a:pt x="837412" y="762000"/>
                </a:lnTo>
                <a:lnTo>
                  <a:pt x="837412" y="1295400"/>
                </a:lnTo>
                <a:lnTo>
                  <a:pt x="805675" y="1295400"/>
                </a:lnTo>
                <a:lnTo>
                  <a:pt x="843775" y="1371600"/>
                </a:lnTo>
                <a:lnTo>
                  <a:pt x="875525" y="1308112"/>
                </a:lnTo>
                <a:lnTo>
                  <a:pt x="881875" y="12954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226" name="object 29">
            <a:extLst>
              <a:ext uri="{FF2B5EF4-FFF2-40B4-BE49-F238E27FC236}">
                <a16:creationId xmlns:a16="http://schemas.microsoft.com/office/drawing/2014/main" id="{E8CC5539-E533-4182-9267-CBB3F73F1F01}"/>
              </a:ext>
            </a:extLst>
          </p:cNvPr>
          <p:cNvSpPr>
            <a:spLocks/>
          </p:cNvSpPr>
          <p:nvPr/>
        </p:nvSpPr>
        <p:spPr bwMode="auto">
          <a:xfrm>
            <a:off x="6202363" y="2514601"/>
            <a:ext cx="692150" cy="1374775"/>
          </a:xfrm>
          <a:custGeom>
            <a:avLst/>
            <a:gdLst>
              <a:gd name="T0" fmla="*/ 651676 w 691514"/>
              <a:gd name="T1" fmla="*/ 65291 h 1374775"/>
              <a:gd name="T2" fmla="*/ 0 w 691514"/>
              <a:gd name="T3" fmla="*/ 1368801 h 1374775"/>
              <a:gd name="T4" fmla="*/ 11277 w 691514"/>
              <a:gd name="T5" fmla="*/ 1374398 h 1374775"/>
              <a:gd name="T6" fmla="*/ 663089 w 691514"/>
              <a:gd name="T7" fmla="*/ 71021 h 1374775"/>
              <a:gd name="T8" fmla="*/ 651676 w 691514"/>
              <a:gd name="T9" fmla="*/ 65291 h 1374775"/>
              <a:gd name="T10" fmla="*/ 691377 w 691514"/>
              <a:gd name="T11" fmla="*/ 53980 h 1374775"/>
              <a:gd name="T12" fmla="*/ 657331 w 691514"/>
              <a:gd name="T13" fmla="*/ 53980 h 1374775"/>
              <a:gd name="T14" fmla="*/ 668761 w 691514"/>
              <a:gd name="T15" fmla="*/ 59679 h 1374775"/>
              <a:gd name="T16" fmla="*/ 663089 w 691514"/>
              <a:gd name="T17" fmla="*/ 71021 h 1374775"/>
              <a:gd name="T18" fmla="*/ 691377 w 691514"/>
              <a:gd name="T19" fmla="*/ 85222 h 1374775"/>
              <a:gd name="T20" fmla="*/ 691377 w 691514"/>
              <a:gd name="T21" fmla="*/ 53980 h 1374775"/>
              <a:gd name="T22" fmla="*/ 657331 w 691514"/>
              <a:gd name="T23" fmla="*/ 53980 h 1374775"/>
              <a:gd name="T24" fmla="*/ 651676 w 691514"/>
              <a:gd name="T25" fmla="*/ 65291 h 1374775"/>
              <a:gd name="T26" fmla="*/ 663089 w 691514"/>
              <a:gd name="T27" fmla="*/ 71021 h 1374775"/>
              <a:gd name="T28" fmla="*/ 668761 w 691514"/>
              <a:gd name="T29" fmla="*/ 59679 h 1374775"/>
              <a:gd name="T30" fmla="*/ 657331 w 691514"/>
              <a:gd name="T31" fmla="*/ 53980 h 1374775"/>
              <a:gd name="T32" fmla="*/ 691377 w 691514"/>
              <a:gd name="T33" fmla="*/ 0 h 1374775"/>
              <a:gd name="T34" fmla="*/ 623316 w 691514"/>
              <a:gd name="T35" fmla="*/ 51054 h 1374775"/>
              <a:gd name="T36" fmla="*/ 651676 w 691514"/>
              <a:gd name="T37" fmla="*/ 65291 h 1374775"/>
              <a:gd name="T38" fmla="*/ 657331 w 691514"/>
              <a:gd name="T39" fmla="*/ 53980 h 1374775"/>
              <a:gd name="T40" fmla="*/ 691377 w 691514"/>
              <a:gd name="T41" fmla="*/ 53980 h 1374775"/>
              <a:gd name="T42" fmla="*/ 691377 w 691514"/>
              <a:gd name="T43" fmla="*/ 0 h 13747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91514" h="1374775">
                <a:moveTo>
                  <a:pt x="651676" y="65291"/>
                </a:moveTo>
                <a:lnTo>
                  <a:pt x="0" y="1368801"/>
                </a:lnTo>
                <a:lnTo>
                  <a:pt x="11277" y="1374398"/>
                </a:lnTo>
                <a:lnTo>
                  <a:pt x="663089" y="71021"/>
                </a:lnTo>
                <a:lnTo>
                  <a:pt x="651676" y="65291"/>
                </a:lnTo>
                <a:close/>
              </a:path>
              <a:path w="691514" h="1374775">
                <a:moveTo>
                  <a:pt x="691377" y="53980"/>
                </a:moveTo>
                <a:lnTo>
                  <a:pt x="657331" y="53980"/>
                </a:lnTo>
                <a:lnTo>
                  <a:pt x="668761" y="59679"/>
                </a:lnTo>
                <a:lnTo>
                  <a:pt x="663089" y="71021"/>
                </a:lnTo>
                <a:lnTo>
                  <a:pt x="691377" y="85222"/>
                </a:lnTo>
                <a:lnTo>
                  <a:pt x="691377" y="53980"/>
                </a:lnTo>
                <a:close/>
              </a:path>
              <a:path w="691514" h="1374775">
                <a:moveTo>
                  <a:pt x="657331" y="53980"/>
                </a:moveTo>
                <a:lnTo>
                  <a:pt x="651676" y="65291"/>
                </a:lnTo>
                <a:lnTo>
                  <a:pt x="663089" y="71021"/>
                </a:lnTo>
                <a:lnTo>
                  <a:pt x="668761" y="59679"/>
                </a:lnTo>
                <a:lnTo>
                  <a:pt x="657331" y="53980"/>
                </a:lnTo>
                <a:close/>
              </a:path>
              <a:path w="691514" h="1374775">
                <a:moveTo>
                  <a:pt x="691377" y="0"/>
                </a:moveTo>
                <a:lnTo>
                  <a:pt x="623316" y="51054"/>
                </a:lnTo>
                <a:lnTo>
                  <a:pt x="651676" y="65291"/>
                </a:lnTo>
                <a:lnTo>
                  <a:pt x="657331" y="53980"/>
                </a:lnTo>
                <a:lnTo>
                  <a:pt x="691377" y="53980"/>
                </a:lnTo>
                <a:lnTo>
                  <a:pt x="6913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0" name="object 30">
            <a:extLst>
              <a:ext uri="{FF2B5EF4-FFF2-40B4-BE49-F238E27FC236}">
                <a16:creationId xmlns:a16="http://schemas.microsoft.com/office/drawing/2014/main" id="{6938D9E2-18DD-4A64-A124-63B5A4F9FC38}"/>
              </a:ext>
            </a:extLst>
          </p:cNvPr>
          <p:cNvSpPr>
            <a:spLocks noGrp="1"/>
          </p:cNvSpPr>
          <p:nvPr>
            <p:ph type="sldNum" sz="quarter" idx="12"/>
          </p:nvPr>
        </p:nvSpPr>
        <p:spPr/>
        <p:txBody>
          <a:bodyPr/>
          <a:lstStyle>
            <a:lvl1pPr marL="381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8100" marR="0" lvl="0" indent="0" algn="l" defTabSz="914400" rtl="0" eaLnBrk="1" fontAlgn="base" latinLnBrk="0" hangingPunct="1">
              <a:lnSpc>
                <a:spcPts val="1650"/>
              </a:lnSpc>
              <a:spcBef>
                <a:spcPct val="0"/>
              </a:spcBef>
              <a:spcAft>
                <a:spcPct val="0"/>
              </a:spcAft>
              <a:buClrTx/>
              <a:buSzTx/>
              <a:buFontTx/>
              <a:buNone/>
              <a:tabLst/>
              <a:defRPr/>
            </a:pPr>
            <a:fld id="{9420197F-EF4E-437C-A324-74D69EF15626}" type="slidenum">
              <a:rPr kumimoji="0" lang="en-US" altLang="en-US" sz="14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38100" marR="0" lvl="0" indent="0" algn="l" defTabSz="914400" rtl="0" eaLnBrk="1" fontAlgn="base" latinLnBrk="0" hangingPunct="1">
                <a:lnSpc>
                  <a:spcPts val="1650"/>
                </a:lnSpc>
                <a:spcBef>
                  <a:spcPct val="0"/>
                </a:spcBef>
                <a:spcAft>
                  <a:spcPct val="0"/>
                </a:spcAft>
                <a:buClrTx/>
                <a:buSzTx/>
                <a:buFontTx/>
                <a:buNone/>
                <a:tabLst/>
                <a:defRPr/>
              </a:pPr>
              <a:t>68</a:t>
            </a:fld>
            <a:endPar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97A3331F-CEF0-44E7-9DCC-CDEB8D73DA9E}"/>
              </a:ext>
            </a:extLst>
          </p:cNvPr>
          <p:cNvSpPr>
            <a:spLocks noGrp="1"/>
          </p:cNvSpPr>
          <p:nvPr>
            <p:ph type="sldNum" sz="quarter" idx="12"/>
          </p:nvPr>
        </p:nvSpPr>
        <p:spPr/>
        <p:txBody>
          <a:bodyPr/>
          <a:lstStyle>
            <a:lvl1pPr marL="381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8100" marR="0" lvl="0" indent="0" algn="l" defTabSz="914400" rtl="0" eaLnBrk="1" fontAlgn="base" latinLnBrk="0" hangingPunct="1">
              <a:lnSpc>
                <a:spcPts val="1650"/>
              </a:lnSpc>
              <a:spcBef>
                <a:spcPct val="0"/>
              </a:spcBef>
              <a:spcAft>
                <a:spcPct val="0"/>
              </a:spcAft>
              <a:buClrTx/>
              <a:buSzTx/>
              <a:buFontTx/>
              <a:buNone/>
              <a:tabLst/>
              <a:defRPr/>
            </a:pPr>
            <a:fld id="{A20BB1FB-F282-495F-9D8A-B5A20F447180}" type="slidenum">
              <a:rPr kumimoji="0" lang="en-US" altLang="en-US" sz="14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38100" marR="0" lvl="0" indent="0" algn="l" defTabSz="914400" rtl="0" eaLnBrk="1" fontAlgn="base" latinLnBrk="0" hangingPunct="1">
                <a:lnSpc>
                  <a:spcPts val="1650"/>
                </a:lnSpc>
                <a:spcBef>
                  <a:spcPct val="0"/>
                </a:spcBef>
                <a:spcAft>
                  <a:spcPct val="0"/>
                </a:spcAft>
                <a:buClrTx/>
                <a:buSzTx/>
                <a:buFontTx/>
                <a:buNone/>
                <a:tabLst/>
                <a:defRPr/>
              </a:pPr>
              <a:t>69</a:t>
            </a:fld>
            <a:endPar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object 2">
            <a:extLst>
              <a:ext uri="{FF2B5EF4-FFF2-40B4-BE49-F238E27FC236}">
                <a16:creationId xmlns:a16="http://schemas.microsoft.com/office/drawing/2014/main" id="{2D25B87F-8E2D-420B-9EDA-D93A23BFF734}"/>
              </a:ext>
            </a:extLst>
          </p:cNvPr>
          <p:cNvSpPr txBox="1">
            <a:spLocks noGrp="1"/>
          </p:cNvSpPr>
          <p:nvPr>
            <p:ph type="title"/>
          </p:nvPr>
        </p:nvSpPr>
        <p:spPr>
          <a:xfrm>
            <a:off x="4170364" y="493713"/>
            <a:ext cx="3851275" cy="514350"/>
          </a:xfrm>
        </p:spPr>
        <p:txBody>
          <a:bodyPr vert="horz" wrap="square" lIns="0" tIns="13335" rIns="0" bIns="0" numCol="1" rtlCol="0" anchor="t" anchorCtr="0" compatLnSpc="1">
            <a:prstTxWarp prst="textNoShape">
              <a:avLst/>
            </a:prstTxWarp>
            <a:spAutoFit/>
          </a:bodyPr>
          <a:lstStyle/>
          <a:p>
            <a:pPr marL="12700" eaLnBrk="1" fontAlgn="auto" hangingPunct="1">
              <a:spcBef>
                <a:spcPts val="105"/>
              </a:spcBef>
              <a:spcAft>
                <a:spcPts val="0"/>
              </a:spcAft>
              <a:defRPr/>
            </a:pPr>
            <a:r>
              <a:rPr dirty="0"/>
              <a:t>Encryption</a:t>
            </a:r>
            <a:r>
              <a:rPr spc="30" dirty="0">
                <a:latin typeface="Times New Roman"/>
                <a:cs typeface="Times New Roman"/>
              </a:rPr>
              <a:t> </a:t>
            </a:r>
            <a:r>
              <a:rPr dirty="0"/>
              <a:t>+</a:t>
            </a:r>
            <a:r>
              <a:rPr spc="75" dirty="0">
                <a:latin typeface="Times New Roman"/>
                <a:cs typeface="Times New Roman"/>
              </a:rPr>
              <a:t> </a:t>
            </a:r>
            <a:r>
              <a:rPr spc="-10" dirty="0"/>
              <a:t>Integrity</a:t>
            </a:r>
          </a:p>
        </p:txBody>
      </p:sp>
      <p:sp>
        <p:nvSpPr>
          <p:cNvPr id="3" name="object 3">
            <a:extLst>
              <a:ext uri="{FF2B5EF4-FFF2-40B4-BE49-F238E27FC236}">
                <a16:creationId xmlns:a16="http://schemas.microsoft.com/office/drawing/2014/main" id="{FA7EF627-06F1-48B8-8DF7-274E21C0FACC}"/>
              </a:ext>
            </a:extLst>
          </p:cNvPr>
          <p:cNvSpPr txBox="1"/>
          <p:nvPr/>
        </p:nvSpPr>
        <p:spPr>
          <a:xfrm>
            <a:off x="2289176" y="1335089"/>
            <a:ext cx="7434263" cy="4117975"/>
          </a:xfrm>
          <a:prstGeom prst="rect">
            <a:avLst/>
          </a:prstGeom>
        </p:spPr>
        <p:txBody>
          <a:bodyPr lIns="0" tIns="74930" rIns="0" bIns="0">
            <a:spAutoFit/>
          </a:bodyPr>
          <a:lstStyle>
            <a:lvl1pPr marL="584200" indent="-571500">
              <a:tabLst>
                <a:tab pos="584200" algn="l"/>
              </a:tabLst>
              <a:defRPr>
                <a:solidFill>
                  <a:schemeClr val="tx1"/>
                </a:solidFill>
                <a:latin typeface="Arial" panose="020B0604020202020204" pitchFamily="34" charset="0"/>
              </a:defRPr>
            </a:lvl1pPr>
            <a:lvl2pPr marL="850900" indent="-495300">
              <a:tabLst>
                <a:tab pos="584200" algn="l"/>
              </a:tabLst>
              <a:defRPr>
                <a:solidFill>
                  <a:schemeClr val="tx1"/>
                </a:solidFill>
                <a:latin typeface="Arial" panose="020B0604020202020204" pitchFamily="34" charset="0"/>
              </a:defRPr>
            </a:lvl2pPr>
            <a:lvl3pPr marL="1143000" indent="-228600">
              <a:tabLst>
                <a:tab pos="584200" algn="l"/>
              </a:tabLst>
              <a:defRPr>
                <a:solidFill>
                  <a:schemeClr val="tx1"/>
                </a:solidFill>
                <a:latin typeface="Arial" panose="020B0604020202020204" pitchFamily="34" charset="0"/>
              </a:defRPr>
            </a:lvl3pPr>
            <a:lvl4pPr marL="1600200" indent="-228600">
              <a:tabLst>
                <a:tab pos="584200" algn="l"/>
              </a:tabLst>
              <a:defRPr>
                <a:solidFill>
                  <a:schemeClr val="tx1"/>
                </a:solidFill>
                <a:latin typeface="Arial" panose="020B0604020202020204" pitchFamily="34" charset="0"/>
              </a:defRPr>
            </a:lvl4pPr>
            <a:lvl5pPr marL="2057400" indent="-228600">
              <a:tabLst>
                <a:tab pos="5842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5842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5842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5842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584200" algn="l"/>
              </a:tabLst>
              <a:defRPr>
                <a:solidFill>
                  <a:schemeClr val="tx1"/>
                </a:solidFill>
                <a:latin typeface="Arial" panose="020B0604020202020204" pitchFamily="34" charset="0"/>
              </a:defRPr>
            </a:lvl9pPr>
          </a:lstStyle>
          <a:p>
            <a:pPr marL="584200" marR="0" lvl="0" indent="-571500" algn="l" defTabSz="914400" rtl="0" eaLnBrk="1" fontAlgn="base" latinLnBrk="0" hangingPunct="1">
              <a:lnSpc>
                <a:spcPct val="100000"/>
              </a:lnSpc>
              <a:spcBef>
                <a:spcPts val="588"/>
              </a:spcBef>
              <a:spcAft>
                <a:spcPct val="0"/>
              </a:spcAft>
              <a:buClrTx/>
              <a:buSzTx/>
              <a:buFontTx/>
              <a:buChar char="•"/>
              <a:tabLst>
                <a:tab pos="584200" algn="l"/>
              </a:tabLst>
              <a:defRPr/>
            </a:pP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False</a:t>
            </a: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solution:</a:t>
            </a:r>
            <a:endPar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584200" marR="0" lvl="0" indent="-571500" algn="l" defTabSz="914400" rtl="0" eaLnBrk="1" fontAlgn="base" latinLnBrk="0" hangingPunct="1">
              <a:lnSpc>
                <a:spcPct val="100000"/>
              </a:lnSpc>
              <a:spcBef>
                <a:spcPts val="450"/>
              </a:spcBef>
              <a:spcAft>
                <a:spcPct val="0"/>
              </a:spcAft>
              <a:buClrTx/>
              <a:buSzTx/>
              <a:buFontTx/>
              <a:buNone/>
              <a:tabLst>
                <a:tab pos="584200" algn="l"/>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Use</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weak</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(non-cryptographic)</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checksum</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inside</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CBC:</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May</a:t>
            </a:r>
          </a:p>
          <a:p>
            <a:pPr marL="584200" marR="0" lvl="0" indent="-571500" algn="l" defTabSz="914400" rtl="0" eaLnBrk="1" fontAlgn="base" latinLnBrk="0" hangingPunct="1">
              <a:lnSpc>
                <a:spcPct val="100000"/>
              </a:lnSpc>
              <a:spcBef>
                <a:spcPct val="0"/>
              </a:spcBef>
              <a:spcAft>
                <a:spcPct val="0"/>
              </a:spcAft>
              <a:buClrTx/>
              <a:buSzTx/>
              <a:buFontTx/>
              <a:buNone/>
              <a:tabLst>
                <a:tab pos="584200" algn="l"/>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prove</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to</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be</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completely</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insecure!</a:t>
            </a:r>
          </a:p>
          <a:p>
            <a:pPr marL="584200" marR="0" lvl="0" indent="-571500" algn="l" defTabSz="914400" rtl="0" eaLnBrk="1" fontAlgn="base" latinLnBrk="0" hangingPunct="1">
              <a:lnSpc>
                <a:spcPct val="100000"/>
              </a:lnSpc>
              <a:spcBef>
                <a:spcPts val="475"/>
              </a:spcBef>
              <a:spcAft>
                <a:spcPct val="0"/>
              </a:spcAft>
              <a:buClrTx/>
              <a:buSzTx/>
              <a:buFontTx/>
              <a:buChar char="•"/>
              <a:tabLst>
                <a:tab pos="584200" algn="l"/>
              </a:tabLst>
              <a:defRPr/>
            </a:pP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Possible</a:t>
            </a: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solutions</a:t>
            </a:r>
            <a:endPar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850900" marR="0" lvl="1" indent="-495300" algn="l" defTabSz="914400" rtl="0" eaLnBrk="1" fontAlgn="base" latinLnBrk="0" hangingPunct="1">
              <a:lnSpc>
                <a:spcPct val="100000"/>
              </a:lnSpc>
              <a:spcBef>
                <a:spcPts val="438"/>
              </a:spcBef>
              <a:spcAft>
                <a:spcPct val="0"/>
              </a:spcAft>
              <a:buClrTx/>
              <a:buSzTx/>
              <a:buFontTx/>
              <a:buAutoNum type="arabicPeriod"/>
              <a:tabLst>
                <a:tab pos="584200" algn="l"/>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Use</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two</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different</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keys</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in</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CBC</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mode</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(expensive).</a:t>
            </a:r>
          </a:p>
          <a:p>
            <a:pPr marL="850900" marR="0" lvl="1" indent="-495300" algn="l" defTabSz="914400" rtl="0" eaLnBrk="1" fontAlgn="base" latinLnBrk="0" hangingPunct="1">
              <a:lnSpc>
                <a:spcPct val="100000"/>
              </a:lnSpc>
              <a:spcBef>
                <a:spcPts val="438"/>
              </a:spcBef>
              <a:spcAft>
                <a:spcPct val="0"/>
              </a:spcAft>
              <a:buClrTx/>
              <a:buSzTx/>
              <a:buFontTx/>
              <a:buAutoNum type="arabicPeriod"/>
              <a:tabLst>
                <a:tab pos="584200" algn="l"/>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Use</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different</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authentication</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mechanism,</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such</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as</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HMAC,</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which</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still</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requires</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processing</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data</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twice,</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but</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less</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computationally</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costly.</a:t>
            </a:r>
          </a:p>
          <a:p>
            <a:pPr marL="850900" marR="0" lvl="1" indent="-495300" algn="l" defTabSz="914400" rtl="0" eaLnBrk="1" fontAlgn="base" latinLnBrk="0" hangingPunct="1">
              <a:lnSpc>
                <a:spcPct val="100000"/>
              </a:lnSpc>
              <a:spcBef>
                <a:spcPts val="438"/>
              </a:spcBef>
              <a:spcAft>
                <a:spcPct val="0"/>
              </a:spcAft>
              <a:buClrTx/>
              <a:buSzTx/>
              <a:buFontTx/>
              <a:buAutoNum type="arabicPeriod"/>
              <a:tabLst>
                <a:tab pos="584200" algn="l"/>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Use</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another</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encryption</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mode</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that</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provides</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both</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encryption</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and</a:t>
            </a:r>
          </a:p>
          <a:p>
            <a:pPr marL="584200" marR="0" lvl="0" indent="-571500" algn="l" defTabSz="914400" rtl="0" eaLnBrk="1" fontAlgn="base" latinLnBrk="0" hangingPunct="1">
              <a:lnSpc>
                <a:spcPct val="100000"/>
              </a:lnSpc>
              <a:spcBef>
                <a:spcPct val="0"/>
              </a:spcBef>
              <a:spcAft>
                <a:spcPct val="0"/>
              </a:spcAft>
              <a:buClrTx/>
              <a:buSzTx/>
              <a:buFontTx/>
              <a:buNone/>
              <a:tabLst>
                <a:tab pos="584200" algn="l"/>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authentication</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a:t>
            </a: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future?)</a:t>
            </a:r>
          </a:p>
          <a:p>
            <a:pPr marL="584200" marR="0" lvl="0" indent="-571500" algn="l" defTabSz="914400" rtl="0" eaLnBrk="1" fontAlgn="base" latinLnBrk="0" hangingPunct="1">
              <a:lnSpc>
                <a:spcPct val="100000"/>
              </a:lnSpc>
              <a:spcBef>
                <a:spcPts val="50"/>
              </a:spcBef>
              <a:spcAft>
                <a:spcPct val="0"/>
              </a:spcAft>
              <a:buClrTx/>
              <a:buSzTx/>
              <a:buFontTx/>
              <a:buNone/>
              <a:tabLst>
                <a:tab pos="584200" algn="l"/>
              </a:tabLst>
              <a:defRPr/>
            </a:pPr>
            <a:endParaRPr kumimoji="0" lang="en-US" altLang="en-US" sz="2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584200" marR="0" lvl="0" indent="-571500" algn="l" defTabSz="914400" rtl="0" eaLnBrk="1" fontAlgn="base" latinLnBrk="0" hangingPunct="1">
              <a:lnSpc>
                <a:spcPct val="100000"/>
              </a:lnSpc>
              <a:spcBef>
                <a:spcPct val="0"/>
              </a:spcBef>
              <a:spcAft>
                <a:spcPct val="0"/>
              </a:spcAft>
              <a:buClrTx/>
              <a:buSzTx/>
              <a:buFontTx/>
              <a:buNone/>
              <a:tabLst>
                <a:tab pos="584200" algn="l"/>
              </a:tabLst>
              <a:defRPr/>
            </a:pP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Some</a:t>
            </a: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care</a:t>
            </a: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must</a:t>
            </a: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be</a:t>
            </a: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taken</a:t>
            </a: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when</a:t>
            </a: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combining</a:t>
            </a: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encryption</a:t>
            </a: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with</a:t>
            </a: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MACs,</a:t>
            </a: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in</a:t>
            </a: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general</a:t>
            </a:r>
            <a:endPar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6905C63C-F075-4BDC-960F-851F1C5A0C7F}"/>
              </a:ext>
            </a:extLst>
          </p:cNvPr>
          <p:cNvSpPr>
            <a:spLocks noGrp="1"/>
          </p:cNvSpPr>
          <p:nvPr>
            <p:ph type="sldNum" sz="quarter" idx="12"/>
          </p:nvPr>
        </p:nvSpPr>
        <p:spPr/>
        <p:txBody>
          <a:bodyPr/>
          <a:lstStyle>
            <a:lvl1pPr marL="381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8100" marR="0" lvl="0" indent="0" algn="l" defTabSz="914400" rtl="0" eaLnBrk="1" fontAlgn="base" latinLnBrk="0" hangingPunct="1">
              <a:lnSpc>
                <a:spcPts val="1650"/>
              </a:lnSpc>
              <a:spcBef>
                <a:spcPct val="0"/>
              </a:spcBef>
              <a:spcAft>
                <a:spcPct val="0"/>
              </a:spcAft>
              <a:buClrTx/>
              <a:buSzTx/>
              <a:buFontTx/>
              <a:buNone/>
              <a:tabLst/>
              <a:defRPr/>
            </a:pPr>
            <a:fld id="{A1F1639A-1209-42CF-8141-3CBB567826A9}" type="slidenum">
              <a:rPr kumimoji="0" lang="en-US" altLang="en-US" sz="14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38100" marR="0" lvl="0" indent="0" algn="l" defTabSz="914400" rtl="0" eaLnBrk="1" fontAlgn="base" latinLnBrk="0" hangingPunct="1">
                <a:lnSpc>
                  <a:spcPts val="1650"/>
                </a:lnSpc>
                <a:spcBef>
                  <a:spcPct val="0"/>
                </a:spcBef>
                <a:spcAft>
                  <a:spcPct val="0"/>
                </a:spcAft>
                <a:buClrTx/>
                <a:buSzTx/>
                <a:buFontTx/>
                <a:buNone/>
                <a:tabLst/>
                <a:defRPr/>
              </a:pPr>
              <a:t>70</a:t>
            </a:fld>
            <a:endPar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object 2">
            <a:extLst>
              <a:ext uri="{FF2B5EF4-FFF2-40B4-BE49-F238E27FC236}">
                <a16:creationId xmlns:a16="http://schemas.microsoft.com/office/drawing/2014/main" id="{15E300A8-DD7B-402F-9E0B-9ABC5ED3286E}"/>
              </a:ext>
            </a:extLst>
          </p:cNvPr>
          <p:cNvSpPr txBox="1">
            <a:spLocks noGrp="1"/>
          </p:cNvSpPr>
          <p:nvPr>
            <p:ph type="title"/>
          </p:nvPr>
        </p:nvSpPr>
        <p:spPr>
          <a:xfrm>
            <a:off x="2981325" y="493713"/>
            <a:ext cx="6230938" cy="514350"/>
          </a:xfrm>
        </p:spPr>
        <p:txBody>
          <a:bodyPr vert="horz" wrap="square" lIns="0" tIns="13335" rIns="0" bIns="0" numCol="1" rtlCol="0" anchor="t" anchorCtr="0" compatLnSpc="1">
            <a:prstTxWarp prst="textNoShape">
              <a:avLst/>
            </a:prstTxWarp>
            <a:spAutoFit/>
          </a:bodyPr>
          <a:lstStyle/>
          <a:p>
            <a:pPr marL="12700" eaLnBrk="1" fontAlgn="auto" hangingPunct="1">
              <a:spcBef>
                <a:spcPts val="105"/>
              </a:spcBef>
              <a:spcAft>
                <a:spcPts val="0"/>
              </a:spcAft>
              <a:defRPr/>
            </a:pPr>
            <a:r>
              <a:rPr dirty="0"/>
              <a:t>Order</a:t>
            </a:r>
            <a:r>
              <a:rPr spc="30" dirty="0">
                <a:latin typeface="Times New Roman"/>
                <a:cs typeface="Times New Roman"/>
              </a:rPr>
              <a:t> </a:t>
            </a:r>
            <a:r>
              <a:rPr dirty="0"/>
              <a:t>of</a:t>
            </a:r>
            <a:r>
              <a:rPr spc="70" dirty="0">
                <a:latin typeface="Times New Roman"/>
                <a:cs typeface="Times New Roman"/>
              </a:rPr>
              <a:t> </a:t>
            </a:r>
            <a:r>
              <a:rPr spc="-10" dirty="0"/>
              <a:t>Encryption/Authentication</a:t>
            </a:r>
          </a:p>
        </p:txBody>
      </p:sp>
      <p:sp>
        <p:nvSpPr>
          <p:cNvPr id="3" name="object 3">
            <a:extLst>
              <a:ext uri="{FF2B5EF4-FFF2-40B4-BE49-F238E27FC236}">
                <a16:creationId xmlns:a16="http://schemas.microsoft.com/office/drawing/2014/main" id="{B5611E95-73B1-421A-B06A-3C4A5569BE14}"/>
              </a:ext>
            </a:extLst>
          </p:cNvPr>
          <p:cNvSpPr txBox="1"/>
          <p:nvPr/>
        </p:nvSpPr>
        <p:spPr>
          <a:xfrm>
            <a:off x="2238375" y="1323975"/>
            <a:ext cx="7570788" cy="2806700"/>
          </a:xfrm>
          <a:prstGeom prst="rect">
            <a:avLst/>
          </a:prstGeom>
        </p:spPr>
        <p:txBody>
          <a:bodyPr lIns="0" tIns="85725" rIns="0" bIns="0">
            <a:spAutoFit/>
          </a:bodyPr>
          <a:lstStyle>
            <a:lvl1pPr marL="406400" indent="-342900">
              <a:tabLst>
                <a:tab pos="406400" algn="l"/>
              </a:tabLst>
              <a:defRPr>
                <a:solidFill>
                  <a:schemeClr val="tx1"/>
                </a:solidFill>
                <a:latin typeface="Arial" panose="020B0604020202020204" pitchFamily="34" charset="0"/>
              </a:defRPr>
            </a:lvl1pPr>
            <a:lvl2pPr marL="742950" indent="-285750">
              <a:tabLst>
                <a:tab pos="406400" algn="l"/>
              </a:tabLst>
              <a:defRPr>
                <a:solidFill>
                  <a:schemeClr val="tx1"/>
                </a:solidFill>
                <a:latin typeface="Arial" panose="020B0604020202020204" pitchFamily="34" charset="0"/>
              </a:defRPr>
            </a:lvl2pPr>
            <a:lvl3pPr marL="1143000" indent="-228600">
              <a:tabLst>
                <a:tab pos="406400" algn="l"/>
              </a:tabLst>
              <a:defRPr>
                <a:solidFill>
                  <a:schemeClr val="tx1"/>
                </a:solidFill>
                <a:latin typeface="Arial" panose="020B0604020202020204" pitchFamily="34" charset="0"/>
              </a:defRPr>
            </a:lvl3pPr>
            <a:lvl4pPr marL="1600200" indent="-228600">
              <a:tabLst>
                <a:tab pos="406400" algn="l"/>
              </a:tabLst>
              <a:defRPr>
                <a:solidFill>
                  <a:schemeClr val="tx1"/>
                </a:solidFill>
                <a:latin typeface="Arial" panose="020B0604020202020204" pitchFamily="34" charset="0"/>
              </a:defRPr>
            </a:lvl4pPr>
            <a:lvl5pPr marL="2057400" indent="-228600">
              <a:tabLst>
                <a:tab pos="4064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064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064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064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06400" algn="l"/>
              </a:tabLst>
              <a:defRPr>
                <a:solidFill>
                  <a:schemeClr val="tx1"/>
                </a:solidFill>
                <a:latin typeface="Arial" panose="020B0604020202020204" pitchFamily="34" charset="0"/>
              </a:defRPr>
            </a:lvl9pPr>
          </a:lstStyle>
          <a:p>
            <a:pPr marL="406400" marR="0" lvl="0" indent="-342900" algn="l" defTabSz="914400" rtl="0" eaLnBrk="1" fontAlgn="base" latinLnBrk="0" hangingPunct="1">
              <a:lnSpc>
                <a:spcPct val="100000"/>
              </a:lnSpc>
              <a:spcBef>
                <a:spcPts val="675"/>
              </a:spcBef>
              <a:spcAft>
                <a:spcPct val="0"/>
              </a:spcAft>
              <a:buClrTx/>
              <a:buSzTx/>
              <a:buFontTx/>
              <a:buChar char="•"/>
              <a:tabLst>
                <a:tab pos="406400" algn="l"/>
              </a:tabLst>
              <a:defRPr/>
            </a:pP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Encrypt</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then</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authenticate:</a:t>
            </a: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406400" marR="0" lvl="0" indent="-342900" algn="l" defTabSz="914400" rtl="0" eaLnBrk="1" fontAlgn="base" latinLnBrk="0" hangingPunct="1">
              <a:lnSpc>
                <a:spcPct val="100000"/>
              </a:lnSpc>
              <a:spcBef>
                <a:spcPts val="488"/>
              </a:spcBef>
              <a:spcAft>
                <a:spcPct val="0"/>
              </a:spcAft>
              <a:buClrTx/>
              <a:buSzTx/>
              <a:buFontTx/>
              <a:buNone/>
              <a:tabLst>
                <a:tab pos="406400" algn="l"/>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E</a:t>
            </a:r>
            <a:r>
              <a:rPr kumimoji="0" lang="en-US" altLang="en-US" sz="1900" b="0" i="0" u="none" strike="noStrike" kern="1200" cap="none" spc="0" normalizeH="0" baseline="-21000" noProof="0">
                <a:ln>
                  <a:noFill/>
                </a:ln>
                <a:solidFill>
                  <a:srgbClr val="000000"/>
                </a:solidFill>
                <a:effectLst/>
                <a:uLnTx/>
                <a:uFillTx/>
                <a:latin typeface="Arial" panose="020B0604020202020204" pitchFamily="34" charset="0"/>
                <a:ea typeface="+mn-ea"/>
                <a:cs typeface="Arial" panose="020B0604020202020204" pitchFamily="34" charset="0"/>
              </a:rPr>
              <a:t>k’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r>
              <a:rPr kumimoji="0" lang="en-US" altLang="en-US" sz="2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r>
              <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MAC</a:t>
            </a:r>
            <a:r>
              <a:rPr kumimoji="0" lang="en-US" altLang="en-US" sz="1900" b="0" i="0" u="none" strike="noStrike" kern="1200" cap="none" spc="0" normalizeH="0" baseline="-21000" noProof="0">
                <a:ln>
                  <a:noFill/>
                </a:ln>
                <a:solidFill>
                  <a:srgbClr val="000000"/>
                </a:solidFill>
                <a:effectLst/>
                <a:uLnTx/>
                <a:uFillTx/>
                <a:latin typeface="Arial" panose="020B0604020202020204" pitchFamily="34" charset="0"/>
                <a:ea typeface="+mn-ea"/>
                <a:cs typeface="Arial" panose="020B0604020202020204" pitchFamily="34" charset="0"/>
              </a:rPr>
              <a:t>k’’</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a:t>
            </a:r>
            <a:r>
              <a:rPr kumimoji="0" lang="en-US" altLang="en-US" sz="1900" b="0" i="0" u="none" strike="noStrike" kern="1200" cap="none" spc="0" normalizeH="0" baseline="-21000" noProof="0">
                <a:ln>
                  <a:noFill/>
                </a:ln>
                <a:solidFill>
                  <a:srgbClr val="000000"/>
                </a:solidFill>
                <a:effectLst/>
                <a:uLnTx/>
                <a:uFillTx/>
                <a:latin typeface="Arial" panose="020B0604020202020204" pitchFamily="34" charset="0"/>
                <a:ea typeface="+mn-ea"/>
                <a:cs typeface="Arial" panose="020B0604020202020204" pitchFamily="34" charset="0"/>
              </a:rPr>
              <a:t>k’ </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r>
              <a:rPr kumimoji="0" lang="en-US" altLang="en-US" sz="2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t>
            </a: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p>
          <a:p>
            <a:pPr marL="406400" marR="0" lvl="0" indent="-342900" algn="l" defTabSz="914400" rtl="0" eaLnBrk="1" fontAlgn="base" latinLnBrk="0" hangingPunct="1">
              <a:lnSpc>
                <a:spcPct val="100000"/>
              </a:lnSpc>
              <a:spcBef>
                <a:spcPts val="575"/>
              </a:spcBef>
              <a:spcAft>
                <a:spcPct val="0"/>
              </a:spcAft>
              <a:buClrTx/>
              <a:buSzTx/>
              <a:buFontTx/>
              <a:buChar char="•"/>
              <a:tabLst>
                <a:tab pos="406400" algn="l"/>
              </a:tabLst>
              <a:defRPr/>
            </a:pP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Generally</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secure,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independent</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of</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the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mode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of</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encryption</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used</a:t>
            </a: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406400" marR="0" lvl="0" indent="-342900" algn="l" defTabSz="914400" rtl="0" eaLnBrk="1" fontAlgn="base" latinLnBrk="0" hangingPunct="1">
              <a:lnSpc>
                <a:spcPct val="100000"/>
              </a:lnSpc>
              <a:spcBef>
                <a:spcPts val="575"/>
              </a:spcBef>
              <a:spcAft>
                <a:spcPct val="0"/>
              </a:spcAft>
              <a:buClrTx/>
              <a:buSzTx/>
              <a:buFontTx/>
              <a:buChar char="•"/>
              <a:tabLst>
                <a:tab pos="406400" algn="l"/>
              </a:tabLst>
              <a:defRPr/>
            </a:pP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Has</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the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advantage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to</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permit</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MAC</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verification</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before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decryption</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(early</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compromise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detection</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and</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avoidance</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of</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unnecessary</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cryptographic</a:t>
            </a: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operations)</a:t>
            </a: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36626D02-A49E-4FB5-9247-00FE17CF68A0}"/>
              </a:ext>
            </a:extLst>
          </p:cNvPr>
          <p:cNvSpPr>
            <a:spLocks noGrp="1"/>
          </p:cNvSpPr>
          <p:nvPr>
            <p:ph type="sldNum" sz="quarter" idx="12"/>
          </p:nvPr>
        </p:nvSpPr>
        <p:spPr/>
        <p:txBody>
          <a:bodyPr/>
          <a:lstStyle>
            <a:lvl1pPr marL="381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8100" marR="0" lvl="0" indent="0" algn="l" defTabSz="914400" rtl="0" eaLnBrk="1" fontAlgn="base" latinLnBrk="0" hangingPunct="1">
              <a:lnSpc>
                <a:spcPts val="1650"/>
              </a:lnSpc>
              <a:spcBef>
                <a:spcPct val="0"/>
              </a:spcBef>
              <a:spcAft>
                <a:spcPct val="0"/>
              </a:spcAft>
              <a:buClrTx/>
              <a:buSzTx/>
              <a:buFontTx/>
              <a:buNone/>
              <a:tabLst/>
              <a:defRPr/>
            </a:pPr>
            <a:fld id="{DA28D3CF-D436-4242-AEE2-F8743893F96E}" type="slidenum">
              <a:rPr kumimoji="0" lang="en-US" altLang="en-US" sz="14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38100" marR="0" lvl="0" indent="0" algn="l" defTabSz="914400" rtl="0" eaLnBrk="1" fontAlgn="base" latinLnBrk="0" hangingPunct="1">
                <a:lnSpc>
                  <a:spcPts val="1650"/>
                </a:lnSpc>
                <a:spcBef>
                  <a:spcPct val="0"/>
                </a:spcBef>
                <a:spcAft>
                  <a:spcPct val="0"/>
                </a:spcAft>
                <a:buClrTx/>
                <a:buSzTx/>
                <a:buFontTx/>
                <a:buNone/>
                <a:tabLst/>
                <a:defRPr/>
              </a:pPr>
              <a:t>71</a:t>
            </a:fld>
            <a:endPar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object 2">
            <a:extLst>
              <a:ext uri="{FF2B5EF4-FFF2-40B4-BE49-F238E27FC236}">
                <a16:creationId xmlns:a16="http://schemas.microsoft.com/office/drawing/2014/main" id="{5904F0B0-632E-4DCE-B550-9AC131313866}"/>
              </a:ext>
            </a:extLst>
          </p:cNvPr>
          <p:cNvSpPr txBox="1">
            <a:spLocks noGrp="1"/>
          </p:cNvSpPr>
          <p:nvPr>
            <p:ph type="title"/>
          </p:nvPr>
        </p:nvSpPr>
        <p:spPr>
          <a:xfrm>
            <a:off x="3717925" y="493713"/>
            <a:ext cx="4756150" cy="514350"/>
          </a:xfrm>
        </p:spPr>
        <p:txBody>
          <a:bodyPr vert="horz" wrap="square" lIns="0" tIns="13335" rIns="0" bIns="0" numCol="1" rtlCol="0" anchor="t" anchorCtr="0" compatLnSpc="1">
            <a:prstTxWarp prst="textNoShape">
              <a:avLst/>
            </a:prstTxWarp>
            <a:spAutoFit/>
          </a:bodyPr>
          <a:lstStyle/>
          <a:p>
            <a:pPr marL="12700" eaLnBrk="1" fontAlgn="auto" hangingPunct="1">
              <a:spcBef>
                <a:spcPts val="105"/>
              </a:spcBef>
              <a:spcAft>
                <a:spcPts val="0"/>
              </a:spcAft>
              <a:defRPr/>
            </a:pPr>
            <a:r>
              <a:rPr spc="-10" dirty="0"/>
              <a:t>Authentication+Encryption</a:t>
            </a:r>
          </a:p>
        </p:txBody>
      </p:sp>
      <p:sp>
        <p:nvSpPr>
          <p:cNvPr id="3" name="object 3">
            <a:extLst>
              <a:ext uri="{FF2B5EF4-FFF2-40B4-BE49-F238E27FC236}">
                <a16:creationId xmlns:a16="http://schemas.microsoft.com/office/drawing/2014/main" id="{12533E49-06FD-4333-B619-042E7BD5603B}"/>
              </a:ext>
            </a:extLst>
          </p:cNvPr>
          <p:cNvSpPr txBox="1">
            <a:spLocks noGrp="1"/>
          </p:cNvSpPr>
          <p:nvPr>
            <p:ph type="body" idx="1"/>
          </p:nvPr>
        </p:nvSpPr>
        <p:spPr>
          <a:xfrm>
            <a:off x="1219200" y="1937886"/>
            <a:ext cx="10219267" cy="2982227"/>
          </a:xfrm>
        </p:spPr>
        <p:txBody>
          <a:bodyPr vert="horz" wrap="square" lIns="0" tIns="85725" rIns="0" bIns="0" numCol="1" anchor="t" anchorCtr="0" compatLnSpc="1">
            <a:prstTxWarp prst="textNoShape">
              <a:avLst/>
            </a:prstTxWarp>
            <a:spAutoFit/>
          </a:bodyPr>
          <a:lstStyle/>
          <a:p>
            <a:pPr marL="381000" indent="-342900" eaLnBrk="1" hangingPunct="1">
              <a:spcBef>
                <a:spcPts val="675"/>
              </a:spcBef>
              <a:buFontTx/>
              <a:buChar char="•"/>
              <a:tabLst>
                <a:tab pos="381000" algn="l"/>
              </a:tabLst>
            </a:pPr>
            <a:r>
              <a:rPr lang="en-US" altLang="en-US" dirty="0">
                <a:latin typeface="Arial" panose="020B0604020202020204" pitchFamily="34" charset="0"/>
                <a:cs typeface="Arial" panose="020B0604020202020204" pitchFamily="34" charset="0"/>
              </a:rPr>
              <a:t>Authenticate</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then</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encrypt:</a:t>
            </a:r>
          </a:p>
          <a:p>
            <a:pPr marL="381000" indent="-342900" eaLnBrk="1" hangingPunct="1">
              <a:spcBef>
                <a:spcPts val="488"/>
              </a:spcBef>
              <a:tabLst>
                <a:tab pos="381000" algn="l"/>
              </a:tabLst>
            </a:pPr>
            <a:r>
              <a:rPr lang="en-US" altLang="en-US" sz="2000" dirty="0">
                <a:solidFill>
                  <a:srgbClr val="000000"/>
                </a:solidFill>
                <a:latin typeface="Arial" panose="020B0604020202020204" pitchFamily="34" charset="0"/>
                <a:cs typeface="Arial" panose="020B0604020202020204" pitchFamily="34" charset="0"/>
              </a:rPr>
              <a:t>–	</a:t>
            </a:r>
            <a:r>
              <a:rPr lang="en-US" altLang="en-US" sz="2000" dirty="0" err="1">
                <a:solidFill>
                  <a:srgbClr val="000000"/>
                </a:solidFill>
                <a:latin typeface="Arial" panose="020B0604020202020204" pitchFamily="34" charset="0"/>
                <a:cs typeface="Arial" panose="020B0604020202020204" pitchFamily="34" charset="0"/>
              </a:rPr>
              <a:t>E</a:t>
            </a:r>
            <a:r>
              <a:rPr lang="en-US" altLang="en-US" sz="1900" baseline="-21000" dirty="0" err="1">
                <a:solidFill>
                  <a:srgbClr val="000000"/>
                </a:solidFill>
                <a:latin typeface="Arial" panose="020B0604020202020204" pitchFamily="34" charset="0"/>
                <a:cs typeface="Arial" panose="020B0604020202020204" pitchFamily="34" charset="0"/>
              </a:rPr>
              <a:t>k</a:t>
            </a:r>
            <a:r>
              <a:rPr lang="en-US" altLang="en-US" sz="1900" baseline="-21000" dirty="0">
                <a:solidFill>
                  <a:srgbClr val="000000"/>
                </a:solidFill>
                <a:latin typeface="Arial" panose="020B0604020202020204" pitchFamily="34" charset="0"/>
                <a:cs typeface="Arial" panose="020B0604020202020204" pitchFamily="34" charset="0"/>
              </a:rPr>
              <a:t>’ </a:t>
            </a:r>
            <a:r>
              <a:rPr lang="en-US" altLang="en-US" sz="2000" dirty="0">
                <a:solidFill>
                  <a:srgbClr val="000000"/>
                </a:solidFill>
                <a:latin typeface="Arial" panose="020B0604020202020204" pitchFamily="34" charset="0"/>
                <a:cs typeface="Arial" panose="020B0604020202020204" pitchFamily="34" charset="0"/>
              </a:rPr>
              <a:t>(</a:t>
            </a:r>
            <a:r>
              <a:rPr lang="en-US" altLang="en-US" sz="2000" i="1" dirty="0">
                <a:solidFill>
                  <a:srgbClr val="000000"/>
                </a:solidFill>
                <a:latin typeface="Arial" panose="020B0604020202020204" pitchFamily="34" charset="0"/>
                <a:cs typeface="Arial" panose="020B0604020202020204" pitchFamily="34" charset="0"/>
              </a:rPr>
              <a:t>m</a:t>
            </a:r>
            <a:r>
              <a:rPr lang="en-US" altLang="en-US" sz="2000" dirty="0">
                <a:solidFill>
                  <a:srgbClr val="000000"/>
                </a:solidFill>
                <a:latin typeface="Arial" panose="020B0604020202020204" pitchFamily="34" charset="0"/>
                <a:cs typeface="Arial" panose="020B0604020202020204" pitchFamily="34" charset="0"/>
              </a:rPr>
              <a:t>,</a:t>
            </a:r>
            <a:r>
              <a:rPr lang="en-US" altLang="en-US" sz="2000" dirty="0">
                <a:solidFill>
                  <a:srgbClr val="000000"/>
                </a:solidFill>
                <a:latin typeface="Times New Roman" panose="02020603050405020304" pitchFamily="18" charset="0"/>
                <a:cs typeface="Times New Roman" panose="02020603050405020304" pitchFamily="18" charset="0"/>
              </a:rPr>
              <a:t> </a:t>
            </a:r>
            <a:r>
              <a:rPr lang="en-US" altLang="en-US" sz="2000" dirty="0" err="1">
                <a:solidFill>
                  <a:srgbClr val="000000"/>
                </a:solidFill>
                <a:latin typeface="Arial" panose="020B0604020202020204" pitchFamily="34" charset="0"/>
                <a:cs typeface="Arial" panose="020B0604020202020204" pitchFamily="34" charset="0"/>
              </a:rPr>
              <a:t>MAC</a:t>
            </a:r>
            <a:r>
              <a:rPr lang="en-US" altLang="en-US" sz="1900" baseline="-21000" dirty="0" err="1">
                <a:solidFill>
                  <a:srgbClr val="000000"/>
                </a:solidFill>
                <a:latin typeface="Arial" panose="020B0604020202020204" pitchFamily="34" charset="0"/>
                <a:cs typeface="Arial" panose="020B0604020202020204" pitchFamily="34" charset="0"/>
              </a:rPr>
              <a:t>k</a:t>
            </a:r>
            <a:r>
              <a:rPr lang="en-US" altLang="en-US" sz="1900" baseline="-21000" dirty="0">
                <a:solidFill>
                  <a:srgbClr val="000000"/>
                </a:solidFill>
                <a:latin typeface="Arial" panose="020B0604020202020204" pitchFamily="34" charset="0"/>
                <a:cs typeface="Arial" panose="020B0604020202020204" pitchFamily="34" charset="0"/>
              </a:rPr>
              <a:t>’’</a:t>
            </a:r>
            <a:r>
              <a:rPr lang="en-US" altLang="en-US" sz="2000" dirty="0">
                <a:solidFill>
                  <a:srgbClr val="000000"/>
                </a:solidFill>
                <a:latin typeface="Arial" panose="020B0604020202020204" pitchFamily="34" charset="0"/>
                <a:cs typeface="Arial" panose="020B0604020202020204" pitchFamily="34" charset="0"/>
              </a:rPr>
              <a:t>(</a:t>
            </a:r>
            <a:r>
              <a:rPr lang="en-US" altLang="en-US" sz="2000" i="1" dirty="0">
                <a:solidFill>
                  <a:srgbClr val="000000"/>
                </a:solidFill>
                <a:latin typeface="Arial" panose="020B0604020202020204" pitchFamily="34" charset="0"/>
                <a:cs typeface="Arial" panose="020B0604020202020204" pitchFamily="34" charset="0"/>
              </a:rPr>
              <a:t>m</a:t>
            </a:r>
            <a:r>
              <a:rPr lang="en-US" altLang="en-US" sz="2000" dirty="0">
                <a:solidFill>
                  <a:srgbClr val="000000"/>
                </a:solidFill>
                <a:latin typeface="Arial" panose="020B0604020202020204" pitchFamily="34" charset="0"/>
                <a:cs typeface="Arial" panose="020B0604020202020204" pitchFamily="34" charset="0"/>
              </a:rPr>
              <a:t>))</a:t>
            </a:r>
            <a:endParaRPr lang="en-US" altLang="en-US" sz="2000" dirty="0">
              <a:latin typeface="Arial" panose="020B0604020202020204" pitchFamily="34" charset="0"/>
              <a:cs typeface="Arial" panose="020B0604020202020204" pitchFamily="34" charset="0"/>
            </a:endParaRPr>
          </a:p>
          <a:p>
            <a:pPr marL="381000" indent="-342900" eaLnBrk="1" hangingPunct="1">
              <a:spcBef>
                <a:spcPts val="575"/>
              </a:spcBef>
              <a:buFontTx/>
              <a:buChar char="•"/>
              <a:tabLst>
                <a:tab pos="381000" algn="l"/>
              </a:tabLst>
            </a:pPr>
            <a:r>
              <a:rPr lang="en-US" altLang="en-US" dirty="0">
                <a:latin typeface="Arial" panose="020B0604020202020204" pitchFamily="34" charset="0"/>
                <a:cs typeface="Arial" panose="020B0604020202020204" pitchFamily="34" charset="0"/>
              </a:rPr>
              <a:t>Unsafe</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if</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a</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mode</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other</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than</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CBC</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is</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used.</a:t>
            </a:r>
          </a:p>
          <a:p>
            <a:pPr marL="381000" indent="-342900" eaLnBrk="1" hangingPunct="1">
              <a:spcBef>
                <a:spcPts val="575"/>
              </a:spcBef>
              <a:buFontTx/>
              <a:buChar char="•"/>
              <a:tabLst>
                <a:tab pos="381000" algn="l"/>
              </a:tabLst>
            </a:pPr>
            <a:r>
              <a:rPr lang="en-US" altLang="en-US" dirty="0">
                <a:latin typeface="Arial" panose="020B0604020202020204" pitchFamily="34" charset="0"/>
                <a:cs typeface="Arial" panose="020B0604020202020204" pitchFamily="34" charset="0"/>
              </a:rPr>
              <a:t>Provably</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secure</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with</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CBC.</a:t>
            </a:r>
          </a:p>
          <a:p>
            <a:pPr marL="381000" indent="-342900" eaLnBrk="1" hangingPunct="1">
              <a:spcBef>
                <a:spcPts val="575"/>
              </a:spcBef>
              <a:buFontTx/>
              <a:buChar char="•"/>
              <a:tabLst>
                <a:tab pos="381000" algn="l"/>
              </a:tabLst>
            </a:pPr>
            <a:r>
              <a:rPr lang="en-US" altLang="en-US" dirty="0">
                <a:latin typeface="Arial" panose="020B0604020202020204" pitchFamily="34" charset="0"/>
                <a:cs typeface="Arial" panose="020B0604020202020204" pitchFamily="34" charset="0"/>
              </a:rPr>
              <a:t>Does</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not</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permit</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verification</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before</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decryption.</a:t>
            </a:r>
          </a:p>
          <a:p>
            <a:pPr marL="381000" indent="-342900" eaLnBrk="1" hangingPunct="1">
              <a:spcBef>
                <a:spcPts val="575"/>
              </a:spcBef>
              <a:buFontTx/>
              <a:buChar char="•"/>
              <a:tabLst>
                <a:tab pos="381000" algn="l"/>
              </a:tabLst>
            </a:pPr>
            <a:r>
              <a:rPr lang="en-US" altLang="en-US" dirty="0">
                <a:latin typeface="Arial" panose="020B0604020202020204" pitchFamily="34" charset="0"/>
                <a:cs typeface="Arial" panose="020B0604020202020204" pitchFamily="34" charset="0"/>
              </a:rPr>
              <a:t>Authentication</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tag</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can</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be</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pre-computed,</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and</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remains</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associated</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with</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the</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original</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message</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after</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decryption.</a:t>
            </a:r>
          </a:p>
        </p:txBody>
      </p:sp>
    </p:spTree>
  </p:cSld>
  <p:clrMapOvr>
    <a:masterClrMapping/>
  </p:clrMapOvr>
</p:sld>
</file>

<file path=ppt/theme/theme1.xml><?xml version="1.0" encoding="utf-8"?>
<a:theme xmlns:a="http://schemas.openxmlformats.org/drawingml/2006/main" name="CCNA">
  <a:themeElements>
    <a:clrScheme name="CiscoAcadem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iscoAcadem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73025" tIns="36512" rIns="73025" bIns="36512"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73025" tIns="36512" rIns="73025" bIns="36512"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iscoAcadem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iscoAcademy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iscoAcademy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iscoAcademy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iscoAcademy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iscoAcademy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iscoAcademy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iscoAcademy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iscoAcademy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iscoAcademy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iscoAcademy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iscoAcademy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CCNA</Template>
  <TotalTime>21392</TotalTime>
  <Words>4641</Words>
  <Application>Microsoft Office PowerPoint</Application>
  <PresentationFormat>Widescreen</PresentationFormat>
  <Paragraphs>567</Paragraphs>
  <Slides>71</Slides>
  <Notes>11</Notes>
  <HiddenSlides>0</HiddenSlides>
  <MMClips>0</MMClips>
  <ScaleCrop>false</ScaleCrop>
  <HeadingPairs>
    <vt:vector size="8" baseType="variant">
      <vt:variant>
        <vt:lpstr>Fonts Used</vt:lpstr>
      </vt:variant>
      <vt:variant>
        <vt:i4>10</vt:i4>
      </vt:variant>
      <vt:variant>
        <vt:lpstr>Theme</vt:lpstr>
      </vt:variant>
      <vt:variant>
        <vt:i4>2</vt:i4>
      </vt:variant>
      <vt:variant>
        <vt:lpstr>Slide Titles</vt:lpstr>
      </vt:variant>
      <vt:variant>
        <vt:i4>71</vt:i4>
      </vt:variant>
      <vt:variant>
        <vt:lpstr>Custom Shows</vt:lpstr>
      </vt:variant>
      <vt:variant>
        <vt:i4>1</vt:i4>
      </vt:variant>
    </vt:vector>
  </HeadingPairs>
  <TitlesOfParts>
    <vt:vector size="84" baseType="lpstr">
      <vt:lpstr>SimSun</vt:lpstr>
      <vt:lpstr>Arial</vt:lpstr>
      <vt:lpstr>Calibri</vt:lpstr>
      <vt:lpstr>CMSS12</vt:lpstr>
      <vt:lpstr>Google Sans Text</vt:lpstr>
      <vt:lpstr>MS PGothic</vt:lpstr>
      <vt:lpstr>Symbol</vt:lpstr>
      <vt:lpstr>Times New Roman</vt:lpstr>
      <vt:lpstr>Tw Cen MT</vt:lpstr>
      <vt:lpstr>Wingdings</vt:lpstr>
      <vt:lpstr>CCNA</vt:lpstr>
      <vt:lpstr>Office Theme</vt:lpstr>
      <vt:lpstr>Cryptographic Hash and MAC</vt:lpstr>
      <vt:lpstr>PowerPoint Presentation</vt:lpstr>
      <vt:lpstr>PowerPoint Presentation</vt:lpstr>
      <vt:lpstr>Message Authentication Requirements</vt:lpstr>
      <vt:lpstr>Message Authentication Functions</vt:lpstr>
      <vt:lpstr>Symmetric Message Encryption</vt:lpstr>
      <vt:lpstr>Message Encryption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One Way Function: what is computationally infeasible?</vt:lpstr>
      <vt:lpstr>Second pre-image resistant - computational cost</vt:lpstr>
      <vt:lpstr>Collision Resistant - computational cost</vt:lpstr>
      <vt:lpstr>Constructing Hash Functions</vt:lpstr>
      <vt:lpstr>Merkle-Damgard (MD)</vt:lpstr>
      <vt:lpstr>A Somewhat Different 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Iterated Hash Function</vt:lpstr>
      <vt:lpstr>Iterated Hash Function</vt:lpstr>
      <vt:lpstr>Two Groups of Compression Functions</vt:lpstr>
      <vt:lpstr>Secure Hash Function</vt:lpstr>
      <vt:lpstr>Hash Functions Based on Block Ciphers</vt:lpstr>
      <vt:lpstr>Hash Functions Based on Block Ciphers</vt:lpstr>
      <vt:lpstr>Hash Functions Based on Block Ciphers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Secret Key Cryptography: Insecure Channels and Media</vt:lpstr>
      <vt:lpstr>Checksums and CRCs</vt:lpstr>
      <vt:lpstr>Message Authentication Code (MAC)</vt:lpstr>
      <vt:lpstr>Using MACs</vt:lpstr>
      <vt:lpstr>MAC using Secret Key System</vt:lpstr>
      <vt:lpstr>Encryption + Integrity</vt:lpstr>
      <vt:lpstr>Order of Encryption/Authentication</vt:lpstr>
      <vt:lpstr>Authentication+Encryption</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Packet Tracer</dc:title>
  <dc:creator>Kenneth M. Chipps Ph.D.</dc:creator>
  <cp:lastModifiedBy>HP</cp:lastModifiedBy>
  <cp:revision>416</cp:revision>
  <dcterms:created xsi:type="dcterms:W3CDTF">2006-12-01T18:00:48Z</dcterms:created>
  <dcterms:modified xsi:type="dcterms:W3CDTF">2026-09-17T03:55:06Z</dcterms:modified>
</cp:coreProperties>
</file>