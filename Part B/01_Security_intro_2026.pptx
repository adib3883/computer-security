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1"/>
  </p:notesMasterIdLst>
  <p:sldIdLst>
    <p:sldId id="257" r:id="rId2"/>
    <p:sldId id="947" r:id="rId3"/>
    <p:sldId id="948" r:id="rId4"/>
    <p:sldId id="949" r:id="rId5"/>
    <p:sldId id="950" r:id="rId6"/>
    <p:sldId id="951" r:id="rId7"/>
    <p:sldId id="952" r:id="rId8"/>
    <p:sldId id="953" r:id="rId9"/>
    <p:sldId id="954" r:id="rId10"/>
    <p:sldId id="955" r:id="rId11"/>
    <p:sldId id="956" r:id="rId12"/>
    <p:sldId id="957" r:id="rId13"/>
    <p:sldId id="958" r:id="rId14"/>
    <p:sldId id="959" r:id="rId15"/>
    <p:sldId id="962" r:id="rId16"/>
    <p:sldId id="963" r:id="rId17"/>
    <p:sldId id="964" r:id="rId18"/>
    <p:sldId id="961" r:id="rId19"/>
    <p:sldId id="960" r:id="rId20"/>
    <p:sldId id="891" r:id="rId21"/>
    <p:sldId id="894" r:id="rId22"/>
    <p:sldId id="892" r:id="rId23"/>
    <p:sldId id="967" r:id="rId24"/>
    <p:sldId id="968" r:id="rId25"/>
    <p:sldId id="965" r:id="rId26"/>
    <p:sldId id="896" r:id="rId27"/>
    <p:sldId id="897" r:id="rId28"/>
    <p:sldId id="901" r:id="rId29"/>
    <p:sldId id="973" r:id="rId30"/>
    <p:sldId id="972" r:id="rId31"/>
    <p:sldId id="830" r:id="rId32"/>
    <p:sldId id="831" r:id="rId33"/>
    <p:sldId id="832" r:id="rId34"/>
    <p:sldId id="927" r:id="rId35"/>
    <p:sldId id="992" r:id="rId36"/>
    <p:sldId id="993" r:id="rId37"/>
    <p:sldId id="833" r:id="rId38"/>
    <p:sldId id="834" r:id="rId39"/>
    <p:sldId id="835" r:id="rId40"/>
    <p:sldId id="974" r:id="rId41"/>
    <p:sldId id="975" r:id="rId42"/>
    <p:sldId id="904" r:id="rId43"/>
    <p:sldId id="995" r:id="rId44"/>
    <p:sldId id="836" r:id="rId45"/>
    <p:sldId id="837" r:id="rId46"/>
    <p:sldId id="838" r:id="rId47"/>
    <p:sldId id="994" r:id="rId48"/>
    <p:sldId id="976" r:id="rId49"/>
    <p:sldId id="996" r:id="rId50"/>
    <p:sldId id="997" r:id="rId51"/>
    <p:sldId id="977" r:id="rId52"/>
    <p:sldId id="925" r:id="rId53"/>
    <p:sldId id="978" r:id="rId54"/>
    <p:sldId id="998" r:id="rId55"/>
    <p:sldId id="256" r:id="rId56"/>
    <p:sldId id="259" r:id="rId57"/>
    <p:sldId id="980" r:id="rId58"/>
    <p:sldId id="979" r:id="rId59"/>
    <p:sldId id="999" r:id="rId60"/>
    <p:sldId id="981" r:id="rId61"/>
    <p:sldId id="982" r:id="rId62"/>
    <p:sldId id="983" r:id="rId63"/>
    <p:sldId id="1001" r:id="rId64"/>
    <p:sldId id="1002" r:id="rId65"/>
    <p:sldId id="966" r:id="rId66"/>
    <p:sldId id="984" r:id="rId67"/>
    <p:sldId id="985" r:id="rId68"/>
    <p:sldId id="986" r:id="rId69"/>
    <p:sldId id="987" r:id="rId70"/>
    <p:sldId id="988" r:id="rId71"/>
    <p:sldId id="989" r:id="rId72"/>
    <p:sldId id="1003" r:id="rId73"/>
    <p:sldId id="1005" r:id="rId74"/>
    <p:sldId id="1006" r:id="rId75"/>
    <p:sldId id="258" r:id="rId76"/>
    <p:sldId id="1008" r:id="rId77"/>
    <p:sldId id="1007" r:id="rId78"/>
    <p:sldId id="260" r:id="rId79"/>
    <p:sldId id="261" r:id="rId80"/>
    <p:sldId id="1009" r:id="rId81"/>
    <p:sldId id="262" r:id="rId82"/>
    <p:sldId id="263" r:id="rId83"/>
    <p:sldId id="1010" r:id="rId84"/>
    <p:sldId id="264" r:id="rId85"/>
    <p:sldId id="265" r:id="rId86"/>
    <p:sldId id="266" r:id="rId87"/>
    <p:sldId id="1011" r:id="rId88"/>
    <p:sldId id="1012" r:id="rId89"/>
    <p:sldId id="1013" r:id="rId90"/>
    <p:sldId id="1014" r:id="rId91"/>
    <p:sldId id="1015" r:id="rId92"/>
    <p:sldId id="1016" r:id="rId93"/>
    <p:sldId id="1017" r:id="rId94"/>
    <p:sldId id="1018" r:id="rId95"/>
    <p:sldId id="1019" r:id="rId96"/>
    <p:sldId id="1020" r:id="rId97"/>
    <p:sldId id="1021" r:id="rId98"/>
    <p:sldId id="1022" r:id="rId99"/>
    <p:sldId id="1023" r:id="rId100"/>
    <p:sldId id="1024" r:id="rId101"/>
    <p:sldId id="1025" r:id="rId102"/>
    <p:sldId id="1026" r:id="rId103"/>
    <p:sldId id="1027" r:id="rId104"/>
    <p:sldId id="1028" r:id="rId105"/>
    <p:sldId id="1029" r:id="rId106"/>
    <p:sldId id="1030" r:id="rId107"/>
    <p:sldId id="1031" r:id="rId108"/>
    <p:sldId id="1032" r:id="rId109"/>
    <p:sldId id="839" r:id="rId110"/>
    <p:sldId id="840" r:id="rId111"/>
    <p:sldId id="841" r:id="rId112"/>
    <p:sldId id="842" r:id="rId113"/>
    <p:sldId id="843" r:id="rId114"/>
    <p:sldId id="844" r:id="rId115"/>
    <p:sldId id="845" r:id="rId116"/>
    <p:sldId id="846" r:id="rId117"/>
    <p:sldId id="847" r:id="rId118"/>
    <p:sldId id="848" r:id="rId119"/>
    <p:sldId id="849" r:id="rId120"/>
    <p:sldId id="1000" r:id="rId121"/>
    <p:sldId id="850" r:id="rId122"/>
    <p:sldId id="851" r:id="rId123"/>
    <p:sldId id="852" r:id="rId124"/>
    <p:sldId id="853" r:id="rId125"/>
    <p:sldId id="854" r:id="rId126"/>
    <p:sldId id="855" r:id="rId127"/>
    <p:sldId id="856" r:id="rId128"/>
    <p:sldId id="857" r:id="rId129"/>
    <p:sldId id="906" r:id="rId130"/>
    <p:sldId id="905" r:id="rId131"/>
    <p:sldId id="907" r:id="rId132"/>
    <p:sldId id="908" r:id="rId133"/>
    <p:sldId id="858" r:id="rId134"/>
    <p:sldId id="859" r:id="rId135"/>
    <p:sldId id="860" r:id="rId136"/>
    <p:sldId id="861" r:id="rId137"/>
    <p:sldId id="862" r:id="rId138"/>
    <p:sldId id="863" r:id="rId139"/>
    <p:sldId id="864" r:id="rId140"/>
    <p:sldId id="865" r:id="rId141"/>
    <p:sldId id="866" r:id="rId142"/>
    <p:sldId id="867" r:id="rId143"/>
    <p:sldId id="868" r:id="rId144"/>
    <p:sldId id="909" r:id="rId145"/>
    <p:sldId id="910" r:id="rId146"/>
    <p:sldId id="911" r:id="rId147"/>
    <p:sldId id="912" r:id="rId148"/>
    <p:sldId id="869" r:id="rId149"/>
    <p:sldId id="870" r:id="rId150"/>
    <p:sldId id="871" r:id="rId151"/>
    <p:sldId id="872" r:id="rId152"/>
    <p:sldId id="873" r:id="rId153"/>
    <p:sldId id="913" r:id="rId154"/>
    <p:sldId id="969" r:id="rId155"/>
    <p:sldId id="970" r:id="rId156"/>
    <p:sldId id="923" r:id="rId157"/>
    <p:sldId id="991" r:id="rId158"/>
    <p:sldId id="990" r:id="rId159"/>
    <p:sldId id="886" r:id="rId160"/>
    <p:sldId id="971" r:id="rId161"/>
    <p:sldId id="914" r:id="rId162"/>
    <p:sldId id="915" r:id="rId163"/>
    <p:sldId id="916" r:id="rId164"/>
    <p:sldId id="917" r:id="rId165"/>
    <p:sldId id="918" r:id="rId166"/>
    <p:sldId id="919" r:id="rId167"/>
    <p:sldId id="920" r:id="rId168"/>
    <p:sldId id="924" r:id="rId169"/>
    <p:sldId id="888" r:id="rId170"/>
  </p:sldIdLst>
  <p:sldSz cx="18288000" cy="10287000"/>
  <p:notesSz cx="6858000" cy="9144000"/>
  <p:embeddedFontLst>
    <p:embeddedFont>
      <p:font typeface="Arial Unicode MS" panose="020B0604020202020204" pitchFamily="34" charset="-128"/>
      <p:regular r:id="rId172"/>
    </p:embeddedFont>
    <p:embeddedFont>
      <p:font typeface="Calisto MT" panose="02040603050505030304" pitchFamily="18" charset="0"/>
      <p:regular r:id="rId173"/>
      <p:bold r:id="rId174"/>
      <p:italic r:id="rId175"/>
      <p:boldItalic r:id="rId176"/>
    </p:embeddedFont>
    <p:embeddedFont>
      <p:font typeface="DM Sans" pitchFamily="2" charset="0"/>
      <p:regular r:id="rId177"/>
      <p:bold r:id="rId178"/>
    </p:embeddedFont>
    <p:embeddedFont>
      <p:font typeface="Inter"/>
      <p:regular r:id="rId179"/>
      <p:bold r:id="rId180"/>
      <p:italic r:id="rId181"/>
      <p:boldItalic r:id="rId182"/>
    </p:embeddedFont>
    <p:embeddedFont>
      <p:font typeface="JetBrains Mono"/>
      <p:regular r:id="rId183"/>
      <p:bold r:id="rId184"/>
      <p:italic r:id="rId185"/>
      <p:boldItalic r:id="rId186"/>
    </p:embeddedFont>
    <p:embeddedFont>
      <p:font typeface="Lucida Sans" panose="020B0602040502020204" pitchFamily="34" charset="0"/>
      <p:italic r:id="rId187"/>
    </p:embeddedFont>
    <p:embeddedFont>
      <p:font typeface="Merriweather" panose="00000500000000000000" pitchFamily="2" charset="0"/>
      <p:regular r:id="rId188"/>
      <p:bold r:id="rId189"/>
    </p:embeddedFont>
    <p:embeddedFont>
      <p:font typeface="MS PGothic" panose="020B0600070205080204" pitchFamily="34" charset="-128"/>
      <p:regular r:id="rId190"/>
    </p:embeddedFont>
    <p:embeddedFont>
      <p:font typeface="Outfit"/>
      <p:regular r:id="rId191"/>
      <p:bold r:id="rId192"/>
    </p:embeddedFont>
    <p:embeddedFont>
      <p:font typeface="Tahoma" panose="020B0604030504040204" pitchFamily="34" charset="0"/>
      <p:regular r:id="rId193"/>
      <p:bold r:id="rId194"/>
    </p:embeddedFont>
    <p:embeddedFont>
      <p:font typeface="Times" panose="02020603050405020304" pitchFamily="18" charset="0"/>
      <p:regular r:id="rId195"/>
      <p:bold r:id="rId196"/>
      <p:italic r:id="rId197"/>
      <p:boldItalic r:id="rId198"/>
    </p:embeddedFont>
    <p:embeddedFont>
      <p:font typeface="Urbanist" panose="020B0604020202020204" charset="0"/>
      <p:regular r:id="rId199"/>
      <p:bold r:id="rId200"/>
      <p:italic r:id="rId201"/>
      <p:boldItalic r:id="rId20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A4F62"/>
    <a:srgbClr val="C2DD8F"/>
    <a:srgbClr val="4B4E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6" autoAdjust="0"/>
    <p:restoredTop sz="72841" autoAdjust="0"/>
  </p:normalViewPr>
  <p:slideViewPr>
    <p:cSldViewPr>
      <p:cViewPr varScale="1">
        <p:scale>
          <a:sx n="37" d="100"/>
          <a:sy n="37" d="100"/>
        </p:scale>
        <p:origin x="67" y="13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font" Target="fonts/font20.fntdata"/><Relationship Id="rId205" Type="http://schemas.openxmlformats.org/officeDocument/2006/relationships/theme" Target="theme/theme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font" Target="fonts/font10.fntdata"/><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notesMaster" Target="notesMasters/notesMaster1.xml"/><Relationship Id="rId192" Type="http://schemas.openxmlformats.org/officeDocument/2006/relationships/font" Target="fonts/font21.fntdata"/><Relationship Id="rId206" Type="http://schemas.openxmlformats.org/officeDocument/2006/relationships/tableStyles" Target="tableStyles.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font" Target="fonts/font11.fntdata"/><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font" Target="fonts/font1.fntdata"/><Relationship Id="rId193" Type="http://schemas.openxmlformats.org/officeDocument/2006/relationships/font" Target="fonts/font22.fntdata"/><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font" Target="fonts/font12.fntdata"/><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font" Target="fonts/font7.fntdata"/><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font" Target="fonts/font2.fntdata"/><Relationship Id="rId194" Type="http://schemas.openxmlformats.org/officeDocument/2006/relationships/font" Target="fonts/font23.fntdata"/><Relationship Id="rId199" Type="http://schemas.openxmlformats.org/officeDocument/2006/relationships/font" Target="fonts/font28.fntdata"/><Relationship Id="rId203"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font" Target="fonts/font13.fntdata"/><Relationship Id="rId189" Type="http://schemas.openxmlformats.org/officeDocument/2006/relationships/font" Target="fonts/font18.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font" Target="fonts/font3.fntdata"/><Relationship Id="rId179" Type="http://schemas.openxmlformats.org/officeDocument/2006/relationships/font" Target="fonts/font8.fntdata"/><Relationship Id="rId195" Type="http://schemas.openxmlformats.org/officeDocument/2006/relationships/font" Target="fonts/font24.fntdata"/><Relationship Id="rId190" Type="http://schemas.openxmlformats.org/officeDocument/2006/relationships/font" Target="fonts/font19.fntdata"/><Relationship Id="rId204"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font" Target="fonts/font9.fntdata"/><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font" Target="fonts/font4.fntdata"/><Relationship Id="rId196" Type="http://schemas.openxmlformats.org/officeDocument/2006/relationships/font" Target="fonts/font25.fntdata"/><Relationship Id="rId200" Type="http://schemas.openxmlformats.org/officeDocument/2006/relationships/font" Target="fonts/font29.fntdata"/><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font" Target="fonts/font15.fntdata"/><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font" Target="fonts/font5.fntdata"/><Relationship Id="rId197" Type="http://schemas.openxmlformats.org/officeDocument/2006/relationships/font" Target="fonts/font26.fntdata"/><Relationship Id="rId201" Type="http://schemas.openxmlformats.org/officeDocument/2006/relationships/font" Target="fonts/font30.fntdata"/><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font" Target="fonts/font16.fntdata"/><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font" Target="fonts/font6.fntdata"/><Relationship Id="rId198" Type="http://schemas.openxmlformats.org/officeDocument/2006/relationships/font" Target="fonts/font27.fntdata"/><Relationship Id="rId202" Type="http://schemas.openxmlformats.org/officeDocument/2006/relationships/font" Target="fonts/font31.fntdata"/><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font" Target="fonts/font17.fntdata"/><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567974E-4399-F548-A0B8-9EB94BC45965}"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318A4174-A7E5-9F48-9C92-954100843372}">
      <dgm:prSet custT="1"/>
      <dgm:spPr/>
      <dgm:t>
        <a:bodyPr/>
        <a:lstStyle/>
        <a:p>
          <a:pPr rtl="0"/>
          <a:r>
            <a:rPr lang="en-US" sz="4000" dirty="0">
              <a:solidFill>
                <a:srgbClr val="FFFF00"/>
              </a:solidFill>
              <a:effectLst>
                <a:outerShdw blurRad="38100" dist="38100" dir="2700000" algn="tl">
                  <a:srgbClr val="000000">
                    <a:alpha val="43137"/>
                  </a:srgbClr>
                </a:outerShdw>
              </a:effectLst>
            </a:rPr>
            <a:t>Confidentiality</a:t>
          </a:r>
        </a:p>
      </dgm:t>
    </dgm:pt>
    <dgm:pt modelId="{40FB4427-3126-D944-B8DA-E500D87C2E12}" type="parTrans" cxnId="{40FF8A8E-A32D-3F40-A66A-FBEC46A44D72}">
      <dgm:prSet/>
      <dgm:spPr/>
      <dgm:t>
        <a:bodyPr/>
        <a:lstStyle/>
        <a:p>
          <a:endParaRPr lang="en-US"/>
        </a:p>
      </dgm:t>
    </dgm:pt>
    <dgm:pt modelId="{8F15643E-7BA4-D84A-963E-7FF978BFFDE9}" type="sibTrans" cxnId="{40FF8A8E-A32D-3F40-A66A-FBEC46A44D72}">
      <dgm:prSet/>
      <dgm:spPr/>
      <dgm:t>
        <a:bodyPr/>
        <a:lstStyle/>
        <a:p>
          <a:endParaRPr lang="en-US"/>
        </a:p>
      </dgm:t>
    </dgm:pt>
    <dgm:pt modelId="{21A9F706-8CA7-D446-8BEA-2B90D05E4FEB}">
      <dgm:prSet custT="1"/>
      <dgm:spPr/>
      <dgm:t>
        <a:bodyPr/>
        <a:lstStyle/>
        <a:p>
          <a:pPr rtl="0"/>
          <a:r>
            <a:rPr lang="en-US" sz="2400" b="1" dirty="0">
              <a:solidFill>
                <a:schemeClr val="tx2">
                  <a:lumMod val="10000"/>
                </a:schemeClr>
              </a:solidFill>
            </a:rPr>
            <a:t>Data confidentiality</a:t>
          </a:r>
        </a:p>
      </dgm:t>
    </dgm:pt>
    <dgm:pt modelId="{ADE95395-6D54-1349-94BA-33C16F8584B2}" type="parTrans" cxnId="{59D0DD1D-922F-DE4F-8C7F-2663E70D41CE}">
      <dgm:prSet/>
      <dgm:spPr/>
      <dgm:t>
        <a:bodyPr/>
        <a:lstStyle/>
        <a:p>
          <a:endParaRPr lang="en-US"/>
        </a:p>
      </dgm:t>
    </dgm:pt>
    <dgm:pt modelId="{D4DDB567-C84F-1C44-B7A8-86024AD82621}" type="sibTrans" cxnId="{59D0DD1D-922F-DE4F-8C7F-2663E70D41CE}">
      <dgm:prSet/>
      <dgm:spPr/>
      <dgm:t>
        <a:bodyPr/>
        <a:lstStyle/>
        <a:p>
          <a:endParaRPr lang="en-US"/>
        </a:p>
      </dgm:t>
    </dgm:pt>
    <dgm:pt modelId="{B21E9014-F1B9-5E49-94EA-5CCB3041C961}">
      <dgm:prSet custT="1"/>
      <dgm:spPr/>
      <dgm:t>
        <a:bodyPr/>
        <a:lstStyle/>
        <a:p>
          <a:pPr rtl="0"/>
          <a:r>
            <a:rPr lang="en-US" sz="2800" dirty="0"/>
            <a:t>Assures that private or confidential information is not made available or disclosed </a:t>
          </a:r>
          <a:r>
            <a:rPr lang="en-US" sz="2800" dirty="0">
              <a:solidFill>
                <a:srgbClr val="FF0000"/>
              </a:solidFill>
            </a:rPr>
            <a:t>to unauthorized individuals</a:t>
          </a:r>
        </a:p>
      </dgm:t>
    </dgm:pt>
    <dgm:pt modelId="{67DCBDF3-A0A9-6D4B-A351-488C0AF72F07}" type="parTrans" cxnId="{67B8EB2D-A751-1D4A-914D-D2AD4733CBBD}">
      <dgm:prSet/>
      <dgm:spPr/>
      <dgm:t>
        <a:bodyPr/>
        <a:lstStyle/>
        <a:p>
          <a:endParaRPr lang="en-US"/>
        </a:p>
      </dgm:t>
    </dgm:pt>
    <dgm:pt modelId="{B7B36CEC-824D-0D4D-93BF-4BDBA5F7D673}" type="sibTrans" cxnId="{67B8EB2D-A751-1D4A-914D-D2AD4733CBBD}">
      <dgm:prSet/>
      <dgm:spPr/>
      <dgm:t>
        <a:bodyPr/>
        <a:lstStyle/>
        <a:p>
          <a:endParaRPr lang="en-US"/>
        </a:p>
      </dgm:t>
    </dgm:pt>
    <dgm:pt modelId="{6035E519-D43A-9845-9BBF-8E7DF74F833D}">
      <dgm:prSet custT="1"/>
      <dgm:spPr/>
      <dgm:t>
        <a:bodyPr/>
        <a:lstStyle/>
        <a:p>
          <a:pPr rtl="0"/>
          <a:r>
            <a:rPr lang="en-US" sz="2400" b="1" dirty="0">
              <a:solidFill>
                <a:schemeClr val="tx2">
                  <a:lumMod val="10000"/>
                </a:schemeClr>
              </a:solidFill>
            </a:rPr>
            <a:t>Privacy</a:t>
          </a:r>
        </a:p>
      </dgm:t>
    </dgm:pt>
    <dgm:pt modelId="{37E13955-F314-494E-ADAB-DC93BBB4BEE0}" type="parTrans" cxnId="{EB142F24-E3E0-AD4B-B2A0-95DF667E0C43}">
      <dgm:prSet/>
      <dgm:spPr/>
      <dgm:t>
        <a:bodyPr/>
        <a:lstStyle/>
        <a:p>
          <a:endParaRPr lang="en-US"/>
        </a:p>
      </dgm:t>
    </dgm:pt>
    <dgm:pt modelId="{B593D6B0-D808-2143-AB3A-690922D49438}" type="sibTrans" cxnId="{EB142F24-E3E0-AD4B-B2A0-95DF667E0C43}">
      <dgm:prSet/>
      <dgm:spPr/>
      <dgm:t>
        <a:bodyPr/>
        <a:lstStyle/>
        <a:p>
          <a:endParaRPr lang="en-US"/>
        </a:p>
      </dgm:t>
    </dgm:pt>
    <dgm:pt modelId="{69FCB829-A180-964B-A24B-0C706AD3D91E}">
      <dgm:prSet custT="1"/>
      <dgm:spPr/>
      <dgm:t>
        <a:bodyPr/>
        <a:lstStyle/>
        <a:p>
          <a:pPr rtl="0"/>
          <a:r>
            <a:rPr lang="en-US" sz="2800" dirty="0"/>
            <a:t>Assures that </a:t>
          </a:r>
          <a:r>
            <a:rPr lang="en-US" sz="2800" dirty="0">
              <a:solidFill>
                <a:srgbClr val="FF0000"/>
              </a:solidFill>
            </a:rPr>
            <a:t>individuals control </a:t>
          </a:r>
          <a:r>
            <a:rPr lang="en-US" sz="2800" dirty="0"/>
            <a:t>or influence what information related to them may be collected and stored and by whom and to whom that information may be disclosed</a:t>
          </a:r>
        </a:p>
      </dgm:t>
    </dgm:pt>
    <dgm:pt modelId="{2EF42A8E-639D-A34D-BC76-23FE2383B4D3}" type="parTrans" cxnId="{4A572C50-A751-FB40-A850-838F8C96B8CD}">
      <dgm:prSet/>
      <dgm:spPr/>
      <dgm:t>
        <a:bodyPr/>
        <a:lstStyle/>
        <a:p>
          <a:endParaRPr lang="en-US"/>
        </a:p>
      </dgm:t>
    </dgm:pt>
    <dgm:pt modelId="{142EA30A-FBF1-5643-A3DE-4F13F46C14CD}" type="sibTrans" cxnId="{4A572C50-A751-FB40-A850-838F8C96B8CD}">
      <dgm:prSet/>
      <dgm:spPr/>
      <dgm:t>
        <a:bodyPr/>
        <a:lstStyle/>
        <a:p>
          <a:endParaRPr lang="en-US"/>
        </a:p>
      </dgm:t>
    </dgm:pt>
    <dgm:pt modelId="{8E786CE7-B556-B840-8BF5-6292FDE95AEE}">
      <dgm:prSet custT="1"/>
      <dgm:spPr/>
      <dgm:t>
        <a:bodyPr/>
        <a:lstStyle/>
        <a:p>
          <a:pPr algn="ctr" rtl="0"/>
          <a:r>
            <a:rPr lang="en-US" sz="4400" dirty="0">
              <a:solidFill>
                <a:srgbClr val="FFFF00"/>
              </a:solidFill>
              <a:effectLst>
                <a:outerShdw blurRad="38100" dist="38100" dir="2700000" algn="tl">
                  <a:srgbClr val="000000">
                    <a:alpha val="43137"/>
                  </a:srgbClr>
                </a:outerShdw>
              </a:effectLst>
            </a:rPr>
            <a:t>Availability</a:t>
          </a:r>
        </a:p>
      </dgm:t>
    </dgm:pt>
    <dgm:pt modelId="{D7C53212-50CB-E041-B8A6-7C37BFF256F2}" type="parTrans" cxnId="{1A0C63BB-E837-FC47-BF44-A889B511BE1E}">
      <dgm:prSet/>
      <dgm:spPr/>
      <dgm:t>
        <a:bodyPr/>
        <a:lstStyle/>
        <a:p>
          <a:endParaRPr lang="en-US"/>
        </a:p>
      </dgm:t>
    </dgm:pt>
    <dgm:pt modelId="{00A03D01-DA6F-F048-BC29-58C578B54D42}" type="sibTrans" cxnId="{1A0C63BB-E837-FC47-BF44-A889B511BE1E}">
      <dgm:prSet/>
      <dgm:spPr/>
      <dgm:t>
        <a:bodyPr/>
        <a:lstStyle/>
        <a:p>
          <a:endParaRPr lang="en-US"/>
        </a:p>
      </dgm:t>
    </dgm:pt>
    <dgm:pt modelId="{A06EF79B-B678-0A4D-B154-D65B70B0BE8B}">
      <dgm:prSet custT="1"/>
      <dgm:spPr/>
      <dgm:t>
        <a:bodyPr/>
        <a:lstStyle/>
        <a:p>
          <a:pPr rtl="0"/>
          <a:r>
            <a:rPr lang="en-US" sz="2800" dirty="0"/>
            <a:t>Assures that systems work promptly and </a:t>
          </a:r>
          <a:r>
            <a:rPr lang="en-US" sz="2800" dirty="0">
              <a:solidFill>
                <a:srgbClr val="FF0000"/>
              </a:solidFill>
            </a:rPr>
            <a:t>service is not denied</a:t>
          </a:r>
          <a:r>
            <a:rPr lang="en-US" sz="2800" dirty="0">
              <a:solidFill>
                <a:srgbClr val="00B0F0"/>
              </a:solidFill>
            </a:rPr>
            <a:t> </a:t>
          </a:r>
          <a:r>
            <a:rPr lang="en-US" sz="2800" dirty="0"/>
            <a:t>to authorized users</a:t>
          </a:r>
        </a:p>
      </dgm:t>
    </dgm:pt>
    <dgm:pt modelId="{6FA206AC-30F8-C544-9604-2CA8E53FFCEF}" type="parTrans" cxnId="{C0ED1F73-19FA-4347-BFA9-88092C8EA421}">
      <dgm:prSet/>
      <dgm:spPr/>
      <dgm:t>
        <a:bodyPr/>
        <a:lstStyle/>
        <a:p>
          <a:endParaRPr lang="en-US"/>
        </a:p>
      </dgm:t>
    </dgm:pt>
    <dgm:pt modelId="{4467D7CD-857D-764C-811B-82D854FAD4EF}" type="sibTrans" cxnId="{C0ED1F73-19FA-4347-BFA9-88092C8EA421}">
      <dgm:prSet/>
      <dgm:spPr/>
      <dgm:t>
        <a:bodyPr/>
        <a:lstStyle/>
        <a:p>
          <a:endParaRPr lang="en-US"/>
        </a:p>
      </dgm:t>
    </dgm:pt>
    <dgm:pt modelId="{34173FFC-40F5-D74A-B8CF-1587B7364017}" type="pres">
      <dgm:prSet presAssocID="{2567974E-4399-F548-A0B8-9EB94BC45965}" presName="linear" presStyleCnt="0">
        <dgm:presLayoutVars>
          <dgm:dir/>
          <dgm:animLvl val="lvl"/>
          <dgm:resizeHandles val="exact"/>
        </dgm:presLayoutVars>
      </dgm:prSet>
      <dgm:spPr/>
    </dgm:pt>
    <dgm:pt modelId="{F2778957-62DF-9344-B516-61D513DAD32B}" type="pres">
      <dgm:prSet presAssocID="{318A4174-A7E5-9F48-9C92-954100843372}" presName="parentLin" presStyleCnt="0"/>
      <dgm:spPr/>
    </dgm:pt>
    <dgm:pt modelId="{51A02C84-5188-D145-814C-E8418EA6DECE}" type="pres">
      <dgm:prSet presAssocID="{318A4174-A7E5-9F48-9C92-954100843372}" presName="parentLeftMargin" presStyleLbl="node1" presStyleIdx="0" presStyleCnt="2"/>
      <dgm:spPr/>
    </dgm:pt>
    <dgm:pt modelId="{6049758F-6852-7E48-A5F6-439FA44B34F9}" type="pres">
      <dgm:prSet presAssocID="{318A4174-A7E5-9F48-9C92-954100843372}" presName="parentText" presStyleLbl="node1" presStyleIdx="0" presStyleCnt="2" custScaleX="45813" custScaleY="173222">
        <dgm:presLayoutVars>
          <dgm:chMax val="0"/>
          <dgm:bulletEnabled val="1"/>
        </dgm:presLayoutVars>
      </dgm:prSet>
      <dgm:spPr/>
    </dgm:pt>
    <dgm:pt modelId="{0F1C9714-B9E4-2444-8242-5DE4BF09B262}" type="pres">
      <dgm:prSet presAssocID="{318A4174-A7E5-9F48-9C92-954100843372}" presName="negativeSpace" presStyleCnt="0"/>
      <dgm:spPr/>
    </dgm:pt>
    <dgm:pt modelId="{5A498C14-EC1A-C044-AC9A-2483F9CB7F7A}" type="pres">
      <dgm:prSet presAssocID="{318A4174-A7E5-9F48-9C92-954100843372}" presName="childText" presStyleLbl="conFgAcc1" presStyleIdx="0" presStyleCnt="2">
        <dgm:presLayoutVars>
          <dgm:bulletEnabled val="1"/>
        </dgm:presLayoutVars>
      </dgm:prSet>
      <dgm:spPr/>
    </dgm:pt>
    <dgm:pt modelId="{90DA03B9-90CC-8D4F-907E-0596F46D16FC}" type="pres">
      <dgm:prSet presAssocID="{8F15643E-7BA4-D84A-963E-7FF978BFFDE9}" presName="spaceBetweenRectangles" presStyleCnt="0"/>
      <dgm:spPr/>
    </dgm:pt>
    <dgm:pt modelId="{9D6EEB7C-6CF8-3F45-82A4-66F4F2BD0126}" type="pres">
      <dgm:prSet presAssocID="{8E786CE7-B556-B840-8BF5-6292FDE95AEE}" presName="parentLin" presStyleCnt="0"/>
      <dgm:spPr/>
    </dgm:pt>
    <dgm:pt modelId="{66FCA555-5B0A-5E4D-9599-E70C35274D14}" type="pres">
      <dgm:prSet presAssocID="{8E786CE7-B556-B840-8BF5-6292FDE95AEE}" presName="parentLeftMargin" presStyleLbl="node1" presStyleIdx="0" presStyleCnt="2"/>
      <dgm:spPr/>
    </dgm:pt>
    <dgm:pt modelId="{667DCDD7-116F-2549-8EDA-F2F25FC22E3F}" type="pres">
      <dgm:prSet presAssocID="{8E786CE7-B556-B840-8BF5-6292FDE95AEE}" presName="parentText" presStyleLbl="node1" presStyleIdx="1" presStyleCnt="2" custScaleX="45813" custScaleY="185170">
        <dgm:presLayoutVars>
          <dgm:chMax val="0"/>
          <dgm:bulletEnabled val="1"/>
        </dgm:presLayoutVars>
      </dgm:prSet>
      <dgm:spPr/>
    </dgm:pt>
    <dgm:pt modelId="{CC16871E-D7A3-A244-8DA3-5F2C4D567BEE}" type="pres">
      <dgm:prSet presAssocID="{8E786CE7-B556-B840-8BF5-6292FDE95AEE}" presName="negativeSpace" presStyleCnt="0"/>
      <dgm:spPr/>
    </dgm:pt>
    <dgm:pt modelId="{CC27436A-1E4D-D84D-A7FC-05F0DE392564}" type="pres">
      <dgm:prSet presAssocID="{8E786CE7-B556-B840-8BF5-6292FDE95AEE}" presName="childText" presStyleLbl="conFgAcc1" presStyleIdx="1" presStyleCnt="2">
        <dgm:presLayoutVars>
          <dgm:bulletEnabled val="1"/>
        </dgm:presLayoutVars>
      </dgm:prSet>
      <dgm:spPr/>
    </dgm:pt>
  </dgm:ptLst>
  <dgm:cxnLst>
    <dgm:cxn modelId="{15E1900C-17AB-4BCA-BEEE-5885366E8C44}" type="presOf" srcId="{8E786CE7-B556-B840-8BF5-6292FDE95AEE}" destId="{667DCDD7-116F-2549-8EDA-F2F25FC22E3F}" srcOrd="1" destOrd="0" presId="urn:microsoft.com/office/officeart/2005/8/layout/list1"/>
    <dgm:cxn modelId="{59D0DD1D-922F-DE4F-8C7F-2663E70D41CE}" srcId="{318A4174-A7E5-9F48-9C92-954100843372}" destId="{21A9F706-8CA7-D446-8BEA-2B90D05E4FEB}" srcOrd="0" destOrd="0" parTransId="{ADE95395-6D54-1349-94BA-33C16F8584B2}" sibTransId="{D4DDB567-C84F-1C44-B7A8-86024AD82621}"/>
    <dgm:cxn modelId="{EB142F24-E3E0-AD4B-B2A0-95DF667E0C43}" srcId="{318A4174-A7E5-9F48-9C92-954100843372}" destId="{6035E519-D43A-9845-9BBF-8E7DF74F833D}" srcOrd="1" destOrd="0" parTransId="{37E13955-F314-494E-ADAB-DC93BBB4BEE0}" sibTransId="{B593D6B0-D808-2143-AB3A-690922D49438}"/>
    <dgm:cxn modelId="{F443B528-8749-4913-926F-18DD5E727D0B}" type="presOf" srcId="{318A4174-A7E5-9F48-9C92-954100843372}" destId="{6049758F-6852-7E48-A5F6-439FA44B34F9}" srcOrd="1" destOrd="0" presId="urn:microsoft.com/office/officeart/2005/8/layout/list1"/>
    <dgm:cxn modelId="{67B8EB2D-A751-1D4A-914D-D2AD4733CBBD}" srcId="{21A9F706-8CA7-D446-8BEA-2B90D05E4FEB}" destId="{B21E9014-F1B9-5E49-94EA-5CCB3041C961}" srcOrd="0" destOrd="0" parTransId="{67DCBDF3-A0A9-6D4B-A351-488C0AF72F07}" sibTransId="{B7B36CEC-824D-0D4D-93BF-4BDBA5F7D673}"/>
    <dgm:cxn modelId="{0FF4EE3C-AA17-4420-B18E-D7FED21E8E03}" type="presOf" srcId="{318A4174-A7E5-9F48-9C92-954100843372}" destId="{51A02C84-5188-D145-814C-E8418EA6DECE}" srcOrd="0" destOrd="0" presId="urn:microsoft.com/office/officeart/2005/8/layout/list1"/>
    <dgm:cxn modelId="{4A572C50-A751-FB40-A850-838F8C96B8CD}" srcId="{6035E519-D43A-9845-9BBF-8E7DF74F833D}" destId="{69FCB829-A180-964B-A24B-0C706AD3D91E}" srcOrd="0" destOrd="0" parTransId="{2EF42A8E-639D-A34D-BC76-23FE2383B4D3}" sibTransId="{142EA30A-FBF1-5643-A3DE-4F13F46C14CD}"/>
    <dgm:cxn modelId="{C0ED1F73-19FA-4347-BFA9-88092C8EA421}" srcId="{8E786CE7-B556-B840-8BF5-6292FDE95AEE}" destId="{A06EF79B-B678-0A4D-B154-D65B70B0BE8B}" srcOrd="0" destOrd="0" parTransId="{6FA206AC-30F8-C544-9604-2CA8E53FFCEF}" sibTransId="{4467D7CD-857D-764C-811B-82D854FAD4EF}"/>
    <dgm:cxn modelId="{D9ED5A8C-E5B0-47C5-97FA-A22F11FD98D9}" type="presOf" srcId="{8E786CE7-B556-B840-8BF5-6292FDE95AEE}" destId="{66FCA555-5B0A-5E4D-9599-E70C35274D14}" srcOrd="0" destOrd="0" presId="urn:microsoft.com/office/officeart/2005/8/layout/list1"/>
    <dgm:cxn modelId="{40FF8A8E-A32D-3F40-A66A-FBEC46A44D72}" srcId="{2567974E-4399-F548-A0B8-9EB94BC45965}" destId="{318A4174-A7E5-9F48-9C92-954100843372}" srcOrd="0" destOrd="0" parTransId="{40FB4427-3126-D944-B8DA-E500D87C2E12}" sibTransId="{8F15643E-7BA4-D84A-963E-7FF978BFFDE9}"/>
    <dgm:cxn modelId="{55A1F990-B8BB-4873-82B5-CE64A6F16EB1}" type="presOf" srcId="{A06EF79B-B678-0A4D-B154-D65B70B0BE8B}" destId="{CC27436A-1E4D-D84D-A7FC-05F0DE392564}" srcOrd="0" destOrd="0" presId="urn:microsoft.com/office/officeart/2005/8/layout/list1"/>
    <dgm:cxn modelId="{57EFFFAE-EB17-42E1-8DB5-0DB27F32DCCE}" type="presOf" srcId="{21A9F706-8CA7-D446-8BEA-2B90D05E4FEB}" destId="{5A498C14-EC1A-C044-AC9A-2483F9CB7F7A}" srcOrd="0" destOrd="0" presId="urn:microsoft.com/office/officeart/2005/8/layout/list1"/>
    <dgm:cxn modelId="{73412DBA-85CE-4B27-9371-9882ABA0C7C9}" type="presOf" srcId="{2567974E-4399-F548-A0B8-9EB94BC45965}" destId="{34173FFC-40F5-D74A-B8CF-1587B7364017}" srcOrd="0" destOrd="0" presId="urn:microsoft.com/office/officeart/2005/8/layout/list1"/>
    <dgm:cxn modelId="{1A0C63BB-E837-FC47-BF44-A889B511BE1E}" srcId="{2567974E-4399-F548-A0B8-9EB94BC45965}" destId="{8E786CE7-B556-B840-8BF5-6292FDE95AEE}" srcOrd="1" destOrd="0" parTransId="{D7C53212-50CB-E041-B8A6-7C37BFF256F2}" sibTransId="{00A03D01-DA6F-F048-BC29-58C578B54D42}"/>
    <dgm:cxn modelId="{D6F732D4-8EFF-487B-9B58-A7FDE4A98E20}" type="presOf" srcId="{B21E9014-F1B9-5E49-94EA-5CCB3041C961}" destId="{5A498C14-EC1A-C044-AC9A-2483F9CB7F7A}" srcOrd="0" destOrd="1" presId="urn:microsoft.com/office/officeart/2005/8/layout/list1"/>
    <dgm:cxn modelId="{72A25DD4-4501-4A38-9A4C-AC2F498597EC}" type="presOf" srcId="{69FCB829-A180-964B-A24B-0C706AD3D91E}" destId="{5A498C14-EC1A-C044-AC9A-2483F9CB7F7A}" srcOrd="0" destOrd="3" presId="urn:microsoft.com/office/officeart/2005/8/layout/list1"/>
    <dgm:cxn modelId="{770A5FF4-AEAD-45A2-8166-89EF4FB8085A}" type="presOf" srcId="{6035E519-D43A-9845-9BBF-8E7DF74F833D}" destId="{5A498C14-EC1A-C044-AC9A-2483F9CB7F7A}" srcOrd="0" destOrd="2" presId="urn:microsoft.com/office/officeart/2005/8/layout/list1"/>
    <dgm:cxn modelId="{2C497A32-790E-491D-8872-085B97DB95B6}" type="presParOf" srcId="{34173FFC-40F5-D74A-B8CF-1587B7364017}" destId="{F2778957-62DF-9344-B516-61D513DAD32B}" srcOrd="0" destOrd="0" presId="urn:microsoft.com/office/officeart/2005/8/layout/list1"/>
    <dgm:cxn modelId="{1A356E1B-353C-4471-807D-F598EDD537B5}" type="presParOf" srcId="{F2778957-62DF-9344-B516-61D513DAD32B}" destId="{51A02C84-5188-D145-814C-E8418EA6DECE}" srcOrd="0" destOrd="0" presId="urn:microsoft.com/office/officeart/2005/8/layout/list1"/>
    <dgm:cxn modelId="{E6C07FCE-D168-4B4B-A3E2-FAC030B5135C}" type="presParOf" srcId="{F2778957-62DF-9344-B516-61D513DAD32B}" destId="{6049758F-6852-7E48-A5F6-439FA44B34F9}" srcOrd="1" destOrd="0" presId="urn:microsoft.com/office/officeart/2005/8/layout/list1"/>
    <dgm:cxn modelId="{2BB532D6-93E5-4B1F-A63D-AF74A18984D1}" type="presParOf" srcId="{34173FFC-40F5-D74A-B8CF-1587B7364017}" destId="{0F1C9714-B9E4-2444-8242-5DE4BF09B262}" srcOrd="1" destOrd="0" presId="urn:microsoft.com/office/officeart/2005/8/layout/list1"/>
    <dgm:cxn modelId="{B945A180-266E-4E0C-A761-A4B5288F15B0}" type="presParOf" srcId="{34173FFC-40F5-D74A-B8CF-1587B7364017}" destId="{5A498C14-EC1A-C044-AC9A-2483F9CB7F7A}" srcOrd="2" destOrd="0" presId="urn:microsoft.com/office/officeart/2005/8/layout/list1"/>
    <dgm:cxn modelId="{4589F12A-EA39-4330-9CFA-6BFBDBE0FAD9}" type="presParOf" srcId="{34173FFC-40F5-D74A-B8CF-1587B7364017}" destId="{90DA03B9-90CC-8D4F-907E-0596F46D16FC}" srcOrd="3" destOrd="0" presId="urn:microsoft.com/office/officeart/2005/8/layout/list1"/>
    <dgm:cxn modelId="{BBF15A6A-E33E-4F32-85A8-A5349CC96C7E}" type="presParOf" srcId="{34173FFC-40F5-D74A-B8CF-1587B7364017}" destId="{9D6EEB7C-6CF8-3F45-82A4-66F4F2BD0126}" srcOrd="4" destOrd="0" presId="urn:microsoft.com/office/officeart/2005/8/layout/list1"/>
    <dgm:cxn modelId="{CCFDD8C4-875C-4867-9C11-BA17F55BD9A0}" type="presParOf" srcId="{9D6EEB7C-6CF8-3F45-82A4-66F4F2BD0126}" destId="{66FCA555-5B0A-5E4D-9599-E70C35274D14}" srcOrd="0" destOrd="0" presId="urn:microsoft.com/office/officeart/2005/8/layout/list1"/>
    <dgm:cxn modelId="{5F508CF2-8141-4958-AF14-7F7A8A5DE3BE}" type="presParOf" srcId="{9D6EEB7C-6CF8-3F45-82A4-66F4F2BD0126}" destId="{667DCDD7-116F-2549-8EDA-F2F25FC22E3F}" srcOrd="1" destOrd="0" presId="urn:microsoft.com/office/officeart/2005/8/layout/list1"/>
    <dgm:cxn modelId="{8F5745AA-B8A9-42D2-8E3B-6321C00F0020}" type="presParOf" srcId="{34173FFC-40F5-D74A-B8CF-1587B7364017}" destId="{CC16871E-D7A3-A244-8DA3-5F2C4D567BEE}" srcOrd="5" destOrd="0" presId="urn:microsoft.com/office/officeart/2005/8/layout/list1"/>
    <dgm:cxn modelId="{46FEC6A8-3B8D-42C9-B862-E3DAE33031CB}" type="presParOf" srcId="{34173FFC-40F5-D74A-B8CF-1587B7364017}" destId="{CC27436A-1E4D-D84D-A7FC-05F0DE392564}"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DC66E38-49DC-D543-BBE6-E377CF7347F2}" type="doc">
      <dgm:prSet loTypeId="urn:microsoft.com/office/officeart/2005/8/layout/hList6" loCatId="list" qsTypeId="urn:microsoft.com/office/officeart/2005/8/quickstyle/simple4" qsCatId="simple" csTypeId="urn:microsoft.com/office/officeart/2005/8/colors/accent1_2" csCatId="accent1" phldr="1"/>
      <dgm:spPr/>
      <dgm:t>
        <a:bodyPr/>
        <a:lstStyle/>
        <a:p>
          <a:endParaRPr lang="en-US"/>
        </a:p>
      </dgm:t>
    </dgm:pt>
    <dgm:pt modelId="{01C60744-F555-AF41-AD07-E5CCD8B230CB}">
      <dgm:prSet/>
      <dgm:spPr>
        <a:solidFill>
          <a:schemeClr val="accent1">
            <a:lumMod val="75000"/>
          </a:schemeClr>
        </a:solidFill>
        <a:ln>
          <a:solidFill>
            <a:schemeClr val="bg2"/>
          </a:solidFill>
        </a:ln>
      </dgm:spPr>
      <dgm:t>
        <a:bodyPr/>
        <a:lstStyle/>
        <a:p>
          <a:pPr rtl="0"/>
          <a:r>
            <a:rPr lang="en-US" dirty="0">
              <a:solidFill>
                <a:srgbClr val="FFFF00"/>
              </a:solidFill>
              <a:effectLst>
                <a:outerShdw blurRad="38100" dist="38100" dir="2700000" algn="tl">
                  <a:srgbClr val="000000">
                    <a:alpha val="43137"/>
                  </a:srgbClr>
                </a:outerShdw>
              </a:effectLst>
            </a:rPr>
            <a:t>Authenticity</a:t>
          </a:r>
        </a:p>
      </dgm:t>
    </dgm:pt>
    <dgm:pt modelId="{EEA241C8-64A3-024A-8EB8-29A343EF303A}" type="parTrans" cxnId="{C8D35B81-BDA6-6041-A868-26984813D94B}">
      <dgm:prSet/>
      <dgm:spPr/>
      <dgm:t>
        <a:bodyPr/>
        <a:lstStyle/>
        <a:p>
          <a:endParaRPr lang="en-US"/>
        </a:p>
      </dgm:t>
    </dgm:pt>
    <dgm:pt modelId="{4E409444-9A2C-754D-8292-DB5BA2267FB1}" type="sibTrans" cxnId="{C8D35B81-BDA6-6041-A868-26984813D94B}">
      <dgm:prSet/>
      <dgm:spPr/>
      <dgm:t>
        <a:bodyPr/>
        <a:lstStyle/>
        <a:p>
          <a:endParaRPr lang="en-US"/>
        </a:p>
      </dgm:t>
    </dgm:pt>
    <dgm:pt modelId="{A62CDBC3-B0ED-C243-8E38-805D5EFD90C9}">
      <dgm:prSet/>
      <dgm:spPr>
        <a:solidFill>
          <a:schemeClr val="accent1">
            <a:lumMod val="75000"/>
          </a:schemeClr>
        </a:solidFill>
        <a:ln>
          <a:solidFill>
            <a:schemeClr val="bg2"/>
          </a:solidFill>
        </a:ln>
      </dgm:spPr>
      <dgm:t>
        <a:bodyPr/>
        <a:lstStyle/>
        <a:p>
          <a:pPr rtl="0"/>
          <a:r>
            <a:rPr lang="en-US" dirty="0">
              <a:effectLst>
                <a:outerShdw blurRad="38100" dist="38100" dir="2700000" algn="tl">
                  <a:srgbClr val="000000">
                    <a:alpha val="43137"/>
                  </a:srgbClr>
                </a:outerShdw>
              </a:effectLst>
            </a:rPr>
            <a:t>Verifying that users are who they say they are and that each input arriving at the system came from a</a:t>
          </a:r>
          <a:r>
            <a:rPr lang="en-US" dirty="0">
              <a:solidFill>
                <a:schemeClr val="accent6">
                  <a:lumMod val="40000"/>
                  <a:lumOff val="60000"/>
                </a:schemeClr>
              </a:solidFill>
              <a:effectLst>
                <a:outerShdw blurRad="38100" dist="38100" dir="2700000" algn="tl">
                  <a:srgbClr val="000000">
                    <a:alpha val="43137"/>
                  </a:srgbClr>
                </a:outerShdw>
              </a:effectLst>
            </a:rPr>
            <a:t> </a:t>
          </a:r>
          <a:r>
            <a:rPr lang="en-US" dirty="0">
              <a:solidFill>
                <a:srgbClr val="FF0000"/>
              </a:solidFill>
              <a:effectLst>
                <a:outerShdw blurRad="38100" dist="38100" dir="2700000" algn="tl">
                  <a:srgbClr val="000000">
                    <a:alpha val="43137"/>
                  </a:srgbClr>
                </a:outerShdw>
              </a:effectLst>
            </a:rPr>
            <a:t>trusted</a:t>
          </a:r>
          <a:r>
            <a:rPr lang="en-US" dirty="0">
              <a:solidFill>
                <a:schemeClr val="accent6">
                  <a:lumMod val="40000"/>
                  <a:lumOff val="60000"/>
                </a:schemeClr>
              </a:solidFill>
              <a:effectLst>
                <a:outerShdw blurRad="38100" dist="38100" dir="2700000" algn="tl">
                  <a:srgbClr val="000000">
                    <a:alpha val="43137"/>
                  </a:srgbClr>
                </a:outerShdw>
              </a:effectLst>
            </a:rPr>
            <a:t> </a:t>
          </a:r>
          <a:r>
            <a:rPr lang="en-US" dirty="0">
              <a:effectLst>
                <a:outerShdw blurRad="38100" dist="38100" dir="2700000" algn="tl">
                  <a:srgbClr val="000000">
                    <a:alpha val="43137"/>
                  </a:srgbClr>
                </a:outerShdw>
              </a:effectLst>
            </a:rPr>
            <a:t>source </a:t>
          </a:r>
        </a:p>
      </dgm:t>
    </dgm:pt>
    <dgm:pt modelId="{AFA653C5-812A-8344-927C-B5FEF312E872}" type="parTrans" cxnId="{2DC88FEF-C1D0-0448-8C04-782BE262DFD3}">
      <dgm:prSet/>
      <dgm:spPr/>
      <dgm:t>
        <a:bodyPr/>
        <a:lstStyle/>
        <a:p>
          <a:endParaRPr lang="en-US"/>
        </a:p>
      </dgm:t>
    </dgm:pt>
    <dgm:pt modelId="{91F7B72D-A86B-F543-9054-8B39FC610F2A}" type="sibTrans" cxnId="{2DC88FEF-C1D0-0448-8C04-782BE262DFD3}">
      <dgm:prSet/>
      <dgm:spPr/>
      <dgm:t>
        <a:bodyPr/>
        <a:lstStyle/>
        <a:p>
          <a:endParaRPr lang="en-US"/>
        </a:p>
      </dgm:t>
    </dgm:pt>
    <dgm:pt modelId="{60093497-5372-0A40-B15A-070FEF549396}">
      <dgm:prSet/>
      <dgm:spPr>
        <a:solidFill>
          <a:schemeClr val="accent1">
            <a:lumMod val="75000"/>
          </a:schemeClr>
        </a:solidFill>
        <a:ln>
          <a:solidFill>
            <a:schemeClr val="bg2"/>
          </a:solidFill>
        </a:ln>
      </dgm:spPr>
      <dgm:t>
        <a:bodyPr/>
        <a:lstStyle/>
        <a:p>
          <a:pPr rtl="0"/>
          <a:r>
            <a:rPr lang="en-US" dirty="0">
              <a:solidFill>
                <a:srgbClr val="FFFF00"/>
              </a:solidFill>
              <a:effectLst>
                <a:outerShdw blurRad="38100" dist="38100" dir="2700000" algn="tl">
                  <a:srgbClr val="000000">
                    <a:alpha val="43137"/>
                  </a:srgbClr>
                </a:outerShdw>
              </a:effectLst>
            </a:rPr>
            <a:t>Accountability</a:t>
          </a:r>
        </a:p>
      </dgm:t>
    </dgm:pt>
    <dgm:pt modelId="{FDFA94C8-97A3-1142-9C5E-2F7452723808}" type="parTrans" cxnId="{4EA8C8AD-DC24-A646-82BC-23B820FB713D}">
      <dgm:prSet/>
      <dgm:spPr/>
      <dgm:t>
        <a:bodyPr/>
        <a:lstStyle/>
        <a:p>
          <a:endParaRPr lang="en-US"/>
        </a:p>
      </dgm:t>
    </dgm:pt>
    <dgm:pt modelId="{422DDE06-BD72-CD48-89CA-FACCD285A618}" type="sibTrans" cxnId="{4EA8C8AD-DC24-A646-82BC-23B820FB713D}">
      <dgm:prSet/>
      <dgm:spPr/>
      <dgm:t>
        <a:bodyPr/>
        <a:lstStyle/>
        <a:p>
          <a:endParaRPr lang="en-US"/>
        </a:p>
      </dgm:t>
    </dgm:pt>
    <dgm:pt modelId="{B29ACCB8-FD3C-9C45-A718-D4E6C61E5750}">
      <dgm:prSet/>
      <dgm:spPr>
        <a:solidFill>
          <a:schemeClr val="accent1">
            <a:lumMod val="75000"/>
          </a:schemeClr>
        </a:solidFill>
        <a:ln>
          <a:solidFill>
            <a:schemeClr val="bg2"/>
          </a:solidFill>
        </a:ln>
      </dgm:spPr>
      <dgm:t>
        <a:bodyPr/>
        <a:lstStyle/>
        <a:p>
          <a:pPr rtl="0"/>
          <a:r>
            <a:rPr lang="en-US" dirty="0">
              <a:effectLst>
                <a:outerShdw blurRad="38100" dist="38100" dir="2700000" algn="tl">
                  <a:srgbClr val="000000">
                    <a:alpha val="43137"/>
                  </a:srgbClr>
                </a:outerShdw>
              </a:effectLst>
            </a:rPr>
            <a:t>The security goal that generates the requirement for actions of an entity to be </a:t>
          </a:r>
          <a:r>
            <a:rPr lang="en-US" dirty="0">
              <a:solidFill>
                <a:srgbClr val="FF0000"/>
              </a:solidFill>
              <a:effectLst>
                <a:outerShdw blurRad="38100" dist="38100" dir="2700000" algn="tl">
                  <a:srgbClr val="000000">
                    <a:alpha val="43137"/>
                  </a:srgbClr>
                </a:outerShdw>
              </a:effectLst>
            </a:rPr>
            <a:t>traced uniquely </a:t>
          </a:r>
          <a:r>
            <a:rPr lang="en-US" dirty="0">
              <a:effectLst>
                <a:outerShdw blurRad="38100" dist="38100" dir="2700000" algn="tl">
                  <a:srgbClr val="000000">
                    <a:alpha val="43137"/>
                  </a:srgbClr>
                </a:outerShdw>
              </a:effectLst>
            </a:rPr>
            <a:t>to that entity</a:t>
          </a:r>
        </a:p>
      </dgm:t>
    </dgm:pt>
    <dgm:pt modelId="{B50AB5BA-04BA-4042-8FC4-F53B75ADB6B8}" type="parTrans" cxnId="{3617F752-DDC7-BA47-B4E2-0F2943F61ECF}">
      <dgm:prSet/>
      <dgm:spPr/>
      <dgm:t>
        <a:bodyPr/>
        <a:lstStyle/>
        <a:p>
          <a:endParaRPr lang="en-US"/>
        </a:p>
      </dgm:t>
    </dgm:pt>
    <dgm:pt modelId="{9B61FF8E-CEFB-3A4F-9676-637C5509C77C}" type="sibTrans" cxnId="{3617F752-DDC7-BA47-B4E2-0F2943F61ECF}">
      <dgm:prSet/>
      <dgm:spPr/>
      <dgm:t>
        <a:bodyPr/>
        <a:lstStyle/>
        <a:p>
          <a:endParaRPr lang="en-US"/>
        </a:p>
      </dgm:t>
    </dgm:pt>
    <dgm:pt modelId="{58DD0D4D-7725-A548-A8E1-CCD4839400AA}" type="pres">
      <dgm:prSet presAssocID="{ADC66E38-49DC-D543-BBE6-E377CF7347F2}" presName="Name0" presStyleCnt="0">
        <dgm:presLayoutVars>
          <dgm:dir/>
          <dgm:resizeHandles val="exact"/>
        </dgm:presLayoutVars>
      </dgm:prSet>
      <dgm:spPr/>
    </dgm:pt>
    <dgm:pt modelId="{0CD95006-FA94-7A4E-9FF4-7CC079766FD1}" type="pres">
      <dgm:prSet presAssocID="{01C60744-F555-AF41-AD07-E5CCD8B230CB}" presName="node" presStyleLbl="node1" presStyleIdx="0" presStyleCnt="2">
        <dgm:presLayoutVars>
          <dgm:bulletEnabled val="1"/>
        </dgm:presLayoutVars>
      </dgm:prSet>
      <dgm:spPr/>
    </dgm:pt>
    <dgm:pt modelId="{70A5C58A-4980-D348-AB76-8282E2D0D2F9}" type="pres">
      <dgm:prSet presAssocID="{4E409444-9A2C-754D-8292-DB5BA2267FB1}" presName="sibTrans" presStyleCnt="0"/>
      <dgm:spPr/>
    </dgm:pt>
    <dgm:pt modelId="{6FA73AC8-DAA8-CE41-8208-3A234E80FA0C}" type="pres">
      <dgm:prSet presAssocID="{60093497-5372-0A40-B15A-070FEF549396}" presName="node" presStyleLbl="node1" presStyleIdx="1" presStyleCnt="2">
        <dgm:presLayoutVars>
          <dgm:bulletEnabled val="1"/>
        </dgm:presLayoutVars>
      </dgm:prSet>
      <dgm:spPr/>
    </dgm:pt>
  </dgm:ptLst>
  <dgm:cxnLst>
    <dgm:cxn modelId="{645AF614-C14F-4069-AD96-225FA535976A}" type="presOf" srcId="{60093497-5372-0A40-B15A-070FEF549396}" destId="{6FA73AC8-DAA8-CE41-8208-3A234E80FA0C}" srcOrd="0" destOrd="0" presId="urn:microsoft.com/office/officeart/2005/8/layout/hList6"/>
    <dgm:cxn modelId="{D6093417-75F9-4175-82E5-F18FAF285099}" type="presOf" srcId="{ADC66E38-49DC-D543-BBE6-E377CF7347F2}" destId="{58DD0D4D-7725-A548-A8E1-CCD4839400AA}" srcOrd="0" destOrd="0" presId="urn:microsoft.com/office/officeart/2005/8/layout/hList6"/>
    <dgm:cxn modelId="{537EDB4E-A28B-45A9-9264-52DC00813033}" type="presOf" srcId="{A62CDBC3-B0ED-C243-8E38-805D5EFD90C9}" destId="{0CD95006-FA94-7A4E-9FF4-7CC079766FD1}" srcOrd="0" destOrd="1" presId="urn:microsoft.com/office/officeart/2005/8/layout/hList6"/>
    <dgm:cxn modelId="{3617F752-DDC7-BA47-B4E2-0F2943F61ECF}" srcId="{60093497-5372-0A40-B15A-070FEF549396}" destId="{B29ACCB8-FD3C-9C45-A718-D4E6C61E5750}" srcOrd="0" destOrd="0" parTransId="{B50AB5BA-04BA-4042-8FC4-F53B75ADB6B8}" sibTransId="{9B61FF8E-CEFB-3A4F-9676-637C5509C77C}"/>
    <dgm:cxn modelId="{C8D35B81-BDA6-6041-A868-26984813D94B}" srcId="{ADC66E38-49DC-D543-BBE6-E377CF7347F2}" destId="{01C60744-F555-AF41-AD07-E5CCD8B230CB}" srcOrd="0" destOrd="0" parTransId="{EEA241C8-64A3-024A-8EB8-29A343EF303A}" sibTransId="{4E409444-9A2C-754D-8292-DB5BA2267FB1}"/>
    <dgm:cxn modelId="{4EA8C8AD-DC24-A646-82BC-23B820FB713D}" srcId="{ADC66E38-49DC-D543-BBE6-E377CF7347F2}" destId="{60093497-5372-0A40-B15A-070FEF549396}" srcOrd="1" destOrd="0" parTransId="{FDFA94C8-97A3-1142-9C5E-2F7452723808}" sibTransId="{422DDE06-BD72-CD48-89CA-FACCD285A618}"/>
    <dgm:cxn modelId="{4582CFBB-C510-4CA6-B73F-47ED4CD8C75F}" type="presOf" srcId="{01C60744-F555-AF41-AD07-E5CCD8B230CB}" destId="{0CD95006-FA94-7A4E-9FF4-7CC079766FD1}" srcOrd="0" destOrd="0" presId="urn:microsoft.com/office/officeart/2005/8/layout/hList6"/>
    <dgm:cxn modelId="{2DC88FEF-C1D0-0448-8C04-782BE262DFD3}" srcId="{01C60744-F555-AF41-AD07-E5CCD8B230CB}" destId="{A62CDBC3-B0ED-C243-8E38-805D5EFD90C9}" srcOrd="0" destOrd="0" parTransId="{AFA653C5-812A-8344-927C-B5FEF312E872}" sibTransId="{91F7B72D-A86B-F543-9054-8B39FC610F2A}"/>
    <dgm:cxn modelId="{E1E0F8F7-F216-42EE-82ED-CD63929D68AA}" type="presOf" srcId="{B29ACCB8-FD3C-9C45-A718-D4E6C61E5750}" destId="{6FA73AC8-DAA8-CE41-8208-3A234E80FA0C}" srcOrd="0" destOrd="1" presId="urn:microsoft.com/office/officeart/2005/8/layout/hList6"/>
    <dgm:cxn modelId="{5E552386-B8C1-4203-91F2-D57F43AAA93A}" type="presParOf" srcId="{58DD0D4D-7725-A548-A8E1-CCD4839400AA}" destId="{0CD95006-FA94-7A4E-9FF4-7CC079766FD1}" srcOrd="0" destOrd="0" presId="urn:microsoft.com/office/officeart/2005/8/layout/hList6"/>
    <dgm:cxn modelId="{DDFF93CA-6122-4208-A2C1-68687EB81CB7}" type="presParOf" srcId="{58DD0D4D-7725-A548-A8E1-CCD4839400AA}" destId="{70A5C58A-4980-D348-AB76-8282E2D0D2F9}" srcOrd="1" destOrd="0" presId="urn:microsoft.com/office/officeart/2005/8/layout/hList6"/>
    <dgm:cxn modelId="{94ACA5D7-E90B-4D2F-9512-F07A0AED9611}" type="presParOf" srcId="{58DD0D4D-7725-A548-A8E1-CCD4839400AA}" destId="{6FA73AC8-DAA8-CE41-8208-3A234E80FA0C}" srcOrd="2"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49160E5-2920-2E43-AB10-2D83ADE19095}" type="doc">
      <dgm:prSet loTypeId="urn:microsoft.com/office/officeart/2005/8/layout/pyramid1" loCatId="pyramid" qsTypeId="urn:microsoft.com/office/officeart/2005/8/quickstyle/simple4" qsCatId="simple" csTypeId="urn:microsoft.com/office/officeart/2005/8/colors/accent1_2" csCatId="accent1" phldr="1"/>
      <dgm:spPr/>
      <dgm:t>
        <a:bodyPr/>
        <a:lstStyle/>
        <a:p>
          <a:endParaRPr lang="en-US"/>
        </a:p>
      </dgm:t>
    </dgm:pt>
    <dgm:pt modelId="{15A8F4FC-E29F-F745-BF04-26B1B4957E6E}">
      <dgm:prSet custT="1"/>
      <dgm:spPr>
        <a:solidFill>
          <a:schemeClr val="accent6">
            <a:lumMod val="50000"/>
          </a:schemeClr>
        </a:solidFill>
        <a:ln>
          <a:solidFill>
            <a:schemeClr val="tx1"/>
          </a:solidFill>
        </a:ln>
      </dgm:spPr>
      <dgm:t>
        <a:bodyPr/>
        <a:lstStyle/>
        <a:p>
          <a:pPr rtl="0"/>
          <a:r>
            <a:rPr lang="en-US" sz="2400" dirty="0">
              <a:solidFill>
                <a:srgbClr val="FFFF00"/>
              </a:solidFill>
            </a:rPr>
            <a:t>High</a:t>
          </a:r>
        </a:p>
      </dgm:t>
    </dgm:pt>
    <dgm:pt modelId="{DBE2BCEA-129D-FE4A-9BFD-F42EDFAAB571}" type="parTrans" cxnId="{2E639D7F-1F8A-D341-BDB7-C7025F63603D}">
      <dgm:prSet/>
      <dgm:spPr/>
      <dgm:t>
        <a:bodyPr/>
        <a:lstStyle/>
        <a:p>
          <a:endParaRPr lang="en-US"/>
        </a:p>
      </dgm:t>
    </dgm:pt>
    <dgm:pt modelId="{A5409590-AEE1-A947-B90C-5F50D54C0DC4}" type="sibTrans" cxnId="{2E639D7F-1F8A-D341-BDB7-C7025F63603D}">
      <dgm:prSet/>
      <dgm:spPr/>
      <dgm:t>
        <a:bodyPr/>
        <a:lstStyle/>
        <a:p>
          <a:endParaRPr lang="en-US"/>
        </a:p>
      </dgm:t>
    </dgm:pt>
    <dgm:pt modelId="{A7DC7081-8C22-7A4E-8F41-B490A54807C2}">
      <dgm:prSet custT="1"/>
      <dgm:spPr>
        <a:ln>
          <a:solidFill>
            <a:schemeClr val="accent1"/>
          </a:solidFill>
        </a:ln>
      </dgm:spPr>
      <dgm:t>
        <a:bodyPr/>
        <a:lstStyle/>
        <a:p>
          <a:pPr rtl="0"/>
          <a:r>
            <a:rPr lang="en-US" sz="2400" dirty="0"/>
            <a:t>The loss could be expected to have a </a:t>
          </a:r>
          <a:r>
            <a:rPr lang="en-US" sz="2400" b="1" dirty="0">
              <a:solidFill>
                <a:srgbClr val="FF0000"/>
              </a:solidFill>
            </a:rPr>
            <a:t>severe or catastrophic adverse </a:t>
          </a:r>
          <a:r>
            <a:rPr lang="en-US" sz="2400" dirty="0">
              <a:solidFill>
                <a:srgbClr val="FF0000"/>
              </a:solidFill>
            </a:rPr>
            <a:t>effect </a:t>
          </a:r>
          <a:r>
            <a:rPr lang="en-US" sz="2400" dirty="0"/>
            <a:t>on organizational operations, organizational assets, or individuals </a:t>
          </a:r>
        </a:p>
      </dgm:t>
    </dgm:pt>
    <dgm:pt modelId="{827A6233-D0A1-1148-A5E1-88F6AF8F8F2E}" type="parTrans" cxnId="{DE7A7C1A-54BD-3743-96D3-E10EEDCCF1E6}">
      <dgm:prSet/>
      <dgm:spPr/>
      <dgm:t>
        <a:bodyPr/>
        <a:lstStyle/>
        <a:p>
          <a:endParaRPr lang="en-US"/>
        </a:p>
      </dgm:t>
    </dgm:pt>
    <dgm:pt modelId="{682886A0-47C9-694F-A5B9-36D711076620}" type="sibTrans" cxnId="{DE7A7C1A-54BD-3743-96D3-E10EEDCCF1E6}">
      <dgm:prSet/>
      <dgm:spPr/>
      <dgm:t>
        <a:bodyPr/>
        <a:lstStyle/>
        <a:p>
          <a:endParaRPr lang="en-US"/>
        </a:p>
      </dgm:t>
    </dgm:pt>
    <dgm:pt modelId="{70486C14-6AC6-BE4A-9FED-24933BA6770E}">
      <dgm:prSet custT="1"/>
      <dgm:spPr>
        <a:solidFill>
          <a:schemeClr val="accent2">
            <a:lumMod val="75000"/>
          </a:schemeClr>
        </a:solidFill>
        <a:ln>
          <a:solidFill>
            <a:schemeClr val="tx1"/>
          </a:solidFill>
        </a:ln>
      </dgm:spPr>
      <dgm:t>
        <a:bodyPr/>
        <a:lstStyle/>
        <a:p>
          <a:pPr rtl="0"/>
          <a:r>
            <a:rPr lang="en-US" sz="2400" dirty="0">
              <a:solidFill>
                <a:srgbClr val="FFFF00"/>
              </a:solidFill>
            </a:rPr>
            <a:t>Moderate</a:t>
          </a:r>
        </a:p>
      </dgm:t>
    </dgm:pt>
    <dgm:pt modelId="{104E6419-F7F4-8545-AC3D-82C43F9B8796}" type="parTrans" cxnId="{080D9ECC-A68A-DE47-81EA-5545E8DC511F}">
      <dgm:prSet/>
      <dgm:spPr/>
      <dgm:t>
        <a:bodyPr/>
        <a:lstStyle/>
        <a:p>
          <a:endParaRPr lang="en-US"/>
        </a:p>
      </dgm:t>
    </dgm:pt>
    <dgm:pt modelId="{5CB8B94A-450A-F946-9E03-E75550EFA0F3}" type="sibTrans" cxnId="{080D9ECC-A68A-DE47-81EA-5545E8DC511F}">
      <dgm:prSet/>
      <dgm:spPr/>
      <dgm:t>
        <a:bodyPr/>
        <a:lstStyle/>
        <a:p>
          <a:endParaRPr lang="en-US"/>
        </a:p>
      </dgm:t>
    </dgm:pt>
    <dgm:pt modelId="{3EB87650-35A2-844B-9C3C-016B209CB90F}">
      <dgm:prSet/>
      <dgm:spPr>
        <a:ln>
          <a:solidFill>
            <a:schemeClr val="accent1"/>
          </a:solidFill>
        </a:ln>
      </dgm:spPr>
      <dgm:t>
        <a:bodyPr/>
        <a:lstStyle/>
        <a:p>
          <a:pPr rtl="0"/>
          <a:r>
            <a:rPr lang="en-US" dirty="0"/>
            <a:t>The loss could be expected to have a </a:t>
          </a:r>
          <a:r>
            <a:rPr lang="en-US" b="1" dirty="0">
              <a:solidFill>
                <a:srgbClr val="FF0000"/>
              </a:solidFill>
            </a:rPr>
            <a:t>serious adverse effect on </a:t>
          </a:r>
          <a:r>
            <a:rPr lang="en-US" dirty="0"/>
            <a:t>organizational operations, organizational assets, or individuals</a:t>
          </a:r>
        </a:p>
      </dgm:t>
    </dgm:pt>
    <dgm:pt modelId="{69A124E5-BB8A-4546-9B9C-93CD70DE48D1}" type="parTrans" cxnId="{EAC231EA-DB5A-DE4B-975B-0D06BED0584B}">
      <dgm:prSet/>
      <dgm:spPr/>
      <dgm:t>
        <a:bodyPr/>
        <a:lstStyle/>
        <a:p>
          <a:endParaRPr lang="en-US"/>
        </a:p>
      </dgm:t>
    </dgm:pt>
    <dgm:pt modelId="{64EF014F-D53D-1548-AC0A-B14F06A26A96}" type="sibTrans" cxnId="{EAC231EA-DB5A-DE4B-975B-0D06BED0584B}">
      <dgm:prSet/>
      <dgm:spPr/>
      <dgm:t>
        <a:bodyPr/>
        <a:lstStyle/>
        <a:p>
          <a:endParaRPr lang="en-US"/>
        </a:p>
      </dgm:t>
    </dgm:pt>
    <dgm:pt modelId="{AA81E6F6-E0A3-174E-8666-60761A30BD21}">
      <dgm:prSet/>
      <dgm:spPr>
        <a:solidFill>
          <a:schemeClr val="bg1">
            <a:lumMod val="50000"/>
          </a:schemeClr>
        </a:solidFill>
        <a:ln>
          <a:solidFill>
            <a:schemeClr val="tx1"/>
          </a:solidFill>
        </a:ln>
      </dgm:spPr>
      <dgm:t>
        <a:bodyPr/>
        <a:lstStyle/>
        <a:p>
          <a:pPr rtl="0"/>
          <a:r>
            <a:rPr lang="en-US" dirty="0">
              <a:solidFill>
                <a:srgbClr val="FFFF00"/>
              </a:solidFill>
            </a:rPr>
            <a:t>Low</a:t>
          </a:r>
        </a:p>
      </dgm:t>
    </dgm:pt>
    <dgm:pt modelId="{06D768AF-EFA5-554D-A8A7-25801F95247C}" type="parTrans" cxnId="{C08E7E1C-169D-C147-B9AF-7B77B4E5573A}">
      <dgm:prSet/>
      <dgm:spPr/>
      <dgm:t>
        <a:bodyPr/>
        <a:lstStyle/>
        <a:p>
          <a:endParaRPr lang="en-US"/>
        </a:p>
      </dgm:t>
    </dgm:pt>
    <dgm:pt modelId="{75BB73CF-1C6A-0742-A6E8-75D0C56B7E3A}" type="sibTrans" cxnId="{C08E7E1C-169D-C147-B9AF-7B77B4E5573A}">
      <dgm:prSet/>
      <dgm:spPr/>
      <dgm:t>
        <a:bodyPr/>
        <a:lstStyle/>
        <a:p>
          <a:endParaRPr lang="en-US"/>
        </a:p>
      </dgm:t>
    </dgm:pt>
    <dgm:pt modelId="{362B8961-F804-9B48-A3F4-0871231080F5}">
      <dgm:prSet/>
      <dgm:spPr>
        <a:ln>
          <a:solidFill>
            <a:schemeClr val="accent1"/>
          </a:solidFill>
        </a:ln>
      </dgm:spPr>
      <dgm:t>
        <a:bodyPr/>
        <a:lstStyle/>
        <a:p>
          <a:pPr rtl="0"/>
          <a:r>
            <a:rPr lang="en-US" dirty="0"/>
            <a:t>The loss could be expected to have </a:t>
          </a:r>
          <a:r>
            <a:rPr lang="en-US" b="1" dirty="0">
              <a:solidFill>
                <a:srgbClr val="FF0000"/>
              </a:solidFill>
            </a:rPr>
            <a:t>a limited adverse effect on organizational operations, </a:t>
          </a:r>
          <a:r>
            <a:rPr lang="en-US" dirty="0"/>
            <a:t>organizational assets, or individuals</a:t>
          </a:r>
        </a:p>
      </dgm:t>
    </dgm:pt>
    <dgm:pt modelId="{EC8415BA-EFD4-FA44-9876-A560974F0E0B}" type="parTrans" cxnId="{F75A9C39-12BF-3D4D-89B5-776E3D10AC3D}">
      <dgm:prSet/>
      <dgm:spPr/>
      <dgm:t>
        <a:bodyPr/>
        <a:lstStyle/>
        <a:p>
          <a:endParaRPr lang="en-US"/>
        </a:p>
      </dgm:t>
    </dgm:pt>
    <dgm:pt modelId="{676D45F4-7F60-6D47-B5EC-16E76F3C7D7B}" type="sibTrans" cxnId="{F75A9C39-12BF-3D4D-89B5-776E3D10AC3D}">
      <dgm:prSet/>
      <dgm:spPr/>
      <dgm:t>
        <a:bodyPr/>
        <a:lstStyle/>
        <a:p>
          <a:endParaRPr lang="en-US"/>
        </a:p>
      </dgm:t>
    </dgm:pt>
    <dgm:pt modelId="{59B27F22-6243-154D-AC39-BE6DB825FEB6}">
      <dgm:prSet/>
      <dgm:spPr>
        <a:ln>
          <a:solidFill>
            <a:schemeClr val="accent1"/>
          </a:solidFill>
        </a:ln>
      </dgm:spPr>
      <dgm:t>
        <a:bodyPr/>
        <a:lstStyle/>
        <a:p>
          <a:pPr rtl="0"/>
          <a:endParaRPr lang="en-US" dirty="0"/>
        </a:p>
      </dgm:t>
    </dgm:pt>
    <dgm:pt modelId="{F89BC193-CE00-8B46-847B-D49CC8B16571}" type="parTrans" cxnId="{05378BC4-9AFE-1949-9483-E97DF70225B7}">
      <dgm:prSet/>
      <dgm:spPr/>
      <dgm:t>
        <a:bodyPr/>
        <a:lstStyle/>
        <a:p>
          <a:endParaRPr lang="en-US"/>
        </a:p>
      </dgm:t>
    </dgm:pt>
    <dgm:pt modelId="{7905585C-A24D-5349-B6E7-66000289BCCD}" type="sibTrans" cxnId="{05378BC4-9AFE-1949-9483-E97DF70225B7}">
      <dgm:prSet/>
      <dgm:spPr/>
      <dgm:t>
        <a:bodyPr/>
        <a:lstStyle/>
        <a:p>
          <a:endParaRPr lang="en-US"/>
        </a:p>
      </dgm:t>
    </dgm:pt>
    <dgm:pt modelId="{09A7B802-5403-BD45-9DA3-6DE3D2A79C51}" type="pres">
      <dgm:prSet presAssocID="{649160E5-2920-2E43-AB10-2D83ADE19095}" presName="Name0" presStyleCnt="0">
        <dgm:presLayoutVars>
          <dgm:dir/>
          <dgm:animLvl val="lvl"/>
          <dgm:resizeHandles val="exact"/>
        </dgm:presLayoutVars>
      </dgm:prSet>
      <dgm:spPr/>
    </dgm:pt>
    <dgm:pt modelId="{AC43E776-ED5C-1E44-A3EA-7E3D4E98FE0C}" type="pres">
      <dgm:prSet presAssocID="{15A8F4FC-E29F-F745-BF04-26B1B4957E6E}" presName="Name8" presStyleCnt="0"/>
      <dgm:spPr/>
    </dgm:pt>
    <dgm:pt modelId="{CD8DBAC6-25DB-7848-AE10-A620F7695C2D}" type="pres">
      <dgm:prSet presAssocID="{15A8F4FC-E29F-F745-BF04-26B1B4957E6E}" presName="acctBkgd" presStyleLbl="alignAcc1" presStyleIdx="0" presStyleCnt="3"/>
      <dgm:spPr/>
    </dgm:pt>
    <dgm:pt modelId="{B0EF3AC3-0F39-074F-B7E8-02C3FED0D751}" type="pres">
      <dgm:prSet presAssocID="{15A8F4FC-E29F-F745-BF04-26B1B4957E6E}" presName="acctTx" presStyleLbl="alignAcc1" presStyleIdx="0" presStyleCnt="3">
        <dgm:presLayoutVars>
          <dgm:bulletEnabled val="1"/>
        </dgm:presLayoutVars>
      </dgm:prSet>
      <dgm:spPr/>
    </dgm:pt>
    <dgm:pt modelId="{323F2C42-63B1-9D46-8116-55010DB641B3}" type="pres">
      <dgm:prSet presAssocID="{15A8F4FC-E29F-F745-BF04-26B1B4957E6E}" presName="level" presStyleLbl="node1" presStyleIdx="0" presStyleCnt="3" custScaleX="101973" custScaleY="61039">
        <dgm:presLayoutVars>
          <dgm:chMax val="1"/>
          <dgm:bulletEnabled val="1"/>
        </dgm:presLayoutVars>
      </dgm:prSet>
      <dgm:spPr/>
    </dgm:pt>
    <dgm:pt modelId="{DCB840AC-C313-7A49-9DFD-68837E8E1465}" type="pres">
      <dgm:prSet presAssocID="{15A8F4FC-E29F-F745-BF04-26B1B4957E6E}" presName="levelTx" presStyleLbl="revTx" presStyleIdx="0" presStyleCnt="0">
        <dgm:presLayoutVars>
          <dgm:chMax val="1"/>
          <dgm:bulletEnabled val="1"/>
        </dgm:presLayoutVars>
      </dgm:prSet>
      <dgm:spPr/>
    </dgm:pt>
    <dgm:pt modelId="{33F9B311-5F70-F340-87B1-8AD80491CB9C}" type="pres">
      <dgm:prSet presAssocID="{70486C14-6AC6-BE4A-9FED-24933BA6770E}" presName="Name8" presStyleCnt="0"/>
      <dgm:spPr/>
    </dgm:pt>
    <dgm:pt modelId="{EDEB3454-1F7E-594F-B14B-175BDB7A3CA0}" type="pres">
      <dgm:prSet presAssocID="{70486C14-6AC6-BE4A-9FED-24933BA6770E}" presName="acctBkgd" presStyleLbl="alignAcc1" presStyleIdx="1" presStyleCnt="3"/>
      <dgm:spPr/>
    </dgm:pt>
    <dgm:pt modelId="{4DD1200A-4316-184B-8D01-6D4B01BD8657}" type="pres">
      <dgm:prSet presAssocID="{70486C14-6AC6-BE4A-9FED-24933BA6770E}" presName="acctTx" presStyleLbl="alignAcc1" presStyleIdx="1" presStyleCnt="3">
        <dgm:presLayoutVars>
          <dgm:bulletEnabled val="1"/>
        </dgm:presLayoutVars>
      </dgm:prSet>
      <dgm:spPr/>
    </dgm:pt>
    <dgm:pt modelId="{BD8A4DA2-4774-2747-9C4E-431FEDEE116B}" type="pres">
      <dgm:prSet presAssocID="{70486C14-6AC6-BE4A-9FED-24933BA6770E}" presName="level" presStyleLbl="node1" presStyleIdx="1" presStyleCnt="3">
        <dgm:presLayoutVars>
          <dgm:chMax val="1"/>
          <dgm:bulletEnabled val="1"/>
        </dgm:presLayoutVars>
      </dgm:prSet>
      <dgm:spPr/>
    </dgm:pt>
    <dgm:pt modelId="{A86C6DF5-778F-4642-AF29-1D54919DAA9F}" type="pres">
      <dgm:prSet presAssocID="{70486C14-6AC6-BE4A-9FED-24933BA6770E}" presName="levelTx" presStyleLbl="revTx" presStyleIdx="0" presStyleCnt="0">
        <dgm:presLayoutVars>
          <dgm:chMax val="1"/>
          <dgm:bulletEnabled val="1"/>
        </dgm:presLayoutVars>
      </dgm:prSet>
      <dgm:spPr/>
    </dgm:pt>
    <dgm:pt modelId="{767D24E3-5775-B849-B09C-7604895582F2}" type="pres">
      <dgm:prSet presAssocID="{AA81E6F6-E0A3-174E-8666-60761A30BD21}" presName="Name8" presStyleCnt="0"/>
      <dgm:spPr/>
    </dgm:pt>
    <dgm:pt modelId="{63798C49-604C-6D4F-B502-7E4BA45356A1}" type="pres">
      <dgm:prSet presAssocID="{AA81E6F6-E0A3-174E-8666-60761A30BD21}" presName="acctBkgd" presStyleLbl="alignAcc1" presStyleIdx="2" presStyleCnt="3"/>
      <dgm:spPr/>
    </dgm:pt>
    <dgm:pt modelId="{E4181917-BB74-094C-83B5-63AA39D3F980}" type="pres">
      <dgm:prSet presAssocID="{AA81E6F6-E0A3-174E-8666-60761A30BD21}" presName="acctTx" presStyleLbl="alignAcc1" presStyleIdx="2" presStyleCnt="3">
        <dgm:presLayoutVars>
          <dgm:bulletEnabled val="1"/>
        </dgm:presLayoutVars>
      </dgm:prSet>
      <dgm:spPr/>
    </dgm:pt>
    <dgm:pt modelId="{680880A8-997B-A541-ADD6-12677C70DBB4}" type="pres">
      <dgm:prSet presAssocID="{AA81E6F6-E0A3-174E-8666-60761A30BD21}" presName="level" presStyleLbl="node1" presStyleIdx="2" presStyleCnt="3">
        <dgm:presLayoutVars>
          <dgm:chMax val="1"/>
          <dgm:bulletEnabled val="1"/>
        </dgm:presLayoutVars>
      </dgm:prSet>
      <dgm:spPr/>
    </dgm:pt>
    <dgm:pt modelId="{41822CAB-1187-974C-A0B2-6CF6E1C887F7}" type="pres">
      <dgm:prSet presAssocID="{AA81E6F6-E0A3-174E-8666-60761A30BD21}" presName="levelTx" presStyleLbl="revTx" presStyleIdx="0" presStyleCnt="0">
        <dgm:presLayoutVars>
          <dgm:chMax val="1"/>
          <dgm:bulletEnabled val="1"/>
        </dgm:presLayoutVars>
      </dgm:prSet>
      <dgm:spPr/>
    </dgm:pt>
  </dgm:ptLst>
  <dgm:cxnLst>
    <dgm:cxn modelId="{A735D818-64BB-4438-BDCA-7F5B323C5A06}" type="presOf" srcId="{70486C14-6AC6-BE4A-9FED-24933BA6770E}" destId="{BD8A4DA2-4774-2747-9C4E-431FEDEE116B}" srcOrd="0" destOrd="0" presId="urn:microsoft.com/office/officeart/2005/8/layout/pyramid1"/>
    <dgm:cxn modelId="{DE7A7C1A-54BD-3743-96D3-E10EEDCCF1E6}" srcId="{15A8F4FC-E29F-F745-BF04-26B1B4957E6E}" destId="{A7DC7081-8C22-7A4E-8F41-B490A54807C2}" srcOrd="0" destOrd="0" parTransId="{827A6233-D0A1-1148-A5E1-88F6AF8F8F2E}" sibTransId="{682886A0-47C9-694F-A5B9-36D711076620}"/>
    <dgm:cxn modelId="{C08E7E1C-169D-C147-B9AF-7B77B4E5573A}" srcId="{649160E5-2920-2E43-AB10-2D83ADE19095}" destId="{AA81E6F6-E0A3-174E-8666-60761A30BD21}" srcOrd="2" destOrd="0" parTransId="{06D768AF-EFA5-554D-A8A7-25801F95247C}" sibTransId="{75BB73CF-1C6A-0742-A6E8-75D0C56B7E3A}"/>
    <dgm:cxn modelId="{E1C6DB1E-1F5E-4033-B802-857D0A80634F}" type="presOf" srcId="{362B8961-F804-9B48-A3F4-0871231080F5}" destId="{63798C49-604C-6D4F-B502-7E4BA45356A1}" srcOrd="0" destOrd="0" presId="urn:microsoft.com/office/officeart/2005/8/layout/pyramid1"/>
    <dgm:cxn modelId="{2A61F32C-741A-480E-8525-323021EBB18C}" type="presOf" srcId="{362B8961-F804-9B48-A3F4-0871231080F5}" destId="{E4181917-BB74-094C-83B5-63AA39D3F980}" srcOrd="1" destOrd="0" presId="urn:microsoft.com/office/officeart/2005/8/layout/pyramid1"/>
    <dgm:cxn modelId="{85D64632-8AB7-422C-B6B8-8C8DCA5503DF}" type="presOf" srcId="{A7DC7081-8C22-7A4E-8F41-B490A54807C2}" destId="{B0EF3AC3-0F39-074F-B7E8-02C3FED0D751}" srcOrd="1" destOrd="0" presId="urn:microsoft.com/office/officeart/2005/8/layout/pyramid1"/>
    <dgm:cxn modelId="{F75A9C39-12BF-3D4D-89B5-776E3D10AC3D}" srcId="{AA81E6F6-E0A3-174E-8666-60761A30BD21}" destId="{362B8961-F804-9B48-A3F4-0871231080F5}" srcOrd="0" destOrd="0" parTransId="{EC8415BA-EFD4-FA44-9876-A560974F0E0B}" sibTransId="{676D45F4-7F60-6D47-B5EC-16E76F3C7D7B}"/>
    <dgm:cxn modelId="{C0837C4E-0032-4BC6-BE8B-0EF866984C7C}" type="presOf" srcId="{AA81E6F6-E0A3-174E-8666-60761A30BD21}" destId="{680880A8-997B-A541-ADD6-12677C70DBB4}" srcOrd="0" destOrd="0" presId="urn:microsoft.com/office/officeart/2005/8/layout/pyramid1"/>
    <dgm:cxn modelId="{A8170D7E-8A0B-4300-86EF-4894B2DA9804}" type="presOf" srcId="{3EB87650-35A2-844B-9C3C-016B209CB90F}" destId="{EDEB3454-1F7E-594F-B14B-175BDB7A3CA0}" srcOrd="0" destOrd="0" presId="urn:microsoft.com/office/officeart/2005/8/layout/pyramid1"/>
    <dgm:cxn modelId="{2E639D7F-1F8A-D341-BDB7-C7025F63603D}" srcId="{649160E5-2920-2E43-AB10-2D83ADE19095}" destId="{15A8F4FC-E29F-F745-BF04-26B1B4957E6E}" srcOrd="0" destOrd="0" parTransId="{DBE2BCEA-129D-FE4A-9BFD-F42EDFAAB571}" sibTransId="{A5409590-AEE1-A947-B90C-5F50D54C0DC4}"/>
    <dgm:cxn modelId="{8B4DF58B-E355-4702-9FFC-2DEC3ECED08C}" type="presOf" srcId="{A7DC7081-8C22-7A4E-8F41-B490A54807C2}" destId="{CD8DBAC6-25DB-7848-AE10-A620F7695C2D}" srcOrd="0" destOrd="0" presId="urn:microsoft.com/office/officeart/2005/8/layout/pyramid1"/>
    <dgm:cxn modelId="{E3D48DA0-6CA3-49B0-81D8-FC63FA02C299}" type="presOf" srcId="{15A8F4FC-E29F-F745-BF04-26B1B4957E6E}" destId="{323F2C42-63B1-9D46-8116-55010DB641B3}" srcOrd="0" destOrd="0" presId="urn:microsoft.com/office/officeart/2005/8/layout/pyramid1"/>
    <dgm:cxn modelId="{86620DBC-D942-4DF9-B06C-987EE5C5FF54}" type="presOf" srcId="{59B27F22-6243-154D-AC39-BE6DB825FEB6}" destId="{E4181917-BB74-094C-83B5-63AA39D3F980}" srcOrd="1" destOrd="1" presId="urn:microsoft.com/office/officeart/2005/8/layout/pyramid1"/>
    <dgm:cxn modelId="{05378BC4-9AFE-1949-9483-E97DF70225B7}" srcId="{AA81E6F6-E0A3-174E-8666-60761A30BD21}" destId="{59B27F22-6243-154D-AC39-BE6DB825FEB6}" srcOrd="1" destOrd="0" parTransId="{F89BC193-CE00-8B46-847B-D49CC8B16571}" sibTransId="{7905585C-A24D-5349-B6E7-66000289BCCD}"/>
    <dgm:cxn modelId="{080D9ECC-A68A-DE47-81EA-5545E8DC511F}" srcId="{649160E5-2920-2E43-AB10-2D83ADE19095}" destId="{70486C14-6AC6-BE4A-9FED-24933BA6770E}" srcOrd="1" destOrd="0" parTransId="{104E6419-F7F4-8545-AC3D-82C43F9B8796}" sibTransId="{5CB8B94A-450A-F946-9E03-E75550EFA0F3}"/>
    <dgm:cxn modelId="{E14CE0D1-544F-49E6-92B7-384130DF6780}" type="presOf" srcId="{AA81E6F6-E0A3-174E-8666-60761A30BD21}" destId="{41822CAB-1187-974C-A0B2-6CF6E1C887F7}" srcOrd="1" destOrd="0" presId="urn:microsoft.com/office/officeart/2005/8/layout/pyramid1"/>
    <dgm:cxn modelId="{59ABFCD5-1FFB-4B32-BCFF-BB5BD17891FC}" type="presOf" srcId="{70486C14-6AC6-BE4A-9FED-24933BA6770E}" destId="{A86C6DF5-778F-4642-AF29-1D54919DAA9F}" srcOrd="1" destOrd="0" presId="urn:microsoft.com/office/officeart/2005/8/layout/pyramid1"/>
    <dgm:cxn modelId="{EAC231EA-DB5A-DE4B-975B-0D06BED0584B}" srcId="{70486C14-6AC6-BE4A-9FED-24933BA6770E}" destId="{3EB87650-35A2-844B-9C3C-016B209CB90F}" srcOrd="0" destOrd="0" parTransId="{69A124E5-BB8A-4546-9B9C-93CD70DE48D1}" sibTransId="{64EF014F-D53D-1548-AC0A-B14F06A26A96}"/>
    <dgm:cxn modelId="{FB7D4AEB-46C7-4FE5-A631-62E8C75B4D26}" type="presOf" srcId="{15A8F4FC-E29F-F745-BF04-26B1B4957E6E}" destId="{DCB840AC-C313-7A49-9DFD-68837E8E1465}" srcOrd="1" destOrd="0" presId="urn:microsoft.com/office/officeart/2005/8/layout/pyramid1"/>
    <dgm:cxn modelId="{5816C2F2-B404-45E4-9BB4-1F8DDB86D8FB}" type="presOf" srcId="{649160E5-2920-2E43-AB10-2D83ADE19095}" destId="{09A7B802-5403-BD45-9DA3-6DE3D2A79C51}" srcOrd="0" destOrd="0" presId="urn:microsoft.com/office/officeart/2005/8/layout/pyramid1"/>
    <dgm:cxn modelId="{02AB0FF7-8254-41FB-9D1D-37D6826B3B34}" type="presOf" srcId="{3EB87650-35A2-844B-9C3C-016B209CB90F}" destId="{4DD1200A-4316-184B-8D01-6D4B01BD8657}" srcOrd="1" destOrd="0" presId="urn:microsoft.com/office/officeart/2005/8/layout/pyramid1"/>
    <dgm:cxn modelId="{5831C2F9-2F92-44D4-823F-1BCA609B3E72}" type="presOf" srcId="{59B27F22-6243-154D-AC39-BE6DB825FEB6}" destId="{63798C49-604C-6D4F-B502-7E4BA45356A1}" srcOrd="0" destOrd="1" presId="urn:microsoft.com/office/officeart/2005/8/layout/pyramid1"/>
    <dgm:cxn modelId="{C345204F-1C5A-4F07-8212-0F1BC7E289A0}" type="presParOf" srcId="{09A7B802-5403-BD45-9DA3-6DE3D2A79C51}" destId="{AC43E776-ED5C-1E44-A3EA-7E3D4E98FE0C}" srcOrd="0" destOrd="0" presId="urn:microsoft.com/office/officeart/2005/8/layout/pyramid1"/>
    <dgm:cxn modelId="{55E0215D-30F9-4A29-9D0B-190F246BCD43}" type="presParOf" srcId="{AC43E776-ED5C-1E44-A3EA-7E3D4E98FE0C}" destId="{CD8DBAC6-25DB-7848-AE10-A620F7695C2D}" srcOrd="0" destOrd="0" presId="urn:microsoft.com/office/officeart/2005/8/layout/pyramid1"/>
    <dgm:cxn modelId="{C55AB543-BE34-48CC-A313-373F2DB914F5}" type="presParOf" srcId="{AC43E776-ED5C-1E44-A3EA-7E3D4E98FE0C}" destId="{B0EF3AC3-0F39-074F-B7E8-02C3FED0D751}" srcOrd="1" destOrd="0" presId="urn:microsoft.com/office/officeart/2005/8/layout/pyramid1"/>
    <dgm:cxn modelId="{6189A1AC-E542-4CE7-A56C-1CF3520CA10A}" type="presParOf" srcId="{AC43E776-ED5C-1E44-A3EA-7E3D4E98FE0C}" destId="{323F2C42-63B1-9D46-8116-55010DB641B3}" srcOrd="2" destOrd="0" presId="urn:microsoft.com/office/officeart/2005/8/layout/pyramid1"/>
    <dgm:cxn modelId="{E32170C2-3BAD-4C2E-BF6A-49C19FA3B3FE}" type="presParOf" srcId="{AC43E776-ED5C-1E44-A3EA-7E3D4E98FE0C}" destId="{DCB840AC-C313-7A49-9DFD-68837E8E1465}" srcOrd="3" destOrd="0" presId="urn:microsoft.com/office/officeart/2005/8/layout/pyramid1"/>
    <dgm:cxn modelId="{7D0C809D-2CCA-4969-80ED-2C0DF5F857B2}" type="presParOf" srcId="{09A7B802-5403-BD45-9DA3-6DE3D2A79C51}" destId="{33F9B311-5F70-F340-87B1-8AD80491CB9C}" srcOrd="1" destOrd="0" presId="urn:microsoft.com/office/officeart/2005/8/layout/pyramid1"/>
    <dgm:cxn modelId="{E3DD55D1-BBDF-4BF0-B0B6-80E01E26A20D}" type="presParOf" srcId="{33F9B311-5F70-F340-87B1-8AD80491CB9C}" destId="{EDEB3454-1F7E-594F-B14B-175BDB7A3CA0}" srcOrd="0" destOrd="0" presId="urn:microsoft.com/office/officeart/2005/8/layout/pyramid1"/>
    <dgm:cxn modelId="{964EA8DB-08BA-4F6D-AA9E-82831D9863CC}" type="presParOf" srcId="{33F9B311-5F70-F340-87B1-8AD80491CB9C}" destId="{4DD1200A-4316-184B-8D01-6D4B01BD8657}" srcOrd="1" destOrd="0" presId="urn:microsoft.com/office/officeart/2005/8/layout/pyramid1"/>
    <dgm:cxn modelId="{E9CC86D1-68CA-4B6A-91F3-65E5EC4F34B9}" type="presParOf" srcId="{33F9B311-5F70-F340-87B1-8AD80491CB9C}" destId="{BD8A4DA2-4774-2747-9C4E-431FEDEE116B}" srcOrd="2" destOrd="0" presId="urn:microsoft.com/office/officeart/2005/8/layout/pyramid1"/>
    <dgm:cxn modelId="{A09BCAF6-9F76-401F-A9F2-D1CE03C19097}" type="presParOf" srcId="{33F9B311-5F70-F340-87B1-8AD80491CB9C}" destId="{A86C6DF5-778F-4642-AF29-1D54919DAA9F}" srcOrd="3" destOrd="0" presId="urn:microsoft.com/office/officeart/2005/8/layout/pyramid1"/>
    <dgm:cxn modelId="{52974A1E-FAF5-47AF-BF29-FBFD21CE5D9D}" type="presParOf" srcId="{09A7B802-5403-BD45-9DA3-6DE3D2A79C51}" destId="{767D24E3-5775-B849-B09C-7604895582F2}" srcOrd="2" destOrd="0" presId="urn:microsoft.com/office/officeart/2005/8/layout/pyramid1"/>
    <dgm:cxn modelId="{9355FC0A-76D6-46ED-B876-CBD9FACD574B}" type="presParOf" srcId="{767D24E3-5775-B849-B09C-7604895582F2}" destId="{63798C49-604C-6D4F-B502-7E4BA45356A1}" srcOrd="0" destOrd="0" presId="urn:microsoft.com/office/officeart/2005/8/layout/pyramid1"/>
    <dgm:cxn modelId="{A8159E26-D89E-4E76-A127-EFE910CEE06F}" type="presParOf" srcId="{767D24E3-5775-B849-B09C-7604895582F2}" destId="{E4181917-BB74-094C-83B5-63AA39D3F980}" srcOrd="1" destOrd="0" presId="urn:microsoft.com/office/officeart/2005/8/layout/pyramid1"/>
    <dgm:cxn modelId="{82941479-0C84-41A2-9FEA-E486024138C6}" type="presParOf" srcId="{767D24E3-5775-B849-B09C-7604895582F2}" destId="{680880A8-997B-A541-ADD6-12677C70DBB4}" srcOrd="2" destOrd="0" presId="urn:microsoft.com/office/officeart/2005/8/layout/pyramid1"/>
    <dgm:cxn modelId="{20A0B9E0-F805-4538-9F2B-790CB3D0DD5B}" type="presParOf" srcId="{767D24E3-5775-B849-B09C-7604895582F2}" destId="{41822CAB-1187-974C-A0B2-6CF6E1C887F7}" srcOrd="3" destOrd="0" presId="urn:microsoft.com/office/officeart/2005/8/layout/pyramid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A694A12-486A-BD4B-9D9C-BAF11D622A49}" type="doc">
      <dgm:prSet loTypeId="urn:microsoft.com/office/officeart/2005/8/layout/lProcess2" loCatId="list" qsTypeId="urn:microsoft.com/office/officeart/2005/8/quickstyle/simple4" qsCatId="simple" csTypeId="urn:microsoft.com/office/officeart/2005/8/colors/accent1_2" csCatId="accent1" phldr="1"/>
      <dgm:spPr/>
      <dgm:t>
        <a:bodyPr/>
        <a:lstStyle/>
        <a:p>
          <a:endParaRPr lang="en-US"/>
        </a:p>
      </dgm:t>
    </dgm:pt>
    <dgm:pt modelId="{CEE83846-5B16-DC4A-8838-43F7F24A81D3}">
      <dgm:prSet custT="1"/>
      <dgm:spPr/>
      <dgm:t>
        <a:bodyPr/>
        <a:lstStyle/>
        <a:p>
          <a:pPr rtl="0"/>
          <a:r>
            <a:rPr lang="en-US" sz="2400" b="1" i="0" dirty="0">
              <a:solidFill>
                <a:srgbClr val="0000FF"/>
              </a:solidFill>
            </a:rPr>
            <a:t>Confidentiality</a:t>
          </a:r>
          <a:r>
            <a:rPr lang="en-US" sz="2400" dirty="0">
              <a:solidFill>
                <a:srgbClr val="0000FF"/>
              </a:solidFill>
            </a:rPr>
            <a:t> </a:t>
          </a:r>
        </a:p>
      </dgm:t>
    </dgm:pt>
    <dgm:pt modelId="{9975BC88-DAE3-C94F-859A-3F83FF5FD7F4}" type="parTrans" cxnId="{B2B3512E-0B9B-8644-926C-81297A3E98C4}">
      <dgm:prSet/>
      <dgm:spPr/>
      <dgm:t>
        <a:bodyPr/>
        <a:lstStyle/>
        <a:p>
          <a:endParaRPr lang="en-US" sz="2000">
            <a:solidFill>
              <a:srgbClr val="0000FF"/>
            </a:solidFill>
          </a:endParaRPr>
        </a:p>
      </dgm:t>
    </dgm:pt>
    <dgm:pt modelId="{DF434A2E-243E-D94F-B120-7307862C420F}" type="sibTrans" cxnId="{B2B3512E-0B9B-8644-926C-81297A3E98C4}">
      <dgm:prSet/>
      <dgm:spPr/>
      <dgm:t>
        <a:bodyPr/>
        <a:lstStyle/>
        <a:p>
          <a:endParaRPr lang="en-US" sz="2000">
            <a:solidFill>
              <a:srgbClr val="0000FF"/>
            </a:solidFill>
          </a:endParaRPr>
        </a:p>
      </dgm:t>
    </dgm:pt>
    <dgm:pt modelId="{C2B6F0B7-215C-704E-B592-77A94414EE43}">
      <dgm:prSet custT="1"/>
      <dgm:spPr/>
      <dgm:t>
        <a:bodyPr/>
        <a:lstStyle/>
        <a:p>
          <a:pPr rtl="0"/>
          <a:r>
            <a:rPr lang="en-US" sz="2000" b="1" dirty="0">
              <a:solidFill>
                <a:srgbClr val="0000FF"/>
              </a:solidFill>
            </a:rPr>
            <a:t>Student grade </a:t>
          </a:r>
          <a:r>
            <a:rPr lang="en-US" sz="2000" b="1" dirty="0">
              <a:solidFill>
                <a:srgbClr val="C00000"/>
              </a:solidFill>
            </a:rPr>
            <a:t>information </a:t>
          </a:r>
          <a:r>
            <a:rPr lang="en-US" sz="2000" dirty="0">
              <a:solidFill>
                <a:srgbClr val="C00000"/>
              </a:solidFill>
            </a:rPr>
            <a:t>is an asset whose confidentiality is considered to be highly important by students</a:t>
          </a:r>
        </a:p>
      </dgm:t>
    </dgm:pt>
    <dgm:pt modelId="{93469E97-A0DA-D747-9500-16B7076D980A}" type="parTrans" cxnId="{FB0B5E43-8856-4D46-A97A-307656A092E3}">
      <dgm:prSet/>
      <dgm:spPr/>
      <dgm:t>
        <a:bodyPr/>
        <a:lstStyle/>
        <a:p>
          <a:endParaRPr lang="en-US" sz="2000">
            <a:solidFill>
              <a:srgbClr val="0000FF"/>
            </a:solidFill>
          </a:endParaRPr>
        </a:p>
      </dgm:t>
    </dgm:pt>
    <dgm:pt modelId="{79747BF2-B3DD-3340-B904-44179DA94E45}" type="sibTrans" cxnId="{FB0B5E43-8856-4D46-A97A-307656A092E3}">
      <dgm:prSet/>
      <dgm:spPr/>
      <dgm:t>
        <a:bodyPr/>
        <a:lstStyle/>
        <a:p>
          <a:endParaRPr lang="en-US" sz="2000">
            <a:solidFill>
              <a:srgbClr val="0000FF"/>
            </a:solidFill>
          </a:endParaRPr>
        </a:p>
      </dgm:t>
    </dgm:pt>
    <dgm:pt modelId="{963203C2-9F70-104B-A277-EA054148B921}">
      <dgm:prSet custT="1"/>
      <dgm:spPr/>
      <dgm:t>
        <a:bodyPr/>
        <a:lstStyle/>
        <a:p>
          <a:pPr rtl="0"/>
          <a:r>
            <a:rPr lang="en-US" sz="2000" dirty="0">
              <a:solidFill>
                <a:srgbClr val="FF0000"/>
              </a:solidFill>
            </a:rPr>
            <a:t>Regulated by the Family Educational Rights and Privacy Act (FERPA)</a:t>
          </a:r>
        </a:p>
      </dgm:t>
    </dgm:pt>
    <dgm:pt modelId="{0BD1A170-C88A-9541-BF7D-8D4207554A8D}" type="parTrans" cxnId="{6C835FEA-705C-A04D-928D-05A401096D52}">
      <dgm:prSet/>
      <dgm:spPr/>
      <dgm:t>
        <a:bodyPr/>
        <a:lstStyle/>
        <a:p>
          <a:endParaRPr lang="en-US" sz="2000">
            <a:solidFill>
              <a:srgbClr val="0000FF"/>
            </a:solidFill>
          </a:endParaRPr>
        </a:p>
      </dgm:t>
    </dgm:pt>
    <dgm:pt modelId="{C086E017-CA97-9A43-9DEC-99A41651C309}" type="sibTrans" cxnId="{6C835FEA-705C-A04D-928D-05A401096D52}">
      <dgm:prSet/>
      <dgm:spPr/>
      <dgm:t>
        <a:bodyPr/>
        <a:lstStyle/>
        <a:p>
          <a:endParaRPr lang="en-US" sz="2000">
            <a:solidFill>
              <a:srgbClr val="0000FF"/>
            </a:solidFill>
          </a:endParaRPr>
        </a:p>
      </dgm:t>
    </dgm:pt>
    <dgm:pt modelId="{2A433D58-A534-A549-AAE1-C495A386F008}">
      <dgm:prSet custT="1"/>
      <dgm:spPr/>
      <dgm:t>
        <a:bodyPr/>
        <a:lstStyle/>
        <a:p>
          <a:pPr rtl="0"/>
          <a:r>
            <a:rPr lang="en-US" sz="2400" b="1" dirty="0">
              <a:solidFill>
                <a:srgbClr val="0000FF"/>
              </a:solidFill>
            </a:rPr>
            <a:t>Integrity</a:t>
          </a:r>
        </a:p>
        <a:p>
          <a:pPr rtl="0"/>
          <a:r>
            <a:rPr lang="en-US" sz="2400" b="1" dirty="0">
              <a:solidFill>
                <a:srgbClr val="0000FF"/>
              </a:solidFill>
            </a:rPr>
            <a:t>(consistency)</a:t>
          </a:r>
        </a:p>
      </dgm:t>
    </dgm:pt>
    <dgm:pt modelId="{23537A07-3CC2-3746-9BC4-458C39A6CD7E}" type="parTrans" cxnId="{982DBD62-00E3-4F46-89B1-8849CD48AFFD}">
      <dgm:prSet/>
      <dgm:spPr/>
      <dgm:t>
        <a:bodyPr/>
        <a:lstStyle/>
        <a:p>
          <a:endParaRPr lang="en-US" sz="2000">
            <a:solidFill>
              <a:srgbClr val="0000FF"/>
            </a:solidFill>
          </a:endParaRPr>
        </a:p>
      </dgm:t>
    </dgm:pt>
    <dgm:pt modelId="{787CE5BD-6B18-FA44-9EE8-E70F2414CE73}" type="sibTrans" cxnId="{982DBD62-00E3-4F46-89B1-8849CD48AFFD}">
      <dgm:prSet/>
      <dgm:spPr/>
      <dgm:t>
        <a:bodyPr/>
        <a:lstStyle/>
        <a:p>
          <a:endParaRPr lang="en-US" sz="2000">
            <a:solidFill>
              <a:srgbClr val="0000FF"/>
            </a:solidFill>
          </a:endParaRPr>
        </a:p>
      </dgm:t>
    </dgm:pt>
    <dgm:pt modelId="{226EFB0F-12A8-8445-9510-83F9B4A90FE0}">
      <dgm:prSet custT="1"/>
      <dgm:spPr/>
      <dgm:t>
        <a:bodyPr/>
        <a:lstStyle/>
        <a:p>
          <a:pPr rtl="0"/>
          <a:r>
            <a:rPr lang="en-US" sz="2000" b="1" dirty="0">
              <a:solidFill>
                <a:srgbClr val="0000FF"/>
              </a:solidFill>
            </a:rPr>
            <a:t>Patient information </a:t>
          </a:r>
          <a:r>
            <a:rPr lang="en-US" sz="2000" dirty="0">
              <a:solidFill>
                <a:srgbClr val="C00000"/>
              </a:solidFill>
            </a:rPr>
            <a:t>stored in a database – inaccurate information could result in serious harm or death to a patient and expose the hospital to massive liability</a:t>
          </a:r>
        </a:p>
      </dgm:t>
    </dgm:pt>
    <dgm:pt modelId="{12C4709E-713D-3449-BB83-C773643D72C7}" type="parTrans" cxnId="{F64C9110-1EC1-454B-A271-04A906453B6F}">
      <dgm:prSet/>
      <dgm:spPr/>
      <dgm:t>
        <a:bodyPr/>
        <a:lstStyle/>
        <a:p>
          <a:endParaRPr lang="en-US" sz="2000">
            <a:solidFill>
              <a:srgbClr val="0000FF"/>
            </a:solidFill>
          </a:endParaRPr>
        </a:p>
      </dgm:t>
    </dgm:pt>
    <dgm:pt modelId="{1A2D05D8-4989-D145-B026-673EA2EDE00A}" type="sibTrans" cxnId="{F64C9110-1EC1-454B-A271-04A906453B6F}">
      <dgm:prSet/>
      <dgm:spPr/>
      <dgm:t>
        <a:bodyPr/>
        <a:lstStyle/>
        <a:p>
          <a:endParaRPr lang="en-US" sz="2000">
            <a:solidFill>
              <a:srgbClr val="0000FF"/>
            </a:solidFill>
          </a:endParaRPr>
        </a:p>
      </dgm:t>
    </dgm:pt>
    <dgm:pt modelId="{86688F88-A7C0-2047-9FEA-FF84AAAAB4C5}">
      <dgm:prSet custT="1"/>
      <dgm:spPr/>
      <dgm:t>
        <a:bodyPr/>
        <a:lstStyle/>
        <a:p>
          <a:pPr rtl="0"/>
          <a:r>
            <a:rPr lang="en-US" sz="2000" dirty="0">
              <a:solidFill>
                <a:srgbClr val="0000FF"/>
              </a:solidFill>
            </a:rPr>
            <a:t>A </a:t>
          </a:r>
          <a:r>
            <a:rPr lang="en-US" sz="2000" b="1" dirty="0">
              <a:solidFill>
                <a:srgbClr val="0000FF"/>
              </a:solidFill>
            </a:rPr>
            <a:t>Web site that offers a </a:t>
          </a:r>
          <a:r>
            <a:rPr lang="en-US" sz="2000" b="1" dirty="0">
              <a:solidFill>
                <a:srgbClr val="FF0000"/>
              </a:solidFill>
            </a:rPr>
            <a:t>forum to registered users </a:t>
          </a:r>
          <a:r>
            <a:rPr lang="en-US" sz="2000" dirty="0">
              <a:solidFill>
                <a:srgbClr val="FF0000"/>
              </a:solidFill>
            </a:rPr>
            <a:t>to discuss some specific topic would be assigned a moderate level of integrity</a:t>
          </a:r>
        </a:p>
      </dgm:t>
    </dgm:pt>
    <dgm:pt modelId="{FE91A2EC-6D5D-3449-870C-D4DD01D49DD0}" type="parTrans" cxnId="{47CCF038-5299-824A-92FD-5A074B8DC7AA}">
      <dgm:prSet/>
      <dgm:spPr/>
      <dgm:t>
        <a:bodyPr/>
        <a:lstStyle/>
        <a:p>
          <a:endParaRPr lang="en-US" sz="2000">
            <a:solidFill>
              <a:srgbClr val="0000FF"/>
            </a:solidFill>
          </a:endParaRPr>
        </a:p>
      </dgm:t>
    </dgm:pt>
    <dgm:pt modelId="{A9887F89-6CF5-1746-BCD0-1E94F594067C}" type="sibTrans" cxnId="{47CCF038-5299-824A-92FD-5A074B8DC7AA}">
      <dgm:prSet/>
      <dgm:spPr/>
      <dgm:t>
        <a:bodyPr/>
        <a:lstStyle/>
        <a:p>
          <a:endParaRPr lang="en-US" sz="2000">
            <a:solidFill>
              <a:srgbClr val="0000FF"/>
            </a:solidFill>
          </a:endParaRPr>
        </a:p>
      </dgm:t>
    </dgm:pt>
    <dgm:pt modelId="{034FBF72-5E4A-F147-AA29-7C1D3755292F}">
      <dgm:prSet custT="1"/>
      <dgm:spPr/>
      <dgm:t>
        <a:bodyPr/>
        <a:lstStyle/>
        <a:p>
          <a:pPr rtl="0"/>
          <a:r>
            <a:rPr lang="en-US" sz="2000" dirty="0">
              <a:solidFill>
                <a:srgbClr val="FF0000"/>
              </a:solidFill>
            </a:rPr>
            <a:t>An example of a low-integrity requirement is an anonymous </a:t>
          </a:r>
          <a:r>
            <a:rPr lang="en-US" sz="2000" b="1" dirty="0">
              <a:solidFill>
                <a:srgbClr val="FF0000"/>
              </a:solidFill>
            </a:rPr>
            <a:t>online poll</a:t>
          </a:r>
        </a:p>
      </dgm:t>
    </dgm:pt>
    <dgm:pt modelId="{46C2BA37-6A92-0440-81BD-ACEB97715F7E}" type="parTrans" cxnId="{75F76FC4-D21F-8A45-858A-F0BD51619317}">
      <dgm:prSet/>
      <dgm:spPr/>
      <dgm:t>
        <a:bodyPr/>
        <a:lstStyle/>
        <a:p>
          <a:endParaRPr lang="en-US" sz="2000">
            <a:solidFill>
              <a:srgbClr val="0000FF"/>
            </a:solidFill>
          </a:endParaRPr>
        </a:p>
      </dgm:t>
    </dgm:pt>
    <dgm:pt modelId="{E5FF3B80-53BA-C342-BAFD-EA684487F7EA}" type="sibTrans" cxnId="{75F76FC4-D21F-8A45-858A-F0BD51619317}">
      <dgm:prSet/>
      <dgm:spPr/>
      <dgm:t>
        <a:bodyPr/>
        <a:lstStyle/>
        <a:p>
          <a:endParaRPr lang="en-US" sz="2000">
            <a:solidFill>
              <a:srgbClr val="0000FF"/>
            </a:solidFill>
          </a:endParaRPr>
        </a:p>
      </dgm:t>
    </dgm:pt>
    <dgm:pt modelId="{9F2C9523-7EFE-8045-A72C-43930C5D2446}">
      <dgm:prSet custT="1"/>
      <dgm:spPr/>
      <dgm:t>
        <a:bodyPr/>
        <a:lstStyle/>
        <a:p>
          <a:pPr rtl="0"/>
          <a:r>
            <a:rPr lang="en-US" sz="2400" b="1" i="0" dirty="0">
              <a:solidFill>
                <a:srgbClr val="0000FF"/>
              </a:solidFill>
            </a:rPr>
            <a:t>Availability</a:t>
          </a:r>
        </a:p>
      </dgm:t>
    </dgm:pt>
    <dgm:pt modelId="{AB1499F2-160F-8E49-B547-EB2701E0CCB3}" type="parTrans" cxnId="{44DF6120-93A0-604E-9A06-2FDF0EA7F7E6}">
      <dgm:prSet/>
      <dgm:spPr/>
      <dgm:t>
        <a:bodyPr/>
        <a:lstStyle/>
        <a:p>
          <a:endParaRPr lang="en-US" sz="2000">
            <a:solidFill>
              <a:srgbClr val="0000FF"/>
            </a:solidFill>
          </a:endParaRPr>
        </a:p>
      </dgm:t>
    </dgm:pt>
    <dgm:pt modelId="{B56B498C-4249-E849-9494-1B2D602B8604}" type="sibTrans" cxnId="{44DF6120-93A0-604E-9A06-2FDF0EA7F7E6}">
      <dgm:prSet/>
      <dgm:spPr/>
      <dgm:t>
        <a:bodyPr/>
        <a:lstStyle/>
        <a:p>
          <a:endParaRPr lang="en-US" sz="2000">
            <a:solidFill>
              <a:srgbClr val="0000FF"/>
            </a:solidFill>
          </a:endParaRPr>
        </a:p>
      </dgm:t>
    </dgm:pt>
    <dgm:pt modelId="{59D580C2-D51C-4946-80A2-13FBA42A934D}">
      <dgm:prSet custT="1"/>
      <dgm:spPr/>
      <dgm:t>
        <a:bodyPr/>
        <a:lstStyle/>
        <a:p>
          <a:pPr rtl="0"/>
          <a:r>
            <a:rPr lang="en-US" sz="2000" dirty="0">
              <a:solidFill>
                <a:srgbClr val="FF0000"/>
              </a:solidFill>
            </a:rPr>
            <a:t>The </a:t>
          </a:r>
          <a:r>
            <a:rPr lang="en-US" sz="2000" b="1" dirty="0">
              <a:solidFill>
                <a:srgbClr val="FF0000"/>
              </a:solidFill>
            </a:rPr>
            <a:t>more critical a component or service</a:t>
          </a:r>
          <a:r>
            <a:rPr lang="en-US" sz="2000" dirty="0">
              <a:solidFill>
                <a:srgbClr val="FF0000"/>
              </a:solidFill>
            </a:rPr>
            <a:t>, the higher the level of availability required</a:t>
          </a:r>
        </a:p>
      </dgm:t>
    </dgm:pt>
    <dgm:pt modelId="{188FA107-D78B-CA45-AF07-B20392695F09}" type="parTrans" cxnId="{C323D7B1-AE75-6B48-8CA6-A10E96B1A184}">
      <dgm:prSet/>
      <dgm:spPr/>
      <dgm:t>
        <a:bodyPr/>
        <a:lstStyle/>
        <a:p>
          <a:endParaRPr lang="en-US" sz="2000">
            <a:solidFill>
              <a:srgbClr val="0000FF"/>
            </a:solidFill>
          </a:endParaRPr>
        </a:p>
      </dgm:t>
    </dgm:pt>
    <dgm:pt modelId="{4E86150A-47F0-824D-BE6A-857E822126ED}" type="sibTrans" cxnId="{C323D7B1-AE75-6B48-8CA6-A10E96B1A184}">
      <dgm:prSet/>
      <dgm:spPr/>
      <dgm:t>
        <a:bodyPr/>
        <a:lstStyle/>
        <a:p>
          <a:endParaRPr lang="en-US" sz="2000">
            <a:solidFill>
              <a:srgbClr val="0000FF"/>
            </a:solidFill>
          </a:endParaRPr>
        </a:p>
      </dgm:t>
    </dgm:pt>
    <dgm:pt modelId="{C4A0DB89-7CC9-4045-B28F-308662009F9D}">
      <dgm:prSet custT="1"/>
      <dgm:spPr/>
      <dgm:t>
        <a:bodyPr/>
        <a:lstStyle/>
        <a:p>
          <a:pPr rtl="0"/>
          <a:r>
            <a:rPr lang="en-US" sz="2000" dirty="0">
              <a:solidFill>
                <a:srgbClr val="FF0000"/>
              </a:solidFill>
            </a:rPr>
            <a:t>A moderate availability requirement is </a:t>
          </a:r>
          <a:r>
            <a:rPr lang="en-US" sz="2000" b="1" dirty="0">
              <a:solidFill>
                <a:srgbClr val="FF0000"/>
              </a:solidFill>
            </a:rPr>
            <a:t>a public Web site for a university</a:t>
          </a:r>
        </a:p>
      </dgm:t>
    </dgm:pt>
    <dgm:pt modelId="{DD04458C-D30E-B34E-A977-E579A16E937E}" type="parTrans" cxnId="{9A6AEFB6-FD52-CD4C-A0EB-DCBBCB483A93}">
      <dgm:prSet/>
      <dgm:spPr/>
      <dgm:t>
        <a:bodyPr/>
        <a:lstStyle/>
        <a:p>
          <a:endParaRPr lang="en-US" sz="2000">
            <a:solidFill>
              <a:srgbClr val="0000FF"/>
            </a:solidFill>
          </a:endParaRPr>
        </a:p>
      </dgm:t>
    </dgm:pt>
    <dgm:pt modelId="{DBC0CD74-A63F-194B-A6E9-E4EF8214CF21}" type="sibTrans" cxnId="{9A6AEFB6-FD52-CD4C-A0EB-DCBBCB483A93}">
      <dgm:prSet/>
      <dgm:spPr/>
      <dgm:t>
        <a:bodyPr/>
        <a:lstStyle/>
        <a:p>
          <a:endParaRPr lang="en-US" sz="2000">
            <a:solidFill>
              <a:srgbClr val="0000FF"/>
            </a:solidFill>
          </a:endParaRPr>
        </a:p>
      </dgm:t>
    </dgm:pt>
    <dgm:pt modelId="{1B57A700-E072-CE42-B289-EEFD204E9898}">
      <dgm:prSet custT="1"/>
      <dgm:spPr/>
      <dgm:t>
        <a:bodyPr/>
        <a:lstStyle/>
        <a:p>
          <a:pPr rtl="0"/>
          <a:r>
            <a:rPr lang="en-US" sz="2000" dirty="0">
              <a:solidFill>
                <a:srgbClr val="FF0000"/>
              </a:solidFill>
            </a:rPr>
            <a:t>An </a:t>
          </a:r>
          <a:r>
            <a:rPr lang="en-US" sz="2000" b="1" dirty="0">
              <a:solidFill>
                <a:srgbClr val="FF0000"/>
              </a:solidFill>
            </a:rPr>
            <a:t>online telephone directory lookup </a:t>
          </a:r>
          <a:r>
            <a:rPr lang="en-US" sz="2000" dirty="0">
              <a:solidFill>
                <a:srgbClr val="FF0000"/>
              </a:solidFill>
            </a:rPr>
            <a:t>application would be classified as a low-availability requirement</a:t>
          </a:r>
        </a:p>
      </dgm:t>
    </dgm:pt>
    <dgm:pt modelId="{FBF1A58A-2CDC-EB4B-838D-CD40DF6D2BA9}" type="parTrans" cxnId="{B3FF1399-8F8F-6D4F-B286-D006A8DDED9F}">
      <dgm:prSet/>
      <dgm:spPr/>
      <dgm:t>
        <a:bodyPr/>
        <a:lstStyle/>
        <a:p>
          <a:endParaRPr lang="en-US" sz="2000">
            <a:solidFill>
              <a:srgbClr val="0000FF"/>
            </a:solidFill>
          </a:endParaRPr>
        </a:p>
      </dgm:t>
    </dgm:pt>
    <dgm:pt modelId="{F47F6AC5-6892-E149-BE99-71B88829B3ED}" type="sibTrans" cxnId="{B3FF1399-8F8F-6D4F-B286-D006A8DDED9F}">
      <dgm:prSet/>
      <dgm:spPr/>
      <dgm:t>
        <a:bodyPr/>
        <a:lstStyle/>
        <a:p>
          <a:endParaRPr lang="en-US" sz="2000">
            <a:solidFill>
              <a:srgbClr val="0000FF"/>
            </a:solidFill>
          </a:endParaRPr>
        </a:p>
      </dgm:t>
    </dgm:pt>
    <dgm:pt modelId="{532A52E4-C168-D843-BA15-1DAD0E5EA2E6}" type="pres">
      <dgm:prSet presAssocID="{9A694A12-486A-BD4B-9D9C-BAF11D622A49}" presName="theList" presStyleCnt="0">
        <dgm:presLayoutVars>
          <dgm:dir/>
          <dgm:animLvl val="lvl"/>
          <dgm:resizeHandles val="exact"/>
        </dgm:presLayoutVars>
      </dgm:prSet>
      <dgm:spPr/>
    </dgm:pt>
    <dgm:pt modelId="{9EA179EA-3888-7343-A557-AB247DE62276}" type="pres">
      <dgm:prSet presAssocID="{CEE83846-5B16-DC4A-8838-43F7F24A81D3}" presName="compNode" presStyleCnt="0"/>
      <dgm:spPr/>
    </dgm:pt>
    <dgm:pt modelId="{E74AF64B-A620-0C45-B247-92C87E1A3C8C}" type="pres">
      <dgm:prSet presAssocID="{CEE83846-5B16-DC4A-8838-43F7F24A81D3}" presName="aNode" presStyleLbl="bgShp" presStyleIdx="0" presStyleCnt="3"/>
      <dgm:spPr/>
    </dgm:pt>
    <dgm:pt modelId="{2161F7D6-FF96-1940-98EA-E6F3091E1330}" type="pres">
      <dgm:prSet presAssocID="{CEE83846-5B16-DC4A-8838-43F7F24A81D3}" presName="textNode" presStyleLbl="bgShp" presStyleIdx="0" presStyleCnt="3"/>
      <dgm:spPr/>
    </dgm:pt>
    <dgm:pt modelId="{B8EDC57D-0154-5C41-9A02-2E02664088A6}" type="pres">
      <dgm:prSet presAssocID="{CEE83846-5B16-DC4A-8838-43F7F24A81D3}" presName="compChildNode" presStyleCnt="0"/>
      <dgm:spPr/>
    </dgm:pt>
    <dgm:pt modelId="{F536254B-706F-9A40-869A-ECCD30C95B63}" type="pres">
      <dgm:prSet presAssocID="{CEE83846-5B16-DC4A-8838-43F7F24A81D3}" presName="theInnerList" presStyleCnt="0"/>
      <dgm:spPr/>
    </dgm:pt>
    <dgm:pt modelId="{A0B257B1-4772-E04B-B67D-0B8E72B82E14}" type="pres">
      <dgm:prSet presAssocID="{C2B6F0B7-215C-704E-B592-77A94414EE43}" presName="childNode" presStyleLbl="node1" presStyleIdx="0" presStyleCnt="8">
        <dgm:presLayoutVars>
          <dgm:bulletEnabled val="1"/>
        </dgm:presLayoutVars>
      </dgm:prSet>
      <dgm:spPr/>
    </dgm:pt>
    <dgm:pt modelId="{AC4919B2-7F8E-574D-91E2-C0662BBE2B27}" type="pres">
      <dgm:prSet presAssocID="{C2B6F0B7-215C-704E-B592-77A94414EE43}" presName="aSpace2" presStyleCnt="0"/>
      <dgm:spPr/>
    </dgm:pt>
    <dgm:pt modelId="{8AAEFCBD-DCF7-3A40-81C8-F39E2CD36756}" type="pres">
      <dgm:prSet presAssocID="{963203C2-9F70-104B-A277-EA054148B921}" presName="childNode" presStyleLbl="node1" presStyleIdx="1" presStyleCnt="8">
        <dgm:presLayoutVars>
          <dgm:bulletEnabled val="1"/>
        </dgm:presLayoutVars>
      </dgm:prSet>
      <dgm:spPr/>
    </dgm:pt>
    <dgm:pt modelId="{58DFC691-FC2F-E046-8B32-30A019DFD420}" type="pres">
      <dgm:prSet presAssocID="{CEE83846-5B16-DC4A-8838-43F7F24A81D3}" presName="aSpace" presStyleCnt="0"/>
      <dgm:spPr/>
    </dgm:pt>
    <dgm:pt modelId="{285E32A2-E07E-DF4E-927F-35E7722DA3F2}" type="pres">
      <dgm:prSet presAssocID="{2A433D58-A534-A549-AAE1-C495A386F008}" presName="compNode" presStyleCnt="0"/>
      <dgm:spPr/>
    </dgm:pt>
    <dgm:pt modelId="{5B96D207-34DF-0F4C-8BB6-6CEB0EF67ADA}" type="pres">
      <dgm:prSet presAssocID="{2A433D58-A534-A549-AAE1-C495A386F008}" presName="aNode" presStyleLbl="bgShp" presStyleIdx="1" presStyleCnt="3"/>
      <dgm:spPr/>
    </dgm:pt>
    <dgm:pt modelId="{A7D2D34E-21DF-1344-A460-AB97E14192B1}" type="pres">
      <dgm:prSet presAssocID="{2A433D58-A534-A549-AAE1-C495A386F008}" presName="textNode" presStyleLbl="bgShp" presStyleIdx="1" presStyleCnt="3"/>
      <dgm:spPr/>
    </dgm:pt>
    <dgm:pt modelId="{3E62D97E-E6AB-C042-A582-E90DBEEA9F64}" type="pres">
      <dgm:prSet presAssocID="{2A433D58-A534-A549-AAE1-C495A386F008}" presName="compChildNode" presStyleCnt="0"/>
      <dgm:spPr/>
    </dgm:pt>
    <dgm:pt modelId="{D8834E4B-B022-6545-9CDE-75B8253A7364}" type="pres">
      <dgm:prSet presAssocID="{2A433D58-A534-A549-AAE1-C495A386F008}" presName="theInnerList" presStyleCnt="0"/>
      <dgm:spPr/>
    </dgm:pt>
    <dgm:pt modelId="{9A869599-A3BA-2140-965B-480788ED7672}" type="pres">
      <dgm:prSet presAssocID="{226EFB0F-12A8-8445-9510-83F9B4A90FE0}" presName="childNode" presStyleLbl="node1" presStyleIdx="2" presStyleCnt="8" custScaleX="98462" custScaleY="255695" custLinFactNeighborX="0" custLinFactNeighborY="-67541">
        <dgm:presLayoutVars>
          <dgm:bulletEnabled val="1"/>
        </dgm:presLayoutVars>
      </dgm:prSet>
      <dgm:spPr/>
    </dgm:pt>
    <dgm:pt modelId="{1FE4284F-F3A4-2247-A956-BE7CA5BD4DD7}" type="pres">
      <dgm:prSet presAssocID="{226EFB0F-12A8-8445-9510-83F9B4A90FE0}" presName="aSpace2" presStyleCnt="0"/>
      <dgm:spPr/>
    </dgm:pt>
    <dgm:pt modelId="{B2B9CB2D-DEBC-5E45-BCC2-2317E85CF5BE}" type="pres">
      <dgm:prSet presAssocID="{86688F88-A7C0-2047-9FEA-FF84AAAAB4C5}" presName="childNode" presStyleLbl="node1" presStyleIdx="3" presStyleCnt="8" custScaleY="167688">
        <dgm:presLayoutVars>
          <dgm:bulletEnabled val="1"/>
        </dgm:presLayoutVars>
      </dgm:prSet>
      <dgm:spPr/>
    </dgm:pt>
    <dgm:pt modelId="{4CA7819A-3AA1-1F4C-BB7F-6BDF72A30B32}" type="pres">
      <dgm:prSet presAssocID="{86688F88-A7C0-2047-9FEA-FF84AAAAB4C5}" presName="aSpace2" presStyleCnt="0"/>
      <dgm:spPr/>
    </dgm:pt>
    <dgm:pt modelId="{20DD891D-54C2-1049-9497-5E2B68136E99}" type="pres">
      <dgm:prSet presAssocID="{034FBF72-5E4A-F147-AA29-7C1D3755292F}" presName="childNode" presStyleLbl="node1" presStyleIdx="4" presStyleCnt="8">
        <dgm:presLayoutVars>
          <dgm:bulletEnabled val="1"/>
        </dgm:presLayoutVars>
      </dgm:prSet>
      <dgm:spPr/>
    </dgm:pt>
    <dgm:pt modelId="{65830766-6A61-3D41-AC79-D55AB3C5CD4C}" type="pres">
      <dgm:prSet presAssocID="{2A433D58-A534-A549-AAE1-C495A386F008}" presName="aSpace" presStyleCnt="0"/>
      <dgm:spPr/>
    </dgm:pt>
    <dgm:pt modelId="{61D445CF-8499-4749-AA31-FC085C626A6C}" type="pres">
      <dgm:prSet presAssocID="{9F2C9523-7EFE-8045-A72C-43930C5D2446}" presName="compNode" presStyleCnt="0"/>
      <dgm:spPr/>
    </dgm:pt>
    <dgm:pt modelId="{F31C69FC-F97D-C847-A4D6-679EEDFECE0D}" type="pres">
      <dgm:prSet presAssocID="{9F2C9523-7EFE-8045-A72C-43930C5D2446}" presName="aNode" presStyleLbl="bgShp" presStyleIdx="2" presStyleCnt="3"/>
      <dgm:spPr/>
    </dgm:pt>
    <dgm:pt modelId="{0D0E15B1-8A9B-8144-A78D-5F2B88805522}" type="pres">
      <dgm:prSet presAssocID="{9F2C9523-7EFE-8045-A72C-43930C5D2446}" presName="textNode" presStyleLbl="bgShp" presStyleIdx="2" presStyleCnt="3"/>
      <dgm:spPr/>
    </dgm:pt>
    <dgm:pt modelId="{3FFA3B65-DFFC-5841-B9A5-E984FEBED227}" type="pres">
      <dgm:prSet presAssocID="{9F2C9523-7EFE-8045-A72C-43930C5D2446}" presName="compChildNode" presStyleCnt="0"/>
      <dgm:spPr/>
    </dgm:pt>
    <dgm:pt modelId="{260E00A4-5A9D-CE43-8D9F-C580FC30B8B7}" type="pres">
      <dgm:prSet presAssocID="{9F2C9523-7EFE-8045-A72C-43930C5D2446}" presName="theInnerList" presStyleCnt="0"/>
      <dgm:spPr/>
    </dgm:pt>
    <dgm:pt modelId="{362B08EA-3F81-CB4A-B772-E14DBE4CD014}" type="pres">
      <dgm:prSet presAssocID="{59D580C2-D51C-4946-80A2-13FBA42A934D}" presName="childNode" presStyleLbl="node1" presStyleIdx="5" presStyleCnt="8">
        <dgm:presLayoutVars>
          <dgm:bulletEnabled val="1"/>
        </dgm:presLayoutVars>
      </dgm:prSet>
      <dgm:spPr/>
    </dgm:pt>
    <dgm:pt modelId="{FF630DC4-77F2-F34C-81B8-1CA106591F3D}" type="pres">
      <dgm:prSet presAssocID="{59D580C2-D51C-4946-80A2-13FBA42A934D}" presName="aSpace2" presStyleCnt="0"/>
      <dgm:spPr/>
    </dgm:pt>
    <dgm:pt modelId="{63DBCA6F-433F-F94D-A40C-40EAF6EC76AE}" type="pres">
      <dgm:prSet presAssocID="{C4A0DB89-7CC9-4045-B28F-308662009F9D}" presName="childNode" presStyleLbl="node1" presStyleIdx="6" presStyleCnt="8">
        <dgm:presLayoutVars>
          <dgm:bulletEnabled val="1"/>
        </dgm:presLayoutVars>
      </dgm:prSet>
      <dgm:spPr/>
    </dgm:pt>
    <dgm:pt modelId="{E9DEEFE6-836F-D441-9188-257E017A6E0E}" type="pres">
      <dgm:prSet presAssocID="{C4A0DB89-7CC9-4045-B28F-308662009F9D}" presName="aSpace2" presStyleCnt="0"/>
      <dgm:spPr/>
    </dgm:pt>
    <dgm:pt modelId="{869AD6AC-C370-714E-AA4A-B92F8AEBFD68}" type="pres">
      <dgm:prSet presAssocID="{1B57A700-E072-CE42-B289-EEFD204E9898}" presName="childNode" presStyleLbl="node1" presStyleIdx="7" presStyleCnt="8">
        <dgm:presLayoutVars>
          <dgm:bulletEnabled val="1"/>
        </dgm:presLayoutVars>
      </dgm:prSet>
      <dgm:spPr/>
    </dgm:pt>
  </dgm:ptLst>
  <dgm:cxnLst>
    <dgm:cxn modelId="{F64C9110-1EC1-454B-A271-04A906453B6F}" srcId="{2A433D58-A534-A549-AAE1-C495A386F008}" destId="{226EFB0F-12A8-8445-9510-83F9B4A90FE0}" srcOrd="0" destOrd="0" parTransId="{12C4709E-713D-3449-BB83-C773643D72C7}" sibTransId="{1A2D05D8-4989-D145-B026-673EA2EDE00A}"/>
    <dgm:cxn modelId="{C0E4A519-FF61-454F-B756-1E302E8F919F}" type="presOf" srcId="{2A433D58-A534-A549-AAE1-C495A386F008}" destId="{5B96D207-34DF-0F4C-8BB6-6CEB0EF67ADA}" srcOrd="0" destOrd="0" presId="urn:microsoft.com/office/officeart/2005/8/layout/lProcess2"/>
    <dgm:cxn modelId="{44DF6120-93A0-604E-9A06-2FDF0EA7F7E6}" srcId="{9A694A12-486A-BD4B-9D9C-BAF11D622A49}" destId="{9F2C9523-7EFE-8045-A72C-43930C5D2446}" srcOrd="2" destOrd="0" parTransId="{AB1499F2-160F-8E49-B547-EB2701E0CCB3}" sibTransId="{B56B498C-4249-E849-9494-1B2D602B8604}"/>
    <dgm:cxn modelId="{B2B3512E-0B9B-8644-926C-81297A3E98C4}" srcId="{9A694A12-486A-BD4B-9D9C-BAF11D622A49}" destId="{CEE83846-5B16-DC4A-8838-43F7F24A81D3}" srcOrd="0" destOrd="0" parTransId="{9975BC88-DAE3-C94F-859A-3F83FF5FD7F4}" sibTransId="{DF434A2E-243E-D94F-B120-7307862C420F}"/>
    <dgm:cxn modelId="{0A1F1238-D699-4608-B226-07B32B4D9E17}" type="presOf" srcId="{C4A0DB89-7CC9-4045-B28F-308662009F9D}" destId="{63DBCA6F-433F-F94D-A40C-40EAF6EC76AE}" srcOrd="0" destOrd="0" presId="urn:microsoft.com/office/officeart/2005/8/layout/lProcess2"/>
    <dgm:cxn modelId="{47CCF038-5299-824A-92FD-5A074B8DC7AA}" srcId="{2A433D58-A534-A549-AAE1-C495A386F008}" destId="{86688F88-A7C0-2047-9FEA-FF84AAAAB4C5}" srcOrd="1" destOrd="0" parTransId="{FE91A2EC-6D5D-3449-870C-D4DD01D49DD0}" sibTransId="{A9887F89-6CF5-1746-BCD0-1E94F594067C}"/>
    <dgm:cxn modelId="{982DBD62-00E3-4F46-89B1-8849CD48AFFD}" srcId="{9A694A12-486A-BD4B-9D9C-BAF11D622A49}" destId="{2A433D58-A534-A549-AAE1-C495A386F008}" srcOrd="1" destOrd="0" parTransId="{23537A07-3CC2-3746-9BC4-458C39A6CD7E}" sibTransId="{787CE5BD-6B18-FA44-9EE8-E70F2414CE73}"/>
    <dgm:cxn modelId="{FB0B5E43-8856-4D46-A97A-307656A092E3}" srcId="{CEE83846-5B16-DC4A-8838-43F7F24A81D3}" destId="{C2B6F0B7-215C-704E-B592-77A94414EE43}" srcOrd="0" destOrd="0" parTransId="{93469E97-A0DA-D747-9500-16B7076D980A}" sibTransId="{79747BF2-B3DD-3340-B904-44179DA94E45}"/>
    <dgm:cxn modelId="{098D7863-2515-480B-9902-5C1BEA5F1A48}" type="presOf" srcId="{9F2C9523-7EFE-8045-A72C-43930C5D2446}" destId="{0D0E15B1-8A9B-8144-A78D-5F2B88805522}" srcOrd="1" destOrd="0" presId="urn:microsoft.com/office/officeart/2005/8/layout/lProcess2"/>
    <dgm:cxn modelId="{E405CD68-4840-4F7F-9A7F-845E43F6CFD7}" type="presOf" srcId="{2A433D58-A534-A549-AAE1-C495A386F008}" destId="{A7D2D34E-21DF-1344-A460-AB97E14192B1}" srcOrd="1" destOrd="0" presId="urn:microsoft.com/office/officeart/2005/8/layout/lProcess2"/>
    <dgm:cxn modelId="{71025655-D3DE-4287-ADAE-07FB1EE936D5}" type="presOf" srcId="{963203C2-9F70-104B-A277-EA054148B921}" destId="{8AAEFCBD-DCF7-3A40-81C8-F39E2CD36756}" srcOrd="0" destOrd="0" presId="urn:microsoft.com/office/officeart/2005/8/layout/lProcess2"/>
    <dgm:cxn modelId="{2D58D381-BC23-4D0C-839C-ED42FA5A1A3B}" type="presOf" srcId="{59D580C2-D51C-4946-80A2-13FBA42A934D}" destId="{362B08EA-3F81-CB4A-B772-E14DBE4CD014}" srcOrd="0" destOrd="0" presId="urn:microsoft.com/office/officeart/2005/8/layout/lProcess2"/>
    <dgm:cxn modelId="{B0C85C87-E058-40C8-83B5-78CAA6DCFD80}" type="presOf" srcId="{9A694A12-486A-BD4B-9D9C-BAF11D622A49}" destId="{532A52E4-C168-D843-BA15-1DAD0E5EA2E6}" srcOrd="0" destOrd="0" presId="urn:microsoft.com/office/officeart/2005/8/layout/lProcess2"/>
    <dgm:cxn modelId="{AB862B8D-E685-4804-95D4-0CDF89DBDA26}" type="presOf" srcId="{CEE83846-5B16-DC4A-8838-43F7F24A81D3}" destId="{2161F7D6-FF96-1940-98EA-E6F3091E1330}" srcOrd="1" destOrd="0" presId="urn:microsoft.com/office/officeart/2005/8/layout/lProcess2"/>
    <dgm:cxn modelId="{5034BC91-9DA9-4367-BCFD-C1D462AE7351}" type="presOf" srcId="{226EFB0F-12A8-8445-9510-83F9B4A90FE0}" destId="{9A869599-A3BA-2140-965B-480788ED7672}" srcOrd="0" destOrd="0" presId="urn:microsoft.com/office/officeart/2005/8/layout/lProcess2"/>
    <dgm:cxn modelId="{2695B894-56EE-41BE-B9F9-A9F518853497}" type="presOf" srcId="{CEE83846-5B16-DC4A-8838-43F7F24A81D3}" destId="{E74AF64B-A620-0C45-B247-92C87E1A3C8C}" srcOrd="0" destOrd="0" presId="urn:microsoft.com/office/officeart/2005/8/layout/lProcess2"/>
    <dgm:cxn modelId="{34D37798-2B5F-415E-8400-667D2840A125}" type="presOf" srcId="{86688F88-A7C0-2047-9FEA-FF84AAAAB4C5}" destId="{B2B9CB2D-DEBC-5E45-BCC2-2317E85CF5BE}" srcOrd="0" destOrd="0" presId="urn:microsoft.com/office/officeart/2005/8/layout/lProcess2"/>
    <dgm:cxn modelId="{B3FF1399-8F8F-6D4F-B286-D006A8DDED9F}" srcId="{9F2C9523-7EFE-8045-A72C-43930C5D2446}" destId="{1B57A700-E072-CE42-B289-EEFD204E9898}" srcOrd="2" destOrd="0" parTransId="{FBF1A58A-2CDC-EB4B-838D-CD40DF6D2BA9}" sibTransId="{F47F6AC5-6892-E149-BE99-71B88829B3ED}"/>
    <dgm:cxn modelId="{C323D7B1-AE75-6B48-8CA6-A10E96B1A184}" srcId="{9F2C9523-7EFE-8045-A72C-43930C5D2446}" destId="{59D580C2-D51C-4946-80A2-13FBA42A934D}" srcOrd="0" destOrd="0" parTransId="{188FA107-D78B-CA45-AF07-B20392695F09}" sibTransId="{4E86150A-47F0-824D-BE6A-857E822126ED}"/>
    <dgm:cxn modelId="{9A6AEFB6-FD52-CD4C-A0EB-DCBBCB483A93}" srcId="{9F2C9523-7EFE-8045-A72C-43930C5D2446}" destId="{C4A0DB89-7CC9-4045-B28F-308662009F9D}" srcOrd="1" destOrd="0" parTransId="{DD04458C-D30E-B34E-A977-E579A16E937E}" sibTransId="{DBC0CD74-A63F-194B-A6E9-E4EF8214CF21}"/>
    <dgm:cxn modelId="{75F76FC4-D21F-8A45-858A-F0BD51619317}" srcId="{2A433D58-A534-A549-AAE1-C495A386F008}" destId="{034FBF72-5E4A-F147-AA29-7C1D3755292F}" srcOrd="2" destOrd="0" parTransId="{46C2BA37-6A92-0440-81BD-ACEB97715F7E}" sibTransId="{E5FF3B80-53BA-C342-BAFD-EA684487F7EA}"/>
    <dgm:cxn modelId="{7DF035D2-F064-408B-A7B5-E2D6A58A00DE}" type="presOf" srcId="{034FBF72-5E4A-F147-AA29-7C1D3755292F}" destId="{20DD891D-54C2-1049-9497-5E2B68136E99}" srcOrd="0" destOrd="0" presId="urn:microsoft.com/office/officeart/2005/8/layout/lProcess2"/>
    <dgm:cxn modelId="{0C4A39D2-3E3F-4599-BE8C-18EEA0842A31}" type="presOf" srcId="{1B57A700-E072-CE42-B289-EEFD204E9898}" destId="{869AD6AC-C370-714E-AA4A-B92F8AEBFD68}" srcOrd="0" destOrd="0" presId="urn:microsoft.com/office/officeart/2005/8/layout/lProcess2"/>
    <dgm:cxn modelId="{FE0C2BE1-33C2-4A32-AC35-3C62EBEAA5D7}" type="presOf" srcId="{C2B6F0B7-215C-704E-B592-77A94414EE43}" destId="{A0B257B1-4772-E04B-B67D-0B8E72B82E14}" srcOrd="0" destOrd="0" presId="urn:microsoft.com/office/officeart/2005/8/layout/lProcess2"/>
    <dgm:cxn modelId="{6C835FEA-705C-A04D-928D-05A401096D52}" srcId="{CEE83846-5B16-DC4A-8838-43F7F24A81D3}" destId="{963203C2-9F70-104B-A277-EA054148B921}" srcOrd="1" destOrd="0" parTransId="{0BD1A170-C88A-9541-BF7D-8D4207554A8D}" sibTransId="{C086E017-CA97-9A43-9DEC-99A41651C309}"/>
    <dgm:cxn modelId="{61B1EEF7-F1D1-4228-BEC6-082267150C2B}" type="presOf" srcId="{9F2C9523-7EFE-8045-A72C-43930C5D2446}" destId="{F31C69FC-F97D-C847-A4D6-679EEDFECE0D}" srcOrd="0" destOrd="0" presId="urn:microsoft.com/office/officeart/2005/8/layout/lProcess2"/>
    <dgm:cxn modelId="{32C5217F-45DA-430B-83D2-2A32B74D15E1}" type="presParOf" srcId="{532A52E4-C168-D843-BA15-1DAD0E5EA2E6}" destId="{9EA179EA-3888-7343-A557-AB247DE62276}" srcOrd="0" destOrd="0" presId="urn:microsoft.com/office/officeart/2005/8/layout/lProcess2"/>
    <dgm:cxn modelId="{D2CBF6BE-8590-4531-9978-40B17A09F094}" type="presParOf" srcId="{9EA179EA-3888-7343-A557-AB247DE62276}" destId="{E74AF64B-A620-0C45-B247-92C87E1A3C8C}" srcOrd="0" destOrd="0" presId="urn:microsoft.com/office/officeart/2005/8/layout/lProcess2"/>
    <dgm:cxn modelId="{61D57A0F-FF5D-4E12-A33F-B6567344C3C2}" type="presParOf" srcId="{9EA179EA-3888-7343-A557-AB247DE62276}" destId="{2161F7D6-FF96-1940-98EA-E6F3091E1330}" srcOrd="1" destOrd="0" presId="urn:microsoft.com/office/officeart/2005/8/layout/lProcess2"/>
    <dgm:cxn modelId="{826D0F80-5F5E-4FC9-BF79-D09A5A1748D7}" type="presParOf" srcId="{9EA179EA-3888-7343-A557-AB247DE62276}" destId="{B8EDC57D-0154-5C41-9A02-2E02664088A6}" srcOrd="2" destOrd="0" presId="urn:microsoft.com/office/officeart/2005/8/layout/lProcess2"/>
    <dgm:cxn modelId="{FAF9C054-41C8-4B82-9E8E-9B5B9550659F}" type="presParOf" srcId="{B8EDC57D-0154-5C41-9A02-2E02664088A6}" destId="{F536254B-706F-9A40-869A-ECCD30C95B63}" srcOrd="0" destOrd="0" presId="urn:microsoft.com/office/officeart/2005/8/layout/lProcess2"/>
    <dgm:cxn modelId="{EF4FDD2E-8B68-4EAE-BCFB-49D6E9873A2D}" type="presParOf" srcId="{F536254B-706F-9A40-869A-ECCD30C95B63}" destId="{A0B257B1-4772-E04B-B67D-0B8E72B82E14}" srcOrd="0" destOrd="0" presId="urn:microsoft.com/office/officeart/2005/8/layout/lProcess2"/>
    <dgm:cxn modelId="{1C68C31E-8A21-4B7C-9D09-68B33CC6020E}" type="presParOf" srcId="{F536254B-706F-9A40-869A-ECCD30C95B63}" destId="{AC4919B2-7F8E-574D-91E2-C0662BBE2B27}" srcOrd="1" destOrd="0" presId="urn:microsoft.com/office/officeart/2005/8/layout/lProcess2"/>
    <dgm:cxn modelId="{84F06D51-14E9-4743-A526-36E14608F6A7}" type="presParOf" srcId="{F536254B-706F-9A40-869A-ECCD30C95B63}" destId="{8AAEFCBD-DCF7-3A40-81C8-F39E2CD36756}" srcOrd="2" destOrd="0" presId="urn:microsoft.com/office/officeart/2005/8/layout/lProcess2"/>
    <dgm:cxn modelId="{04573998-B45F-4EC0-BF37-2BAA1EA99FD4}" type="presParOf" srcId="{532A52E4-C168-D843-BA15-1DAD0E5EA2E6}" destId="{58DFC691-FC2F-E046-8B32-30A019DFD420}" srcOrd="1" destOrd="0" presId="urn:microsoft.com/office/officeart/2005/8/layout/lProcess2"/>
    <dgm:cxn modelId="{F0AE6264-6B4C-4567-8972-E42CF656FB4A}" type="presParOf" srcId="{532A52E4-C168-D843-BA15-1DAD0E5EA2E6}" destId="{285E32A2-E07E-DF4E-927F-35E7722DA3F2}" srcOrd="2" destOrd="0" presId="urn:microsoft.com/office/officeart/2005/8/layout/lProcess2"/>
    <dgm:cxn modelId="{07545D0E-D347-4878-AB73-B915BBAF870B}" type="presParOf" srcId="{285E32A2-E07E-DF4E-927F-35E7722DA3F2}" destId="{5B96D207-34DF-0F4C-8BB6-6CEB0EF67ADA}" srcOrd="0" destOrd="0" presId="urn:microsoft.com/office/officeart/2005/8/layout/lProcess2"/>
    <dgm:cxn modelId="{A2A4D5F3-133C-44BE-9A56-C8A99B069D04}" type="presParOf" srcId="{285E32A2-E07E-DF4E-927F-35E7722DA3F2}" destId="{A7D2D34E-21DF-1344-A460-AB97E14192B1}" srcOrd="1" destOrd="0" presId="urn:microsoft.com/office/officeart/2005/8/layout/lProcess2"/>
    <dgm:cxn modelId="{4FDDAD37-0C23-47B1-906C-21B7EBFB51DE}" type="presParOf" srcId="{285E32A2-E07E-DF4E-927F-35E7722DA3F2}" destId="{3E62D97E-E6AB-C042-A582-E90DBEEA9F64}" srcOrd="2" destOrd="0" presId="urn:microsoft.com/office/officeart/2005/8/layout/lProcess2"/>
    <dgm:cxn modelId="{1FC53536-989E-4CCD-BE31-B6DDB1CFF5C7}" type="presParOf" srcId="{3E62D97E-E6AB-C042-A582-E90DBEEA9F64}" destId="{D8834E4B-B022-6545-9CDE-75B8253A7364}" srcOrd="0" destOrd="0" presId="urn:microsoft.com/office/officeart/2005/8/layout/lProcess2"/>
    <dgm:cxn modelId="{829F1257-6EF8-4C4F-9220-FA47B7519973}" type="presParOf" srcId="{D8834E4B-B022-6545-9CDE-75B8253A7364}" destId="{9A869599-A3BA-2140-965B-480788ED7672}" srcOrd="0" destOrd="0" presId="urn:microsoft.com/office/officeart/2005/8/layout/lProcess2"/>
    <dgm:cxn modelId="{D9F2F506-1982-43DA-BDFC-96BFFE4CA7C9}" type="presParOf" srcId="{D8834E4B-B022-6545-9CDE-75B8253A7364}" destId="{1FE4284F-F3A4-2247-A956-BE7CA5BD4DD7}" srcOrd="1" destOrd="0" presId="urn:microsoft.com/office/officeart/2005/8/layout/lProcess2"/>
    <dgm:cxn modelId="{E2BE8908-3D13-4A73-B8CC-4885E894CC76}" type="presParOf" srcId="{D8834E4B-B022-6545-9CDE-75B8253A7364}" destId="{B2B9CB2D-DEBC-5E45-BCC2-2317E85CF5BE}" srcOrd="2" destOrd="0" presId="urn:microsoft.com/office/officeart/2005/8/layout/lProcess2"/>
    <dgm:cxn modelId="{6D6FD955-2DAD-45E5-8D36-5E68B78618A4}" type="presParOf" srcId="{D8834E4B-B022-6545-9CDE-75B8253A7364}" destId="{4CA7819A-3AA1-1F4C-BB7F-6BDF72A30B32}" srcOrd="3" destOrd="0" presId="urn:microsoft.com/office/officeart/2005/8/layout/lProcess2"/>
    <dgm:cxn modelId="{97905981-A975-4766-8061-0BBE62E8A8E2}" type="presParOf" srcId="{D8834E4B-B022-6545-9CDE-75B8253A7364}" destId="{20DD891D-54C2-1049-9497-5E2B68136E99}" srcOrd="4" destOrd="0" presId="urn:microsoft.com/office/officeart/2005/8/layout/lProcess2"/>
    <dgm:cxn modelId="{41173336-C4BF-41BB-9BA3-D7D939C1CB97}" type="presParOf" srcId="{532A52E4-C168-D843-BA15-1DAD0E5EA2E6}" destId="{65830766-6A61-3D41-AC79-D55AB3C5CD4C}" srcOrd="3" destOrd="0" presId="urn:microsoft.com/office/officeart/2005/8/layout/lProcess2"/>
    <dgm:cxn modelId="{DD24BDB8-6CAF-4873-8C58-D3CCC4908F14}" type="presParOf" srcId="{532A52E4-C168-D843-BA15-1DAD0E5EA2E6}" destId="{61D445CF-8499-4749-AA31-FC085C626A6C}" srcOrd="4" destOrd="0" presId="urn:microsoft.com/office/officeart/2005/8/layout/lProcess2"/>
    <dgm:cxn modelId="{C46CA4E3-3054-473E-9151-08B93B54239E}" type="presParOf" srcId="{61D445CF-8499-4749-AA31-FC085C626A6C}" destId="{F31C69FC-F97D-C847-A4D6-679EEDFECE0D}" srcOrd="0" destOrd="0" presId="urn:microsoft.com/office/officeart/2005/8/layout/lProcess2"/>
    <dgm:cxn modelId="{A1B27358-0DFA-46E2-BBE7-6CCEBAD49FF2}" type="presParOf" srcId="{61D445CF-8499-4749-AA31-FC085C626A6C}" destId="{0D0E15B1-8A9B-8144-A78D-5F2B88805522}" srcOrd="1" destOrd="0" presId="urn:microsoft.com/office/officeart/2005/8/layout/lProcess2"/>
    <dgm:cxn modelId="{91B4FE6D-3680-4671-90FE-24746F7E1AC6}" type="presParOf" srcId="{61D445CF-8499-4749-AA31-FC085C626A6C}" destId="{3FFA3B65-DFFC-5841-B9A5-E984FEBED227}" srcOrd="2" destOrd="0" presId="urn:microsoft.com/office/officeart/2005/8/layout/lProcess2"/>
    <dgm:cxn modelId="{F3DF8DF2-25E6-4A11-8848-3F40CBDB91B0}" type="presParOf" srcId="{3FFA3B65-DFFC-5841-B9A5-E984FEBED227}" destId="{260E00A4-5A9D-CE43-8D9F-C580FC30B8B7}" srcOrd="0" destOrd="0" presId="urn:microsoft.com/office/officeart/2005/8/layout/lProcess2"/>
    <dgm:cxn modelId="{28BDCE16-F156-4303-8FA1-A8C41137A1F2}" type="presParOf" srcId="{260E00A4-5A9D-CE43-8D9F-C580FC30B8B7}" destId="{362B08EA-3F81-CB4A-B772-E14DBE4CD014}" srcOrd="0" destOrd="0" presId="urn:microsoft.com/office/officeart/2005/8/layout/lProcess2"/>
    <dgm:cxn modelId="{44679E9B-B7C3-4272-8BA2-B062AA8DF21B}" type="presParOf" srcId="{260E00A4-5A9D-CE43-8D9F-C580FC30B8B7}" destId="{FF630DC4-77F2-F34C-81B8-1CA106591F3D}" srcOrd="1" destOrd="0" presId="urn:microsoft.com/office/officeart/2005/8/layout/lProcess2"/>
    <dgm:cxn modelId="{0C0EABE4-A79A-4CB1-9AB0-2FAB2D2B6251}" type="presParOf" srcId="{260E00A4-5A9D-CE43-8D9F-C580FC30B8B7}" destId="{63DBCA6F-433F-F94D-A40C-40EAF6EC76AE}" srcOrd="2" destOrd="0" presId="urn:microsoft.com/office/officeart/2005/8/layout/lProcess2"/>
    <dgm:cxn modelId="{CACE8C0D-DC09-4608-922E-CD8ED7544290}" type="presParOf" srcId="{260E00A4-5A9D-CE43-8D9F-C580FC30B8B7}" destId="{E9DEEFE6-836F-D441-9188-257E017A6E0E}" srcOrd="3" destOrd="0" presId="urn:microsoft.com/office/officeart/2005/8/layout/lProcess2"/>
    <dgm:cxn modelId="{504F60A5-37D7-4627-9359-E6943E9CC27F}" type="presParOf" srcId="{260E00A4-5A9D-CE43-8D9F-C580FC30B8B7}" destId="{869AD6AC-C370-714E-AA4A-B92F8AEBFD68}" srcOrd="4"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A23DCF8-72E3-144A-A633-71F28C732000}" type="doc">
      <dgm:prSet loTypeId="urn:microsoft.com/office/officeart/2005/8/layout/vList5" loCatId="list" qsTypeId="urn:microsoft.com/office/officeart/2005/8/quickstyle/simple4" qsCatId="simple" csTypeId="urn:microsoft.com/office/officeart/2005/8/colors/accent1_2" csCatId="accent1" phldr="1"/>
      <dgm:spPr/>
      <dgm:t>
        <a:bodyPr/>
        <a:lstStyle/>
        <a:p>
          <a:endParaRPr lang="en-US"/>
        </a:p>
      </dgm:t>
    </dgm:pt>
    <dgm:pt modelId="{30ADB79F-CA4C-6F4A-A35A-DE0761546418}">
      <dgm:prSet/>
      <dgm:spPr/>
      <dgm:t>
        <a:bodyPr/>
        <a:lstStyle/>
        <a:p>
          <a:pPr rtl="0"/>
          <a:r>
            <a:rPr lang="en-US" dirty="0">
              <a:solidFill>
                <a:srgbClr val="0000FF"/>
              </a:solidFill>
              <a:effectLst>
                <a:outerShdw blurRad="38100" dist="38100" dir="2700000" algn="tl">
                  <a:srgbClr val="000000">
                    <a:alpha val="43137"/>
                  </a:srgbClr>
                </a:outerShdw>
              </a:effectLst>
            </a:rPr>
            <a:t>Denial of service</a:t>
          </a:r>
        </a:p>
      </dgm:t>
    </dgm:pt>
    <dgm:pt modelId="{19330D82-32F4-C344-B9C8-258F409B90D0}" type="parTrans" cxnId="{7CF4FD84-92C8-CB47-915C-E5C062209235}">
      <dgm:prSet/>
      <dgm:spPr/>
      <dgm:t>
        <a:bodyPr/>
        <a:lstStyle/>
        <a:p>
          <a:endParaRPr lang="en-US"/>
        </a:p>
      </dgm:t>
    </dgm:pt>
    <dgm:pt modelId="{6D2724A0-2B2E-5D48-B49A-5179AE5B6F9F}" type="sibTrans" cxnId="{7CF4FD84-92C8-CB47-915C-E5C062209235}">
      <dgm:prSet/>
      <dgm:spPr/>
      <dgm:t>
        <a:bodyPr/>
        <a:lstStyle/>
        <a:p>
          <a:endParaRPr lang="en-US"/>
        </a:p>
      </dgm:t>
    </dgm:pt>
    <dgm:pt modelId="{51CBC6AB-F765-0E48-BAB6-3306A69BFB80}">
      <dgm:prSet/>
      <dgm:spPr/>
      <dgm:t>
        <a:bodyPr/>
        <a:lstStyle/>
        <a:p>
          <a:pPr rtl="0"/>
          <a:r>
            <a:rPr lang="en-US" dirty="0">
              <a:solidFill>
                <a:srgbClr val="0070C0"/>
              </a:solidFill>
            </a:rPr>
            <a:t>Prevents or inhibits </a:t>
          </a:r>
          <a:r>
            <a:rPr lang="en-US" dirty="0"/>
            <a:t>the normal use or management of communications facilities</a:t>
          </a:r>
        </a:p>
      </dgm:t>
    </dgm:pt>
    <dgm:pt modelId="{4FB1C887-E474-F149-AF8A-C71581115502}" type="parTrans" cxnId="{D11F5749-0EF5-454B-B549-A77BBA8FC2EE}">
      <dgm:prSet/>
      <dgm:spPr/>
      <dgm:t>
        <a:bodyPr/>
        <a:lstStyle/>
        <a:p>
          <a:endParaRPr lang="en-US"/>
        </a:p>
      </dgm:t>
    </dgm:pt>
    <dgm:pt modelId="{630C2376-8BC4-604A-8CFA-8E02CE2826BE}" type="sibTrans" cxnId="{D11F5749-0EF5-454B-B549-A77BBA8FC2EE}">
      <dgm:prSet/>
      <dgm:spPr/>
      <dgm:t>
        <a:bodyPr/>
        <a:lstStyle/>
        <a:p>
          <a:endParaRPr lang="en-US"/>
        </a:p>
      </dgm:t>
    </dgm:pt>
    <dgm:pt modelId="{CC1C70FB-85AF-6244-B643-6B95499E6E93}">
      <dgm:prSet/>
      <dgm:spPr/>
      <dgm:t>
        <a:bodyPr/>
        <a:lstStyle/>
        <a:p>
          <a:pPr rtl="0"/>
          <a:r>
            <a:rPr lang="en-US" dirty="0"/>
            <a:t>Some portion of a legitimate message </a:t>
          </a:r>
          <a:r>
            <a:rPr lang="en-US" dirty="0">
              <a:solidFill>
                <a:srgbClr val="0070C0"/>
              </a:solidFill>
            </a:rPr>
            <a:t>is altered</a:t>
          </a:r>
          <a:r>
            <a:rPr lang="en-US" dirty="0"/>
            <a:t>, or messages are delayed or reordered to produce an </a:t>
          </a:r>
          <a:r>
            <a:rPr lang="en-US" dirty="0">
              <a:solidFill>
                <a:srgbClr val="0070C0"/>
              </a:solidFill>
            </a:rPr>
            <a:t>unauthorized effect</a:t>
          </a:r>
        </a:p>
      </dgm:t>
    </dgm:pt>
    <dgm:pt modelId="{5735F4B0-1362-2E41-9B9D-9009230C3363}" type="sibTrans" cxnId="{E32FB86D-8CDD-E441-B7DF-D4CF624D4B95}">
      <dgm:prSet/>
      <dgm:spPr/>
      <dgm:t>
        <a:bodyPr/>
        <a:lstStyle/>
        <a:p>
          <a:endParaRPr lang="en-US"/>
        </a:p>
      </dgm:t>
    </dgm:pt>
    <dgm:pt modelId="{DB776C5B-EF5D-6D4B-BB9A-C34BC253264F}" type="parTrans" cxnId="{E32FB86D-8CDD-E441-B7DF-D4CF624D4B95}">
      <dgm:prSet/>
      <dgm:spPr/>
      <dgm:t>
        <a:bodyPr/>
        <a:lstStyle/>
        <a:p>
          <a:endParaRPr lang="en-US"/>
        </a:p>
      </dgm:t>
    </dgm:pt>
    <dgm:pt modelId="{08F38FFA-8ADF-244C-B24E-9DC9EBBE1C4A}">
      <dgm:prSet/>
      <dgm:spPr/>
      <dgm:t>
        <a:bodyPr/>
        <a:lstStyle/>
        <a:p>
          <a:pPr rtl="0"/>
          <a:r>
            <a:rPr lang="en-US" dirty="0">
              <a:solidFill>
                <a:srgbClr val="0000FF"/>
              </a:solidFill>
              <a:effectLst>
                <a:outerShdw blurRad="38100" dist="38100" dir="2700000" algn="tl">
                  <a:srgbClr val="000000">
                    <a:alpha val="43137"/>
                  </a:srgbClr>
                </a:outerShdw>
              </a:effectLst>
            </a:rPr>
            <a:t>Modification of messages </a:t>
          </a:r>
        </a:p>
      </dgm:t>
    </dgm:pt>
    <dgm:pt modelId="{EF949317-1634-8C48-A6B0-543CEA09999F}" type="sibTrans" cxnId="{16398D4C-26B7-794D-829E-D81E2A24715B}">
      <dgm:prSet/>
      <dgm:spPr/>
      <dgm:t>
        <a:bodyPr/>
        <a:lstStyle/>
        <a:p>
          <a:endParaRPr lang="en-US"/>
        </a:p>
      </dgm:t>
    </dgm:pt>
    <dgm:pt modelId="{7E87CB23-FAAC-B546-B850-2DB1E9D89BA2}" type="parTrans" cxnId="{16398D4C-26B7-794D-829E-D81E2A24715B}">
      <dgm:prSet/>
      <dgm:spPr/>
      <dgm:t>
        <a:bodyPr/>
        <a:lstStyle/>
        <a:p>
          <a:endParaRPr lang="en-US"/>
        </a:p>
      </dgm:t>
    </dgm:pt>
    <dgm:pt modelId="{E5A23CB2-A4A0-DF49-9E42-3BBF47D1B5A0}" type="pres">
      <dgm:prSet presAssocID="{8A23DCF8-72E3-144A-A633-71F28C732000}" presName="Name0" presStyleCnt="0">
        <dgm:presLayoutVars>
          <dgm:dir/>
          <dgm:animLvl val="lvl"/>
          <dgm:resizeHandles val="exact"/>
        </dgm:presLayoutVars>
      </dgm:prSet>
      <dgm:spPr/>
    </dgm:pt>
    <dgm:pt modelId="{A505A33B-B8BE-CE41-84D2-939A4BC6EBEA}" type="pres">
      <dgm:prSet presAssocID="{08F38FFA-8ADF-244C-B24E-9DC9EBBE1C4A}" presName="linNode" presStyleCnt="0"/>
      <dgm:spPr/>
    </dgm:pt>
    <dgm:pt modelId="{2CDB3922-7DE2-9442-911D-A27BD9574D07}" type="pres">
      <dgm:prSet presAssocID="{08F38FFA-8ADF-244C-B24E-9DC9EBBE1C4A}" presName="parentText" presStyleLbl="node1" presStyleIdx="0" presStyleCnt="2" custScaleY="68771" custLinFactNeighborY="-5695">
        <dgm:presLayoutVars>
          <dgm:chMax val="1"/>
          <dgm:bulletEnabled val="1"/>
        </dgm:presLayoutVars>
      </dgm:prSet>
      <dgm:spPr/>
    </dgm:pt>
    <dgm:pt modelId="{9EB773CD-5155-AE49-A39A-DB646F837512}" type="pres">
      <dgm:prSet presAssocID="{08F38FFA-8ADF-244C-B24E-9DC9EBBE1C4A}" presName="descendantText" presStyleLbl="alignAccFollowNode1" presStyleIdx="0" presStyleCnt="2">
        <dgm:presLayoutVars>
          <dgm:bulletEnabled val="1"/>
        </dgm:presLayoutVars>
      </dgm:prSet>
      <dgm:spPr/>
    </dgm:pt>
    <dgm:pt modelId="{56ED33A7-3B1B-1949-A021-EBC6A625EA93}" type="pres">
      <dgm:prSet presAssocID="{EF949317-1634-8C48-A6B0-543CEA09999F}" presName="sp" presStyleCnt="0"/>
      <dgm:spPr/>
    </dgm:pt>
    <dgm:pt modelId="{950DC070-145A-CE41-B596-BBE10477CBEA}" type="pres">
      <dgm:prSet presAssocID="{30ADB79F-CA4C-6F4A-A35A-DE0761546418}" presName="linNode" presStyleCnt="0"/>
      <dgm:spPr/>
    </dgm:pt>
    <dgm:pt modelId="{4060CB25-2046-3047-B345-AC66DC2A7D59}" type="pres">
      <dgm:prSet presAssocID="{30ADB79F-CA4C-6F4A-A35A-DE0761546418}" presName="parentText" presStyleLbl="node1" presStyleIdx="1" presStyleCnt="2" custScaleY="74366">
        <dgm:presLayoutVars>
          <dgm:chMax val="1"/>
          <dgm:bulletEnabled val="1"/>
        </dgm:presLayoutVars>
      </dgm:prSet>
      <dgm:spPr/>
    </dgm:pt>
    <dgm:pt modelId="{AF865629-E949-B24E-AF0F-CDFF322825BD}" type="pres">
      <dgm:prSet presAssocID="{30ADB79F-CA4C-6F4A-A35A-DE0761546418}" presName="descendantText" presStyleLbl="alignAccFollowNode1" presStyleIdx="1" presStyleCnt="2">
        <dgm:presLayoutVars>
          <dgm:bulletEnabled val="1"/>
        </dgm:presLayoutVars>
      </dgm:prSet>
      <dgm:spPr/>
    </dgm:pt>
  </dgm:ptLst>
  <dgm:cxnLst>
    <dgm:cxn modelId="{E4FAEE03-6A3F-4206-8558-564A17F1D941}" type="presOf" srcId="{8A23DCF8-72E3-144A-A633-71F28C732000}" destId="{E5A23CB2-A4A0-DF49-9E42-3BBF47D1B5A0}" srcOrd="0" destOrd="0" presId="urn:microsoft.com/office/officeart/2005/8/layout/vList5"/>
    <dgm:cxn modelId="{D11F5749-0EF5-454B-B549-A77BBA8FC2EE}" srcId="{30ADB79F-CA4C-6F4A-A35A-DE0761546418}" destId="{51CBC6AB-F765-0E48-BAB6-3306A69BFB80}" srcOrd="0" destOrd="0" parTransId="{4FB1C887-E474-F149-AF8A-C71581115502}" sibTransId="{630C2376-8BC4-604A-8CFA-8E02CE2826BE}"/>
    <dgm:cxn modelId="{16398D4C-26B7-794D-829E-D81E2A24715B}" srcId="{8A23DCF8-72E3-144A-A633-71F28C732000}" destId="{08F38FFA-8ADF-244C-B24E-9DC9EBBE1C4A}" srcOrd="0" destOrd="0" parTransId="{7E87CB23-FAAC-B546-B850-2DB1E9D89BA2}" sibTransId="{EF949317-1634-8C48-A6B0-543CEA09999F}"/>
    <dgm:cxn modelId="{E32FB86D-8CDD-E441-B7DF-D4CF624D4B95}" srcId="{08F38FFA-8ADF-244C-B24E-9DC9EBBE1C4A}" destId="{CC1C70FB-85AF-6244-B643-6B95499E6E93}" srcOrd="0" destOrd="0" parTransId="{DB776C5B-EF5D-6D4B-BB9A-C34BC253264F}" sibTransId="{5735F4B0-1362-2E41-9B9D-9009230C3363}"/>
    <dgm:cxn modelId="{7CF4FD84-92C8-CB47-915C-E5C062209235}" srcId="{8A23DCF8-72E3-144A-A633-71F28C732000}" destId="{30ADB79F-CA4C-6F4A-A35A-DE0761546418}" srcOrd="1" destOrd="0" parTransId="{19330D82-32F4-C344-B9C8-258F409B90D0}" sibTransId="{6D2724A0-2B2E-5D48-B49A-5179AE5B6F9F}"/>
    <dgm:cxn modelId="{1102B68B-AB12-43B2-84B0-9DE7BE672075}" type="presOf" srcId="{CC1C70FB-85AF-6244-B643-6B95499E6E93}" destId="{9EB773CD-5155-AE49-A39A-DB646F837512}" srcOrd="0" destOrd="0" presId="urn:microsoft.com/office/officeart/2005/8/layout/vList5"/>
    <dgm:cxn modelId="{ED2A06D4-2C31-423C-BA7D-86B0A898C881}" type="presOf" srcId="{30ADB79F-CA4C-6F4A-A35A-DE0761546418}" destId="{4060CB25-2046-3047-B345-AC66DC2A7D59}" srcOrd="0" destOrd="0" presId="urn:microsoft.com/office/officeart/2005/8/layout/vList5"/>
    <dgm:cxn modelId="{9F24C5E3-45F0-402B-8976-3A4674B6F297}" type="presOf" srcId="{08F38FFA-8ADF-244C-B24E-9DC9EBBE1C4A}" destId="{2CDB3922-7DE2-9442-911D-A27BD9574D07}" srcOrd="0" destOrd="0" presId="urn:microsoft.com/office/officeart/2005/8/layout/vList5"/>
    <dgm:cxn modelId="{4E1231F8-5933-46F2-8FA8-FA3B78DDFF91}" type="presOf" srcId="{51CBC6AB-F765-0E48-BAB6-3306A69BFB80}" destId="{AF865629-E949-B24E-AF0F-CDFF322825BD}" srcOrd="0" destOrd="0" presId="urn:microsoft.com/office/officeart/2005/8/layout/vList5"/>
    <dgm:cxn modelId="{FF4D54B4-2C63-471B-BC0D-0DB9AF14915C}" type="presParOf" srcId="{E5A23CB2-A4A0-DF49-9E42-3BBF47D1B5A0}" destId="{A505A33B-B8BE-CE41-84D2-939A4BC6EBEA}" srcOrd="0" destOrd="0" presId="urn:microsoft.com/office/officeart/2005/8/layout/vList5"/>
    <dgm:cxn modelId="{6ED6807A-BFFE-4685-9427-A003A5998682}" type="presParOf" srcId="{A505A33B-B8BE-CE41-84D2-939A4BC6EBEA}" destId="{2CDB3922-7DE2-9442-911D-A27BD9574D07}" srcOrd="0" destOrd="0" presId="urn:microsoft.com/office/officeart/2005/8/layout/vList5"/>
    <dgm:cxn modelId="{E7F9785B-5C47-4597-A037-89812F2D052B}" type="presParOf" srcId="{A505A33B-B8BE-CE41-84D2-939A4BC6EBEA}" destId="{9EB773CD-5155-AE49-A39A-DB646F837512}" srcOrd="1" destOrd="0" presId="urn:microsoft.com/office/officeart/2005/8/layout/vList5"/>
    <dgm:cxn modelId="{0BDFA17C-705A-49DE-A716-F919E67D699A}" type="presParOf" srcId="{E5A23CB2-A4A0-DF49-9E42-3BBF47D1B5A0}" destId="{56ED33A7-3B1B-1949-A021-EBC6A625EA93}" srcOrd="1" destOrd="0" presId="urn:microsoft.com/office/officeart/2005/8/layout/vList5"/>
    <dgm:cxn modelId="{3F1E834E-48F3-4493-9DEC-AB339D11C5A5}" type="presParOf" srcId="{E5A23CB2-A4A0-DF49-9E42-3BBF47D1B5A0}" destId="{950DC070-145A-CE41-B596-BBE10477CBEA}" srcOrd="2" destOrd="0" presId="urn:microsoft.com/office/officeart/2005/8/layout/vList5"/>
    <dgm:cxn modelId="{ED089A56-EEB9-4949-ACBC-BF2C65E1E6AA}" type="presParOf" srcId="{950DC070-145A-CE41-B596-BBE10477CBEA}" destId="{4060CB25-2046-3047-B345-AC66DC2A7D59}" srcOrd="0" destOrd="0" presId="urn:microsoft.com/office/officeart/2005/8/layout/vList5"/>
    <dgm:cxn modelId="{C2748748-82B7-46E4-9838-B86C1F20D513}" type="presParOf" srcId="{950DC070-145A-CE41-B596-BBE10477CBEA}" destId="{AF865629-E949-B24E-AF0F-CDFF322825BD}"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A23DCF8-72E3-144A-A633-71F28C732000}" type="doc">
      <dgm:prSet loTypeId="urn:microsoft.com/office/officeart/2005/8/layout/vList5" loCatId="list" qsTypeId="urn:microsoft.com/office/officeart/2005/8/quickstyle/simple4" qsCatId="simple" csTypeId="urn:microsoft.com/office/officeart/2005/8/colors/accent1_2" csCatId="accent1" phldr="1"/>
      <dgm:spPr/>
      <dgm:t>
        <a:bodyPr/>
        <a:lstStyle/>
        <a:p>
          <a:endParaRPr lang="en-US"/>
        </a:p>
      </dgm:t>
    </dgm:pt>
    <dgm:pt modelId="{6B08B88F-A009-1948-9A73-AB7494904C9E}">
      <dgm:prSet/>
      <dgm:spPr/>
      <dgm:t>
        <a:bodyPr/>
        <a:lstStyle/>
        <a:p>
          <a:pPr rtl="0"/>
          <a:r>
            <a:rPr lang="en-US" dirty="0">
              <a:solidFill>
                <a:srgbClr val="0000FF"/>
              </a:solidFill>
              <a:effectLst>
                <a:outerShdw blurRad="38100" dist="38100" dir="2700000" algn="tl">
                  <a:srgbClr val="000000">
                    <a:alpha val="43137"/>
                  </a:srgbClr>
                </a:outerShdw>
              </a:effectLst>
            </a:rPr>
            <a:t>Masquerade</a:t>
          </a:r>
        </a:p>
      </dgm:t>
    </dgm:pt>
    <dgm:pt modelId="{BABD4BF5-0E42-354D-A9E1-85E860D66F46}" type="parTrans" cxnId="{BCB84A2D-559B-C24F-AB0C-B91D6622BE68}">
      <dgm:prSet/>
      <dgm:spPr/>
      <dgm:t>
        <a:bodyPr/>
        <a:lstStyle/>
        <a:p>
          <a:endParaRPr lang="en-US"/>
        </a:p>
      </dgm:t>
    </dgm:pt>
    <dgm:pt modelId="{4F397F3A-444F-734E-BDEE-61A6DF37E628}" type="sibTrans" cxnId="{BCB84A2D-559B-C24F-AB0C-B91D6622BE68}">
      <dgm:prSet/>
      <dgm:spPr/>
      <dgm:t>
        <a:bodyPr/>
        <a:lstStyle/>
        <a:p>
          <a:endParaRPr lang="en-US"/>
        </a:p>
      </dgm:t>
    </dgm:pt>
    <dgm:pt modelId="{E9FDC65B-0D60-1F4F-B97F-0EA7C0235755}">
      <dgm:prSet/>
      <dgm:spPr/>
      <dgm:t>
        <a:bodyPr/>
        <a:lstStyle/>
        <a:p>
          <a:pPr rtl="0"/>
          <a:r>
            <a:rPr lang="en-US" dirty="0"/>
            <a:t>Takes place when one entity </a:t>
          </a:r>
          <a:r>
            <a:rPr lang="en-US" dirty="0">
              <a:solidFill>
                <a:srgbClr val="0070C0"/>
              </a:solidFill>
            </a:rPr>
            <a:t>pretends</a:t>
          </a:r>
          <a:r>
            <a:rPr lang="en-US" dirty="0"/>
            <a:t> to be a different entity</a:t>
          </a:r>
        </a:p>
      </dgm:t>
    </dgm:pt>
    <dgm:pt modelId="{C4EB62D4-2F13-3D4A-A46E-576FFAFFC107}" type="parTrans" cxnId="{77345D43-3A60-B146-A5D5-0D744B8317D4}">
      <dgm:prSet/>
      <dgm:spPr/>
      <dgm:t>
        <a:bodyPr/>
        <a:lstStyle/>
        <a:p>
          <a:endParaRPr lang="en-US"/>
        </a:p>
      </dgm:t>
    </dgm:pt>
    <dgm:pt modelId="{FB66449C-9275-984F-A3F3-55052371A716}" type="sibTrans" cxnId="{77345D43-3A60-B146-A5D5-0D744B8317D4}">
      <dgm:prSet/>
      <dgm:spPr/>
      <dgm:t>
        <a:bodyPr/>
        <a:lstStyle/>
        <a:p>
          <a:endParaRPr lang="en-US"/>
        </a:p>
      </dgm:t>
    </dgm:pt>
    <dgm:pt modelId="{85A25129-D75F-8547-9C34-AB3C73204E9D}">
      <dgm:prSet/>
      <dgm:spPr/>
      <dgm:t>
        <a:bodyPr/>
        <a:lstStyle/>
        <a:p>
          <a:pPr rtl="0"/>
          <a:r>
            <a:rPr lang="en-US" dirty="0"/>
            <a:t>Usually includes one of the other forms of active attack</a:t>
          </a:r>
        </a:p>
      </dgm:t>
    </dgm:pt>
    <dgm:pt modelId="{18809EE1-A86D-CF4F-B0CE-9891BBCC5EB7}" type="parTrans" cxnId="{83A57E6C-1020-7642-8FB5-FD7A8F73221C}">
      <dgm:prSet/>
      <dgm:spPr/>
      <dgm:t>
        <a:bodyPr/>
        <a:lstStyle/>
        <a:p>
          <a:endParaRPr lang="en-US"/>
        </a:p>
      </dgm:t>
    </dgm:pt>
    <dgm:pt modelId="{BB8F67A8-EB49-8E4C-855F-5A0354C6E9E1}" type="sibTrans" cxnId="{83A57E6C-1020-7642-8FB5-FD7A8F73221C}">
      <dgm:prSet/>
      <dgm:spPr/>
      <dgm:t>
        <a:bodyPr/>
        <a:lstStyle/>
        <a:p>
          <a:endParaRPr lang="en-US"/>
        </a:p>
      </dgm:t>
    </dgm:pt>
    <dgm:pt modelId="{684654ED-11BD-C940-9C72-F844DFF81F0E}">
      <dgm:prSet/>
      <dgm:spPr/>
      <dgm:t>
        <a:bodyPr/>
        <a:lstStyle/>
        <a:p>
          <a:pPr rtl="0"/>
          <a:r>
            <a:rPr lang="en-US" dirty="0">
              <a:solidFill>
                <a:srgbClr val="0000FF"/>
              </a:solidFill>
              <a:effectLst>
                <a:outerShdw blurRad="38100" dist="38100" dir="2700000" algn="tl">
                  <a:srgbClr val="000000">
                    <a:alpha val="43137"/>
                  </a:srgbClr>
                </a:outerShdw>
              </a:effectLst>
            </a:rPr>
            <a:t>Replay</a:t>
          </a:r>
        </a:p>
      </dgm:t>
    </dgm:pt>
    <dgm:pt modelId="{3EB481BD-EEE5-894D-986B-49F64ADBCD4B}" type="parTrans" cxnId="{21C33BDF-CACE-0F4D-BB0A-0771A61AF058}">
      <dgm:prSet/>
      <dgm:spPr/>
      <dgm:t>
        <a:bodyPr/>
        <a:lstStyle/>
        <a:p>
          <a:endParaRPr lang="en-US"/>
        </a:p>
      </dgm:t>
    </dgm:pt>
    <dgm:pt modelId="{CE6651BB-25BA-274D-9E08-EC94B1877C65}" type="sibTrans" cxnId="{21C33BDF-CACE-0F4D-BB0A-0771A61AF058}">
      <dgm:prSet/>
      <dgm:spPr/>
      <dgm:t>
        <a:bodyPr/>
        <a:lstStyle/>
        <a:p>
          <a:endParaRPr lang="en-US"/>
        </a:p>
      </dgm:t>
    </dgm:pt>
    <dgm:pt modelId="{F29AC745-5B80-1540-A77A-8EFC6343F5CF}">
      <dgm:prSet/>
      <dgm:spPr/>
      <dgm:t>
        <a:bodyPr/>
        <a:lstStyle/>
        <a:p>
          <a:pPr rtl="0"/>
          <a:r>
            <a:rPr lang="en-US" dirty="0"/>
            <a:t>Involves the passive </a:t>
          </a:r>
          <a:r>
            <a:rPr lang="en-US" dirty="0">
              <a:solidFill>
                <a:srgbClr val="0070C0"/>
              </a:solidFill>
            </a:rPr>
            <a:t>capture</a:t>
          </a:r>
          <a:r>
            <a:rPr lang="en-US" dirty="0"/>
            <a:t> of a data unit and its </a:t>
          </a:r>
          <a:r>
            <a:rPr lang="en-US" dirty="0">
              <a:solidFill>
                <a:srgbClr val="0070C0"/>
              </a:solidFill>
            </a:rPr>
            <a:t>subsequent retransmission </a:t>
          </a:r>
          <a:r>
            <a:rPr lang="en-US" dirty="0"/>
            <a:t>to produce an </a:t>
          </a:r>
          <a:r>
            <a:rPr lang="en-US" dirty="0">
              <a:solidFill>
                <a:srgbClr val="0070C0"/>
              </a:solidFill>
            </a:rPr>
            <a:t>unauthorized effect</a:t>
          </a:r>
        </a:p>
      </dgm:t>
    </dgm:pt>
    <dgm:pt modelId="{E0733D8E-7962-234C-810C-90C4C4DF3E31}" type="parTrans" cxnId="{34439DAA-AACE-1F48-BCD5-A061B0AFD3F8}">
      <dgm:prSet/>
      <dgm:spPr/>
      <dgm:t>
        <a:bodyPr/>
        <a:lstStyle/>
        <a:p>
          <a:endParaRPr lang="en-US"/>
        </a:p>
      </dgm:t>
    </dgm:pt>
    <dgm:pt modelId="{CB541CEA-6765-054F-94D6-EA9035F2DB48}" type="sibTrans" cxnId="{34439DAA-AACE-1F48-BCD5-A061B0AFD3F8}">
      <dgm:prSet/>
      <dgm:spPr/>
      <dgm:t>
        <a:bodyPr/>
        <a:lstStyle/>
        <a:p>
          <a:endParaRPr lang="en-US"/>
        </a:p>
      </dgm:t>
    </dgm:pt>
    <dgm:pt modelId="{E5A23CB2-A4A0-DF49-9E42-3BBF47D1B5A0}" type="pres">
      <dgm:prSet presAssocID="{8A23DCF8-72E3-144A-A633-71F28C732000}" presName="Name0" presStyleCnt="0">
        <dgm:presLayoutVars>
          <dgm:dir/>
          <dgm:animLvl val="lvl"/>
          <dgm:resizeHandles val="exact"/>
        </dgm:presLayoutVars>
      </dgm:prSet>
      <dgm:spPr/>
    </dgm:pt>
    <dgm:pt modelId="{71B9D93E-FAA9-414C-B8E8-FBBB7988FD16}" type="pres">
      <dgm:prSet presAssocID="{6B08B88F-A009-1948-9A73-AB7494904C9E}" presName="linNode" presStyleCnt="0"/>
      <dgm:spPr/>
    </dgm:pt>
    <dgm:pt modelId="{44488AAB-A78F-8047-B4DF-837F0C5AD89D}" type="pres">
      <dgm:prSet presAssocID="{6B08B88F-A009-1948-9A73-AB7494904C9E}" presName="parentText" presStyleLbl="node1" presStyleIdx="0" presStyleCnt="2" custScaleY="67584" custLinFactNeighborY="-6289">
        <dgm:presLayoutVars>
          <dgm:chMax val="1"/>
          <dgm:bulletEnabled val="1"/>
        </dgm:presLayoutVars>
      </dgm:prSet>
      <dgm:spPr/>
    </dgm:pt>
    <dgm:pt modelId="{AA6F287F-54BE-A94E-BE50-7A86606A3A77}" type="pres">
      <dgm:prSet presAssocID="{6B08B88F-A009-1948-9A73-AB7494904C9E}" presName="descendantText" presStyleLbl="alignAccFollowNode1" presStyleIdx="0" presStyleCnt="2">
        <dgm:presLayoutVars>
          <dgm:bulletEnabled val="1"/>
        </dgm:presLayoutVars>
      </dgm:prSet>
      <dgm:spPr/>
    </dgm:pt>
    <dgm:pt modelId="{4F7C0ABC-23B8-3049-98D3-D0761945FFB7}" type="pres">
      <dgm:prSet presAssocID="{4F397F3A-444F-734E-BDEE-61A6DF37E628}" presName="sp" presStyleCnt="0"/>
      <dgm:spPr/>
    </dgm:pt>
    <dgm:pt modelId="{6345C142-429E-F84C-A676-C061FB483709}" type="pres">
      <dgm:prSet presAssocID="{684654ED-11BD-C940-9C72-F844DFF81F0E}" presName="linNode" presStyleCnt="0"/>
      <dgm:spPr/>
    </dgm:pt>
    <dgm:pt modelId="{0E6340F7-C0A4-1F48-82F3-FF986F32634E}" type="pres">
      <dgm:prSet presAssocID="{684654ED-11BD-C940-9C72-F844DFF81F0E}" presName="parentText" presStyleLbl="node1" presStyleIdx="1" presStyleCnt="2" custScaleY="71205" custLinFactNeighborY="-923">
        <dgm:presLayoutVars>
          <dgm:chMax val="1"/>
          <dgm:bulletEnabled val="1"/>
        </dgm:presLayoutVars>
      </dgm:prSet>
      <dgm:spPr/>
    </dgm:pt>
    <dgm:pt modelId="{E9892E3E-9DF2-BD4B-A6CD-F416208DABBC}" type="pres">
      <dgm:prSet presAssocID="{684654ED-11BD-C940-9C72-F844DFF81F0E}" presName="descendantText" presStyleLbl="alignAccFollowNode1" presStyleIdx="1" presStyleCnt="2">
        <dgm:presLayoutVars>
          <dgm:bulletEnabled val="1"/>
        </dgm:presLayoutVars>
      </dgm:prSet>
      <dgm:spPr/>
    </dgm:pt>
  </dgm:ptLst>
  <dgm:cxnLst>
    <dgm:cxn modelId="{BCB84A2D-559B-C24F-AB0C-B91D6622BE68}" srcId="{8A23DCF8-72E3-144A-A633-71F28C732000}" destId="{6B08B88F-A009-1948-9A73-AB7494904C9E}" srcOrd="0" destOrd="0" parTransId="{BABD4BF5-0E42-354D-A9E1-85E860D66F46}" sibTransId="{4F397F3A-444F-734E-BDEE-61A6DF37E628}"/>
    <dgm:cxn modelId="{77345D43-3A60-B146-A5D5-0D744B8317D4}" srcId="{6B08B88F-A009-1948-9A73-AB7494904C9E}" destId="{E9FDC65B-0D60-1F4F-B97F-0EA7C0235755}" srcOrd="0" destOrd="0" parTransId="{C4EB62D4-2F13-3D4A-A46E-576FFAFFC107}" sibTransId="{FB66449C-9275-984F-A3F3-55052371A716}"/>
    <dgm:cxn modelId="{83A57E6C-1020-7642-8FB5-FD7A8F73221C}" srcId="{6B08B88F-A009-1948-9A73-AB7494904C9E}" destId="{85A25129-D75F-8547-9C34-AB3C73204E9D}" srcOrd="1" destOrd="0" parTransId="{18809EE1-A86D-CF4F-B0CE-9891BBCC5EB7}" sibTransId="{BB8F67A8-EB49-8E4C-855F-5A0354C6E9E1}"/>
    <dgm:cxn modelId="{52B0874D-90DC-4E8E-A37C-B952A866EB9E}" type="presOf" srcId="{684654ED-11BD-C940-9C72-F844DFF81F0E}" destId="{0E6340F7-C0A4-1F48-82F3-FF986F32634E}" srcOrd="0" destOrd="0" presId="urn:microsoft.com/office/officeart/2005/8/layout/vList5"/>
    <dgm:cxn modelId="{9AF70A52-B10E-4A48-A9D7-378B0C1591CA}" type="presOf" srcId="{6B08B88F-A009-1948-9A73-AB7494904C9E}" destId="{44488AAB-A78F-8047-B4DF-837F0C5AD89D}" srcOrd="0" destOrd="0" presId="urn:microsoft.com/office/officeart/2005/8/layout/vList5"/>
    <dgm:cxn modelId="{A354289E-44C2-41B6-BB48-2883BD8209AF}" type="presOf" srcId="{8A23DCF8-72E3-144A-A633-71F28C732000}" destId="{E5A23CB2-A4A0-DF49-9E42-3BBF47D1B5A0}" srcOrd="0" destOrd="0" presId="urn:microsoft.com/office/officeart/2005/8/layout/vList5"/>
    <dgm:cxn modelId="{34439DAA-AACE-1F48-BCD5-A061B0AFD3F8}" srcId="{684654ED-11BD-C940-9C72-F844DFF81F0E}" destId="{F29AC745-5B80-1540-A77A-8EFC6343F5CF}" srcOrd="0" destOrd="0" parTransId="{E0733D8E-7962-234C-810C-90C4C4DF3E31}" sibTransId="{CB541CEA-6765-054F-94D6-EA9035F2DB48}"/>
    <dgm:cxn modelId="{3CA94CAB-71E4-4C70-9C47-7F03871E85EC}" type="presOf" srcId="{E9FDC65B-0D60-1F4F-B97F-0EA7C0235755}" destId="{AA6F287F-54BE-A94E-BE50-7A86606A3A77}" srcOrd="0" destOrd="0" presId="urn:microsoft.com/office/officeart/2005/8/layout/vList5"/>
    <dgm:cxn modelId="{21C33BDF-CACE-0F4D-BB0A-0771A61AF058}" srcId="{8A23DCF8-72E3-144A-A633-71F28C732000}" destId="{684654ED-11BD-C940-9C72-F844DFF81F0E}" srcOrd="1" destOrd="0" parTransId="{3EB481BD-EEE5-894D-986B-49F64ADBCD4B}" sibTransId="{CE6651BB-25BA-274D-9E08-EC94B1877C65}"/>
    <dgm:cxn modelId="{2A533AEB-A95E-4B25-930A-615F4E57E66E}" type="presOf" srcId="{F29AC745-5B80-1540-A77A-8EFC6343F5CF}" destId="{E9892E3E-9DF2-BD4B-A6CD-F416208DABBC}" srcOrd="0" destOrd="0" presId="urn:microsoft.com/office/officeart/2005/8/layout/vList5"/>
    <dgm:cxn modelId="{493A01FE-40FE-4385-9553-F34CA805E669}" type="presOf" srcId="{85A25129-D75F-8547-9C34-AB3C73204E9D}" destId="{AA6F287F-54BE-A94E-BE50-7A86606A3A77}" srcOrd="0" destOrd="1" presId="urn:microsoft.com/office/officeart/2005/8/layout/vList5"/>
    <dgm:cxn modelId="{21F7726E-DAD5-4E7D-B0C0-A82FE1392909}" type="presParOf" srcId="{E5A23CB2-A4A0-DF49-9E42-3BBF47D1B5A0}" destId="{71B9D93E-FAA9-414C-B8E8-FBBB7988FD16}" srcOrd="0" destOrd="0" presId="urn:microsoft.com/office/officeart/2005/8/layout/vList5"/>
    <dgm:cxn modelId="{D6629FD3-0265-413B-B507-B97F5ADED230}" type="presParOf" srcId="{71B9D93E-FAA9-414C-B8E8-FBBB7988FD16}" destId="{44488AAB-A78F-8047-B4DF-837F0C5AD89D}" srcOrd="0" destOrd="0" presId="urn:microsoft.com/office/officeart/2005/8/layout/vList5"/>
    <dgm:cxn modelId="{4F4EC055-DD2E-4190-B152-68B0D35EEA2A}" type="presParOf" srcId="{71B9D93E-FAA9-414C-B8E8-FBBB7988FD16}" destId="{AA6F287F-54BE-A94E-BE50-7A86606A3A77}" srcOrd="1" destOrd="0" presId="urn:microsoft.com/office/officeart/2005/8/layout/vList5"/>
    <dgm:cxn modelId="{9D2BE002-7A41-4AF3-96AC-D10EE2EDCA50}" type="presParOf" srcId="{E5A23CB2-A4A0-DF49-9E42-3BBF47D1B5A0}" destId="{4F7C0ABC-23B8-3049-98D3-D0761945FFB7}" srcOrd="1" destOrd="0" presId="urn:microsoft.com/office/officeart/2005/8/layout/vList5"/>
    <dgm:cxn modelId="{BA049872-B836-4A73-8A9B-AB5A49B52BEE}" type="presParOf" srcId="{E5A23CB2-A4A0-DF49-9E42-3BBF47D1B5A0}" destId="{6345C142-429E-F84C-A676-C061FB483709}" srcOrd="2" destOrd="0" presId="urn:microsoft.com/office/officeart/2005/8/layout/vList5"/>
    <dgm:cxn modelId="{1D1A5A5F-CBA0-4F27-8C53-34C5CDCCA141}" type="presParOf" srcId="{6345C142-429E-F84C-A676-C061FB483709}" destId="{0E6340F7-C0A4-1F48-82F3-FF986F32634E}" srcOrd="0" destOrd="0" presId="urn:microsoft.com/office/officeart/2005/8/layout/vList5"/>
    <dgm:cxn modelId="{4DDAADDB-C133-42D8-9886-4FA169F342A1}" type="presParOf" srcId="{6345C142-429E-F84C-A676-C061FB483709}" destId="{E9892E3E-9DF2-BD4B-A6CD-F416208DABBC}" srcOrd="1" destOrd="0" presId="urn:microsoft.com/office/officeart/2005/8/layout/vList5"/>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E01539A-5051-EC48-8A82-834F18ADEDDB}"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6AF6D1B2-990C-DE42-8049-D062E5F41D23}">
      <dgm:prSet phldrT="[Text]" custT="1"/>
      <dgm:spPr>
        <a:solidFill>
          <a:schemeClr val="tx2">
            <a:lumMod val="50000"/>
          </a:schemeClr>
        </a:solidFill>
        <a:ln>
          <a:noFill/>
        </a:ln>
      </dgm:spPr>
      <dgm:t>
        <a:bodyPr/>
        <a:lstStyle/>
        <a:p>
          <a:r>
            <a:rPr lang="en-US" sz="1600" b="1" dirty="0">
              <a:effectLst>
                <a:outerShdw blurRad="38100" dist="38100" dir="2700000" algn="tl">
                  <a:srgbClr val="000000">
                    <a:alpha val="43137"/>
                  </a:srgbClr>
                </a:outerShdw>
              </a:effectLst>
            </a:rPr>
            <a:t>Two specific authentication services are defined in X.800:</a:t>
          </a:r>
        </a:p>
      </dgm:t>
    </dgm:pt>
    <dgm:pt modelId="{05049BDB-EC85-DF4A-9B1D-4A9164DE2742}" type="parTrans" cxnId="{179A0A0E-245F-5C42-9FEE-FB0CC790B3D4}">
      <dgm:prSet/>
      <dgm:spPr/>
      <dgm:t>
        <a:bodyPr/>
        <a:lstStyle/>
        <a:p>
          <a:endParaRPr lang="en-US"/>
        </a:p>
      </dgm:t>
    </dgm:pt>
    <dgm:pt modelId="{5CDDC435-BA27-0F4A-9BED-95F4A32C7E4A}" type="sibTrans" cxnId="{179A0A0E-245F-5C42-9FEE-FB0CC790B3D4}">
      <dgm:prSet/>
      <dgm:spPr/>
      <dgm:t>
        <a:bodyPr/>
        <a:lstStyle/>
        <a:p>
          <a:endParaRPr lang="en-US"/>
        </a:p>
      </dgm:t>
    </dgm:pt>
    <dgm:pt modelId="{A69C24B3-FE79-5F4F-B491-8B287CD690F0}">
      <dgm:prSet/>
      <dgm:spPr>
        <a:solidFill>
          <a:schemeClr val="tx2">
            <a:lumMod val="75000"/>
          </a:schemeClr>
        </a:solidFill>
        <a:effectLst/>
      </dgm:spPr>
      <dgm:t>
        <a:bodyPr/>
        <a:lstStyle/>
        <a:p>
          <a:r>
            <a:rPr lang="en-US" b="1" dirty="0">
              <a:solidFill>
                <a:srgbClr val="FFFF00"/>
              </a:solidFill>
            </a:rPr>
            <a:t>Peer entity authentication</a:t>
          </a:r>
        </a:p>
      </dgm:t>
    </dgm:pt>
    <dgm:pt modelId="{5FB57DA3-06CE-F645-8D08-1F754FAD6785}" type="parTrans" cxnId="{39499BB2-4AC9-7D4F-B79C-88588D17A0BA}">
      <dgm:prSet/>
      <dgm:spPr/>
      <dgm:t>
        <a:bodyPr/>
        <a:lstStyle/>
        <a:p>
          <a:endParaRPr lang="en-US"/>
        </a:p>
      </dgm:t>
    </dgm:pt>
    <dgm:pt modelId="{20C83FF1-7EAA-D44E-9582-1F2A9FFBA55F}" type="sibTrans" cxnId="{39499BB2-4AC9-7D4F-B79C-88588D17A0BA}">
      <dgm:prSet/>
      <dgm:spPr/>
      <dgm:t>
        <a:bodyPr/>
        <a:lstStyle/>
        <a:p>
          <a:endParaRPr lang="en-US"/>
        </a:p>
      </dgm:t>
    </dgm:pt>
    <dgm:pt modelId="{5F3454E3-C413-724A-AD0A-DA53D7DE7FFA}">
      <dgm:prSet/>
      <dgm:spPr>
        <a:solidFill>
          <a:schemeClr val="tx2">
            <a:lumMod val="75000"/>
          </a:schemeClr>
        </a:solidFill>
        <a:effectLst/>
      </dgm:spPr>
      <dgm:t>
        <a:bodyPr/>
        <a:lstStyle/>
        <a:p>
          <a:r>
            <a:rPr lang="en-US" b="1" dirty="0">
              <a:solidFill>
                <a:srgbClr val="FFFF00"/>
              </a:solidFill>
            </a:rPr>
            <a:t>Data origin authentication</a:t>
          </a:r>
        </a:p>
      </dgm:t>
    </dgm:pt>
    <dgm:pt modelId="{92C32A11-DCC9-9543-B2B4-98D06438A3CE}" type="parTrans" cxnId="{5076565F-986E-AE42-A4C6-A6887D34D477}">
      <dgm:prSet/>
      <dgm:spPr/>
      <dgm:t>
        <a:bodyPr/>
        <a:lstStyle/>
        <a:p>
          <a:endParaRPr lang="en-US"/>
        </a:p>
      </dgm:t>
    </dgm:pt>
    <dgm:pt modelId="{077164CC-5AC7-6544-BF6C-61F302B85BC5}" type="sibTrans" cxnId="{5076565F-986E-AE42-A4C6-A6887D34D477}">
      <dgm:prSet/>
      <dgm:spPr/>
      <dgm:t>
        <a:bodyPr/>
        <a:lstStyle/>
        <a:p>
          <a:endParaRPr lang="en-US"/>
        </a:p>
      </dgm:t>
    </dgm:pt>
    <dgm:pt modelId="{51CFFA34-E468-444D-8882-D5194AFA75F6}" type="pres">
      <dgm:prSet presAssocID="{5E01539A-5051-EC48-8A82-834F18ADEDDB}" presName="Name0" presStyleCnt="0">
        <dgm:presLayoutVars>
          <dgm:dir/>
          <dgm:animLvl val="lvl"/>
          <dgm:resizeHandles val="exact"/>
        </dgm:presLayoutVars>
      </dgm:prSet>
      <dgm:spPr/>
    </dgm:pt>
    <dgm:pt modelId="{227B33C8-49AD-2949-81AD-91D832F97EF7}" type="pres">
      <dgm:prSet presAssocID="{6AF6D1B2-990C-DE42-8049-D062E5F41D23}" presName="composite" presStyleCnt="0"/>
      <dgm:spPr/>
    </dgm:pt>
    <dgm:pt modelId="{1A63D57E-BD21-BD4F-AD59-FF51C76AFE55}" type="pres">
      <dgm:prSet presAssocID="{6AF6D1B2-990C-DE42-8049-D062E5F41D23}" presName="parTx" presStyleLbl="alignNode1" presStyleIdx="0" presStyleCnt="1" custScaleY="123108">
        <dgm:presLayoutVars>
          <dgm:chMax val="0"/>
          <dgm:chPref val="0"/>
          <dgm:bulletEnabled val="1"/>
        </dgm:presLayoutVars>
      </dgm:prSet>
      <dgm:spPr/>
    </dgm:pt>
    <dgm:pt modelId="{0327DD84-63DC-3D4B-88CB-97969678C59D}" type="pres">
      <dgm:prSet presAssocID="{6AF6D1B2-990C-DE42-8049-D062E5F41D23}" presName="desTx" presStyleLbl="alignAccFollowNode1" presStyleIdx="0" presStyleCnt="1">
        <dgm:presLayoutVars>
          <dgm:bulletEnabled val="1"/>
        </dgm:presLayoutVars>
      </dgm:prSet>
      <dgm:spPr/>
    </dgm:pt>
  </dgm:ptLst>
  <dgm:cxnLst>
    <dgm:cxn modelId="{179A0A0E-245F-5C42-9FEE-FB0CC790B3D4}" srcId="{5E01539A-5051-EC48-8A82-834F18ADEDDB}" destId="{6AF6D1B2-990C-DE42-8049-D062E5F41D23}" srcOrd="0" destOrd="0" parTransId="{05049BDB-EC85-DF4A-9B1D-4A9164DE2742}" sibTransId="{5CDDC435-BA27-0F4A-9BED-95F4A32C7E4A}"/>
    <dgm:cxn modelId="{531D7023-08AC-4915-BEEF-12D8A94D0D1A}" type="presOf" srcId="{A69C24B3-FE79-5F4F-B491-8B287CD690F0}" destId="{0327DD84-63DC-3D4B-88CB-97969678C59D}" srcOrd="0" destOrd="0" presId="urn:microsoft.com/office/officeart/2005/8/layout/hList1"/>
    <dgm:cxn modelId="{DDC4FD29-02EB-413F-9984-9F92B118C1D4}" type="presOf" srcId="{6AF6D1B2-990C-DE42-8049-D062E5F41D23}" destId="{1A63D57E-BD21-BD4F-AD59-FF51C76AFE55}" srcOrd="0" destOrd="0" presId="urn:microsoft.com/office/officeart/2005/8/layout/hList1"/>
    <dgm:cxn modelId="{5076565F-986E-AE42-A4C6-A6887D34D477}" srcId="{6AF6D1B2-990C-DE42-8049-D062E5F41D23}" destId="{5F3454E3-C413-724A-AD0A-DA53D7DE7FFA}" srcOrd="1" destOrd="0" parTransId="{92C32A11-DCC9-9543-B2B4-98D06438A3CE}" sibTransId="{077164CC-5AC7-6544-BF6C-61F302B85BC5}"/>
    <dgm:cxn modelId="{F442446D-7DD9-4BD2-9958-0F582B1D8C8B}" type="presOf" srcId="{5F3454E3-C413-724A-AD0A-DA53D7DE7FFA}" destId="{0327DD84-63DC-3D4B-88CB-97969678C59D}" srcOrd="0" destOrd="1" presId="urn:microsoft.com/office/officeart/2005/8/layout/hList1"/>
    <dgm:cxn modelId="{7EF18393-4D24-4743-99F6-A56805ECF0EE}" type="presOf" srcId="{5E01539A-5051-EC48-8A82-834F18ADEDDB}" destId="{51CFFA34-E468-444D-8882-D5194AFA75F6}" srcOrd="0" destOrd="0" presId="urn:microsoft.com/office/officeart/2005/8/layout/hList1"/>
    <dgm:cxn modelId="{39499BB2-4AC9-7D4F-B79C-88588D17A0BA}" srcId="{6AF6D1B2-990C-DE42-8049-D062E5F41D23}" destId="{A69C24B3-FE79-5F4F-B491-8B287CD690F0}" srcOrd="0" destOrd="0" parTransId="{5FB57DA3-06CE-F645-8D08-1F754FAD6785}" sibTransId="{20C83FF1-7EAA-D44E-9582-1F2A9FFBA55F}"/>
    <dgm:cxn modelId="{27BA761C-EA31-40E8-8307-99095A97909E}" type="presParOf" srcId="{51CFFA34-E468-444D-8882-D5194AFA75F6}" destId="{227B33C8-49AD-2949-81AD-91D832F97EF7}" srcOrd="0" destOrd="0" presId="urn:microsoft.com/office/officeart/2005/8/layout/hList1"/>
    <dgm:cxn modelId="{058BFC85-362A-4A8D-9326-6C9FA6365DAF}" type="presParOf" srcId="{227B33C8-49AD-2949-81AD-91D832F97EF7}" destId="{1A63D57E-BD21-BD4F-AD59-FF51C76AFE55}" srcOrd="0" destOrd="0" presId="urn:microsoft.com/office/officeart/2005/8/layout/hList1"/>
    <dgm:cxn modelId="{8B9EB7CC-DAC6-4E45-A0CD-835F843AFBC2}" type="presParOf" srcId="{227B33C8-49AD-2949-81AD-91D832F97EF7}" destId="{0327DD84-63DC-3D4B-88CB-97969678C59D}" srcOrd="1" destOrd="0" presId="urn:microsoft.com/office/officeart/2005/8/layout/hList1"/>
  </dgm:cxnLst>
  <dgm:bg/>
  <dgm:whole>
    <a:ln w="22225">
      <a:noFill/>
    </a:ln>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840BB69-795F-DC44-9039-EFE386C8DA42}" type="doc">
      <dgm:prSet loTypeId="urn:microsoft.com/office/officeart/2005/8/layout/target3" loCatId="relationship" qsTypeId="urn:microsoft.com/office/officeart/2005/8/quickstyle/simple4" qsCatId="simple" csTypeId="urn:microsoft.com/office/officeart/2005/8/colors/accent1_2" csCatId="accent1" phldr="1"/>
      <dgm:spPr/>
      <dgm:t>
        <a:bodyPr/>
        <a:lstStyle/>
        <a:p>
          <a:endParaRPr lang="en-US"/>
        </a:p>
      </dgm:t>
    </dgm:pt>
    <dgm:pt modelId="{78604162-7F55-C047-BE94-13ED11E97062}">
      <dgm:prSet/>
      <dgm:spPr/>
      <dgm:t>
        <a:bodyPr/>
        <a:lstStyle/>
        <a:p>
          <a:pPr rtl="0"/>
          <a:r>
            <a:rPr lang="en-US" dirty="0">
              <a:solidFill>
                <a:srgbClr val="000000"/>
              </a:solidFill>
            </a:rPr>
            <a:t>Can apply to a </a:t>
          </a:r>
          <a:r>
            <a:rPr lang="en-US" b="1" dirty="0">
              <a:solidFill>
                <a:srgbClr val="C00000"/>
              </a:solidFill>
            </a:rPr>
            <a:t>stream of messages</a:t>
          </a:r>
          <a:r>
            <a:rPr lang="en-US" b="1" dirty="0">
              <a:solidFill>
                <a:srgbClr val="000000"/>
              </a:solidFill>
            </a:rPr>
            <a:t>,</a:t>
          </a:r>
          <a:r>
            <a:rPr lang="en-US" b="0" dirty="0">
              <a:solidFill>
                <a:srgbClr val="000000"/>
              </a:solidFill>
            </a:rPr>
            <a:t> </a:t>
          </a:r>
          <a:r>
            <a:rPr lang="en-US" b="1" dirty="0">
              <a:solidFill>
                <a:srgbClr val="C00000"/>
              </a:solidFill>
            </a:rPr>
            <a:t>a single message,</a:t>
          </a:r>
          <a:r>
            <a:rPr lang="en-US" dirty="0">
              <a:solidFill>
                <a:srgbClr val="000000"/>
              </a:solidFill>
            </a:rPr>
            <a:t> or </a:t>
          </a:r>
          <a:r>
            <a:rPr lang="en-US" b="1" dirty="0">
              <a:solidFill>
                <a:srgbClr val="C00000"/>
              </a:solidFill>
            </a:rPr>
            <a:t>selected fields </a:t>
          </a:r>
          <a:r>
            <a:rPr lang="en-US" b="1" dirty="0">
              <a:solidFill>
                <a:srgbClr val="000000"/>
              </a:solidFill>
            </a:rPr>
            <a:t>within a message</a:t>
          </a:r>
        </a:p>
      </dgm:t>
    </dgm:pt>
    <dgm:pt modelId="{633A7DFD-9686-A442-916C-11E66333C626}" type="parTrans" cxnId="{F269C7C7-02E8-7144-85BC-5A10F1C0EBED}">
      <dgm:prSet/>
      <dgm:spPr/>
      <dgm:t>
        <a:bodyPr/>
        <a:lstStyle/>
        <a:p>
          <a:endParaRPr lang="en-US"/>
        </a:p>
      </dgm:t>
    </dgm:pt>
    <dgm:pt modelId="{DA04DC4C-5D65-2448-AC1C-B6B53BDD2F97}" type="sibTrans" cxnId="{F269C7C7-02E8-7144-85BC-5A10F1C0EBED}">
      <dgm:prSet/>
      <dgm:spPr/>
      <dgm:t>
        <a:bodyPr/>
        <a:lstStyle/>
        <a:p>
          <a:endParaRPr lang="en-US"/>
        </a:p>
      </dgm:t>
    </dgm:pt>
    <dgm:pt modelId="{EACD3E88-C1DE-AD4D-ABD5-C72E5F9F6EF2}">
      <dgm:prSet/>
      <dgm:spPr/>
      <dgm:t>
        <a:bodyPr/>
        <a:lstStyle/>
        <a:p>
          <a:pPr rtl="0"/>
          <a:r>
            <a:rPr lang="en-US" b="1" dirty="0">
              <a:solidFill>
                <a:srgbClr val="C00000"/>
              </a:solidFill>
            </a:rPr>
            <a:t>Connection-oriented integrity service </a:t>
          </a:r>
          <a:r>
            <a:rPr lang="en-US" dirty="0">
              <a:solidFill>
                <a:schemeClr val="bg2"/>
              </a:solidFill>
            </a:rPr>
            <a:t>deals with a </a:t>
          </a:r>
          <a:r>
            <a:rPr lang="en-US" b="1" dirty="0">
              <a:solidFill>
                <a:srgbClr val="C00000"/>
              </a:solidFill>
            </a:rPr>
            <a:t>stream of messages </a:t>
          </a:r>
          <a:r>
            <a:rPr lang="en-US" dirty="0">
              <a:solidFill>
                <a:schemeClr val="bg2"/>
              </a:solidFill>
            </a:rPr>
            <a:t>and assures that messages are received as sent with </a:t>
          </a:r>
          <a:r>
            <a:rPr lang="en-US" b="1" dirty="0">
              <a:solidFill>
                <a:srgbClr val="C00000"/>
              </a:solidFill>
            </a:rPr>
            <a:t>no duplication</a:t>
          </a:r>
          <a:r>
            <a:rPr lang="en-US" dirty="0">
              <a:solidFill>
                <a:schemeClr val="bg2"/>
              </a:solidFill>
            </a:rPr>
            <a:t>, </a:t>
          </a:r>
          <a:r>
            <a:rPr lang="en-US" b="1" dirty="0">
              <a:solidFill>
                <a:srgbClr val="C00000"/>
              </a:solidFill>
            </a:rPr>
            <a:t>insertion,</a:t>
          </a:r>
          <a:r>
            <a:rPr lang="en-US" dirty="0">
              <a:solidFill>
                <a:schemeClr val="bg2"/>
              </a:solidFill>
            </a:rPr>
            <a:t> </a:t>
          </a:r>
          <a:r>
            <a:rPr lang="en-US" b="1" dirty="0">
              <a:solidFill>
                <a:srgbClr val="C00000"/>
              </a:solidFill>
            </a:rPr>
            <a:t>modification,</a:t>
          </a:r>
          <a:r>
            <a:rPr lang="en-US" dirty="0">
              <a:solidFill>
                <a:schemeClr val="bg2"/>
              </a:solidFill>
            </a:rPr>
            <a:t> </a:t>
          </a:r>
          <a:r>
            <a:rPr lang="en-US" b="1" dirty="0">
              <a:solidFill>
                <a:srgbClr val="C00000"/>
              </a:solidFill>
            </a:rPr>
            <a:t>reordering,</a:t>
          </a:r>
          <a:r>
            <a:rPr lang="en-US" dirty="0">
              <a:solidFill>
                <a:schemeClr val="bg2"/>
              </a:solidFill>
            </a:rPr>
            <a:t> or </a:t>
          </a:r>
          <a:r>
            <a:rPr lang="en-US" b="1" dirty="0">
              <a:solidFill>
                <a:schemeClr val="bg2"/>
              </a:solidFill>
            </a:rPr>
            <a:t>replays</a:t>
          </a:r>
        </a:p>
      </dgm:t>
    </dgm:pt>
    <dgm:pt modelId="{B2ACB307-BE4D-F74B-BB65-CD2BA8FAAC9B}" type="parTrans" cxnId="{9DE49B1B-A120-5942-975D-B7C77A415DC3}">
      <dgm:prSet/>
      <dgm:spPr/>
      <dgm:t>
        <a:bodyPr/>
        <a:lstStyle/>
        <a:p>
          <a:endParaRPr lang="en-US"/>
        </a:p>
      </dgm:t>
    </dgm:pt>
    <dgm:pt modelId="{9BD7C4EC-B487-9B40-959A-D29C0522FA75}" type="sibTrans" cxnId="{9DE49B1B-A120-5942-975D-B7C77A415DC3}">
      <dgm:prSet/>
      <dgm:spPr/>
      <dgm:t>
        <a:bodyPr/>
        <a:lstStyle/>
        <a:p>
          <a:endParaRPr lang="en-US"/>
        </a:p>
      </dgm:t>
    </dgm:pt>
    <dgm:pt modelId="{88515058-E016-784D-86C9-F8BFA4539E65}">
      <dgm:prSet/>
      <dgm:spPr/>
      <dgm:t>
        <a:bodyPr/>
        <a:lstStyle/>
        <a:p>
          <a:pPr rtl="0"/>
          <a:r>
            <a:rPr lang="en-US" b="1" dirty="0">
              <a:solidFill>
                <a:srgbClr val="C00000"/>
              </a:solidFill>
            </a:rPr>
            <a:t>A connectionless integrity </a:t>
          </a:r>
          <a:r>
            <a:rPr lang="en-US" dirty="0">
              <a:solidFill>
                <a:schemeClr val="bg2"/>
              </a:solidFill>
            </a:rPr>
            <a:t>service deals with </a:t>
          </a:r>
          <a:r>
            <a:rPr lang="en-US" b="1" dirty="0">
              <a:solidFill>
                <a:srgbClr val="C00000"/>
              </a:solidFill>
            </a:rPr>
            <a:t>individual messages </a:t>
          </a:r>
          <a:r>
            <a:rPr lang="en-US" dirty="0">
              <a:solidFill>
                <a:schemeClr val="bg2"/>
              </a:solidFill>
            </a:rPr>
            <a:t>without regard to any larger context and generally provides protection against </a:t>
          </a:r>
          <a:r>
            <a:rPr lang="en-US" b="1" dirty="0">
              <a:solidFill>
                <a:srgbClr val="C00000"/>
              </a:solidFill>
            </a:rPr>
            <a:t>message modification only</a:t>
          </a:r>
        </a:p>
      </dgm:t>
    </dgm:pt>
    <dgm:pt modelId="{0F303553-D7CD-8346-83F5-CE5CF40836AA}" type="parTrans" cxnId="{5AC8B4FA-211D-824C-AFE4-280EDC6B5987}">
      <dgm:prSet/>
      <dgm:spPr/>
      <dgm:t>
        <a:bodyPr/>
        <a:lstStyle/>
        <a:p>
          <a:endParaRPr lang="en-US"/>
        </a:p>
      </dgm:t>
    </dgm:pt>
    <dgm:pt modelId="{1CC71872-B62A-1840-9C56-D71664F86403}" type="sibTrans" cxnId="{5AC8B4FA-211D-824C-AFE4-280EDC6B5987}">
      <dgm:prSet/>
      <dgm:spPr/>
      <dgm:t>
        <a:bodyPr/>
        <a:lstStyle/>
        <a:p>
          <a:endParaRPr lang="en-US"/>
        </a:p>
      </dgm:t>
    </dgm:pt>
    <dgm:pt modelId="{C45F6EED-CF4E-0E44-92A7-E9EAFC55CADD}" type="pres">
      <dgm:prSet presAssocID="{7840BB69-795F-DC44-9039-EFE386C8DA42}" presName="Name0" presStyleCnt="0">
        <dgm:presLayoutVars>
          <dgm:chMax val="7"/>
          <dgm:dir/>
          <dgm:animLvl val="lvl"/>
          <dgm:resizeHandles val="exact"/>
        </dgm:presLayoutVars>
      </dgm:prSet>
      <dgm:spPr/>
    </dgm:pt>
    <dgm:pt modelId="{BF5CE519-0303-A744-892D-6CF27E5E4D64}" type="pres">
      <dgm:prSet presAssocID="{78604162-7F55-C047-BE94-13ED11E97062}" presName="circle1" presStyleLbl="node1" presStyleIdx="0" presStyleCnt="3"/>
      <dgm:spPr>
        <a:solidFill>
          <a:schemeClr val="accent2"/>
        </a:solidFill>
      </dgm:spPr>
    </dgm:pt>
    <dgm:pt modelId="{24D852AE-2FB4-F642-9D5B-4098CEC249D8}" type="pres">
      <dgm:prSet presAssocID="{78604162-7F55-C047-BE94-13ED11E97062}" presName="space" presStyleCnt="0"/>
      <dgm:spPr/>
    </dgm:pt>
    <dgm:pt modelId="{EB9D8600-0FC6-CF44-8D37-7ABEE0F4BC87}" type="pres">
      <dgm:prSet presAssocID="{78604162-7F55-C047-BE94-13ED11E97062}" presName="rect1" presStyleLbl="alignAcc1" presStyleIdx="0" presStyleCnt="3" custLinFactNeighborX="744"/>
      <dgm:spPr/>
    </dgm:pt>
    <dgm:pt modelId="{D3995856-484C-EC4F-92D4-0F7F517BC87B}" type="pres">
      <dgm:prSet presAssocID="{EACD3E88-C1DE-AD4D-ABD5-C72E5F9F6EF2}" presName="vertSpace2" presStyleLbl="node1" presStyleIdx="0" presStyleCnt="3"/>
      <dgm:spPr/>
    </dgm:pt>
    <dgm:pt modelId="{460B7F3E-CECD-1E45-A060-CEEBADF883A5}" type="pres">
      <dgm:prSet presAssocID="{EACD3E88-C1DE-AD4D-ABD5-C72E5F9F6EF2}" presName="circle2" presStyleLbl="node1" presStyleIdx="1" presStyleCnt="3"/>
      <dgm:spPr/>
    </dgm:pt>
    <dgm:pt modelId="{1FEB0DB6-FA4E-CF4E-8B72-2D86613E2D39}" type="pres">
      <dgm:prSet presAssocID="{EACD3E88-C1DE-AD4D-ABD5-C72E5F9F6EF2}" presName="rect2" presStyleLbl="alignAcc1" presStyleIdx="1" presStyleCnt="3" custLinFactNeighborX="744" custLinFactNeighborY="-2110"/>
      <dgm:spPr/>
    </dgm:pt>
    <dgm:pt modelId="{96EB837B-31E5-BF4F-AA22-C7D317AE6937}" type="pres">
      <dgm:prSet presAssocID="{88515058-E016-784D-86C9-F8BFA4539E65}" presName="vertSpace3" presStyleLbl="node1" presStyleIdx="1" presStyleCnt="3"/>
      <dgm:spPr/>
    </dgm:pt>
    <dgm:pt modelId="{D880669A-8623-EE4C-BDCE-31DE7DE25528}" type="pres">
      <dgm:prSet presAssocID="{88515058-E016-784D-86C9-F8BFA4539E65}" presName="circle3" presStyleLbl="node1" presStyleIdx="2" presStyleCnt="3"/>
      <dgm:spPr>
        <a:solidFill>
          <a:schemeClr val="accent4">
            <a:lumMod val="50000"/>
          </a:schemeClr>
        </a:solidFill>
      </dgm:spPr>
    </dgm:pt>
    <dgm:pt modelId="{6773C79A-A7DA-5D43-9C7B-903C427EC509}" type="pres">
      <dgm:prSet presAssocID="{88515058-E016-784D-86C9-F8BFA4539E65}" presName="rect3" presStyleLbl="alignAcc1" presStyleIdx="2" presStyleCnt="3" custScaleX="100000" custLinFactNeighborX="744" custLinFactNeighborY="1458"/>
      <dgm:spPr/>
    </dgm:pt>
    <dgm:pt modelId="{2E67184D-F9BA-A749-88A9-C737856676D7}" type="pres">
      <dgm:prSet presAssocID="{78604162-7F55-C047-BE94-13ED11E97062}" presName="rect1ParTxNoCh" presStyleLbl="alignAcc1" presStyleIdx="2" presStyleCnt="3">
        <dgm:presLayoutVars>
          <dgm:chMax val="1"/>
          <dgm:bulletEnabled val="1"/>
        </dgm:presLayoutVars>
      </dgm:prSet>
      <dgm:spPr/>
    </dgm:pt>
    <dgm:pt modelId="{46B2491C-959D-9341-B5E5-3708E7ECB676}" type="pres">
      <dgm:prSet presAssocID="{EACD3E88-C1DE-AD4D-ABD5-C72E5F9F6EF2}" presName="rect2ParTxNoCh" presStyleLbl="alignAcc1" presStyleIdx="2" presStyleCnt="3">
        <dgm:presLayoutVars>
          <dgm:chMax val="1"/>
          <dgm:bulletEnabled val="1"/>
        </dgm:presLayoutVars>
      </dgm:prSet>
      <dgm:spPr/>
    </dgm:pt>
    <dgm:pt modelId="{217B241A-14AD-BA4F-86DD-0171E3154DEB}" type="pres">
      <dgm:prSet presAssocID="{88515058-E016-784D-86C9-F8BFA4539E65}" presName="rect3ParTxNoCh" presStyleLbl="alignAcc1" presStyleIdx="2" presStyleCnt="3">
        <dgm:presLayoutVars>
          <dgm:chMax val="1"/>
          <dgm:bulletEnabled val="1"/>
        </dgm:presLayoutVars>
      </dgm:prSet>
      <dgm:spPr/>
    </dgm:pt>
  </dgm:ptLst>
  <dgm:cxnLst>
    <dgm:cxn modelId="{9DE49B1B-A120-5942-975D-B7C77A415DC3}" srcId="{7840BB69-795F-DC44-9039-EFE386C8DA42}" destId="{EACD3E88-C1DE-AD4D-ABD5-C72E5F9F6EF2}" srcOrd="1" destOrd="0" parTransId="{B2ACB307-BE4D-F74B-BB65-CD2BA8FAAC9B}" sibTransId="{9BD7C4EC-B487-9B40-959A-D29C0522FA75}"/>
    <dgm:cxn modelId="{90250820-864D-4AD5-A406-3BB2FA3D10E6}" type="presOf" srcId="{88515058-E016-784D-86C9-F8BFA4539E65}" destId="{217B241A-14AD-BA4F-86DD-0171E3154DEB}" srcOrd="1" destOrd="0" presId="urn:microsoft.com/office/officeart/2005/8/layout/target3"/>
    <dgm:cxn modelId="{20DF3F26-527A-4A99-904D-A5DDC06C8FF6}" type="presOf" srcId="{7840BB69-795F-DC44-9039-EFE386C8DA42}" destId="{C45F6EED-CF4E-0E44-92A7-E9EAFC55CADD}" srcOrd="0" destOrd="0" presId="urn:microsoft.com/office/officeart/2005/8/layout/target3"/>
    <dgm:cxn modelId="{1A73B94C-AECB-4F77-B635-A37BC31DC153}" type="presOf" srcId="{88515058-E016-784D-86C9-F8BFA4539E65}" destId="{6773C79A-A7DA-5D43-9C7B-903C427EC509}" srcOrd="0" destOrd="0" presId="urn:microsoft.com/office/officeart/2005/8/layout/target3"/>
    <dgm:cxn modelId="{1DCEE6A2-0835-4DA4-AC18-4ED303E3EB63}" type="presOf" srcId="{78604162-7F55-C047-BE94-13ED11E97062}" destId="{EB9D8600-0FC6-CF44-8D37-7ABEE0F4BC87}" srcOrd="0" destOrd="0" presId="urn:microsoft.com/office/officeart/2005/8/layout/target3"/>
    <dgm:cxn modelId="{0A93D2C4-7FCD-4939-B755-8240BB36E6C0}" type="presOf" srcId="{EACD3E88-C1DE-AD4D-ABD5-C72E5F9F6EF2}" destId="{1FEB0DB6-FA4E-CF4E-8B72-2D86613E2D39}" srcOrd="0" destOrd="0" presId="urn:microsoft.com/office/officeart/2005/8/layout/target3"/>
    <dgm:cxn modelId="{A159FBC6-82BD-4820-B06A-3D3C0C332033}" type="presOf" srcId="{EACD3E88-C1DE-AD4D-ABD5-C72E5F9F6EF2}" destId="{46B2491C-959D-9341-B5E5-3708E7ECB676}" srcOrd="1" destOrd="0" presId="urn:microsoft.com/office/officeart/2005/8/layout/target3"/>
    <dgm:cxn modelId="{F269C7C7-02E8-7144-85BC-5A10F1C0EBED}" srcId="{7840BB69-795F-DC44-9039-EFE386C8DA42}" destId="{78604162-7F55-C047-BE94-13ED11E97062}" srcOrd="0" destOrd="0" parTransId="{633A7DFD-9686-A442-916C-11E66333C626}" sibTransId="{DA04DC4C-5D65-2448-AC1C-B6B53BDD2F97}"/>
    <dgm:cxn modelId="{98C3FCD3-7066-4056-B85F-AEA251E306F3}" type="presOf" srcId="{78604162-7F55-C047-BE94-13ED11E97062}" destId="{2E67184D-F9BA-A749-88A9-C737856676D7}" srcOrd="1" destOrd="0" presId="urn:microsoft.com/office/officeart/2005/8/layout/target3"/>
    <dgm:cxn modelId="{5AC8B4FA-211D-824C-AFE4-280EDC6B5987}" srcId="{7840BB69-795F-DC44-9039-EFE386C8DA42}" destId="{88515058-E016-784D-86C9-F8BFA4539E65}" srcOrd="2" destOrd="0" parTransId="{0F303553-D7CD-8346-83F5-CE5CF40836AA}" sibTransId="{1CC71872-B62A-1840-9C56-D71664F86403}"/>
    <dgm:cxn modelId="{9BE5EA6C-5040-4EF4-AC7A-93E883315590}" type="presParOf" srcId="{C45F6EED-CF4E-0E44-92A7-E9EAFC55CADD}" destId="{BF5CE519-0303-A744-892D-6CF27E5E4D64}" srcOrd="0" destOrd="0" presId="urn:microsoft.com/office/officeart/2005/8/layout/target3"/>
    <dgm:cxn modelId="{8C2784E9-E273-4B23-861E-4F4461422885}" type="presParOf" srcId="{C45F6EED-CF4E-0E44-92A7-E9EAFC55CADD}" destId="{24D852AE-2FB4-F642-9D5B-4098CEC249D8}" srcOrd="1" destOrd="0" presId="urn:microsoft.com/office/officeart/2005/8/layout/target3"/>
    <dgm:cxn modelId="{A9D3F2FB-0005-40CF-AFFC-A996BFFCB172}" type="presParOf" srcId="{C45F6EED-CF4E-0E44-92A7-E9EAFC55CADD}" destId="{EB9D8600-0FC6-CF44-8D37-7ABEE0F4BC87}" srcOrd="2" destOrd="0" presId="urn:microsoft.com/office/officeart/2005/8/layout/target3"/>
    <dgm:cxn modelId="{57BD2A96-AB65-4B9C-839D-E836EC58E93E}" type="presParOf" srcId="{C45F6EED-CF4E-0E44-92A7-E9EAFC55CADD}" destId="{D3995856-484C-EC4F-92D4-0F7F517BC87B}" srcOrd="3" destOrd="0" presId="urn:microsoft.com/office/officeart/2005/8/layout/target3"/>
    <dgm:cxn modelId="{01C1155E-F4F3-4EBA-91B6-FF85B347917C}" type="presParOf" srcId="{C45F6EED-CF4E-0E44-92A7-E9EAFC55CADD}" destId="{460B7F3E-CECD-1E45-A060-CEEBADF883A5}" srcOrd="4" destOrd="0" presId="urn:microsoft.com/office/officeart/2005/8/layout/target3"/>
    <dgm:cxn modelId="{AE36FF4E-CC18-43DE-BA86-7AA1C3E5B0F4}" type="presParOf" srcId="{C45F6EED-CF4E-0E44-92A7-E9EAFC55CADD}" destId="{1FEB0DB6-FA4E-CF4E-8B72-2D86613E2D39}" srcOrd="5" destOrd="0" presId="urn:microsoft.com/office/officeart/2005/8/layout/target3"/>
    <dgm:cxn modelId="{096E6DC1-B8D1-4C4B-9488-B41C2E75B72E}" type="presParOf" srcId="{C45F6EED-CF4E-0E44-92A7-E9EAFC55CADD}" destId="{96EB837B-31E5-BF4F-AA22-C7D317AE6937}" srcOrd="6" destOrd="0" presId="urn:microsoft.com/office/officeart/2005/8/layout/target3"/>
    <dgm:cxn modelId="{517BB7D8-E924-4175-8A5C-4F9BFD6459EC}" type="presParOf" srcId="{C45F6EED-CF4E-0E44-92A7-E9EAFC55CADD}" destId="{D880669A-8623-EE4C-BDCE-31DE7DE25528}" srcOrd="7" destOrd="0" presId="urn:microsoft.com/office/officeart/2005/8/layout/target3"/>
    <dgm:cxn modelId="{3928B011-0E7D-40EA-BEE9-FC40F5EC7860}" type="presParOf" srcId="{C45F6EED-CF4E-0E44-92A7-E9EAFC55CADD}" destId="{6773C79A-A7DA-5D43-9C7B-903C427EC509}" srcOrd="8" destOrd="0" presId="urn:microsoft.com/office/officeart/2005/8/layout/target3"/>
    <dgm:cxn modelId="{B7A13947-D3BF-4C3A-B443-33AABF976E82}" type="presParOf" srcId="{C45F6EED-CF4E-0E44-92A7-E9EAFC55CADD}" destId="{2E67184D-F9BA-A749-88A9-C737856676D7}" srcOrd="9" destOrd="0" presId="urn:microsoft.com/office/officeart/2005/8/layout/target3"/>
    <dgm:cxn modelId="{BC78228C-CD71-43BF-A597-F31BCB028C90}" type="presParOf" srcId="{C45F6EED-CF4E-0E44-92A7-E9EAFC55CADD}" destId="{46B2491C-959D-9341-B5E5-3708E7ECB676}" srcOrd="10" destOrd="0" presId="urn:microsoft.com/office/officeart/2005/8/layout/target3"/>
    <dgm:cxn modelId="{50739B5D-F77F-4A30-AB88-3604FCBEA97E}" type="presParOf" srcId="{C45F6EED-CF4E-0E44-92A7-E9EAFC55CADD}" destId="{217B241A-14AD-BA4F-86DD-0171E3154DEB}" srcOrd="11"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98AE4072-F77B-E644-8EC3-A44242BAF959}" type="doc">
      <dgm:prSet loTypeId="urn:microsoft.com/office/officeart/2005/8/layout/hierarchy1" loCatId="hierarchy" qsTypeId="urn:microsoft.com/office/officeart/2005/8/quickstyle/simple4" qsCatId="simple" csTypeId="urn:microsoft.com/office/officeart/2005/8/colors/accent1_2" csCatId="accent1" phldr="1"/>
      <dgm:spPr/>
      <dgm:t>
        <a:bodyPr/>
        <a:lstStyle/>
        <a:p>
          <a:endParaRPr lang="en-US"/>
        </a:p>
      </dgm:t>
    </dgm:pt>
    <dgm:pt modelId="{87930E8F-66FB-F24D-9A43-D34E6297C7FD}">
      <dgm:prSet phldrT="[Text]"/>
      <dgm:spPr/>
      <dgm:t>
        <a:bodyPr/>
        <a:lstStyle/>
        <a:p>
          <a:r>
            <a:rPr lang="en-US" dirty="0">
              <a:solidFill>
                <a:schemeClr val="tx2">
                  <a:lumMod val="10000"/>
                </a:schemeClr>
              </a:solidFill>
            </a:rPr>
            <a:t>Programs can present two kinds of threats:</a:t>
          </a:r>
          <a:endParaRPr lang="en-US" dirty="0"/>
        </a:p>
      </dgm:t>
    </dgm:pt>
    <dgm:pt modelId="{50BC9B20-80D7-2F4D-A09E-7ED0A09B1CB2}" type="parTrans" cxnId="{C463C32F-4912-804B-BA12-C10ABD7FFB8D}">
      <dgm:prSet/>
      <dgm:spPr/>
      <dgm:t>
        <a:bodyPr/>
        <a:lstStyle/>
        <a:p>
          <a:endParaRPr lang="en-US"/>
        </a:p>
      </dgm:t>
    </dgm:pt>
    <dgm:pt modelId="{625227ED-4B6C-314C-B8FA-25ED872C1F69}" type="sibTrans" cxnId="{C463C32F-4912-804B-BA12-C10ABD7FFB8D}">
      <dgm:prSet/>
      <dgm:spPr/>
      <dgm:t>
        <a:bodyPr/>
        <a:lstStyle/>
        <a:p>
          <a:endParaRPr lang="en-US"/>
        </a:p>
      </dgm:t>
    </dgm:pt>
    <dgm:pt modelId="{4695AAD8-AD91-7D40-B4FC-00499CEDC716}">
      <dgm:prSet/>
      <dgm:spPr/>
      <dgm:t>
        <a:bodyPr/>
        <a:lstStyle/>
        <a:p>
          <a:r>
            <a:rPr lang="en-US" dirty="0">
              <a:solidFill>
                <a:schemeClr val="tx2">
                  <a:lumMod val="10000"/>
                </a:schemeClr>
              </a:solidFill>
            </a:rPr>
            <a:t>Information access threats</a:t>
          </a:r>
        </a:p>
      </dgm:t>
    </dgm:pt>
    <dgm:pt modelId="{04DA2B8C-ACEE-C941-9481-D8F43D789016}" type="parTrans" cxnId="{788E3750-A6E4-D64C-8359-FE7546404BBE}">
      <dgm:prSet/>
      <dgm:spPr/>
      <dgm:t>
        <a:bodyPr/>
        <a:lstStyle/>
        <a:p>
          <a:endParaRPr lang="en-US"/>
        </a:p>
      </dgm:t>
    </dgm:pt>
    <dgm:pt modelId="{36365871-9C5D-3840-A1EE-9A75B4AF5B1D}" type="sibTrans" cxnId="{788E3750-A6E4-D64C-8359-FE7546404BBE}">
      <dgm:prSet/>
      <dgm:spPr/>
      <dgm:t>
        <a:bodyPr/>
        <a:lstStyle/>
        <a:p>
          <a:endParaRPr lang="en-US"/>
        </a:p>
      </dgm:t>
    </dgm:pt>
    <dgm:pt modelId="{219A4243-91B0-0D4D-8D93-E6C1610370BF}">
      <dgm:prSet/>
      <dgm:spPr/>
      <dgm:t>
        <a:bodyPr/>
        <a:lstStyle/>
        <a:p>
          <a:r>
            <a:rPr lang="en-US" dirty="0">
              <a:solidFill>
                <a:schemeClr val="tx2">
                  <a:lumMod val="10000"/>
                </a:schemeClr>
              </a:solidFill>
            </a:rPr>
            <a:t>Intercept or modify data on behalf of users who should not have access to that data</a:t>
          </a:r>
        </a:p>
      </dgm:t>
    </dgm:pt>
    <dgm:pt modelId="{F99755C1-F316-E14E-8541-48303104939E}" type="parTrans" cxnId="{886F5A8D-FB22-0F48-BBB3-20605259D29E}">
      <dgm:prSet/>
      <dgm:spPr/>
      <dgm:t>
        <a:bodyPr/>
        <a:lstStyle/>
        <a:p>
          <a:endParaRPr lang="en-US"/>
        </a:p>
      </dgm:t>
    </dgm:pt>
    <dgm:pt modelId="{25CA98A9-EE92-894B-829E-BA706E818CEB}" type="sibTrans" cxnId="{886F5A8D-FB22-0F48-BBB3-20605259D29E}">
      <dgm:prSet/>
      <dgm:spPr/>
      <dgm:t>
        <a:bodyPr/>
        <a:lstStyle/>
        <a:p>
          <a:endParaRPr lang="en-US"/>
        </a:p>
      </dgm:t>
    </dgm:pt>
    <dgm:pt modelId="{1035DEF2-1D2F-4242-950C-A99A67C59A8F}">
      <dgm:prSet/>
      <dgm:spPr/>
      <dgm:t>
        <a:bodyPr/>
        <a:lstStyle/>
        <a:p>
          <a:r>
            <a:rPr lang="en-US" dirty="0">
              <a:solidFill>
                <a:schemeClr val="tx2">
                  <a:lumMod val="10000"/>
                </a:schemeClr>
              </a:solidFill>
            </a:rPr>
            <a:t>Service threats</a:t>
          </a:r>
        </a:p>
      </dgm:t>
    </dgm:pt>
    <dgm:pt modelId="{78B7C298-D99C-BC4A-B9C3-716FA65115AB}" type="parTrans" cxnId="{FE3ADCC6-B4FD-AE44-A17B-E00D5DC96E6E}">
      <dgm:prSet/>
      <dgm:spPr/>
      <dgm:t>
        <a:bodyPr/>
        <a:lstStyle/>
        <a:p>
          <a:endParaRPr lang="en-US"/>
        </a:p>
      </dgm:t>
    </dgm:pt>
    <dgm:pt modelId="{B45DD3AC-343D-A442-BC03-973B21307668}" type="sibTrans" cxnId="{FE3ADCC6-B4FD-AE44-A17B-E00D5DC96E6E}">
      <dgm:prSet/>
      <dgm:spPr/>
      <dgm:t>
        <a:bodyPr/>
        <a:lstStyle/>
        <a:p>
          <a:endParaRPr lang="en-US"/>
        </a:p>
      </dgm:t>
    </dgm:pt>
    <dgm:pt modelId="{0E0BEB94-5946-2F4C-8BCF-8DB86F5D2512}">
      <dgm:prSet/>
      <dgm:spPr/>
      <dgm:t>
        <a:bodyPr/>
        <a:lstStyle/>
        <a:p>
          <a:r>
            <a:rPr lang="en-US" dirty="0">
              <a:solidFill>
                <a:schemeClr val="tx2">
                  <a:lumMod val="10000"/>
                </a:schemeClr>
              </a:solidFill>
            </a:rPr>
            <a:t>Exploit service flaws in computers to inhibit use by legitimate users</a:t>
          </a:r>
        </a:p>
      </dgm:t>
    </dgm:pt>
    <dgm:pt modelId="{B7004A80-F4CF-444C-86EA-EE626C2BE442}" type="parTrans" cxnId="{787E406F-FE8A-F347-A3A7-D4E65B9BBD13}">
      <dgm:prSet/>
      <dgm:spPr/>
      <dgm:t>
        <a:bodyPr/>
        <a:lstStyle/>
        <a:p>
          <a:endParaRPr lang="en-US"/>
        </a:p>
      </dgm:t>
    </dgm:pt>
    <dgm:pt modelId="{A22F6465-5966-D84B-AF87-2BF6BCDC94AD}" type="sibTrans" cxnId="{787E406F-FE8A-F347-A3A7-D4E65B9BBD13}">
      <dgm:prSet/>
      <dgm:spPr/>
      <dgm:t>
        <a:bodyPr/>
        <a:lstStyle/>
        <a:p>
          <a:endParaRPr lang="en-US"/>
        </a:p>
      </dgm:t>
    </dgm:pt>
    <dgm:pt modelId="{48DE3BBB-5FB0-5549-9D06-E2A683113E94}" type="pres">
      <dgm:prSet presAssocID="{98AE4072-F77B-E644-8EC3-A44242BAF959}" presName="hierChild1" presStyleCnt="0">
        <dgm:presLayoutVars>
          <dgm:chPref val="1"/>
          <dgm:dir/>
          <dgm:animOne val="branch"/>
          <dgm:animLvl val="lvl"/>
          <dgm:resizeHandles/>
        </dgm:presLayoutVars>
      </dgm:prSet>
      <dgm:spPr/>
    </dgm:pt>
    <dgm:pt modelId="{9E3052B4-0FD9-BB43-8731-6745FD5E7582}" type="pres">
      <dgm:prSet presAssocID="{87930E8F-66FB-F24D-9A43-D34E6297C7FD}" presName="hierRoot1" presStyleCnt="0"/>
      <dgm:spPr/>
    </dgm:pt>
    <dgm:pt modelId="{EE0D0BBB-C5FA-C44A-BCF0-A3A43F4910C9}" type="pres">
      <dgm:prSet presAssocID="{87930E8F-66FB-F24D-9A43-D34E6297C7FD}" presName="composite" presStyleCnt="0"/>
      <dgm:spPr/>
    </dgm:pt>
    <dgm:pt modelId="{1839A7A8-B27F-2946-BE3C-398441DF248B}" type="pres">
      <dgm:prSet presAssocID="{87930E8F-66FB-F24D-9A43-D34E6297C7FD}" presName="background" presStyleLbl="node0" presStyleIdx="0" presStyleCnt="1"/>
      <dgm:spPr/>
    </dgm:pt>
    <dgm:pt modelId="{22F77FF9-9B32-D442-BE62-24401B675670}" type="pres">
      <dgm:prSet presAssocID="{87930E8F-66FB-F24D-9A43-D34E6297C7FD}" presName="text" presStyleLbl="fgAcc0" presStyleIdx="0" presStyleCnt="1">
        <dgm:presLayoutVars>
          <dgm:chPref val="3"/>
        </dgm:presLayoutVars>
      </dgm:prSet>
      <dgm:spPr/>
    </dgm:pt>
    <dgm:pt modelId="{F152B7D9-8CA5-2944-B011-8120A955F98D}" type="pres">
      <dgm:prSet presAssocID="{87930E8F-66FB-F24D-9A43-D34E6297C7FD}" presName="hierChild2" presStyleCnt="0"/>
      <dgm:spPr/>
    </dgm:pt>
    <dgm:pt modelId="{76338268-0505-AF49-8C0C-9B19AB44EA57}" type="pres">
      <dgm:prSet presAssocID="{04DA2B8C-ACEE-C941-9481-D8F43D789016}" presName="Name10" presStyleLbl="parChTrans1D2" presStyleIdx="0" presStyleCnt="2"/>
      <dgm:spPr/>
    </dgm:pt>
    <dgm:pt modelId="{0ED46785-C589-E942-98DE-014255B306FE}" type="pres">
      <dgm:prSet presAssocID="{4695AAD8-AD91-7D40-B4FC-00499CEDC716}" presName="hierRoot2" presStyleCnt="0"/>
      <dgm:spPr/>
    </dgm:pt>
    <dgm:pt modelId="{9CA114A5-1BCC-B149-9A73-5D9F181698D8}" type="pres">
      <dgm:prSet presAssocID="{4695AAD8-AD91-7D40-B4FC-00499CEDC716}" presName="composite2" presStyleCnt="0"/>
      <dgm:spPr/>
    </dgm:pt>
    <dgm:pt modelId="{D7579396-6052-5946-ABDC-400A65111B84}" type="pres">
      <dgm:prSet presAssocID="{4695AAD8-AD91-7D40-B4FC-00499CEDC716}" presName="background2" presStyleLbl="node2" presStyleIdx="0" presStyleCnt="2"/>
      <dgm:spPr/>
    </dgm:pt>
    <dgm:pt modelId="{8581194E-B1F8-854E-9E64-152BD71530DA}" type="pres">
      <dgm:prSet presAssocID="{4695AAD8-AD91-7D40-B4FC-00499CEDC716}" presName="text2" presStyleLbl="fgAcc2" presStyleIdx="0" presStyleCnt="2">
        <dgm:presLayoutVars>
          <dgm:chPref val="3"/>
        </dgm:presLayoutVars>
      </dgm:prSet>
      <dgm:spPr/>
    </dgm:pt>
    <dgm:pt modelId="{FAE0BF81-C44E-7F40-81AE-93881D3CCC0E}" type="pres">
      <dgm:prSet presAssocID="{4695AAD8-AD91-7D40-B4FC-00499CEDC716}" presName="hierChild3" presStyleCnt="0"/>
      <dgm:spPr/>
    </dgm:pt>
    <dgm:pt modelId="{A3BF2B39-99C1-5341-A628-0809CD7118B1}" type="pres">
      <dgm:prSet presAssocID="{F99755C1-F316-E14E-8541-48303104939E}" presName="Name17" presStyleLbl="parChTrans1D3" presStyleIdx="0" presStyleCnt="2"/>
      <dgm:spPr/>
    </dgm:pt>
    <dgm:pt modelId="{31309DD4-1289-8C4B-B7C2-39E0083DB801}" type="pres">
      <dgm:prSet presAssocID="{219A4243-91B0-0D4D-8D93-E6C1610370BF}" presName="hierRoot3" presStyleCnt="0"/>
      <dgm:spPr/>
    </dgm:pt>
    <dgm:pt modelId="{30ED9948-7B89-F44F-828A-B61739911AE6}" type="pres">
      <dgm:prSet presAssocID="{219A4243-91B0-0D4D-8D93-E6C1610370BF}" presName="composite3" presStyleCnt="0"/>
      <dgm:spPr/>
    </dgm:pt>
    <dgm:pt modelId="{F9BC914F-03DF-FE43-BAF2-248CC08D8422}" type="pres">
      <dgm:prSet presAssocID="{219A4243-91B0-0D4D-8D93-E6C1610370BF}" presName="background3" presStyleLbl="node3" presStyleIdx="0" presStyleCnt="2"/>
      <dgm:spPr/>
    </dgm:pt>
    <dgm:pt modelId="{319888DA-16AF-3940-9656-76E1E8BCC9D7}" type="pres">
      <dgm:prSet presAssocID="{219A4243-91B0-0D4D-8D93-E6C1610370BF}" presName="text3" presStyleLbl="fgAcc3" presStyleIdx="0" presStyleCnt="2">
        <dgm:presLayoutVars>
          <dgm:chPref val="3"/>
        </dgm:presLayoutVars>
      </dgm:prSet>
      <dgm:spPr/>
    </dgm:pt>
    <dgm:pt modelId="{96F7F785-D4E5-514F-96D4-A54FCA3C78D1}" type="pres">
      <dgm:prSet presAssocID="{219A4243-91B0-0D4D-8D93-E6C1610370BF}" presName="hierChild4" presStyleCnt="0"/>
      <dgm:spPr/>
    </dgm:pt>
    <dgm:pt modelId="{08F647C8-2429-9C46-BFB6-CCC81EF660EE}" type="pres">
      <dgm:prSet presAssocID="{78B7C298-D99C-BC4A-B9C3-716FA65115AB}" presName="Name10" presStyleLbl="parChTrans1D2" presStyleIdx="1" presStyleCnt="2"/>
      <dgm:spPr/>
    </dgm:pt>
    <dgm:pt modelId="{842075A8-B6C1-1A48-9BE7-9D14B3EDF98D}" type="pres">
      <dgm:prSet presAssocID="{1035DEF2-1D2F-4242-950C-A99A67C59A8F}" presName="hierRoot2" presStyleCnt="0"/>
      <dgm:spPr/>
    </dgm:pt>
    <dgm:pt modelId="{EE9FBB0A-517E-B34F-9ABF-D2C4501E14FE}" type="pres">
      <dgm:prSet presAssocID="{1035DEF2-1D2F-4242-950C-A99A67C59A8F}" presName="composite2" presStyleCnt="0"/>
      <dgm:spPr/>
    </dgm:pt>
    <dgm:pt modelId="{3C0EDC99-CB20-8640-A010-DB0A1A7E75AF}" type="pres">
      <dgm:prSet presAssocID="{1035DEF2-1D2F-4242-950C-A99A67C59A8F}" presName="background2" presStyleLbl="node2" presStyleIdx="1" presStyleCnt="2"/>
      <dgm:spPr/>
    </dgm:pt>
    <dgm:pt modelId="{B5792EAB-C8CC-5E4A-AD28-67EC352D8E77}" type="pres">
      <dgm:prSet presAssocID="{1035DEF2-1D2F-4242-950C-A99A67C59A8F}" presName="text2" presStyleLbl="fgAcc2" presStyleIdx="1" presStyleCnt="2">
        <dgm:presLayoutVars>
          <dgm:chPref val="3"/>
        </dgm:presLayoutVars>
      </dgm:prSet>
      <dgm:spPr/>
    </dgm:pt>
    <dgm:pt modelId="{89E0AFF5-694C-534A-9AFE-FFBB7092FE89}" type="pres">
      <dgm:prSet presAssocID="{1035DEF2-1D2F-4242-950C-A99A67C59A8F}" presName="hierChild3" presStyleCnt="0"/>
      <dgm:spPr/>
    </dgm:pt>
    <dgm:pt modelId="{03AABF04-8C9F-1346-AB4B-299758F2A5AC}" type="pres">
      <dgm:prSet presAssocID="{B7004A80-F4CF-444C-86EA-EE626C2BE442}" presName="Name17" presStyleLbl="parChTrans1D3" presStyleIdx="1" presStyleCnt="2"/>
      <dgm:spPr/>
    </dgm:pt>
    <dgm:pt modelId="{7B48EBC2-F5C7-7F4A-94DE-4DD49DACAF21}" type="pres">
      <dgm:prSet presAssocID="{0E0BEB94-5946-2F4C-8BCF-8DB86F5D2512}" presName="hierRoot3" presStyleCnt="0"/>
      <dgm:spPr/>
    </dgm:pt>
    <dgm:pt modelId="{8B33ED78-865F-1A49-8601-5778B931A926}" type="pres">
      <dgm:prSet presAssocID="{0E0BEB94-5946-2F4C-8BCF-8DB86F5D2512}" presName="composite3" presStyleCnt="0"/>
      <dgm:spPr/>
    </dgm:pt>
    <dgm:pt modelId="{9B9379ED-0AC4-B540-99BA-6048F8DA5435}" type="pres">
      <dgm:prSet presAssocID="{0E0BEB94-5946-2F4C-8BCF-8DB86F5D2512}" presName="background3" presStyleLbl="node3" presStyleIdx="1" presStyleCnt="2"/>
      <dgm:spPr/>
    </dgm:pt>
    <dgm:pt modelId="{560C05AD-5FB1-D94B-B0EE-3AEC0E6178C9}" type="pres">
      <dgm:prSet presAssocID="{0E0BEB94-5946-2F4C-8BCF-8DB86F5D2512}" presName="text3" presStyleLbl="fgAcc3" presStyleIdx="1" presStyleCnt="2">
        <dgm:presLayoutVars>
          <dgm:chPref val="3"/>
        </dgm:presLayoutVars>
      </dgm:prSet>
      <dgm:spPr/>
    </dgm:pt>
    <dgm:pt modelId="{42796745-ED71-6246-B19F-A4B00961BE0C}" type="pres">
      <dgm:prSet presAssocID="{0E0BEB94-5946-2F4C-8BCF-8DB86F5D2512}" presName="hierChild4" presStyleCnt="0"/>
      <dgm:spPr/>
    </dgm:pt>
  </dgm:ptLst>
  <dgm:cxnLst>
    <dgm:cxn modelId="{CA9A4D09-2373-4D4B-91C6-D5C60616AA20}" type="presOf" srcId="{F99755C1-F316-E14E-8541-48303104939E}" destId="{A3BF2B39-99C1-5341-A628-0809CD7118B1}" srcOrd="0" destOrd="0" presId="urn:microsoft.com/office/officeart/2005/8/layout/hierarchy1"/>
    <dgm:cxn modelId="{9946100A-B345-41FB-9437-B49997273753}" type="presOf" srcId="{04DA2B8C-ACEE-C941-9481-D8F43D789016}" destId="{76338268-0505-AF49-8C0C-9B19AB44EA57}" srcOrd="0" destOrd="0" presId="urn:microsoft.com/office/officeart/2005/8/layout/hierarchy1"/>
    <dgm:cxn modelId="{95024425-98CD-4C66-9326-FD8389C674B4}" type="presOf" srcId="{78B7C298-D99C-BC4A-B9C3-716FA65115AB}" destId="{08F647C8-2429-9C46-BFB6-CCC81EF660EE}" srcOrd="0" destOrd="0" presId="urn:microsoft.com/office/officeart/2005/8/layout/hierarchy1"/>
    <dgm:cxn modelId="{4FBEE325-6A1D-4C76-888C-4D550C2C68C1}" type="presOf" srcId="{B7004A80-F4CF-444C-86EA-EE626C2BE442}" destId="{03AABF04-8C9F-1346-AB4B-299758F2A5AC}" srcOrd="0" destOrd="0" presId="urn:microsoft.com/office/officeart/2005/8/layout/hierarchy1"/>
    <dgm:cxn modelId="{095FF32A-0AAD-47BF-B886-1ED648C629F3}" type="presOf" srcId="{87930E8F-66FB-F24D-9A43-D34E6297C7FD}" destId="{22F77FF9-9B32-D442-BE62-24401B675670}" srcOrd="0" destOrd="0" presId="urn:microsoft.com/office/officeart/2005/8/layout/hierarchy1"/>
    <dgm:cxn modelId="{C463C32F-4912-804B-BA12-C10ABD7FFB8D}" srcId="{98AE4072-F77B-E644-8EC3-A44242BAF959}" destId="{87930E8F-66FB-F24D-9A43-D34E6297C7FD}" srcOrd="0" destOrd="0" parTransId="{50BC9B20-80D7-2F4D-A09E-7ED0A09B1CB2}" sibTransId="{625227ED-4B6C-314C-B8FA-25ED872C1F69}"/>
    <dgm:cxn modelId="{DAB2E33C-1379-456C-BDA0-B557764B9341}" type="presOf" srcId="{4695AAD8-AD91-7D40-B4FC-00499CEDC716}" destId="{8581194E-B1F8-854E-9E64-152BD71530DA}" srcOrd="0" destOrd="0" presId="urn:microsoft.com/office/officeart/2005/8/layout/hierarchy1"/>
    <dgm:cxn modelId="{787E406F-FE8A-F347-A3A7-D4E65B9BBD13}" srcId="{1035DEF2-1D2F-4242-950C-A99A67C59A8F}" destId="{0E0BEB94-5946-2F4C-8BCF-8DB86F5D2512}" srcOrd="0" destOrd="0" parTransId="{B7004A80-F4CF-444C-86EA-EE626C2BE442}" sibTransId="{A22F6465-5966-D84B-AF87-2BF6BCDC94AD}"/>
    <dgm:cxn modelId="{788E3750-A6E4-D64C-8359-FE7546404BBE}" srcId="{87930E8F-66FB-F24D-9A43-D34E6297C7FD}" destId="{4695AAD8-AD91-7D40-B4FC-00499CEDC716}" srcOrd="0" destOrd="0" parTransId="{04DA2B8C-ACEE-C941-9481-D8F43D789016}" sibTransId="{36365871-9C5D-3840-A1EE-9A75B4AF5B1D}"/>
    <dgm:cxn modelId="{7B30AF53-0C78-4287-853F-9B054F314D5C}" type="presOf" srcId="{219A4243-91B0-0D4D-8D93-E6C1610370BF}" destId="{319888DA-16AF-3940-9656-76E1E8BCC9D7}" srcOrd="0" destOrd="0" presId="urn:microsoft.com/office/officeart/2005/8/layout/hierarchy1"/>
    <dgm:cxn modelId="{886F5A8D-FB22-0F48-BBB3-20605259D29E}" srcId="{4695AAD8-AD91-7D40-B4FC-00499CEDC716}" destId="{219A4243-91B0-0D4D-8D93-E6C1610370BF}" srcOrd="0" destOrd="0" parTransId="{F99755C1-F316-E14E-8541-48303104939E}" sibTransId="{25CA98A9-EE92-894B-829E-BA706E818CEB}"/>
    <dgm:cxn modelId="{FE3ADCC6-B4FD-AE44-A17B-E00D5DC96E6E}" srcId="{87930E8F-66FB-F24D-9A43-D34E6297C7FD}" destId="{1035DEF2-1D2F-4242-950C-A99A67C59A8F}" srcOrd="1" destOrd="0" parTransId="{78B7C298-D99C-BC4A-B9C3-716FA65115AB}" sibTransId="{B45DD3AC-343D-A442-BC03-973B21307668}"/>
    <dgm:cxn modelId="{8134E8CF-F9DE-4085-A429-6B53F2978621}" type="presOf" srcId="{98AE4072-F77B-E644-8EC3-A44242BAF959}" destId="{48DE3BBB-5FB0-5549-9D06-E2A683113E94}" srcOrd="0" destOrd="0" presId="urn:microsoft.com/office/officeart/2005/8/layout/hierarchy1"/>
    <dgm:cxn modelId="{03D9CADE-D366-4ABA-B8B5-D3B3AEB312FD}" type="presOf" srcId="{1035DEF2-1D2F-4242-950C-A99A67C59A8F}" destId="{B5792EAB-C8CC-5E4A-AD28-67EC352D8E77}" srcOrd="0" destOrd="0" presId="urn:microsoft.com/office/officeart/2005/8/layout/hierarchy1"/>
    <dgm:cxn modelId="{7C6DD0EF-4C66-4214-B226-115A36D1DFBF}" type="presOf" srcId="{0E0BEB94-5946-2F4C-8BCF-8DB86F5D2512}" destId="{560C05AD-5FB1-D94B-B0EE-3AEC0E6178C9}" srcOrd="0" destOrd="0" presId="urn:microsoft.com/office/officeart/2005/8/layout/hierarchy1"/>
    <dgm:cxn modelId="{0C36151C-B033-42EB-9EE0-D6942E8F6503}" type="presParOf" srcId="{48DE3BBB-5FB0-5549-9D06-E2A683113E94}" destId="{9E3052B4-0FD9-BB43-8731-6745FD5E7582}" srcOrd="0" destOrd="0" presId="urn:microsoft.com/office/officeart/2005/8/layout/hierarchy1"/>
    <dgm:cxn modelId="{56610723-0956-4CA0-AF76-3DCE62E9659F}" type="presParOf" srcId="{9E3052B4-0FD9-BB43-8731-6745FD5E7582}" destId="{EE0D0BBB-C5FA-C44A-BCF0-A3A43F4910C9}" srcOrd="0" destOrd="0" presId="urn:microsoft.com/office/officeart/2005/8/layout/hierarchy1"/>
    <dgm:cxn modelId="{72740F1A-B81B-44AC-A660-9898D16FEA02}" type="presParOf" srcId="{EE0D0BBB-C5FA-C44A-BCF0-A3A43F4910C9}" destId="{1839A7A8-B27F-2946-BE3C-398441DF248B}" srcOrd="0" destOrd="0" presId="urn:microsoft.com/office/officeart/2005/8/layout/hierarchy1"/>
    <dgm:cxn modelId="{1D1AB143-07D9-4728-AA2A-01215CCF376A}" type="presParOf" srcId="{EE0D0BBB-C5FA-C44A-BCF0-A3A43F4910C9}" destId="{22F77FF9-9B32-D442-BE62-24401B675670}" srcOrd="1" destOrd="0" presId="urn:microsoft.com/office/officeart/2005/8/layout/hierarchy1"/>
    <dgm:cxn modelId="{DC23A396-BB31-44C8-A76D-0C57C58BCA79}" type="presParOf" srcId="{9E3052B4-0FD9-BB43-8731-6745FD5E7582}" destId="{F152B7D9-8CA5-2944-B011-8120A955F98D}" srcOrd="1" destOrd="0" presId="urn:microsoft.com/office/officeart/2005/8/layout/hierarchy1"/>
    <dgm:cxn modelId="{E0104AA4-B731-47F5-AC25-2118172D9FE3}" type="presParOf" srcId="{F152B7D9-8CA5-2944-B011-8120A955F98D}" destId="{76338268-0505-AF49-8C0C-9B19AB44EA57}" srcOrd="0" destOrd="0" presId="urn:microsoft.com/office/officeart/2005/8/layout/hierarchy1"/>
    <dgm:cxn modelId="{036D4189-DD8C-4B4F-90D8-07F8F283638D}" type="presParOf" srcId="{F152B7D9-8CA5-2944-B011-8120A955F98D}" destId="{0ED46785-C589-E942-98DE-014255B306FE}" srcOrd="1" destOrd="0" presId="urn:microsoft.com/office/officeart/2005/8/layout/hierarchy1"/>
    <dgm:cxn modelId="{A3704864-0029-41A8-895C-DA1113440770}" type="presParOf" srcId="{0ED46785-C589-E942-98DE-014255B306FE}" destId="{9CA114A5-1BCC-B149-9A73-5D9F181698D8}" srcOrd="0" destOrd="0" presId="urn:microsoft.com/office/officeart/2005/8/layout/hierarchy1"/>
    <dgm:cxn modelId="{411F71E9-32DD-4CFF-AEBD-19D49EFF3FCB}" type="presParOf" srcId="{9CA114A5-1BCC-B149-9A73-5D9F181698D8}" destId="{D7579396-6052-5946-ABDC-400A65111B84}" srcOrd="0" destOrd="0" presId="urn:microsoft.com/office/officeart/2005/8/layout/hierarchy1"/>
    <dgm:cxn modelId="{157245BA-D0E8-446E-A5EB-5F30BD641B66}" type="presParOf" srcId="{9CA114A5-1BCC-B149-9A73-5D9F181698D8}" destId="{8581194E-B1F8-854E-9E64-152BD71530DA}" srcOrd="1" destOrd="0" presId="urn:microsoft.com/office/officeart/2005/8/layout/hierarchy1"/>
    <dgm:cxn modelId="{3A1A9809-44AF-4BF6-9281-38A8EC65F3D3}" type="presParOf" srcId="{0ED46785-C589-E942-98DE-014255B306FE}" destId="{FAE0BF81-C44E-7F40-81AE-93881D3CCC0E}" srcOrd="1" destOrd="0" presId="urn:microsoft.com/office/officeart/2005/8/layout/hierarchy1"/>
    <dgm:cxn modelId="{D2D904E5-A111-49BA-B2AC-ED0518B6796E}" type="presParOf" srcId="{FAE0BF81-C44E-7F40-81AE-93881D3CCC0E}" destId="{A3BF2B39-99C1-5341-A628-0809CD7118B1}" srcOrd="0" destOrd="0" presId="urn:microsoft.com/office/officeart/2005/8/layout/hierarchy1"/>
    <dgm:cxn modelId="{D1AC46FE-4264-4398-B9A8-869264FD72D5}" type="presParOf" srcId="{FAE0BF81-C44E-7F40-81AE-93881D3CCC0E}" destId="{31309DD4-1289-8C4B-B7C2-39E0083DB801}" srcOrd="1" destOrd="0" presId="urn:microsoft.com/office/officeart/2005/8/layout/hierarchy1"/>
    <dgm:cxn modelId="{89037707-63D6-4172-9533-FF1773528CC6}" type="presParOf" srcId="{31309DD4-1289-8C4B-B7C2-39E0083DB801}" destId="{30ED9948-7B89-F44F-828A-B61739911AE6}" srcOrd="0" destOrd="0" presId="urn:microsoft.com/office/officeart/2005/8/layout/hierarchy1"/>
    <dgm:cxn modelId="{7EBBB1BB-7569-4008-BD40-74C2D70064FA}" type="presParOf" srcId="{30ED9948-7B89-F44F-828A-B61739911AE6}" destId="{F9BC914F-03DF-FE43-BAF2-248CC08D8422}" srcOrd="0" destOrd="0" presId="urn:microsoft.com/office/officeart/2005/8/layout/hierarchy1"/>
    <dgm:cxn modelId="{71FC08CA-EB18-4C19-9160-C7B908E9CC38}" type="presParOf" srcId="{30ED9948-7B89-F44F-828A-B61739911AE6}" destId="{319888DA-16AF-3940-9656-76E1E8BCC9D7}" srcOrd="1" destOrd="0" presId="urn:microsoft.com/office/officeart/2005/8/layout/hierarchy1"/>
    <dgm:cxn modelId="{9F043FB3-5E6F-4D71-AC02-1C62F4CDB697}" type="presParOf" srcId="{31309DD4-1289-8C4B-B7C2-39E0083DB801}" destId="{96F7F785-D4E5-514F-96D4-A54FCA3C78D1}" srcOrd="1" destOrd="0" presId="urn:microsoft.com/office/officeart/2005/8/layout/hierarchy1"/>
    <dgm:cxn modelId="{48AB38AC-8A9C-4C64-9F3F-A2F2D74A30EB}" type="presParOf" srcId="{F152B7D9-8CA5-2944-B011-8120A955F98D}" destId="{08F647C8-2429-9C46-BFB6-CCC81EF660EE}" srcOrd="2" destOrd="0" presId="urn:microsoft.com/office/officeart/2005/8/layout/hierarchy1"/>
    <dgm:cxn modelId="{6B82C4E8-8B54-47EA-80F7-1FE1CFF718D1}" type="presParOf" srcId="{F152B7D9-8CA5-2944-B011-8120A955F98D}" destId="{842075A8-B6C1-1A48-9BE7-9D14B3EDF98D}" srcOrd="3" destOrd="0" presId="urn:microsoft.com/office/officeart/2005/8/layout/hierarchy1"/>
    <dgm:cxn modelId="{1BE70DA8-47E5-47A0-B1B7-9C8C6045ECA3}" type="presParOf" srcId="{842075A8-B6C1-1A48-9BE7-9D14B3EDF98D}" destId="{EE9FBB0A-517E-B34F-9ABF-D2C4501E14FE}" srcOrd="0" destOrd="0" presId="urn:microsoft.com/office/officeart/2005/8/layout/hierarchy1"/>
    <dgm:cxn modelId="{A3496550-51DF-4B23-ABE6-9F4BB1D1C909}" type="presParOf" srcId="{EE9FBB0A-517E-B34F-9ABF-D2C4501E14FE}" destId="{3C0EDC99-CB20-8640-A010-DB0A1A7E75AF}" srcOrd="0" destOrd="0" presId="urn:microsoft.com/office/officeart/2005/8/layout/hierarchy1"/>
    <dgm:cxn modelId="{216F0F69-8F30-455F-8336-4F12B566958A}" type="presParOf" srcId="{EE9FBB0A-517E-B34F-9ABF-D2C4501E14FE}" destId="{B5792EAB-C8CC-5E4A-AD28-67EC352D8E77}" srcOrd="1" destOrd="0" presId="urn:microsoft.com/office/officeart/2005/8/layout/hierarchy1"/>
    <dgm:cxn modelId="{870F479F-69CA-4692-BB48-0A79E3D8E965}" type="presParOf" srcId="{842075A8-B6C1-1A48-9BE7-9D14B3EDF98D}" destId="{89E0AFF5-694C-534A-9AFE-FFBB7092FE89}" srcOrd="1" destOrd="0" presId="urn:microsoft.com/office/officeart/2005/8/layout/hierarchy1"/>
    <dgm:cxn modelId="{048C4065-8222-4044-BF08-2DA8D129D483}" type="presParOf" srcId="{89E0AFF5-694C-534A-9AFE-FFBB7092FE89}" destId="{03AABF04-8C9F-1346-AB4B-299758F2A5AC}" srcOrd="0" destOrd="0" presId="urn:microsoft.com/office/officeart/2005/8/layout/hierarchy1"/>
    <dgm:cxn modelId="{40B70114-874F-46EC-BD87-33A11D5E9EC4}" type="presParOf" srcId="{89E0AFF5-694C-534A-9AFE-FFBB7092FE89}" destId="{7B48EBC2-F5C7-7F4A-94DE-4DD49DACAF21}" srcOrd="1" destOrd="0" presId="urn:microsoft.com/office/officeart/2005/8/layout/hierarchy1"/>
    <dgm:cxn modelId="{E9AC8B1E-F3AB-448F-894E-C15F029ADFB7}" type="presParOf" srcId="{7B48EBC2-F5C7-7F4A-94DE-4DD49DACAF21}" destId="{8B33ED78-865F-1A49-8601-5778B931A926}" srcOrd="0" destOrd="0" presId="urn:microsoft.com/office/officeart/2005/8/layout/hierarchy1"/>
    <dgm:cxn modelId="{617E95A0-E2FD-452C-8DB1-0BFB32B1DB39}" type="presParOf" srcId="{8B33ED78-865F-1A49-8601-5778B931A926}" destId="{9B9379ED-0AC4-B540-99BA-6048F8DA5435}" srcOrd="0" destOrd="0" presId="urn:microsoft.com/office/officeart/2005/8/layout/hierarchy1"/>
    <dgm:cxn modelId="{EFB318D9-9B55-4345-A4AB-E0C88CC1784A}" type="presParOf" srcId="{8B33ED78-865F-1A49-8601-5778B931A926}" destId="{560C05AD-5FB1-D94B-B0EE-3AEC0E6178C9}" srcOrd="1" destOrd="0" presId="urn:microsoft.com/office/officeart/2005/8/layout/hierarchy1"/>
    <dgm:cxn modelId="{46C4CF32-434C-4737-AF2E-D4F9666E8F76}" type="presParOf" srcId="{7B48EBC2-F5C7-7F4A-94DE-4DD49DACAF21}" destId="{42796745-ED71-6246-B19F-A4B00961BE0C}" srcOrd="1" destOrd="0" presId="urn:microsoft.com/office/officeart/2005/8/layout/hierarchy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498C14-EC1A-C044-AC9A-2483F9CB7F7A}">
      <dsp:nvSpPr>
        <dsp:cNvPr id="0" name=""/>
        <dsp:cNvSpPr/>
      </dsp:nvSpPr>
      <dsp:spPr>
        <a:xfrm>
          <a:off x="0" y="1176755"/>
          <a:ext cx="12687300" cy="37107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84675" tIns="645668" rIns="984675" bIns="170688" numCol="1" spcCol="1270" anchor="t" anchorCtr="0">
          <a:noAutofit/>
        </a:bodyPr>
        <a:lstStyle/>
        <a:p>
          <a:pPr marL="228600" lvl="1" indent="-228600" algn="l" defTabSz="1066800" rtl="0">
            <a:lnSpc>
              <a:spcPct val="90000"/>
            </a:lnSpc>
            <a:spcBef>
              <a:spcPct val="0"/>
            </a:spcBef>
            <a:spcAft>
              <a:spcPct val="15000"/>
            </a:spcAft>
            <a:buChar char="•"/>
          </a:pPr>
          <a:r>
            <a:rPr lang="en-US" sz="2400" b="1" kern="1200" dirty="0">
              <a:solidFill>
                <a:schemeClr val="tx2">
                  <a:lumMod val="10000"/>
                </a:schemeClr>
              </a:solidFill>
            </a:rPr>
            <a:t>Data confidentiality</a:t>
          </a:r>
        </a:p>
        <a:p>
          <a:pPr marL="571500" lvl="2" indent="-285750" algn="l" defTabSz="1244600" rtl="0">
            <a:lnSpc>
              <a:spcPct val="90000"/>
            </a:lnSpc>
            <a:spcBef>
              <a:spcPct val="0"/>
            </a:spcBef>
            <a:spcAft>
              <a:spcPct val="15000"/>
            </a:spcAft>
            <a:buChar char="•"/>
          </a:pPr>
          <a:r>
            <a:rPr lang="en-US" sz="2800" kern="1200" dirty="0"/>
            <a:t>Assures that private or confidential information is not made available or disclosed </a:t>
          </a:r>
          <a:r>
            <a:rPr lang="en-US" sz="2800" kern="1200" dirty="0">
              <a:solidFill>
                <a:srgbClr val="FF0000"/>
              </a:solidFill>
            </a:rPr>
            <a:t>to unauthorized individuals</a:t>
          </a:r>
        </a:p>
        <a:p>
          <a:pPr marL="228600" lvl="1" indent="-228600" algn="l" defTabSz="1066800" rtl="0">
            <a:lnSpc>
              <a:spcPct val="90000"/>
            </a:lnSpc>
            <a:spcBef>
              <a:spcPct val="0"/>
            </a:spcBef>
            <a:spcAft>
              <a:spcPct val="15000"/>
            </a:spcAft>
            <a:buChar char="•"/>
          </a:pPr>
          <a:r>
            <a:rPr lang="en-US" sz="2400" b="1" kern="1200" dirty="0">
              <a:solidFill>
                <a:schemeClr val="tx2">
                  <a:lumMod val="10000"/>
                </a:schemeClr>
              </a:solidFill>
            </a:rPr>
            <a:t>Privacy</a:t>
          </a:r>
        </a:p>
        <a:p>
          <a:pPr marL="571500" lvl="2" indent="-285750" algn="l" defTabSz="1244600" rtl="0">
            <a:lnSpc>
              <a:spcPct val="90000"/>
            </a:lnSpc>
            <a:spcBef>
              <a:spcPct val="0"/>
            </a:spcBef>
            <a:spcAft>
              <a:spcPct val="15000"/>
            </a:spcAft>
            <a:buChar char="•"/>
          </a:pPr>
          <a:r>
            <a:rPr lang="en-US" sz="2800" kern="1200" dirty="0"/>
            <a:t>Assures that </a:t>
          </a:r>
          <a:r>
            <a:rPr lang="en-US" sz="2800" kern="1200" dirty="0">
              <a:solidFill>
                <a:srgbClr val="FF0000"/>
              </a:solidFill>
            </a:rPr>
            <a:t>individuals control </a:t>
          </a:r>
          <a:r>
            <a:rPr lang="en-US" sz="2800" kern="1200" dirty="0"/>
            <a:t>or influence what information related to them may be collected and stored and by whom and to whom that information may be disclosed</a:t>
          </a:r>
        </a:p>
      </dsp:txBody>
      <dsp:txXfrm>
        <a:off x="0" y="1176755"/>
        <a:ext cx="12687300" cy="3710700"/>
      </dsp:txXfrm>
    </dsp:sp>
    <dsp:sp modelId="{6049758F-6852-7E48-A5F6-439FA44B34F9}">
      <dsp:nvSpPr>
        <dsp:cNvPr id="0" name=""/>
        <dsp:cNvSpPr/>
      </dsp:nvSpPr>
      <dsp:spPr>
        <a:xfrm>
          <a:off x="634365" y="49126"/>
          <a:ext cx="4068702" cy="1585189"/>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35685" tIns="0" rIns="335685" bIns="0" numCol="1" spcCol="1270" anchor="ctr" anchorCtr="0">
          <a:noAutofit/>
        </a:bodyPr>
        <a:lstStyle/>
        <a:p>
          <a:pPr marL="0" lvl="0" indent="0" algn="l" defTabSz="1778000" rtl="0">
            <a:lnSpc>
              <a:spcPct val="90000"/>
            </a:lnSpc>
            <a:spcBef>
              <a:spcPct val="0"/>
            </a:spcBef>
            <a:spcAft>
              <a:spcPct val="35000"/>
            </a:spcAft>
            <a:buNone/>
          </a:pPr>
          <a:r>
            <a:rPr lang="en-US" sz="4000" kern="1200" dirty="0">
              <a:solidFill>
                <a:srgbClr val="FFFF00"/>
              </a:solidFill>
              <a:effectLst>
                <a:outerShdw blurRad="38100" dist="38100" dir="2700000" algn="tl">
                  <a:srgbClr val="000000">
                    <a:alpha val="43137"/>
                  </a:srgbClr>
                </a:outerShdw>
              </a:effectLst>
            </a:rPr>
            <a:t>Confidentiality</a:t>
          </a:r>
        </a:p>
      </dsp:txBody>
      <dsp:txXfrm>
        <a:off x="711748" y="126509"/>
        <a:ext cx="3913936" cy="1430423"/>
      </dsp:txXfrm>
    </dsp:sp>
    <dsp:sp modelId="{CC27436A-1E4D-D84D-A7FC-05F0DE392564}">
      <dsp:nvSpPr>
        <dsp:cNvPr id="0" name=""/>
        <dsp:cNvSpPr/>
      </dsp:nvSpPr>
      <dsp:spPr>
        <a:xfrm>
          <a:off x="0" y="6291823"/>
          <a:ext cx="12687300" cy="166005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84675" tIns="645668" rIns="984675" bIns="199136" numCol="1" spcCol="1270" anchor="t" anchorCtr="0">
          <a:noAutofit/>
        </a:bodyPr>
        <a:lstStyle/>
        <a:p>
          <a:pPr marL="285750" lvl="1" indent="-285750" algn="l" defTabSz="1244600" rtl="0">
            <a:lnSpc>
              <a:spcPct val="90000"/>
            </a:lnSpc>
            <a:spcBef>
              <a:spcPct val="0"/>
            </a:spcBef>
            <a:spcAft>
              <a:spcPct val="15000"/>
            </a:spcAft>
            <a:buChar char="•"/>
          </a:pPr>
          <a:r>
            <a:rPr lang="en-US" sz="2800" kern="1200" dirty="0"/>
            <a:t>Assures that systems work promptly and </a:t>
          </a:r>
          <a:r>
            <a:rPr lang="en-US" sz="2800" kern="1200" dirty="0">
              <a:solidFill>
                <a:srgbClr val="FF0000"/>
              </a:solidFill>
            </a:rPr>
            <a:t>service is not denied</a:t>
          </a:r>
          <a:r>
            <a:rPr lang="en-US" sz="2800" kern="1200" dirty="0">
              <a:solidFill>
                <a:srgbClr val="00B0F0"/>
              </a:solidFill>
            </a:rPr>
            <a:t> </a:t>
          </a:r>
          <a:r>
            <a:rPr lang="en-US" sz="2800" kern="1200" dirty="0"/>
            <a:t>to authorized users</a:t>
          </a:r>
        </a:p>
      </dsp:txBody>
      <dsp:txXfrm>
        <a:off x="0" y="6291823"/>
        <a:ext cx="12687300" cy="1660050"/>
      </dsp:txXfrm>
    </dsp:sp>
    <dsp:sp modelId="{667DCDD7-116F-2549-8EDA-F2F25FC22E3F}">
      <dsp:nvSpPr>
        <dsp:cNvPr id="0" name=""/>
        <dsp:cNvSpPr/>
      </dsp:nvSpPr>
      <dsp:spPr>
        <a:xfrm>
          <a:off x="634365" y="5054855"/>
          <a:ext cx="4068702" cy="1694527"/>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35685" tIns="0" rIns="335685" bIns="0" numCol="1" spcCol="1270" anchor="ctr" anchorCtr="0">
          <a:noAutofit/>
        </a:bodyPr>
        <a:lstStyle/>
        <a:p>
          <a:pPr marL="0" lvl="0" indent="0" algn="ctr" defTabSz="1955800" rtl="0">
            <a:lnSpc>
              <a:spcPct val="90000"/>
            </a:lnSpc>
            <a:spcBef>
              <a:spcPct val="0"/>
            </a:spcBef>
            <a:spcAft>
              <a:spcPct val="35000"/>
            </a:spcAft>
            <a:buNone/>
          </a:pPr>
          <a:r>
            <a:rPr lang="en-US" sz="4400" kern="1200" dirty="0">
              <a:solidFill>
                <a:srgbClr val="FFFF00"/>
              </a:solidFill>
              <a:effectLst>
                <a:outerShdw blurRad="38100" dist="38100" dir="2700000" algn="tl">
                  <a:srgbClr val="000000">
                    <a:alpha val="43137"/>
                  </a:srgbClr>
                </a:outerShdw>
              </a:effectLst>
            </a:rPr>
            <a:t>Availability</a:t>
          </a:r>
        </a:p>
      </dsp:txBody>
      <dsp:txXfrm>
        <a:off x="717085" y="5137575"/>
        <a:ext cx="3903262" cy="152908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D95006-FA94-7A4E-9FF4-7CC079766FD1}">
      <dsp:nvSpPr>
        <dsp:cNvPr id="0" name=""/>
        <dsp:cNvSpPr/>
      </dsp:nvSpPr>
      <dsp:spPr>
        <a:xfrm rot="16200000">
          <a:off x="-682482" y="688166"/>
          <a:ext cx="6843713" cy="5467380"/>
        </a:xfrm>
        <a:prstGeom prst="flowChartManualOperation">
          <a:avLst/>
        </a:prstGeom>
        <a:solidFill>
          <a:schemeClr val="accent1">
            <a:lumMod val="75000"/>
          </a:schemeClr>
        </a:solidFill>
        <a:ln>
          <a:solidFill>
            <a:schemeClr val="bg2"/>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0" tIns="0" rIns="305594" bIns="0" numCol="1" spcCol="1270" anchor="t" anchorCtr="0">
          <a:noAutofit/>
        </a:bodyPr>
        <a:lstStyle/>
        <a:p>
          <a:pPr marL="0" lvl="0" indent="0" algn="l" defTabSz="2133600" rtl="0">
            <a:lnSpc>
              <a:spcPct val="90000"/>
            </a:lnSpc>
            <a:spcBef>
              <a:spcPct val="0"/>
            </a:spcBef>
            <a:spcAft>
              <a:spcPct val="35000"/>
            </a:spcAft>
            <a:buNone/>
          </a:pPr>
          <a:r>
            <a:rPr lang="en-US" sz="4800" kern="1200" dirty="0">
              <a:solidFill>
                <a:srgbClr val="FFFF00"/>
              </a:solidFill>
              <a:effectLst>
                <a:outerShdw blurRad="38100" dist="38100" dir="2700000" algn="tl">
                  <a:srgbClr val="000000">
                    <a:alpha val="43137"/>
                  </a:srgbClr>
                </a:outerShdw>
              </a:effectLst>
            </a:rPr>
            <a:t>Authenticity</a:t>
          </a:r>
        </a:p>
        <a:p>
          <a:pPr marL="285750" lvl="1" indent="-285750" algn="l" defTabSz="1644650" rtl="0">
            <a:lnSpc>
              <a:spcPct val="90000"/>
            </a:lnSpc>
            <a:spcBef>
              <a:spcPct val="0"/>
            </a:spcBef>
            <a:spcAft>
              <a:spcPct val="15000"/>
            </a:spcAft>
            <a:buChar char="•"/>
          </a:pPr>
          <a:r>
            <a:rPr lang="en-US" sz="3700" kern="1200" dirty="0">
              <a:effectLst>
                <a:outerShdw blurRad="38100" dist="38100" dir="2700000" algn="tl">
                  <a:srgbClr val="000000">
                    <a:alpha val="43137"/>
                  </a:srgbClr>
                </a:outerShdw>
              </a:effectLst>
            </a:rPr>
            <a:t>Verifying that users are who they say they are and that each input arriving at the system came from a</a:t>
          </a:r>
          <a:r>
            <a:rPr lang="en-US" sz="3700" kern="1200" dirty="0">
              <a:solidFill>
                <a:schemeClr val="accent6">
                  <a:lumMod val="40000"/>
                  <a:lumOff val="60000"/>
                </a:schemeClr>
              </a:solidFill>
              <a:effectLst>
                <a:outerShdw blurRad="38100" dist="38100" dir="2700000" algn="tl">
                  <a:srgbClr val="000000">
                    <a:alpha val="43137"/>
                  </a:srgbClr>
                </a:outerShdw>
              </a:effectLst>
            </a:rPr>
            <a:t> </a:t>
          </a:r>
          <a:r>
            <a:rPr lang="en-US" sz="3700" kern="1200" dirty="0">
              <a:solidFill>
                <a:srgbClr val="FF0000"/>
              </a:solidFill>
              <a:effectLst>
                <a:outerShdw blurRad="38100" dist="38100" dir="2700000" algn="tl">
                  <a:srgbClr val="000000">
                    <a:alpha val="43137"/>
                  </a:srgbClr>
                </a:outerShdw>
              </a:effectLst>
            </a:rPr>
            <a:t>trusted</a:t>
          </a:r>
          <a:r>
            <a:rPr lang="en-US" sz="3700" kern="1200" dirty="0">
              <a:solidFill>
                <a:schemeClr val="accent6">
                  <a:lumMod val="40000"/>
                  <a:lumOff val="60000"/>
                </a:schemeClr>
              </a:solidFill>
              <a:effectLst>
                <a:outerShdw blurRad="38100" dist="38100" dir="2700000" algn="tl">
                  <a:srgbClr val="000000">
                    <a:alpha val="43137"/>
                  </a:srgbClr>
                </a:outerShdw>
              </a:effectLst>
            </a:rPr>
            <a:t> </a:t>
          </a:r>
          <a:r>
            <a:rPr lang="en-US" sz="3700" kern="1200" dirty="0">
              <a:effectLst>
                <a:outerShdw blurRad="38100" dist="38100" dir="2700000" algn="tl">
                  <a:srgbClr val="000000">
                    <a:alpha val="43137"/>
                  </a:srgbClr>
                </a:outerShdw>
              </a:effectLst>
            </a:rPr>
            <a:t>source </a:t>
          </a:r>
        </a:p>
      </dsp:txBody>
      <dsp:txXfrm rot="5400000">
        <a:off x="5685" y="1368742"/>
        <a:ext cx="5467380" cy="4106227"/>
      </dsp:txXfrm>
    </dsp:sp>
    <dsp:sp modelId="{6FA73AC8-DAA8-CE41-8208-3A234E80FA0C}">
      <dsp:nvSpPr>
        <dsp:cNvPr id="0" name=""/>
        <dsp:cNvSpPr/>
      </dsp:nvSpPr>
      <dsp:spPr>
        <a:xfrm rot="16200000">
          <a:off x="5194951" y="688166"/>
          <a:ext cx="6843713" cy="5467380"/>
        </a:xfrm>
        <a:prstGeom prst="flowChartManualOperation">
          <a:avLst/>
        </a:prstGeom>
        <a:solidFill>
          <a:schemeClr val="accent1">
            <a:lumMod val="75000"/>
          </a:schemeClr>
        </a:solidFill>
        <a:ln>
          <a:solidFill>
            <a:schemeClr val="bg2"/>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0" tIns="0" rIns="305594" bIns="0" numCol="1" spcCol="1270" anchor="t" anchorCtr="0">
          <a:noAutofit/>
        </a:bodyPr>
        <a:lstStyle/>
        <a:p>
          <a:pPr marL="0" lvl="0" indent="0" algn="l" defTabSz="2133600" rtl="0">
            <a:lnSpc>
              <a:spcPct val="90000"/>
            </a:lnSpc>
            <a:spcBef>
              <a:spcPct val="0"/>
            </a:spcBef>
            <a:spcAft>
              <a:spcPct val="35000"/>
            </a:spcAft>
            <a:buNone/>
          </a:pPr>
          <a:r>
            <a:rPr lang="en-US" sz="4800" kern="1200" dirty="0">
              <a:solidFill>
                <a:srgbClr val="FFFF00"/>
              </a:solidFill>
              <a:effectLst>
                <a:outerShdw blurRad="38100" dist="38100" dir="2700000" algn="tl">
                  <a:srgbClr val="000000">
                    <a:alpha val="43137"/>
                  </a:srgbClr>
                </a:outerShdw>
              </a:effectLst>
            </a:rPr>
            <a:t>Accountability</a:t>
          </a:r>
        </a:p>
        <a:p>
          <a:pPr marL="285750" lvl="1" indent="-285750" algn="l" defTabSz="1644650" rtl="0">
            <a:lnSpc>
              <a:spcPct val="90000"/>
            </a:lnSpc>
            <a:spcBef>
              <a:spcPct val="0"/>
            </a:spcBef>
            <a:spcAft>
              <a:spcPct val="15000"/>
            </a:spcAft>
            <a:buChar char="•"/>
          </a:pPr>
          <a:r>
            <a:rPr lang="en-US" sz="3700" kern="1200" dirty="0">
              <a:effectLst>
                <a:outerShdw blurRad="38100" dist="38100" dir="2700000" algn="tl">
                  <a:srgbClr val="000000">
                    <a:alpha val="43137"/>
                  </a:srgbClr>
                </a:outerShdw>
              </a:effectLst>
            </a:rPr>
            <a:t>The security goal that generates the requirement for actions of an entity to be </a:t>
          </a:r>
          <a:r>
            <a:rPr lang="en-US" sz="3700" kern="1200" dirty="0">
              <a:solidFill>
                <a:srgbClr val="FF0000"/>
              </a:solidFill>
              <a:effectLst>
                <a:outerShdw blurRad="38100" dist="38100" dir="2700000" algn="tl">
                  <a:srgbClr val="000000">
                    <a:alpha val="43137"/>
                  </a:srgbClr>
                </a:outerShdw>
              </a:effectLst>
            </a:rPr>
            <a:t>traced uniquely </a:t>
          </a:r>
          <a:r>
            <a:rPr lang="en-US" sz="3700" kern="1200" dirty="0">
              <a:effectLst>
                <a:outerShdw blurRad="38100" dist="38100" dir="2700000" algn="tl">
                  <a:srgbClr val="000000">
                    <a:alpha val="43137"/>
                  </a:srgbClr>
                </a:outerShdw>
              </a:effectLst>
            </a:rPr>
            <a:t>to that entity</a:t>
          </a:r>
        </a:p>
      </dsp:txBody>
      <dsp:txXfrm rot="5400000">
        <a:off x="5883118" y="1368742"/>
        <a:ext cx="5467380" cy="410622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8DBAC6-25DB-7848-AE10-A620F7695C2D}">
      <dsp:nvSpPr>
        <dsp:cNvPr id="0" name=""/>
        <dsp:cNvSpPr/>
      </dsp:nvSpPr>
      <dsp:spPr>
        <a:xfrm rot="10800000">
          <a:off x="4372624" y="0"/>
          <a:ext cx="8428975" cy="1790700"/>
        </a:xfrm>
        <a:prstGeom prst="nonIsoscelesTrapezoid">
          <a:avLst>
            <a:gd name="adj1" fmla="val 0"/>
            <a:gd name="adj2" fmla="val 56836"/>
          </a:avLst>
        </a:prstGeom>
        <a:solidFill>
          <a:schemeClr val="lt1">
            <a:alpha val="90000"/>
            <a:hueOff val="0"/>
            <a:satOff val="0"/>
            <a:lumOff val="0"/>
            <a:alphaOff val="0"/>
          </a:schemeClr>
        </a:solidFill>
        <a:ln w="9525" cap="flat" cmpd="sng" algn="ctr">
          <a:solidFill>
            <a:schemeClr val="accent1"/>
          </a:solidFill>
          <a:prstDash val="solid"/>
        </a:ln>
        <a:effectLst/>
      </dsp:spPr>
      <dsp:style>
        <a:lnRef idx="1">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marL="228600" lvl="1" indent="-228600" algn="l" defTabSz="1066800" rtl="0">
            <a:lnSpc>
              <a:spcPct val="90000"/>
            </a:lnSpc>
            <a:spcBef>
              <a:spcPct val="0"/>
            </a:spcBef>
            <a:spcAft>
              <a:spcPct val="15000"/>
            </a:spcAft>
            <a:buChar char="•"/>
          </a:pPr>
          <a:r>
            <a:rPr lang="en-US" sz="2400" kern="1200" dirty="0"/>
            <a:t>The loss could be expected to have a </a:t>
          </a:r>
          <a:r>
            <a:rPr lang="en-US" sz="2400" b="1" kern="1200" dirty="0">
              <a:solidFill>
                <a:srgbClr val="FF0000"/>
              </a:solidFill>
            </a:rPr>
            <a:t>severe or catastrophic adverse </a:t>
          </a:r>
          <a:r>
            <a:rPr lang="en-US" sz="2400" kern="1200" dirty="0">
              <a:solidFill>
                <a:srgbClr val="FF0000"/>
              </a:solidFill>
            </a:rPr>
            <a:t>effect </a:t>
          </a:r>
          <a:r>
            <a:rPr lang="en-US" sz="2400" kern="1200" dirty="0"/>
            <a:t>on organizational operations, organizational assets, or individuals </a:t>
          </a:r>
        </a:p>
      </dsp:txBody>
      <dsp:txXfrm rot="10800000">
        <a:off x="5390383" y="0"/>
        <a:ext cx="7411216" cy="1790700"/>
      </dsp:txXfrm>
    </dsp:sp>
    <dsp:sp modelId="{323F2C42-63B1-9D46-8116-55010DB641B3}">
      <dsp:nvSpPr>
        <dsp:cNvPr id="0" name=""/>
        <dsp:cNvSpPr/>
      </dsp:nvSpPr>
      <dsp:spPr>
        <a:xfrm>
          <a:off x="3314704" y="0"/>
          <a:ext cx="2075679" cy="1790700"/>
        </a:xfrm>
        <a:prstGeom prst="trapezoid">
          <a:avLst>
            <a:gd name="adj" fmla="val 56836"/>
          </a:avLst>
        </a:prstGeom>
        <a:solidFill>
          <a:schemeClr val="accent6">
            <a:lumMod val="50000"/>
          </a:schemeClr>
        </a:soli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rtl="0">
            <a:lnSpc>
              <a:spcPct val="90000"/>
            </a:lnSpc>
            <a:spcBef>
              <a:spcPct val="0"/>
            </a:spcBef>
            <a:spcAft>
              <a:spcPct val="35000"/>
            </a:spcAft>
            <a:buNone/>
          </a:pPr>
          <a:r>
            <a:rPr lang="en-US" sz="2400" kern="1200" dirty="0">
              <a:solidFill>
                <a:srgbClr val="FFFF00"/>
              </a:solidFill>
            </a:rPr>
            <a:t>High</a:t>
          </a:r>
        </a:p>
      </dsp:txBody>
      <dsp:txXfrm>
        <a:off x="3314704" y="0"/>
        <a:ext cx="2075679" cy="1790700"/>
      </dsp:txXfrm>
    </dsp:sp>
    <dsp:sp modelId="{EDEB3454-1F7E-594F-B14B-175BDB7A3CA0}">
      <dsp:nvSpPr>
        <dsp:cNvPr id="0" name=""/>
        <dsp:cNvSpPr/>
      </dsp:nvSpPr>
      <dsp:spPr>
        <a:xfrm rot="10800000">
          <a:off x="5370303" y="1790700"/>
          <a:ext cx="7431296" cy="2933699"/>
        </a:xfrm>
        <a:prstGeom prst="nonIsoscelesTrapezoid">
          <a:avLst>
            <a:gd name="adj1" fmla="val 0"/>
            <a:gd name="adj2" fmla="val 56836"/>
          </a:avLst>
        </a:prstGeom>
        <a:solidFill>
          <a:schemeClr val="lt1">
            <a:alpha val="90000"/>
            <a:hueOff val="0"/>
            <a:satOff val="0"/>
            <a:lumOff val="0"/>
            <a:alphaOff val="0"/>
          </a:schemeClr>
        </a:solidFill>
        <a:ln w="9525" cap="flat" cmpd="sng" algn="ctr">
          <a:solidFill>
            <a:schemeClr val="accent1"/>
          </a:solidFill>
          <a:prstDash val="solid"/>
        </a:ln>
        <a:effectLst/>
      </dsp:spPr>
      <dsp:style>
        <a:lnRef idx="1">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228600" lvl="1" indent="-228600" algn="l" defTabSz="1200150" rtl="0">
            <a:lnSpc>
              <a:spcPct val="90000"/>
            </a:lnSpc>
            <a:spcBef>
              <a:spcPct val="0"/>
            </a:spcBef>
            <a:spcAft>
              <a:spcPct val="15000"/>
            </a:spcAft>
            <a:buChar char="•"/>
          </a:pPr>
          <a:r>
            <a:rPr lang="en-US" sz="2700" kern="1200" dirty="0"/>
            <a:t>The loss could be expected to have a </a:t>
          </a:r>
          <a:r>
            <a:rPr lang="en-US" sz="2700" b="1" kern="1200" dirty="0">
              <a:solidFill>
                <a:srgbClr val="FF0000"/>
              </a:solidFill>
            </a:rPr>
            <a:t>serious adverse effect on </a:t>
          </a:r>
          <a:r>
            <a:rPr lang="en-US" sz="2700" kern="1200" dirty="0"/>
            <a:t>organizational operations, organizational assets, or individuals</a:t>
          </a:r>
        </a:p>
      </dsp:txBody>
      <dsp:txXfrm rot="10800000">
        <a:off x="7037695" y="1790700"/>
        <a:ext cx="5763904" cy="2933699"/>
      </dsp:txXfrm>
    </dsp:sp>
    <dsp:sp modelId="{BD8A4DA2-4774-2747-9C4E-431FEDEE116B}">
      <dsp:nvSpPr>
        <dsp:cNvPr id="0" name=""/>
        <dsp:cNvSpPr/>
      </dsp:nvSpPr>
      <dsp:spPr>
        <a:xfrm>
          <a:off x="1667392" y="1790700"/>
          <a:ext cx="5370303" cy="2933699"/>
        </a:xfrm>
        <a:prstGeom prst="trapezoid">
          <a:avLst>
            <a:gd name="adj" fmla="val 56836"/>
          </a:avLst>
        </a:prstGeom>
        <a:solidFill>
          <a:schemeClr val="accent2">
            <a:lumMod val="75000"/>
          </a:schemeClr>
        </a:soli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rtl="0">
            <a:lnSpc>
              <a:spcPct val="90000"/>
            </a:lnSpc>
            <a:spcBef>
              <a:spcPct val="0"/>
            </a:spcBef>
            <a:spcAft>
              <a:spcPct val="35000"/>
            </a:spcAft>
            <a:buNone/>
          </a:pPr>
          <a:r>
            <a:rPr lang="en-US" sz="2400" kern="1200" dirty="0">
              <a:solidFill>
                <a:srgbClr val="FFFF00"/>
              </a:solidFill>
            </a:rPr>
            <a:t>Moderate</a:t>
          </a:r>
        </a:p>
      </dsp:txBody>
      <dsp:txXfrm>
        <a:off x="2607195" y="1790700"/>
        <a:ext cx="3490697" cy="2933699"/>
      </dsp:txXfrm>
    </dsp:sp>
    <dsp:sp modelId="{63798C49-604C-6D4F-B502-7E4BA45356A1}">
      <dsp:nvSpPr>
        <dsp:cNvPr id="0" name=""/>
        <dsp:cNvSpPr/>
      </dsp:nvSpPr>
      <dsp:spPr>
        <a:xfrm rot="10800000">
          <a:off x="7037695" y="4724399"/>
          <a:ext cx="5763904" cy="2933699"/>
        </a:xfrm>
        <a:prstGeom prst="nonIsoscelesTrapezoid">
          <a:avLst>
            <a:gd name="adj1" fmla="val 0"/>
            <a:gd name="adj2" fmla="val 56836"/>
          </a:avLst>
        </a:prstGeom>
        <a:solidFill>
          <a:schemeClr val="lt1">
            <a:alpha val="90000"/>
            <a:hueOff val="0"/>
            <a:satOff val="0"/>
            <a:lumOff val="0"/>
            <a:alphaOff val="0"/>
          </a:schemeClr>
        </a:solidFill>
        <a:ln w="9525" cap="flat" cmpd="sng" algn="ctr">
          <a:solidFill>
            <a:schemeClr val="accent1"/>
          </a:solidFill>
          <a:prstDash val="solid"/>
        </a:ln>
        <a:effectLst/>
      </dsp:spPr>
      <dsp:style>
        <a:lnRef idx="1">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228600" lvl="1" indent="-228600" algn="l" defTabSz="1200150" rtl="0">
            <a:lnSpc>
              <a:spcPct val="90000"/>
            </a:lnSpc>
            <a:spcBef>
              <a:spcPct val="0"/>
            </a:spcBef>
            <a:spcAft>
              <a:spcPct val="15000"/>
            </a:spcAft>
            <a:buChar char="•"/>
          </a:pPr>
          <a:r>
            <a:rPr lang="en-US" sz="2700" kern="1200" dirty="0"/>
            <a:t>The loss could be expected to have </a:t>
          </a:r>
          <a:r>
            <a:rPr lang="en-US" sz="2700" b="1" kern="1200" dirty="0">
              <a:solidFill>
                <a:srgbClr val="FF0000"/>
              </a:solidFill>
            </a:rPr>
            <a:t>a limited adverse effect on organizational operations, </a:t>
          </a:r>
          <a:r>
            <a:rPr lang="en-US" sz="2700" kern="1200" dirty="0"/>
            <a:t>organizational assets, or individuals</a:t>
          </a:r>
        </a:p>
        <a:p>
          <a:pPr marL="228600" lvl="1" indent="-228600" algn="l" defTabSz="1200150" rtl="0">
            <a:lnSpc>
              <a:spcPct val="90000"/>
            </a:lnSpc>
            <a:spcBef>
              <a:spcPct val="0"/>
            </a:spcBef>
            <a:spcAft>
              <a:spcPct val="15000"/>
            </a:spcAft>
            <a:buChar char="•"/>
          </a:pPr>
          <a:endParaRPr lang="en-US" sz="2700" kern="1200" dirty="0"/>
        </a:p>
      </dsp:txBody>
      <dsp:txXfrm rot="10800000">
        <a:off x="8705088" y="4724399"/>
        <a:ext cx="4096512" cy="2933699"/>
      </dsp:txXfrm>
    </dsp:sp>
    <dsp:sp modelId="{680880A8-997B-A541-ADD6-12677C70DBB4}">
      <dsp:nvSpPr>
        <dsp:cNvPr id="0" name=""/>
        <dsp:cNvSpPr/>
      </dsp:nvSpPr>
      <dsp:spPr>
        <a:xfrm>
          <a:off x="0" y="4724399"/>
          <a:ext cx="8705088" cy="2933699"/>
        </a:xfrm>
        <a:prstGeom prst="trapezoid">
          <a:avLst>
            <a:gd name="adj" fmla="val 56836"/>
          </a:avLst>
        </a:prstGeom>
        <a:solidFill>
          <a:schemeClr val="bg1">
            <a:lumMod val="50000"/>
          </a:schemeClr>
        </a:soli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rtl="0">
            <a:lnSpc>
              <a:spcPct val="90000"/>
            </a:lnSpc>
            <a:spcBef>
              <a:spcPct val="0"/>
            </a:spcBef>
            <a:spcAft>
              <a:spcPct val="35000"/>
            </a:spcAft>
            <a:buNone/>
          </a:pPr>
          <a:r>
            <a:rPr lang="en-US" sz="6500" kern="1200" dirty="0">
              <a:solidFill>
                <a:srgbClr val="FFFF00"/>
              </a:solidFill>
            </a:rPr>
            <a:t>Low</a:t>
          </a:r>
        </a:p>
      </dsp:txBody>
      <dsp:txXfrm>
        <a:off x="1523390" y="4724399"/>
        <a:ext cx="5658307" cy="293369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4AF64B-A620-0C45-B247-92C87E1A3C8C}">
      <dsp:nvSpPr>
        <dsp:cNvPr id="0" name=""/>
        <dsp:cNvSpPr/>
      </dsp:nvSpPr>
      <dsp:spPr>
        <a:xfrm>
          <a:off x="1562" y="0"/>
          <a:ext cx="4063007" cy="7543800"/>
        </a:xfrm>
        <a:prstGeom prst="roundRect">
          <a:avLst>
            <a:gd name="adj" fmla="val 10000"/>
          </a:avLst>
        </a:prstGeom>
        <a:solidFill>
          <a:schemeClr val="accent1">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US" sz="2400" b="1" i="0" kern="1200" dirty="0">
              <a:solidFill>
                <a:srgbClr val="0000FF"/>
              </a:solidFill>
            </a:rPr>
            <a:t>Confidentiality</a:t>
          </a:r>
          <a:r>
            <a:rPr lang="en-US" sz="2400" kern="1200" dirty="0">
              <a:solidFill>
                <a:srgbClr val="0000FF"/>
              </a:solidFill>
            </a:rPr>
            <a:t> </a:t>
          </a:r>
        </a:p>
      </dsp:txBody>
      <dsp:txXfrm>
        <a:off x="1562" y="0"/>
        <a:ext cx="4063007" cy="2263140"/>
      </dsp:txXfrm>
    </dsp:sp>
    <dsp:sp modelId="{A0B257B1-4772-E04B-B67D-0B8E72B82E14}">
      <dsp:nvSpPr>
        <dsp:cNvPr id="0" name=""/>
        <dsp:cNvSpPr/>
      </dsp:nvSpPr>
      <dsp:spPr>
        <a:xfrm>
          <a:off x="407863" y="2265350"/>
          <a:ext cx="3250406" cy="2274558"/>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rtl="0">
            <a:lnSpc>
              <a:spcPct val="90000"/>
            </a:lnSpc>
            <a:spcBef>
              <a:spcPct val="0"/>
            </a:spcBef>
            <a:spcAft>
              <a:spcPct val="35000"/>
            </a:spcAft>
            <a:buNone/>
          </a:pPr>
          <a:r>
            <a:rPr lang="en-US" sz="2000" b="1" kern="1200" dirty="0">
              <a:solidFill>
                <a:srgbClr val="0000FF"/>
              </a:solidFill>
            </a:rPr>
            <a:t>Student grade </a:t>
          </a:r>
          <a:r>
            <a:rPr lang="en-US" sz="2000" b="1" kern="1200" dirty="0">
              <a:solidFill>
                <a:srgbClr val="C00000"/>
              </a:solidFill>
            </a:rPr>
            <a:t>information </a:t>
          </a:r>
          <a:r>
            <a:rPr lang="en-US" sz="2000" kern="1200" dirty="0">
              <a:solidFill>
                <a:srgbClr val="C00000"/>
              </a:solidFill>
            </a:rPr>
            <a:t>is an asset whose confidentiality is considered to be highly important by students</a:t>
          </a:r>
        </a:p>
      </dsp:txBody>
      <dsp:txXfrm>
        <a:off x="474483" y="2331970"/>
        <a:ext cx="3117166" cy="2141318"/>
      </dsp:txXfrm>
    </dsp:sp>
    <dsp:sp modelId="{8AAEFCBD-DCF7-3A40-81C8-F39E2CD36756}">
      <dsp:nvSpPr>
        <dsp:cNvPr id="0" name=""/>
        <dsp:cNvSpPr/>
      </dsp:nvSpPr>
      <dsp:spPr>
        <a:xfrm>
          <a:off x="407863" y="4889841"/>
          <a:ext cx="3250406" cy="2274558"/>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rtl="0">
            <a:lnSpc>
              <a:spcPct val="90000"/>
            </a:lnSpc>
            <a:spcBef>
              <a:spcPct val="0"/>
            </a:spcBef>
            <a:spcAft>
              <a:spcPct val="35000"/>
            </a:spcAft>
            <a:buNone/>
          </a:pPr>
          <a:r>
            <a:rPr lang="en-US" sz="2000" kern="1200" dirty="0">
              <a:solidFill>
                <a:srgbClr val="FF0000"/>
              </a:solidFill>
            </a:rPr>
            <a:t>Regulated by the Family Educational Rights and Privacy Act (FERPA)</a:t>
          </a:r>
        </a:p>
      </dsp:txBody>
      <dsp:txXfrm>
        <a:off x="474483" y="4956461"/>
        <a:ext cx="3117166" cy="2141318"/>
      </dsp:txXfrm>
    </dsp:sp>
    <dsp:sp modelId="{5B96D207-34DF-0F4C-8BB6-6CEB0EF67ADA}">
      <dsp:nvSpPr>
        <dsp:cNvPr id="0" name=""/>
        <dsp:cNvSpPr/>
      </dsp:nvSpPr>
      <dsp:spPr>
        <a:xfrm>
          <a:off x="4369296" y="0"/>
          <a:ext cx="4063007" cy="7543800"/>
        </a:xfrm>
        <a:prstGeom prst="roundRect">
          <a:avLst>
            <a:gd name="adj" fmla="val 10000"/>
          </a:avLst>
        </a:prstGeom>
        <a:solidFill>
          <a:schemeClr val="accent1">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US" sz="2400" b="1" kern="1200" dirty="0">
              <a:solidFill>
                <a:srgbClr val="0000FF"/>
              </a:solidFill>
            </a:rPr>
            <a:t>Integrity</a:t>
          </a:r>
        </a:p>
        <a:p>
          <a:pPr marL="0" lvl="0" indent="0" algn="ctr" defTabSz="1066800" rtl="0">
            <a:lnSpc>
              <a:spcPct val="90000"/>
            </a:lnSpc>
            <a:spcBef>
              <a:spcPct val="0"/>
            </a:spcBef>
            <a:spcAft>
              <a:spcPct val="35000"/>
            </a:spcAft>
            <a:buNone/>
          </a:pPr>
          <a:r>
            <a:rPr lang="en-US" sz="2400" b="1" kern="1200" dirty="0">
              <a:solidFill>
                <a:srgbClr val="0000FF"/>
              </a:solidFill>
            </a:rPr>
            <a:t>(consistency)</a:t>
          </a:r>
        </a:p>
      </dsp:txBody>
      <dsp:txXfrm>
        <a:off x="4369296" y="0"/>
        <a:ext cx="4063007" cy="2263140"/>
      </dsp:txXfrm>
    </dsp:sp>
    <dsp:sp modelId="{9A869599-A3BA-2140-965B-480788ED7672}">
      <dsp:nvSpPr>
        <dsp:cNvPr id="0" name=""/>
        <dsp:cNvSpPr/>
      </dsp:nvSpPr>
      <dsp:spPr>
        <a:xfrm>
          <a:off x="4800592" y="2171701"/>
          <a:ext cx="3200415" cy="2262091"/>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rtl="0">
            <a:lnSpc>
              <a:spcPct val="90000"/>
            </a:lnSpc>
            <a:spcBef>
              <a:spcPct val="0"/>
            </a:spcBef>
            <a:spcAft>
              <a:spcPct val="35000"/>
            </a:spcAft>
            <a:buNone/>
          </a:pPr>
          <a:r>
            <a:rPr lang="en-US" sz="2000" b="1" kern="1200" dirty="0">
              <a:solidFill>
                <a:srgbClr val="0000FF"/>
              </a:solidFill>
            </a:rPr>
            <a:t>Patient information </a:t>
          </a:r>
          <a:r>
            <a:rPr lang="en-US" sz="2000" kern="1200" dirty="0">
              <a:solidFill>
                <a:srgbClr val="C00000"/>
              </a:solidFill>
            </a:rPr>
            <a:t>stored in a database – inaccurate information could result in serious harm or death to a patient and expose the hospital to massive liability</a:t>
          </a:r>
        </a:p>
      </dsp:txBody>
      <dsp:txXfrm>
        <a:off x="4866846" y="2237955"/>
        <a:ext cx="3067907" cy="2129583"/>
      </dsp:txXfrm>
    </dsp:sp>
    <dsp:sp modelId="{B2B9CB2D-DEBC-5E45-BCC2-2317E85CF5BE}">
      <dsp:nvSpPr>
        <dsp:cNvPr id="0" name=""/>
        <dsp:cNvSpPr/>
      </dsp:nvSpPr>
      <dsp:spPr>
        <a:xfrm>
          <a:off x="4775596" y="4661824"/>
          <a:ext cx="3250406" cy="1483508"/>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rtl="0">
            <a:lnSpc>
              <a:spcPct val="90000"/>
            </a:lnSpc>
            <a:spcBef>
              <a:spcPct val="0"/>
            </a:spcBef>
            <a:spcAft>
              <a:spcPct val="35000"/>
            </a:spcAft>
            <a:buNone/>
          </a:pPr>
          <a:r>
            <a:rPr lang="en-US" sz="2000" kern="1200" dirty="0">
              <a:solidFill>
                <a:srgbClr val="0000FF"/>
              </a:solidFill>
            </a:rPr>
            <a:t>A </a:t>
          </a:r>
          <a:r>
            <a:rPr lang="en-US" sz="2000" b="1" kern="1200" dirty="0">
              <a:solidFill>
                <a:srgbClr val="0000FF"/>
              </a:solidFill>
            </a:rPr>
            <a:t>Web site that offers a </a:t>
          </a:r>
          <a:r>
            <a:rPr lang="en-US" sz="2000" b="1" kern="1200" dirty="0">
              <a:solidFill>
                <a:srgbClr val="FF0000"/>
              </a:solidFill>
            </a:rPr>
            <a:t>forum to registered users </a:t>
          </a:r>
          <a:r>
            <a:rPr lang="en-US" sz="2000" kern="1200" dirty="0">
              <a:solidFill>
                <a:srgbClr val="FF0000"/>
              </a:solidFill>
            </a:rPr>
            <a:t>to discuss some specific topic would be assigned a moderate level of integrity</a:t>
          </a:r>
        </a:p>
      </dsp:txBody>
      <dsp:txXfrm>
        <a:off x="4819046" y="4705274"/>
        <a:ext cx="3163506" cy="1396608"/>
      </dsp:txXfrm>
    </dsp:sp>
    <dsp:sp modelId="{20DD891D-54C2-1049-9497-5E2B68136E99}">
      <dsp:nvSpPr>
        <dsp:cNvPr id="0" name=""/>
        <dsp:cNvSpPr/>
      </dsp:nvSpPr>
      <dsp:spPr>
        <a:xfrm>
          <a:off x="4775596" y="6281438"/>
          <a:ext cx="3250406" cy="884683"/>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rtl="0">
            <a:lnSpc>
              <a:spcPct val="90000"/>
            </a:lnSpc>
            <a:spcBef>
              <a:spcPct val="0"/>
            </a:spcBef>
            <a:spcAft>
              <a:spcPct val="35000"/>
            </a:spcAft>
            <a:buNone/>
          </a:pPr>
          <a:r>
            <a:rPr lang="en-US" sz="2000" kern="1200" dirty="0">
              <a:solidFill>
                <a:srgbClr val="FF0000"/>
              </a:solidFill>
            </a:rPr>
            <a:t>An example of a low-integrity requirement is an anonymous </a:t>
          </a:r>
          <a:r>
            <a:rPr lang="en-US" sz="2000" b="1" kern="1200" dirty="0">
              <a:solidFill>
                <a:srgbClr val="FF0000"/>
              </a:solidFill>
            </a:rPr>
            <a:t>online poll</a:t>
          </a:r>
        </a:p>
      </dsp:txBody>
      <dsp:txXfrm>
        <a:off x="4801507" y="6307349"/>
        <a:ext cx="3198584" cy="832861"/>
      </dsp:txXfrm>
    </dsp:sp>
    <dsp:sp modelId="{F31C69FC-F97D-C847-A4D6-679EEDFECE0D}">
      <dsp:nvSpPr>
        <dsp:cNvPr id="0" name=""/>
        <dsp:cNvSpPr/>
      </dsp:nvSpPr>
      <dsp:spPr>
        <a:xfrm>
          <a:off x="8737029" y="0"/>
          <a:ext cx="4063007" cy="7543800"/>
        </a:xfrm>
        <a:prstGeom prst="roundRect">
          <a:avLst>
            <a:gd name="adj" fmla="val 10000"/>
          </a:avLst>
        </a:prstGeom>
        <a:solidFill>
          <a:schemeClr val="accent1">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US" sz="2400" b="1" i="0" kern="1200" dirty="0">
              <a:solidFill>
                <a:srgbClr val="0000FF"/>
              </a:solidFill>
            </a:rPr>
            <a:t>Availability</a:t>
          </a:r>
        </a:p>
      </dsp:txBody>
      <dsp:txXfrm>
        <a:off x="8737029" y="0"/>
        <a:ext cx="4063007" cy="2263140"/>
      </dsp:txXfrm>
    </dsp:sp>
    <dsp:sp modelId="{362B08EA-3F81-CB4A-B772-E14DBE4CD014}">
      <dsp:nvSpPr>
        <dsp:cNvPr id="0" name=""/>
        <dsp:cNvSpPr/>
      </dsp:nvSpPr>
      <dsp:spPr>
        <a:xfrm>
          <a:off x="9143330" y="2263784"/>
          <a:ext cx="3250406" cy="1482054"/>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rtl="0">
            <a:lnSpc>
              <a:spcPct val="90000"/>
            </a:lnSpc>
            <a:spcBef>
              <a:spcPct val="0"/>
            </a:spcBef>
            <a:spcAft>
              <a:spcPct val="35000"/>
            </a:spcAft>
            <a:buNone/>
          </a:pPr>
          <a:r>
            <a:rPr lang="en-US" sz="2000" kern="1200" dirty="0">
              <a:solidFill>
                <a:srgbClr val="FF0000"/>
              </a:solidFill>
            </a:rPr>
            <a:t>The </a:t>
          </a:r>
          <a:r>
            <a:rPr lang="en-US" sz="2000" b="1" kern="1200" dirty="0">
              <a:solidFill>
                <a:srgbClr val="FF0000"/>
              </a:solidFill>
            </a:rPr>
            <a:t>more critical a component or service</a:t>
          </a:r>
          <a:r>
            <a:rPr lang="en-US" sz="2000" kern="1200" dirty="0">
              <a:solidFill>
                <a:srgbClr val="FF0000"/>
              </a:solidFill>
            </a:rPr>
            <a:t>, the higher the level of availability required</a:t>
          </a:r>
        </a:p>
      </dsp:txBody>
      <dsp:txXfrm>
        <a:off x="9186738" y="2307192"/>
        <a:ext cx="3163590" cy="1395238"/>
      </dsp:txXfrm>
    </dsp:sp>
    <dsp:sp modelId="{63DBCA6F-433F-F94D-A40C-40EAF6EC76AE}">
      <dsp:nvSpPr>
        <dsp:cNvPr id="0" name=""/>
        <dsp:cNvSpPr/>
      </dsp:nvSpPr>
      <dsp:spPr>
        <a:xfrm>
          <a:off x="9143330" y="3973847"/>
          <a:ext cx="3250406" cy="1482054"/>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rtl="0">
            <a:lnSpc>
              <a:spcPct val="90000"/>
            </a:lnSpc>
            <a:spcBef>
              <a:spcPct val="0"/>
            </a:spcBef>
            <a:spcAft>
              <a:spcPct val="35000"/>
            </a:spcAft>
            <a:buNone/>
          </a:pPr>
          <a:r>
            <a:rPr lang="en-US" sz="2000" kern="1200" dirty="0">
              <a:solidFill>
                <a:srgbClr val="FF0000"/>
              </a:solidFill>
            </a:rPr>
            <a:t>A moderate availability requirement is </a:t>
          </a:r>
          <a:r>
            <a:rPr lang="en-US" sz="2000" b="1" kern="1200" dirty="0">
              <a:solidFill>
                <a:srgbClr val="FF0000"/>
              </a:solidFill>
            </a:rPr>
            <a:t>a public Web site for a university</a:t>
          </a:r>
        </a:p>
      </dsp:txBody>
      <dsp:txXfrm>
        <a:off x="9186738" y="4017255"/>
        <a:ext cx="3163590" cy="1395238"/>
      </dsp:txXfrm>
    </dsp:sp>
    <dsp:sp modelId="{869AD6AC-C370-714E-AA4A-B92F8AEBFD68}">
      <dsp:nvSpPr>
        <dsp:cNvPr id="0" name=""/>
        <dsp:cNvSpPr/>
      </dsp:nvSpPr>
      <dsp:spPr>
        <a:xfrm>
          <a:off x="9143330" y="5683910"/>
          <a:ext cx="3250406" cy="1482054"/>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rtl="0">
            <a:lnSpc>
              <a:spcPct val="90000"/>
            </a:lnSpc>
            <a:spcBef>
              <a:spcPct val="0"/>
            </a:spcBef>
            <a:spcAft>
              <a:spcPct val="35000"/>
            </a:spcAft>
            <a:buNone/>
          </a:pPr>
          <a:r>
            <a:rPr lang="en-US" sz="2000" kern="1200" dirty="0">
              <a:solidFill>
                <a:srgbClr val="FF0000"/>
              </a:solidFill>
            </a:rPr>
            <a:t>An </a:t>
          </a:r>
          <a:r>
            <a:rPr lang="en-US" sz="2000" b="1" kern="1200" dirty="0">
              <a:solidFill>
                <a:srgbClr val="FF0000"/>
              </a:solidFill>
            </a:rPr>
            <a:t>online telephone directory lookup </a:t>
          </a:r>
          <a:r>
            <a:rPr lang="en-US" sz="2000" kern="1200" dirty="0">
              <a:solidFill>
                <a:srgbClr val="FF0000"/>
              </a:solidFill>
            </a:rPr>
            <a:t>application would be classified as a low-availability requirement</a:t>
          </a:r>
        </a:p>
      </dsp:txBody>
      <dsp:txXfrm>
        <a:off x="9186738" y="5727318"/>
        <a:ext cx="3163590" cy="139523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B773CD-5155-AE49-A39A-DB646F837512}">
      <dsp:nvSpPr>
        <dsp:cNvPr id="0" name=""/>
        <dsp:cNvSpPr/>
      </dsp:nvSpPr>
      <dsp:spPr>
        <a:xfrm rot="5400000">
          <a:off x="2463771" y="-320894"/>
          <a:ext cx="3155751" cy="3803903"/>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06680" tIns="53340" rIns="106680" bIns="53340" numCol="1" spcCol="1270" anchor="ctr" anchorCtr="0">
          <a:noAutofit/>
        </a:bodyPr>
        <a:lstStyle/>
        <a:p>
          <a:pPr marL="285750" lvl="1" indent="-285750" algn="l" defTabSz="1244600" rtl="0">
            <a:lnSpc>
              <a:spcPct val="90000"/>
            </a:lnSpc>
            <a:spcBef>
              <a:spcPct val="0"/>
            </a:spcBef>
            <a:spcAft>
              <a:spcPct val="15000"/>
            </a:spcAft>
            <a:buChar char="•"/>
          </a:pPr>
          <a:r>
            <a:rPr lang="en-US" sz="2800" kern="1200" dirty="0"/>
            <a:t>Some portion of a legitimate message </a:t>
          </a:r>
          <a:r>
            <a:rPr lang="en-US" sz="2800" kern="1200" dirty="0">
              <a:solidFill>
                <a:srgbClr val="0070C0"/>
              </a:solidFill>
            </a:rPr>
            <a:t>is altered</a:t>
          </a:r>
          <a:r>
            <a:rPr lang="en-US" sz="2800" kern="1200" dirty="0"/>
            <a:t>, or messages are delayed or reordered to produce an </a:t>
          </a:r>
          <a:r>
            <a:rPr lang="en-US" sz="2800" kern="1200" dirty="0">
              <a:solidFill>
                <a:srgbClr val="0070C0"/>
              </a:solidFill>
            </a:rPr>
            <a:t>unauthorized effect</a:t>
          </a:r>
        </a:p>
      </dsp:txBody>
      <dsp:txXfrm rot="-5400000">
        <a:off x="2139696" y="157232"/>
        <a:ext cx="3649852" cy="2847649"/>
      </dsp:txXfrm>
    </dsp:sp>
    <dsp:sp modelId="{2CDB3922-7DE2-9442-911D-A27BD9574D07}">
      <dsp:nvSpPr>
        <dsp:cNvPr id="0" name=""/>
        <dsp:cNvSpPr/>
      </dsp:nvSpPr>
      <dsp:spPr>
        <a:xfrm>
          <a:off x="0" y="5"/>
          <a:ext cx="2139695" cy="2712802"/>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9060" tIns="49530" rIns="99060" bIns="49530" numCol="1" spcCol="1270" anchor="ctr" anchorCtr="0">
          <a:noAutofit/>
        </a:bodyPr>
        <a:lstStyle/>
        <a:p>
          <a:pPr marL="0" lvl="0" indent="0" algn="ctr" defTabSz="1155700" rtl="0">
            <a:lnSpc>
              <a:spcPct val="90000"/>
            </a:lnSpc>
            <a:spcBef>
              <a:spcPct val="0"/>
            </a:spcBef>
            <a:spcAft>
              <a:spcPct val="35000"/>
            </a:spcAft>
            <a:buNone/>
          </a:pPr>
          <a:r>
            <a:rPr lang="en-US" sz="2600" kern="1200" dirty="0">
              <a:solidFill>
                <a:srgbClr val="0000FF"/>
              </a:solidFill>
              <a:effectLst>
                <a:outerShdw blurRad="38100" dist="38100" dir="2700000" algn="tl">
                  <a:srgbClr val="000000">
                    <a:alpha val="43137"/>
                  </a:srgbClr>
                </a:outerShdw>
              </a:effectLst>
            </a:rPr>
            <a:t>Modification of messages </a:t>
          </a:r>
        </a:p>
      </dsp:txBody>
      <dsp:txXfrm>
        <a:off x="104451" y="104456"/>
        <a:ext cx="1930793" cy="2503900"/>
      </dsp:txXfrm>
    </dsp:sp>
    <dsp:sp modelId="{AF865629-E949-B24E-AF0F-CDFF322825BD}">
      <dsp:nvSpPr>
        <dsp:cNvPr id="0" name=""/>
        <dsp:cNvSpPr/>
      </dsp:nvSpPr>
      <dsp:spPr>
        <a:xfrm rot="5400000">
          <a:off x="2463771" y="3032091"/>
          <a:ext cx="3155751" cy="3803903"/>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06680" tIns="53340" rIns="106680" bIns="53340" numCol="1" spcCol="1270" anchor="ctr" anchorCtr="0">
          <a:noAutofit/>
        </a:bodyPr>
        <a:lstStyle/>
        <a:p>
          <a:pPr marL="285750" lvl="1" indent="-285750" algn="l" defTabSz="1244600" rtl="0">
            <a:lnSpc>
              <a:spcPct val="90000"/>
            </a:lnSpc>
            <a:spcBef>
              <a:spcPct val="0"/>
            </a:spcBef>
            <a:spcAft>
              <a:spcPct val="15000"/>
            </a:spcAft>
            <a:buChar char="•"/>
          </a:pPr>
          <a:r>
            <a:rPr lang="en-US" sz="2800" kern="1200" dirty="0">
              <a:solidFill>
                <a:srgbClr val="0070C0"/>
              </a:solidFill>
            </a:rPr>
            <a:t>Prevents or inhibits </a:t>
          </a:r>
          <a:r>
            <a:rPr lang="en-US" sz="2800" kern="1200" dirty="0"/>
            <a:t>the normal use or management of communications facilities</a:t>
          </a:r>
        </a:p>
      </dsp:txBody>
      <dsp:txXfrm rot="-5400000">
        <a:off x="2139696" y="3510218"/>
        <a:ext cx="3649852" cy="2847649"/>
      </dsp:txXfrm>
    </dsp:sp>
    <dsp:sp modelId="{4060CB25-2046-3047-B345-AC66DC2A7D59}">
      <dsp:nvSpPr>
        <dsp:cNvPr id="0" name=""/>
        <dsp:cNvSpPr/>
      </dsp:nvSpPr>
      <dsp:spPr>
        <a:xfrm>
          <a:off x="0" y="3467289"/>
          <a:ext cx="2139695" cy="2933507"/>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9060" tIns="49530" rIns="99060" bIns="49530" numCol="1" spcCol="1270" anchor="ctr" anchorCtr="0">
          <a:noAutofit/>
        </a:bodyPr>
        <a:lstStyle/>
        <a:p>
          <a:pPr marL="0" lvl="0" indent="0" algn="ctr" defTabSz="1155700" rtl="0">
            <a:lnSpc>
              <a:spcPct val="90000"/>
            </a:lnSpc>
            <a:spcBef>
              <a:spcPct val="0"/>
            </a:spcBef>
            <a:spcAft>
              <a:spcPct val="35000"/>
            </a:spcAft>
            <a:buNone/>
          </a:pPr>
          <a:r>
            <a:rPr lang="en-US" sz="2600" kern="1200" dirty="0">
              <a:solidFill>
                <a:srgbClr val="0000FF"/>
              </a:solidFill>
              <a:effectLst>
                <a:outerShdw blurRad="38100" dist="38100" dir="2700000" algn="tl">
                  <a:srgbClr val="000000">
                    <a:alpha val="43137"/>
                  </a:srgbClr>
                </a:outerShdw>
              </a:effectLst>
            </a:rPr>
            <a:t>Denial of service</a:t>
          </a:r>
        </a:p>
      </dsp:txBody>
      <dsp:txXfrm>
        <a:off x="104451" y="3571740"/>
        <a:ext cx="1930793" cy="272460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6F287F-54BE-A94E-BE50-7A86606A3A77}">
      <dsp:nvSpPr>
        <dsp:cNvPr id="0" name=""/>
        <dsp:cNvSpPr/>
      </dsp:nvSpPr>
      <dsp:spPr>
        <a:xfrm rot="5400000">
          <a:off x="2330683" y="-228843"/>
          <a:ext cx="3266479" cy="3730751"/>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06680" tIns="53340" rIns="106680" bIns="53340" numCol="1" spcCol="1270" anchor="ctr" anchorCtr="0">
          <a:noAutofit/>
        </a:bodyPr>
        <a:lstStyle/>
        <a:p>
          <a:pPr marL="285750" lvl="1" indent="-285750" algn="l" defTabSz="1244600" rtl="0">
            <a:lnSpc>
              <a:spcPct val="90000"/>
            </a:lnSpc>
            <a:spcBef>
              <a:spcPct val="0"/>
            </a:spcBef>
            <a:spcAft>
              <a:spcPct val="15000"/>
            </a:spcAft>
            <a:buChar char="•"/>
          </a:pPr>
          <a:r>
            <a:rPr lang="en-US" sz="2800" kern="1200" dirty="0"/>
            <a:t>Takes place when one entity </a:t>
          </a:r>
          <a:r>
            <a:rPr lang="en-US" sz="2800" kern="1200" dirty="0">
              <a:solidFill>
                <a:srgbClr val="0070C0"/>
              </a:solidFill>
            </a:rPr>
            <a:t>pretends</a:t>
          </a:r>
          <a:r>
            <a:rPr lang="en-US" sz="2800" kern="1200" dirty="0"/>
            <a:t> to be a different entity</a:t>
          </a:r>
        </a:p>
        <a:p>
          <a:pPr marL="285750" lvl="1" indent="-285750" algn="l" defTabSz="1244600" rtl="0">
            <a:lnSpc>
              <a:spcPct val="90000"/>
            </a:lnSpc>
            <a:spcBef>
              <a:spcPct val="0"/>
            </a:spcBef>
            <a:spcAft>
              <a:spcPct val="15000"/>
            </a:spcAft>
            <a:buChar char="•"/>
          </a:pPr>
          <a:r>
            <a:rPr lang="en-US" sz="2800" kern="1200" dirty="0"/>
            <a:t>Usually includes one of the other forms of active attack</a:t>
          </a:r>
        </a:p>
      </dsp:txBody>
      <dsp:txXfrm rot="-5400000">
        <a:off x="2098547" y="162749"/>
        <a:ext cx="3571295" cy="2947567"/>
      </dsp:txXfrm>
    </dsp:sp>
    <dsp:sp modelId="{44488AAB-A78F-8047-B4DF-837F0C5AD89D}">
      <dsp:nvSpPr>
        <dsp:cNvPr id="0" name=""/>
        <dsp:cNvSpPr/>
      </dsp:nvSpPr>
      <dsp:spPr>
        <a:xfrm>
          <a:off x="0" y="0"/>
          <a:ext cx="2098547" cy="2759522"/>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9060" tIns="49530" rIns="99060" bIns="49530" numCol="1" spcCol="1270" anchor="ctr" anchorCtr="0">
          <a:noAutofit/>
        </a:bodyPr>
        <a:lstStyle/>
        <a:p>
          <a:pPr marL="0" lvl="0" indent="0" algn="ctr" defTabSz="1155700" rtl="0">
            <a:lnSpc>
              <a:spcPct val="90000"/>
            </a:lnSpc>
            <a:spcBef>
              <a:spcPct val="0"/>
            </a:spcBef>
            <a:spcAft>
              <a:spcPct val="35000"/>
            </a:spcAft>
            <a:buNone/>
          </a:pPr>
          <a:r>
            <a:rPr lang="en-US" sz="2600" kern="1200" dirty="0">
              <a:solidFill>
                <a:srgbClr val="0000FF"/>
              </a:solidFill>
              <a:effectLst>
                <a:outerShdw blurRad="38100" dist="38100" dir="2700000" algn="tl">
                  <a:srgbClr val="000000">
                    <a:alpha val="43137"/>
                  </a:srgbClr>
                </a:outerShdw>
              </a:effectLst>
            </a:rPr>
            <a:t>Masquerade</a:t>
          </a:r>
        </a:p>
      </dsp:txBody>
      <dsp:txXfrm>
        <a:off x="102443" y="102443"/>
        <a:ext cx="1893661" cy="2554636"/>
      </dsp:txXfrm>
    </dsp:sp>
    <dsp:sp modelId="{E9892E3E-9DF2-BD4B-A6CD-F416208DABBC}">
      <dsp:nvSpPr>
        <dsp:cNvPr id="0" name=""/>
        <dsp:cNvSpPr/>
      </dsp:nvSpPr>
      <dsp:spPr>
        <a:xfrm rot="5400000">
          <a:off x="2330683" y="3241791"/>
          <a:ext cx="3266479" cy="3730751"/>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06680" tIns="53340" rIns="106680" bIns="53340" numCol="1" spcCol="1270" anchor="ctr" anchorCtr="0">
          <a:noAutofit/>
        </a:bodyPr>
        <a:lstStyle/>
        <a:p>
          <a:pPr marL="285750" lvl="1" indent="-285750" algn="l" defTabSz="1244600" rtl="0">
            <a:lnSpc>
              <a:spcPct val="90000"/>
            </a:lnSpc>
            <a:spcBef>
              <a:spcPct val="0"/>
            </a:spcBef>
            <a:spcAft>
              <a:spcPct val="15000"/>
            </a:spcAft>
            <a:buChar char="•"/>
          </a:pPr>
          <a:r>
            <a:rPr lang="en-US" sz="2800" kern="1200" dirty="0"/>
            <a:t>Involves the passive </a:t>
          </a:r>
          <a:r>
            <a:rPr lang="en-US" sz="2800" kern="1200" dirty="0">
              <a:solidFill>
                <a:srgbClr val="0070C0"/>
              </a:solidFill>
            </a:rPr>
            <a:t>capture</a:t>
          </a:r>
          <a:r>
            <a:rPr lang="en-US" sz="2800" kern="1200" dirty="0"/>
            <a:t> of a data unit and its </a:t>
          </a:r>
          <a:r>
            <a:rPr lang="en-US" sz="2800" kern="1200" dirty="0">
              <a:solidFill>
                <a:srgbClr val="0070C0"/>
              </a:solidFill>
            </a:rPr>
            <a:t>subsequent retransmission </a:t>
          </a:r>
          <a:r>
            <a:rPr lang="en-US" sz="2800" kern="1200" dirty="0"/>
            <a:t>to produce an </a:t>
          </a:r>
          <a:r>
            <a:rPr lang="en-US" sz="2800" kern="1200" dirty="0">
              <a:solidFill>
                <a:srgbClr val="0070C0"/>
              </a:solidFill>
            </a:rPr>
            <a:t>unauthorized effect</a:t>
          </a:r>
        </a:p>
      </dsp:txBody>
      <dsp:txXfrm rot="-5400000">
        <a:off x="2098547" y="3633383"/>
        <a:ext cx="3571295" cy="2947567"/>
      </dsp:txXfrm>
    </dsp:sp>
    <dsp:sp modelId="{0E6340F7-C0A4-1F48-82F3-FF986F32634E}">
      <dsp:nvSpPr>
        <dsp:cNvPr id="0" name=""/>
        <dsp:cNvSpPr/>
      </dsp:nvSpPr>
      <dsp:spPr>
        <a:xfrm>
          <a:off x="0" y="3615794"/>
          <a:ext cx="2098547" cy="2907371"/>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9060" tIns="49530" rIns="99060" bIns="49530" numCol="1" spcCol="1270" anchor="ctr" anchorCtr="0">
          <a:noAutofit/>
        </a:bodyPr>
        <a:lstStyle/>
        <a:p>
          <a:pPr marL="0" lvl="0" indent="0" algn="ctr" defTabSz="1155700" rtl="0">
            <a:lnSpc>
              <a:spcPct val="90000"/>
            </a:lnSpc>
            <a:spcBef>
              <a:spcPct val="0"/>
            </a:spcBef>
            <a:spcAft>
              <a:spcPct val="35000"/>
            </a:spcAft>
            <a:buNone/>
          </a:pPr>
          <a:r>
            <a:rPr lang="en-US" sz="2600" kern="1200" dirty="0">
              <a:solidFill>
                <a:srgbClr val="0000FF"/>
              </a:solidFill>
              <a:effectLst>
                <a:outerShdw blurRad="38100" dist="38100" dir="2700000" algn="tl">
                  <a:srgbClr val="000000">
                    <a:alpha val="43137"/>
                  </a:srgbClr>
                </a:outerShdw>
              </a:effectLst>
            </a:rPr>
            <a:t>Replay</a:t>
          </a:r>
        </a:p>
      </dsp:txBody>
      <dsp:txXfrm>
        <a:off x="102443" y="3718237"/>
        <a:ext cx="1893661" cy="270248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63D57E-BD21-BD4F-AD59-FF51C76AFE55}">
      <dsp:nvSpPr>
        <dsp:cNvPr id="0" name=""/>
        <dsp:cNvSpPr/>
      </dsp:nvSpPr>
      <dsp:spPr>
        <a:xfrm>
          <a:off x="0" y="1905"/>
          <a:ext cx="8801100" cy="886377"/>
        </a:xfrm>
        <a:prstGeom prst="rect">
          <a:avLst/>
        </a:prstGeom>
        <a:solidFill>
          <a:schemeClr val="tx2">
            <a:lumMod val="50000"/>
          </a:schemeClr>
        </a:solidFill>
        <a:ln w="9525" cap="flat" cmpd="sng" algn="ctr">
          <a:no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b="1" kern="1200" dirty="0">
              <a:effectLst>
                <a:outerShdw blurRad="38100" dist="38100" dir="2700000" algn="tl">
                  <a:srgbClr val="000000">
                    <a:alpha val="43137"/>
                  </a:srgbClr>
                </a:outerShdw>
              </a:effectLst>
            </a:rPr>
            <a:t>Two specific authentication services are defined in X.800:</a:t>
          </a:r>
        </a:p>
      </dsp:txBody>
      <dsp:txXfrm>
        <a:off x="0" y="1905"/>
        <a:ext cx="8801100" cy="886377"/>
      </dsp:txXfrm>
    </dsp:sp>
    <dsp:sp modelId="{0327DD84-63DC-3D4B-88CB-97969678C59D}">
      <dsp:nvSpPr>
        <dsp:cNvPr id="0" name=""/>
        <dsp:cNvSpPr/>
      </dsp:nvSpPr>
      <dsp:spPr>
        <a:xfrm>
          <a:off x="0" y="805094"/>
          <a:ext cx="8801100" cy="1098000"/>
        </a:xfrm>
        <a:prstGeom prst="rect">
          <a:avLst/>
        </a:prstGeom>
        <a:solidFill>
          <a:schemeClr val="tx2">
            <a:lumMod val="7500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en-US" sz="2500" b="1" kern="1200" dirty="0">
              <a:solidFill>
                <a:srgbClr val="FFFF00"/>
              </a:solidFill>
            </a:rPr>
            <a:t>Peer entity authentication</a:t>
          </a:r>
        </a:p>
        <a:p>
          <a:pPr marL="228600" lvl="1" indent="-228600" algn="l" defTabSz="1111250">
            <a:lnSpc>
              <a:spcPct val="90000"/>
            </a:lnSpc>
            <a:spcBef>
              <a:spcPct val="0"/>
            </a:spcBef>
            <a:spcAft>
              <a:spcPct val="15000"/>
            </a:spcAft>
            <a:buChar char="•"/>
          </a:pPr>
          <a:r>
            <a:rPr lang="en-US" sz="2500" b="1" kern="1200" dirty="0">
              <a:solidFill>
                <a:srgbClr val="FFFF00"/>
              </a:solidFill>
            </a:rPr>
            <a:t>Data origin authentication</a:t>
          </a:r>
        </a:p>
      </dsp:txBody>
      <dsp:txXfrm>
        <a:off x="0" y="805094"/>
        <a:ext cx="8801100" cy="10980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5CE519-0303-A744-892D-6CF27E5E4D64}">
      <dsp:nvSpPr>
        <dsp:cNvPr id="0" name=""/>
        <dsp:cNvSpPr/>
      </dsp:nvSpPr>
      <dsp:spPr>
        <a:xfrm>
          <a:off x="0" y="0"/>
          <a:ext cx="7186613" cy="7186613"/>
        </a:xfrm>
        <a:prstGeom prst="pie">
          <a:avLst>
            <a:gd name="adj1" fmla="val 5400000"/>
            <a:gd name="adj2" fmla="val 16200000"/>
          </a:avLst>
        </a:prstGeom>
        <a:solidFill>
          <a:schemeClr val="accent2"/>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EB9D8600-0FC6-CF44-8D37-7ABEE0F4BC87}">
      <dsp:nvSpPr>
        <dsp:cNvPr id="0" name=""/>
        <dsp:cNvSpPr/>
      </dsp:nvSpPr>
      <dsp:spPr>
        <a:xfrm>
          <a:off x="3593306" y="0"/>
          <a:ext cx="8636793" cy="7186613"/>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rtl="0">
            <a:lnSpc>
              <a:spcPct val="90000"/>
            </a:lnSpc>
            <a:spcBef>
              <a:spcPct val="0"/>
            </a:spcBef>
            <a:spcAft>
              <a:spcPct val="35000"/>
            </a:spcAft>
            <a:buNone/>
          </a:pPr>
          <a:r>
            <a:rPr lang="en-US" sz="3200" kern="1200" dirty="0">
              <a:solidFill>
                <a:srgbClr val="000000"/>
              </a:solidFill>
            </a:rPr>
            <a:t>Can apply to a </a:t>
          </a:r>
          <a:r>
            <a:rPr lang="en-US" sz="3200" b="1" kern="1200" dirty="0">
              <a:solidFill>
                <a:srgbClr val="C00000"/>
              </a:solidFill>
            </a:rPr>
            <a:t>stream of messages</a:t>
          </a:r>
          <a:r>
            <a:rPr lang="en-US" sz="3200" b="1" kern="1200" dirty="0">
              <a:solidFill>
                <a:srgbClr val="000000"/>
              </a:solidFill>
            </a:rPr>
            <a:t>,</a:t>
          </a:r>
          <a:r>
            <a:rPr lang="en-US" sz="3200" b="0" kern="1200" dirty="0">
              <a:solidFill>
                <a:srgbClr val="000000"/>
              </a:solidFill>
            </a:rPr>
            <a:t> </a:t>
          </a:r>
          <a:r>
            <a:rPr lang="en-US" sz="3200" b="1" kern="1200" dirty="0">
              <a:solidFill>
                <a:srgbClr val="C00000"/>
              </a:solidFill>
            </a:rPr>
            <a:t>a single message,</a:t>
          </a:r>
          <a:r>
            <a:rPr lang="en-US" sz="3200" kern="1200" dirty="0">
              <a:solidFill>
                <a:srgbClr val="000000"/>
              </a:solidFill>
            </a:rPr>
            <a:t> or </a:t>
          </a:r>
          <a:r>
            <a:rPr lang="en-US" sz="3200" b="1" kern="1200" dirty="0">
              <a:solidFill>
                <a:srgbClr val="C00000"/>
              </a:solidFill>
            </a:rPr>
            <a:t>selected fields </a:t>
          </a:r>
          <a:r>
            <a:rPr lang="en-US" sz="3200" b="1" kern="1200" dirty="0">
              <a:solidFill>
                <a:srgbClr val="000000"/>
              </a:solidFill>
            </a:rPr>
            <a:t>within a message</a:t>
          </a:r>
        </a:p>
      </dsp:txBody>
      <dsp:txXfrm>
        <a:off x="3593306" y="0"/>
        <a:ext cx="8636793" cy="2155988"/>
      </dsp:txXfrm>
    </dsp:sp>
    <dsp:sp modelId="{460B7F3E-CECD-1E45-A060-CEEBADF883A5}">
      <dsp:nvSpPr>
        <dsp:cNvPr id="0" name=""/>
        <dsp:cNvSpPr/>
      </dsp:nvSpPr>
      <dsp:spPr>
        <a:xfrm>
          <a:off x="1257659" y="2155988"/>
          <a:ext cx="4671293" cy="4671293"/>
        </a:xfrm>
        <a:prstGeom prst="pie">
          <a:avLst>
            <a:gd name="adj1" fmla="val 5400000"/>
            <a:gd name="adj2" fmla="val 1620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1FEB0DB6-FA4E-CF4E-8B72-2D86613E2D39}">
      <dsp:nvSpPr>
        <dsp:cNvPr id="0" name=""/>
        <dsp:cNvSpPr/>
      </dsp:nvSpPr>
      <dsp:spPr>
        <a:xfrm>
          <a:off x="3593306" y="2057424"/>
          <a:ext cx="8636793" cy="4671293"/>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rtl="0">
            <a:lnSpc>
              <a:spcPct val="90000"/>
            </a:lnSpc>
            <a:spcBef>
              <a:spcPct val="0"/>
            </a:spcBef>
            <a:spcAft>
              <a:spcPct val="35000"/>
            </a:spcAft>
            <a:buNone/>
          </a:pPr>
          <a:r>
            <a:rPr lang="en-US" sz="3200" b="1" kern="1200" dirty="0">
              <a:solidFill>
                <a:srgbClr val="C00000"/>
              </a:solidFill>
            </a:rPr>
            <a:t>Connection-oriented integrity service </a:t>
          </a:r>
          <a:r>
            <a:rPr lang="en-US" sz="3200" kern="1200" dirty="0">
              <a:solidFill>
                <a:schemeClr val="bg2"/>
              </a:solidFill>
            </a:rPr>
            <a:t>deals with a </a:t>
          </a:r>
          <a:r>
            <a:rPr lang="en-US" sz="3200" b="1" kern="1200" dirty="0">
              <a:solidFill>
                <a:srgbClr val="C00000"/>
              </a:solidFill>
            </a:rPr>
            <a:t>stream of messages </a:t>
          </a:r>
          <a:r>
            <a:rPr lang="en-US" sz="3200" kern="1200" dirty="0">
              <a:solidFill>
                <a:schemeClr val="bg2"/>
              </a:solidFill>
            </a:rPr>
            <a:t>and assures that messages are received as sent with </a:t>
          </a:r>
          <a:r>
            <a:rPr lang="en-US" sz="3200" b="1" kern="1200" dirty="0">
              <a:solidFill>
                <a:srgbClr val="C00000"/>
              </a:solidFill>
            </a:rPr>
            <a:t>no duplication</a:t>
          </a:r>
          <a:r>
            <a:rPr lang="en-US" sz="3200" kern="1200" dirty="0">
              <a:solidFill>
                <a:schemeClr val="bg2"/>
              </a:solidFill>
            </a:rPr>
            <a:t>, </a:t>
          </a:r>
          <a:r>
            <a:rPr lang="en-US" sz="3200" b="1" kern="1200" dirty="0">
              <a:solidFill>
                <a:srgbClr val="C00000"/>
              </a:solidFill>
            </a:rPr>
            <a:t>insertion,</a:t>
          </a:r>
          <a:r>
            <a:rPr lang="en-US" sz="3200" kern="1200" dirty="0">
              <a:solidFill>
                <a:schemeClr val="bg2"/>
              </a:solidFill>
            </a:rPr>
            <a:t> </a:t>
          </a:r>
          <a:r>
            <a:rPr lang="en-US" sz="3200" b="1" kern="1200" dirty="0">
              <a:solidFill>
                <a:srgbClr val="C00000"/>
              </a:solidFill>
            </a:rPr>
            <a:t>modification,</a:t>
          </a:r>
          <a:r>
            <a:rPr lang="en-US" sz="3200" kern="1200" dirty="0">
              <a:solidFill>
                <a:schemeClr val="bg2"/>
              </a:solidFill>
            </a:rPr>
            <a:t> </a:t>
          </a:r>
          <a:r>
            <a:rPr lang="en-US" sz="3200" b="1" kern="1200" dirty="0">
              <a:solidFill>
                <a:srgbClr val="C00000"/>
              </a:solidFill>
            </a:rPr>
            <a:t>reordering,</a:t>
          </a:r>
          <a:r>
            <a:rPr lang="en-US" sz="3200" kern="1200" dirty="0">
              <a:solidFill>
                <a:schemeClr val="bg2"/>
              </a:solidFill>
            </a:rPr>
            <a:t> or </a:t>
          </a:r>
          <a:r>
            <a:rPr lang="en-US" sz="3200" b="1" kern="1200" dirty="0">
              <a:solidFill>
                <a:schemeClr val="bg2"/>
              </a:solidFill>
            </a:rPr>
            <a:t>replays</a:t>
          </a:r>
        </a:p>
      </dsp:txBody>
      <dsp:txXfrm>
        <a:off x="3593306" y="2057424"/>
        <a:ext cx="8636793" cy="2155981"/>
      </dsp:txXfrm>
    </dsp:sp>
    <dsp:sp modelId="{D880669A-8623-EE4C-BDCE-31DE7DE25528}">
      <dsp:nvSpPr>
        <dsp:cNvPr id="0" name=""/>
        <dsp:cNvSpPr/>
      </dsp:nvSpPr>
      <dsp:spPr>
        <a:xfrm>
          <a:off x="2515315" y="4311969"/>
          <a:ext cx="2155981" cy="2155981"/>
        </a:xfrm>
        <a:prstGeom prst="pie">
          <a:avLst>
            <a:gd name="adj1" fmla="val 5400000"/>
            <a:gd name="adj2" fmla="val 16200000"/>
          </a:avLst>
        </a:prstGeom>
        <a:solidFill>
          <a:schemeClr val="accent4">
            <a:lumMod val="50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6773C79A-A7DA-5D43-9C7B-903C427EC509}">
      <dsp:nvSpPr>
        <dsp:cNvPr id="0" name=""/>
        <dsp:cNvSpPr/>
      </dsp:nvSpPr>
      <dsp:spPr>
        <a:xfrm>
          <a:off x="3593306" y="4343404"/>
          <a:ext cx="8636793" cy="2155981"/>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rtl="0">
            <a:lnSpc>
              <a:spcPct val="90000"/>
            </a:lnSpc>
            <a:spcBef>
              <a:spcPct val="0"/>
            </a:spcBef>
            <a:spcAft>
              <a:spcPct val="35000"/>
            </a:spcAft>
            <a:buNone/>
          </a:pPr>
          <a:r>
            <a:rPr lang="en-US" sz="3200" b="1" kern="1200" dirty="0">
              <a:solidFill>
                <a:srgbClr val="C00000"/>
              </a:solidFill>
            </a:rPr>
            <a:t>A connectionless integrity </a:t>
          </a:r>
          <a:r>
            <a:rPr lang="en-US" sz="3200" kern="1200" dirty="0">
              <a:solidFill>
                <a:schemeClr val="bg2"/>
              </a:solidFill>
            </a:rPr>
            <a:t>service deals with </a:t>
          </a:r>
          <a:r>
            <a:rPr lang="en-US" sz="3200" b="1" kern="1200" dirty="0">
              <a:solidFill>
                <a:srgbClr val="C00000"/>
              </a:solidFill>
            </a:rPr>
            <a:t>individual messages </a:t>
          </a:r>
          <a:r>
            <a:rPr lang="en-US" sz="3200" kern="1200" dirty="0">
              <a:solidFill>
                <a:schemeClr val="bg2"/>
              </a:solidFill>
            </a:rPr>
            <a:t>without regard to any larger context and generally provides protection against </a:t>
          </a:r>
          <a:r>
            <a:rPr lang="en-US" sz="3200" b="1" kern="1200" dirty="0">
              <a:solidFill>
                <a:srgbClr val="C00000"/>
              </a:solidFill>
            </a:rPr>
            <a:t>message modification only</a:t>
          </a:r>
        </a:p>
      </dsp:txBody>
      <dsp:txXfrm>
        <a:off x="3593306" y="4343404"/>
        <a:ext cx="8636793" cy="215598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AABF04-8C9F-1346-AB4B-299758F2A5AC}">
      <dsp:nvSpPr>
        <dsp:cNvPr id="0" name=""/>
        <dsp:cNvSpPr/>
      </dsp:nvSpPr>
      <dsp:spPr>
        <a:xfrm>
          <a:off x="6093440" y="4404351"/>
          <a:ext cx="91440" cy="820408"/>
        </a:xfrm>
        <a:custGeom>
          <a:avLst/>
          <a:gdLst/>
          <a:ahLst/>
          <a:cxnLst/>
          <a:rect l="0" t="0" r="0" b="0"/>
          <a:pathLst>
            <a:path>
              <a:moveTo>
                <a:pt x="45720" y="0"/>
              </a:moveTo>
              <a:lnTo>
                <a:pt x="45720" y="820408"/>
              </a:lnTo>
            </a:path>
          </a:pathLst>
        </a:custGeom>
        <a:noFill/>
        <a:ln w="9525" cap="flat" cmpd="sng" algn="ctr">
          <a:solidFill>
            <a:schemeClr val="accent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08F647C8-2429-9C46-BFB6-CCC81EF660EE}">
      <dsp:nvSpPr>
        <dsp:cNvPr id="0" name=""/>
        <dsp:cNvSpPr/>
      </dsp:nvSpPr>
      <dsp:spPr>
        <a:xfrm>
          <a:off x="4415283" y="1792679"/>
          <a:ext cx="1723876" cy="820408"/>
        </a:xfrm>
        <a:custGeom>
          <a:avLst/>
          <a:gdLst/>
          <a:ahLst/>
          <a:cxnLst/>
          <a:rect l="0" t="0" r="0" b="0"/>
          <a:pathLst>
            <a:path>
              <a:moveTo>
                <a:pt x="0" y="0"/>
              </a:moveTo>
              <a:lnTo>
                <a:pt x="0" y="559084"/>
              </a:lnTo>
              <a:lnTo>
                <a:pt x="1723876" y="559084"/>
              </a:lnTo>
              <a:lnTo>
                <a:pt x="1723876" y="820408"/>
              </a:lnTo>
            </a:path>
          </a:pathLst>
        </a:cu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3BF2B39-99C1-5341-A628-0809CD7118B1}">
      <dsp:nvSpPr>
        <dsp:cNvPr id="0" name=""/>
        <dsp:cNvSpPr/>
      </dsp:nvSpPr>
      <dsp:spPr>
        <a:xfrm>
          <a:off x="2645687" y="4404351"/>
          <a:ext cx="91440" cy="820408"/>
        </a:xfrm>
        <a:custGeom>
          <a:avLst/>
          <a:gdLst/>
          <a:ahLst/>
          <a:cxnLst/>
          <a:rect l="0" t="0" r="0" b="0"/>
          <a:pathLst>
            <a:path>
              <a:moveTo>
                <a:pt x="45720" y="0"/>
              </a:moveTo>
              <a:lnTo>
                <a:pt x="45720" y="820408"/>
              </a:lnTo>
            </a:path>
          </a:pathLst>
        </a:custGeom>
        <a:noFill/>
        <a:ln w="9525" cap="flat" cmpd="sng" algn="ctr">
          <a:solidFill>
            <a:schemeClr val="accent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6338268-0505-AF49-8C0C-9B19AB44EA57}">
      <dsp:nvSpPr>
        <dsp:cNvPr id="0" name=""/>
        <dsp:cNvSpPr/>
      </dsp:nvSpPr>
      <dsp:spPr>
        <a:xfrm>
          <a:off x="2691407" y="1792679"/>
          <a:ext cx="1723876" cy="820408"/>
        </a:xfrm>
        <a:custGeom>
          <a:avLst/>
          <a:gdLst/>
          <a:ahLst/>
          <a:cxnLst/>
          <a:rect l="0" t="0" r="0" b="0"/>
          <a:pathLst>
            <a:path>
              <a:moveTo>
                <a:pt x="1723876" y="0"/>
              </a:moveTo>
              <a:lnTo>
                <a:pt x="1723876" y="559084"/>
              </a:lnTo>
              <a:lnTo>
                <a:pt x="0" y="559084"/>
              </a:lnTo>
              <a:lnTo>
                <a:pt x="0" y="820408"/>
              </a:lnTo>
            </a:path>
          </a:pathLst>
        </a:cu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1839A7A8-B27F-2946-BE3C-398441DF248B}">
      <dsp:nvSpPr>
        <dsp:cNvPr id="0" name=""/>
        <dsp:cNvSpPr/>
      </dsp:nvSpPr>
      <dsp:spPr>
        <a:xfrm>
          <a:off x="3004839" y="1415"/>
          <a:ext cx="2820888" cy="1791264"/>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22F77FF9-9B32-D442-BE62-24401B675670}">
      <dsp:nvSpPr>
        <dsp:cNvPr id="0" name=""/>
        <dsp:cNvSpPr/>
      </dsp:nvSpPr>
      <dsp:spPr>
        <a:xfrm>
          <a:off x="3318271" y="299175"/>
          <a:ext cx="2820888" cy="1791264"/>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solidFill>
                <a:schemeClr val="tx2">
                  <a:lumMod val="10000"/>
                </a:schemeClr>
              </a:solidFill>
            </a:rPr>
            <a:t>Programs can present two kinds of threats:</a:t>
          </a:r>
          <a:endParaRPr lang="en-US" sz="2100" kern="1200" dirty="0"/>
        </a:p>
      </dsp:txBody>
      <dsp:txXfrm>
        <a:off x="3370735" y="351639"/>
        <a:ext cx="2715960" cy="1686336"/>
      </dsp:txXfrm>
    </dsp:sp>
    <dsp:sp modelId="{D7579396-6052-5946-ABDC-400A65111B84}">
      <dsp:nvSpPr>
        <dsp:cNvPr id="0" name=""/>
        <dsp:cNvSpPr/>
      </dsp:nvSpPr>
      <dsp:spPr>
        <a:xfrm>
          <a:off x="1280963" y="2613087"/>
          <a:ext cx="2820888" cy="1791264"/>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8581194E-B1F8-854E-9E64-152BD71530DA}">
      <dsp:nvSpPr>
        <dsp:cNvPr id="0" name=""/>
        <dsp:cNvSpPr/>
      </dsp:nvSpPr>
      <dsp:spPr>
        <a:xfrm>
          <a:off x="1594395" y="2910848"/>
          <a:ext cx="2820888" cy="1791264"/>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solidFill>
                <a:schemeClr val="tx2">
                  <a:lumMod val="10000"/>
                </a:schemeClr>
              </a:solidFill>
            </a:rPr>
            <a:t>Information access threats</a:t>
          </a:r>
        </a:p>
      </dsp:txBody>
      <dsp:txXfrm>
        <a:off x="1646859" y="2963312"/>
        <a:ext cx="2715960" cy="1686336"/>
      </dsp:txXfrm>
    </dsp:sp>
    <dsp:sp modelId="{F9BC914F-03DF-FE43-BAF2-248CC08D8422}">
      <dsp:nvSpPr>
        <dsp:cNvPr id="0" name=""/>
        <dsp:cNvSpPr/>
      </dsp:nvSpPr>
      <dsp:spPr>
        <a:xfrm>
          <a:off x="1280963" y="5224760"/>
          <a:ext cx="2820888" cy="1791264"/>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319888DA-16AF-3940-9656-76E1E8BCC9D7}">
      <dsp:nvSpPr>
        <dsp:cNvPr id="0" name=""/>
        <dsp:cNvSpPr/>
      </dsp:nvSpPr>
      <dsp:spPr>
        <a:xfrm>
          <a:off x="1594395" y="5522520"/>
          <a:ext cx="2820888" cy="1791264"/>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solidFill>
                <a:schemeClr val="tx2">
                  <a:lumMod val="10000"/>
                </a:schemeClr>
              </a:solidFill>
            </a:rPr>
            <a:t>Intercept or modify data on behalf of users who should not have access to that data</a:t>
          </a:r>
        </a:p>
      </dsp:txBody>
      <dsp:txXfrm>
        <a:off x="1646859" y="5574984"/>
        <a:ext cx="2715960" cy="1686336"/>
      </dsp:txXfrm>
    </dsp:sp>
    <dsp:sp modelId="{3C0EDC99-CB20-8640-A010-DB0A1A7E75AF}">
      <dsp:nvSpPr>
        <dsp:cNvPr id="0" name=""/>
        <dsp:cNvSpPr/>
      </dsp:nvSpPr>
      <dsp:spPr>
        <a:xfrm>
          <a:off x="4728716" y="2613087"/>
          <a:ext cx="2820888" cy="1791264"/>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B5792EAB-C8CC-5E4A-AD28-67EC352D8E77}">
      <dsp:nvSpPr>
        <dsp:cNvPr id="0" name=""/>
        <dsp:cNvSpPr/>
      </dsp:nvSpPr>
      <dsp:spPr>
        <a:xfrm>
          <a:off x="5042148" y="2910848"/>
          <a:ext cx="2820888" cy="1791264"/>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solidFill>
                <a:schemeClr val="tx2">
                  <a:lumMod val="10000"/>
                </a:schemeClr>
              </a:solidFill>
            </a:rPr>
            <a:t>Service threats</a:t>
          </a:r>
        </a:p>
      </dsp:txBody>
      <dsp:txXfrm>
        <a:off x="5094612" y="2963312"/>
        <a:ext cx="2715960" cy="1686336"/>
      </dsp:txXfrm>
    </dsp:sp>
    <dsp:sp modelId="{9B9379ED-0AC4-B540-99BA-6048F8DA5435}">
      <dsp:nvSpPr>
        <dsp:cNvPr id="0" name=""/>
        <dsp:cNvSpPr/>
      </dsp:nvSpPr>
      <dsp:spPr>
        <a:xfrm>
          <a:off x="4728716" y="5224760"/>
          <a:ext cx="2820888" cy="1791264"/>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560C05AD-5FB1-D94B-B0EE-3AEC0E6178C9}">
      <dsp:nvSpPr>
        <dsp:cNvPr id="0" name=""/>
        <dsp:cNvSpPr/>
      </dsp:nvSpPr>
      <dsp:spPr>
        <a:xfrm>
          <a:off x="5042148" y="5522520"/>
          <a:ext cx="2820888" cy="1791264"/>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solidFill>
                <a:schemeClr val="tx2">
                  <a:lumMod val="10000"/>
                </a:schemeClr>
              </a:solidFill>
            </a:rPr>
            <a:t>Exploit service flaws in computers to inhibit use by legitimate users</a:t>
          </a:r>
        </a:p>
      </dsp:txBody>
      <dsp:txXfrm>
        <a:off x="5094612" y="5574984"/>
        <a:ext cx="2715960" cy="1686336"/>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515710-F670-4A0B-88FF-E23B88C8EDC7}" type="datetimeFigureOut">
              <a:rPr lang="en-US" smtClean="0"/>
              <a:t>6/20/2026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F8B6BB-727D-4BC5-B0C8-D9BA7050F12E}" type="slidenum">
              <a:rPr lang="en-US" smtClean="0"/>
              <a:t>‹#›</a:t>
            </a:fld>
            <a:endParaRPr lang="en-US"/>
          </a:p>
        </p:txBody>
      </p:sp>
    </p:spTree>
    <p:extLst>
      <p:ext uri="{BB962C8B-B14F-4D97-AF65-F5344CB8AC3E}">
        <p14:creationId xmlns:p14="http://schemas.microsoft.com/office/powerpoint/2010/main" val="36849980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TextEdit="1"/>
          </p:cNvSpPr>
          <p:nvPr>
            <p:ph type="sldImg"/>
          </p:nvPr>
        </p:nvSpPr>
        <p:spPr>
          <a:ln/>
        </p:spPr>
      </p:sp>
      <p:sp>
        <p:nvSpPr>
          <p:cNvPr id="83971" name="Notes Placeholder 2"/>
          <p:cNvSpPr>
            <a:spLocks noGrp="1"/>
          </p:cNvSpPr>
          <p:nvPr>
            <p:ph type="body" idx="1"/>
          </p:nvPr>
        </p:nvSpPr>
        <p:spPr>
          <a:noFill/>
          <a:ln/>
        </p:spPr>
        <p:txBody>
          <a:bodyPr/>
          <a:lstStyle/>
          <a:p>
            <a:endParaRPr lang="en-US">
              <a:latin typeface="Arial" pitchFamily="34" charset="0"/>
              <a:ea typeface="ＭＳ Ｐゴシック" pitchFamily="34" charset="-128"/>
            </a:endParaRPr>
          </a:p>
        </p:txBody>
      </p:sp>
      <p:sp>
        <p:nvSpPr>
          <p:cNvPr id="4" name="Slide Number Placeholder 3"/>
          <p:cNvSpPr>
            <a:spLocks noGrp="1"/>
          </p:cNvSpPr>
          <p:nvPr>
            <p:ph type="sldNum" sz="quarter" idx="5"/>
          </p:nvPr>
        </p:nvSpPr>
        <p:spPr/>
        <p:txBody>
          <a:bodyPr/>
          <a:lstStyle/>
          <a:p>
            <a:pPr>
              <a:defRPr/>
            </a:pPr>
            <a:fld id="{9D1EBE4A-155D-4E35-8F89-B982EEE01F22}" type="slidenum">
              <a:rPr lang="en-AU" smtClean="0"/>
              <a:pPr>
                <a:defRPr/>
              </a:pPr>
              <a:t>2</a:t>
            </a:fld>
            <a:endParaRPr lang="en-AU" dirty="0"/>
          </a:p>
        </p:txBody>
      </p:sp>
    </p:spTree>
    <p:extLst>
      <p:ext uri="{BB962C8B-B14F-4D97-AF65-F5344CB8AC3E}">
        <p14:creationId xmlns:p14="http://schemas.microsoft.com/office/powerpoint/2010/main" val="321059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TextEdit="1"/>
          </p:cNvSpPr>
          <p:nvPr>
            <p:ph type="sldImg"/>
          </p:nvPr>
        </p:nvSpPr>
        <p:spPr>
          <a:ln/>
        </p:spPr>
      </p:sp>
      <p:sp>
        <p:nvSpPr>
          <p:cNvPr id="122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Arial" pitchFamily="34" charset="0"/>
            </a:endParaRPr>
          </a:p>
        </p:txBody>
      </p:sp>
      <p:sp>
        <p:nvSpPr>
          <p:cNvPr id="122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defRPr>
            </a:lvl1pPr>
            <a:lvl2pPr marL="730250" indent="-280988">
              <a:defRPr sz="1200">
                <a:solidFill>
                  <a:schemeClr val="tx1"/>
                </a:solidFill>
                <a:latin typeface="Arial" pitchFamily="34" charset="0"/>
              </a:defRPr>
            </a:lvl2pPr>
            <a:lvl3pPr marL="1123950" indent="-223838">
              <a:defRPr sz="1200">
                <a:solidFill>
                  <a:schemeClr val="tx1"/>
                </a:solidFill>
                <a:latin typeface="Arial" pitchFamily="34" charset="0"/>
              </a:defRPr>
            </a:lvl3pPr>
            <a:lvl4pPr marL="1574800" indent="-223838">
              <a:defRPr sz="1200">
                <a:solidFill>
                  <a:schemeClr val="tx1"/>
                </a:solidFill>
                <a:latin typeface="Arial" pitchFamily="34" charset="0"/>
              </a:defRPr>
            </a:lvl4pPr>
            <a:lvl5pPr marL="2024063" indent="-223838">
              <a:defRPr sz="1200">
                <a:solidFill>
                  <a:schemeClr val="tx1"/>
                </a:solidFill>
                <a:latin typeface="Arial" pitchFamily="34" charset="0"/>
              </a:defRPr>
            </a:lvl5pPr>
            <a:lvl6pPr marL="2481263" indent="-223838" eaLnBrk="0" fontAlgn="base" hangingPunct="0">
              <a:spcBef>
                <a:spcPct val="30000"/>
              </a:spcBef>
              <a:spcAft>
                <a:spcPct val="0"/>
              </a:spcAft>
              <a:defRPr sz="1200">
                <a:solidFill>
                  <a:schemeClr val="tx1"/>
                </a:solidFill>
                <a:latin typeface="Arial" pitchFamily="34" charset="0"/>
              </a:defRPr>
            </a:lvl6pPr>
            <a:lvl7pPr marL="2938463" indent="-223838" eaLnBrk="0" fontAlgn="base" hangingPunct="0">
              <a:spcBef>
                <a:spcPct val="30000"/>
              </a:spcBef>
              <a:spcAft>
                <a:spcPct val="0"/>
              </a:spcAft>
              <a:defRPr sz="1200">
                <a:solidFill>
                  <a:schemeClr val="tx1"/>
                </a:solidFill>
                <a:latin typeface="Arial" pitchFamily="34" charset="0"/>
              </a:defRPr>
            </a:lvl7pPr>
            <a:lvl8pPr marL="3395663" indent="-223838" eaLnBrk="0" fontAlgn="base" hangingPunct="0">
              <a:spcBef>
                <a:spcPct val="30000"/>
              </a:spcBef>
              <a:spcAft>
                <a:spcPct val="0"/>
              </a:spcAft>
              <a:defRPr sz="1200">
                <a:solidFill>
                  <a:schemeClr val="tx1"/>
                </a:solidFill>
                <a:latin typeface="Arial" pitchFamily="34" charset="0"/>
              </a:defRPr>
            </a:lvl8pPr>
            <a:lvl9pPr marL="3852863" indent="-223838" eaLnBrk="0" fontAlgn="base" hangingPunct="0">
              <a:spcBef>
                <a:spcPct val="30000"/>
              </a:spcBef>
              <a:spcAft>
                <a:spcPct val="0"/>
              </a:spcAft>
              <a:defRPr sz="1200">
                <a:solidFill>
                  <a:schemeClr val="tx1"/>
                </a:solidFill>
                <a:latin typeface="Arial" pitchFamily="34" charset="0"/>
              </a:defRPr>
            </a:lvl9pPr>
          </a:lstStyle>
          <a:p>
            <a:fld id="{AA78976A-242D-456C-8BF6-9A6CF70C2BAE}" type="slidenum">
              <a:rPr lang="en-AU" altLang="tr-TR" sz="1300"/>
              <a:pPr/>
              <a:t>20</a:t>
            </a:fld>
            <a:endParaRPr lang="en-AU" altLang="tr-TR" sz="1300"/>
          </a:p>
        </p:txBody>
      </p:sp>
    </p:spTree>
    <p:extLst>
      <p:ext uri="{BB962C8B-B14F-4D97-AF65-F5344CB8AC3E}">
        <p14:creationId xmlns:p14="http://schemas.microsoft.com/office/powerpoint/2010/main" val="7023339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defRPr>
            </a:lvl1pPr>
            <a:lvl2pPr marL="730250" indent="-280988">
              <a:defRPr sz="1200">
                <a:solidFill>
                  <a:schemeClr val="tx1"/>
                </a:solidFill>
                <a:latin typeface="Arial" pitchFamily="34" charset="0"/>
              </a:defRPr>
            </a:lvl2pPr>
            <a:lvl3pPr marL="1123950" indent="-223838">
              <a:defRPr sz="1200">
                <a:solidFill>
                  <a:schemeClr val="tx1"/>
                </a:solidFill>
                <a:latin typeface="Arial" pitchFamily="34" charset="0"/>
              </a:defRPr>
            </a:lvl3pPr>
            <a:lvl4pPr marL="1574800" indent="-223838">
              <a:defRPr sz="1200">
                <a:solidFill>
                  <a:schemeClr val="tx1"/>
                </a:solidFill>
                <a:latin typeface="Arial" pitchFamily="34" charset="0"/>
              </a:defRPr>
            </a:lvl4pPr>
            <a:lvl5pPr marL="2024063" indent="-223838">
              <a:defRPr sz="1200">
                <a:solidFill>
                  <a:schemeClr val="tx1"/>
                </a:solidFill>
                <a:latin typeface="Arial" pitchFamily="34" charset="0"/>
              </a:defRPr>
            </a:lvl5pPr>
            <a:lvl6pPr marL="2481263" indent="-223838" eaLnBrk="0" fontAlgn="base" hangingPunct="0">
              <a:spcBef>
                <a:spcPct val="30000"/>
              </a:spcBef>
              <a:spcAft>
                <a:spcPct val="0"/>
              </a:spcAft>
              <a:defRPr sz="1200">
                <a:solidFill>
                  <a:schemeClr val="tx1"/>
                </a:solidFill>
                <a:latin typeface="Arial" pitchFamily="34" charset="0"/>
              </a:defRPr>
            </a:lvl6pPr>
            <a:lvl7pPr marL="2938463" indent="-223838" eaLnBrk="0" fontAlgn="base" hangingPunct="0">
              <a:spcBef>
                <a:spcPct val="30000"/>
              </a:spcBef>
              <a:spcAft>
                <a:spcPct val="0"/>
              </a:spcAft>
              <a:defRPr sz="1200">
                <a:solidFill>
                  <a:schemeClr val="tx1"/>
                </a:solidFill>
                <a:latin typeface="Arial" pitchFamily="34" charset="0"/>
              </a:defRPr>
            </a:lvl7pPr>
            <a:lvl8pPr marL="3395663" indent="-223838" eaLnBrk="0" fontAlgn="base" hangingPunct="0">
              <a:spcBef>
                <a:spcPct val="30000"/>
              </a:spcBef>
              <a:spcAft>
                <a:spcPct val="0"/>
              </a:spcAft>
              <a:defRPr sz="1200">
                <a:solidFill>
                  <a:schemeClr val="tx1"/>
                </a:solidFill>
                <a:latin typeface="Arial" pitchFamily="34" charset="0"/>
              </a:defRPr>
            </a:lvl8pPr>
            <a:lvl9pPr marL="3852863" indent="-223838" eaLnBrk="0" fontAlgn="base" hangingPunct="0">
              <a:spcBef>
                <a:spcPct val="30000"/>
              </a:spcBef>
              <a:spcAft>
                <a:spcPct val="0"/>
              </a:spcAft>
              <a:defRPr sz="1200">
                <a:solidFill>
                  <a:schemeClr val="tx1"/>
                </a:solidFill>
                <a:latin typeface="Arial" pitchFamily="34" charset="0"/>
              </a:defRPr>
            </a:lvl9pPr>
          </a:lstStyle>
          <a:p>
            <a:fld id="{0DAD317F-8F6B-471F-9616-9E1315347455}" type="slidenum">
              <a:rPr lang="en-AU" altLang="tr-TR" sz="1300"/>
              <a:pPr/>
              <a:t>21</a:t>
            </a:fld>
            <a:endParaRPr lang="en-AU" altLang="tr-TR" sz="130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tr-TR">
                <a:latin typeface="Arial" pitchFamily="34" charset="0"/>
              </a:rPr>
              <a:t>Traditionally information security provided by physical (eg. rugged filing cabinets with locks) and administrative mechanisms (eg. Personnel screening procedures during hiring process).</a:t>
            </a:r>
          </a:p>
          <a:p>
            <a:pPr eaLnBrk="1" hangingPunct="1"/>
            <a:endParaRPr lang="en-US" altLang="tr-TR">
              <a:latin typeface="Arial" pitchFamily="34" charset="0"/>
            </a:endParaRPr>
          </a:p>
          <a:p>
            <a:pPr eaLnBrk="1" hangingPunct="1"/>
            <a:r>
              <a:rPr lang="en-US" altLang="tr-TR">
                <a:latin typeface="Arial" pitchFamily="34" charset="0"/>
              </a:rPr>
              <a:t>Growing computer use implies a need for automated tools for protecting files and other information stored on it. </a:t>
            </a:r>
          </a:p>
          <a:p>
            <a:pPr eaLnBrk="1" hangingPunct="1"/>
            <a:r>
              <a:rPr lang="en-US" altLang="tr-TR">
                <a:latin typeface="Arial" pitchFamily="34" charset="0"/>
              </a:rPr>
              <a:t>This is especially the case for a shared system, such as a time-sharing system, and even more so for systems that can be</a:t>
            </a:r>
          </a:p>
          <a:p>
            <a:pPr eaLnBrk="1" hangingPunct="1"/>
            <a:r>
              <a:rPr lang="en-US" altLang="tr-TR">
                <a:latin typeface="Arial" pitchFamily="34" charset="0"/>
              </a:rPr>
              <a:t>accessed over a public telephone network, data network, or the Internet.</a:t>
            </a:r>
          </a:p>
          <a:p>
            <a:pPr eaLnBrk="1" hangingPunct="1"/>
            <a:endParaRPr lang="en-US" altLang="tr-TR">
              <a:latin typeface="Arial" pitchFamily="34" charset="0"/>
            </a:endParaRPr>
          </a:p>
          <a:p>
            <a:pPr eaLnBrk="1" hangingPunct="1"/>
            <a:endParaRPr lang="en-US" altLang="tr-TR">
              <a:latin typeface="Arial" pitchFamily="34" charset="0"/>
            </a:endParaRPr>
          </a:p>
          <a:p>
            <a:pPr eaLnBrk="1" hangingPunct="1"/>
            <a:endParaRPr lang="en-AU" altLang="tr-TR">
              <a:latin typeface="Arial" pitchFamily="34" charset="0"/>
            </a:endParaRPr>
          </a:p>
        </p:txBody>
      </p:sp>
    </p:spTree>
    <p:extLst>
      <p:ext uri="{BB962C8B-B14F-4D97-AF65-F5344CB8AC3E}">
        <p14:creationId xmlns:p14="http://schemas.microsoft.com/office/powerpoint/2010/main" val="35585319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a:ln/>
        </p:spPr>
      </p:sp>
      <p:sp>
        <p:nvSpPr>
          <p:cNvPr id="143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Arial" pitchFamily="34" charset="0"/>
            </a:endParaRPr>
          </a:p>
        </p:txBody>
      </p:sp>
      <p:sp>
        <p:nvSpPr>
          <p:cNvPr id="143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defRPr>
            </a:lvl1pPr>
            <a:lvl2pPr marL="730250" indent="-280988">
              <a:defRPr sz="1200">
                <a:solidFill>
                  <a:schemeClr val="tx1"/>
                </a:solidFill>
                <a:latin typeface="Arial" pitchFamily="34" charset="0"/>
              </a:defRPr>
            </a:lvl2pPr>
            <a:lvl3pPr marL="1123950" indent="-223838">
              <a:defRPr sz="1200">
                <a:solidFill>
                  <a:schemeClr val="tx1"/>
                </a:solidFill>
                <a:latin typeface="Arial" pitchFamily="34" charset="0"/>
              </a:defRPr>
            </a:lvl3pPr>
            <a:lvl4pPr marL="1574800" indent="-223838">
              <a:defRPr sz="1200">
                <a:solidFill>
                  <a:schemeClr val="tx1"/>
                </a:solidFill>
                <a:latin typeface="Arial" pitchFamily="34" charset="0"/>
              </a:defRPr>
            </a:lvl4pPr>
            <a:lvl5pPr marL="2024063" indent="-223838">
              <a:defRPr sz="1200">
                <a:solidFill>
                  <a:schemeClr val="tx1"/>
                </a:solidFill>
                <a:latin typeface="Arial" pitchFamily="34" charset="0"/>
              </a:defRPr>
            </a:lvl5pPr>
            <a:lvl6pPr marL="2481263" indent="-223838" eaLnBrk="0" fontAlgn="base" hangingPunct="0">
              <a:spcBef>
                <a:spcPct val="30000"/>
              </a:spcBef>
              <a:spcAft>
                <a:spcPct val="0"/>
              </a:spcAft>
              <a:defRPr sz="1200">
                <a:solidFill>
                  <a:schemeClr val="tx1"/>
                </a:solidFill>
                <a:latin typeface="Arial" pitchFamily="34" charset="0"/>
              </a:defRPr>
            </a:lvl6pPr>
            <a:lvl7pPr marL="2938463" indent="-223838" eaLnBrk="0" fontAlgn="base" hangingPunct="0">
              <a:spcBef>
                <a:spcPct val="30000"/>
              </a:spcBef>
              <a:spcAft>
                <a:spcPct val="0"/>
              </a:spcAft>
              <a:defRPr sz="1200">
                <a:solidFill>
                  <a:schemeClr val="tx1"/>
                </a:solidFill>
                <a:latin typeface="Arial" pitchFamily="34" charset="0"/>
              </a:defRPr>
            </a:lvl7pPr>
            <a:lvl8pPr marL="3395663" indent="-223838" eaLnBrk="0" fontAlgn="base" hangingPunct="0">
              <a:spcBef>
                <a:spcPct val="30000"/>
              </a:spcBef>
              <a:spcAft>
                <a:spcPct val="0"/>
              </a:spcAft>
              <a:defRPr sz="1200">
                <a:solidFill>
                  <a:schemeClr val="tx1"/>
                </a:solidFill>
                <a:latin typeface="Arial" pitchFamily="34" charset="0"/>
              </a:defRPr>
            </a:lvl8pPr>
            <a:lvl9pPr marL="3852863" indent="-223838" eaLnBrk="0" fontAlgn="base" hangingPunct="0">
              <a:spcBef>
                <a:spcPct val="30000"/>
              </a:spcBef>
              <a:spcAft>
                <a:spcPct val="0"/>
              </a:spcAft>
              <a:defRPr sz="1200">
                <a:solidFill>
                  <a:schemeClr val="tx1"/>
                </a:solidFill>
                <a:latin typeface="Arial" pitchFamily="34" charset="0"/>
              </a:defRPr>
            </a:lvl9pPr>
          </a:lstStyle>
          <a:p>
            <a:fld id="{ED16FD43-A54F-41AC-B37E-90A107E6B124}" type="slidenum">
              <a:rPr lang="en-AU" altLang="tr-TR" sz="1300"/>
              <a:pPr/>
              <a:t>22</a:t>
            </a:fld>
            <a:endParaRPr lang="en-AU" altLang="tr-TR" sz="1300"/>
          </a:p>
        </p:txBody>
      </p:sp>
    </p:spTree>
    <p:extLst>
      <p:ext uri="{BB962C8B-B14F-4D97-AF65-F5344CB8AC3E}">
        <p14:creationId xmlns:p14="http://schemas.microsoft.com/office/powerpoint/2010/main" val="6852640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AB2DB-76F8-1736-2B0B-81DDF65A7E65}"/>
            </a:ext>
          </a:extLst>
        </p:cNvPr>
        <p:cNvGrpSpPr/>
        <p:nvPr/>
      </p:nvGrpSpPr>
      <p:grpSpPr>
        <a:xfrm>
          <a:off x="0" y="0"/>
          <a:ext cx="0" cy="0"/>
          <a:chOff x="0" y="0"/>
          <a:chExt cx="0" cy="0"/>
        </a:xfrm>
      </p:grpSpPr>
      <p:sp>
        <p:nvSpPr>
          <p:cNvPr id="18434" name="Rectangle 7">
            <a:extLst>
              <a:ext uri="{FF2B5EF4-FFF2-40B4-BE49-F238E27FC236}">
                <a16:creationId xmlns:a16="http://schemas.microsoft.com/office/drawing/2014/main" id="{E5036DA4-C94B-8B8E-8FF8-ADC98B91FC7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defRPr>
            </a:lvl1pPr>
            <a:lvl2pPr marL="730250" indent="-280988">
              <a:defRPr sz="1200">
                <a:solidFill>
                  <a:schemeClr val="tx1"/>
                </a:solidFill>
                <a:latin typeface="Arial" pitchFamily="34" charset="0"/>
              </a:defRPr>
            </a:lvl2pPr>
            <a:lvl3pPr marL="1123950" indent="-223838">
              <a:defRPr sz="1200">
                <a:solidFill>
                  <a:schemeClr val="tx1"/>
                </a:solidFill>
                <a:latin typeface="Arial" pitchFamily="34" charset="0"/>
              </a:defRPr>
            </a:lvl3pPr>
            <a:lvl4pPr marL="1574800" indent="-223838">
              <a:defRPr sz="1200">
                <a:solidFill>
                  <a:schemeClr val="tx1"/>
                </a:solidFill>
                <a:latin typeface="Arial" pitchFamily="34" charset="0"/>
              </a:defRPr>
            </a:lvl4pPr>
            <a:lvl5pPr marL="2024063" indent="-223838">
              <a:defRPr sz="1200">
                <a:solidFill>
                  <a:schemeClr val="tx1"/>
                </a:solidFill>
                <a:latin typeface="Arial" pitchFamily="34" charset="0"/>
              </a:defRPr>
            </a:lvl5pPr>
            <a:lvl6pPr marL="2481263" indent="-223838" eaLnBrk="0" fontAlgn="base" hangingPunct="0">
              <a:spcBef>
                <a:spcPct val="30000"/>
              </a:spcBef>
              <a:spcAft>
                <a:spcPct val="0"/>
              </a:spcAft>
              <a:defRPr sz="1200">
                <a:solidFill>
                  <a:schemeClr val="tx1"/>
                </a:solidFill>
                <a:latin typeface="Arial" pitchFamily="34" charset="0"/>
              </a:defRPr>
            </a:lvl6pPr>
            <a:lvl7pPr marL="2938463" indent="-223838" eaLnBrk="0" fontAlgn="base" hangingPunct="0">
              <a:spcBef>
                <a:spcPct val="30000"/>
              </a:spcBef>
              <a:spcAft>
                <a:spcPct val="0"/>
              </a:spcAft>
              <a:defRPr sz="1200">
                <a:solidFill>
                  <a:schemeClr val="tx1"/>
                </a:solidFill>
                <a:latin typeface="Arial" pitchFamily="34" charset="0"/>
              </a:defRPr>
            </a:lvl7pPr>
            <a:lvl8pPr marL="3395663" indent="-223838" eaLnBrk="0" fontAlgn="base" hangingPunct="0">
              <a:spcBef>
                <a:spcPct val="30000"/>
              </a:spcBef>
              <a:spcAft>
                <a:spcPct val="0"/>
              </a:spcAft>
              <a:defRPr sz="1200">
                <a:solidFill>
                  <a:schemeClr val="tx1"/>
                </a:solidFill>
                <a:latin typeface="Arial" pitchFamily="34" charset="0"/>
              </a:defRPr>
            </a:lvl8pPr>
            <a:lvl9pPr marL="3852863" indent="-223838" eaLnBrk="0" fontAlgn="base" hangingPunct="0">
              <a:spcBef>
                <a:spcPct val="30000"/>
              </a:spcBef>
              <a:spcAft>
                <a:spcPct val="0"/>
              </a:spcAft>
              <a:defRPr sz="1200">
                <a:solidFill>
                  <a:schemeClr val="tx1"/>
                </a:solidFill>
                <a:latin typeface="Arial" pitchFamily="34" charset="0"/>
              </a:defRPr>
            </a:lvl9pPr>
          </a:lstStyle>
          <a:p>
            <a:fld id="{0DAD317F-8F6B-471F-9616-9E1315347455}" type="slidenum">
              <a:rPr lang="en-AU" altLang="tr-TR" sz="1300"/>
              <a:pPr/>
              <a:t>23</a:t>
            </a:fld>
            <a:endParaRPr lang="en-AU" altLang="tr-TR" sz="1300"/>
          </a:p>
        </p:txBody>
      </p:sp>
      <p:sp>
        <p:nvSpPr>
          <p:cNvPr id="18435" name="Rectangle 2">
            <a:extLst>
              <a:ext uri="{FF2B5EF4-FFF2-40B4-BE49-F238E27FC236}">
                <a16:creationId xmlns:a16="http://schemas.microsoft.com/office/drawing/2014/main" id="{AE2F9226-010E-5D1A-EBEA-7A85EB1A3C62}"/>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2C86391B-7AA8-7442-5144-4FCA7C7DDDB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tr-TR">
                <a:latin typeface="Arial" pitchFamily="34" charset="0"/>
              </a:rPr>
              <a:t>Traditionally information security provided by physical (eg. rugged filing cabinets with locks) and administrative mechanisms (eg. Personnel screening procedures during hiring process).</a:t>
            </a:r>
          </a:p>
          <a:p>
            <a:pPr eaLnBrk="1" hangingPunct="1"/>
            <a:endParaRPr lang="en-US" altLang="tr-TR">
              <a:latin typeface="Arial" pitchFamily="34" charset="0"/>
            </a:endParaRPr>
          </a:p>
          <a:p>
            <a:pPr eaLnBrk="1" hangingPunct="1"/>
            <a:r>
              <a:rPr lang="en-US" altLang="tr-TR">
                <a:latin typeface="Arial" pitchFamily="34" charset="0"/>
              </a:rPr>
              <a:t>Growing computer use implies a need for automated tools for protecting files and other information stored on it. </a:t>
            </a:r>
          </a:p>
          <a:p>
            <a:pPr eaLnBrk="1" hangingPunct="1"/>
            <a:r>
              <a:rPr lang="en-US" altLang="tr-TR">
                <a:latin typeface="Arial" pitchFamily="34" charset="0"/>
              </a:rPr>
              <a:t>This is especially the case for a shared system, such as a time-sharing system, and even more so for systems that can be</a:t>
            </a:r>
          </a:p>
          <a:p>
            <a:pPr eaLnBrk="1" hangingPunct="1"/>
            <a:r>
              <a:rPr lang="en-US" altLang="tr-TR">
                <a:latin typeface="Arial" pitchFamily="34" charset="0"/>
              </a:rPr>
              <a:t>accessed over a public telephone network, data network, or the Internet.</a:t>
            </a:r>
          </a:p>
          <a:p>
            <a:pPr eaLnBrk="1" hangingPunct="1"/>
            <a:endParaRPr lang="en-US" altLang="tr-TR">
              <a:latin typeface="Arial" pitchFamily="34" charset="0"/>
            </a:endParaRPr>
          </a:p>
          <a:p>
            <a:pPr eaLnBrk="1" hangingPunct="1"/>
            <a:endParaRPr lang="en-US" altLang="tr-TR">
              <a:latin typeface="Arial" pitchFamily="34" charset="0"/>
            </a:endParaRPr>
          </a:p>
          <a:p>
            <a:pPr eaLnBrk="1" hangingPunct="1"/>
            <a:endParaRPr lang="en-AU" altLang="tr-TR">
              <a:latin typeface="Arial" pitchFamily="34" charset="0"/>
            </a:endParaRPr>
          </a:p>
        </p:txBody>
      </p:sp>
    </p:spTree>
    <p:extLst>
      <p:ext uri="{BB962C8B-B14F-4D97-AF65-F5344CB8AC3E}">
        <p14:creationId xmlns:p14="http://schemas.microsoft.com/office/powerpoint/2010/main" val="41648975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7CF2B-AF8E-1218-2F62-FF68F4EFEE5D}"/>
            </a:ext>
          </a:extLst>
        </p:cNvPr>
        <p:cNvGrpSpPr/>
        <p:nvPr/>
      </p:nvGrpSpPr>
      <p:grpSpPr>
        <a:xfrm>
          <a:off x="0" y="0"/>
          <a:ext cx="0" cy="0"/>
          <a:chOff x="0" y="0"/>
          <a:chExt cx="0" cy="0"/>
        </a:xfrm>
      </p:grpSpPr>
      <p:sp>
        <p:nvSpPr>
          <p:cNvPr id="18434" name="Rectangle 7">
            <a:extLst>
              <a:ext uri="{FF2B5EF4-FFF2-40B4-BE49-F238E27FC236}">
                <a16:creationId xmlns:a16="http://schemas.microsoft.com/office/drawing/2014/main" id="{674FA1BB-BD8B-A8AB-68BA-253E51EE14D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defRPr>
            </a:lvl1pPr>
            <a:lvl2pPr marL="730250" indent="-280988">
              <a:defRPr sz="1200">
                <a:solidFill>
                  <a:schemeClr val="tx1"/>
                </a:solidFill>
                <a:latin typeface="Arial" pitchFamily="34" charset="0"/>
              </a:defRPr>
            </a:lvl2pPr>
            <a:lvl3pPr marL="1123950" indent="-223838">
              <a:defRPr sz="1200">
                <a:solidFill>
                  <a:schemeClr val="tx1"/>
                </a:solidFill>
                <a:latin typeface="Arial" pitchFamily="34" charset="0"/>
              </a:defRPr>
            </a:lvl3pPr>
            <a:lvl4pPr marL="1574800" indent="-223838">
              <a:defRPr sz="1200">
                <a:solidFill>
                  <a:schemeClr val="tx1"/>
                </a:solidFill>
                <a:latin typeface="Arial" pitchFamily="34" charset="0"/>
              </a:defRPr>
            </a:lvl4pPr>
            <a:lvl5pPr marL="2024063" indent="-223838">
              <a:defRPr sz="1200">
                <a:solidFill>
                  <a:schemeClr val="tx1"/>
                </a:solidFill>
                <a:latin typeface="Arial" pitchFamily="34" charset="0"/>
              </a:defRPr>
            </a:lvl5pPr>
            <a:lvl6pPr marL="2481263" indent="-223838" eaLnBrk="0" fontAlgn="base" hangingPunct="0">
              <a:spcBef>
                <a:spcPct val="30000"/>
              </a:spcBef>
              <a:spcAft>
                <a:spcPct val="0"/>
              </a:spcAft>
              <a:defRPr sz="1200">
                <a:solidFill>
                  <a:schemeClr val="tx1"/>
                </a:solidFill>
                <a:latin typeface="Arial" pitchFamily="34" charset="0"/>
              </a:defRPr>
            </a:lvl6pPr>
            <a:lvl7pPr marL="2938463" indent="-223838" eaLnBrk="0" fontAlgn="base" hangingPunct="0">
              <a:spcBef>
                <a:spcPct val="30000"/>
              </a:spcBef>
              <a:spcAft>
                <a:spcPct val="0"/>
              </a:spcAft>
              <a:defRPr sz="1200">
                <a:solidFill>
                  <a:schemeClr val="tx1"/>
                </a:solidFill>
                <a:latin typeface="Arial" pitchFamily="34" charset="0"/>
              </a:defRPr>
            </a:lvl7pPr>
            <a:lvl8pPr marL="3395663" indent="-223838" eaLnBrk="0" fontAlgn="base" hangingPunct="0">
              <a:spcBef>
                <a:spcPct val="30000"/>
              </a:spcBef>
              <a:spcAft>
                <a:spcPct val="0"/>
              </a:spcAft>
              <a:defRPr sz="1200">
                <a:solidFill>
                  <a:schemeClr val="tx1"/>
                </a:solidFill>
                <a:latin typeface="Arial" pitchFamily="34" charset="0"/>
              </a:defRPr>
            </a:lvl8pPr>
            <a:lvl9pPr marL="3852863" indent="-223838" eaLnBrk="0" fontAlgn="base" hangingPunct="0">
              <a:spcBef>
                <a:spcPct val="30000"/>
              </a:spcBef>
              <a:spcAft>
                <a:spcPct val="0"/>
              </a:spcAft>
              <a:defRPr sz="1200">
                <a:solidFill>
                  <a:schemeClr val="tx1"/>
                </a:solidFill>
                <a:latin typeface="Arial" pitchFamily="34" charset="0"/>
              </a:defRPr>
            </a:lvl9pPr>
          </a:lstStyle>
          <a:p>
            <a:fld id="{0DAD317F-8F6B-471F-9616-9E1315347455}" type="slidenum">
              <a:rPr lang="en-AU" altLang="tr-TR" sz="1300"/>
              <a:pPr/>
              <a:t>24</a:t>
            </a:fld>
            <a:endParaRPr lang="en-AU" altLang="tr-TR" sz="1300"/>
          </a:p>
        </p:txBody>
      </p:sp>
      <p:sp>
        <p:nvSpPr>
          <p:cNvPr id="18435" name="Rectangle 2">
            <a:extLst>
              <a:ext uri="{FF2B5EF4-FFF2-40B4-BE49-F238E27FC236}">
                <a16:creationId xmlns:a16="http://schemas.microsoft.com/office/drawing/2014/main" id="{D521C1A8-6636-A5A2-2917-CF5E9820F2FC}"/>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3F7C839A-E718-00B1-5DE1-989C6E9E278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tr-TR">
                <a:latin typeface="Arial" pitchFamily="34" charset="0"/>
              </a:rPr>
              <a:t>Traditionally information security provided by physical (eg. rugged filing cabinets with locks) and administrative mechanisms (eg. Personnel screening procedures during hiring process).</a:t>
            </a:r>
          </a:p>
          <a:p>
            <a:pPr eaLnBrk="1" hangingPunct="1"/>
            <a:endParaRPr lang="en-US" altLang="tr-TR">
              <a:latin typeface="Arial" pitchFamily="34" charset="0"/>
            </a:endParaRPr>
          </a:p>
          <a:p>
            <a:pPr eaLnBrk="1" hangingPunct="1"/>
            <a:r>
              <a:rPr lang="en-US" altLang="tr-TR">
                <a:latin typeface="Arial" pitchFamily="34" charset="0"/>
              </a:rPr>
              <a:t>Growing computer use implies a need for automated tools for protecting files and other information stored on it. </a:t>
            </a:r>
          </a:p>
          <a:p>
            <a:pPr eaLnBrk="1" hangingPunct="1"/>
            <a:r>
              <a:rPr lang="en-US" altLang="tr-TR">
                <a:latin typeface="Arial" pitchFamily="34" charset="0"/>
              </a:rPr>
              <a:t>This is especially the case for a shared system, such as a time-sharing system, and even more so for systems that can be</a:t>
            </a:r>
          </a:p>
          <a:p>
            <a:pPr eaLnBrk="1" hangingPunct="1"/>
            <a:r>
              <a:rPr lang="en-US" altLang="tr-TR">
                <a:latin typeface="Arial" pitchFamily="34" charset="0"/>
              </a:rPr>
              <a:t>accessed over a public telephone network, data network, or the Internet.</a:t>
            </a:r>
          </a:p>
          <a:p>
            <a:pPr eaLnBrk="1" hangingPunct="1"/>
            <a:endParaRPr lang="en-US" altLang="tr-TR">
              <a:latin typeface="Arial" pitchFamily="34" charset="0"/>
            </a:endParaRPr>
          </a:p>
          <a:p>
            <a:pPr eaLnBrk="1" hangingPunct="1"/>
            <a:endParaRPr lang="en-US" altLang="tr-TR">
              <a:latin typeface="Arial" pitchFamily="34" charset="0"/>
            </a:endParaRPr>
          </a:p>
          <a:p>
            <a:pPr eaLnBrk="1" hangingPunct="1"/>
            <a:endParaRPr lang="en-AU" altLang="tr-TR">
              <a:latin typeface="Arial" pitchFamily="34" charset="0"/>
            </a:endParaRPr>
          </a:p>
        </p:txBody>
      </p:sp>
    </p:spTree>
    <p:extLst>
      <p:ext uri="{BB962C8B-B14F-4D97-AF65-F5344CB8AC3E}">
        <p14:creationId xmlns:p14="http://schemas.microsoft.com/office/powerpoint/2010/main" val="8580595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defRPr>
            </a:lvl1pPr>
            <a:lvl2pPr marL="730250" indent="-280988">
              <a:defRPr sz="1200">
                <a:solidFill>
                  <a:schemeClr val="tx1"/>
                </a:solidFill>
                <a:latin typeface="Arial" pitchFamily="34" charset="0"/>
              </a:defRPr>
            </a:lvl2pPr>
            <a:lvl3pPr marL="1123950" indent="-223838">
              <a:defRPr sz="1200">
                <a:solidFill>
                  <a:schemeClr val="tx1"/>
                </a:solidFill>
                <a:latin typeface="Arial" pitchFamily="34" charset="0"/>
              </a:defRPr>
            </a:lvl3pPr>
            <a:lvl4pPr marL="1574800" indent="-223838">
              <a:defRPr sz="1200">
                <a:solidFill>
                  <a:schemeClr val="tx1"/>
                </a:solidFill>
                <a:latin typeface="Arial" pitchFamily="34" charset="0"/>
              </a:defRPr>
            </a:lvl4pPr>
            <a:lvl5pPr marL="2024063" indent="-223838">
              <a:defRPr sz="1200">
                <a:solidFill>
                  <a:schemeClr val="tx1"/>
                </a:solidFill>
                <a:latin typeface="Arial" pitchFamily="34" charset="0"/>
              </a:defRPr>
            </a:lvl5pPr>
            <a:lvl6pPr marL="2481263" indent="-223838" eaLnBrk="0" fontAlgn="base" hangingPunct="0">
              <a:spcBef>
                <a:spcPct val="30000"/>
              </a:spcBef>
              <a:spcAft>
                <a:spcPct val="0"/>
              </a:spcAft>
              <a:defRPr sz="1200">
                <a:solidFill>
                  <a:schemeClr val="tx1"/>
                </a:solidFill>
                <a:latin typeface="Arial" pitchFamily="34" charset="0"/>
              </a:defRPr>
            </a:lvl6pPr>
            <a:lvl7pPr marL="2938463" indent="-223838" eaLnBrk="0" fontAlgn="base" hangingPunct="0">
              <a:spcBef>
                <a:spcPct val="30000"/>
              </a:spcBef>
              <a:spcAft>
                <a:spcPct val="0"/>
              </a:spcAft>
              <a:defRPr sz="1200">
                <a:solidFill>
                  <a:schemeClr val="tx1"/>
                </a:solidFill>
                <a:latin typeface="Arial" pitchFamily="34" charset="0"/>
              </a:defRPr>
            </a:lvl7pPr>
            <a:lvl8pPr marL="3395663" indent="-223838" eaLnBrk="0" fontAlgn="base" hangingPunct="0">
              <a:spcBef>
                <a:spcPct val="30000"/>
              </a:spcBef>
              <a:spcAft>
                <a:spcPct val="0"/>
              </a:spcAft>
              <a:defRPr sz="1200">
                <a:solidFill>
                  <a:schemeClr val="tx1"/>
                </a:solidFill>
                <a:latin typeface="Arial" pitchFamily="34" charset="0"/>
              </a:defRPr>
            </a:lvl8pPr>
            <a:lvl9pPr marL="3852863" indent="-223838" eaLnBrk="0" fontAlgn="base" hangingPunct="0">
              <a:spcBef>
                <a:spcPct val="30000"/>
              </a:spcBef>
              <a:spcAft>
                <a:spcPct val="0"/>
              </a:spcAft>
              <a:defRPr sz="1200">
                <a:solidFill>
                  <a:schemeClr val="tx1"/>
                </a:solidFill>
                <a:latin typeface="Arial" pitchFamily="34" charset="0"/>
              </a:defRPr>
            </a:lvl9pPr>
          </a:lstStyle>
          <a:p>
            <a:fld id="{0DAD317F-8F6B-471F-9616-9E1315347455}" type="slidenum">
              <a:rPr lang="en-AU" altLang="tr-TR" sz="1300"/>
              <a:pPr/>
              <a:t>25</a:t>
            </a:fld>
            <a:endParaRPr lang="en-AU" altLang="tr-TR" sz="130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tr-TR">
                <a:latin typeface="Arial" pitchFamily="34" charset="0"/>
              </a:rPr>
              <a:t>Traditionally information security provided by physical (eg. rugged filing cabinets with locks) and administrative mechanisms (eg. Personnel screening procedures during hiring process).</a:t>
            </a:r>
          </a:p>
          <a:p>
            <a:pPr eaLnBrk="1" hangingPunct="1"/>
            <a:endParaRPr lang="en-US" altLang="tr-TR">
              <a:latin typeface="Arial" pitchFamily="34" charset="0"/>
            </a:endParaRPr>
          </a:p>
          <a:p>
            <a:pPr eaLnBrk="1" hangingPunct="1"/>
            <a:r>
              <a:rPr lang="en-US" altLang="tr-TR">
                <a:latin typeface="Arial" pitchFamily="34" charset="0"/>
              </a:rPr>
              <a:t>Growing computer use implies a need for automated tools for protecting files and other information stored on it. </a:t>
            </a:r>
          </a:p>
          <a:p>
            <a:pPr eaLnBrk="1" hangingPunct="1"/>
            <a:r>
              <a:rPr lang="en-US" altLang="tr-TR">
                <a:latin typeface="Arial" pitchFamily="34" charset="0"/>
              </a:rPr>
              <a:t>This is especially the case for a shared system, such as a time-sharing system, and even more so for systems that can be</a:t>
            </a:r>
          </a:p>
          <a:p>
            <a:pPr eaLnBrk="1" hangingPunct="1"/>
            <a:r>
              <a:rPr lang="en-US" altLang="tr-TR">
                <a:latin typeface="Arial" pitchFamily="34" charset="0"/>
              </a:rPr>
              <a:t>accessed over a public telephone network, data network, or the Internet.</a:t>
            </a:r>
          </a:p>
          <a:p>
            <a:pPr eaLnBrk="1" hangingPunct="1"/>
            <a:endParaRPr lang="en-US" altLang="tr-TR">
              <a:latin typeface="Arial" pitchFamily="34" charset="0"/>
            </a:endParaRPr>
          </a:p>
          <a:p>
            <a:pPr eaLnBrk="1" hangingPunct="1"/>
            <a:endParaRPr lang="en-US" altLang="tr-TR">
              <a:latin typeface="Arial" pitchFamily="34" charset="0"/>
            </a:endParaRPr>
          </a:p>
          <a:p>
            <a:pPr eaLnBrk="1" hangingPunct="1"/>
            <a:endParaRPr lang="en-AU" altLang="tr-TR">
              <a:latin typeface="Arial" pitchFamily="34" charset="0"/>
            </a:endParaRPr>
          </a:p>
        </p:txBody>
      </p:sp>
    </p:spTree>
    <p:extLst>
      <p:ext uri="{BB962C8B-B14F-4D97-AF65-F5344CB8AC3E}">
        <p14:creationId xmlns:p14="http://schemas.microsoft.com/office/powerpoint/2010/main" val="36528177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defRPr>
            </a:lvl1pPr>
            <a:lvl2pPr marL="730250" indent="-280988">
              <a:defRPr sz="1200">
                <a:solidFill>
                  <a:schemeClr val="tx1"/>
                </a:solidFill>
                <a:latin typeface="Arial" pitchFamily="34" charset="0"/>
              </a:defRPr>
            </a:lvl2pPr>
            <a:lvl3pPr marL="1123950" indent="-223838">
              <a:defRPr sz="1200">
                <a:solidFill>
                  <a:schemeClr val="tx1"/>
                </a:solidFill>
                <a:latin typeface="Arial" pitchFamily="34" charset="0"/>
              </a:defRPr>
            </a:lvl3pPr>
            <a:lvl4pPr marL="1574800" indent="-223838">
              <a:defRPr sz="1200">
                <a:solidFill>
                  <a:schemeClr val="tx1"/>
                </a:solidFill>
                <a:latin typeface="Arial" pitchFamily="34" charset="0"/>
              </a:defRPr>
            </a:lvl4pPr>
            <a:lvl5pPr marL="2024063" indent="-223838">
              <a:defRPr sz="1200">
                <a:solidFill>
                  <a:schemeClr val="tx1"/>
                </a:solidFill>
                <a:latin typeface="Arial" pitchFamily="34" charset="0"/>
              </a:defRPr>
            </a:lvl5pPr>
            <a:lvl6pPr marL="2481263" indent="-223838" eaLnBrk="0" fontAlgn="base" hangingPunct="0">
              <a:spcBef>
                <a:spcPct val="30000"/>
              </a:spcBef>
              <a:spcAft>
                <a:spcPct val="0"/>
              </a:spcAft>
              <a:defRPr sz="1200">
                <a:solidFill>
                  <a:schemeClr val="tx1"/>
                </a:solidFill>
                <a:latin typeface="Arial" pitchFamily="34" charset="0"/>
              </a:defRPr>
            </a:lvl6pPr>
            <a:lvl7pPr marL="2938463" indent="-223838" eaLnBrk="0" fontAlgn="base" hangingPunct="0">
              <a:spcBef>
                <a:spcPct val="30000"/>
              </a:spcBef>
              <a:spcAft>
                <a:spcPct val="0"/>
              </a:spcAft>
              <a:defRPr sz="1200">
                <a:solidFill>
                  <a:schemeClr val="tx1"/>
                </a:solidFill>
                <a:latin typeface="Arial" pitchFamily="34" charset="0"/>
              </a:defRPr>
            </a:lvl7pPr>
            <a:lvl8pPr marL="3395663" indent="-223838" eaLnBrk="0" fontAlgn="base" hangingPunct="0">
              <a:spcBef>
                <a:spcPct val="30000"/>
              </a:spcBef>
              <a:spcAft>
                <a:spcPct val="0"/>
              </a:spcAft>
              <a:defRPr sz="1200">
                <a:solidFill>
                  <a:schemeClr val="tx1"/>
                </a:solidFill>
                <a:latin typeface="Arial" pitchFamily="34" charset="0"/>
              </a:defRPr>
            </a:lvl8pPr>
            <a:lvl9pPr marL="3852863" indent="-223838" eaLnBrk="0" fontAlgn="base" hangingPunct="0">
              <a:spcBef>
                <a:spcPct val="30000"/>
              </a:spcBef>
              <a:spcAft>
                <a:spcPct val="0"/>
              </a:spcAft>
              <a:defRPr sz="1200">
                <a:solidFill>
                  <a:schemeClr val="tx1"/>
                </a:solidFill>
                <a:latin typeface="Arial" pitchFamily="34" charset="0"/>
              </a:defRPr>
            </a:lvl9pPr>
          </a:lstStyle>
          <a:p>
            <a:fld id="{6810E2B2-5B67-4F12-9EF2-37E20D3B8B13}" type="slidenum">
              <a:rPr lang="en-AU" altLang="tr-TR" sz="1300"/>
              <a:pPr/>
              <a:t>26</a:t>
            </a:fld>
            <a:endParaRPr lang="en-AU" altLang="tr-TR" sz="1300"/>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tr-TR" dirty="0">
                <a:latin typeface="Arial Unicode MS" pitchFamily="34" charset="-128"/>
              </a:rPr>
              <a:t>Discussion: Attacks became more sophisticated to find out and more automated so that any kid can mount. </a:t>
            </a:r>
            <a:endParaRPr lang="en-US" altLang="tr-TR" dirty="0">
              <a:latin typeface="Arial" pitchFamily="34" charset="0"/>
            </a:endParaRPr>
          </a:p>
          <a:p>
            <a:pPr eaLnBrk="1" hangingPunct="1"/>
            <a:endParaRPr lang="en-US" altLang="tr-TR" dirty="0">
              <a:latin typeface="Arial" pitchFamily="34" charset="0"/>
            </a:endParaRPr>
          </a:p>
        </p:txBody>
      </p:sp>
    </p:spTree>
    <p:extLst>
      <p:ext uri="{BB962C8B-B14F-4D97-AF65-F5344CB8AC3E}">
        <p14:creationId xmlns:p14="http://schemas.microsoft.com/office/powerpoint/2010/main" val="6096177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ln/>
        </p:spPr>
      </p:sp>
      <p:sp>
        <p:nvSpPr>
          <p:cNvPr id="317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itchFamily="34" charset="0"/>
            </a:endParaRPr>
          </a:p>
        </p:txBody>
      </p:sp>
      <p:sp>
        <p:nvSpPr>
          <p:cNvPr id="317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20E60B76-C94C-46A5-9296-B1CA673BEED4}" type="slidenum">
              <a:rPr lang="en-AU" altLang="tr-TR" sz="1300">
                <a:latin typeface="Arial" pitchFamily="34" charset="0"/>
              </a:rPr>
              <a:pPr/>
              <a:t>27</a:t>
            </a:fld>
            <a:endParaRPr lang="en-AU" altLang="tr-TR" sz="1300">
              <a:latin typeface="Arial" pitchFamily="34" charset="0"/>
            </a:endParaRPr>
          </a:p>
        </p:txBody>
      </p:sp>
    </p:spTree>
    <p:extLst>
      <p:ext uri="{BB962C8B-B14F-4D97-AF65-F5344CB8AC3E}">
        <p14:creationId xmlns:p14="http://schemas.microsoft.com/office/powerpoint/2010/main" val="39224598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itchFamily="34" charset="0"/>
            </a:endParaRPr>
          </a:p>
        </p:txBody>
      </p:sp>
      <p:sp>
        <p:nvSpPr>
          <p:cNvPr id="399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ED4BCD28-6D48-4155-B922-BF7F42438E22}" type="slidenum">
              <a:rPr lang="en-AU" altLang="tr-TR" sz="1300">
                <a:latin typeface="Arial" pitchFamily="34" charset="0"/>
              </a:rPr>
              <a:pPr/>
              <a:t>28</a:t>
            </a:fld>
            <a:endParaRPr lang="en-AU" altLang="tr-TR" sz="1300">
              <a:latin typeface="Arial" pitchFamily="34" charset="0"/>
            </a:endParaRPr>
          </a:p>
        </p:txBody>
      </p:sp>
    </p:spTree>
    <p:extLst>
      <p:ext uri="{BB962C8B-B14F-4D97-AF65-F5344CB8AC3E}">
        <p14:creationId xmlns:p14="http://schemas.microsoft.com/office/powerpoint/2010/main" val="760765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a:bodyPr>
          <a:lstStyle/>
          <a:p>
            <a:pPr>
              <a:defRPr/>
            </a:pPr>
            <a:endParaRPr lang="en-US" dirty="0"/>
          </a:p>
        </p:txBody>
      </p:sp>
      <p:sp>
        <p:nvSpPr>
          <p:cNvPr id="74756" name="Slide Number Placeholder 3"/>
          <p:cNvSpPr>
            <a:spLocks noGrp="1"/>
          </p:cNvSpPr>
          <p:nvPr>
            <p:ph type="sldNum" sz="quarter" idx="5"/>
          </p:nvPr>
        </p:nvSpPr>
        <p:spPr/>
        <p:txBody>
          <a:bodyPr/>
          <a:lstStyle/>
          <a:p>
            <a:pPr>
              <a:defRPr/>
            </a:pPr>
            <a:fld id="{5A4A34B8-55D1-4F90-98B7-15D19707430A}" type="slidenum">
              <a:rPr lang="en-AU" smtClean="0">
                <a:latin typeface="Arial" pitchFamily="34" charset="0"/>
              </a:rPr>
              <a:pPr>
                <a:defRPr/>
              </a:pPr>
              <a:t>31</a:t>
            </a:fld>
            <a:endParaRPr lang="en-AU">
              <a:latin typeface="Arial" pitchFamily="34" charset="0"/>
            </a:endParaRPr>
          </a:p>
        </p:txBody>
      </p:sp>
    </p:spTree>
    <p:extLst>
      <p:ext uri="{BB962C8B-B14F-4D97-AF65-F5344CB8AC3E}">
        <p14:creationId xmlns:p14="http://schemas.microsoft.com/office/powerpoint/2010/main" val="17592556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a:ln/>
        </p:spPr>
      </p:sp>
      <p:sp>
        <p:nvSpPr>
          <p:cNvPr id="89091" name="Notes Placeholder 2"/>
          <p:cNvSpPr>
            <a:spLocks noGrp="1"/>
          </p:cNvSpPr>
          <p:nvPr>
            <p:ph type="body" idx="1"/>
          </p:nvPr>
        </p:nvSpPr>
        <p:spPr>
          <a:xfrm>
            <a:off x="685800" y="4343400"/>
            <a:ext cx="5486400" cy="4495800"/>
          </a:xfrm>
          <a:noFill/>
          <a:ln/>
        </p:spPr>
        <p:txBody>
          <a:bodyPr/>
          <a:lstStyle/>
          <a:p>
            <a:endParaRPr lang="en-US">
              <a:latin typeface="Arial" pitchFamily="34" charset="0"/>
              <a:ea typeface="ＭＳ Ｐゴシック" pitchFamily="34" charset="-128"/>
              <a:cs typeface="Arial" pitchFamily="34" charset="0"/>
            </a:endParaRPr>
          </a:p>
        </p:txBody>
      </p:sp>
      <p:sp>
        <p:nvSpPr>
          <p:cNvPr id="75780" name="Slide Number Placeholder 3"/>
          <p:cNvSpPr>
            <a:spLocks noGrp="1"/>
          </p:cNvSpPr>
          <p:nvPr>
            <p:ph type="sldNum" sz="quarter" idx="5"/>
          </p:nvPr>
        </p:nvSpPr>
        <p:spPr/>
        <p:txBody>
          <a:bodyPr/>
          <a:lstStyle/>
          <a:p>
            <a:pPr>
              <a:defRPr/>
            </a:pPr>
            <a:fld id="{080F74AC-7070-4A42-9E64-68D0E2CFB7E7}" type="slidenum">
              <a:rPr lang="en-AU" smtClean="0">
                <a:latin typeface="Arial" pitchFamily="34" charset="0"/>
              </a:rPr>
              <a:pPr>
                <a:defRPr/>
              </a:pPr>
              <a:t>33</a:t>
            </a:fld>
            <a:endParaRPr lang="en-AU">
              <a:latin typeface="Arial" pitchFamily="34" charset="0"/>
            </a:endParaRPr>
          </a:p>
        </p:txBody>
      </p:sp>
    </p:spTree>
    <p:extLst>
      <p:ext uri="{BB962C8B-B14F-4D97-AF65-F5344CB8AC3E}">
        <p14:creationId xmlns:p14="http://schemas.microsoft.com/office/powerpoint/2010/main" val="15825681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274"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buSzPct val="45000"/>
              <a:buFont typeface="Wingdings" panose="05000000000000000000" pitchFamily="2" charset="2"/>
              <a:buNone/>
            </a:pPr>
            <a:fld id="{E1121266-3D0F-4F81-969C-11617F7E5802}" type="slidenum">
              <a:rPr lang="en-GB" altLang="en-US" smtClean="0"/>
              <a:pPr>
                <a:spcBef>
                  <a:spcPct val="0"/>
                </a:spcBef>
                <a:buSzPct val="45000"/>
                <a:buFont typeface="Wingdings" panose="05000000000000000000" pitchFamily="2" charset="2"/>
                <a:buNone/>
              </a:pPr>
              <a:t>34</a:t>
            </a:fld>
            <a:endParaRPr lang="en-GB" altLang="en-US"/>
          </a:p>
        </p:txBody>
      </p:sp>
      <p:sp>
        <p:nvSpPr>
          <p:cNvPr id="54275" name="Text Box 1"/>
          <p:cNvSpPr txBox="1">
            <a:spLocks noChangeArrowheads="1"/>
          </p:cNvSpPr>
          <p:nvPr/>
        </p:nvSpPr>
        <p:spPr bwMode="auto">
          <a:xfrm>
            <a:off x="1143000" y="685800"/>
            <a:ext cx="4572000" cy="3429000"/>
          </a:xfrm>
          <a:prstGeom prst="rect">
            <a:avLst/>
          </a:prstGeom>
          <a:solidFill>
            <a:srgbClr val="FFFFFF"/>
          </a:solidFill>
          <a:ln w="9525">
            <a:solidFill>
              <a:srgbClr val="000000"/>
            </a:solidFill>
            <a:miter lim="800000"/>
            <a:headEnd/>
            <a:tailEnd/>
          </a:ln>
        </p:spPr>
        <p:txBody>
          <a:bodyPr wrap="none" anchor="ctr"/>
          <a:lstStyle>
            <a:lvl1pPr>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defRPr>
            </a:lvl9pPr>
          </a:lstStyle>
          <a:p>
            <a:pPr eaLnBrk="1" hangingPunct="1">
              <a:lnSpc>
                <a:spcPct val="95000"/>
              </a:lnSpc>
              <a:spcBef>
                <a:spcPct val="0"/>
              </a:spcBef>
              <a:buClr>
                <a:srgbClr val="FFFFCC"/>
              </a:buClr>
            </a:pPr>
            <a:endParaRPr lang="en-US" altLang="en-US" sz="2400">
              <a:solidFill>
                <a:schemeClr val="bg1"/>
              </a:solidFill>
            </a:endParaRPr>
          </a:p>
        </p:txBody>
      </p:sp>
      <p:sp>
        <p:nvSpPr>
          <p:cNvPr id="54276" name="Text Box 2"/>
          <p:cNvSpPr>
            <a:spLocks noGrp="1" noChangeArrowheads="1"/>
          </p:cNvSpPr>
          <p:nvPr>
            <p:ph type="body"/>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latin typeface="Times New Roman" panose="02020603050405020304" pitchFamily="18" charset="0"/>
                <a:cs typeface="Lucida Sans Unicode" panose="020B0602030504020204" pitchFamily="34" charset="0"/>
              </a:rPr>
              <a:t>This graphic informs the fundamental approach of the chapter and can be used to illustrate the intersection of information states (x-axis), key objectives of C.I.A. (y-axis), and the three primary means to implement (policy, education, and technology).</a:t>
            </a:r>
          </a:p>
        </p:txBody>
      </p:sp>
    </p:spTree>
    <p:extLst>
      <p:ext uri="{BB962C8B-B14F-4D97-AF65-F5344CB8AC3E}">
        <p14:creationId xmlns:p14="http://schemas.microsoft.com/office/powerpoint/2010/main" val="25340806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7A0DC60-C93A-4D26-25C3-CB4F499E9F1D}"/>
            </a:ext>
          </a:extLst>
        </p:cNvPr>
        <p:cNvGrpSpPr/>
        <p:nvPr/>
      </p:nvGrpSpPr>
      <p:grpSpPr>
        <a:xfrm>
          <a:off x="0" y="0"/>
          <a:ext cx="0" cy="0"/>
          <a:chOff x="0" y="0"/>
          <a:chExt cx="0" cy="0"/>
        </a:xfrm>
      </p:grpSpPr>
      <p:sp>
        <p:nvSpPr>
          <p:cNvPr id="54274" name="Rectangle 7">
            <a:extLst>
              <a:ext uri="{FF2B5EF4-FFF2-40B4-BE49-F238E27FC236}">
                <a16:creationId xmlns:a16="http://schemas.microsoft.com/office/drawing/2014/main" id="{A4C9B9AE-D916-0BFF-717A-DA912E399602}"/>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buSzPct val="45000"/>
              <a:buFont typeface="Wingdings" panose="05000000000000000000" pitchFamily="2" charset="2"/>
              <a:buNone/>
            </a:pPr>
            <a:fld id="{E1121266-3D0F-4F81-969C-11617F7E5802}" type="slidenum">
              <a:rPr lang="en-GB" altLang="en-US" smtClean="0"/>
              <a:pPr>
                <a:spcBef>
                  <a:spcPct val="0"/>
                </a:spcBef>
                <a:buSzPct val="45000"/>
                <a:buFont typeface="Wingdings" panose="05000000000000000000" pitchFamily="2" charset="2"/>
                <a:buNone/>
              </a:pPr>
              <a:t>35</a:t>
            </a:fld>
            <a:endParaRPr lang="en-GB" altLang="en-US"/>
          </a:p>
        </p:txBody>
      </p:sp>
      <p:sp>
        <p:nvSpPr>
          <p:cNvPr id="54275" name="Text Box 1">
            <a:extLst>
              <a:ext uri="{FF2B5EF4-FFF2-40B4-BE49-F238E27FC236}">
                <a16:creationId xmlns:a16="http://schemas.microsoft.com/office/drawing/2014/main" id="{4A965C46-D505-DBDC-06A9-E0FC8F96C45B}"/>
              </a:ext>
            </a:extLst>
          </p:cNvPr>
          <p:cNvSpPr txBox="1">
            <a:spLocks noChangeArrowheads="1"/>
          </p:cNvSpPr>
          <p:nvPr/>
        </p:nvSpPr>
        <p:spPr bwMode="auto">
          <a:xfrm>
            <a:off x="1143000" y="685800"/>
            <a:ext cx="4572000" cy="3429000"/>
          </a:xfrm>
          <a:prstGeom prst="rect">
            <a:avLst/>
          </a:prstGeom>
          <a:solidFill>
            <a:srgbClr val="FFFFFF"/>
          </a:solidFill>
          <a:ln w="9525">
            <a:solidFill>
              <a:srgbClr val="000000"/>
            </a:solidFill>
            <a:miter lim="800000"/>
            <a:headEnd/>
            <a:tailEnd/>
          </a:ln>
        </p:spPr>
        <p:txBody>
          <a:bodyPr wrap="none" anchor="ctr"/>
          <a:lstStyle>
            <a:lvl1pPr>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defRPr>
            </a:lvl9pPr>
          </a:lstStyle>
          <a:p>
            <a:pPr eaLnBrk="1" hangingPunct="1">
              <a:lnSpc>
                <a:spcPct val="95000"/>
              </a:lnSpc>
              <a:spcBef>
                <a:spcPct val="0"/>
              </a:spcBef>
              <a:buClr>
                <a:srgbClr val="FFFFCC"/>
              </a:buClr>
            </a:pPr>
            <a:endParaRPr lang="en-US" altLang="en-US" sz="2400">
              <a:solidFill>
                <a:schemeClr val="bg1"/>
              </a:solidFill>
            </a:endParaRPr>
          </a:p>
        </p:txBody>
      </p:sp>
      <p:sp>
        <p:nvSpPr>
          <p:cNvPr id="54276" name="Text Box 2">
            <a:extLst>
              <a:ext uri="{FF2B5EF4-FFF2-40B4-BE49-F238E27FC236}">
                <a16:creationId xmlns:a16="http://schemas.microsoft.com/office/drawing/2014/main" id="{541D8946-3A92-8012-FEDE-3B65014D4076}"/>
              </a:ext>
            </a:extLst>
          </p:cNvPr>
          <p:cNvSpPr>
            <a:spLocks noGrp="1" noChangeArrowheads="1"/>
          </p:cNvSpPr>
          <p:nvPr>
            <p:ph type="body"/>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latin typeface="Times New Roman" panose="02020603050405020304" pitchFamily="18" charset="0"/>
                <a:cs typeface="Lucida Sans Unicode" panose="020B0602030504020204" pitchFamily="34" charset="0"/>
              </a:rPr>
              <a:t>This graphic informs the fundamental approach of the chapter and can be used to illustrate the intersection of information states (x-axis), key objectives of C.I.A. (y-axis), and the three primary means to implement (policy, education, and technology).</a:t>
            </a:r>
          </a:p>
        </p:txBody>
      </p:sp>
    </p:spTree>
    <p:extLst>
      <p:ext uri="{BB962C8B-B14F-4D97-AF65-F5344CB8AC3E}">
        <p14:creationId xmlns:p14="http://schemas.microsoft.com/office/powerpoint/2010/main" val="34945372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5196194-FBAC-8AE8-8476-882F34CA0AA8}"/>
            </a:ext>
          </a:extLst>
        </p:cNvPr>
        <p:cNvGrpSpPr/>
        <p:nvPr/>
      </p:nvGrpSpPr>
      <p:grpSpPr>
        <a:xfrm>
          <a:off x="0" y="0"/>
          <a:ext cx="0" cy="0"/>
          <a:chOff x="0" y="0"/>
          <a:chExt cx="0" cy="0"/>
        </a:xfrm>
      </p:grpSpPr>
      <p:sp>
        <p:nvSpPr>
          <p:cNvPr id="54274" name="Rectangle 7">
            <a:extLst>
              <a:ext uri="{FF2B5EF4-FFF2-40B4-BE49-F238E27FC236}">
                <a16:creationId xmlns:a16="http://schemas.microsoft.com/office/drawing/2014/main" id="{720C9DFC-FD52-885D-0E15-8994B0E1DFE6}"/>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buSzPct val="45000"/>
              <a:buFont typeface="Wingdings" panose="05000000000000000000" pitchFamily="2" charset="2"/>
              <a:buNone/>
            </a:pPr>
            <a:fld id="{E1121266-3D0F-4F81-969C-11617F7E5802}" type="slidenum">
              <a:rPr lang="en-GB" altLang="en-US" smtClean="0"/>
              <a:pPr>
                <a:spcBef>
                  <a:spcPct val="0"/>
                </a:spcBef>
                <a:buSzPct val="45000"/>
                <a:buFont typeface="Wingdings" panose="05000000000000000000" pitchFamily="2" charset="2"/>
                <a:buNone/>
              </a:pPr>
              <a:t>36</a:t>
            </a:fld>
            <a:endParaRPr lang="en-GB" altLang="en-US"/>
          </a:p>
        </p:txBody>
      </p:sp>
      <p:sp>
        <p:nvSpPr>
          <p:cNvPr id="54275" name="Text Box 1">
            <a:extLst>
              <a:ext uri="{FF2B5EF4-FFF2-40B4-BE49-F238E27FC236}">
                <a16:creationId xmlns:a16="http://schemas.microsoft.com/office/drawing/2014/main" id="{A376BDE9-37DE-DF87-FB1F-A47C9430A2DA}"/>
              </a:ext>
            </a:extLst>
          </p:cNvPr>
          <p:cNvSpPr txBox="1">
            <a:spLocks noChangeArrowheads="1"/>
          </p:cNvSpPr>
          <p:nvPr/>
        </p:nvSpPr>
        <p:spPr bwMode="auto">
          <a:xfrm>
            <a:off x="1143000" y="685800"/>
            <a:ext cx="4572000" cy="3429000"/>
          </a:xfrm>
          <a:prstGeom prst="rect">
            <a:avLst/>
          </a:prstGeom>
          <a:solidFill>
            <a:srgbClr val="FFFFFF"/>
          </a:solidFill>
          <a:ln w="9525">
            <a:solidFill>
              <a:srgbClr val="000000"/>
            </a:solidFill>
            <a:miter lim="800000"/>
            <a:headEnd/>
            <a:tailEnd/>
          </a:ln>
        </p:spPr>
        <p:txBody>
          <a:bodyPr wrap="none" anchor="ctr"/>
          <a:lstStyle>
            <a:lvl1pPr>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defRPr>
            </a:lvl9pPr>
          </a:lstStyle>
          <a:p>
            <a:pPr eaLnBrk="1" hangingPunct="1">
              <a:lnSpc>
                <a:spcPct val="95000"/>
              </a:lnSpc>
              <a:spcBef>
                <a:spcPct val="0"/>
              </a:spcBef>
              <a:buClr>
                <a:srgbClr val="FFFFCC"/>
              </a:buClr>
            </a:pPr>
            <a:endParaRPr lang="en-US" altLang="en-US" sz="2400">
              <a:solidFill>
                <a:schemeClr val="bg1"/>
              </a:solidFill>
            </a:endParaRPr>
          </a:p>
        </p:txBody>
      </p:sp>
      <p:sp>
        <p:nvSpPr>
          <p:cNvPr id="54276" name="Text Box 2">
            <a:extLst>
              <a:ext uri="{FF2B5EF4-FFF2-40B4-BE49-F238E27FC236}">
                <a16:creationId xmlns:a16="http://schemas.microsoft.com/office/drawing/2014/main" id="{283350AC-F82B-765F-C882-FBB6895CBD9D}"/>
              </a:ext>
            </a:extLst>
          </p:cNvPr>
          <p:cNvSpPr>
            <a:spLocks noGrp="1" noChangeArrowheads="1"/>
          </p:cNvSpPr>
          <p:nvPr>
            <p:ph type="body"/>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latin typeface="Times New Roman" panose="02020603050405020304" pitchFamily="18" charset="0"/>
                <a:cs typeface="Lucida Sans Unicode" panose="020B0602030504020204" pitchFamily="34" charset="0"/>
              </a:rPr>
              <a:t>This graphic informs the fundamental approach of the chapter and can be used to illustrate the intersection of information states (x-axis), key objectives of C.I.A. (y-axis), and the three primary means to implement (policy, education, and technology).</a:t>
            </a:r>
          </a:p>
        </p:txBody>
      </p:sp>
    </p:spTree>
    <p:extLst>
      <p:ext uri="{BB962C8B-B14F-4D97-AF65-F5344CB8AC3E}">
        <p14:creationId xmlns:p14="http://schemas.microsoft.com/office/powerpoint/2010/main" val="1888939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p:cNvSpPr>
            <a:spLocks noGrp="1" noRot="1" noChangeAspect="1" noTextEdit="1"/>
          </p:cNvSpPr>
          <p:nvPr>
            <p:ph type="sldImg"/>
          </p:nvPr>
        </p:nvSpPr>
        <p:spPr>
          <a:ln/>
        </p:spPr>
      </p:sp>
      <p:sp>
        <p:nvSpPr>
          <p:cNvPr id="90115" name="Notes Placeholder 2"/>
          <p:cNvSpPr>
            <a:spLocks noGrp="1"/>
          </p:cNvSpPr>
          <p:nvPr>
            <p:ph type="body" idx="1"/>
          </p:nvPr>
        </p:nvSpPr>
        <p:spPr>
          <a:noFill/>
          <a:ln/>
        </p:spPr>
        <p:txBody>
          <a:bodyPr/>
          <a:lstStyle/>
          <a:p>
            <a:endParaRPr lang="en-US">
              <a:latin typeface="Arial" pitchFamily="34" charset="0"/>
              <a:ea typeface="ＭＳ Ｐゴシック" pitchFamily="34" charset="-128"/>
            </a:endParaRPr>
          </a:p>
        </p:txBody>
      </p:sp>
      <p:sp>
        <p:nvSpPr>
          <p:cNvPr id="76804" name="Slide Number Placeholder 3"/>
          <p:cNvSpPr>
            <a:spLocks noGrp="1"/>
          </p:cNvSpPr>
          <p:nvPr>
            <p:ph type="sldNum" sz="quarter" idx="5"/>
          </p:nvPr>
        </p:nvSpPr>
        <p:spPr/>
        <p:txBody>
          <a:bodyPr/>
          <a:lstStyle/>
          <a:p>
            <a:pPr>
              <a:defRPr/>
            </a:pPr>
            <a:fld id="{51582B9B-368B-428F-974F-39AC6E42415F}" type="slidenum">
              <a:rPr lang="en-AU" smtClean="0">
                <a:latin typeface="Arial" pitchFamily="34" charset="0"/>
              </a:rPr>
              <a:pPr>
                <a:defRPr/>
              </a:pPr>
              <a:t>39</a:t>
            </a:fld>
            <a:endParaRPr lang="en-AU">
              <a:latin typeface="Arial" pitchFamily="34" charset="0"/>
            </a:endParaRPr>
          </a:p>
        </p:txBody>
      </p:sp>
    </p:spTree>
    <p:extLst>
      <p:ext uri="{BB962C8B-B14F-4D97-AF65-F5344CB8AC3E}">
        <p14:creationId xmlns:p14="http://schemas.microsoft.com/office/powerpoint/2010/main" val="33046321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C519C-3796-F672-F1A0-796B1D608310}"/>
            </a:ext>
          </a:extLst>
        </p:cNvPr>
        <p:cNvGrpSpPr/>
        <p:nvPr/>
      </p:nvGrpSpPr>
      <p:grpSpPr>
        <a:xfrm>
          <a:off x="0" y="0"/>
          <a:ext cx="0" cy="0"/>
          <a:chOff x="0" y="0"/>
          <a:chExt cx="0" cy="0"/>
        </a:xfrm>
      </p:grpSpPr>
      <p:sp>
        <p:nvSpPr>
          <p:cNvPr id="90114" name="Slide Image Placeholder 1">
            <a:extLst>
              <a:ext uri="{FF2B5EF4-FFF2-40B4-BE49-F238E27FC236}">
                <a16:creationId xmlns:a16="http://schemas.microsoft.com/office/drawing/2014/main" id="{29098280-ED12-8559-717B-EB6C72BE84B4}"/>
              </a:ext>
            </a:extLst>
          </p:cNvPr>
          <p:cNvSpPr>
            <a:spLocks noGrp="1" noRot="1" noChangeAspect="1" noTextEdit="1"/>
          </p:cNvSpPr>
          <p:nvPr>
            <p:ph type="sldImg"/>
          </p:nvPr>
        </p:nvSpPr>
        <p:spPr>
          <a:ln/>
        </p:spPr>
      </p:sp>
      <p:sp>
        <p:nvSpPr>
          <p:cNvPr id="90115" name="Notes Placeholder 2">
            <a:extLst>
              <a:ext uri="{FF2B5EF4-FFF2-40B4-BE49-F238E27FC236}">
                <a16:creationId xmlns:a16="http://schemas.microsoft.com/office/drawing/2014/main" id="{516931B3-A929-5841-45CF-CCACF583EF11}"/>
              </a:ext>
            </a:extLst>
          </p:cNvPr>
          <p:cNvSpPr>
            <a:spLocks noGrp="1"/>
          </p:cNvSpPr>
          <p:nvPr>
            <p:ph type="body" idx="1"/>
          </p:nvPr>
        </p:nvSpPr>
        <p:spPr>
          <a:noFill/>
          <a:ln/>
        </p:spPr>
        <p:txBody>
          <a:bodyPr/>
          <a:lstStyle/>
          <a:p>
            <a:endParaRPr lang="en-US">
              <a:latin typeface="Arial" pitchFamily="34" charset="0"/>
              <a:ea typeface="ＭＳ Ｐゴシック" pitchFamily="34" charset="-128"/>
            </a:endParaRPr>
          </a:p>
        </p:txBody>
      </p:sp>
      <p:sp>
        <p:nvSpPr>
          <p:cNvPr id="76804" name="Slide Number Placeholder 3">
            <a:extLst>
              <a:ext uri="{FF2B5EF4-FFF2-40B4-BE49-F238E27FC236}">
                <a16:creationId xmlns:a16="http://schemas.microsoft.com/office/drawing/2014/main" id="{119B5ED2-461D-CF53-3479-931D051D2B27}"/>
              </a:ext>
            </a:extLst>
          </p:cNvPr>
          <p:cNvSpPr>
            <a:spLocks noGrp="1"/>
          </p:cNvSpPr>
          <p:nvPr>
            <p:ph type="sldNum" sz="quarter" idx="5"/>
          </p:nvPr>
        </p:nvSpPr>
        <p:spPr/>
        <p:txBody>
          <a:bodyPr/>
          <a:lstStyle/>
          <a:p>
            <a:pPr>
              <a:defRPr/>
            </a:pPr>
            <a:fld id="{51582B9B-368B-428F-974F-39AC6E42415F}" type="slidenum">
              <a:rPr lang="en-AU" smtClean="0">
                <a:latin typeface="Arial" pitchFamily="34" charset="0"/>
              </a:rPr>
              <a:pPr>
                <a:defRPr/>
              </a:pPr>
              <a:t>40</a:t>
            </a:fld>
            <a:endParaRPr lang="en-AU">
              <a:latin typeface="Arial" pitchFamily="34" charset="0"/>
            </a:endParaRPr>
          </a:p>
        </p:txBody>
      </p:sp>
    </p:spTree>
    <p:extLst>
      <p:ext uri="{BB962C8B-B14F-4D97-AF65-F5344CB8AC3E}">
        <p14:creationId xmlns:p14="http://schemas.microsoft.com/office/powerpoint/2010/main" val="11920901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DACA3-2B03-80EC-F887-4E1127A9175C}"/>
            </a:ext>
          </a:extLst>
        </p:cNvPr>
        <p:cNvGrpSpPr/>
        <p:nvPr/>
      </p:nvGrpSpPr>
      <p:grpSpPr>
        <a:xfrm>
          <a:off x="0" y="0"/>
          <a:ext cx="0" cy="0"/>
          <a:chOff x="0" y="0"/>
          <a:chExt cx="0" cy="0"/>
        </a:xfrm>
      </p:grpSpPr>
      <p:sp>
        <p:nvSpPr>
          <p:cNvPr id="90114" name="Slide Image Placeholder 1">
            <a:extLst>
              <a:ext uri="{FF2B5EF4-FFF2-40B4-BE49-F238E27FC236}">
                <a16:creationId xmlns:a16="http://schemas.microsoft.com/office/drawing/2014/main" id="{F3827F1F-3E71-DB2C-F895-5AD3A1B817DF}"/>
              </a:ext>
            </a:extLst>
          </p:cNvPr>
          <p:cNvSpPr>
            <a:spLocks noGrp="1" noRot="1" noChangeAspect="1" noTextEdit="1"/>
          </p:cNvSpPr>
          <p:nvPr>
            <p:ph type="sldImg"/>
          </p:nvPr>
        </p:nvSpPr>
        <p:spPr>
          <a:ln/>
        </p:spPr>
      </p:sp>
      <p:sp>
        <p:nvSpPr>
          <p:cNvPr id="90115" name="Notes Placeholder 2">
            <a:extLst>
              <a:ext uri="{FF2B5EF4-FFF2-40B4-BE49-F238E27FC236}">
                <a16:creationId xmlns:a16="http://schemas.microsoft.com/office/drawing/2014/main" id="{E0533B01-B150-8C46-C3FC-8F637D8D47B3}"/>
              </a:ext>
            </a:extLst>
          </p:cNvPr>
          <p:cNvSpPr>
            <a:spLocks noGrp="1"/>
          </p:cNvSpPr>
          <p:nvPr>
            <p:ph type="body" idx="1"/>
          </p:nvPr>
        </p:nvSpPr>
        <p:spPr>
          <a:noFill/>
          <a:ln/>
        </p:spPr>
        <p:txBody>
          <a:bodyPr/>
          <a:lstStyle/>
          <a:p>
            <a:endParaRPr lang="en-US">
              <a:latin typeface="Arial" pitchFamily="34" charset="0"/>
              <a:ea typeface="ＭＳ Ｐゴシック" pitchFamily="34" charset="-128"/>
            </a:endParaRPr>
          </a:p>
        </p:txBody>
      </p:sp>
      <p:sp>
        <p:nvSpPr>
          <p:cNvPr id="76804" name="Slide Number Placeholder 3">
            <a:extLst>
              <a:ext uri="{FF2B5EF4-FFF2-40B4-BE49-F238E27FC236}">
                <a16:creationId xmlns:a16="http://schemas.microsoft.com/office/drawing/2014/main" id="{B78BFBDB-6990-264F-92BD-75EBBF0CE027}"/>
              </a:ext>
            </a:extLst>
          </p:cNvPr>
          <p:cNvSpPr>
            <a:spLocks noGrp="1"/>
          </p:cNvSpPr>
          <p:nvPr>
            <p:ph type="sldNum" sz="quarter" idx="5"/>
          </p:nvPr>
        </p:nvSpPr>
        <p:spPr/>
        <p:txBody>
          <a:bodyPr/>
          <a:lstStyle/>
          <a:p>
            <a:pPr>
              <a:defRPr/>
            </a:pPr>
            <a:fld id="{51582B9B-368B-428F-974F-39AC6E42415F}" type="slidenum">
              <a:rPr lang="en-AU" smtClean="0">
                <a:latin typeface="Arial" pitchFamily="34" charset="0"/>
              </a:rPr>
              <a:pPr>
                <a:defRPr/>
              </a:pPr>
              <a:t>41</a:t>
            </a:fld>
            <a:endParaRPr lang="en-AU">
              <a:latin typeface="Arial" pitchFamily="34" charset="0"/>
            </a:endParaRPr>
          </a:p>
        </p:txBody>
      </p:sp>
    </p:spTree>
    <p:extLst>
      <p:ext uri="{BB962C8B-B14F-4D97-AF65-F5344CB8AC3E}">
        <p14:creationId xmlns:p14="http://schemas.microsoft.com/office/powerpoint/2010/main" val="21656725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p:cNvSpPr>
            <a:spLocks noGrp="1" noRot="1" noChangeAspect="1" noTextEdit="1"/>
          </p:cNvSpPr>
          <p:nvPr>
            <p:ph type="sldImg"/>
          </p:nvPr>
        </p:nvSpPr>
        <p:spPr>
          <a:ln/>
        </p:spPr>
      </p:sp>
      <p:sp>
        <p:nvSpPr>
          <p:cNvPr id="90115" name="Notes Placeholder 2"/>
          <p:cNvSpPr>
            <a:spLocks noGrp="1"/>
          </p:cNvSpPr>
          <p:nvPr>
            <p:ph type="body" idx="1"/>
          </p:nvPr>
        </p:nvSpPr>
        <p:spPr>
          <a:noFill/>
          <a:ln/>
        </p:spPr>
        <p:txBody>
          <a:bodyPr/>
          <a:lstStyle/>
          <a:p>
            <a:endParaRPr lang="en-US">
              <a:latin typeface="Arial" pitchFamily="34" charset="0"/>
              <a:ea typeface="ＭＳ Ｐゴシック" pitchFamily="34" charset="-128"/>
            </a:endParaRPr>
          </a:p>
        </p:txBody>
      </p:sp>
      <p:sp>
        <p:nvSpPr>
          <p:cNvPr id="76804" name="Slide Number Placeholder 3"/>
          <p:cNvSpPr>
            <a:spLocks noGrp="1"/>
          </p:cNvSpPr>
          <p:nvPr>
            <p:ph type="sldNum" sz="quarter" idx="5"/>
          </p:nvPr>
        </p:nvSpPr>
        <p:spPr/>
        <p:txBody>
          <a:bodyPr/>
          <a:lstStyle/>
          <a:p>
            <a:pPr>
              <a:defRPr/>
            </a:pPr>
            <a:fld id="{51582B9B-368B-428F-974F-39AC6E42415F}" type="slidenum">
              <a:rPr lang="en-AU" smtClean="0">
                <a:latin typeface="Arial" pitchFamily="34" charset="0"/>
              </a:rPr>
              <a:pPr>
                <a:defRPr/>
              </a:pPr>
              <a:t>42</a:t>
            </a:fld>
            <a:endParaRPr lang="en-AU">
              <a:latin typeface="Arial" pitchFamily="34" charset="0"/>
            </a:endParaRPr>
          </a:p>
        </p:txBody>
      </p:sp>
    </p:spTree>
    <p:extLst>
      <p:ext uri="{BB962C8B-B14F-4D97-AF65-F5344CB8AC3E}">
        <p14:creationId xmlns:p14="http://schemas.microsoft.com/office/powerpoint/2010/main" val="33046321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5F8B6BB-727D-4BC5-B0C8-D9BA7050F12E}" type="slidenum">
              <a:rPr lang="en-US" smtClean="0"/>
              <a:t>43</a:t>
            </a:fld>
            <a:endParaRPr lang="en-US"/>
          </a:p>
        </p:txBody>
      </p:sp>
    </p:spTree>
    <p:extLst>
      <p:ext uri="{BB962C8B-B14F-4D97-AF65-F5344CB8AC3E}">
        <p14:creationId xmlns:p14="http://schemas.microsoft.com/office/powerpoint/2010/main" val="24513610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p:cNvSpPr>
            <a:spLocks noGrp="1" noRot="1" noChangeAspect="1" noTextEdit="1"/>
          </p:cNvSpPr>
          <p:nvPr>
            <p:ph type="sldImg"/>
          </p:nvPr>
        </p:nvSpPr>
        <p:spPr>
          <a:ln/>
        </p:spPr>
      </p:sp>
      <p:sp>
        <p:nvSpPr>
          <p:cNvPr id="91139" name="Notes Placeholder 2"/>
          <p:cNvSpPr>
            <a:spLocks noGrp="1"/>
          </p:cNvSpPr>
          <p:nvPr>
            <p:ph type="body" idx="1"/>
          </p:nvPr>
        </p:nvSpPr>
        <p:spPr>
          <a:noFill/>
          <a:ln/>
        </p:spPr>
        <p:txBody>
          <a:bodyPr/>
          <a:lstStyle/>
          <a:p>
            <a:endParaRPr lang="en-US" sz="1100">
              <a:latin typeface="Arial" pitchFamily="34" charset="0"/>
              <a:ea typeface="ＭＳ Ｐゴシック" pitchFamily="34" charset="-128"/>
              <a:cs typeface="Arial" pitchFamily="34" charset="0"/>
            </a:endParaRPr>
          </a:p>
        </p:txBody>
      </p:sp>
      <p:sp>
        <p:nvSpPr>
          <p:cNvPr id="77828" name="Slide Number Placeholder 3"/>
          <p:cNvSpPr>
            <a:spLocks noGrp="1"/>
          </p:cNvSpPr>
          <p:nvPr>
            <p:ph type="sldNum" sz="quarter" idx="5"/>
          </p:nvPr>
        </p:nvSpPr>
        <p:spPr/>
        <p:txBody>
          <a:bodyPr/>
          <a:lstStyle/>
          <a:p>
            <a:pPr>
              <a:defRPr/>
            </a:pPr>
            <a:fld id="{672B71C4-58A4-41CE-AA76-B580FA490F7F}" type="slidenum">
              <a:rPr lang="en-AU" smtClean="0">
                <a:latin typeface="Arial" pitchFamily="34" charset="0"/>
              </a:rPr>
              <a:pPr>
                <a:defRPr/>
              </a:pPr>
              <a:t>44</a:t>
            </a:fld>
            <a:endParaRPr lang="en-AU">
              <a:latin typeface="Arial" pitchFamily="34" charset="0"/>
            </a:endParaRPr>
          </a:p>
        </p:txBody>
      </p:sp>
    </p:spTree>
    <p:extLst>
      <p:ext uri="{BB962C8B-B14F-4D97-AF65-F5344CB8AC3E}">
        <p14:creationId xmlns:p14="http://schemas.microsoft.com/office/powerpoint/2010/main" val="19624996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p:cNvSpPr>
            <a:spLocks noGrp="1" noRot="1" noChangeAspect="1" noTextEdit="1"/>
          </p:cNvSpPr>
          <p:nvPr>
            <p:ph type="sldImg"/>
          </p:nvPr>
        </p:nvSpPr>
        <p:spPr>
          <a:ln/>
        </p:spPr>
      </p:sp>
      <p:sp>
        <p:nvSpPr>
          <p:cNvPr id="92163" name="Notes Placeholder 2"/>
          <p:cNvSpPr>
            <a:spLocks noGrp="1"/>
          </p:cNvSpPr>
          <p:nvPr>
            <p:ph type="body" idx="1"/>
          </p:nvPr>
        </p:nvSpPr>
        <p:spPr>
          <a:noFill/>
          <a:ln/>
        </p:spPr>
        <p:txBody>
          <a:bodyPr/>
          <a:lstStyle/>
          <a:p>
            <a:r>
              <a:rPr lang="en-US" b="1">
                <a:latin typeface="Arial" pitchFamily="34" charset="0"/>
                <a:ea typeface="ＭＳ Ｐゴシック" pitchFamily="34" charset="-128"/>
              </a:rPr>
              <a:t>Confidentiality </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Student grade information is an asset whose confidentiality is</a:t>
            </a:r>
          </a:p>
          <a:p>
            <a:r>
              <a:rPr lang="en-US">
                <a:latin typeface="Arial" pitchFamily="34" charset="0"/>
                <a:ea typeface="ＭＳ Ｐゴシック" pitchFamily="34" charset="-128"/>
              </a:rPr>
              <a:t>considered to be highly important by students. In the United States, the release of</a:t>
            </a:r>
          </a:p>
          <a:p>
            <a:r>
              <a:rPr lang="en-US">
                <a:latin typeface="Arial" pitchFamily="34" charset="0"/>
                <a:ea typeface="ＭＳ Ｐゴシック" pitchFamily="34" charset="-128"/>
              </a:rPr>
              <a:t>such information is regulated by the Family Educational Rights and Privacy Act</a:t>
            </a:r>
          </a:p>
          <a:p>
            <a:r>
              <a:rPr lang="en-US">
                <a:latin typeface="Arial" pitchFamily="34" charset="0"/>
                <a:ea typeface="ＭＳ Ｐゴシック" pitchFamily="34" charset="-128"/>
              </a:rPr>
              <a:t>(FERPA). Grade information should only be available to students, their parents,</a:t>
            </a:r>
          </a:p>
          <a:p>
            <a:r>
              <a:rPr lang="en-US">
                <a:latin typeface="Arial" pitchFamily="34" charset="0"/>
                <a:ea typeface="ＭＳ Ｐゴシック" pitchFamily="34" charset="-128"/>
              </a:rPr>
              <a:t>and employees that require the information to do their job. Student enrollment</a:t>
            </a:r>
          </a:p>
          <a:p>
            <a:r>
              <a:rPr lang="en-US">
                <a:latin typeface="Arial" pitchFamily="34" charset="0"/>
                <a:ea typeface="ＭＳ Ｐゴシック" pitchFamily="34" charset="-128"/>
              </a:rPr>
              <a:t>information may have a moderate confidentiality rating. While still covered by</a:t>
            </a:r>
          </a:p>
          <a:p>
            <a:r>
              <a:rPr lang="en-US">
                <a:latin typeface="Arial" pitchFamily="34" charset="0"/>
                <a:ea typeface="ＭＳ Ｐゴシック" pitchFamily="34" charset="-128"/>
              </a:rPr>
              <a:t>FERPA, this information is seen by more people on a daily basis, is less likely to be</a:t>
            </a:r>
          </a:p>
          <a:p>
            <a:r>
              <a:rPr lang="en-US">
                <a:latin typeface="Arial" pitchFamily="34" charset="0"/>
                <a:ea typeface="ＭＳ Ｐゴシック" pitchFamily="34" charset="-128"/>
              </a:rPr>
              <a:t>targeted than grade information, and results in less damage if disclosed. Directory</a:t>
            </a:r>
          </a:p>
          <a:p>
            <a:r>
              <a:rPr lang="en-US">
                <a:latin typeface="Arial" pitchFamily="34" charset="0"/>
                <a:ea typeface="ＭＳ Ｐゴシック" pitchFamily="34" charset="-128"/>
              </a:rPr>
              <a:t>information (such as lists of students, faculty, or departmental lists) may be assigned</a:t>
            </a:r>
          </a:p>
          <a:p>
            <a:r>
              <a:rPr lang="en-US">
                <a:latin typeface="Arial" pitchFamily="34" charset="0"/>
                <a:ea typeface="ＭＳ Ｐゴシック" pitchFamily="34" charset="-128"/>
              </a:rPr>
              <a:t>a low confidentiality rating or indeed no rating. This information is typically freely</a:t>
            </a:r>
          </a:p>
          <a:p>
            <a:r>
              <a:rPr lang="en-US">
                <a:latin typeface="Arial" pitchFamily="34" charset="0"/>
                <a:ea typeface="ＭＳ Ｐゴシック" pitchFamily="34" charset="-128"/>
              </a:rPr>
              <a:t>available to the public and published on a school’s Web site.</a:t>
            </a:r>
          </a:p>
          <a:p>
            <a:endParaRPr lang="en-US">
              <a:latin typeface="Arial" pitchFamily="34" charset="0"/>
              <a:ea typeface="ＭＳ Ｐゴシック" pitchFamily="34" charset="-128"/>
            </a:endParaRPr>
          </a:p>
          <a:p>
            <a:r>
              <a:rPr lang="en-US" b="1">
                <a:latin typeface="Arial" pitchFamily="34" charset="0"/>
                <a:ea typeface="ＭＳ Ｐゴシック" pitchFamily="34" charset="-128"/>
              </a:rPr>
              <a:t>Integrity </a:t>
            </a:r>
          </a:p>
          <a:p>
            <a:endParaRPr lang="en-US" b="1">
              <a:latin typeface="Arial" pitchFamily="34" charset="0"/>
              <a:ea typeface="ＭＳ Ｐゴシック" pitchFamily="34" charset="-128"/>
            </a:endParaRPr>
          </a:p>
          <a:p>
            <a:r>
              <a:rPr lang="en-US">
                <a:latin typeface="Arial" pitchFamily="34" charset="0"/>
                <a:ea typeface="ＭＳ Ｐゴシック" pitchFamily="34" charset="-128"/>
              </a:rPr>
              <a:t>Several aspects of integrity are illustrated by the example of a hospital</a:t>
            </a:r>
          </a:p>
          <a:p>
            <a:r>
              <a:rPr lang="en-US">
                <a:latin typeface="Arial" pitchFamily="34" charset="0"/>
                <a:ea typeface="ＭＳ Ｐゴシック" pitchFamily="34" charset="-128"/>
              </a:rPr>
              <a:t>patient’s allergy information stored in a database. The doctor should be able to</a:t>
            </a:r>
          </a:p>
          <a:p>
            <a:r>
              <a:rPr lang="en-US">
                <a:latin typeface="Arial" pitchFamily="34" charset="0"/>
                <a:ea typeface="ＭＳ Ｐゴシック" pitchFamily="34" charset="-128"/>
              </a:rPr>
              <a:t>trust that the information is correct and current. Now suppose that an employee</a:t>
            </a:r>
          </a:p>
          <a:p>
            <a:r>
              <a:rPr lang="en-US">
                <a:latin typeface="Arial" pitchFamily="34" charset="0"/>
                <a:ea typeface="ＭＳ Ｐゴシック" pitchFamily="34" charset="-128"/>
              </a:rPr>
              <a:t>(e.g., a nurse) who is authorized to view and update this information deliberately</a:t>
            </a:r>
          </a:p>
          <a:p>
            <a:r>
              <a:rPr lang="en-US">
                <a:latin typeface="Arial" pitchFamily="34" charset="0"/>
                <a:ea typeface="ＭＳ Ｐゴシック" pitchFamily="34" charset="-128"/>
              </a:rPr>
              <a:t>falsifies the data to cause harm to the hospital. The database needs to be restored</a:t>
            </a:r>
          </a:p>
          <a:p>
            <a:r>
              <a:rPr lang="en-US">
                <a:latin typeface="Arial" pitchFamily="34" charset="0"/>
                <a:ea typeface="ＭＳ Ｐゴシック" pitchFamily="34" charset="-128"/>
              </a:rPr>
              <a:t>to a trusted basis quickly, and it should be possible to trace the error back to the</a:t>
            </a:r>
          </a:p>
          <a:p>
            <a:r>
              <a:rPr lang="en-US">
                <a:latin typeface="Arial" pitchFamily="34" charset="0"/>
                <a:ea typeface="ＭＳ Ｐゴシック" pitchFamily="34" charset="-128"/>
              </a:rPr>
              <a:t>person responsible. Patient allergy information is an example of an asset with a high</a:t>
            </a:r>
          </a:p>
          <a:p>
            <a:r>
              <a:rPr lang="en-US">
                <a:latin typeface="Arial" pitchFamily="34" charset="0"/>
                <a:ea typeface="ＭＳ Ｐゴシック" pitchFamily="34" charset="-128"/>
              </a:rPr>
              <a:t>requirement for integrity. Inaccurate information could result in serious harm or</a:t>
            </a:r>
          </a:p>
          <a:p>
            <a:r>
              <a:rPr lang="en-US">
                <a:latin typeface="Arial" pitchFamily="34" charset="0"/>
                <a:ea typeface="ＭＳ Ｐゴシック" pitchFamily="34" charset="-128"/>
              </a:rPr>
              <a:t>death to a patient and expose the hospital to massive liability.</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An example of an asset that may be assigned a moderate level of integrity</a:t>
            </a:r>
          </a:p>
          <a:p>
            <a:r>
              <a:rPr lang="en-US">
                <a:latin typeface="Arial" pitchFamily="34" charset="0"/>
                <a:ea typeface="ＭＳ Ｐゴシック" pitchFamily="34" charset="-128"/>
              </a:rPr>
              <a:t>requirement is a Web site that offers a forum to registered users to discuss some</a:t>
            </a:r>
          </a:p>
          <a:p>
            <a:r>
              <a:rPr lang="en-US">
                <a:latin typeface="Arial" pitchFamily="34" charset="0"/>
                <a:ea typeface="ＭＳ Ｐゴシック" pitchFamily="34" charset="-128"/>
              </a:rPr>
              <a:t>specific topic. Either a registered user or a hacker could falsify some entries or deface</a:t>
            </a:r>
          </a:p>
          <a:p>
            <a:r>
              <a:rPr lang="en-US">
                <a:latin typeface="Arial" pitchFamily="34" charset="0"/>
                <a:ea typeface="ＭＳ Ｐゴシック" pitchFamily="34" charset="-128"/>
              </a:rPr>
              <a:t>the Web site. If the forum exists only for the enjoyment of the users, brings</a:t>
            </a:r>
          </a:p>
          <a:p>
            <a:r>
              <a:rPr lang="en-US">
                <a:latin typeface="Arial" pitchFamily="34" charset="0"/>
                <a:ea typeface="ＭＳ Ｐゴシック" pitchFamily="34" charset="-128"/>
              </a:rPr>
              <a:t>in little or no advertising revenue, and is not used for something important such</a:t>
            </a:r>
          </a:p>
          <a:p>
            <a:r>
              <a:rPr lang="en-US">
                <a:latin typeface="Arial" pitchFamily="34" charset="0"/>
                <a:ea typeface="ＭＳ Ｐゴシック" pitchFamily="34" charset="-128"/>
              </a:rPr>
              <a:t> as research, then potential damage is not severe. The Web master may experience</a:t>
            </a:r>
          </a:p>
          <a:p>
            <a:r>
              <a:rPr lang="en-US">
                <a:latin typeface="Arial" pitchFamily="34" charset="0"/>
                <a:ea typeface="ＭＳ Ｐゴシック" pitchFamily="34" charset="-128"/>
              </a:rPr>
              <a:t>some data, financial, and time loss.</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An example of a low-integrity requirement is an anonymous online poll. Many</a:t>
            </a:r>
          </a:p>
          <a:p>
            <a:r>
              <a:rPr lang="en-US">
                <a:latin typeface="Arial" pitchFamily="34" charset="0"/>
                <a:ea typeface="ＭＳ Ｐゴシック" pitchFamily="34" charset="-128"/>
              </a:rPr>
              <a:t>Web sites, such as news organizations, offer these polls to their users with very few</a:t>
            </a:r>
          </a:p>
          <a:p>
            <a:r>
              <a:rPr lang="en-US">
                <a:latin typeface="Arial" pitchFamily="34" charset="0"/>
                <a:ea typeface="ＭＳ Ｐゴシック" pitchFamily="34" charset="-128"/>
              </a:rPr>
              <a:t>safeguards. However, the inaccuracy and unscientific nature of such polls are well</a:t>
            </a:r>
          </a:p>
          <a:p>
            <a:r>
              <a:rPr lang="en-US">
                <a:latin typeface="Arial" pitchFamily="34" charset="0"/>
                <a:ea typeface="ＭＳ Ｐゴシック" pitchFamily="34" charset="-128"/>
              </a:rPr>
              <a:t>understood.</a:t>
            </a:r>
          </a:p>
          <a:p>
            <a:endParaRPr lang="en-US">
              <a:latin typeface="Arial" pitchFamily="34" charset="0"/>
              <a:ea typeface="ＭＳ Ｐゴシック" pitchFamily="34" charset="-128"/>
            </a:endParaRPr>
          </a:p>
          <a:p>
            <a:r>
              <a:rPr lang="en-US" b="1">
                <a:latin typeface="Arial" pitchFamily="34" charset="0"/>
                <a:ea typeface="ＭＳ Ｐゴシック" pitchFamily="34" charset="-128"/>
              </a:rPr>
              <a:t>Availability </a:t>
            </a:r>
          </a:p>
          <a:p>
            <a:endParaRPr lang="en-US" b="1">
              <a:latin typeface="Arial" pitchFamily="34" charset="0"/>
              <a:ea typeface="ＭＳ Ｐゴシック" pitchFamily="34" charset="-128"/>
            </a:endParaRPr>
          </a:p>
          <a:p>
            <a:r>
              <a:rPr lang="en-US">
                <a:latin typeface="Arial" pitchFamily="34" charset="0"/>
                <a:ea typeface="ＭＳ Ｐゴシック" pitchFamily="34" charset="-128"/>
              </a:rPr>
              <a:t>The more critical a component or service, the higher is the level of</a:t>
            </a:r>
          </a:p>
          <a:p>
            <a:r>
              <a:rPr lang="en-US">
                <a:latin typeface="Arial" pitchFamily="34" charset="0"/>
                <a:ea typeface="ＭＳ Ｐゴシック" pitchFamily="34" charset="-128"/>
              </a:rPr>
              <a:t>availability required. Consider a system that provides authentication services for</a:t>
            </a:r>
          </a:p>
          <a:p>
            <a:r>
              <a:rPr lang="en-US">
                <a:latin typeface="Arial" pitchFamily="34" charset="0"/>
                <a:ea typeface="ＭＳ Ｐゴシック" pitchFamily="34" charset="-128"/>
              </a:rPr>
              <a:t>critical systems, applications, and devices. An interruption of service results in the</a:t>
            </a:r>
          </a:p>
          <a:p>
            <a:r>
              <a:rPr lang="en-US">
                <a:latin typeface="Arial" pitchFamily="34" charset="0"/>
                <a:ea typeface="ＭＳ Ｐゴシック" pitchFamily="34" charset="-128"/>
              </a:rPr>
              <a:t>inability for customers to access computing resources and for the staff to access</a:t>
            </a:r>
          </a:p>
          <a:p>
            <a:r>
              <a:rPr lang="en-US">
                <a:latin typeface="Arial" pitchFamily="34" charset="0"/>
                <a:ea typeface="ＭＳ Ｐゴシック" pitchFamily="34" charset="-128"/>
              </a:rPr>
              <a:t>the resources they need to perform critical tasks. The loss of the service translates</a:t>
            </a:r>
          </a:p>
          <a:p>
            <a:r>
              <a:rPr lang="en-US">
                <a:latin typeface="Arial" pitchFamily="34" charset="0"/>
                <a:ea typeface="ＭＳ Ｐゴシック" pitchFamily="34" charset="-128"/>
              </a:rPr>
              <a:t>into a large financial loss due to lost employee productivity and potential</a:t>
            </a:r>
          </a:p>
          <a:p>
            <a:r>
              <a:rPr lang="en-US">
                <a:latin typeface="Arial" pitchFamily="34" charset="0"/>
                <a:ea typeface="ＭＳ Ｐゴシック" pitchFamily="34" charset="-128"/>
              </a:rPr>
              <a:t>customer loss.</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An example of an asset that typically would be rated as having a moderate</a:t>
            </a:r>
          </a:p>
          <a:p>
            <a:r>
              <a:rPr lang="en-US">
                <a:latin typeface="Arial" pitchFamily="34" charset="0"/>
                <a:ea typeface="ＭＳ Ｐゴシック" pitchFamily="34" charset="-128"/>
              </a:rPr>
              <a:t>availability requirement is a public Web site for a university; the Web site provides</a:t>
            </a:r>
          </a:p>
          <a:p>
            <a:r>
              <a:rPr lang="en-US">
                <a:latin typeface="Arial" pitchFamily="34" charset="0"/>
                <a:ea typeface="ＭＳ Ｐゴシック" pitchFamily="34" charset="-128"/>
              </a:rPr>
              <a:t>information for current and prospective students and donors. Such a site is not a</a:t>
            </a:r>
          </a:p>
          <a:p>
            <a:r>
              <a:rPr lang="en-US">
                <a:latin typeface="Arial" pitchFamily="34" charset="0"/>
                <a:ea typeface="ＭＳ Ｐゴシック" pitchFamily="34" charset="-128"/>
              </a:rPr>
              <a:t>critical component of the university’s information system, but its unavailability will</a:t>
            </a:r>
          </a:p>
          <a:p>
            <a:r>
              <a:rPr lang="en-US">
                <a:latin typeface="Arial" pitchFamily="34" charset="0"/>
                <a:ea typeface="ＭＳ Ｐゴシック" pitchFamily="34" charset="-128"/>
              </a:rPr>
              <a:t>cause some embarrassment.</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An online telephone directory lookup application would be classified as a low availability</a:t>
            </a:r>
          </a:p>
          <a:p>
            <a:r>
              <a:rPr lang="en-US">
                <a:latin typeface="Arial" pitchFamily="34" charset="0"/>
                <a:ea typeface="ＭＳ Ｐゴシック" pitchFamily="34" charset="-128"/>
              </a:rPr>
              <a:t>requirement. Although the temporary loss of the application may be</a:t>
            </a:r>
          </a:p>
          <a:p>
            <a:r>
              <a:rPr lang="en-US">
                <a:latin typeface="Arial" pitchFamily="34" charset="0"/>
                <a:ea typeface="ＭＳ Ｐゴシック" pitchFamily="34" charset="-128"/>
              </a:rPr>
              <a:t>an annoyance, there are other ways to access the information, such as a hardcopy</a:t>
            </a:r>
          </a:p>
          <a:p>
            <a:r>
              <a:rPr lang="en-US">
                <a:latin typeface="Arial" pitchFamily="34" charset="0"/>
                <a:ea typeface="ＭＳ Ｐゴシック" pitchFamily="34" charset="-128"/>
              </a:rPr>
              <a:t>directory or the operator.</a:t>
            </a:r>
            <a:endParaRPr lang="en-US" sz="1100">
              <a:latin typeface="Arial" pitchFamily="34" charset="0"/>
              <a:ea typeface="ＭＳ Ｐゴシック" pitchFamily="34" charset="-128"/>
            </a:endParaRPr>
          </a:p>
        </p:txBody>
      </p:sp>
      <p:sp>
        <p:nvSpPr>
          <p:cNvPr id="78852" name="Slide Number Placeholder 3"/>
          <p:cNvSpPr>
            <a:spLocks noGrp="1"/>
          </p:cNvSpPr>
          <p:nvPr>
            <p:ph type="sldNum" sz="quarter" idx="5"/>
          </p:nvPr>
        </p:nvSpPr>
        <p:spPr/>
        <p:txBody>
          <a:bodyPr/>
          <a:lstStyle/>
          <a:p>
            <a:pPr>
              <a:defRPr/>
            </a:pPr>
            <a:fld id="{E21DDBB9-BAE3-4BE6-B3BD-7081D54D11C7}" type="slidenum">
              <a:rPr lang="en-AU" smtClean="0">
                <a:latin typeface="Arial" pitchFamily="34" charset="0"/>
              </a:rPr>
              <a:pPr>
                <a:defRPr/>
              </a:pPr>
              <a:t>45</a:t>
            </a:fld>
            <a:endParaRPr lang="en-AU">
              <a:latin typeface="Arial" pitchFamily="34" charset="0"/>
            </a:endParaRPr>
          </a:p>
        </p:txBody>
      </p:sp>
    </p:spTree>
    <p:extLst>
      <p:ext uri="{BB962C8B-B14F-4D97-AF65-F5344CB8AC3E}">
        <p14:creationId xmlns:p14="http://schemas.microsoft.com/office/powerpoint/2010/main" val="7542728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p:cNvSpPr>
            <a:spLocks noGrp="1" noRot="1" noChangeAspect="1" noTextEdit="1"/>
          </p:cNvSpPr>
          <p:nvPr>
            <p:ph type="sldImg"/>
          </p:nvPr>
        </p:nvSpPr>
        <p:spPr>
          <a:ln/>
        </p:spPr>
      </p:sp>
      <p:sp>
        <p:nvSpPr>
          <p:cNvPr id="93187" name="Notes Placeholder 2"/>
          <p:cNvSpPr>
            <a:spLocks noGrp="1"/>
          </p:cNvSpPr>
          <p:nvPr>
            <p:ph type="body" idx="1"/>
          </p:nvPr>
        </p:nvSpPr>
        <p:spPr>
          <a:noFill/>
          <a:ln/>
        </p:spPr>
        <p:txBody>
          <a:bodyPr/>
          <a:lstStyle/>
          <a:p>
            <a:r>
              <a:rPr lang="en-US">
                <a:latin typeface="Arial" pitchFamily="34" charset="0"/>
                <a:ea typeface="ＭＳ Ｐゴシック" pitchFamily="34" charset="-128"/>
              </a:rPr>
              <a:t>Computer and network security is both fascinating and complex. Some of the reasons</a:t>
            </a:r>
          </a:p>
          <a:p>
            <a:r>
              <a:rPr lang="en-US">
                <a:latin typeface="Arial" pitchFamily="34" charset="0"/>
                <a:ea typeface="ＭＳ Ｐゴシック" pitchFamily="34" charset="-128"/>
              </a:rPr>
              <a:t>include:</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1.  Security is not as simple as it might first appear to the novice. The requirements</a:t>
            </a:r>
          </a:p>
          <a:p>
            <a:r>
              <a:rPr lang="en-US">
                <a:latin typeface="Arial" pitchFamily="34" charset="0"/>
                <a:ea typeface="ＭＳ Ｐゴシック" pitchFamily="34" charset="-128"/>
              </a:rPr>
              <a:t>seem to be straightforward; indeed, most of the major requirements for</a:t>
            </a:r>
          </a:p>
          <a:p>
            <a:r>
              <a:rPr lang="en-US">
                <a:latin typeface="Arial" pitchFamily="34" charset="0"/>
                <a:ea typeface="ＭＳ Ｐゴシック" pitchFamily="34" charset="-128"/>
              </a:rPr>
              <a:t>security services can be given self-explanatory, one-word labels: confidentiality,</a:t>
            </a:r>
          </a:p>
          <a:p>
            <a:r>
              <a:rPr lang="en-US">
                <a:latin typeface="Arial" pitchFamily="34" charset="0"/>
                <a:ea typeface="ＭＳ Ｐゴシック" pitchFamily="34" charset="-128"/>
              </a:rPr>
              <a:t>authentication, nonrepudiation, and integrity. But the mechanisms used to</a:t>
            </a:r>
          </a:p>
          <a:p>
            <a:r>
              <a:rPr lang="en-US">
                <a:latin typeface="Arial" pitchFamily="34" charset="0"/>
                <a:ea typeface="ＭＳ Ｐゴシック" pitchFamily="34" charset="-128"/>
              </a:rPr>
              <a:t>meet those requirements can be quite complex, and understanding them may</a:t>
            </a:r>
          </a:p>
          <a:p>
            <a:r>
              <a:rPr lang="en-US">
                <a:latin typeface="Arial" pitchFamily="34" charset="0"/>
                <a:ea typeface="ＭＳ Ｐゴシック" pitchFamily="34" charset="-128"/>
              </a:rPr>
              <a:t>involve rather subtle reasoning.</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2.  In developing a particular security mechanism or algorithm, one must always</a:t>
            </a:r>
          </a:p>
          <a:p>
            <a:r>
              <a:rPr lang="en-US">
                <a:latin typeface="Arial" pitchFamily="34" charset="0"/>
                <a:ea typeface="ＭＳ Ｐゴシック" pitchFamily="34" charset="-128"/>
              </a:rPr>
              <a:t>consider potential attacks on those security features. In many cases, successful</a:t>
            </a:r>
          </a:p>
          <a:p>
            <a:r>
              <a:rPr lang="en-US">
                <a:latin typeface="Arial" pitchFamily="34" charset="0"/>
                <a:ea typeface="ＭＳ Ｐゴシック" pitchFamily="34" charset="-128"/>
              </a:rPr>
              <a:t>attacks are designed by looking at the problem in a completely different way,</a:t>
            </a:r>
          </a:p>
          <a:p>
            <a:r>
              <a:rPr lang="en-US">
                <a:latin typeface="Arial" pitchFamily="34" charset="0"/>
                <a:ea typeface="ＭＳ Ｐゴシック" pitchFamily="34" charset="-128"/>
              </a:rPr>
              <a:t>therefore exploiting an unexpected weakness in the mechanism.</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3.  Because of point 2, the procedures used to provide particular services are</a:t>
            </a:r>
          </a:p>
          <a:p>
            <a:r>
              <a:rPr lang="en-US">
                <a:latin typeface="Arial" pitchFamily="34" charset="0"/>
                <a:ea typeface="ＭＳ Ｐゴシック" pitchFamily="34" charset="-128"/>
              </a:rPr>
              <a:t>often counterintuitive. Typically, a security mechanism is complex, and it is not</a:t>
            </a:r>
          </a:p>
          <a:p>
            <a:r>
              <a:rPr lang="en-US">
                <a:latin typeface="Arial" pitchFamily="34" charset="0"/>
                <a:ea typeface="ＭＳ Ｐゴシック" pitchFamily="34" charset="-128"/>
              </a:rPr>
              <a:t>obvious from the statement of a particular requirement that such elaborate</a:t>
            </a:r>
          </a:p>
          <a:p>
            <a:r>
              <a:rPr lang="en-US">
                <a:latin typeface="Arial" pitchFamily="34" charset="0"/>
                <a:ea typeface="ＭＳ Ｐゴシック" pitchFamily="34" charset="-128"/>
              </a:rPr>
              <a:t>measures are needed. It is only when the various aspects of the threat are considered</a:t>
            </a:r>
          </a:p>
          <a:p>
            <a:r>
              <a:rPr lang="en-US">
                <a:latin typeface="Arial" pitchFamily="34" charset="0"/>
                <a:ea typeface="ＭＳ Ｐゴシック" pitchFamily="34" charset="-128"/>
              </a:rPr>
              <a:t>that elaborate security mechanisms make sense.</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4.  Having designed various security mechanisms, it is necessary to decide where</a:t>
            </a:r>
          </a:p>
          <a:p>
            <a:r>
              <a:rPr lang="en-US">
                <a:latin typeface="Arial" pitchFamily="34" charset="0"/>
                <a:ea typeface="ＭＳ Ｐゴシック" pitchFamily="34" charset="-128"/>
              </a:rPr>
              <a:t>to use them. This is true both in terms of physical placement (e.g., at what points</a:t>
            </a:r>
          </a:p>
          <a:p>
            <a:r>
              <a:rPr lang="en-US">
                <a:latin typeface="Arial" pitchFamily="34" charset="0"/>
                <a:ea typeface="ＭＳ Ｐゴシック" pitchFamily="34" charset="-128"/>
              </a:rPr>
              <a:t>in a network are certain security mechanisms needed) and in a logical sense</a:t>
            </a:r>
          </a:p>
          <a:p>
            <a:r>
              <a:rPr lang="en-US">
                <a:latin typeface="Arial" pitchFamily="34" charset="0"/>
                <a:ea typeface="ＭＳ Ｐゴシック" pitchFamily="34" charset="-128"/>
              </a:rPr>
              <a:t>[e.g., at what layer or layers of an architecture such as TCP/IP (Transmission</a:t>
            </a:r>
          </a:p>
          <a:p>
            <a:r>
              <a:rPr lang="en-US">
                <a:latin typeface="Arial" pitchFamily="34" charset="0"/>
                <a:ea typeface="ＭＳ Ｐゴシック" pitchFamily="34" charset="-128"/>
              </a:rPr>
              <a:t>Control Protocol/Internet Protocol) should mechanisms be placed].</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5. Security mechanisms typically involve more than a particular algorithm or</a:t>
            </a:r>
          </a:p>
          <a:p>
            <a:r>
              <a:rPr lang="en-US">
                <a:latin typeface="Arial" pitchFamily="34" charset="0"/>
                <a:ea typeface="ＭＳ Ｐゴシック" pitchFamily="34" charset="-128"/>
              </a:rPr>
              <a:t>protocol. They also require that participants be in possession of some secret information</a:t>
            </a:r>
          </a:p>
          <a:p>
            <a:r>
              <a:rPr lang="en-US">
                <a:latin typeface="Arial" pitchFamily="34" charset="0"/>
                <a:ea typeface="ＭＳ Ｐゴシック" pitchFamily="34" charset="-128"/>
              </a:rPr>
              <a:t>(e.g., an encryption key), which raises questions about the creation,</a:t>
            </a:r>
          </a:p>
          <a:p>
            <a:r>
              <a:rPr lang="en-US">
                <a:latin typeface="Arial" pitchFamily="34" charset="0"/>
                <a:ea typeface="ＭＳ Ｐゴシック" pitchFamily="34" charset="-128"/>
              </a:rPr>
              <a:t>distribution, and protection of that secret information. There also may be a reliance</a:t>
            </a:r>
          </a:p>
          <a:p>
            <a:r>
              <a:rPr lang="en-US">
                <a:latin typeface="Arial" pitchFamily="34" charset="0"/>
                <a:ea typeface="ＭＳ Ｐゴシック" pitchFamily="34" charset="-128"/>
              </a:rPr>
              <a:t>on communications protocols whose behavior may complicate the task</a:t>
            </a:r>
          </a:p>
          <a:p>
            <a:r>
              <a:rPr lang="en-US">
                <a:latin typeface="Arial" pitchFamily="34" charset="0"/>
                <a:ea typeface="ＭＳ Ｐゴシック" pitchFamily="34" charset="-128"/>
              </a:rPr>
              <a:t>of developing the security mechanism. For example, if the proper functioning</a:t>
            </a:r>
          </a:p>
          <a:p>
            <a:r>
              <a:rPr lang="en-US">
                <a:latin typeface="Arial" pitchFamily="34" charset="0"/>
                <a:ea typeface="ＭＳ Ｐゴシック" pitchFamily="34" charset="-128"/>
              </a:rPr>
              <a:t>of the security mechanism requires setting time limits on the transit time of a</a:t>
            </a:r>
          </a:p>
          <a:p>
            <a:r>
              <a:rPr lang="en-US">
                <a:latin typeface="Arial" pitchFamily="34" charset="0"/>
                <a:ea typeface="ＭＳ Ｐゴシック" pitchFamily="34" charset="-128"/>
              </a:rPr>
              <a:t>message from sender to receiver, then any protocol or network that introduces</a:t>
            </a:r>
          </a:p>
          <a:p>
            <a:r>
              <a:rPr lang="en-US">
                <a:latin typeface="Arial" pitchFamily="34" charset="0"/>
                <a:ea typeface="ＭＳ Ｐゴシック" pitchFamily="34" charset="-128"/>
              </a:rPr>
              <a:t>variable, unpredictable delays may render such time limits meaningless.</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6. Computer and network security is essentially a battle of wits between a perpetrator</a:t>
            </a:r>
          </a:p>
          <a:p>
            <a:r>
              <a:rPr lang="en-US">
                <a:latin typeface="Arial" pitchFamily="34" charset="0"/>
                <a:ea typeface="ＭＳ Ｐゴシック" pitchFamily="34" charset="-128"/>
              </a:rPr>
              <a:t>who tries to find holes and the designer or administrator who tries to</a:t>
            </a:r>
          </a:p>
          <a:p>
            <a:r>
              <a:rPr lang="en-US">
                <a:latin typeface="Arial" pitchFamily="34" charset="0"/>
                <a:ea typeface="ＭＳ Ｐゴシック" pitchFamily="34" charset="-128"/>
              </a:rPr>
              <a:t>close them. The great advantage that the attacker has is that he or she need</a:t>
            </a:r>
          </a:p>
          <a:p>
            <a:r>
              <a:rPr lang="en-US">
                <a:latin typeface="Arial" pitchFamily="34" charset="0"/>
                <a:ea typeface="ＭＳ Ｐゴシック" pitchFamily="34" charset="-128"/>
              </a:rPr>
              <a:t>only find a single weakness, while the designer must find and eliminate all</a:t>
            </a:r>
          </a:p>
          <a:p>
            <a:r>
              <a:rPr lang="en-US">
                <a:latin typeface="Arial" pitchFamily="34" charset="0"/>
                <a:ea typeface="ＭＳ Ｐゴシック" pitchFamily="34" charset="-128"/>
              </a:rPr>
              <a:t>weaknesses to achieve perfect security.</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7. There is a natural tendency on the part of users and system managers to</a:t>
            </a:r>
          </a:p>
          <a:p>
            <a:r>
              <a:rPr lang="en-US">
                <a:latin typeface="Arial" pitchFamily="34" charset="0"/>
                <a:ea typeface="ＭＳ Ｐゴシック" pitchFamily="34" charset="-128"/>
              </a:rPr>
              <a:t>perceive little benefit from security investment until a security failure occurs.</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8. Security requires regular, even constant, monitoring, and this is difficult in</a:t>
            </a:r>
          </a:p>
          <a:p>
            <a:r>
              <a:rPr lang="en-US">
                <a:latin typeface="Arial" pitchFamily="34" charset="0"/>
                <a:ea typeface="ＭＳ Ｐゴシック" pitchFamily="34" charset="-128"/>
              </a:rPr>
              <a:t>today’s short-term, overloaded environment.</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9. Security is still too often an afterthought to be incorporated into a system after</a:t>
            </a:r>
          </a:p>
          <a:p>
            <a:r>
              <a:rPr lang="en-US">
                <a:latin typeface="Arial" pitchFamily="34" charset="0"/>
                <a:ea typeface="ＭＳ Ｐゴシック" pitchFamily="34" charset="-128"/>
              </a:rPr>
              <a:t>the design is complete rather than being an integral part of the design process.</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10. Many users (and even security administrators) view strong security as an</a:t>
            </a:r>
          </a:p>
          <a:p>
            <a:r>
              <a:rPr lang="en-US">
                <a:latin typeface="Arial" pitchFamily="34" charset="0"/>
                <a:ea typeface="ＭＳ Ｐゴシック" pitchFamily="34" charset="-128"/>
              </a:rPr>
              <a:t>impediment to efficient and user-friendly operation of an information</a:t>
            </a:r>
          </a:p>
          <a:p>
            <a:r>
              <a:rPr lang="en-US">
                <a:latin typeface="Arial" pitchFamily="34" charset="0"/>
                <a:ea typeface="ＭＳ Ｐゴシック" pitchFamily="34" charset="-128"/>
              </a:rPr>
              <a:t>system or use of information.</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The difficulties just enumerated will be encountered in numerous ways as we</a:t>
            </a:r>
          </a:p>
          <a:p>
            <a:r>
              <a:rPr lang="en-US">
                <a:latin typeface="Arial" pitchFamily="34" charset="0"/>
                <a:ea typeface="ＭＳ Ｐゴシック" pitchFamily="34" charset="-128"/>
              </a:rPr>
              <a:t>examine the various security threats and mechanisms throughout this book.</a:t>
            </a:r>
            <a:endParaRPr lang="en-US" sz="1100">
              <a:latin typeface="Arial" pitchFamily="34" charset="0"/>
              <a:ea typeface="ＭＳ Ｐゴシック" pitchFamily="34" charset="-128"/>
              <a:cs typeface="Arial" pitchFamily="34" charset="0"/>
            </a:endParaRPr>
          </a:p>
        </p:txBody>
      </p:sp>
      <p:sp>
        <p:nvSpPr>
          <p:cNvPr id="79876" name="Slide Number Placeholder 3"/>
          <p:cNvSpPr>
            <a:spLocks noGrp="1"/>
          </p:cNvSpPr>
          <p:nvPr>
            <p:ph type="sldNum" sz="quarter" idx="5"/>
          </p:nvPr>
        </p:nvSpPr>
        <p:spPr/>
        <p:txBody>
          <a:bodyPr/>
          <a:lstStyle/>
          <a:p>
            <a:pPr>
              <a:defRPr/>
            </a:pPr>
            <a:fld id="{ADBD0BFB-197F-457A-8D85-1C9FC684B63E}" type="slidenum">
              <a:rPr lang="en-AU" smtClean="0">
                <a:latin typeface="Arial" pitchFamily="34" charset="0"/>
              </a:rPr>
              <a:pPr>
                <a:defRPr/>
              </a:pPr>
              <a:t>46</a:t>
            </a:fld>
            <a:endParaRPr lang="en-AU">
              <a:latin typeface="Arial" pitchFamily="34" charset="0"/>
            </a:endParaRPr>
          </a:p>
        </p:txBody>
      </p:sp>
    </p:spTree>
    <p:extLst>
      <p:ext uri="{BB962C8B-B14F-4D97-AF65-F5344CB8AC3E}">
        <p14:creationId xmlns:p14="http://schemas.microsoft.com/office/powerpoint/2010/main" val="29249736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DC39C-0100-4F47-3690-C441306219D1}"/>
            </a:ext>
          </a:extLst>
        </p:cNvPr>
        <p:cNvGrpSpPr/>
        <p:nvPr/>
      </p:nvGrpSpPr>
      <p:grpSpPr>
        <a:xfrm>
          <a:off x="0" y="0"/>
          <a:ext cx="0" cy="0"/>
          <a:chOff x="0" y="0"/>
          <a:chExt cx="0" cy="0"/>
        </a:xfrm>
      </p:grpSpPr>
      <p:sp>
        <p:nvSpPr>
          <p:cNvPr id="93186" name="Slide Image Placeholder 1">
            <a:extLst>
              <a:ext uri="{FF2B5EF4-FFF2-40B4-BE49-F238E27FC236}">
                <a16:creationId xmlns:a16="http://schemas.microsoft.com/office/drawing/2014/main" id="{55B1F551-82AF-5324-A59D-1B39E25316D9}"/>
              </a:ext>
            </a:extLst>
          </p:cNvPr>
          <p:cNvSpPr>
            <a:spLocks noGrp="1" noRot="1" noChangeAspect="1" noTextEdit="1"/>
          </p:cNvSpPr>
          <p:nvPr>
            <p:ph type="sldImg"/>
          </p:nvPr>
        </p:nvSpPr>
        <p:spPr>
          <a:ln/>
        </p:spPr>
      </p:sp>
      <p:sp>
        <p:nvSpPr>
          <p:cNvPr id="93187" name="Notes Placeholder 2">
            <a:extLst>
              <a:ext uri="{FF2B5EF4-FFF2-40B4-BE49-F238E27FC236}">
                <a16:creationId xmlns:a16="http://schemas.microsoft.com/office/drawing/2014/main" id="{B9FBE887-E502-3DE5-FEFD-874896BE164D}"/>
              </a:ext>
            </a:extLst>
          </p:cNvPr>
          <p:cNvSpPr>
            <a:spLocks noGrp="1"/>
          </p:cNvSpPr>
          <p:nvPr>
            <p:ph type="body" idx="1"/>
          </p:nvPr>
        </p:nvSpPr>
        <p:spPr>
          <a:noFill/>
          <a:ln/>
        </p:spPr>
        <p:txBody>
          <a:bodyPr/>
          <a:lstStyle/>
          <a:p>
            <a:r>
              <a:rPr lang="en-US" dirty="0">
                <a:latin typeface="Arial" pitchFamily="34" charset="0"/>
                <a:ea typeface="ＭＳ Ｐゴシック" pitchFamily="34" charset="-128"/>
              </a:rPr>
              <a:t>Computer and network security is both fascinating and complex. Some of the reasons</a:t>
            </a:r>
          </a:p>
          <a:p>
            <a:r>
              <a:rPr lang="en-US" dirty="0">
                <a:latin typeface="Arial" pitchFamily="34" charset="0"/>
                <a:ea typeface="ＭＳ Ｐゴシック" pitchFamily="34" charset="-128"/>
              </a:rPr>
              <a:t>include:</a:t>
            </a:r>
          </a:p>
          <a:p>
            <a:endParaRPr lang="en-US" dirty="0">
              <a:latin typeface="Arial" pitchFamily="34" charset="0"/>
              <a:ea typeface="ＭＳ Ｐゴシック" pitchFamily="34" charset="-128"/>
            </a:endParaRPr>
          </a:p>
          <a:p>
            <a:r>
              <a:rPr lang="en-US" dirty="0">
                <a:latin typeface="Arial" pitchFamily="34" charset="0"/>
                <a:ea typeface="ＭＳ Ｐゴシック" pitchFamily="34" charset="-128"/>
              </a:rPr>
              <a:t>1.  Security is not as simple as it might first appear to the novice. The requirements</a:t>
            </a:r>
          </a:p>
          <a:p>
            <a:r>
              <a:rPr lang="en-US" dirty="0">
                <a:latin typeface="Arial" pitchFamily="34" charset="0"/>
                <a:ea typeface="ＭＳ Ｐゴシック" pitchFamily="34" charset="-128"/>
              </a:rPr>
              <a:t>seem to be straightforward; indeed, most of the major requirements for</a:t>
            </a:r>
          </a:p>
          <a:p>
            <a:r>
              <a:rPr lang="en-US" dirty="0">
                <a:latin typeface="Arial" pitchFamily="34" charset="0"/>
                <a:ea typeface="ＭＳ Ｐゴシック" pitchFamily="34" charset="-128"/>
              </a:rPr>
              <a:t>security services can be given self-explanatory, one-word labels: confidentiality,</a:t>
            </a:r>
          </a:p>
          <a:p>
            <a:r>
              <a:rPr lang="en-US" dirty="0">
                <a:latin typeface="Arial" pitchFamily="34" charset="0"/>
                <a:ea typeface="ＭＳ Ｐゴシック" pitchFamily="34" charset="-128"/>
              </a:rPr>
              <a:t>authentication, nonrepudiation, and integrity. But the mechanisms used to</a:t>
            </a:r>
          </a:p>
          <a:p>
            <a:r>
              <a:rPr lang="en-US" dirty="0">
                <a:latin typeface="Arial" pitchFamily="34" charset="0"/>
                <a:ea typeface="ＭＳ Ｐゴシック" pitchFamily="34" charset="-128"/>
              </a:rPr>
              <a:t>meet those requirements can be quite complex, and understanding them may</a:t>
            </a:r>
          </a:p>
          <a:p>
            <a:r>
              <a:rPr lang="en-US" dirty="0">
                <a:latin typeface="Arial" pitchFamily="34" charset="0"/>
                <a:ea typeface="ＭＳ Ｐゴシック" pitchFamily="34" charset="-128"/>
              </a:rPr>
              <a:t>involve rather subtle reasoning.</a:t>
            </a:r>
          </a:p>
          <a:p>
            <a:endParaRPr lang="en-US" dirty="0">
              <a:latin typeface="Arial" pitchFamily="34" charset="0"/>
              <a:ea typeface="ＭＳ Ｐゴシック" pitchFamily="34" charset="-128"/>
            </a:endParaRPr>
          </a:p>
          <a:p>
            <a:r>
              <a:rPr lang="en-US" dirty="0">
                <a:latin typeface="Arial" pitchFamily="34" charset="0"/>
                <a:ea typeface="ＭＳ Ｐゴシック" pitchFamily="34" charset="-128"/>
              </a:rPr>
              <a:t>2.  In developing a particular security mechanism or algorithm, one must always</a:t>
            </a:r>
          </a:p>
          <a:p>
            <a:r>
              <a:rPr lang="en-US" dirty="0">
                <a:latin typeface="Arial" pitchFamily="34" charset="0"/>
                <a:ea typeface="ＭＳ Ｐゴシック" pitchFamily="34" charset="-128"/>
              </a:rPr>
              <a:t>consider potential attacks on those security features. In many cases, successful</a:t>
            </a:r>
          </a:p>
          <a:p>
            <a:r>
              <a:rPr lang="en-US" dirty="0">
                <a:latin typeface="Arial" pitchFamily="34" charset="0"/>
                <a:ea typeface="ＭＳ Ｐゴシック" pitchFamily="34" charset="-128"/>
              </a:rPr>
              <a:t>attacks are designed by looking at the problem in a completely different way,</a:t>
            </a:r>
          </a:p>
          <a:p>
            <a:r>
              <a:rPr lang="en-US" dirty="0">
                <a:latin typeface="Arial" pitchFamily="34" charset="0"/>
                <a:ea typeface="ＭＳ Ｐゴシック" pitchFamily="34" charset="-128"/>
              </a:rPr>
              <a:t>therefore exploiting an unexpected weakness in the mechanism.</a:t>
            </a:r>
          </a:p>
          <a:p>
            <a:endParaRPr lang="en-US" dirty="0">
              <a:latin typeface="Arial" pitchFamily="34" charset="0"/>
              <a:ea typeface="ＭＳ Ｐゴシック" pitchFamily="34" charset="-128"/>
            </a:endParaRPr>
          </a:p>
          <a:p>
            <a:r>
              <a:rPr lang="en-US" dirty="0">
                <a:latin typeface="Arial" pitchFamily="34" charset="0"/>
                <a:ea typeface="ＭＳ Ｐゴシック" pitchFamily="34" charset="-128"/>
              </a:rPr>
              <a:t>3.  Because of point 2, the procedures used to provide particular services are</a:t>
            </a:r>
          </a:p>
          <a:p>
            <a:r>
              <a:rPr lang="en-US" dirty="0">
                <a:latin typeface="Arial" pitchFamily="34" charset="0"/>
                <a:ea typeface="ＭＳ Ｐゴシック" pitchFamily="34" charset="-128"/>
              </a:rPr>
              <a:t>often counterintuitive. Typically, a security mechanism is complex, and it is not</a:t>
            </a:r>
          </a:p>
          <a:p>
            <a:r>
              <a:rPr lang="en-US" dirty="0">
                <a:latin typeface="Arial" pitchFamily="34" charset="0"/>
                <a:ea typeface="ＭＳ Ｐゴシック" pitchFamily="34" charset="-128"/>
              </a:rPr>
              <a:t>obvious from the statement of a particular requirement that such elaborate</a:t>
            </a:r>
          </a:p>
          <a:p>
            <a:r>
              <a:rPr lang="en-US" dirty="0">
                <a:latin typeface="Arial" pitchFamily="34" charset="0"/>
                <a:ea typeface="ＭＳ Ｐゴシック" pitchFamily="34" charset="-128"/>
              </a:rPr>
              <a:t>measures are needed. It is only when the various aspects of the threat are considered</a:t>
            </a:r>
          </a:p>
          <a:p>
            <a:r>
              <a:rPr lang="en-US" dirty="0">
                <a:latin typeface="Arial" pitchFamily="34" charset="0"/>
                <a:ea typeface="ＭＳ Ｐゴシック" pitchFamily="34" charset="-128"/>
              </a:rPr>
              <a:t>that elaborate security mechanisms make sense.</a:t>
            </a:r>
          </a:p>
          <a:p>
            <a:endParaRPr lang="en-US" dirty="0">
              <a:latin typeface="Arial" pitchFamily="34" charset="0"/>
              <a:ea typeface="ＭＳ Ｐゴシック" pitchFamily="34" charset="-128"/>
            </a:endParaRPr>
          </a:p>
          <a:p>
            <a:r>
              <a:rPr lang="en-US" dirty="0">
                <a:latin typeface="Arial" pitchFamily="34" charset="0"/>
                <a:ea typeface="ＭＳ Ｐゴシック" pitchFamily="34" charset="-128"/>
              </a:rPr>
              <a:t>4.  Having designed various security mechanisms, it is necessary to decide where</a:t>
            </a:r>
          </a:p>
          <a:p>
            <a:r>
              <a:rPr lang="en-US" dirty="0">
                <a:latin typeface="Arial" pitchFamily="34" charset="0"/>
                <a:ea typeface="ＭＳ Ｐゴシック" pitchFamily="34" charset="-128"/>
              </a:rPr>
              <a:t>to use them. This is true both in terms of physical placement (e.g., at what points</a:t>
            </a:r>
          </a:p>
          <a:p>
            <a:r>
              <a:rPr lang="en-US" dirty="0">
                <a:latin typeface="Arial" pitchFamily="34" charset="0"/>
                <a:ea typeface="ＭＳ Ｐゴシック" pitchFamily="34" charset="-128"/>
              </a:rPr>
              <a:t>in a network are certain security mechanisms needed) and in a logical sense</a:t>
            </a:r>
          </a:p>
          <a:p>
            <a:r>
              <a:rPr lang="en-US" dirty="0">
                <a:latin typeface="Arial" pitchFamily="34" charset="0"/>
                <a:ea typeface="ＭＳ Ｐゴシック" pitchFamily="34" charset="-128"/>
              </a:rPr>
              <a:t>[e.g., at what layer or layers of an architecture such as TCP/IP (Transmission</a:t>
            </a:r>
          </a:p>
          <a:p>
            <a:r>
              <a:rPr lang="en-US" dirty="0">
                <a:latin typeface="Arial" pitchFamily="34" charset="0"/>
                <a:ea typeface="ＭＳ Ｐゴシック" pitchFamily="34" charset="-128"/>
              </a:rPr>
              <a:t>Control Protocol/Internet Protocol) should mechanisms be placed].</a:t>
            </a:r>
          </a:p>
          <a:p>
            <a:endParaRPr lang="en-US" dirty="0">
              <a:latin typeface="Arial" pitchFamily="34" charset="0"/>
              <a:ea typeface="ＭＳ Ｐゴシック" pitchFamily="34" charset="-128"/>
            </a:endParaRPr>
          </a:p>
          <a:p>
            <a:r>
              <a:rPr lang="en-US" dirty="0">
                <a:latin typeface="Arial" pitchFamily="34" charset="0"/>
                <a:ea typeface="ＭＳ Ｐゴシック" pitchFamily="34" charset="-128"/>
              </a:rPr>
              <a:t>5. Security mechanisms typically involve more than a particular algorithm or</a:t>
            </a:r>
          </a:p>
          <a:p>
            <a:r>
              <a:rPr lang="en-US" dirty="0">
                <a:latin typeface="Arial" pitchFamily="34" charset="0"/>
                <a:ea typeface="ＭＳ Ｐゴシック" pitchFamily="34" charset="-128"/>
              </a:rPr>
              <a:t>protocol. They also require that participants be in possession of some secret information</a:t>
            </a:r>
          </a:p>
          <a:p>
            <a:r>
              <a:rPr lang="en-US" dirty="0">
                <a:latin typeface="Arial" pitchFamily="34" charset="0"/>
                <a:ea typeface="ＭＳ Ｐゴシック" pitchFamily="34" charset="-128"/>
              </a:rPr>
              <a:t>(e.g., an encryption key), which raises questions about the creation,</a:t>
            </a:r>
          </a:p>
          <a:p>
            <a:r>
              <a:rPr lang="en-US" dirty="0">
                <a:latin typeface="Arial" pitchFamily="34" charset="0"/>
                <a:ea typeface="ＭＳ Ｐゴシック" pitchFamily="34" charset="-128"/>
              </a:rPr>
              <a:t>distribution, and protection of that secret information. There also may be a reliance</a:t>
            </a:r>
          </a:p>
          <a:p>
            <a:r>
              <a:rPr lang="en-US" dirty="0">
                <a:latin typeface="Arial" pitchFamily="34" charset="0"/>
                <a:ea typeface="ＭＳ Ｐゴシック" pitchFamily="34" charset="-128"/>
              </a:rPr>
              <a:t>on communications protocols whose behavior may complicate the task</a:t>
            </a:r>
          </a:p>
          <a:p>
            <a:r>
              <a:rPr lang="en-US" dirty="0">
                <a:latin typeface="Arial" pitchFamily="34" charset="0"/>
                <a:ea typeface="ＭＳ Ｐゴシック" pitchFamily="34" charset="-128"/>
              </a:rPr>
              <a:t>of developing the security mechanism. For example, if the proper functioning</a:t>
            </a:r>
          </a:p>
          <a:p>
            <a:r>
              <a:rPr lang="en-US" dirty="0">
                <a:latin typeface="Arial" pitchFamily="34" charset="0"/>
                <a:ea typeface="ＭＳ Ｐゴシック" pitchFamily="34" charset="-128"/>
              </a:rPr>
              <a:t>of the security mechanism requires setting time limits on the transit time of a</a:t>
            </a:r>
          </a:p>
          <a:p>
            <a:r>
              <a:rPr lang="en-US" dirty="0">
                <a:latin typeface="Arial" pitchFamily="34" charset="0"/>
                <a:ea typeface="ＭＳ Ｐゴシック" pitchFamily="34" charset="-128"/>
              </a:rPr>
              <a:t>message from sender to receiver, then any protocol or network that introduces</a:t>
            </a:r>
          </a:p>
          <a:p>
            <a:r>
              <a:rPr lang="en-US" dirty="0">
                <a:latin typeface="Arial" pitchFamily="34" charset="0"/>
                <a:ea typeface="ＭＳ Ｐゴシック" pitchFamily="34" charset="-128"/>
              </a:rPr>
              <a:t>variable, unpredictable delays may render such time limits meaningless.</a:t>
            </a:r>
          </a:p>
          <a:p>
            <a:endParaRPr lang="en-US" dirty="0">
              <a:latin typeface="Arial" pitchFamily="34" charset="0"/>
              <a:ea typeface="ＭＳ Ｐゴシック" pitchFamily="34" charset="-128"/>
            </a:endParaRPr>
          </a:p>
          <a:p>
            <a:r>
              <a:rPr lang="en-US" dirty="0">
                <a:latin typeface="Arial" pitchFamily="34" charset="0"/>
                <a:ea typeface="ＭＳ Ｐゴシック" pitchFamily="34" charset="-128"/>
              </a:rPr>
              <a:t>6. Computer and network security is essentially a battle of wits between a perpetrator</a:t>
            </a:r>
          </a:p>
          <a:p>
            <a:r>
              <a:rPr lang="en-US" dirty="0">
                <a:latin typeface="Arial" pitchFamily="34" charset="0"/>
                <a:ea typeface="ＭＳ Ｐゴシック" pitchFamily="34" charset="-128"/>
              </a:rPr>
              <a:t>who tries to find holes and the designer or administrator who tries to</a:t>
            </a:r>
          </a:p>
          <a:p>
            <a:r>
              <a:rPr lang="en-US" dirty="0">
                <a:latin typeface="Arial" pitchFamily="34" charset="0"/>
                <a:ea typeface="ＭＳ Ｐゴシック" pitchFamily="34" charset="-128"/>
              </a:rPr>
              <a:t>close them. The great advantage that the attacker has is that he or she need</a:t>
            </a:r>
          </a:p>
          <a:p>
            <a:r>
              <a:rPr lang="en-US" dirty="0">
                <a:latin typeface="Arial" pitchFamily="34" charset="0"/>
                <a:ea typeface="ＭＳ Ｐゴシック" pitchFamily="34" charset="-128"/>
              </a:rPr>
              <a:t>only find a single weakness, while the designer must find and eliminate all</a:t>
            </a:r>
          </a:p>
          <a:p>
            <a:r>
              <a:rPr lang="en-US" dirty="0">
                <a:latin typeface="Arial" pitchFamily="34" charset="0"/>
                <a:ea typeface="ＭＳ Ｐゴシック" pitchFamily="34" charset="-128"/>
              </a:rPr>
              <a:t>weaknesses to achieve perfect security.</a:t>
            </a:r>
          </a:p>
          <a:p>
            <a:endParaRPr lang="en-US" dirty="0">
              <a:latin typeface="Arial" pitchFamily="34" charset="0"/>
              <a:ea typeface="ＭＳ Ｐゴシック" pitchFamily="34" charset="-128"/>
            </a:endParaRPr>
          </a:p>
          <a:p>
            <a:r>
              <a:rPr lang="en-US" dirty="0">
                <a:latin typeface="Arial" pitchFamily="34" charset="0"/>
                <a:ea typeface="ＭＳ Ｐゴシック" pitchFamily="34" charset="-128"/>
              </a:rPr>
              <a:t>7. There is a natural tendency on the part of users and system managers to</a:t>
            </a:r>
          </a:p>
          <a:p>
            <a:r>
              <a:rPr lang="en-US" dirty="0">
                <a:latin typeface="Arial" pitchFamily="34" charset="0"/>
                <a:ea typeface="ＭＳ Ｐゴシック" pitchFamily="34" charset="-128"/>
              </a:rPr>
              <a:t>perceive little benefit from security investment until a security failure occurs.</a:t>
            </a:r>
          </a:p>
          <a:p>
            <a:endParaRPr lang="en-US" dirty="0">
              <a:latin typeface="Arial" pitchFamily="34" charset="0"/>
              <a:ea typeface="ＭＳ Ｐゴシック" pitchFamily="34" charset="-128"/>
            </a:endParaRPr>
          </a:p>
          <a:p>
            <a:r>
              <a:rPr lang="en-US" dirty="0">
                <a:latin typeface="Arial" pitchFamily="34" charset="0"/>
                <a:ea typeface="ＭＳ Ｐゴシック" pitchFamily="34" charset="-128"/>
              </a:rPr>
              <a:t>8. Security requires regular, even constant, monitoring, and this is difficult in</a:t>
            </a:r>
          </a:p>
          <a:p>
            <a:r>
              <a:rPr lang="en-US" dirty="0">
                <a:latin typeface="Arial" pitchFamily="34" charset="0"/>
                <a:ea typeface="ＭＳ Ｐゴシック" pitchFamily="34" charset="-128"/>
              </a:rPr>
              <a:t>today’s short-term, overloaded environment.</a:t>
            </a:r>
          </a:p>
          <a:p>
            <a:endParaRPr lang="en-US" dirty="0">
              <a:latin typeface="Arial" pitchFamily="34" charset="0"/>
              <a:ea typeface="ＭＳ Ｐゴシック" pitchFamily="34" charset="-128"/>
            </a:endParaRPr>
          </a:p>
          <a:p>
            <a:r>
              <a:rPr lang="en-US" dirty="0">
                <a:latin typeface="Arial" pitchFamily="34" charset="0"/>
                <a:ea typeface="ＭＳ Ｐゴシック" pitchFamily="34" charset="-128"/>
              </a:rPr>
              <a:t>9. Security is still too often an afterthought to be incorporated into a system after</a:t>
            </a:r>
          </a:p>
          <a:p>
            <a:r>
              <a:rPr lang="en-US" dirty="0">
                <a:latin typeface="Arial" pitchFamily="34" charset="0"/>
                <a:ea typeface="ＭＳ Ｐゴシック" pitchFamily="34" charset="-128"/>
              </a:rPr>
              <a:t>the design is complete rather than being an integral part of the design process.</a:t>
            </a:r>
          </a:p>
          <a:p>
            <a:endParaRPr lang="en-US" dirty="0">
              <a:latin typeface="Arial" pitchFamily="34" charset="0"/>
              <a:ea typeface="ＭＳ Ｐゴシック" pitchFamily="34" charset="-128"/>
            </a:endParaRPr>
          </a:p>
          <a:p>
            <a:r>
              <a:rPr lang="en-US" dirty="0">
                <a:latin typeface="Arial" pitchFamily="34" charset="0"/>
                <a:ea typeface="ＭＳ Ｐゴシック" pitchFamily="34" charset="-128"/>
              </a:rPr>
              <a:t>10. Many users (and even security administrators) view strong security as an</a:t>
            </a:r>
          </a:p>
          <a:p>
            <a:r>
              <a:rPr lang="en-US" dirty="0">
                <a:latin typeface="Arial" pitchFamily="34" charset="0"/>
                <a:ea typeface="ＭＳ Ｐゴシック" pitchFamily="34" charset="-128"/>
              </a:rPr>
              <a:t>impediment to efficient and user-friendly operation of an information</a:t>
            </a:r>
          </a:p>
          <a:p>
            <a:r>
              <a:rPr lang="en-US" dirty="0">
                <a:latin typeface="Arial" pitchFamily="34" charset="0"/>
                <a:ea typeface="ＭＳ Ｐゴシック" pitchFamily="34" charset="-128"/>
              </a:rPr>
              <a:t>system or use of information.</a:t>
            </a:r>
          </a:p>
          <a:p>
            <a:endParaRPr lang="en-US" dirty="0">
              <a:latin typeface="Arial" pitchFamily="34" charset="0"/>
              <a:ea typeface="ＭＳ Ｐゴシック" pitchFamily="34" charset="-128"/>
            </a:endParaRPr>
          </a:p>
          <a:p>
            <a:r>
              <a:rPr lang="en-US" dirty="0">
                <a:latin typeface="Arial" pitchFamily="34" charset="0"/>
                <a:ea typeface="ＭＳ Ｐゴシック" pitchFamily="34" charset="-128"/>
              </a:rPr>
              <a:t>The difficulties just enumerated will be encountered in numerous ways as we</a:t>
            </a:r>
          </a:p>
          <a:p>
            <a:r>
              <a:rPr lang="en-US" dirty="0">
                <a:latin typeface="Arial" pitchFamily="34" charset="0"/>
                <a:ea typeface="ＭＳ Ｐゴシック" pitchFamily="34" charset="-128"/>
              </a:rPr>
              <a:t>examine the various security threats and mechanisms throughout this book.</a:t>
            </a:r>
            <a:endParaRPr lang="en-US" sz="1100" dirty="0">
              <a:latin typeface="Arial" pitchFamily="34" charset="0"/>
              <a:ea typeface="ＭＳ Ｐゴシック" pitchFamily="34" charset="-128"/>
              <a:cs typeface="Arial" pitchFamily="34" charset="0"/>
            </a:endParaRPr>
          </a:p>
        </p:txBody>
      </p:sp>
      <p:sp>
        <p:nvSpPr>
          <p:cNvPr id="79876" name="Slide Number Placeholder 3">
            <a:extLst>
              <a:ext uri="{FF2B5EF4-FFF2-40B4-BE49-F238E27FC236}">
                <a16:creationId xmlns:a16="http://schemas.microsoft.com/office/drawing/2014/main" id="{4DF1C0D6-FFE4-2341-7AFA-1FD1A96BC24B}"/>
              </a:ext>
            </a:extLst>
          </p:cNvPr>
          <p:cNvSpPr>
            <a:spLocks noGrp="1"/>
          </p:cNvSpPr>
          <p:nvPr>
            <p:ph type="sldNum" sz="quarter" idx="5"/>
          </p:nvPr>
        </p:nvSpPr>
        <p:spPr/>
        <p:txBody>
          <a:bodyPr/>
          <a:lstStyle/>
          <a:p>
            <a:pPr>
              <a:defRPr/>
            </a:pPr>
            <a:fld id="{ADBD0BFB-197F-457A-8D85-1C9FC684B63E}" type="slidenum">
              <a:rPr lang="en-AU" smtClean="0">
                <a:latin typeface="Arial" pitchFamily="34" charset="0"/>
              </a:rPr>
              <a:pPr>
                <a:defRPr/>
              </a:pPr>
              <a:t>48</a:t>
            </a:fld>
            <a:endParaRPr lang="en-AU">
              <a:latin typeface="Arial" pitchFamily="34" charset="0"/>
            </a:endParaRPr>
          </a:p>
        </p:txBody>
      </p:sp>
    </p:spTree>
    <p:extLst>
      <p:ext uri="{BB962C8B-B14F-4D97-AF65-F5344CB8AC3E}">
        <p14:creationId xmlns:p14="http://schemas.microsoft.com/office/powerpoint/2010/main" val="13115209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7609B-324E-AEF3-298F-499912FAD570}"/>
            </a:ext>
          </a:extLst>
        </p:cNvPr>
        <p:cNvGrpSpPr/>
        <p:nvPr/>
      </p:nvGrpSpPr>
      <p:grpSpPr>
        <a:xfrm>
          <a:off x="0" y="0"/>
          <a:ext cx="0" cy="0"/>
          <a:chOff x="0" y="0"/>
          <a:chExt cx="0" cy="0"/>
        </a:xfrm>
      </p:grpSpPr>
      <p:sp>
        <p:nvSpPr>
          <p:cNvPr id="93186" name="Slide Image Placeholder 1">
            <a:extLst>
              <a:ext uri="{FF2B5EF4-FFF2-40B4-BE49-F238E27FC236}">
                <a16:creationId xmlns:a16="http://schemas.microsoft.com/office/drawing/2014/main" id="{81342735-1E36-7FE1-9609-4FDDFE129FE9}"/>
              </a:ext>
            </a:extLst>
          </p:cNvPr>
          <p:cNvSpPr>
            <a:spLocks noGrp="1" noRot="1" noChangeAspect="1" noTextEdit="1"/>
          </p:cNvSpPr>
          <p:nvPr>
            <p:ph type="sldImg"/>
          </p:nvPr>
        </p:nvSpPr>
        <p:spPr>
          <a:ln/>
        </p:spPr>
      </p:sp>
      <p:sp>
        <p:nvSpPr>
          <p:cNvPr id="93187" name="Notes Placeholder 2">
            <a:extLst>
              <a:ext uri="{FF2B5EF4-FFF2-40B4-BE49-F238E27FC236}">
                <a16:creationId xmlns:a16="http://schemas.microsoft.com/office/drawing/2014/main" id="{131A0770-D294-3CA0-74CB-819147FF4736}"/>
              </a:ext>
            </a:extLst>
          </p:cNvPr>
          <p:cNvSpPr>
            <a:spLocks noGrp="1"/>
          </p:cNvSpPr>
          <p:nvPr>
            <p:ph type="body" idx="1"/>
          </p:nvPr>
        </p:nvSpPr>
        <p:spPr>
          <a:noFill/>
          <a:ln/>
        </p:spPr>
        <p:txBody>
          <a:bodyPr/>
          <a:lstStyle/>
          <a:p>
            <a:r>
              <a:rPr lang="en-US">
                <a:latin typeface="Arial" pitchFamily="34" charset="0"/>
                <a:ea typeface="ＭＳ Ｐゴシック" pitchFamily="34" charset="-128"/>
              </a:rPr>
              <a:t>Computer and network security is both fascinating and complex. Some of the reasons</a:t>
            </a:r>
          </a:p>
          <a:p>
            <a:r>
              <a:rPr lang="en-US">
                <a:latin typeface="Arial" pitchFamily="34" charset="0"/>
                <a:ea typeface="ＭＳ Ｐゴシック" pitchFamily="34" charset="-128"/>
              </a:rPr>
              <a:t>include:</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1.  Security is not as simple as it might first appear to the novice. The requirements</a:t>
            </a:r>
          </a:p>
          <a:p>
            <a:r>
              <a:rPr lang="en-US">
                <a:latin typeface="Arial" pitchFamily="34" charset="0"/>
                <a:ea typeface="ＭＳ Ｐゴシック" pitchFamily="34" charset="-128"/>
              </a:rPr>
              <a:t>seem to be straightforward; indeed, most of the major requirements for</a:t>
            </a:r>
          </a:p>
          <a:p>
            <a:r>
              <a:rPr lang="en-US">
                <a:latin typeface="Arial" pitchFamily="34" charset="0"/>
                <a:ea typeface="ＭＳ Ｐゴシック" pitchFamily="34" charset="-128"/>
              </a:rPr>
              <a:t>security services can be given self-explanatory, one-word labels: confidentiality,</a:t>
            </a:r>
          </a:p>
          <a:p>
            <a:r>
              <a:rPr lang="en-US">
                <a:latin typeface="Arial" pitchFamily="34" charset="0"/>
                <a:ea typeface="ＭＳ Ｐゴシック" pitchFamily="34" charset="-128"/>
              </a:rPr>
              <a:t>authentication, nonrepudiation, and integrity. But the mechanisms used to</a:t>
            </a:r>
          </a:p>
          <a:p>
            <a:r>
              <a:rPr lang="en-US">
                <a:latin typeface="Arial" pitchFamily="34" charset="0"/>
                <a:ea typeface="ＭＳ Ｐゴシック" pitchFamily="34" charset="-128"/>
              </a:rPr>
              <a:t>meet those requirements can be quite complex, and understanding them may</a:t>
            </a:r>
          </a:p>
          <a:p>
            <a:r>
              <a:rPr lang="en-US">
                <a:latin typeface="Arial" pitchFamily="34" charset="0"/>
                <a:ea typeface="ＭＳ Ｐゴシック" pitchFamily="34" charset="-128"/>
              </a:rPr>
              <a:t>involve rather subtle reasoning.</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2.  In developing a particular security mechanism or algorithm, one must always</a:t>
            </a:r>
          </a:p>
          <a:p>
            <a:r>
              <a:rPr lang="en-US">
                <a:latin typeface="Arial" pitchFamily="34" charset="0"/>
                <a:ea typeface="ＭＳ Ｐゴシック" pitchFamily="34" charset="-128"/>
              </a:rPr>
              <a:t>consider potential attacks on those security features. In many cases, successful</a:t>
            </a:r>
          </a:p>
          <a:p>
            <a:r>
              <a:rPr lang="en-US">
                <a:latin typeface="Arial" pitchFamily="34" charset="0"/>
                <a:ea typeface="ＭＳ Ｐゴシック" pitchFamily="34" charset="-128"/>
              </a:rPr>
              <a:t>attacks are designed by looking at the problem in a completely different way,</a:t>
            </a:r>
          </a:p>
          <a:p>
            <a:r>
              <a:rPr lang="en-US">
                <a:latin typeface="Arial" pitchFamily="34" charset="0"/>
                <a:ea typeface="ＭＳ Ｐゴシック" pitchFamily="34" charset="-128"/>
              </a:rPr>
              <a:t>therefore exploiting an unexpected weakness in the mechanism.</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3.  Because of point 2, the procedures used to provide particular services are</a:t>
            </a:r>
          </a:p>
          <a:p>
            <a:r>
              <a:rPr lang="en-US">
                <a:latin typeface="Arial" pitchFamily="34" charset="0"/>
                <a:ea typeface="ＭＳ Ｐゴシック" pitchFamily="34" charset="-128"/>
              </a:rPr>
              <a:t>often counterintuitive. Typically, a security mechanism is complex, and it is not</a:t>
            </a:r>
          </a:p>
          <a:p>
            <a:r>
              <a:rPr lang="en-US">
                <a:latin typeface="Arial" pitchFamily="34" charset="0"/>
                <a:ea typeface="ＭＳ Ｐゴシック" pitchFamily="34" charset="-128"/>
              </a:rPr>
              <a:t>obvious from the statement of a particular requirement that such elaborate</a:t>
            </a:r>
          </a:p>
          <a:p>
            <a:r>
              <a:rPr lang="en-US">
                <a:latin typeface="Arial" pitchFamily="34" charset="0"/>
                <a:ea typeface="ＭＳ Ｐゴシック" pitchFamily="34" charset="-128"/>
              </a:rPr>
              <a:t>measures are needed. It is only when the various aspects of the threat are considered</a:t>
            </a:r>
          </a:p>
          <a:p>
            <a:r>
              <a:rPr lang="en-US">
                <a:latin typeface="Arial" pitchFamily="34" charset="0"/>
                <a:ea typeface="ＭＳ Ｐゴシック" pitchFamily="34" charset="-128"/>
              </a:rPr>
              <a:t>that elaborate security mechanisms make sense.</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4.  Having designed various security mechanisms, it is necessary to decide where</a:t>
            </a:r>
          </a:p>
          <a:p>
            <a:r>
              <a:rPr lang="en-US">
                <a:latin typeface="Arial" pitchFamily="34" charset="0"/>
                <a:ea typeface="ＭＳ Ｐゴシック" pitchFamily="34" charset="-128"/>
              </a:rPr>
              <a:t>to use them. This is true both in terms of physical placement (e.g., at what points</a:t>
            </a:r>
          </a:p>
          <a:p>
            <a:r>
              <a:rPr lang="en-US">
                <a:latin typeface="Arial" pitchFamily="34" charset="0"/>
                <a:ea typeface="ＭＳ Ｐゴシック" pitchFamily="34" charset="-128"/>
              </a:rPr>
              <a:t>in a network are certain security mechanisms needed) and in a logical sense</a:t>
            </a:r>
          </a:p>
          <a:p>
            <a:r>
              <a:rPr lang="en-US">
                <a:latin typeface="Arial" pitchFamily="34" charset="0"/>
                <a:ea typeface="ＭＳ Ｐゴシック" pitchFamily="34" charset="-128"/>
              </a:rPr>
              <a:t>[e.g., at what layer or layers of an architecture such as TCP/IP (Transmission</a:t>
            </a:r>
          </a:p>
          <a:p>
            <a:r>
              <a:rPr lang="en-US">
                <a:latin typeface="Arial" pitchFamily="34" charset="0"/>
                <a:ea typeface="ＭＳ Ｐゴシック" pitchFamily="34" charset="-128"/>
              </a:rPr>
              <a:t>Control Protocol/Internet Protocol) should mechanisms be placed].</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5. Security mechanisms typically involve more than a particular algorithm or</a:t>
            </a:r>
          </a:p>
          <a:p>
            <a:r>
              <a:rPr lang="en-US">
                <a:latin typeface="Arial" pitchFamily="34" charset="0"/>
                <a:ea typeface="ＭＳ Ｐゴシック" pitchFamily="34" charset="-128"/>
              </a:rPr>
              <a:t>protocol. They also require that participants be in possession of some secret information</a:t>
            </a:r>
          </a:p>
          <a:p>
            <a:r>
              <a:rPr lang="en-US">
                <a:latin typeface="Arial" pitchFamily="34" charset="0"/>
                <a:ea typeface="ＭＳ Ｐゴシック" pitchFamily="34" charset="-128"/>
              </a:rPr>
              <a:t>(e.g., an encryption key), which raises questions about the creation,</a:t>
            </a:r>
          </a:p>
          <a:p>
            <a:r>
              <a:rPr lang="en-US">
                <a:latin typeface="Arial" pitchFamily="34" charset="0"/>
                <a:ea typeface="ＭＳ Ｐゴシック" pitchFamily="34" charset="-128"/>
              </a:rPr>
              <a:t>distribution, and protection of that secret information. There also may be a reliance</a:t>
            </a:r>
          </a:p>
          <a:p>
            <a:r>
              <a:rPr lang="en-US">
                <a:latin typeface="Arial" pitchFamily="34" charset="0"/>
                <a:ea typeface="ＭＳ Ｐゴシック" pitchFamily="34" charset="-128"/>
              </a:rPr>
              <a:t>on communications protocols whose behavior may complicate the task</a:t>
            </a:r>
          </a:p>
          <a:p>
            <a:r>
              <a:rPr lang="en-US">
                <a:latin typeface="Arial" pitchFamily="34" charset="0"/>
                <a:ea typeface="ＭＳ Ｐゴシック" pitchFamily="34" charset="-128"/>
              </a:rPr>
              <a:t>of developing the security mechanism. For example, if the proper functioning</a:t>
            </a:r>
          </a:p>
          <a:p>
            <a:r>
              <a:rPr lang="en-US">
                <a:latin typeface="Arial" pitchFamily="34" charset="0"/>
                <a:ea typeface="ＭＳ Ｐゴシック" pitchFamily="34" charset="-128"/>
              </a:rPr>
              <a:t>of the security mechanism requires setting time limits on the transit time of a</a:t>
            </a:r>
          </a:p>
          <a:p>
            <a:r>
              <a:rPr lang="en-US">
                <a:latin typeface="Arial" pitchFamily="34" charset="0"/>
                <a:ea typeface="ＭＳ Ｐゴシック" pitchFamily="34" charset="-128"/>
              </a:rPr>
              <a:t>message from sender to receiver, then any protocol or network that introduces</a:t>
            </a:r>
          </a:p>
          <a:p>
            <a:r>
              <a:rPr lang="en-US">
                <a:latin typeface="Arial" pitchFamily="34" charset="0"/>
                <a:ea typeface="ＭＳ Ｐゴシック" pitchFamily="34" charset="-128"/>
              </a:rPr>
              <a:t>variable, unpredictable delays may render such time limits meaningless.</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6. Computer and network security is essentially a battle of wits between a perpetrator</a:t>
            </a:r>
          </a:p>
          <a:p>
            <a:r>
              <a:rPr lang="en-US">
                <a:latin typeface="Arial" pitchFamily="34" charset="0"/>
                <a:ea typeface="ＭＳ Ｐゴシック" pitchFamily="34" charset="-128"/>
              </a:rPr>
              <a:t>who tries to find holes and the designer or administrator who tries to</a:t>
            </a:r>
          </a:p>
          <a:p>
            <a:r>
              <a:rPr lang="en-US">
                <a:latin typeface="Arial" pitchFamily="34" charset="0"/>
                <a:ea typeface="ＭＳ Ｐゴシック" pitchFamily="34" charset="-128"/>
              </a:rPr>
              <a:t>close them. The great advantage that the attacker has is that he or she need</a:t>
            </a:r>
          </a:p>
          <a:p>
            <a:r>
              <a:rPr lang="en-US">
                <a:latin typeface="Arial" pitchFamily="34" charset="0"/>
                <a:ea typeface="ＭＳ Ｐゴシック" pitchFamily="34" charset="-128"/>
              </a:rPr>
              <a:t>only find a single weakness, while the designer must find and eliminate all</a:t>
            </a:r>
          </a:p>
          <a:p>
            <a:r>
              <a:rPr lang="en-US">
                <a:latin typeface="Arial" pitchFamily="34" charset="0"/>
                <a:ea typeface="ＭＳ Ｐゴシック" pitchFamily="34" charset="-128"/>
              </a:rPr>
              <a:t>weaknesses to achieve perfect security.</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7. There is a natural tendency on the part of users and system managers to</a:t>
            </a:r>
          </a:p>
          <a:p>
            <a:r>
              <a:rPr lang="en-US">
                <a:latin typeface="Arial" pitchFamily="34" charset="0"/>
                <a:ea typeface="ＭＳ Ｐゴシック" pitchFamily="34" charset="-128"/>
              </a:rPr>
              <a:t>perceive little benefit from security investment until a security failure occurs.</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8. Security requires regular, even constant, monitoring, and this is difficult in</a:t>
            </a:r>
          </a:p>
          <a:p>
            <a:r>
              <a:rPr lang="en-US">
                <a:latin typeface="Arial" pitchFamily="34" charset="0"/>
                <a:ea typeface="ＭＳ Ｐゴシック" pitchFamily="34" charset="-128"/>
              </a:rPr>
              <a:t>today’s short-term, overloaded environment.</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9. Security is still too often an afterthought to be incorporated into a system after</a:t>
            </a:r>
          </a:p>
          <a:p>
            <a:r>
              <a:rPr lang="en-US">
                <a:latin typeface="Arial" pitchFamily="34" charset="0"/>
                <a:ea typeface="ＭＳ Ｐゴシック" pitchFamily="34" charset="-128"/>
              </a:rPr>
              <a:t>the design is complete rather than being an integral part of the design process.</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10. Many users (and even security administrators) view strong security as an</a:t>
            </a:r>
          </a:p>
          <a:p>
            <a:r>
              <a:rPr lang="en-US">
                <a:latin typeface="Arial" pitchFamily="34" charset="0"/>
                <a:ea typeface="ＭＳ Ｐゴシック" pitchFamily="34" charset="-128"/>
              </a:rPr>
              <a:t>impediment to efficient and user-friendly operation of an information</a:t>
            </a:r>
          </a:p>
          <a:p>
            <a:r>
              <a:rPr lang="en-US">
                <a:latin typeface="Arial" pitchFamily="34" charset="0"/>
                <a:ea typeface="ＭＳ Ｐゴシック" pitchFamily="34" charset="-128"/>
              </a:rPr>
              <a:t>system or use of information.</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The difficulties just enumerated will be encountered in numerous ways as we</a:t>
            </a:r>
          </a:p>
          <a:p>
            <a:r>
              <a:rPr lang="en-US">
                <a:latin typeface="Arial" pitchFamily="34" charset="0"/>
                <a:ea typeface="ＭＳ Ｐゴシック" pitchFamily="34" charset="-128"/>
              </a:rPr>
              <a:t>examine the various security threats and mechanisms throughout this book.</a:t>
            </a:r>
            <a:endParaRPr lang="en-US" sz="1100">
              <a:latin typeface="Arial" pitchFamily="34" charset="0"/>
              <a:ea typeface="ＭＳ Ｐゴシック" pitchFamily="34" charset="-128"/>
              <a:cs typeface="Arial" pitchFamily="34" charset="0"/>
            </a:endParaRPr>
          </a:p>
        </p:txBody>
      </p:sp>
      <p:sp>
        <p:nvSpPr>
          <p:cNvPr id="79876" name="Slide Number Placeholder 3">
            <a:extLst>
              <a:ext uri="{FF2B5EF4-FFF2-40B4-BE49-F238E27FC236}">
                <a16:creationId xmlns:a16="http://schemas.microsoft.com/office/drawing/2014/main" id="{2193C0C5-870D-6E9B-7C91-27D4D4ECF80B}"/>
              </a:ext>
            </a:extLst>
          </p:cNvPr>
          <p:cNvSpPr>
            <a:spLocks noGrp="1"/>
          </p:cNvSpPr>
          <p:nvPr>
            <p:ph type="sldNum" sz="quarter" idx="5"/>
          </p:nvPr>
        </p:nvSpPr>
        <p:spPr/>
        <p:txBody>
          <a:bodyPr/>
          <a:lstStyle/>
          <a:p>
            <a:pPr>
              <a:defRPr/>
            </a:pPr>
            <a:fld id="{ADBD0BFB-197F-457A-8D85-1C9FC684B63E}" type="slidenum">
              <a:rPr lang="en-AU" smtClean="0">
                <a:latin typeface="Arial" pitchFamily="34" charset="0"/>
              </a:rPr>
              <a:pPr>
                <a:defRPr/>
              </a:pPr>
              <a:t>49</a:t>
            </a:fld>
            <a:endParaRPr lang="en-AU">
              <a:latin typeface="Arial" pitchFamily="34" charset="0"/>
            </a:endParaRPr>
          </a:p>
        </p:txBody>
      </p:sp>
    </p:spTree>
    <p:extLst>
      <p:ext uri="{BB962C8B-B14F-4D97-AF65-F5344CB8AC3E}">
        <p14:creationId xmlns:p14="http://schemas.microsoft.com/office/powerpoint/2010/main" val="36638875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188A4-363F-E530-B1F0-6DFAB6198796}"/>
            </a:ext>
          </a:extLst>
        </p:cNvPr>
        <p:cNvGrpSpPr/>
        <p:nvPr/>
      </p:nvGrpSpPr>
      <p:grpSpPr>
        <a:xfrm>
          <a:off x="0" y="0"/>
          <a:ext cx="0" cy="0"/>
          <a:chOff x="0" y="0"/>
          <a:chExt cx="0" cy="0"/>
        </a:xfrm>
      </p:grpSpPr>
      <p:sp>
        <p:nvSpPr>
          <p:cNvPr id="93186" name="Slide Image Placeholder 1">
            <a:extLst>
              <a:ext uri="{FF2B5EF4-FFF2-40B4-BE49-F238E27FC236}">
                <a16:creationId xmlns:a16="http://schemas.microsoft.com/office/drawing/2014/main" id="{475B87BA-2C32-227D-D94D-B2171EEAD0BB}"/>
              </a:ext>
            </a:extLst>
          </p:cNvPr>
          <p:cNvSpPr>
            <a:spLocks noGrp="1" noRot="1" noChangeAspect="1" noTextEdit="1"/>
          </p:cNvSpPr>
          <p:nvPr>
            <p:ph type="sldImg"/>
          </p:nvPr>
        </p:nvSpPr>
        <p:spPr>
          <a:ln/>
        </p:spPr>
      </p:sp>
      <p:sp>
        <p:nvSpPr>
          <p:cNvPr id="93187" name="Notes Placeholder 2">
            <a:extLst>
              <a:ext uri="{FF2B5EF4-FFF2-40B4-BE49-F238E27FC236}">
                <a16:creationId xmlns:a16="http://schemas.microsoft.com/office/drawing/2014/main" id="{840AF049-B41C-E1AB-3DB3-9B1A083AECD0}"/>
              </a:ext>
            </a:extLst>
          </p:cNvPr>
          <p:cNvSpPr>
            <a:spLocks noGrp="1"/>
          </p:cNvSpPr>
          <p:nvPr>
            <p:ph type="body" idx="1"/>
          </p:nvPr>
        </p:nvSpPr>
        <p:spPr>
          <a:noFill/>
          <a:ln/>
        </p:spPr>
        <p:txBody>
          <a:bodyPr/>
          <a:lstStyle/>
          <a:p>
            <a:r>
              <a:rPr lang="en-US">
                <a:latin typeface="Arial" pitchFamily="34" charset="0"/>
                <a:ea typeface="ＭＳ Ｐゴシック" pitchFamily="34" charset="-128"/>
              </a:rPr>
              <a:t>Computer and network security is both fascinating and complex. Some of the reasons</a:t>
            </a:r>
          </a:p>
          <a:p>
            <a:r>
              <a:rPr lang="en-US">
                <a:latin typeface="Arial" pitchFamily="34" charset="0"/>
                <a:ea typeface="ＭＳ Ｐゴシック" pitchFamily="34" charset="-128"/>
              </a:rPr>
              <a:t>include:</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1.  Security is not as simple as it might first appear to the novice. The requirements</a:t>
            </a:r>
          </a:p>
          <a:p>
            <a:r>
              <a:rPr lang="en-US">
                <a:latin typeface="Arial" pitchFamily="34" charset="0"/>
                <a:ea typeface="ＭＳ Ｐゴシック" pitchFamily="34" charset="-128"/>
              </a:rPr>
              <a:t>seem to be straightforward; indeed, most of the major requirements for</a:t>
            </a:r>
          </a:p>
          <a:p>
            <a:r>
              <a:rPr lang="en-US">
                <a:latin typeface="Arial" pitchFamily="34" charset="0"/>
                <a:ea typeface="ＭＳ Ｐゴシック" pitchFamily="34" charset="-128"/>
              </a:rPr>
              <a:t>security services can be given self-explanatory, one-word labels: confidentiality,</a:t>
            </a:r>
          </a:p>
          <a:p>
            <a:r>
              <a:rPr lang="en-US">
                <a:latin typeface="Arial" pitchFamily="34" charset="0"/>
                <a:ea typeface="ＭＳ Ｐゴシック" pitchFamily="34" charset="-128"/>
              </a:rPr>
              <a:t>authentication, nonrepudiation, and integrity. But the mechanisms used to</a:t>
            </a:r>
          </a:p>
          <a:p>
            <a:r>
              <a:rPr lang="en-US">
                <a:latin typeface="Arial" pitchFamily="34" charset="0"/>
                <a:ea typeface="ＭＳ Ｐゴシック" pitchFamily="34" charset="-128"/>
              </a:rPr>
              <a:t>meet those requirements can be quite complex, and understanding them may</a:t>
            </a:r>
          </a:p>
          <a:p>
            <a:r>
              <a:rPr lang="en-US">
                <a:latin typeface="Arial" pitchFamily="34" charset="0"/>
                <a:ea typeface="ＭＳ Ｐゴシック" pitchFamily="34" charset="-128"/>
              </a:rPr>
              <a:t>involve rather subtle reasoning.</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2.  In developing a particular security mechanism or algorithm, one must always</a:t>
            </a:r>
          </a:p>
          <a:p>
            <a:r>
              <a:rPr lang="en-US">
                <a:latin typeface="Arial" pitchFamily="34" charset="0"/>
                <a:ea typeface="ＭＳ Ｐゴシック" pitchFamily="34" charset="-128"/>
              </a:rPr>
              <a:t>consider potential attacks on those security features. In many cases, successful</a:t>
            </a:r>
          </a:p>
          <a:p>
            <a:r>
              <a:rPr lang="en-US">
                <a:latin typeface="Arial" pitchFamily="34" charset="0"/>
                <a:ea typeface="ＭＳ Ｐゴシック" pitchFamily="34" charset="-128"/>
              </a:rPr>
              <a:t>attacks are designed by looking at the problem in a completely different way,</a:t>
            </a:r>
          </a:p>
          <a:p>
            <a:r>
              <a:rPr lang="en-US">
                <a:latin typeface="Arial" pitchFamily="34" charset="0"/>
                <a:ea typeface="ＭＳ Ｐゴシック" pitchFamily="34" charset="-128"/>
              </a:rPr>
              <a:t>therefore exploiting an unexpected weakness in the mechanism.</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3.  Because of point 2, the procedures used to provide particular services are</a:t>
            </a:r>
          </a:p>
          <a:p>
            <a:r>
              <a:rPr lang="en-US">
                <a:latin typeface="Arial" pitchFamily="34" charset="0"/>
                <a:ea typeface="ＭＳ Ｐゴシック" pitchFamily="34" charset="-128"/>
              </a:rPr>
              <a:t>often counterintuitive. Typically, a security mechanism is complex, and it is not</a:t>
            </a:r>
          </a:p>
          <a:p>
            <a:r>
              <a:rPr lang="en-US">
                <a:latin typeface="Arial" pitchFamily="34" charset="0"/>
                <a:ea typeface="ＭＳ Ｐゴシック" pitchFamily="34" charset="-128"/>
              </a:rPr>
              <a:t>obvious from the statement of a particular requirement that such elaborate</a:t>
            </a:r>
          </a:p>
          <a:p>
            <a:r>
              <a:rPr lang="en-US">
                <a:latin typeface="Arial" pitchFamily="34" charset="0"/>
                <a:ea typeface="ＭＳ Ｐゴシック" pitchFamily="34" charset="-128"/>
              </a:rPr>
              <a:t>measures are needed. It is only when the various aspects of the threat are considered</a:t>
            </a:r>
          </a:p>
          <a:p>
            <a:r>
              <a:rPr lang="en-US">
                <a:latin typeface="Arial" pitchFamily="34" charset="0"/>
                <a:ea typeface="ＭＳ Ｐゴシック" pitchFamily="34" charset="-128"/>
              </a:rPr>
              <a:t>that elaborate security mechanisms make sense.</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4.  Having designed various security mechanisms, it is necessary to decide where</a:t>
            </a:r>
          </a:p>
          <a:p>
            <a:r>
              <a:rPr lang="en-US">
                <a:latin typeface="Arial" pitchFamily="34" charset="0"/>
                <a:ea typeface="ＭＳ Ｐゴシック" pitchFamily="34" charset="-128"/>
              </a:rPr>
              <a:t>to use them. This is true both in terms of physical placement (e.g., at what points</a:t>
            </a:r>
          </a:p>
          <a:p>
            <a:r>
              <a:rPr lang="en-US">
                <a:latin typeface="Arial" pitchFamily="34" charset="0"/>
                <a:ea typeface="ＭＳ Ｐゴシック" pitchFamily="34" charset="-128"/>
              </a:rPr>
              <a:t>in a network are certain security mechanisms needed) and in a logical sense</a:t>
            </a:r>
          </a:p>
          <a:p>
            <a:r>
              <a:rPr lang="en-US">
                <a:latin typeface="Arial" pitchFamily="34" charset="0"/>
                <a:ea typeface="ＭＳ Ｐゴシック" pitchFamily="34" charset="-128"/>
              </a:rPr>
              <a:t>[e.g., at what layer or layers of an architecture such as TCP/IP (Transmission</a:t>
            </a:r>
          </a:p>
          <a:p>
            <a:r>
              <a:rPr lang="en-US">
                <a:latin typeface="Arial" pitchFamily="34" charset="0"/>
                <a:ea typeface="ＭＳ Ｐゴシック" pitchFamily="34" charset="-128"/>
              </a:rPr>
              <a:t>Control Protocol/Internet Protocol) should mechanisms be placed].</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5. Security mechanisms typically involve more than a particular algorithm or</a:t>
            </a:r>
          </a:p>
          <a:p>
            <a:r>
              <a:rPr lang="en-US">
                <a:latin typeface="Arial" pitchFamily="34" charset="0"/>
                <a:ea typeface="ＭＳ Ｐゴシック" pitchFamily="34" charset="-128"/>
              </a:rPr>
              <a:t>protocol. They also require that participants be in possession of some secret information</a:t>
            </a:r>
          </a:p>
          <a:p>
            <a:r>
              <a:rPr lang="en-US">
                <a:latin typeface="Arial" pitchFamily="34" charset="0"/>
                <a:ea typeface="ＭＳ Ｐゴシック" pitchFamily="34" charset="-128"/>
              </a:rPr>
              <a:t>(e.g., an encryption key), which raises questions about the creation,</a:t>
            </a:r>
          </a:p>
          <a:p>
            <a:r>
              <a:rPr lang="en-US">
                <a:latin typeface="Arial" pitchFamily="34" charset="0"/>
                <a:ea typeface="ＭＳ Ｐゴシック" pitchFamily="34" charset="-128"/>
              </a:rPr>
              <a:t>distribution, and protection of that secret information. There also may be a reliance</a:t>
            </a:r>
          </a:p>
          <a:p>
            <a:r>
              <a:rPr lang="en-US">
                <a:latin typeface="Arial" pitchFamily="34" charset="0"/>
                <a:ea typeface="ＭＳ Ｐゴシック" pitchFamily="34" charset="-128"/>
              </a:rPr>
              <a:t>on communications protocols whose behavior may complicate the task</a:t>
            </a:r>
          </a:p>
          <a:p>
            <a:r>
              <a:rPr lang="en-US">
                <a:latin typeface="Arial" pitchFamily="34" charset="0"/>
                <a:ea typeface="ＭＳ Ｐゴシック" pitchFamily="34" charset="-128"/>
              </a:rPr>
              <a:t>of developing the security mechanism. For example, if the proper functioning</a:t>
            </a:r>
          </a:p>
          <a:p>
            <a:r>
              <a:rPr lang="en-US">
                <a:latin typeface="Arial" pitchFamily="34" charset="0"/>
                <a:ea typeface="ＭＳ Ｐゴシック" pitchFamily="34" charset="-128"/>
              </a:rPr>
              <a:t>of the security mechanism requires setting time limits on the transit time of a</a:t>
            </a:r>
          </a:p>
          <a:p>
            <a:r>
              <a:rPr lang="en-US">
                <a:latin typeface="Arial" pitchFamily="34" charset="0"/>
                <a:ea typeface="ＭＳ Ｐゴシック" pitchFamily="34" charset="-128"/>
              </a:rPr>
              <a:t>message from sender to receiver, then any protocol or network that introduces</a:t>
            </a:r>
          </a:p>
          <a:p>
            <a:r>
              <a:rPr lang="en-US">
                <a:latin typeface="Arial" pitchFamily="34" charset="0"/>
                <a:ea typeface="ＭＳ Ｐゴシック" pitchFamily="34" charset="-128"/>
              </a:rPr>
              <a:t>variable, unpredictable delays may render such time limits meaningless.</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6. Computer and network security is essentially a battle of wits between a perpetrator</a:t>
            </a:r>
          </a:p>
          <a:p>
            <a:r>
              <a:rPr lang="en-US">
                <a:latin typeface="Arial" pitchFamily="34" charset="0"/>
                <a:ea typeface="ＭＳ Ｐゴシック" pitchFamily="34" charset="-128"/>
              </a:rPr>
              <a:t>who tries to find holes and the designer or administrator who tries to</a:t>
            </a:r>
          </a:p>
          <a:p>
            <a:r>
              <a:rPr lang="en-US">
                <a:latin typeface="Arial" pitchFamily="34" charset="0"/>
                <a:ea typeface="ＭＳ Ｐゴシック" pitchFamily="34" charset="-128"/>
              </a:rPr>
              <a:t>close them. The great advantage that the attacker has is that he or she need</a:t>
            </a:r>
          </a:p>
          <a:p>
            <a:r>
              <a:rPr lang="en-US">
                <a:latin typeface="Arial" pitchFamily="34" charset="0"/>
                <a:ea typeface="ＭＳ Ｐゴシック" pitchFamily="34" charset="-128"/>
              </a:rPr>
              <a:t>only find a single weakness, while the designer must find and eliminate all</a:t>
            </a:r>
          </a:p>
          <a:p>
            <a:r>
              <a:rPr lang="en-US">
                <a:latin typeface="Arial" pitchFamily="34" charset="0"/>
                <a:ea typeface="ＭＳ Ｐゴシック" pitchFamily="34" charset="-128"/>
              </a:rPr>
              <a:t>weaknesses to achieve perfect security.</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7. There is a natural tendency on the part of users and system managers to</a:t>
            </a:r>
          </a:p>
          <a:p>
            <a:r>
              <a:rPr lang="en-US">
                <a:latin typeface="Arial" pitchFamily="34" charset="0"/>
                <a:ea typeface="ＭＳ Ｐゴシック" pitchFamily="34" charset="-128"/>
              </a:rPr>
              <a:t>perceive little benefit from security investment until a security failure occurs.</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8. Security requires regular, even constant, monitoring, and this is difficult in</a:t>
            </a:r>
          </a:p>
          <a:p>
            <a:r>
              <a:rPr lang="en-US">
                <a:latin typeface="Arial" pitchFamily="34" charset="0"/>
                <a:ea typeface="ＭＳ Ｐゴシック" pitchFamily="34" charset="-128"/>
              </a:rPr>
              <a:t>today’s short-term, overloaded environment.</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9. Security is still too often an afterthought to be incorporated into a system after</a:t>
            </a:r>
          </a:p>
          <a:p>
            <a:r>
              <a:rPr lang="en-US">
                <a:latin typeface="Arial" pitchFamily="34" charset="0"/>
                <a:ea typeface="ＭＳ Ｐゴシック" pitchFamily="34" charset="-128"/>
              </a:rPr>
              <a:t>the design is complete rather than being an integral part of the design process.</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10. Many users (and even security administrators) view strong security as an</a:t>
            </a:r>
          </a:p>
          <a:p>
            <a:r>
              <a:rPr lang="en-US">
                <a:latin typeface="Arial" pitchFamily="34" charset="0"/>
                <a:ea typeface="ＭＳ Ｐゴシック" pitchFamily="34" charset="-128"/>
              </a:rPr>
              <a:t>impediment to efficient and user-friendly operation of an information</a:t>
            </a:r>
          </a:p>
          <a:p>
            <a:r>
              <a:rPr lang="en-US">
                <a:latin typeface="Arial" pitchFamily="34" charset="0"/>
                <a:ea typeface="ＭＳ Ｐゴシック" pitchFamily="34" charset="-128"/>
              </a:rPr>
              <a:t>system or use of information.</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The difficulties just enumerated will be encountered in numerous ways as we</a:t>
            </a:r>
          </a:p>
          <a:p>
            <a:r>
              <a:rPr lang="en-US">
                <a:latin typeface="Arial" pitchFamily="34" charset="0"/>
                <a:ea typeface="ＭＳ Ｐゴシック" pitchFamily="34" charset="-128"/>
              </a:rPr>
              <a:t>examine the various security threats and mechanisms throughout this book.</a:t>
            </a:r>
            <a:endParaRPr lang="en-US" sz="1100">
              <a:latin typeface="Arial" pitchFamily="34" charset="0"/>
              <a:ea typeface="ＭＳ Ｐゴシック" pitchFamily="34" charset="-128"/>
              <a:cs typeface="Arial" pitchFamily="34" charset="0"/>
            </a:endParaRPr>
          </a:p>
        </p:txBody>
      </p:sp>
      <p:sp>
        <p:nvSpPr>
          <p:cNvPr id="79876" name="Slide Number Placeholder 3">
            <a:extLst>
              <a:ext uri="{FF2B5EF4-FFF2-40B4-BE49-F238E27FC236}">
                <a16:creationId xmlns:a16="http://schemas.microsoft.com/office/drawing/2014/main" id="{CC52820E-9786-97CC-D18C-A56B7DE5621E}"/>
              </a:ext>
            </a:extLst>
          </p:cNvPr>
          <p:cNvSpPr>
            <a:spLocks noGrp="1"/>
          </p:cNvSpPr>
          <p:nvPr>
            <p:ph type="sldNum" sz="quarter" idx="5"/>
          </p:nvPr>
        </p:nvSpPr>
        <p:spPr/>
        <p:txBody>
          <a:bodyPr/>
          <a:lstStyle/>
          <a:p>
            <a:pPr>
              <a:defRPr/>
            </a:pPr>
            <a:fld id="{ADBD0BFB-197F-457A-8D85-1C9FC684B63E}" type="slidenum">
              <a:rPr lang="en-AU" smtClean="0">
                <a:latin typeface="Arial" pitchFamily="34" charset="0"/>
              </a:rPr>
              <a:pPr>
                <a:defRPr/>
              </a:pPr>
              <a:t>50</a:t>
            </a:fld>
            <a:endParaRPr lang="en-AU">
              <a:latin typeface="Arial" pitchFamily="34" charset="0"/>
            </a:endParaRPr>
          </a:p>
        </p:txBody>
      </p:sp>
    </p:spTree>
    <p:extLst>
      <p:ext uri="{BB962C8B-B14F-4D97-AF65-F5344CB8AC3E}">
        <p14:creationId xmlns:p14="http://schemas.microsoft.com/office/powerpoint/2010/main" val="12779171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CE200-A051-5F20-E007-4E6B6E8EB57D}"/>
            </a:ext>
          </a:extLst>
        </p:cNvPr>
        <p:cNvGrpSpPr/>
        <p:nvPr/>
      </p:nvGrpSpPr>
      <p:grpSpPr>
        <a:xfrm>
          <a:off x="0" y="0"/>
          <a:ext cx="0" cy="0"/>
          <a:chOff x="0" y="0"/>
          <a:chExt cx="0" cy="0"/>
        </a:xfrm>
      </p:grpSpPr>
      <p:sp>
        <p:nvSpPr>
          <p:cNvPr id="93186" name="Slide Image Placeholder 1">
            <a:extLst>
              <a:ext uri="{FF2B5EF4-FFF2-40B4-BE49-F238E27FC236}">
                <a16:creationId xmlns:a16="http://schemas.microsoft.com/office/drawing/2014/main" id="{05078BFC-FCFF-2ACA-EACC-72D706B71F51}"/>
              </a:ext>
            </a:extLst>
          </p:cNvPr>
          <p:cNvSpPr>
            <a:spLocks noGrp="1" noRot="1" noChangeAspect="1" noTextEdit="1"/>
          </p:cNvSpPr>
          <p:nvPr>
            <p:ph type="sldImg"/>
          </p:nvPr>
        </p:nvSpPr>
        <p:spPr>
          <a:ln/>
        </p:spPr>
      </p:sp>
      <p:sp>
        <p:nvSpPr>
          <p:cNvPr id="93187" name="Notes Placeholder 2">
            <a:extLst>
              <a:ext uri="{FF2B5EF4-FFF2-40B4-BE49-F238E27FC236}">
                <a16:creationId xmlns:a16="http://schemas.microsoft.com/office/drawing/2014/main" id="{3DF85188-086D-BA4D-51C6-3A5BB92C087E}"/>
              </a:ext>
            </a:extLst>
          </p:cNvPr>
          <p:cNvSpPr>
            <a:spLocks noGrp="1"/>
          </p:cNvSpPr>
          <p:nvPr>
            <p:ph type="body" idx="1"/>
          </p:nvPr>
        </p:nvSpPr>
        <p:spPr>
          <a:noFill/>
          <a:ln/>
        </p:spPr>
        <p:txBody>
          <a:bodyPr/>
          <a:lstStyle/>
          <a:p>
            <a:endParaRPr lang="en-US" sz="1100" dirty="0">
              <a:latin typeface="Arial" pitchFamily="34" charset="0"/>
              <a:ea typeface="ＭＳ Ｐゴシック" pitchFamily="34" charset="-128"/>
              <a:cs typeface="Arial" pitchFamily="34" charset="0"/>
            </a:endParaRPr>
          </a:p>
        </p:txBody>
      </p:sp>
      <p:sp>
        <p:nvSpPr>
          <p:cNvPr id="79876" name="Slide Number Placeholder 3">
            <a:extLst>
              <a:ext uri="{FF2B5EF4-FFF2-40B4-BE49-F238E27FC236}">
                <a16:creationId xmlns:a16="http://schemas.microsoft.com/office/drawing/2014/main" id="{1ED80FDB-D390-FDA1-A24A-0556BF71176A}"/>
              </a:ext>
            </a:extLst>
          </p:cNvPr>
          <p:cNvSpPr>
            <a:spLocks noGrp="1"/>
          </p:cNvSpPr>
          <p:nvPr>
            <p:ph type="sldNum" sz="quarter" idx="5"/>
          </p:nvPr>
        </p:nvSpPr>
        <p:spPr/>
        <p:txBody>
          <a:bodyPr/>
          <a:lstStyle/>
          <a:p>
            <a:pPr>
              <a:defRPr/>
            </a:pPr>
            <a:fld id="{ADBD0BFB-197F-457A-8D85-1C9FC684B63E}" type="slidenum">
              <a:rPr lang="en-AU" smtClean="0">
                <a:latin typeface="Arial" pitchFamily="34" charset="0"/>
              </a:rPr>
              <a:pPr>
                <a:defRPr/>
              </a:pPr>
              <a:t>51</a:t>
            </a:fld>
            <a:endParaRPr lang="en-AU">
              <a:latin typeface="Arial" pitchFamily="34" charset="0"/>
            </a:endParaRPr>
          </a:p>
        </p:txBody>
      </p:sp>
    </p:spTree>
    <p:extLst>
      <p:ext uri="{BB962C8B-B14F-4D97-AF65-F5344CB8AC3E}">
        <p14:creationId xmlns:p14="http://schemas.microsoft.com/office/powerpoint/2010/main" val="4953842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35CB8-0058-C572-B574-360AFC388502}"/>
            </a:ext>
          </a:extLst>
        </p:cNvPr>
        <p:cNvGrpSpPr/>
        <p:nvPr/>
      </p:nvGrpSpPr>
      <p:grpSpPr>
        <a:xfrm>
          <a:off x="0" y="0"/>
          <a:ext cx="0" cy="0"/>
          <a:chOff x="0" y="0"/>
          <a:chExt cx="0" cy="0"/>
        </a:xfrm>
      </p:grpSpPr>
      <p:sp>
        <p:nvSpPr>
          <p:cNvPr id="93186" name="Slide Image Placeholder 1">
            <a:extLst>
              <a:ext uri="{FF2B5EF4-FFF2-40B4-BE49-F238E27FC236}">
                <a16:creationId xmlns:a16="http://schemas.microsoft.com/office/drawing/2014/main" id="{6FEBD323-FDD3-69DA-6F80-0592E1C00AEE}"/>
              </a:ext>
            </a:extLst>
          </p:cNvPr>
          <p:cNvSpPr>
            <a:spLocks noGrp="1" noRot="1" noChangeAspect="1" noTextEdit="1"/>
          </p:cNvSpPr>
          <p:nvPr>
            <p:ph type="sldImg"/>
          </p:nvPr>
        </p:nvSpPr>
        <p:spPr>
          <a:ln/>
        </p:spPr>
      </p:sp>
      <p:sp>
        <p:nvSpPr>
          <p:cNvPr id="93187" name="Notes Placeholder 2">
            <a:extLst>
              <a:ext uri="{FF2B5EF4-FFF2-40B4-BE49-F238E27FC236}">
                <a16:creationId xmlns:a16="http://schemas.microsoft.com/office/drawing/2014/main" id="{845A60C1-DA30-DF8C-0E94-2235649839F5}"/>
              </a:ext>
            </a:extLst>
          </p:cNvPr>
          <p:cNvSpPr>
            <a:spLocks noGrp="1"/>
          </p:cNvSpPr>
          <p:nvPr>
            <p:ph type="body" idx="1"/>
          </p:nvPr>
        </p:nvSpPr>
        <p:spPr>
          <a:noFill/>
          <a:ln/>
        </p:spPr>
        <p:txBody>
          <a:bodyPr/>
          <a:lstStyle/>
          <a:p>
            <a:r>
              <a:rPr lang="en-US">
                <a:latin typeface="Arial" pitchFamily="34" charset="0"/>
                <a:ea typeface="ＭＳ Ｐゴシック" pitchFamily="34" charset="-128"/>
              </a:rPr>
              <a:t>Computer and network security is both fascinating and complex. Some of the reasons</a:t>
            </a:r>
          </a:p>
          <a:p>
            <a:r>
              <a:rPr lang="en-US">
                <a:latin typeface="Arial" pitchFamily="34" charset="0"/>
                <a:ea typeface="ＭＳ Ｐゴシック" pitchFamily="34" charset="-128"/>
              </a:rPr>
              <a:t>include:</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1.  Security is not as simple as it might first appear to the novice. The requirements</a:t>
            </a:r>
          </a:p>
          <a:p>
            <a:r>
              <a:rPr lang="en-US">
                <a:latin typeface="Arial" pitchFamily="34" charset="0"/>
                <a:ea typeface="ＭＳ Ｐゴシック" pitchFamily="34" charset="-128"/>
              </a:rPr>
              <a:t>seem to be straightforward; indeed, most of the major requirements for</a:t>
            </a:r>
          </a:p>
          <a:p>
            <a:r>
              <a:rPr lang="en-US">
                <a:latin typeface="Arial" pitchFamily="34" charset="0"/>
                <a:ea typeface="ＭＳ Ｐゴシック" pitchFamily="34" charset="-128"/>
              </a:rPr>
              <a:t>security services can be given self-explanatory, one-word labels: confidentiality,</a:t>
            </a:r>
          </a:p>
          <a:p>
            <a:r>
              <a:rPr lang="en-US">
                <a:latin typeface="Arial" pitchFamily="34" charset="0"/>
                <a:ea typeface="ＭＳ Ｐゴシック" pitchFamily="34" charset="-128"/>
              </a:rPr>
              <a:t>authentication, nonrepudiation, and integrity. But the mechanisms used to</a:t>
            </a:r>
          </a:p>
          <a:p>
            <a:r>
              <a:rPr lang="en-US">
                <a:latin typeface="Arial" pitchFamily="34" charset="0"/>
                <a:ea typeface="ＭＳ Ｐゴシック" pitchFamily="34" charset="-128"/>
              </a:rPr>
              <a:t>meet those requirements can be quite complex, and understanding them may</a:t>
            </a:r>
          </a:p>
          <a:p>
            <a:r>
              <a:rPr lang="en-US">
                <a:latin typeface="Arial" pitchFamily="34" charset="0"/>
                <a:ea typeface="ＭＳ Ｐゴシック" pitchFamily="34" charset="-128"/>
              </a:rPr>
              <a:t>involve rather subtle reasoning.</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2.  In developing a particular security mechanism or algorithm, one must always</a:t>
            </a:r>
          </a:p>
          <a:p>
            <a:r>
              <a:rPr lang="en-US">
                <a:latin typeface="Arial" pitchFamily="34" charset="0"/>
                <a:ea typeface="ＭＳ Ｐゴシック" pitchFamily="34" charset="-128"/>
              </a:rPr>
              <a:t>consider potential attacks on those security features. In many cases, successful</a:t>
            </a:r>
          </a:p>
          <a:p>
            <a:r>
              <a:rPr lang="en-US">
                <a:latin typeface="Arial" pitchFamily="34" charset="0"/>
                <a:ea typeface="ＭＳ Ｐゴシック" pitchFamily="34" charset="-128"/>
              </a:rPr>
              <a:t>attacks are designed by looking at the problem in a completely different way,</a:t>
            </a:r>
          </a:p>
          <a:p>
            <a:r>
              <a:rPr lang="en-US">
                <a:latin typeface="Arial" pitchFamily="34" charset="0"/>
                <a:ea typeface="ＭＳ Ｐゴシック" pitchFamily="34" charset="-128"/>
              </a:rPr>
              <a:t>therefore exploiting an unexpected weakness in the mechanism.</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3.  Because of point 2, the procedures used to provide particular services are</a:t>
            </a:r>
          </a:p>
          <a:p>
            <a:r>
              <a:rPr lang="en-US">
                <a:latin typeface="Arial" pitchFamily="34" charset="0"/>
                <a:ea typeface="ＭＳ Ｐゴシック" pitchFamily="34" charset="-128"/>
              </a:rPr>
              <a:t>often counterintuitive. Typically, a security mechanism is complex, and it is not</a:t>
            </a:r>
          </a:p>
          <a:p>
            <a:r>
              <a:rPr lang="en-US">
                <a:latin typeface="Arial" pitchFamily="34" charset="0"/>
                <a:ea typeface="ＭＳ Ｐゴシック" pitchFamily="34" charset="-128"/>
              </a:rPr>
              <a:t>obvious from the statement of a particular requirement that such elaborate</a:t>
            </a:r>
          </a:p>
          <a:p>
            <a:r>
              <a:rPr lang="en-US">
                <a:latin typeface="Arial" pitchFamily="34" charset="0"/>
                <a:ea typeface="ＭＳ Ｐゴシック" pitchFamily="34" charset="-128"/>
              </a:rPr>
              <a:t>measures are needed. It is only when the various aspects of the threat are considered</a:t>
            </a:r>
          </a:p>
          <a:p>
            <a:r>
              <a:rPr lang="en-US">
                <a:latin typeface="Arial" pitchFamily="34" charset="0"/>
                <a:ea typeface="ＭＳ Ｐゴシック" pitchFamily="34" charset="-128"/>
              </a:rPr>
              <a:t>that elaborate security mechanisms make sense.</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4.  Having designed various security mechanisms, it is necessary to decide where</a:t>
            </a:r>
          </a:p>
          <a:p>
            <a:r>
              <a:rPr lang="en-US">
                <a:latin typeface="Arial" pitchFamily="34" charset="0"/>
                <a:ea typeface="ＭＳ Ｐゴシック" pitchFamily="34" charset="-128"/>
              </a:rPr>
              <a:t>to use them. This is true both in terms of physical placement (e.g., at what points</a:t>
            </a:r>
          </a:p>
          <a:p>
            <a:r>
              <a:rPr lang="en-US">
                <a:latin typeface="Arial" pitchFamily="34" charset="0"/>
                <a:ea typeface="ＭＳ Ｐゴシック" pitchFamily="34" charset="-128"/>
              </a:rPr>
              <a:t>in a network are certain security mechanisms needed) and in a logical sense</a:t>
            </a:r>
          </a:p>
          <a:p>
            <a:r>
              <a:rPr lang="en-US">
                <a:latin typeface="Arial" pitchFamily="34" charset="0"/>
                <a:ea typeface="ＭＳ Ｐゴシック" pitchFamily="34" charset="-128"/>
              </a:rPr>
              <a:t>[e.g., at what layer or layers of an architecture such as TCP/IP (Transmission</a:t>
            </a:r>
          </a:p>
          <a:p>
            <a:r>
              <a:rPr lang="en-US">
                <a:latin typeface="Arial" pitchFamily="34" charset="0"/>
                <a:ea typeface="ＭＳ Ｐゴシック" pitchFamily="34" charset="-128"/>
              </a:rPr>
              <a:t>Control Protocol/Internet Protocol) should mechanisms be placed].</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5. Security mechanisms typically involve more than a particular algorithm or</a:t>
            </a:r>
          </a:p>
          <a:p>
            <a:r>
              <a:rPr lang="en-US">
                <a:latin typeface="Arial" pitchFamily="34" charset="0"/>
                <a:ea typeface="ＭＳ Ｐゴシック" pitchFamily="34" charset="-128"/>
              </a:rPr>
              <a:t>protocol. They also require that participants be in possession of some secret information</a:t>
            </a:r>
          </a:p>
          <a:p>
            <a:r>
              <a:rPr lang="en-US">
                <a:latin typeface="Arial" pitchFamily="34" charset="0"/>
                <a:ea typeface="ＭＳ Ｐゴシック" pitchFamily="34" charset="-128"/>
              </a:rPr>
              <a:t>(e.g., an encryption key), which raises questions about the creation,</a:t>
            </a:r>
          </a:p>
          <a:p>
            <a:r>
              <a:rPr lang="en-US">
                <a:latin typeface="Arial" pitchFamily="34" charset="0"/>
                <a:ea typeface="ＭＳ Ｐゴシック" pitchFamily="34" charset="-128"/>
              </a:rPr>
              <a:t>distribution, and protection of that secret information. There also may be a reliance</a:t>
            </a:r>
          </a:p>
          <a:p>
            <a:r>
              <a:rPr lang="en-US">
                <a:latin typeface="Arial" pitchFamily="34" charset="0"/>
                <a:ea typeface="ＭＳ Ｐゴシック" pitchFamily="34" charset="-128"/>
              </a:rPr>
              <a:t>on communications protocols whose behavior may complicate the task</a:t>
            </a:r>
          </a:p>
          <a:p>
            <a:r>
              <a:rPr lang="en-US">
                <a:latin typeface="Arial" pitchFamily="34" charset="0"/>
                <a:ea typeface="ＭＳ Ｐゴシック" pitchFamily="34" charset="-128"/>
              </a:rPr>
              <a:t>of developing the security mechanism. For example, if the proper functioning</a:t>
            </a:r>
          </a:p>
          <a:p>
            <a:r>
              <a:rPr lang="en-US">
                <a:latin typeface="Arial" pitchFamily="34" charset="0"/>
                <a:ea typeface="ＭＳ Ｐゴシック" pitchFamily="34" charset="-128"/>
              </a:rPr>
              <a:t>of the security mechanism requires setting time limits on the transit time of a</a:t>
            </a:r>
          </a:p>
          <a:p>
            <a:r>
              <a:rPr lang="en-US">
                <a:latin typeface="Arial" pitchFamily="34" charset="0"/>
                <a:ea typeface="ＭＳ Ｐゴシック" pitchFamily="34" charset="-128"/>
              </a:rPr>
              <a:t>message from sender to receiver, then any protocol or network that introduces</a:t>
            </a:r>
          </a:p>
          <a:p>
            <a:r>
              <a:rPr lang="en-US">
                <a:latin typeface="Arial" pitchFamily="34" charset="0"/>
                <a:ea typeface="ＭＳ Ｐゴシック" pitchFamily="34" charset="-128"/>
              </a:rPr>
              <a:t>variable, unpredictable delays may render such time limits meaningless.</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6. Computer and network security is essentially a battle of wits between a perpetrator</a:t>
            </a:r>
          </a:p>
          <a:p>
            <a:r>
              <a:rPr lang="en-US">
                <a:latin typeface="Arial" pitchFamily="34" charset="0"/>
                <a:ea typeface="ＭＳ Ｐゴシック" pitchFamily="34" charset="-128"/>
              </a:rPr>
              <a:t>who tries to find holes and the designer or administrator who tries to</a:t>
            </a:r>
          </a:p>
          <a:p>
            <a:r>
              <a:rPr lang="en-US">
                <a:latin typeface="Arial" pitchFamily="34" charset="0"/>
                <a:ea typeface="ＭＳ Ｐゴシック" pitchFamily="34" charset="-128"/>
              </a:rPr>
              <a:t>close them. The great advantage that the attacker has is that he or she need</a:t>
            </a:r>
          </a:p>
          <a:p>
            <a:r>
              <a:rPr lang="en-US">
                <a:latin typeface="Arial" pitchFamily="34" charset="0"/>
                <a:ea typeface="ＭＳ Ｐゴシック" pitchFamily="34" charset="-128"/>
              </a:rPr>
              <a:t>only find a single weakness, while the designer must find and eliminate all</a:t>
            </a:r>
          </a:p>
          <a:p>
            <a:r>
              <a:rPr lang="en-US">
                <a:latin typeface="Arial" pitchFamily="34" charset="0"/>
                <a:ea typeface="ＭＳ Ｐゴシック" pitchFamily="34" charset="-128"/>
              </a:rPr>
              <a:t>weaknesses to achieve perfect security.</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7. There is a natural tendency on the part of users and system managers to</a:t>
            </a:r>
          </a:p>
          <a:p>
            <a:r>
              <a:rPr lang="en-US">
                <a:latin typeface="Arial" pitchFamily="34" charset="0"/>
                <a:ea typeface="ＭＳ Ｐゴシック" pitchFamily="34" charset="-128"/>
              </a:rPr>
              <a:t>perceive little benefit from security investment until a security failure occurs.</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8. Security requires regular, even constant, monitoring, and this is difficult in</a:t>
            </a:r>
          </a:p>
          <a:p>
            <a:r>
              <a:rPr lang="en-US">
                <a:latin typeface="Arial" pitchFamily="34" charset="0"/>
                <a:ea typeface="ＭＳ Ｐゴシック" pitchFamily="34" charset="-128"/>
              </a:rPr>
              <a:t>today’s short-term, overloaded environment.</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9. Security is still too often an afterthought to be incorporated into a system after</a:t>
            </a:r>
          </a:p>
          <a:p>
            <a:r>
              <a:rPr lang="en-US">
                <a:latin typeface="Arial" pitchFamily="34" charset="0"/>
                <a:ea typeface="ＭＳ Ｐゴシック" pitchFamily="34" charset="-128"/>
              </a:rPr>
              <a:t>the design is complete rather than being an integral part of the design process.</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10. Many users (and even security administrators) view strong security as an</a:t>
            </a:r>
          </a:p>
          <a:p>
            <a:r>
              <a:rPr lang="en-US">
                <a:latin typeface="Arial" pitchFamily="34" charset="0"/>
                <a:ea typeface="ＭＳ Ｐゴシック" pitchFamily="34" charset="-128"/>
              </a:rPr>
              <a:t>impediment to efficient and user-friendly operation of an information</a:t>
            </a:r>
          </a:p>
          <a:p>
            <a:r>
              <a:rPr lang="en-US">
                <a:latin typeface="Arial" pitchFamily="34" charset="0"/>
                <a:ea typeface="ＭＳ Ｐゴシック" pitchFamily="34" charset="-128"/>
              </a:rPr>
              <a:t>system or use of information.</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The difficulties just enumerated will be encountered in numerous ways as we</a:t>
            </a:r>
          </a:p>
          <a:p>
            <a:r>
              <a:rPr lang="en-US">
                <a:latin typeface="Arial" pitchFamily="34" charset="0"/>
                <a:ea typeface="ＭＳ Ｐゴシック" pitchFamily="34" charset="-128"/>
              </a:rPr>
              <a:t>examine the various security threats and mechanisms throughout this book.</a:t>
            </a:r>
            <a:endParaRPr lang="en-US" sz="1100">
              <a:latin typeface="Arial" pitchFamily="34" charset="0"/>
              <a:ea typeface="ＭＳ Ｐゴシック" pitchFamily="34" charset="-128"/>
              <a:cs typeface="Arial" pitchFamily="34" charset="0"/>
            </a:endParaRPr>
          </a:p>
        </p:txBody>
      </p:sp>
      <p:sp>
        <p:nvSpPr>
          <p:cNvPr id="79876" name="Slide Number Placeholder 3">
            <a:extLst>
              <a:ext uri="{FF2B5EF4-FFF2-40B4-BE49-F238E27FC236}">
                <a16:creationId xmlns:a16="http://schemas.microsoft.com/office/drawing/2014/main" id="{12BAD4A6-8926-6BF2-A6FA-01AD9D17F3C3}"/>
              </a:ext>
            </a:extLst>
          </p:cNvPr>
          <p:cNvSpPr>
            <a:spLocks noGrp="1"/>
          </p:cNvSpPr>
          <p:nvPr>
            <p:ph type="sldNum" sz="quarter" idx="5"/>
          </p:nvPr>
        </p:nvSpPr>
        <p:spPr/>
        <p:txBody>
          <a:bodyPr/>
          <a:lstStyle/>
          <a:p>
            <a:pPr>
              <a:defRPr/>
            </a:pPr>
            <a:fld id="{ADBD0BFB-197F-457A-8D85-1C9FC684B63E}" type="slidenum">
              <a:rPr lang="en-AU" smtClean="0">
                <a:latin typeface="Arial" pitchFamily="34" charset="0"/>
              </a:rPr>
              <a:pPr>
                <a:defRPr/>
              </a:pPr>
              <a:t>53</a:t>
            </a:fld>
            <a:endParaRPr lang="en-AU">
              <a:latin typeface="Arial" pitchFamily="34" charset="0"/>
            </a:endParaRPr>
          </a:p>
        </p:txBody>
      </p:sp>
    </p:spTree>
    <p:extLst>
      <p:ext uri="{BB962C8B-B14F-4D97-AF65-F5344CB8AC3E}">
        <p14:creationId xmlns:p14="http://schemas.microsoft.com/office/powerpoint/2010/main" val="42184608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25DE2-5F24-0C5A-1DCD-E067B2330FC4}"/>
            </a:ext>
          </a:extLst>
        </p:cNvPr>
        <p:cNvGrpSpPr/>
        <p:nvPr/>
      </p:nvGrpSpPr>
      <p:grpSpPr>
        <a:xfrm>
          <a:off x="0" y="0"/>
          <a:ext cx="0" cy="0"/>
          <a:chOff x="0" y="0"/>
          <a:chExt cx="0" cy="0"/>
        </a:xfrm>
      </p:grpSpPr>
      <p:sp>
        <p:nvSpPr>
          <p:cNvPr id="93186" name="Slide Image Placeholder 1">
            <a:extLst>
              <a:ext uri="{FF2B5EF4-FFF2-40B4-BE49-F238E27FC236}">
                <a16:creationId xmlns:a16="http://schemas.microsoft.com/office/drawing/2014/main" id="{836FD53F-A321-145D-9835-605D18B1881F}"/>
              </a:ext>
            </a:extLst>
          </p:cNvPr>
          <p:cNvSpPr>
            <a:spLocks noGrp="1" noRot="1" noChangeAspect="1" noTextEdit="1"/>
          </p:cNvSpPr>
          <p:nvPr>
            <p:ph type="sldImg"/>
          </p:nvPr>
        </p:nvSpPr>
        <p:spPr>
          <a:ln/>
        </p:spPr>
      </p:sp>
      <p:sp>
        <p:nvSpPr>
          <p:cNvPr id="93187" name="Notes Placeholder 2">
            <a:extLst>
              <a:ext uri="{FF2B5EF4-FFF2-40B4-BE49-F238E27FC236}">
                <a16:creationId xmlns:a16="http://schemas.microsoft.com/office/drawing/2014/main" id="{21CF6C07-636E-DF3A-ED85-D45F0165C09A}"/>
              </a:ext>
            </a:extLst>
          </p:cNvPr>
          <p:cNvSpPr>
            <a:spLocks noGrp="1"/>
          </p:cNvSpPr>
          <p:nvPr>
            <p:ph type="body" idx="1"/>
          </p:nvPr>
        </p:nvSpPr>
        <p:spPr>
          <a:noFill/>
          <a:ln/>
        </p:spPr>
        <p:txBody>
          <a:bodyPr/>
          <a:lstStyle/>
          <a:p>
            <a:r>
              <a:rPr lang="en-US">
                <a:latin typeface="Arial" pitchFamily="34" charset="0"/>
                <a:ea typeface="ＭＳ Ｐゴシック" pitchFamily="34" charset="-128"/>
              </a:rPr>
              <a:t>Computer and network security is both fascinating and complex. Some of the reasons</a:t>
            </a:r>
          </a:p>
          <a:p>
            <a:r>
              <a:rPr lang="en-US">
                <a:latin typeface="Arial" pitchFamily="34" charset="0"/>
                <a:ea typeface="ＭＳ Ｐゴシック" pitchFamily="34" charset="-128"/>
              </a:rPr>
              <a:t>include:</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1.  Security is not as simple as it might first appear to the novice. The requirements</a:t>
            </a:r>
          </a:p>
          <a:p>
            <a:r>
              <a:rPr lang="en-US">
                <a:latin typeface="Arial" pitchFamily="34" charset="0"/>
                <a:ea typeface="ＭＳ Ｐゴシック" pitchFamily="34" charset="-128"/>
              </a:rPr>
              <a:t>seem to be straightforward; indeed, most of the major requirements for</a:t>
            </a:r>
          </a:p>
          <a:p>
            <a:r>
              <a:rPr lang="en-US">
                <a:latin typeface="Arial" pitchFamily="34" charset="0"/>
                <a:ea typeface="ＭＳ Ｐゴシック" pitchFamily="34" charset="-128"/>
              </a:rPr>
              <a:t>security services can be given self-explanatory, one-word labels: confidentiality,</a:t>
            </a:r>
          </a:p>
          <a:p>
            <a:r>
              <a:rPr lang="en-US">
                <a:latin typeface="Arial" pitchFamily="34" charset="0"/>
                <a:ea typeface="ＭＳ Ｐゴシック" pitchFamily="34" charset="-128"/>
              </a:rPr>
              <a:t>authentication, nonrepudiation, and integrity. But the mechanisms used to</a:t>
            </a:r>
          </a:p>
          <a:p>
            <a:r>
              <a:rPr lang="en-US">
                <a:latin typeface="Arial" pitchFamily="34" charset="0"/>
                <a:ea typeface="ＭＳ Ｐゴシック" pitchFamily="34" charset="-128"/>
              </a:rPr>
              <a:t>meet those requirements can be quite complex, and understanding them may</a:t>
            </a:r>
          </a:p>
          <a:p>
            <a:r>
              <a:rPr lang="en-US">
                <a:latin typeface="Arial" pitchFamily="34" charset="0"/>
                <a:ea typeface="ＭＳ Ｐゴシック" pitchFamily="34" charset="-128"/>
              </a:rPr>
              <a:t>involve rather subtle reasoning.</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2.  In developing a particular security mechanism or algorithm, one must always</a:t>
            </a:r>
          </a:p>
          <a:p>
            <a:r>
              <a:rPr lang="en-US">
                <a:latin typeface="Arial" pitchFamily="34" charset="0"/>
                <a:ea typeface="ＭＳ Ｐゴシック" pitchFamily="34" charset="-128"/>
              </a:rPr>
              <a:t>consider potential attacks on those security features. In many cases, successful</a:t>
            </a:r>
          </a:p>
          <a:p>
            <a:r>
              <a:rPr lang="en-US">
                <a:latin typeface="Arial" pitchFamily="34" charset="0"/>
                <a:ea typeface="ＭＳ Ｐゴシック" pitchFamily="34" charset="-128"/>
              </a:rPr>
              <a:t>attacks are designed by looking at the problem in a completely different way,</a:t>
            </a:r>
          </a:p>
          <a:p>
            <a:r>
              <a:rPr lang="en-US">
                <a:latin typeface="Arial" pitchFamily="34" charset="0"/>
                <a:ea typeface="ＭＳ Ｐゴシック" pitchFamily="34" charset="-128"/>
              </a:rPr>
              <a:t>therefore exploiting an unexpected weakness in the mechanism.</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3.  Because of point 2, the procedures used to provide particular services are</a:t>
            </a:r>
          </a:p>
          <a:p>
            <a:r>
              <a:rPr lang="en-US">
                <a:latin typeface="Arial" pitchFamily="34" charset="0"/>
                <a:ea typeface="ＭＳ Ｐゴシック" pitchFamily="34" charset="-128"/>
              </a:rPr>
              <a:t>often counterintuitive. Typically, a security mechanism is complex, and it is not</a:t>
            </a:r>
          </a:p>
          <a:p>
            <a:r>
              <a:rPr lang="en-US">
                <a:latin typeface="Arial" pitchFamily="34" charset="0"/>
                <a:ea typeface="ＭＳ Ｐゴシック" pitchFamily="34" charset="-128"/>
              </a:rPr>
              <a:t>obvious from the statement of a particular requirement that such elaborate</a:t>
            </a:r>
          </a:p>
          <a:p>
            <a:r>
              <a:rPr lang="en-US">
                <a:latin typeface="Arial" pitchFamily="34" charset="0"/>
                <a:ea typeface="ＭＳ Ｐゴシック" pitchFamily="34" charset="-128"/>
              </a:rPr>
              <a:t>measures are needed. It is only when the various aspects of the threat are considered</a:t>
            </a:r>
          </a:p>
          <a:p>
            <a:r>
              <a:rPr lang="en-US">
                <a:latin typeface="Arial" pitchFamily="34" charset="0"/>
                <a:ea typeface="ＭＳ Ｐゴシック" pitchFamily="34" charset="-128"/>
              </a:rPr>
              <a:t>that elaborate security mechanisms make sense.</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4.  Having designed various security mechanisms, it is necessary to decide where</a:t>
            </a:r>
          </a:p>
          <a:p>
            <a:r>
              <a:rPr lang="en-US">
                <a:latin typeface="Arial" pitchFamily="34" charset="0"/>
                <a:ea typeface="ＭＳ Ｐゴシック" pitchFamily="34" charset="-128"/>
              </a:rPr>
              <a:t>to use them. This is true both in terms of physical placement (e.g., at what points</a:t>
            </a:r>
          </a:p>
          <a:p>
            <a:r>
              <a:rPr lang="en-US">
                <a:latin typeface="Arial" pitchFamily="34" charset="0"/>
                <a:ea typeface="ＭＳ Ｐゴシック" pitchFamily="34" charset="-128"/>
              </a:rPr>
              <a:t>in a network are certain security mechanisms needed) and in a logical sense</a:t>
            </a:r>
          </a:p>
          <a:p>
            <a:r>
              <a:rPr lang="en-US">
                <a:latin typeface="Arial" pitchFamily="34" charset="0"/>
                <a:ea typeface="ＭＳ Ｐゴシック" pitchFamily="34" charset="-128"/>
              </a:rPr>
              <a:t>[e.g., at what layer or layers of an architecture such as TCP/IP (Transmission</a:t>
            </a:r>
          </a:p>
          <a:p>
            <a:r>
              <a:rPr lang="en-US">
                <a:latin typeface="Arial" pitchFamily="34" charset="0"/>
                <a:ea typeface="ＭＳ Ｐゴシック" pitchFamily="34" charset="-128"/>
              </a:rPr>
              <a:t>Control Protocol/Internet Protocol) should mechanisms be placed].</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5. Security mechanisms typically involve more than a particular algorithm or</a:t>
            </a:r>
          </a:p>
          <a:p>
            <a:r>
              <a:rPr lang="en-US">
                <a:latin typeface="Arial" pitchFamily="34" charset="0"/>
                <a:ea typeface="ＭＳ Ｐゴシック" pitchFamily="34" charset="-128"/>
              </a:rPr>
              <a:t>protocol. They also require that participants be in possession of some secret information</a:t>
            </a:r>
          </a:p>
          <a:p>
            <a:r>
              <a:rPr lang="en-US">
                <a:latin typeface="Arial" pitchFamily="34" charset="0"/>
                <a:ea typeface="ＭＳ Ｐゴシック" pitchFamily="34" charset="-128"/>
              </a:rPr>
              <a:t>(e.g., an encryption key), which raises questions about the creation,</a:t>
            </a:r>
          </a:p>
          <a:p>
            <a:r>
              <a:rPr lang="en-US">
                <a:latin typeface="Arial" pitchFamily="34" charset="0"/>
                <a:ea typeface="ＭＳ Ｐゴシック" pitchFamily="34" charset="-128"/>
              </a:rPr>
              <a:t>distribution, and protection of that secret information. There also may be a reliance</a:t>
            </a:r>
          </a:p>
          <a:p>
            <a:r>
              <a:rPr lang="en-US">
                <a:latin typeface="Arial" pitchFamily="34" charset="0"/>
                <a:ea typeface="ＭＳ Ｐゴシック" pitchFamily="34" charset="-128"/>
              </a:rPr>
              <a:t>on communications protocols whose behavior may complicate the task</a:t>
            </a:r>
          </a:p>
          <a:p>
            <a:r>
              <a:rPr lang="en-US">
                <a:latin typeface="Arial" pitchFamily="34" charset="0"/>
                <a:ea typeface="ＭＳ Ｐゴシック" pitchFamily="34" charset="-128"/>
              </a:rPr>
              <a:t>of developing the security mechanism. For example, if the proper functioning</a:t>
            </a:r>
          </a:p>
          <a:p>
            <a:r>
              <a:rPr lang="en-US">
                <a:latin typeface="Arial" pitchFamily="34" charset="0"/>
                <a:ea typeface="ＭＳ Ｐゴシック" pitchFamily="34" charset="-128"/>
              </a:rPr>
              <a:t>of the security mechanism requires setting time limits on the transit time of a</a:t>
            </a:r>
          </a:p>
          <a:p>
            <a:r>
              <a:rPr lang="en-US">
                <a:latin typeface="Arial" pitchFamily="34" charset="0"/>
                <a:ea typeface="ＭＳ Ｐゴシック" pitchFamily="34" charset="-128"/>
              </a:rPr>
              <a:t>message from sender to receiver, then any protocol or network that introduces</a:t>
            </a:r>
          </a:p>
          <a:p>
            <a:r>
              <a:rPr lang="en-US">
                <a:latin typeface="Arial" pitchFamily="34" charset="0"/>
                <a:ea typeface="ＭＳ Ｐゴシック" pitchFamily="34" charset="-128"/>
              </a:rPr>
              <a:t>variable, unpredictable delays may render such time limits meaningless.</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6. Computer and network security is essentially a battle of wits between a perpetrator</a:t>
            </a:r>
          </a:p>
          <a:p>
            <a:r>
              <a:rPr lang="en-US">
                <a:latin typeface="Arial" pitchFamily="34" charset="0"/>
                <a:ea typeface="ＭＳ Ｐゴシック" pitchFamily="34" charset="-128"/>
              </a:rPr>
              <a:t>who tries to find holes and the designer or administrator who tries to</a:t>
            </a:r>
          </a:p>
          <a:p>
            <a:r>
              <a:rPr lang="en-US">
                <a:latin typeface="Arial" pitchFamily="34" charset="0"/>
                <a:ea typeface="ＭＳ Ｐゴシック" pitchFamily="34" charset="-128"/>
              </a:rPr>
              <a:t>close them. The great advantage that the attacker has is that he or she need</a:t>
            </a:r>
          </a:p>
          <a:p>
            <a:r>
              <a:rPr lang="en-US">
                <a:latin typeface="Arial" pitchFamily="34" charset="0"/>
                <a:ea typeface="ＭＳ Ｐゴシック" pitchFamily="34" charset="-128"/>
              </a:rPr>
              <a:t>only find a single weakness, while the designer must find and eliminate all</a:t>
            </a:r>
          </a:p>
          <a:p>
            <a:r>
              <a:rPr lang="en-US">
                <a:latin typeface="Arial" pitchFamily="34" charset="0"/>
                <a:ea typeface="ＭＳ Ｐゴシック" pitchFamily="34" charset="-128"/>
              </a:rPr>
              <a:t>weaknesses to achieve perfect security.</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7. There is a natural tendency on the part of users and system managers to</a:t>
            </a:r>
          </a:p>
          <a:p>
            <a:r>
              <a:rPr lang="en-US">
                <a:latin typeface="Arial" pitchFamily="34" charset="0"/>
                <a:ea typeface="ＭＳ Ｐゴシック" pitchFamily="34" charset="-128"/>
              </a:rPr>
              <a:t>perceive little benefit from security investment until a security failure occurs.</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8. Security requires regular, even constant, monitoring, and this is difficult in</a:t>
            </a:r>
          </a:p>
          <a:p>
            <a:r>
              <a:rPr lang="en-US">
                <a:latin typeface="Arial" pitchFamily="34" charset="0"/>
                <a:ea typeface="ＭＳ Ｐゴシック" pitchFamily="34" charset="-128"/>
              </a:rPr>
              <a:t>today’s short-term, overloaded environment.</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9. Security is still too often an afterthought to be incorporated into a system after</a:t>
            </a:r>
          </a:p>
          <a:p>
            <a:r>
              <a:rPr lang="en-US">
                <a:latin typeface="Arial" pitchFamily="34" charset="0"/>
                <a:ea typeface="ＭＳ Ｐゴシック" pitchFamily="34" charset="-128"/>
              </a:rPr>
              <a:t>the design is complete rather than being an integral part of the design process.</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10. Many users (and even security administrators) view strong security as an</a:t>
            </a:r>
          </a:p>
          <a:p>
            <a:r>
              <a:rPr lang="en-US">
                <a:latin typeface="Arial" pitchFamily="34" charset="0"/>
                <a:ea typeface="ＭＳ Ｐゴシック" pitchFamily="34" charset="-128"/>
              </a:rPr>
              <a:t>impediment to efficient and user-friendly operation of an information</a:t>
            </a:r>
          </a:p>
          <a:p>
            <a:r>
              <a:rPr lang="en-US">
                <a:latin typeface="Arial" pitchFamily="34" charset="0"/>
                <a:ea typeface="ＭＳ Ｐゴシック" pitchFamily="34" charset="-128"/>
              </a:rPr>
              <a:t>system or use of information.</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The difficulties just enumerated will be encountered in numerous ways as we</a:t>
            </a:r>
          </a:p>
          <a:p>
            <a:r>
              <a:rPr lang="en-US">
                <a:latin typeface="Arial" pitchFamily="34" charset="0"/>
                <a:ea typeface="ＭＳ Ｐゴシック" pitchFamily="34" charset="-128"/>
              </a:rPr>
              <a:t>examine the various security threats and mechanisms throughout this book.</a:t>
            </a:r>
            <a:endParaRPr lang="en-US" sz="1100">
              <a:latin typeface="Arial" pitchFamily="34" charset="0"/>
              <a:ea typeface="ＭＳ Ｐゴシック" pitchFamily="34" charset="-128"/>
              <a:cs typeface="Arial" pitchFamily="34" charset="0"/>
            </a:endParaRPr>
          </a:p>
        </p:txBody>
      </p:sp>
      <p:sp>
        <p:nvSpPr>
          <p:cNvPr id="79876" name="Slide Number Placeholder 3">
            <a:extLst>
              <a:ext uri="{FF2B5EF4-FFF2-40B4-BE49-F238E27FC236}">
                <a16:creationId xmlns:a16="http://schemas.microsoft.com/office/drawing/2014/main" id="{A107B820-64BB-1D36-10DD-BC667C9B8910}"/>
              </a:ext>
            </a:extLst>
          </p:cNvPr>
          <p:cNvSpPr>
            <a:spLocks noGrp="1"/>
          </p:cNvSpPr>
          <p:nvPr>
            <p:ph type="sldNum" sz="quarter" idx="5"/>
          </p:nvPr>
        </p:nvSpPr>
        <p:spPr/>
        <p:txBody>
          <a:bodyPr/>
          <a:lstStyle/>
          <a:p>
            <a:pPr>
              <a:defRPr/>
            </a:pPr>
            <a:fld id="{ADBD0BFB-197F-457A-8D85-1C9FC684B63E}" type="slidenum">
              <a:rPr lang="en-AU" smtClean="0">
                <a:latin typeface="Arial" pitchFamily="34" charset="0"/>
              </a:rPr>
              <a:pPr>
                <a:defRPr/>
              </a:pPr>
              <a:t>54</a:t>
            </a:fld>
            <a:endParaRPr lang="en-AU">
              <a:latin typeface="Arial" pitchFamily="34" charset="0"/>
            </a:endParaRPr>
          </a:p>
        </p:txBody>
      </p:sp>
    </p:spTree>
    <p:extLst>
      <p:ext uri="{BB962C8B-B14F-4D97-AF65-F5344CB8AC3E}">
        <p14:creationId xmlns:p14="http://schemas.microsoft.com/office/powerpoint/2010/main" val="22841528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C22E299F-3525-BEB2-1F35-CE1529327AFE}"/>
            </a:ext>
          </a:extLst>
        </p:cNvPr>
        <p:cNvGrpSpPr/>
        <p:nvPr/>
      </p:nvGrpSpPr>
      <p:grpSpPr>
        <a:xfrm>
          <a:off x="0" y="0"/>
          <a:ext cx="0" cy="0"/>
          <a:chOff x="0" y="0"/>
          <a:chExt cx="0" cy="0"/>
        </a:xfrm>
      </p:grpSpPr>
      <p:sp>
        <p:nvSpPr>
          <p:cNvPr id="111" name="Google Shape;111;p4:notes">
            <a:extLst>
              <a:ext uri="{FF2B5EF4-FFF2-40B4-BE49-F238E27FC236}">
                <a16:creationId xmlns:a16="http://schemas.microsoft.com/office/drawing/2014/main" id="{3408588B-90DA-E1AD-84D0-BFA6E24D67E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4:notes">
            <a:extLst>
              <a:ext uri="{FF2B5EF4-FFF2-40B4-BE49-F238E27FC236}">
                <a16:creationId xmlns:a16="http://schemas.microsoft.com/office/drawing/2014/main" id="{D1AE9888-A5BC-53CE-ABFD-E722BFF34D6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9609673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61338693-A5C1-2BFB-8EC3-71C4016B1CFA}"/>
            </a:ext>
          </a:extLst>
        </p:cNvPr>
        <p:cNvGrpSpPr/>
        <p:nvPr/>
      </p:nvGrpSpPr>
      <p:grpSpPr>
        <a:xfrm>
          <a:off x="0" y="0"/>
          <a:ext cx="0" cy="0"/>
          <a:chOff x="0" y="0"/>
          <a:chExt cx="0" cy="0"/>
        </a:xfrm>
      </p:grpSpPr>
      <p:sp>
        <p:nvSpPr>
          <p:cNvPr id="111" name="Google Shape;111;p4:notes">
            <a:extLst>
              <a:ext uri="{FF2B5EF4-FFF2-40B4-BE49-F238E27FC236}">
                <a16:creationId xmlns:a16="http://schemas.microsoft.com/office/drawing/2014/main" id="{D610E56E-D119-CE19-3C1E-A518C8A0B05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4:notes">
            <a:extLst>
              <a:ext uri="{FF2B5EF4-FFF2-40B4-BE49-F238E27FC236}">
                <a16:creationId xmlns:a16="http://schemas.microsoft.com/office/drawing/2014/main" id="{EB90F528-EF17-DC4B-D3AB-CBE642EBCC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843580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261A99D0-E827-38EC-BB30-436D749E0FFB}"/>
            </a:ext>
          </a:extLst>
        </p:cNvPr>
        <p:cNvGrpSpPr/>
        <p:nvPr/>
      </p:nvGrpSpPr>
      <p:grpSpPr>
        <a:xfrm>
          <a:off x="0" y="0"/>
          <a:ext cx="0" cy="0"/>
          <a:chOff x="0" y="0"/>
          <a:chExt cx="0" cy="0"/>
        </a:xfrm>
      </p:grpSpPr>
      <p:sp>
        <p:nvSpPr>
          <p:cNvPr id="111" name="Google Shape;111;p4:notes">
            <a:extLst>
              <a:ext uri="{FF2B5EF4-FFF2-40B4-BE49-F238E27FC236}">
                <a16:creationId xmlns:a16="http://schemas.microsoft.com/office/drawing/2014/main" id="{C1B1DE7C-0153-8581-59AF-102604C2EBE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4:notes">
            <a:extLst>
              <a:ext uri="{FF2B5EF4-FFF2-40B4-BE49-F238E27FC236}">
                <a16:creationId xmlns:a16="http://schemas.microsoft.com/office/drawing/2014/main" id="{C2110A76-48BA-5753-5BED-0C56A75EC1D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72757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93D189DC-7D69-0341-282C-1BB6968C6D4D}"/>
            </a:ext>
          </a:extLst>
        </p:cNvPr>
        <p:cNvGrpSpPr/>
        <p:nvPr/>
      </p:nvGrpSpPr>
      <p:grpSpPr>
        <a:xfrm>
          <a:off x="0" y="0"/>
          <a:ext cx="0" cy="0"/>
          <a:chOff x="0" y="0"/>
          <a:chExt cx="0" cy="0"/>
        </a:xfrm>
      </p:grpSpPr>
      <p:sp>
        <p:nvSpPr>
          <p:cNvPr id="111" name="Google Shape;111;p4:notes">
            <a:extLst>
              <a:ext uri="{FF2B5EF4-FFF2-40B4-BE49-F238E27FC236}">
                <a16:creationId xmlns:a16="http://schemas.microsoft.com/office/drawing/2014/main" id="{BF415CD8-9411-1163-34B4-1B7CFC55CA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4:notes">
            <a:extLst>
              <a:ext uri="{FF2B5EF4-FFF2-40B4-BE49-F238E27FC236}">
                <a16:creationId xmlns:a16="http://schemas.microsoft.com/office/drawing/2014/main" id="{6B038793-7BB2-56C4-DF4B-D64FACF808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748328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433AA963-363F-84E1-CD67-C3D287462BF3}"/>
            </a:ext>
          </a:extLst>
        </p:cNvPr>
        <p:cNvGrpSpPr/>
        <p:nvPr/>
      </p:nvGrpSpPr>
      <p:grpSpPr>
        <a:xfrm>
          <a:off x="0" y="0"/>
          <a:ext cx="0" cy="0"/>
          <a:chOff x="0" y="0"/>
          <a:chExt cx="0" cy="0"/>
        </a:xfrm>
      </p:grpSpPr>
      <p:sp>
        <p:nvSpPr>
          <p:cNvPr id="111" name="Google Shape;111;p4:notes">
            <a:extLst>
              <a:ext uri="{FF2B5EF4-FFF2-40B4-BE49-F238E27FC236}">
                <a16:creationId xmlns:a16="http://schemas.microsoft.com/office/drawing/2014/main" id="{6342D9DB-F0C2-FB9B-F91C-4E87BC4EA43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4:notes">
            <a:extLst>
              <a:ext uri="{FF2B5EF4-FFF2-40B4-BE49-F238E27FC236}">
                <a16:creationId xmlns:a16="http://schemas.microsoft.com/office/drawing/2014/main" id="{265F648C-48E2-5401-C0F1-E38E8108DB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3290436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120593CC-3FD8-70D3-ED65-E5E7A3FB8328}"/>
            </a:ext>
          </a:extLst>
        </p:cNvPr>
        <p:cNvGrpSpPr/>
        <p:nvPr/>
      </p:nvGrpSpPr>
      <p:grpSpPr>
        <a:xfrm>
          <a:off x="0" y="0"/>
          <a:ext cx="0" cy="0"/>
          <a:chOff x="0" y="0"/>
          <a:chExt cx="0" cy="0"/>
        </a:xfrm>
      </p:grpSpPr>
      <p:sp>
        <p:nvSpPr>
          <p:cNvPr id="111" name="Google Shape;111;p4:notes">
            <a:extLst>
              <a:ext uri="{FF2B5EF4-FFF2-40B4-BE49-F238E27FC236}">
                <a16:creationId xmlns:a16="http://schemas.microsoft.com/office/drawing/2014/main" id="{5F5DBCE2-232C-3DA4-31CF-07B65C16B1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12" name="Google Shape;112;p4:notes">
            <a:extLst>
              <a:ext uri="{FF2B5EF4-FFF2-40B4-BE49-F238E27FC236}">
                <a16:creationId xmlns:a16="http://schemas.microsoft.com/office/drawing/2014/main" id="{5B06C70C-6FFB-2683-A23E-3746DE6B918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4322720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a:bodyPr>
          <a:lstStyle/>
          <a:p>
            <a:pPr>
              <a:defRPr/>
            </a:pPr>
            <a:r>
              <a:rPr lang="en-US" dirty="0"/>
              <a:t> </a:t>
            </a:r>
          </a:p>
        </p:txBody>
      </p:sp>
      <p:sp>
        <p:nvSpPr>
          <p:cNvPr id="98308" name="Slide Number Placeholder 3"/>
          <p:cNvSpPr>
            <a:spLocks noGrp="1"/>
          </p:cNvSpPr>
          <p:nvPr>
            <p:ph type="sldNum" sz="quarter" idx="5"/>
          </p:nvPr>
        </p:nvSpPr>
        <p:spPr/>
        <p:txBody>
          <a:bodyPr/>
          <a:lstStyle/>
          <a:p>
            <a:pPr>
              <a:defRPr/>
            </a:pPr>
            <a:fld id="{BBA6A32D-B68F-427C-8274-960A4E2E379A}" type="slidenum">
              <a:rPr lang="en-AU" smtClean="0">
                <a:latin typeface="Arial" pitchFamily="34" charset="0"/>
              </a:rPr>
              <a:pPr>
                <a:defRPr/>
              </a:pPr>
              <a:t>65</a:t>
            </a:fld>
            <a:endParaRPr lang="en-AU">
              <a:latin typeface="Arial" pitchFamily="34" charset="0"/>
            </a:endParaRPr>
          </a:p>
        </p:txBody>
      </p:sp>
    </p:spTree>
    <p:extLst>
      <p:ext uri="{BB962C8B-B14F-4D97-AF65-F5344CB8AC3E}">
        <p14:creationId xmlns:p14="http://schemas.microsoft.com/office/powerpoint/2010/main" val="42689801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A699C-71BB-B2D1-0860-6D3F5B574495}"/>
            </a:ext>
          </a:extLst>
        </p:cNvPr>
        <p:cNvGrpSpPr/>
        <p:nvPr/>
      </p:nvGrpSpPr>
      <p:grpSpPr>
        <a:xfrm>
          <a:off x="0" y="0"/>
          <a:ext cx="0" cy="0"/>
          <a:chOff x="0" y="0"/>
          <a:chExt cx="0" cy="0"/>
        </a:xfrm>
      </p:grpSpPr>
      <p:sp>
        <p:nvSpPr>
          <p:cNvPr id="115714" name="Slide Image Placeholder 1">
            <a:extLst>
              <a:ext uri="{FF2B5EF4-FFF2-40B4-BE49-F238E27FC236}">
                <a16:creationId xmlns:a16="http://schemas.microsoft.com/office/drawing/2014/main" id="{520072E0-657E-8CA6-D7A9-CEC52DDBE37B}"/>
              </a:ext>
            </a:extLst>
          </p:cNvPr>
          <p:cNvSpPr>
            <a:spLocks noGrp="1" noRot="1" noChangeAspect="1" noTextEdit="1"/>
          </p:cNvSpPr>
          <p:nvPr>
            <p:ph type="sldImg"/>
          </p:nvPr>
        </p:nvSpPr>
        <p:spPr>
          <a:ln/>
        </p:spPr>
      </p:sp>
      <p:sp>
        <p:nvSpPr>
          <p:cNvPr id="3" name="Notes Placeholder 2">
            <a:extLst>
              <a:ext uri="{FF2B5EF4-FFF2-40B4-BE49-F238E27FC236}">
                <a16:creationId xmlns:a16="http://schemas.microsoft.com/office/drawing/2014/main" id="{1478BF3D-9869-2211-32BA-3A6A57498DDD}"/>
              </a:ext>
            </a:extLst>
          </p:cNvPr>
          <p:cNvSpPr>
            <a:spLocks noGrp="1"/>
          </p:cNvSpPr>
          <p:nvPr>
            <p:ph type="body" idx="1"/>
          </p:nvPr>
        </p:nvSpPr>
        <p:spPr/>
        <p:txBody>
          <a:bodyPr>
            <a:normAutofit/>
          </a:bodyPr>
          <a:lstStyle/>
          <a:p>
            <a:pPr>
              <a:defRPr/>
            </a:pPr>
            <a:r>
              <a:rPr lang="en-US" dirty="0"/>
              <a:t> </a:t>
            </a:r>
          </a:p>
        </p:txBody>
      </p:sp>
      <p:sp>
        <p:nvSpPr>
          <p:cNvPr id="98308" name="Slide Number Placeholder 3">
            <a:extLst>
              <a:ext uri="{FF2B5EF4-FFF2-40B4-BE49-F238E27FC236}">
                <a16:creationId xmlns:a16="http://schemas.microsoft.com/office/drawing/2014/main" id="{1CD029B3-AD93-120C-DFBC-5C4097B25A02}"/>
              </a:ext>
            </a:extLst>
          </p:cNvPr>
          <p:cNvSpPr>
            <a:spLocks noGrp="1"/>
          </p:cNvSpPr>
          <p:nvPr>
            <p:ph type="sldNum" sz="quarter" idx="5"/>
          </p:nvPr>
        </p:nvSpPr>
        <p:spPr/>
        <p:txBody>
          <a:bodyPr/>
          <a:lstStyle/>
          <a:p>
            <a:pPr>
              <a:defRPr/>
            </a:pPr>
            <a:fld id="{BBA6A32D-B68F-427C-8274-960A4E2E379A}" type="slidenum">
              <a:rPr lang="en-AU" smtClean="0">
                <a:latin typeface="Arial" pitchFamily="34" charset="0"/>
              </a:rPr>
              <a:pPr>
                <a:defRPr/>
              </a:pPr>
              <a:t>66</a:t>
            </a:fld>
            <a:endParaRPr lang="en-AU">
              <a:latin typeface="Arial" pitchFamily="34" charset="0"/>
            </a:endParaRPr>
          </a:p>
        </p:txBody>
      </p:sp>
    </p:spTree>
    <p:extLst>
      <p:ext uri="{BB962C8B-B14F-4D97-AF65-F5344CB8AC3E}">
        <p14:creationId xmlns:p14="http://schemas.microsoft.com/office/powerpoint/2010/main" val="232008496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60656-FD38-3E22-91BF-8E57D5BD213A}"/>
            </a:ext>
          </a:extLst>
        </p:cNvPr>
        <p:cNvGrpSpPr/>
        <p:nvPr/>
      </p:nvGrpSpPr>
      <p:grpSpPr>
        <a:xfrm>
          <a:off x="0" y="0"/>
          <a:ext cx="0" cy="0"/>
          <a:chOff x="0" y="0"/>
          <a:chExt cx="0" cy="0"/>
        </a:xfrm>
      </p:grpSpPr>
      <p:sp>
        <p:nvSpPr>
          <p:cNvPr id="115714" name="Slide Image Placeholder 1">
            <a:extLst>
              <a:ext uri="{FF2B5EF4-FFF2-40B4-BE49-F238E27FC236}">
                <a16:creationId xmlns:a16="http://schemas.microsoft.com/office/drawing/2014/main" id="{C395A067-B62B-9ADD-80EC-C7655F995A12}"/>
              </a:ext>
            </a:extLst>
          </p:cNvPr>
          <p:cNvSpPr>
            <a:spLocks noGrp="1" noRot="1" noChangeAspect="1" noTextEdit="1"/>
          </p:cNvSpPr>
          <p:nvPr>
            <p:ph type="sldImg"/>
          </p:nvPr>
        </p:nvSpPr>
        <p:spPr>
          <a:ln/>
        </p:spPr>
      </p:sp>
      <p:sp>
        <p:nvSpPr>
          <p:cNvPr id="3" name="Notes Placeholder 2">
            <a:extLst>
              <a:ext uri="{FF2B5EF4-FFF2-40B4-BE49-F238E27FC236}">
                <a16:creationId xmlns:a16="http://schemas.microsoft.com/office/drawing/2014/main" id="{6D04637C-C12F-689C-1C95-6F8E21389C8E}"/>
              </a:ext>
            </a:extLst>
          </p:cNvPr>
          <p:cNvSpPr>
            <a:spLocks noGrp="1"/>
          </p:cNvSpPr>
          <p:nvPr>
            <p:ph type="body" idx="1"/>
          </p:nvPr>
        </p:nvSpPr>
        <p:spPr/>
        <p:txBody>
          <a:bodyPr>
            <a:normAutofit/>
          </a:bodyPr>
          <a:lstStyle/>
          <a:p>
            <a:pPr>
              <a:defRPr/>
            </a:pPr>
            <a:r>
              <a:rPr lang="en-US" dirty="0"/>
              <a:t> </a:t>
            </a:r>
          </a:p>
        </p:txBody>
      </p:sp>
      <p:sp>
        <p:nvSpPr>
          <p:cNvPr id="98308" name="Slide Number Placeholder 3">
            <a:extLst>
              <a:ext uri="{FF2B5EF4-FFF2-40B4-BE49-F238E27FC236}">
                <a16:creationId xmlns:a16="http://schemas.microsoft.com/office/drawing/2014/main" id="{93D334F3-432D-8E15-D4EF-9401F20DB7AB}"/>
              </a:ext>
            </a:extLst>
          </p:cNvPr>
          <p:cNvSpPr>
            <a:spLocks noGrp="1"/>
          </p:cNvSpPr>
          <p:nvPr>
            <p:ph type="sldNum" sz="quarter" idx="5"/>
          </p:nvPr>
        </p:nvSpPr>
        <p:spPr/>
        <p:txBody>
          <a:bodyPr/>
          <a:lstStyle/>
          <a:p>
            <a:pPr>
              <a:defRPr/>
            </a:pPr>
            <a:fld id="{BBA6A32D-B68F-427C-8274-960A4E2E379A}" type="slidenum">
              <a:rPr lang="en-AU" smtClean="0">
                <a:latin typeface="Arial" pitchFamily="34" charset="0"/>
              </a:rPr>
              <a:pPr>
                <a:defRPr/>
              </a:pPr>
              <a:t>67</a:t>
            </a:fld>
            <a:endParaRPr lang="en-AU">
              <a:latin typeface="Arial" pitchFamily="34" charset="0"/>
            </a:endParaRPr>
          </a:p>
        </p:txBody>
      </p:sp>
    </p:spTree>
    <p:extLst>
      <p:ext uri="{BB962C8B-B14F-4D97-AF65-F5344CB8AC3E}">
        <p14:creationId xmlns:p14="http://schemas.microsoft.com/office/powerpoint/2010/main" val="23386376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BCCAB-9F68-B325-E89F-8A8BBABDB4F4}"/>
            </a:ext>
          </a:extLst>
        </p:cNvPr>
        <p:cNvGrpSpPr/>
        <p:nvPr/>
      </p:nvGrpSpPr>
      <p:grpSpPr>
        <a:xfrm>
          <a:off x="0" y="0"/>
          <a:ext cx="0" cy="0"/>
          <a:chOff x="0" y="0"/>
          <a:chExt cx="0" cy="0"/>
        </a:xfrm>
      </p:grpSpPr>
      <p:sp>
        <p:nvSpPr>
          <p:cNvPr id="115714" name="Slide Image Placeholder 1">
            <a:extLst>
              <a:ext uri="{FF2B5EF4-FFF2-40B4-BE49-F238E27FC236}">
                <a16:creationId xmlns:a16="http://schemas.microsoft.com/office/drawing/2014/main" id="{47755A39-208C-7E89-9BA9-068836ECB2EB}"/>
              </a:ext>
            </a:extLst>
          </p:cNvPr>
          <p:cNvSpPr>
            <a:spLocks noGrp="1" noRot="1" noChangeAspect="1" noTextEdit="1"/>
          </p:cNvSpPr>
          <p:nvPr>
            <p:ph type="sldImg"/>
          </p:nvPr>
        </p:nvSpPr>
        <p:spPr>
          <a:ln/>
        </p:spPr>
      </p:sp>
      <p:sp>
        <p:nvSpPr>
          <p:cNvPr id="3" name="Notes Placeholder 2">
            <a:extLst>
              <a:ext uri="{FF2B5EF4-FFF2-40B4-BE49-F238E27FC236}">
                <a16:creationId xmlns:a16="http://schemas.microsoft.com/office/drawing/2014/main" id="{D5ACDBE5-166B-CFC0-B01E-FE1E6B617778}"/>
              </a:ext>
            </a:extLst>
          </p:cNvPr>
          <p:cNvSpPr>
            <a:spLocks noGrp="1"/>
          </p:cNvSpPr>
          <p:nvPr>
            <p:ph type="body" idx="1"/>
          </p:nvPr>
        </p:nvSpPr>
        <p:spPr/>
        <p:txBody>
          <a:bodyPr>
            <a:normAutofit/>
          </a:bodyPr>
          <a:lstStyle/>
          <a:p>
            <a:pPr>
              <a:defRPr/>
            </a:pPr>
            <a:r>
              <a:rPr lang="en-US" dirty="0"/>
              <a:t> </a:t>
            </a:r>
          </a:p>
        </p:txBody>
      </p:sp>
      <p:sp>
        <p:nvSpPr>
          <p:cNvPr id="98308" name="Slide Number Placeholder 3">
            <a:extLst>
              <a:ext uri="{FF2B5EF4-FFF2-40B4-BE49-F238E27FC236}">
                <a16:creationId xmlns:a16="http://schemas.microsoft.com/office/drawing/2014/main" id="{2D166486-4069-7BDB-8886-4C1D7299FCB0}"/>
              </a:ext>
            </a:extLst>
          </p:cNvPr>
          <p:cNvSpPr>
            <a:spLocks noGrp="1"/>
          </p:cNvSpPr>
          <p:nvPr>
            <p:ph type="sldNum" sz="quarter" idx="5"/>
          </p:nvPr>
        </p:nvSpPr>
        <p:spPr/>
        <p:txBody>
          <a:bodyPr/>
          <a:lstStyle/>
          <a:p>
            <a:pPr>
              <a:defRPr/>
            </a:pPr>
            <a:fld id="{BBA6A32D-B68F-427C-8274-960A4E2E379A}" type="slidenum">
              <a:rPr lang="en-AU" smtClean="0">
                <a:latin typeface="Arial" pitchFamily="34" charset="0"/>
              </a:rPr>
              <a:pPr>
                <a:defRPr/>
              </a:pPr>
              <a:t>68</a:t>
            </a:fld>
            <a:endParaRPr lang="en-AU">
              <a:latin typeface="Arial" pitchFamily="34" charset="0"/>
            </a:endParaRPr>
          </a:p>
        </p:txBody>
      </p:sp>
    </p:spTree>
    <p:extLst>
      <p:ext uri="{BB962C8B-B14F-4D97-AF65-F5344CB8AC3E}">
        <p14:creationId xmlns:p14="http://schemas.microsoft.com/office/powerpoint/2010/main" val="131425477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C69BE-8533-59F3-1C0B-0E8A00819CF4}"/>
            </a:ext>
          </a:extLst>
        </p:cNvPr>
        <p:cNvGrpSpPr/>
        <p:nvPr/>
      </p:nvGrpSpPr>
      <p:grpSpPr>
        <a:xfrm>
          <a:off x="0" y="0"/>
          <a:ext cx="0" cy="0"/>
          <a:chOff x="0" y="0"/>
          <a:chExt cx="0" cy="0"/>
        </a:xfrm>
      </p:grpSpPr>
      <p:sp>
        <p:nvSpPr>
          <p:cNvPr id="115714" name="Slide Image Placeholder 1">
            <a:extLst>
              <a:ext uri="{FF2B5EF4-FFF2-40B4-BE49-F238E27FC236}">
                <a16:creationId xmlns:a16="http://schemas.microsoft.com/office/drawing/2014/main" id="{4CF30FD1-BC7A-176B-1306-D6888C0F852B}"/>
              </a:ext>
            </a:extLst>
          </p:cNvPr>
          <p:cNvSpPr>
            <a:spLocks noGrp="1" noRot="1" noChangeAspect="1" noTextEdit="1"/>
          </p:cNvSpPr>
          <p:nvPr>
            <p:ph type="sldImg"/>
          </p:nvPr>
        </p:nvSpPr>
        <p:spPr>
          <a:ln/>
        </p:spPr>
      </p:sp>
      <p:sp>
        <p:nvSpPr>
          <p:cNvPr id="3" name="Notes Placeholder 2">
            <a:extLst>
              <a:ext uri="{FF2B5EF4-FFF2-40B4-BE49-F238E27FC236}">
                <a16:creationId xmlns:a16="http://schemas.microsoft.com/office/drawing/2014/main" id="{B286B7A1-2019-788A-D778-F1DDFF8E4F6A}"/>
              </a:ext>
            </a:extLst>
          </p:cNvPr>
          <p:cNvSpPr>
            <a:spLocks noGrp="1"/>
          </p:cNvSpPr>
          <p:nvPr>
            <p:ph type="body" idx="1"/>
          </p:nvPr>
        </p:nvSpPr>
        <p:spPr/>
        <p:txBody>
          <a:bodyPr>
            <a:normAutofit/>
          </a:bodyPr>
          <a:lstStyle/>
          <a:p>
            <a:pPr>
              <a:defRPr/>
            </a:pPr>
            <a:r>
              <a:rPr lang="en-US" dirty="0"/>
              <a:t> </a:t>
            </a:r>
          </a:p>
        </p:txBody>
      </p:sp>
      <p:sp>
        <p:nvSpPr>
          <p:cNvPr id="98308" name="Slide Number Placeholder 3">
            <a:extLst>
              <a:ext uri="{FF2B5EF4-FFF2-40B4-BE49-F238E27FC236}">
                <a16:creationId xmlns:a16="http://schemas.microsoft.com/office/drawing/2014/main" id="{9B8D8F04-EF9F-552E-2F63-7EA189280A1C}"/>
              </a:ext>
            </a:extLst>
          </p:cNvPr>
          <p:cNvSpPr>
            <a:spLocks noGrp="1"/>
          </p:cNvSpPr>
          <p:nvPr>
            <p:ph type="sldNum" sz="quarter" idx="5"/>
          </p:nvPr>
        </p:nvSpPr>
        <p:spPr/>
        <p:txBody>
          <a:bodyPr/>
          <a:lstStyle/>
          <a:p>
            <a:pPr>
              <a:defRPr/>
            </a:pPr>
            <a:fld id="{BBA6A32D-B68F-427C-8274-960A4E2E379A}" type="slidenum">
              <a:rPr lang="en-AU" smtClean="0">
                <a:latin typeface="Arial" pitchFamily="34" charset="0"/>
              </a:rPr>
              <a:pPr>
                <a:defRPr/>
              </a:pPr>
              <a:t>69</a:t>
            </a:fld>
            <a:endParaRPr lang="en-AU">
              <a:latin typeface="Arial" pitchFamily="34" charset="0"/>
            </a:endParaRPr>
          </a:p>
        </p:txBody>
      </p:sp>
    </p:spTree>
    <p:extLst>
      <p:ext uri="{BB962C8B-B14F-4D97-AF65-F5344CB8AC3E}">
        <p14:creationId xmlns:p14="http://schemas.microsoft.com/office/powerpoint/2010/main" val="62193886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70FC6-E2A6-B5DE-36AA-F0FFB47DFC62}"/>
            </a:ext>
          </a:extLst>
        </p:cNvPr>
        <p:cNvGrpSpPr/>
        <p:nvPr/>
      </p:nvGrpSpPr>
      <p:grpSpPr>
        <a:xfrm>
          <a:off x="0" y="0"/>
          <a:ext cx="0" cy="0"/>
          <a:chOff x="0" y="0"/>
          <a:chExt cx="0" cy="0"/>
        </a:xfrm>
      </p:grpSpPr>
      <p:sp>
        <p:nvSpPr>
          <p:cNvPr id="115714" name="Slide Image Placeholder 1">
            <a:extLst>
              <a:ext uri="{FF2B5EF4-FFF2-40B4-BE49-F238E27FC236}">
                <a16:creationId xmlns:a16="http://schemas.microsoft.com/office/drawing/2014/main" id="{17EAF9FD-DF3E-1EB7-E110-AFDE72D42930}"/>
              </a:ext>
            </a:extLst>
          </p:cNvPr>
          <p:cNvSpPr>
            <a:spLocks noGrp="1" noRot="1" noChangeAspect="1" noTextEdit="1"/>
          </p:cNvSpPr>
          <p:nvPr>
            <p:ph type="sldImg"/>
          </p:nvPr>
        </p:nvSpPr>
        <p:spPr>
          <a:ln/>
        </p:spPr>
      </p:sp>
      <p:sp>
        <p:nvSpPr>
          <p:cNvPr id="3" name="Notes Placeholder 2">
            <a:extLst>
              <a:ext uri="{FF2B5EF4-FFF2-40B4-BE49-F238E27FC236}">
                <a16:creationId xmlns:a16="http://schemas.microsoft.com/office/drawing/2014/main" id="{29EE365F-C3E7-EC71-A0BD-2900C12CC85A}"/>
              </a:ext>
            </a:extLst>
          </p:cNvPr>
          <p:cNvSpPr>
            <a:spLocks noGrp="1"/>
          </p:cNvSpPr>
          <p:nvPr>
            <p:ph type="body" idx="1"/>
          </p:nvPr>
        </p:nvSpPr>
        <p:spPr/>
        <p:txBody>
          <a:bodyPr>
            <a:normAutofit/>
          </a:bodyPr>
          <a:lstStyle/>
          <a:p>
            <a:pPr>
              <a:defRPr/>
            </a:pPr>
            <a:r>
              <a:rPr lang="en-US" dirty="0"/>
              <a:t> </a:t>
            </a:r>
          </a:p>
        </p:txBody>
      </p:sp>
      <p:sp>
        <p:nvSpPr>
          <p:cNvPr id="98308" name="Slide Number Placeholder 3">
            <a:extLst>
              <a:ext uri="{FF2B5EF4-FFF2-40B4-BE49-F238E27FC236}">
                <a16:creationId xmlns:a16="http://schemas.microsoft.com/office/drawing/2014/main" id="{FE8E3C13-32E9-B354-DC65-7D0C2108CCB3}"/>
              </a:ext>
            </a:extLst>
          </p:cNvPr>
          <p:cNvSpPr>
            <a:spLocks noGrp="1"/>
          </p:cNvSpPr>
          <p:nvPr>
            <p:ph type="sldNum" sz="quarter" idx="5"/>
          </p:nvPr>
        </p:nvSpPr>
        <p:spPr/>
        <p:txBody>
          <a:bodyPr/>
          <a:lstStyle/>
          <a:p>
            <a:pPr>
              <a:defRPr/>
            </a:pPr>
            <a:fld id="{BBA6A32D-B68F-427C-8274-960A4E2E379A}" type="slidenum">
              <a:rPr lang="en-AU" smtClean="0">
                <a:latin typeface="Arial" pitchFamily="34" charset="0"/>
              </a:rPr>
              <a:pPr>
                <a:defRPr/>
              </a:pPr>
              <a:t>70</a:t>
            </a:fld>
            <a:endParaRPr lang="en-AU">
              <a:latin typeface="Arial" pitchFamily="34" charset="0"/>
            </a:endParaRPr>
          </a:p>
        </p:txBody>
      </p:sp>
    </p:spTree>
    <p:extLst>
      <p:ext uri="{BB962C8B-B14F-4D97-AF65-F5344CB8AC3E}">
        <p14:creationId xmlns:p14="http://schemas.microsoft.com/office/powerpoint/2010/main" val="2949716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A420C-A828-5425-57EC-116373A4C2ED}"/>
            </a:ext>
          </a:extLst>
        </p:cNvPr>
        <p:cNvGrpSpPr/>
        <p:nvPr/>
      </p:nvGrpSpPr>
      <p:grpSpPr>
        <a:xfrm>
          <a:off x="0" y="0"/>
          <a:ext cx="0" cy="0"/>
          <a:chOff x="0" y="0"/>
          <a:chExt cx="0" cy="0"/>
        </a:xfrm>
      </p:grpSpPr>
      <p:sp>
        <p:nvSpPr>
          <p:cNvPr id="115714" name="Slide Image Placeholder 1">
            <a:extLst>
              <a:ext uri="{FF2B5EF4-FFF2-40B4-BE49-F238E27FC236}">
                <a16:creationId xmlns:a16="http://schemas.microsoft.com/office/drawing/2014/main" id="{F6DA6170-82CA-B6AA-4E8E-C9C3DF7B3DC2}"/>
              </a:ext>
            </a:extLst>
          </p:cNvPr>
          <p:cNvSpPr>
            <a:spLocks noGrp="1" noRot="1" noChangeAspect="1" noTextEdit="1"/>
          </p:cNvSpPr>
          <p:nvPr>
            <p:ph type="sldImg"/>
          </p:nvPr>
        </p:nvSpPr>
        <p:spPr>
          <a:ln/>
        </p:spPr>
      </p:sp>
      <p:sp>
        <p:nvSpPr>
          <p:cNvPr id="3" name="Notes Placeholder 2">
            <a:extLst>
              <a:ext uri="{FF2B5EF4-FFF2-40B4-BE49-F238E27FC236}">
                <a16:creationId xmlns:a16="http://schemas.microsoft.com/office/drawing/2014/main" id="{8FBC7EC7-39A4-05A5-9035-59384891A026}"/>
              </a:ext>
            </a:extLst>
          </p:cNvPr>
          <p:cNvSpPr>
            <a:spLocks noGrp="1"/>
          </p:cNvSpPr>
          <p:nvPr>
            <p:ph type="body" idx="1"/>
          </p:nvPr>
        </p:nvSpPr>
        <p:spPr/>
        <p:txBody>
          <a:bodyPr>
            <a:normAutofit/>
          </a:bodyPr>
          <a:lstStyle/>
          <a:p>
            <a:pPr>
              <a:defRPr/>
            </a:pPr>
            <a:r>
              <a:rPr lang="en-US" dirty="0"/>
              <a:t> </a:t>
            </a:r>
          </a:p>
        </p:txBody>
      </p:sp>
      <p:sp>
        <p:nvSpPr>
          <p:cNvPr id="98308" name="Slide Number Placeholder 3">
            <a:extLst>
              <a:ext uri="{FF2B5EF4-FFF2-40B4-BE49-F238E27FC236}">
                <a16:creationId xmlns:a16="http://schemas.microsoft.com/office/drawing/2014/main" id="{8396484E-3126-2D31-6471-90C4E0520B2B}"/>
              </a:ext>
            </a:extLst>
          </p:cNvPr>
          <p:cNvSpPr>
            <a:spLocks noGrp="1"/>
          </p:cNvSpPr>
          <p:nvPr>
            <p:ph type="sldNum" sz="quarter" idx="5"/>
          </p:nvPr>
        </p:nvSpPr>
        <p:spPr/>
        <p:txBody>
          <a:bodyPr/>
          <a:lstStyle/>
          <a:p>
            <a:pPr>
              <a:defRPr/>
            </a:pPr>
            <a:fld id="{BBA6A32D-B68F-427C-8274-960A4E2E379A}" type="slidenum">
              <a:rPr lang="en-AU" smtClean="0">
                <a:latin typeface="Arial" pitchFamily="34" charset="0"/>
              </a:rPr>
              <a:pPr>
                <a:defRPr/>
              </a:pPr>
              <a:t>71</a:t>
            </a:fld>
            <a:endParaRPr lang="en-AU">
              <a:latin typeface="Arial" pitchFamily="34" charset="0"/>
            </a:endParaRPr>
          </a:p>
        </p:txBody>
      </p:sp>
    </p:spTree>
    <p:extLst>
      <p:ext uri="{BB962C8B-B14F-4D97-AF65-F5344CB8AC3E}">
        <p14:creationId xmlns:p14="http://schemas.microsoft.com/office/powerpoint/2010/main" val="376398787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9EC79A6C-6B57-67E1-15D6-86191B4CAC80}"/>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E11BEC69-A5DF-818E-2C69-848A87B861E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FA9B5544-3C7B-1AE5-033E-7920F27D2DB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5499660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 name="Google Shape;11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a:extLst>
            <a:ext uri="{FF2B5EF4-FFF2-40B4-BE49-F238E27FC236}">
              <a16:creationId xmlns:a16="http://schemas.microsoft.com/office/drawing/2014/main" id="{FC49EE90-31EF-C99F-51C7-D3B32DD7B9F2}"/>
            </a:ext>
          </a:extLst>
        </p:cNvPr>
        <p:cNvGrpSpPr/>
        <p:nvPr/>
      </p:nvGrpSpPr>
      <p:grpSpPr>
        <a:xfrm>
          <a:off x="0" y="0"/>
          <a:ext cx="0" cy="0"/>
          <a:chOff x="0" y="0"/>
          <a:chExt cx="0" cy="0"/>
        </a:xfrm>
      </p:grpSpPr>
      <p:sp>
        <p:nvSpPr>
          <p:cNvPr id="152" name="Google Shape;152;p6:notes">
            <a:extLst>
              <a:ext uri="{FF2B5EF4-FFF2-40B4-BE49-F238E27FC236}">
                <a16:creationId xmlns:a16="http://schemas.microsoft.com/office/drawing/2014/main" id="{AA98FEA2-AA49-97E3-84B5-98857E0B459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p6:notes">
            <a:extLst>
              <a:ext uri="{FF2B5EF4-FFF2-40B4-BE49-F238E27FC236}">
                <a16:creationId xmlns:a16="http://schemas.microsoft.com/office/drawing/2014/main" id="{1CB4ADC0-9C16-AD5C-DE28-6F8AAC9D82C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6536373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a:extLst>
            <a:ext uri="{FF2B5EF4-FFF2-40B4-BE49-F238E27FC236}">
              <a16:creationId xmlns:a16="http://schemas.microsoft.com/office/drawing/2014/main" id="{3BF7E3C8-E4D4-D5AD-CFB8-43312CBA0B52}"/>
            </a:ext>
          </a:extLst>
        </p:cNvPr>
        <p:cNvGrpSpPr/>
        <p:nvPr/>
      </p:nvGrpSpPr>
      <p:grpSpPr>
        <a:xfrm>
          <a:off x="0" y="0"/>
          <a:ext cx="0" cy="0"/>
          <a:chOff x="0" y="0"/>
          <a:chExt cx="0" cy="0"/>
        </a:xfrm>
      </p:grpSpPr>
      <p:sp>
        <p:nvSpPr>
          <p:cNvPr id="179" name="Google Shape;179;p8:notes">
            <a:extLst>
              <a:ext uri="{FF2B5EF4-FFF2-40B4-BE49-F238E27FC236}">
                <a16:creationId xmlns:a16="http://schemas.microsoft.com/office/drawing/2014/main" id="{6048A2F6-03FD-5CFB-957C-DB0C2E000D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p8:notes">
            <a:extLst>
              <a:ext uri="{FF2B5EF4-FFF2-40B4-BE49-F238E27FC236}">
                <a16:creationId xmlns:a16="http://schemas.microsoft.com/office/drawing/2014/main" id="{E9793AFD-6857-3B74-4F18-134329B1BE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842434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1" name="Google Shape;191;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9" name="Google Shape;20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23" name="Google Shape;22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9" name="Google Shape;13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 name="Google Shape;15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9" name="Google Shape;16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5" name="Google Shape;19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2" name="Google Shape;222;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1" name="Google Shape;15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3" name="Google Shape;16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5" name="Google Shape;17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1" name="Google Shape;191;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1" name="Google Shape;211;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3" name="Google Shape;22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1031"/>
          <p:cNvSpPr>
            <a:spLocks noGrp="1" noChangeArrowheads="1"/>
          </p:cNvSpPr>
          <p:nvPr>
            <p:ph type="sldNum" sz="quarter" idx="5"/>
          </p:nvPr>
        </p:nvSpPr>
        <p:spPr/>
        <p:txBody>
          <a:bodyPr/>
          <a:lstStyle/>
          <a:p>
            <a:pPr>
              <a:defRPr/>
            </a:pPr>
            <a:fld id="{7347CEF2-8D09-4F1A-82E5-1762CC54401C}" type="slidenum">
              <a:rPr lang="en-AU" smtClean="0">
                <a:latin typeface="Arial" pitchFamily="34" charset="0"/>
              </a:rPr>
              <a:pPr>
                <a:defRPr/>
              </a:pPr>
              <a:t>113</a:t>
            </a:fld>
            <a:endParaRPr lang="en-AU">
              <a:latin typeface="Arial" pitchFamily="34" charset="0"/>
            </a:endParaRPr>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p:spPr>
        <p:txBody>
          <a:bodyPr/>
          <a:lstStyle/>
          <a:p>
            <a:r>
              <a:rPr lang="en-US">
                <a:latin typeface="Arial" pitchFamily="34" charset="0"/>
                <a:ea typeface="ＭＳ Ｐゴシック" pitchFamily="34" charset="-128"/>
              </a:rPr>
              <a:t> </a:t>
            </a:r>
            <a:endParaRPr lang="en-US">
              <a:latin typeface="Arial" pitchFamily="34" charset="0"/>
              <a:ea typeface="ＭＳ Ｐゴシック" pitchFamily="34" charset="-128"/>
              <a:cs typeface="Arial" pitchFamily="34" charset="0"/>
            </a:endParaRPr>
          </a:p>
        </p:txBody>
      </p:sp>
    </p:spTree>
    <p:extLst>
      <p:ext uri="{BB962C8B-B14F-4D97-AF65-F5344CB8AC3E}">
        <p14:creationId xmlns:p14="http://schemas.microsoft.com/office/powerpoint/2010/main" val="1205992389"/>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a:ln/>
        </p:spPr>
      </p:sp>
      <p:sp>
        <p:nvSpPr>
          <p:cNvPr id="95235" name="Notes Placeholder 2"/>
          <p:cNvSpPr>
            <a:spLocks noGrp="1"/>
          </p:cNvSpPr>
          <p:nvPr>
            <p:ph type="body" idx="1"/>
          </p:nvPr>
        </p:nvSpPr>
        <p:spPr>
          <a:noFill/>
          <a:ln/>
        </p:spPr>
        <p:txBody>
          <a:bodyPr/>
          <a:lstStyle/>
          <a:p>
            <a:r>
              <a:rPr lang="en-US">
                <a:latin typeface="Arial" pitchFamily="34" charset="0"/>
                <a:ea typeface="ＭＳ Ｐゴシック" pitchFamily="34" charset="-128"/>
              </a:rPr>
              <a:t> In the literature, the terms threat  and attack  are commonly used to mean more</a:t>
            </a:r>
          </a:p>
          <a:p>
            <a:r>
              <a:rPr lang="en-US">
                <a:latin typeface="Arial" pitchFamily="34" charset="0"/>
                <a:ea typeface="ＭＳ Ｐゴシック" pitchFamily="34" charset="-128"/>
              </a:rPr>
              <a:t>or less the same thing. Table 1.1 provides definitions taken from RFC 4949, </a:t>
            </a:r>
            <a:r>
              <a:rPr lang="en-US" i="1">
                <a:latin typeface="Arial" pitchFamily="34" charset="0"/>
                <a:ea typeface="ＭＳ Ｐゴシック" pitchFamily="34" charset="-128"/>
              </a:rPr>
              <a:t>Internet</a:t>
            </a:r>
          </a:p>
          <a:p>
            <a:r>
              <a:rPr lang="en-US" i="1">
                <a:latin typeface="Arial" pitchFamily="34" charset="0"/>
                <a:ea typeface="ＭＳ Ｐゴシック" pitchFamily="34" charset="-128"/>
              </a:rPr>
              <a:t>Security Glossary.</a:t>
            </a:r>
          </a:p>
        </p:txBody>
      </p:sp>
      <p:sp>
        <p:nvSpPr>
          <p:cNvPr id="81924" name="Slide Number Placeholder 3"/>
          <p:cNvSpPr>
            <a:spLocks noGrp="1"/>
          </p:cNvSpPr>
          <p:nvPr>
            <p:ph type="sldNum" sz="quarter" idx="5"/>
          </p:nvPr>
        </p:nvSpPr>
        <p:spPr/>
        <p:txBody>
          <a:bodyPr/>
          <a:lstStyle/>
          <a:p>
            <a:pPr>
              <a:defRPr/>
            </a:pPr>
            <a:fld id="{6220D11E-34F4-4517-AB06-589E74786E09}" type="slidenum">
              <a:rPr lang="en-AU" smtClean="0">
                <a:latin typeface="Arial" pitchFamily="34" charset="0"/>
              </a:rPr>
              <a:pPr>
                <a:defRPr/>
              </a:pPr>
              <a:t>116</a:t>
            </a:fld>
            <a:endParaRPr lang="en-AU">
              <a:latin typeface="Arial" pitchFamily="34" charset="0"/>
            </a:endParaRPr>
          </a:p>
        </p:txBody>
      </p:sp>
    </p:spTree>
    <p:extLst>
      <p:ext uri="{BB962C8B-B14F-4D97-AF65-F5344CB8AC3E}">
        <p14:creationId xmlns:p14="http://schemas.microsoft.com/office/powerpoint/2010/main" val="395355808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1031"/>
          <p:cNvSpPr>
            <a:spLocks noGrp="1" noChangeArrowheads="1"/>
          </p:cNvSpPr>
          <p:nvPr>
            <p:ph type="sldNum" sz="quarter" idx="5"/>
          </p:nvPr>
        </p:nvSpPr>
        <p:spPr/>
        <p:txBody>
          <a:bodyPr/>
          <a:lstStyle/>
          <a:p>
            <a:pPr>
              <a:defRPr/>
            </a:pPr>
            <a:fld id="{AE93138B-8C2D-4B28-9914-C048C6F6FC81}" type="slidenum">
              <a:rPr lang="en-AU" smtClean="0">
                <a:latin typeface="Arial" pitchFamily="34" charset="0"/>
              </a:rPr>
              <a:pPr>
                <a:defRPr/>
              </a:pPr>
              <a:t>118</a:t>
            </a:fld>
            <a:endParaRPr lang="en-AU">
              <a:latin typeface="Arial" pitchFamily="34" charset="0"/>
            </a:endParaRPr>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p:spPr>
        <p:txBody>
          <a:bodyPr/>
          <a:lstStyle/>
          <a:p>
            <a:endParaRPr lang="en-US">
              <a:latin typeface="Arial" pitchFamily="34" charset="0"/>
              <a:ea typeface="ＭＳ Ｐゴシック" pitchFamily="34" charset="-128"/>
              <a:cs typeface="Arial" pitchFamily="34" charset="0"/>
            </a:endParaRPr>
          </a:p>
        </p:txBody>
      </p:sp>
    </p:spTree>
    <p:extLst>
      <p:ext uri="{BB962C8B-B14F-4D97-AF65-F5344CB8AC3E}">
        <p14:creationId xmlns:p14="http://schemas.microsoft.com/office/powerpoint/2010/main" val="34667828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a:bodyPr>
          <a:lstStyle/>
          <a:p>
            <a:pPr>
              <a:defRPr/>
            </a:pPr>
            <a:r>
              <a:rPr lang="en-US" dirty="0"/>
              <a:t> </a:t>
            </a:r>
          </a:p>
        </p:txBody>
      </p:sp>
      <p:sp>
        <p:nvSpPr>
          <p:cNvPr id="83972" name="Slide Number Placeholder 3"/>
          <p:cNvSpPr>
            <a:spLocks noGrp="1"/>
          </p:cNvSpPr>
          <p:nvPr>
            <p:ph type="sldNum" sz="quarter" idx="5"/>
          </p:nvPr>
        </p:nvSpPr>
        <p:spPr/>
        <p:txBody>
          <a:bodyPr/>
          <a:lstStyle/>
          <a:p>
            <a:pPr>
              <a:defRPr/>
            </a:pPr>
            <a:fld id="{C77000E2-27EC-46F5-A2CB-E1219C8EC814}" type="slidenum">
              <a:rPr lang="en-AU" smtClean="0">
                <a:latin typeface="Arial" pitchFamily="34" charset="0"/>
              </a:rPr>
              <a:pPr>
                <a:defRPr/>
              </a:pPr>
              <a:t>119</a:t>
            </a:fld>
            <a:endParaRPr lang="en-AU">
              <a:latin typeface="Arial" pitchFamily="34" charset="0"/>
            </a:endParaRPr>
          </a:p>
        </p:txBody>
      </p:sp>
    </p:spTree>
    <p:extLst>
      <p:ext uri="{BB962C8B-B14F-4D97-AF65-F5344CB8AC3E}">
        <p14:creationId xmlns:p14="http://schemas.microsoft.com/office/powerpoint/2010/main" val="1376161344"/>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E6822-9207-4233-F47C-95DA4A3F19D2}"/>
            </a:ext>
          </a:extLst>
        </p:cNvPr>
        <p:cNvGrpSpPr/>
        <p:nvPr/>
      </p:nvGrpSpPr>
      <p:grpSpPr>
        <a:xfrm>
          <a:off x="0" y="0"/>
          <a:ext cx="0" cy="0"/>
          <a:chOff x="0" y="0"/>
          <a:chExt cx="0" cy="0"/>
        </a:xfrm>
      </p:grpSpPr>
      <p:sp>
        <p:nvSpPr>
          <p:cNvPr id="97282" name="Slide Image Placeholder 1">
            <a:extLst>
              <a:ext uri="{FF2B5EF4-FFF2-40B4-BE49-F238E27FC236}">
                <a16:creationId xmlns:a16="http://schemas.microsoft.com/office/drawing/2014/main" id="{66D8258B-A64E-773C-8786-628992B9307C}"/>
              </a:ext>
            </a:extLst>
          </p:cNvPr>
          <p:cNvSpPr>
            <a:spLocks noGrp="1" noRot="1" noChangeAspect="1" noTextEdit="1"/>
          </p:cNvSpPr>
          <p:nvPr>
            <p:ph type="sldImg"/>
          </p:nvPr>
        </p:nvSpPr>
        <p:spPr>
          <a:ln/>
        </p:spPr>
      </p:sp>
      <p:sp>
        <p:nvSpPr>
          <p:cNvPr id="3" name="Notes Placeholder 2">
            <a:extLst>
              <a:ext uri="{FF2B5EF4-FFF2-40B4-BE49-F238E27FC236}">
                <a16:creationId xmlns:a16="http://schemas.microsoft.com/office/drawing/2014/main" id="{DCC9CBE7-FD39-63AB-FA6A-A7A73D8CA7C5}"/>
              </a:ext>
            </a:extLst>
          </p:cNvPr>
          <p:cNvSpPr>
            <a:spLocks noGrp="1"/>
          </p:cNvSpPr>
          <p:nvPr>
            <p:ph type="body" idx="1"/>
          </p:nvPr>
        </p:nvSpPr>
        <p:spPr/>
        <p:txBody>
          <a:bodyPr>
            <a:normAutofit/>
          </a:bodyPr>
          <a:lstStyle/>
          <a:p>
            <a:pPr>
              <a:defRPr/>
            </a:pPr>
            <a:r>
              <a:rPr lang="en-US" dirty="0"/>
              <a:t> </a:t>
            </a:r>
          </a:p>
        </p:txBody>
      </p:sp>
      <p:sp>
        <p:nvSpPr>
          <p:cNvPr id="83972" name="Slide Number Placeholder 3">
            <a:extLst>
              <a:ext uri="{FF2B5EF4-FFF2-40B4-BE49-F238E27FC236}">
                <a16:creationId xmlns:a16="http://schemas.microsoft.com/office/drawing/2014/main" id="{7CCB8967-C158-629D-E60B-9308A5A291A9}"/>
              </a:ext>
            </a:extLst>
          </p:cNvPr>
          <p:cNvSpPr>
            <a:spLocks noGrp="1"/>
          </p:cNvSpPr>
          <p:nvPr>
            <p:ph type="sldNum" sz="quarter" idx="5"/>
          </p:nvPr>
        </p:nvSpPr>
        <p:spPr/>
        <p:txBody>
          <a:bodyPr/>
          <a:lstStyle/>
          <a:p>
            <a:pPr>
              <a:defRPr/>
            </a:pPr>
            <a:fld id="{C77000E2-27EC-46F5-A2CB-E1219C8EC814}" type="slidenum">
              <a:rPr lang="en-AU" smtClean="0">
                <a:latin typeface="Arial" pitchFamily="34" charset="0"/>
              </a:rPr>
              <a:pPr>
                <a:defRPr/>
              </a:pPr>
              <a:t>120</a:t>
            </a:fld>
            <a:endParaRPr lang="en-AU">
              <a:latin typeface="Arial" pitchFamily="34" charset="0"/>
            </a:endParaRPr>
          </a:p>
        </p:txBody>
      </p:sp>
    </p:spTree>
    <p:extLst>
      <p:ext uri="{BB962C8B-B14F-4D97-AF65-F5344CB8AC3E}">
        <p14:creationId xmlns:p14="http://schemas.microsoft.com/office/powerpoint/2010/main" val="307367164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1031"/>
          <p:cNvSpPr>
            <a:spLocks noGrp="1" noChangeArrowheads="1"/>
          </p:cNvSpPr>
          <p:nvPr>
            <p:ph type="sldNum" sz="quarter" idx="5"/>
          </p:nvPr>
        </p:nvSpPr>
        <p:spPr/>
        <p:txBody>
          <a:bodyPr/>
          <a:lstStyle/>
          <a:p>
            <a:pPr>
              <a:defRPr/>
            </a:pPr>
            <a:fld id="{EC632EB1-3A39-4105-83E2-3C80C128801A}" type="slidenum">
              <a:rPr lang="en-AU" smtClean="0">
                <a:latin typeface="Arial" pitchFamily="34" charset="0"/>
              </a:rPr>
              <a:pPr>
                <a:defRPr/>
              </a:pPr>
              <a:t>123</a:t>
            </a:fld>
            <a:endParaRPr lang="en-AU">
              <a:latin typeface="Arial" pitchFamily="34"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p:spPr>
        <p:txBody>
          <a:bodyPr/>
          <a:lstStyle/>
          <a:p>
            <a:r>
              <a:rPr lang="en-US">
                <a:latin typeface="Arial" pitchFamily="34" charset="0"/>
                <a:ea typeface="ＭＳ Ｐゴシック" pitchFamily="34" charset="-128"/>
              </a:rPr>
              <a:t> </a:t>
            </a:r>
            <a:endParaRPr lang="en-US">
              <a:latin typeface="Arial" pitchFamily="34" charset="0"/>
              <a:ea typeface="ＭＳ Ｐゴシック" pitchFamily="34" charset="-128"/>
              <a:cs typeface="Arial" pitchFamily="34" charset="0"/>
            </a:endParaRPr>
          </a:p>
        </p:txBody>
      </p:sp>
    </p:spTree>
    <p:extLst>
      <p:ext uri="{BB962C8B-B14F-4D97-AF65-F5344CB8AC3E}">
        <p14:creationId xmlns:p14="http://schemas.microsoft.com/office/powerpoint/2010/main" val="123270717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Arial" pitchFamily="34" charset="0"/>
            </a:endParaRPr>
          </a:p>
        </p:txBody>
      </p:sp>
      <p:sp>
        <p:nvSpPr>
          <p:cNvPr id="624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defRPr>
            </a:lvl1pPr>
            <a:lvl2pPr marL="730250" indent="-280988">
              <a:defRPr sz="1200">
                <a:solidFill>
                  <a:schemeClr val="tx1"/>
                </a:solidFill>
                <a:latin typeface="Arial" pitchFamily="34" charset="0"/>
              </a:defRPr>
            </a:lvl2pPr>
            <a:lvl3pPr marL="1123950" indent="-223838">
              <a:defRPr sz="1200">
                <a:solidFill>
                  <a:schemeClr val="tx1"/>
                </a:solidFill>
                <a:latin typeface="Arial" pitchFamily="34" charset="0"/>
              </a:defRPr>
            </a:lvl3pPr>
            <a:lvl4pPr marL="1574800" indent="-223838">
              <a:defRPr sz="1200">
                <a:solidFill>
                  <a:schemeClr val="tx1"/>
                </a:solidFill>
                <a:latin typeface="Arial" pitchFamily="34" charset="0"/>
              </a:defRPr>
            </a:lvl4pPr>
            <a:lvl5pPr marL="2024063" indent="-223838">
              <a:defRPr sz="1200">
                <a:solidFill>
                  <a:schemeClr val="tx1"/>
                </a:solidFill>
                <a:latin typeface="Arial" pitchFamily="34" charset="0"/>
              </a:defRPr>
            </a:lvl5pPr>
            <a:lvl6pPr marL="2481263" indent="-223838" eaLnBrk="0" fontAlgn="base" hangingPunct="0">
              <a:spcBef>
                <a:spcPct val="30000"/>
              </a:spcBef>
              <a:spcAft>
                <a:spcPct val="0"/>
              </a:spcAft>
              <a:defRPr sz="1200">
                <a:solidFill>
                  <a:schemeClr val="tx1"/>
                </a:solidFill>
                <a:latin typeface="Arial" pitchFamily="34" charset="0"/>
              </a:defRPr>
            </a:lvl6pPr>
            <a:lvl7pPr marL="2938463" indent="-223838" eaLnBrk="0" fontAlgn="base" hangingPunct="0">
              <a:spcBef>
                <a:spcPct val="30000"/>
              </a:spcBef>
              <a:spcAft>
                <a:spcPct val="0"/>
              </a:spcAft>
              <a:defRPr sz="1200">
                <a:solidFill>
                  <a:schemeClr val="tx1"/>
                </a:solidFill>
                <a:latin typeface="Arial" pitchFamily="34" charset="0"/>
              </a:defRPr>
            </a:lvl7pPr>
            <a:lvl8pPr marL="3395663" indent="-223838" eaLnBrk="0" fontAlgn="base" hangingPunct="0">
              <a:spcBef>
                <a:spcPct val="30000"/>
              </a:spcBef>
              <a:spcAft>
                <a:spcPct val="0"/>
              </a:spcAft>
              <a:defRPr sz="1200">
                <a:solidFill>
                  <a:schemeClr val="tx1"/>
                </a:solidFill>
                <a:latin typeface="Arial" pitchFamily="34" charset="0"/>
              </a:defRPr>
            </a:lvl8pPr>
            <a:lvl9pPr marL="3852863" indent="-223838" eaLnBrk="0" fontAlgn="base" hangingPunct="0">
              <a:spcBef>
                <a:spcPct val="30000"/>
              </a:spcBef>
              <a:spcAft>
                <a:spcPct val="0"/>
              </a:spcAft>
              <a:defRPr sz="1200">
                <a:solidFill>
                  <a:schemeClr val="tx1"/>
                </a:solidFill>
                <a:latin typeface="Arial" pitchFamily="34" charset="0"/>
              </a:defRPr>
            </a:lvl9pPr>
          </a:lstStyle>
          <a:p>
            <a:fld id="{8802D9F9-8A35-42F5-A07F-35B3FE8D8C01}" type="slidenum">
              <a:rPr lang="en-AU" altLang="tr-TR" sz="1300"/>
              <a:pPr/>
              <a:t>129</a:t>
            </a:fld>
            <a:endParaRPr lang="en-AU" altLang="tr-TR" sz="1300"/>
          </a:p>
        </p:txBody>
      </p:sp>
    </p:spTree>
    <p:extLst>
      <p:ext uri="{BB962C8B-B14F-4D97-AF65-F5344CB8AC3E}">
        <p14:creationId xmlns:p14="http://schemas.microsoft.com/office/powerpoint/2010/main" val="2421096478"/>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defRPr>
            </a:lvl1pPr>
            <a:lvl2pPr marL="730250" indent="-280988">
              <a:defRPr sz="1200">
                <a:solidFill>
                  <a:schemeClr val="tx1"/>
                </a:solidFill>
                <a:latin typeface="Arial" pitchFamily="34" charset="0"/>
              </a:defRPr>
            </a:lvl2pPr>
            <a:lvl3pPr marL="1123950" indent="-223838">
              <a:defRPr sz="1200">
                <a:solidFill>
                  <a:schemeClr val="tx1"/>
                </a:solidFill>
                <a:latin typeface="Arial" pitchFamily="34" charset="0"/>
              </a:defRPr>
            </a:lvl3pPr>
            <a:lvl4pPr marL="1574800" indent="-223838">
              <a:defRPr sz="1200">
                <a:solidFill>
                  <a:schemeClr val="tx1"/>
                </a:solidFill>
                <a:latin typeface="Arial" pitchFamily="34" charset="0"/>
              </a:defRPr>
            </a:lvl4pPr>
            <a:lvl5pPr marL="2024063" indent="-223838">
              <a:defRPr sz="1200">
                <a:solidFill>
                  <a:schemeClr val="tx1"/>
                </a:solidFill>
                <a:latin typeface="Arial" pitchFamily="34" charset="0"/>
              </a:defRPr>
            </a:lvl5pPr>
            <a:lvl6pPr marL="2481263" indent="-223838" eaLnBrk="0" fontAlgn="base" hangingPunct="0">
              <a:spcBef>
                <a:spcPct val="30000"/>
              </a:spcBef>
              <a:spcAft>
                <a:spcPct val="0"/>
              </a:spcAft>
              <a:defRPr sz="1200">
                <a:solidFill>
                  <a:schemeClr val="tx1"/>
                </a:solidFill>
                <a:latin typeface="Arial" pitchFamily="34" charset="0"/>
              </a:defRPr>
            </a:lvl6pPr>
            <a:lvl7pPr marL="2938463" indent="-223838" eaLnBrk="0" fontAlgn="base" hangingPunct="0">
              <a:spcBef>
                <a:spcPct val="30000"/>
              </a:spcBef>
              <a:spcAft>
                <a:spcPct val="0"/>
              </a:spcAft>
              <a:defRPr sz="1200">
                <a:solidFill>
                  <a:schemeClr val="tx1"/>
                </a:solidFill>
                <a:latin typeface="Arial" pitchFamily="34" charset="0"/>
              </a:defRPr>
            </a:lvl7pPr>
            <a:lvl8pPr marL="3395663" indent="-223838" eaLnBrk="0" fontAlgn="base" hangingPunct="0">
              <a:spcBef>
                <a:spcPct val="30000"/>
              </a:spcBef>
              <a:spcAft>
                <a:spcPct val="0"/>
              </a:spcAft>
              <a:defRPr sz="1200">
                <a:solidFill>
                  <a:schemeClr val="tx1"/>
                </a:solidFill>
                <a:latin typeface="Arial" pitchFamily="34" charset="0"/>
              </a:defRPr>
            </a:lvl8pPr>
            <a:lvl9pPr marL="3852863" indent="-223838" eaLnBrk="0" fontAlgn="base" hangingPunct="0">
              <a:spcBef>
                <a:spcPct val="30000"/>
              </a:spcBef>
              <a:spcAft>
                <a:spcPct val="0"/>
              </a:spcAft>
              <a:defRPr sz="1200">
                <a:solidFill>
                  <a:schemeClr val="tx1"/>
                </a:solidFill>
                <a:latin typeface="Arial" pitchFamily="34" charset="0"/>
              </a:defRPr>
            </a:lvl9pPr>
          </a:lstStyle>
          <a:p>
            <a:fld id="{80CD5568-4DC1-498A-A3A6-0779E2C58377}" type="slidenum">
              <a:rPr lang="en-AU" altLang="tr-TR" sz="1300"/>
              <a:pPr/>
              <a:t>130</a:t>
            </a:fld>
            <a:endParaRPr lang="en-AU" altLang="tr-TR" sz="1300"/>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tr-TR">
              <a:latin typeface="Arial" pitchFamily="34" charset="0"/>
            </a:endParaRPr>
          </a:p>
        </p:txBody>
      </p:sp>
    </p:spTree>
    <p:extLst>
      <p:ext uri="{BB962C8B-B14F-4D97-AF65-F5344CB8AC3E}">
        <p14:creationId xmlns:p14="http://schemas.microsoft.com/office/powerpoint/2010/main" val="3881912390"/>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a:ln/>
        </p:spPr>
      </p:sp>
      <p:sp>
        <p:nvSpPr>
          <p:cNvPr id="686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Arial" pitchFamily="34" charset="0"/>
            </a:endParaRPr>
          </a:p>
        </p:txBody>
      </p:sp>
      <p:sp>
        <p:nvSpPr>
          <p:cNvPr id="686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defRPr>
            </a:lvl1pPr>
            <a:lvl2pPr marL="730250" indent="-280988">
              <a:defRPr sz="1200">
                <a:solidFill>
                  <a:schemeClr val="tx1"/>
                </a:solidFill>
                <a:latin typeface="Arial" pitchFamily="34" charset="0"/>
              </a:defRPr>
            </a:lvl2pPr>
            <a:lvl3pPr marL="1123950" indent="-223838">
              <a:defRPr sz="1200">
                <a:solidFill>
                  <a:schemeClr val="tx1"/>
                </a:solidFill>
                <a:latin typeface="Arial" pitchFamily="34" charset="0"/>
              </a:defRPr>
            </a:lvl3pPr>
            <a:lvl4pPr marL="1574800" indent="-223838">
              <a:defRPr sz="1200">
                <a:solidFill>
                  <a:schemeClr val="tx1"/>
                </a:solidFill>
                <a:latin typeface="Arial" pitchFamily="34" charset="0"/>
              </a:defRPr>
            </a:lvl4pPr>
            <a:lvl5pPr marL="2024063" indent="-223838">
              <a:defRPr sz="1200">
                <a:solidFill>
                  <a:schemeClr val="tx1"/>
                </a:solidFill>
                <a:latin typeface="Arial" pitchFamily="34" charset="0"/>
              </a:defRPr>
            </a:lvl5pPr>
            <a:lvl6pPr marL="2481263" indent="-223838" eaLnBrk="0" fontAlgn="base" hangingPunct="0">
              <a:spcBef>
                <a:spcPct val="30000"/>
              </a:spcBef>
              <a:spcAft>
                <a:spcPct val="0"/>
              </a:spcAft>
              <a:defRPr sz="1200">
                <a:solidFill>
                  <a:schemeClr val="tx1"/>
                </a:solidFill>
                <a:latin typeface="Arial" pitchFamily="34" charset="0"/>
              </a:defRPr>
            </a:lvl6pPr>
            <a:lvl7pPr marL="2938463" indent="-223838" eaLnBrk="0" fontAlgn="base" hangingPunct="0">
              <a:spcBef>
                <a:spcPct val="30000"/>
              </a:spcBef>
              <a:spcAft>
                <a:spcPct val="0"/>
              </a:spcAft>
              <a:defRPr sz="1200">
                <a:solidFill>
                  <a:schemeClr val="tx1"/>
                </a:solidFill>
                <a:latin typeface="Arial" pitchFamily="34" charset="0"/>
              </a:defRPr>
            </a:lvl7pPr>
            <a:lvl8pPr marL="3395663" indent="-223838" eaLnBrk="0" fontAlgn="base" hangingPunct="0">
              <a:spcBef>
                <a:spcPct val="30000"/>
              </a:spcBef>
              <a:spcAft>
                <a:spcPct val="0"/>
              </a:spcAft>
              <a:defRPr sz="1200">
                <a:solidFill>
                  <a:schemeClr val="tx1"/>
                </a:solidFill>
                <a:latin typeface="Arial" pitchFamily="34" charset="0"/>
              </a:defRPr>
            </a:lvl8pPr>
            <a:lvl9pPr marL="3852863" indent="-223838" eaLnBrk="0" fontAlgn="base" hangingPunct="0">
              <a:spcBef>
                <a:spcPct val="30000"/>
              </a:spcBef>
              <a:spcAft>
                <a:spcPct val="0"/>
              </a:spcAft>
              <a:defRPr sz="1200">
                <a:solidFill>
                  <a:schemeClr val="tx1"/>
                </a:solidFill>
                <a:latin typeface="Arial" pitchFamily="34" charset="0"/>
              </a:defRPr>
            </a:lvl9pPr>
          </a:lstStyle>
          <a:p>
            <a:fld id="{ECB71291-A51D-4B65-ADF8-382521CC0B02}" type="slidenum">
              <a:rPr lang="en-AU" altLang="tr-TR" sz="1300"/>
              <a:pPr/>
              <a:t>131</a:t>
            </a:fld>
            <a:endParaRPr lang="en-AU" altLang="tr-TR" sz="1300"/>
          </a:p>
        </p:txBody>
      </p:sp>
    </p:spTree>
    <p:extLst>
      <p:ext uri="{BB962C8B-B14F-4D97-AF65-F5344CB8AC3E}">
        <p14:creationId xmlns:p14="http://schemas.microsoft.com/office/powerpoint/2010/main" val="1282177110"/>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a:ln/>
        </p:spPr>
      </p:sp>
      <p:sp>
        <p:nvSpPr>
          <p:cNvPr id="706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Arial" pitchFamily="34" charset="0"/>
            </a:endParaRPr>
          </a:p>
        </p:txBody>
      </p:sp>
      <p:sp>
        <p:nvSpPr>
          <p:cNvPr id="706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defRPr>
            </a:lvl1pPr>
            <a:lvl2pPr marL="730250" indent="-280988">
              <a:defRPr sz="1200">
                <a:solidFill>
                  <a:schemeClr val="tx1"/>
                </a:solidFill>
                <a:latin typeface="Arial" pitchFamily="34" charset="0"/>
              </a:defRPr>
            </a:lvl2pPr>
            <a:lvl3pPr marL="1123950" indent="-223838">
              <a:defRPr sz="1200">
                <a:solidFill>
                  <a:schemeClr val="tx1"/>
                </a:solidFill>
                <a:latin typeface="Arial" pitchFamily="34" charset="0"/>
              </a:defRPr>
            </a:lvl3pPr>
            <a:lvl4pPr marL="1574800" indent="-223838">
              <a:defRPr sz="1200">
                <a:solidFill>
                  <a:schemeClr val="tx1"/>
                </a:solidFill>
                <a:latin typeface="Arial" pitchFamily="34" charset="0"/>
              </a:defRPr>
            </a:lvl4pPr>
            <a:lvl5pPr marL="2024063" indent="-223838">
              <a:defRPr sz="1200">
                <a:solidFill>
                  <a:schemeClr val="tx1"/>
                </a:solidFill>
                <a:latin typeface="Arial" pitchFamily="34" charset="0"/>
              </a:defRPr>
            </a:lvl5pPr>
            <a:lvl6pPr marL="2481263" indent="-223838" eaLnBrk="0" fontAlgn="base" hangingPunct="0">
              <a:spcBef>
                <a:spcPct val="30000"/>
              </a:spcBef>
              <a:spcAft>
                <a:spcPct val="0"/>
              </a:spcAft>
              <a:defRPr sz="1200">
                <a:solidFill>
                  <a:schemeClr val="tx1"/>
                </a:solidFill>
                <a:latin typeface="Arial" pitchFamily="34" charset="0"/>
              </a:defRPr>
            </a:lvl6pPr>
            <a:lvl7pPr marL="2938463" indent="-223838" eaLnBrk="0" fontAlgn="base" hangingPunct="0">
              <a:spcBef>
                <a:spcPct val="30000"/>
              </a:spcBef>
              <a:spcAft>
                <a:spcPct val="0"/>
              </a:spcAft>
              <a:defRPr sz="1200">
                <a:solidFill>
                  <a:schemeClr val="tx1"/>
                </a:solidFill>
                <a:latin typeface="Arial" pitchFamily="34" charset="0"/>
              </a:defRPr>
            </a:lvl7pPr>
            <a:lvl8pPr marL="3395663" indent="-223838" eaLnBrk="0" fontAlgn="base" hangingPunct="0">
              <a:spcBef>
                <a:spcPct val="30000"/>
              </a:spcBef>
              <a:spcAft>
                <a:spcPct val="0"/>
              </a:spcAft>
              <a:defRPr sz="1200">
                <a:solidFill>
                  <a:schemeClr val="tx1"/>
                </a:solidFill>
                <a:latin typeface="Arial" pitchFamily="34" charset="0"/>
              </a:defRPr>
            </a:lvl8pPr>
            <a:lvl9pPr marL="3852863" indent="-223838" eaLnBrk="0" fontAlgn="base" hangingPunct="0">
              <a:spcBef>
                <a:spcPct val="30000"/>
              </a:spcBef>
              <a:spcAft>
                <a:spcPct val="0"/>
              </a:spcAft>
              <a:defRPr sz="1200">
                <a:solidFill>
                  <a:schemeClr val="tx1"/>
                </a:solidFill>
                <a:latin typeface="Arial" pitchFamily="34" charset="0"/>
              </a:defRPr>
            </a:lvl9pPr>
          </a:lstStyle>
          <a:p>
            <a:fld id="{2B9E3779-B611-4B0D-8F6E-7B1DF8F609E3}" type="slidenum">
              <a:rPr lang="en-AU" altLang="tr-TR" sz="1300"/>
              <a:pPr/>
              <a:t>132</a:t>
            </a:fld>
            <a:endParaRPr lang="en-AU" altLang="tr-TR" sz="1300"/>
          </a:p>
        </p:txBody>
      </p:sp>
    </p:spTree>
    <p:extLst>
      <p:ext uri="{BB962C8B-B14F-4D97-AF65-F5344CB8AC3E}">
        <p14:creationId xmlns:p14="http://schemas.microsoft.com/office/powerpoint/2010/main" val="408812409"/>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1031"/>
          <p:cNvSpPr>
            <a:spLocks noGrp="1" noChangeArrowheads="1"/>
          </p:cNvSpPr>
          <p:nvPr>
            <p:ph type="sldNum" sz="quarter" idx="5"/>
          </p:nvPr>
        </p:nvSpPr>
        <p:spPr/>
        <p:txBody>
          <a:bodyPr/>
          <a:lstStyle/>
          <a:p>
            <a:pPr>
              <a:defRPr/>
            </a:pPr>
            <a:fld id="{1DFB0C16-C52F-4B6C-8325-D7B38F826686}" type="slidenum">
              <a:rPr lang="en-AU" smtClean="0">
                <a:latin typeface="Arial" pitchFamily="34" charset="0"/>
              </a:rPr>
              <a:pPr>
                <a:defRPr/>
              </a:pPr>
              <a:t>134</a:t>
            </a:fld>
            <a:endParaRPr lang="en-AU">
              <a:latin typeface="Arial" pitchFamily="34" charset="0"/>
            </a:endParaRPr>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p:spPr>
        <p:txBody>
          <a:bodyPr/>
          <a:lstStyle/>
          <a:p>
            <a:r>
              <a:rPr lang="en-US">
                <a:latin typeface="Arial" pitchFamily="34" charset="0"/>
                <a:ea typeface="ＭＳ Ｐゴシック" pitchFamily="34" charset="-128"/>
              </a:rPr>
              <a:t> </a:t>
            </a:r>
            <a:endParaRPr lang="en-US">
              <a:solidFill>
                <a:srgbClr val="000000"/>
              </a:solidFill>
              <a:latin typeface="Arial" pitchFamily="34" charset="0"/>
              <a:ea typeface="ＭＳ Ｐゴシック" pitchFamily="34" charset="-128"/>
              <a:cs typeface="Arial" pitchFamily="34" charset="0"/>
            </a:endParaRPr>
          </a:p>
        </p:txBody>
      </p:sp>
    </p:spTree>
    <p:extLst>
      <p:ext uri="{BB962C8B-B14F-4D97-AF65-F5344CB8AC3E}">
        <p14:creationId xmlns:p14="http://schemas.microsoft.com/office/powerpoint/2010/main" val="2790205647"/>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p:cNvSpPr>
            <a:spLocks noGrp="1" noRot="1" noChangeAspect="1" noTextEdit="1"/>
          </p:cNvSpPr>
          <p:nvPr>
            <p:ph type="sldImg"/>
          </p:nvPr>
        </p:nvSpPr>
        <p:spPr>
          <a:ln/>
        </p:spPr>
      </p:sp>
      <p:sp>
        <p:nvSpPr>
          <p:cNvPr id="100355" name="Notes Placeholder 2"/>
          <p:cNvSpPr>
            <a:spLocks noGrp="1"/>
          </p:cNvSpPr>
          <p:nvPr>
            <p:ph type="body" idx="1"/>
          </p:nvPr>
        </p:nvSpPr>
        <p:spPr>
          <a:noFill/>
          <a:ln/>
        </p:spPr>
        <p:txBody>
          <a:bodyPr/>
          <a:lstStyle/>
          <a:p>
            <a:r>
              <a:rPr lang="en-US">
                <a:latin typeface="Arial" pitchFamily="34" charset="0"/>
                <a:ea typeface="ＭＳ Ｐゴシック" pitchFamily="34" charset="-128"/>
              </a:rPr>
              <a:t> </a:t>
            </a:r>
          </a:p>
        </p:txBody>
      </p:sp>
      <p:sp>
        <p:nvSpPr>
          <p:cNvPr id="87044" name="Slide Number Placeholder 3"/>
          <p:cNvSpPr>
            <a:spLocks noGrp="1"/>
          </p:cNvSpPr>
          <p:nvPr>
            <p:ph type="sldNum" sz="quarter" idx="5"/>
          </p:nvPr>
        </p:nvSpPr>
        <p:spPr/>
        <p:txBody>
          <a:bodyPr/>
          <a:lstStyle/>
          <a:p>
            <a:pPr>
              <a:defRPr/>
            </a:pPr>
            <a:fld id="{E8B357C7-C57A-4EAF-8BE1-BF761628A967}" type="slidenum">
              <a:rPr lang="en-AU" smtClean="0">
                <a:latin typeface="Arial" pitchFamily="34" charset="0"/>
              </a:rPr>
              <a:pPr>
                <a:defRPr/>
              </a:pPr>
              <a:t>135</a:t>
            </a:fld>
            <a:endParaRPr lang="en-AU">
              <a:latin typeface="Arial" pitchFamily="34" charset="0"/>
            </a:endParaRPr>
          </a:p>
        </p:txBody>
      </p:sp>
    </p:spTree>
    <p:extLst>
      <p:ext uri="{BB962C8B-B14F-4D97-AF65-F5344CB8AC3E}">
        <p14:creationId xmlns:p14="http://schemas.microsoft.com/office/powerpoint/2010/main" val="293226913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a:ln/>
        </p:spPr>
      </p:sp>
      <p:sp>
        <p:nvSpPr>
          <p:cNvPr id="101379" name="Notes Placeholder 2"/>
          <p:cNvSpPr>
            <a:spLocks noGrp="1"/>
          </p:cNvSpPr>
          <p:nvPr>
            <p:ph type="body" idx="1"/>
          </p:nvPr>
        </p:nvSpPr>
        <p:spPr>
          <a:noFill/>
          <a:ln/>
        </p:spPr>
        <p:txBody>
          <a:bodyPr/>
          <a:lstStyle/>
          <a:p>
            <a:r>
              <a:rPr lang="en-US">
                <a:latin typeface="Arial" pitchFamily="34" charset="0"/>
                <a:ea typeface="ＭＳ Ｐゴシック" pitchFamily="34" charset="-128"/>
              </a:rPr>
              <a:t> </a:t>
            </a:r>
          </a:p>
        </p:txBody>
      </p:sp>
      <p:sp>
        <p:nvSpPr>
          <p:cNvPr id="88068" name="Slide Number Placeholder 3"/>
          <p:cNvSpPr>
            <a:spLocks noGrp="1"/>
          </p:cNvSpPr>
          <p:nvPr>
            <p:ph type="sldNum" sz="quarter" idx="5"/>
          </p:nvPr>
        </p:nvSpPr>
        <p:spPr/>
        <p:txBody>
          <a:bodyPr/>
          <a:lstStyle/>
          <a:p>
            <a:pPr>
              <a:defRPr/>
            </a:pPr>
            <a:fld id="{E4CDAE7E-B4B5-4159-B354-DF8881789915}" type="slidenum">
              <a:rPr lang="en-AU" smtClean="0">
                <a:latin typeface="Arial" pitchFamily="34" charset="0"/>
              </a:rPr>
              <a:pPr>
                <a:defRPr/>
              </a:pPr>
              <a:t>137</a:t>
            </a:fld>
            <a:endParaRPr lang="en-AU">
              <a:latin typeface="Arial" pitchFamily="34" charset="0"/>
            </a:endParaRPr>
          </a:p>
        </p:txBody>
      </p:sp>
    </p:spTree>
    <p:extLst>
      <p:ext uri="{BB962C8B-B14F-4D97-AF65-F5344CB8AC3E}">
        <p14:creationId xmlns:p14="http://schemas.microsoft.com/office/powerpoint/2010/main" val="2401192424"/>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1031"/>
          <p:cNvSpPr>
            <a:spLocks noGrp="1" noChangeArrowheads="1"/>
          </p:cNvSpPr>
          <p:nvPr>
            <p:ph type="sldNum" sz="quarter" idx="5"/>
          </p:nvPr>
        </p:nvSpPr>
        <p:spPr/>
        <p:txBody>
          <a:bodyPr/>
          <a:lstStyle/>
          <a:p>
            <a:pPr>
              <a:defRPr/>
            </a:pPr>
            <a:fld id="{3CDD19B2-1FC1-42DA-8613-B6F4501E5B8E}" type="slidenum">
              <a:rPr lang="en-AU" smtClean="0">
                <a:latin typeface="Arial" pitchFamily="34" charset="0"/>
              </a:rPr>
              <a:pPr>
                <a:defRPr/>
              </a:pPr>
              <a:t>138</a:t>
            </a:fld>
            <a:endParaRPr lang="en-AU">
              <a:latin typeface="Arial" pitchFamily="34" charset="0"/>
            </a:endParaRPr>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p:spPr>
        <p:txBody>
          <a:bodyPr/>
          <a:lstStyle/>
          <a:p>
            <a:endParaRPr lang="en-US">
              <a:solidFill>
                <a:srgbClr val="0000FF"/>
              </a:solidFill>
              <a:latin typeface="Arial" pitchFamily="34" charset="0"/>
              <a:ea typeface="ＭＳ Ｐゴシック" pitchFamily="34" charset="-128"/>
              <a:cs typeface="Arial" pitchFamily="34" charset="0"/>
            </a:endParaRPr>
          </a:p>
        </p:txBody>
      </p:sp>
    </p:spTree>
    <p:extLst>
      <p:ext uri="{BB962C8B-B14F-4D97-AF65-F5344CB8AC3E}">
        <p14:creationId xmlns:p14="http://schemas.microsoft.com/office/powerpoint/2010/main" val="451725896"/>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lide Image Placeholder 1"/>
          <p:cNvSpPr>
            <a:spLocks noGrp="1" noRot="1" noChangeAspect="1" noTextEdit="1"/>
          </p:cNvSpPr>
          <p:nvPr>
            <p:ph type="sldImg"/>
          </p:nvPr>
        </p:nvSpPr>
        <p:spPr>
          <a:ln/>
        </p:spPr>
      </p:sp>
      <p:sp>
        <p:nvSpPr>
          <p:cNvPr id="103427" name="Notes Placeholder 2"/>
          <p:cNvSpPr>
            <a:spLocks noGrp="1"/>
          </p:cNvSpPr>
          <p:nvPr>
            <p:ph type="body" idx="1"/>
          </p:nvPr>
        </p:nvSpPr>
        <p:spPr>
          <a:noFill/>
          <a:ln/>
        </p:spPr>
        <p:txBody>
          <a:bodyPr/>
          <a:lstStyle/>
          <a:p>
            <a:endParaRPr lang="en-US">
              <a:latin typeface="Arial" pitchFamily="34" charset="0"/>
              <a:ea typeface="ＭＳ Ｐゴシック" pitchFamily="34" charset="-128"/>
            </a:endParaRPr>
          </a:p>
        </p:txBody>
      </p:sp>
      <p:sp>
        <p:nvSpPr>
          <p:cNvPr id="90116" name="Slide Number Placeholder 3"/>
          <p:cNvSpPr>
            <a:spLocks noGrp="1"/>
          </p:cNvSpPr>
          <p:nvPr>
            <p:ph type="sldNum" sz="quarter" idx="5"/>
          </p:nvPr>
        </p:nvSpPr>
        <p:spPr/>
        <p:txBody>
          <a:bodyPr/>
          <a:lstStyle/>
          <a:p>
            <a:pPr>
              <a:defRPr/>
            </a:pPr>
            <a:fld id="{601BC388-835C-45EC-A552-6B5AD686651C}" type="slidenum">
              <a:rPr lang="en-AU" smtClean="0">
                <a:latin typeface="Arial" pitchFamily="34" charset="0"/>
              </a:rPr>
              <a:pPr>
                <a:defRPr/>
              </a:pPr>
              <a:t>139</a:t>
            </a:fld>
            <a:endParaRPr lang="en-AU">
              <a:latin typeface="Arial" pitchFamily="34" charset="0"/>
            </a:endParaRPr>
          </a:p>
        </p:txBody>
      </p:sp>
    </p:spTree>
    <p:extLst>
      <p:ext uri="{BB962C8B-B14F-4D97-AF65-F5344CB8AC3E}">
        <p14:creationId xmlns:p14="http://schemas.microsoft.com/office/powerpoint/2010/main" val="4265100509"/>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a:bodyPr>
          <a:lstStyle/>
          <a:p>
            <a:pPr>
              <a:defRPr/>
            </a:pPr>
            <a:r>
              <a:rPr lang="en-US" dirty="0"/>
              <a:t> </a:t>
            </a:r>
          </a:p>
        </p:txBody>
      </p:sp>
      <p:sp>
        <p:nvSpPr>
          <p:cNvPr id="91140" name="Slide Number Placeholder 3"/>
          <p:cNvSpPr>
            <a:spLocks noGrp="1"/>
          </p:cNvSpPr>
          <p:nvPr>
            <p:ph type="sldNum" sz="quarter" idx="5"/>
          </p:nvPr>
        </p:nvSpPr>
        <p:spPr/>
        <p:txBody>
          <a:bodyPr/>
          <a:lstStyle/>
          <a:p>
            <a:pPr>
              <a:defRPr/>
            </a:pPr>
            <a:fld id="{BB883EF5-DE2C-43A7-A414-F47403791ACB}" type="slidenum">
              <a:rPr lang="en-AU" smtClean="0">
                <a:latin typeface="Arial" pitchFamily="34" charset="0"/>
              </a:rPr>
              <a:pPr>
                <a:defRPr/>
              </a:pPr>
              <a:t>140</a:t>
            </a:fld>
            <a:endParaRPr lang="en-AU">
              <a:latin typeface="Arial" pitchFamily="34" charset="0"/>
            </a:endParaRPr>
          </a:p>
        </p:txBody>
      </p:sp>
    </p:spTree>
    <p:extLst>
      <p:ext uri="{BB962C8B-B14F-4D97-AF65-F5344CB8AC3E}">
        <p14:creationId xmlns:p14="http://schemas.microsoft.com/office/powerpoint/2010/main" val="2255255642"/>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a:bodyPr>
          <a:lstStyle/>
          <a:p>
            <a:pPr>
              <a:defRPr/>
            </a:pPr>
            <a:r>
              <a:rPr lang="en-US" dirty="0"/>
              <a:t> </a:t>
            </a:r>
          </a:p>
        </p:txBody>
      </p:sp>
      <p:sp>
        <p:nvSpPr>
          <p:cNvPr id="92164" name="Slide Number Placeholder 3"/>
          <p:cNvSpPr>
            <a:spLocks noGrp="1"/>
          </p:cNvSpPr>
          <p:nvPr>
            <p:ph type="sldNum" sz="quarter" idx="5"/>
          </p:nvPr>
        </p:nvSpPr>
        <p:spPr/>
        <p:txBody>
          <a:bodyPr/>
          <a:lstStyle/>
          <a:p>
            <a:pPr>
              <a:defRPr/>
            </a:pPr>
            <a:fld id="{D0C485E8-7B8B-4A1F-B493-42F727AA5A35}" type="slidenum">
              <a:rPr lang="en-AU" smtClean="0">
                <a:latin typeface="Arial" pitchFamily="34" charset="0"/>
              </a:rPr>
              <a:pPr>
                <a:defRPr/>
              </a:pPr>
              <a:t>141</a:t>
            </a:fld>
            <a:endParaRPr lang="en-AU">
              <a:latin typeface="Arial" pitchFamily="34" charset="0"/>
            </a:endParaRPr>
          </a:p>
        </p:txBody>
      </p:sp>
    </p:spTree>
    <p:extLst>
      <p:ext uri="{BB962C8B-B14F-4D97-AF65-F5344CB8AC3E}">
        <p14:creationId xmlns:p14="http://schemas.microsoft.com/office/powerpoint/2010/main" val="1681645730"/>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Image Placeholder 1"/>
          <p:cNvSpPr>
            <a:spLocks noGrp="1" noRot="1" noChangeAspect="1" noTextEdit="1"/>
          </p:cNvSpPr>
          <p:nvPr>
            <p:ph type="sldImg"/>
          </p:nvPr>
        </p:nvSpPr>
        <p:spPr>
          <a:ln/>
        </p:spPr>
      </p:sp>
      <p:sp>
        <p:nvSpPr>
          <p:cNvPr id="106499" name="Notes Placeholder 2"/>
          <p:cNvSpPr>
            <a:spLocks noGrp="1"/>
          </p:cNvSpPr>
          <p:nvPr>
            <p:ph type="body" idx="1"/>
          </p:nvPr>
        </p:nvSpPr>
        <p:spPr>
          <a:noFill/>
          <a:ln/>
        </p:spPr>
        <p:txBody>
          <a:bodyPr/>
          <a:lstStyle/>
          <a:p>
            <a:r>
              <a:rPr lang="en-US">
                <a:latin typeface="Arial" pitchFamily="34" charset="0"/>
                <a:ea typeface="ＭＳ Ｐゴシック" pitchFamily="34" charset="-128"/>
              </a:rPr>
              <a:t> </a:t>
            </a:r>
          </a:p>
        </p:txBody>
      </p:sp>
      <p:sp>
        <p:nvSpPr>
          <p:cNvPr id="93188" name="Slide Number Placeholder 3"/>
          <p:cNvSpPr>
            <a:spLocks noGrp="1"/>
          </p:cNvSpPr>
          <p:nvPr>
            <p:ph type="sldNum" sz="quarter" idx="5"/>
          </p:nvPr>
        </p:nvSpPr>
        <p:spPr/>
        <p:txBody>
          <a:bodyPr/>
          <a:lstStyle/>
          <a:p>
            <a:pPr>
              <a:defRPr/>
            </a:pPr>
            <a:fld id="{345C7764-8581-4B0B-A69B-D26A3E1E0F09}" type="slidenum">
              <a:rPr lang="en-AU" smtClean="0">
                <a:latin typeface="Arial" pitchFamily="34" charset="0"/>
              </a:rPr>
              <a:pPr>
                <a:defRPr/>
              </a:pPr>
              <a:t>142</a:t>
            </a:fld>
            <a:endParaRPr lang="en-AU">
              <a:latin typeface="Arial" pitchFamily="34" charset="0"/>
            </a:endParaRPr>
          </a:p>
        </p:txBody>
      </p:sp>
    </p:spTree>
    <p:extLst>
      <p:ext uri="{BB962C8B-B14F-4D97-AF65-F5344CB8AC3E}">
        <p14:creationId xmlns:p14="http://schemas.microsoft.com/office/powerpoint/2010/main" val="2832610876"/>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a:bodyPr>
          <a:lstStyle/>
          <a:p>
            <a:pPr>
              <a:defRPr/>
            </a:pPr>
            <a:endParaRPr lang="en-US" dirty="0"/>
          </a:p>
        </p:txBody>
      </p:sp>
      <p:sp>
        <p:nvSpPr>
          <p:cNvPr id="94212" name="Slide Number Placeholder 3"/>
          <p:cNvSpPr>
            <a:spLocks noGrp="1"/>
          </p:cNvSpPr>
          <p:nvPr>
            <p:ph type="sldNum" sz="quarter" idx="5"/>
          </p:nvPr>
        </p:nvSpPr>
        <p:spPr/>
        <p:txBody>
          <a:bodyPr/>
          <a:lstStyle/>
          <a:p>
            <a:pPr>
              <a:defRPr/>
            </a:pPr>
            <a:fld id="{6848490A-F288-4FF5-A533-C03E366B8AF4}" type="slidenum">
              <a:rPr lang="en-AU" smtClean="0">
                <a:latin typeface="Arial" pitchFamily="34" charset="0"/>
              </a:rPr>
              <a:pPr>
                <a:defRPr/>
              </a:pPr>
              <a:t>143</a:t>
            </a:fld>
            <a:endParaRPr lang="en-AU">
              <a:latin typeface="Arial" pitchFamily="34" charset="0"/>
            </a:endParaRPr>
          </a:p>
        </p:txBody>
      </p:sp>
    </p:spTree>
    <p:extLst>
      <p:ext uri="{BB962C8B-B14F-4D97-AF65-F5344CB8AC3E}">
        <p14:creationId xmlns:p14="http://schemas.microsoft.com/office/powerpoint/2010/main" val="3209279843"/>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a:ln/>
        </p:spPr>
      </p:sp>
      <p:sp>
        <p:nvSpPr>
          <p:cNvPr id="727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Arial" pitchFamily="34" charset="0"/>
            </a:endParaRPr>
          </a:p>
        </p:txBody>
      </p:sp>
      <p:sp>
        <p:nvSpPr>
          <p:cNvPr id="727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defRPr>
            </a:lvl1pPr>
            <a:lvl2pPr marL="730250" indent="-280988">
              <a:defRPr sz="1200">
                <a:solidFill>
                  <a:schemeClr val="tx1"/>
                </a:solidFill>
                <a:latin typeface="Arial" pitchFamily="34" charset="0"/>
              </a:defRPr>
            </a:lvl2pPr>
            <a:lvl3pPr marL="1123950" indent="-223838">
              <a:defRPr sz="1200">
                <a:solidFill>
                  <a:schemeClr val="tx1"/>
                </a:solidFill>
                <a:latin typeface="Arial" pitchFamily="34" charset="0"/>
              </a:defRPr>
            </a:lvl3pPr>
            <a:lvl4pPr marL="1574800" indent="-223838">
              <a:defRPr sz="1200">
                <a:solidFill>
                  <a:schemeClr val="tx1"/>
                </a:solidFill>
                <a:latin typeface="Arial" pitchFamily="34" charset="0"/>
              </a:defRPr>
            </a:lvl4pPr>
            <a:lvl5pPr marL="2024063" indent="-223838">
              <a:defRPr sz="1200">
                <a:solidFill>
                  <a:schemeClr val="tx1"/>
                </a:solidFill>
                <a:latin typeface="Arial" pitchFamily="34" charset="0"/>
              </a:defRPr>
            </a:lvl5pPr>
            <a:lvl6pPr marL="2481263" indent="-223838" eaLnBrk="0" fontAlgn="base" hangingPunct="0">
              <a:spcBef>
                <a:spcPct val="30000"/>
              </a:spcBef>
              <a:spcAft>
                <a:spcPct val="0"/>
              </a:spcAft>
              <a:defRPr sz="1200">
                <a:solidFill>
                  <a:schemeClr val="tx1"/>
                </a:solidFill>
                <a:latin typeface="Arial" pitchFamily="34" charset="0"/>
              </a:defRPr>
            </a:lvl6pPr>
            <a:lvl7pPr marL="2938463" indent="-223838" eaLnBrk="0" fontAlgn="base" hangingPunct="0">
              <a:spcBef>
                <a:spcPct val="30000"/>
              </a:spcBef>
              <a:spcAft>
                <a:spcPct val="0"/>
              </a:spcAft>
              <a:defRPr sz="1200">
                <a:solidFill>
                  <a:schemeClr val="tx1"/>
                </a:solidFill>
                <a:latin typeface="Arial" pitchFamily="34" charset="0"/>
              </a:defRPr>
            </a:lvl7pPr>
            <a:lvl8pPr marL="3395663" indent="-223838" eaLnBrk="0" fontAlgn="base" hangingPunct="0">
              <a:spcBef>
                <a:spcPct val="30000"/>
              </a:spcBef>
              <a:spcAft>
                <a:spcPct val="0"/>
              </a:spcAft>
              <a:defRPr sz="1200">
                <a:solidFill>
                  <a:schemeClr val="tx1"/>
                </a:solidFill>
                <a:latin typeface="Arial" pitchFamily="34" charset="0"/>
              </a:defRPr>
            </a:lvl8pPr>
            <a:lvl9pPr marL="3852863" indent="-223838" eaLnBrk="0" fontAlgn="base" hangingPunct="0">
              <a:spcBef>
                <a:spcPct val="30000"/>
              </a:spcBef>
              <a:spcAft>
                <a:spcPct val="0"/>
              </a:spcAft>
              <a:defRPr sz="1200">
                <a:solidFill>
                  <a:schemeClr val="tx1"/>
                </a:solidFill>
                <a:latin typeface="Arial" pitchFamily="34" charset="0"/>
              </a:defRPr>
            </a:lvl9pPr>
          </a:lstStyle>
          <a:p>
            <a:fld id="{2EAD10F6-E8AD-4F96-8383-F7AC70FD6733}" type="slidenum">
              <a:rPr lang="en-AU" altLang="tr-TR" sz="1300"/>
              <a:pPr/>
              <a:t>144</a:t>
            </a:fld>
            <a:endParaRPr lang="en-AU" altLang="tr-TR" sz="1300"/>
          </a:p>
        </p:txBody>
      </p:sp>
    </p:spTree>
    <p:extLst>
      <p:ext uri="{BB962C8B-B14F-4D97-AF65-F5344CB8AC3E}">
        <p14:creationId xmlns:p14="http://schemas.microsoft.com/office/powerpoint/2010/main" val="739079336"/>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a:ln/>
        </p:spPr>
      </p:sp>
      <p:sp>
        <p:nvSpPr>
          <p:cNvPr id="747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Arial" pitchFamily="34" charset="0"/>
            </a:endParaRPr>
          </a:p>
        </p:txBody>
      </p:sp>
      <p:sp>
        <p:nvSpPr>
          <p:cNvPr id="747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defRPr>
            </a:lvl1pPr>
            <a:lvl2pPr marL="730250" indent="-280988">
              <a:defRPr sz="1200">
                <a:solidFill>
                  <a:schemeClr val="tx1"/>
                </a:solidFill>
                <a:latin typeface="Arial" pitchFamily="34" charset="0"/>
              </a:defRPr>
            </a:lvl2pPr>
            <a:lvl3pPr marL="1123950" indent="-223838">
              <a:defRPr sz="1200">
                <a:solidFill>
                  <a:schemeClr val="tx1"/>
                </a:solidFill>
                <a:latin typeface="Arial" pitchFamily="34" charset="0"/>
              </a:defRPr>
            </a:lvl3pPr>
            <a:lvl4pPr marL="1574800" indent="-223838">
              <a:defRPr sz="1200">
                <a:solidFill>
                  <a:schemeClr val="tx1"/>
                </a:solidFill>
                <a:latin typeface="Arial" pitchFamily="34" charset="0"/>
              </a:defRPr>
            </a:lvl4pPr>
            <a:lvl5pPr marL="2024063" indent="-223838">
              <a:defRPr sz="1200">
                <a:solidFill>
                  <a:schemeClr val="tx1"/>
                </a:solidFill>
                <a:latin typeface="Arial" pitchFamily="34" charset="0"/>
              </a:defRPr>
            </a:lvl5pPr>
            <a:lvl6pPr marL="2481263" indent="-223838" eaLnBrk="0" fontAlgn="base" hangingPunct="0">
              <a:spcBef>
                <a:spcPct val="30000"/>
              </a:spcBef>
              <a:spcAft>
                <a:spcPct val="0"/>
              </a:spcAft>
              <a:defRPr sz="1200">
                <a:solidFill>
                  <a:schemeClr val="tx1"/>
                </a:solidFill>
                <a:latin typeface="Arial" pitchFamily="34" charset="0"/>
              </a:defRPr>
            </a:lvl6pPr>
            <a:lvl7pPr marL="2938463" indent="-223838" eaLnBrk="0" fontAlgn="base" hangingPunct="0">
              <a:spcBef>
                <a:spcPct val="30000"/>
              </a:spcBef>
              <a:spcAft>
                <a:spcPct val="0"/>
              </a:spcAft>
              <a:defRPr sz="1200">
                <a:solidFill>
                  <a:schemeClr val="tx1"/>
                </a:solidFill>
                <a:latin typeface="Arial" pitchFamily="34" charset="0"/>
              </a:defRPr>
            </a:lvl7pPr>
            <a:lvl8pPr marL="3395663" indent="-223838" eaLnBrk="0" fontAlgn="base" hangingPunct="0">
              <a:spcBef>
                <a:spcPct val="30000"/>
              </a:spcBef>
              <a:spcAft>
                <a:spcPct val="0"/>
              </a:spcAft>
              <a:defRPr sz="1200">
                <a:solidFill>
                  <a:schemeClr val="tx1"/>
                </a:solidFill>
                <a:latin typeface="Arial" pitchFamily="34" charset="0"/>
              </a:defRPr>
            </a:lvl8pPr>
            <a:lvl9pPr marL="3852863" indent="-223838" eaLnBrk="0" fontAlgn="base" hangingPunct="0">
              <a:spcBef>
                <a:spcPct val="30000"/>
              </a:spcBef>
              <a:spcAft>
                <a:spcPct val="0"/>
              </a:spcAft>
              <a:defRPr sz="1200">
                <a:solidFill>
                  <a:schemeClr val="tx1"/>
                </a:solidFill>
                <a:latin typeface="Arial" pitchFamily="34" charset="0"/>
              </a:defRPr>
            </a:lvl9pPr>
          </a:lstStyle>
          <a:p>
            <a:fld id="{7BD2E7CC-0F88-4509-867A-2529A043E26C}" type="slidenum">
              <a:rPr lang="en-AU" altLang="tr-TR" sz="1300"/>
              <a:pPr/>
              <a:t>145</a:t>
            </a:fld>
            <a:endParaRPr lang="en-AU" altLang="tr-TR" sz="1300"/>
          </a:p>
        </p:txBody>
      </p:sp>
    </p:spTree>
    <p:extLst>
      <p:ext uri="{BB962C8B-B14F-4D97-AF65-F5344CB8AC3E}">
        <p14:creationId xmlns:p14="http://schemas.microsoft.com/office/powerpoint/2010/main" val="3770635256"/>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noTextEdit="1"/>
          </p:cNvSpPr>
          <p:nvPr>
            <p:ph type="sldImg"/>
          </p:nvPr>
        </p:nvSpPr>
        <p:spPr>
          <a:ln/>
        </p:spPr>
      </p:sp>
      <p:sp>
        <p:nvSpPr>
          <p:cNvPr id="768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Arial" pitchFamily="34" charset="0"/>
            </a:endParaRPr>
          </a:p>
        </p:txBody>
      </p:sp>
      <p:sp>
        <p:nvSpPr>
          <p:cNvPr id="768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defRPr>
            </a:lvl1pPr>
            <a:lvl2pPr marL="730250" indent="-280988">
              <a:defRPr sz="1200">
                <a:solidFill>
                  <a:schemeClr val="tx1"/>
                </a:solidFill>
                <a:latin typeface="Arial" pitchFamily="34" charset="0"/>
              </a:defRPr>
            </a:lvl2pPr>
            <a:lvl3pPr marL="1123950" indent="-223838">
              <a:defRPr sz="1200">
                <a:solidFill>
                  <a:schemeClr val="tx1"/>
                </a:solidFill>
                <a:latin typeface="Arial" pitchFamily="34" charset="0"/>
              </a:defRPr>
            </a:lvl3pPr>
            <a:lvl4pPr marL="1574800" indent="-223838">
              <a:defRPr sz="1200">
                <a:solidFill>
                  <a:schemeClr val="tx1"/>
                </a:solidFill>
                <a:latin typeface="Arial" pitchFamily="34" charset="0"/>
              </a:defRPr>
            </a:lvl4pPr>
            <a:lvl5pPr marL="2024063" indent="-223838">
              <a:defRPr sz="1200">
                <a:solidFill>
                  <a:schemeClr val="tx1"/>
                </a:solidFill>
                <a:latin typeface="Arial" pitchFamily="34" charset="0"/>
              </a:defRPr>
            </a:lvl5pPr>
            <a:lvl6pPr marL="2481263" indent="-223838" eaLnBrk="0" fontAlgn="base" hangingPunct="0">
              <a:spcBef>
                <a:spcPct val="30000"/>
              </a:spcBef>
              <a:spcAft>
                <a:spcPct val="0"/>
              </a:spcAft>
              <a:defRPr sz="1200">
                <a:solidFill>
                  <a:schemeClr val="tx1"/>
                </a:solidFill>
                <a:latin typeface="Arial" pitchFamily="34" charset="0"/>
              </a:defRPr>
            </a:lvl6pPr>
            <a:lvl7pPr marL="2938463" indent="-223838" eaLnBrk="0" fontAlgn="base" hangingPunct="0">
              <a:spcBef>
                <a:spcPct val="30000"/>
              </a:spcBef>
              <a:spcAft>
                <a:spcPct val="0"/>
              </a:spcAft>
              <a:defRPr sz="1200">
                <a:solidFill>
                  <a:schemeClr val="tx1"/>
                </a:solidFill>
                <a:latin typeface="Arial" pitchFamily="34" charset="0"/>
              </a:defRPr>
            </a:lvl7pPr>
            <a:lvl8pPr marL="3395663" indent="-223838" eaLnBrk="0" fontAlgn="base" hangingPunct="0">
              <a:spcBef>
                <a:spcPct val="30000"/>
              </a:spcBef>
              <a:spcAft>
                <a:spcPct val="0"/>
              </a:spcAft>
              <a:defRPr sz="1200">
                <a:solidFill>
                  <a:schemeClr val="tx1"/>
                </a:solidFill>
                <a:latin typeface="Arial" pitchFamily="34" charset="0"/>
              </a:defRPr>
            </a:lvl8pPr>
            <a:lvl9pPr marL="3852863" indent="-223838" eaLnBrk="0" fontAlgn="base" hangingPunct="0">
              <a:spcBef>
                <a:spcPct val="30000"/>
              </a:spcBef>
              <a:spcAft>
                <a:spcPct val="0"/>
              </a:spcAft>
              <a:defRPr sz="1200">
                <a:solidFill>
                  <a:schemeClr val="tx1"/>
                </a:solidFill>
                <a:latin typeface="Arial" pitchFamily="34" charset="0"/>
              </a:defRPr>
            </a:lvl9pPr>
          </a:lstStyle>
          <a:p>
            <a:fld id="{39A4D996-C57C-43BF-8C2B-CEAF1B9A2C11}" type="slidenum">
              <a:rPr lang="en-AU" altLang="tr-TR" sz="1300"/>
              <a:pPr/>
              <a:t>146</a:t>
            </a:fld>
            <a:endParaRPr lang="en-AU" altLang="tr-TR" sz="1300"/>
          </a:p>
        </p:txBody>
      </p:sp>
    </p:spTree>
    <p:extLst>
      <p:ext uri="{BB962C8B-B14F-4D97-AF65-F5344CB8AC3E}">
        <p14:creationId xmlns:p14="http://schemas.microsoft.com/office/powerpoint/2010/main" val="3497095893"/>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a:ln/>
        </p:spPr>
      </p:sp>
      <p:sp>
        <p:nvSpPr>
          <p:cNvPr id="788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Arial" pitchFamily="34" charset="0"/>
            </a:endParaRPr>
          </a:p>
        </p:txBody>
      </p:sp>
      <p:sp>
        <p:nvSpPr>
          <p:cNvPr id="788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defRPr>
            </a:lvl1pPr>
            <a:lvl2pPr marL="730250" indent="-280988">
              <a:defRPr sz="1200">
                <a:solidFill>
                  <a:schemeClr val="tx1"/>
                </a:solidFill>
                <a:latin typeface="Arial" pitchFamily="34" charset="0"/>
              </a:defRPr>
            </a:lvl2pPr>
            <a:lvl3pPr marL="1123950" indent="-223838">
              <a:defRPr sz="1200">
                <a:solidFill>
                  <a:schemeClr val="tx1"/>
                </a:solidFill>
                <a:latin typeface="Arial" pitchFamily="34" charset="0"/>
              </a:defRPr>
            </a:lvl3pPr>
            <a:lvl4pPr marL="1574800" indent="-223838">
              <a:defRPr sz="1200">
                <a:solidFill>
                  <a:schemeClr val="tx1"/>
                </a:solidFill>
                <a:latin typeface="Arial" pitchFamily="34" charset="0"/>
              </a:defRPr>
            </a:lvl4pPr>
            <a:lvl5pPr marL="2024063" indent="-223838">
              <a:defRPr sz="1200">
                <a:solidFill>
                  <a:schemeClr val="tx1"/>
                </a:solidFill>
                <a:latin typeface="Arial" pitchFamily="34" charset="0"/>
              </a:defRPr>
            </a:lvl5pPr>
            <a:lvl6pPr marL="2481263" indent="-223838" eaLnBrk="0" fontAlgn="base" hangingPunct="0">
              <a:spcBef>
                <a:spcPct val="30000"/>
              </a:spcBef>
              <a:spcAft>
                <a:spcPct val="0"/>
              </a:spcAft>
              <a:defRPr sz="1200">
                <a:solidFill>
                  <a:schemeClr val="tx1"/>
                </a:solidFill>
                <a:latin typeface="Arial" pitchFamily="34" charset="0"/>
              </a:defRPr>
            </a:lvl6pPr>
            <a:lvl7pPr marL="2938463" indent="-223838" eaLnBrk="0" fontAlgn="base" hangingPunct="0">
              <a:spcBef>
                <a:spcPct val="30000"/>
              </a:spcBef>
              <a:spcAft>
                <a:spcPct val="0"/>
              </a:spcAft>
              <a:defRPr sz="1200">
                <a:solidFill>
                  <a:schemeClr val="tx1"/>
                </a:solidFill>
                <a:latin typeface="Arial" pitchFamily="34" charset="0"/>
              </a:defRPr>
            </a:lvl7pPr>
            <a:lvl8pPr marL="3395663" indent="-223838" eaLnBrk="0" fontAlgn="base" hangingPunct="0">
              <a:spcBef>
                <a:spcPct val="30000"/>
              </a:spcBef>
              <a:spcAft>
                <a:spcPct val="0"/>
              </a:spcAft>
              <a:defRPr sz="1200">
                <a:solidFill>
                  <a:schemeClr val="tx1"/>
                </a:solidFill>
                <a:latin typeface="Arial" pitchFamily="34" charset="0"/>
              </a:defRPr>
            </a:lvl8pPr>
            <a:lvl9pPr marL="3852863" indent="-223838" eaLnBrk="0" fontAlgn="base" hangingPunct="0">
              <a:spcBef>
                <a:spcPct val="30000"/>
              </a:spcBef>
              <a:spcAft>
                <a:spcPct val="0"/>
              </a:spcAft>
              <a:defRPr sz="1200">
                <a:solidFill>
                  <a:schemeClr val="tx1"/>
                </a:solidFill>
                <a:latin typeface="Arial" pitchFamily="34" charset="0"/>
              </a:defRPr>
            </a:lvl9pPr>
          </a:lstStyle>
          <a:p>
            <a:fld id="{12ED5260-E286-45CE-B9F4-5BECAF38FBAF}" type="slidenum">
              <a:rPr lang="en-AU" altLang="tr-TR" sz="1300"/>
              <a:pPr/>
              <a:t>147</a:t>
            </a:fld>
            <a:endParaRPr lang="en-AU" altLang="tr-TR" sz="1300"/>
          </a:p>
        </p:txBody>
      </p:sp>
    </p:spTree>
    <p:extLst>
      <p:ext uri="{BB962C8B-B14F-4D97-AF65-F5344CB8AC3E}">
        <p14:creationId xmlns:p14="http://schemas.microsoft.com/office/powerpoint/2010/main" val="456778605"/>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1031"/>
          <p:cNvSpPr>
            <a:spLocks noGrp="1" noChangeArrowheads="1"/>
          </p:cNvSpPr>
          <p:nvPr>
            <p:ph type="sldNum" sz="quarter" idx="5"/>
          </p:nvPr>
        </p:nvSpPr>
        <p:spPr/>
        <p:txBody>
          <a:bodyPr/>
          <a:lstStyle/>
          <a:p>
            <a:pPr>
              <a:defRPr/>
            </a:pPr>
            <a:fld id="{CF2A69EB-6DB8-49E3-B5E3-86821A68B4E2}" type="slidenum">
              <a:rPr lang="en-AU" smtClean="0">
                <a:latin typeface="Arial" pitchFamily="34" charset="0"/>
              </a:rPr>
              <a:pPr>
                <a:defRPr/>
              </a:pPr>
              <a:t>150</a:t>
            </a:fld>
            <a:endParaRPr lang="en-AU">
              <a:latin typeface="Arial" pitchFamily="34" charset="0"/>
            </a:endParaRPr>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p:spPr>
        <p:txBody>
          <a:bodyPr/>
          <a:lstStyle/>
          <a:p>
            <a:r>
              <a:rPr lang="en-US">
                <a:latin typeface="Arial" pitchFamily="34" charset="0"/>
                <a:ea typeface="ＭＳ Ｐゴシック" pitchFamily="34" charset="-128"/>
              </a:rPr>
              <a:t> </a:t>
            </a:r>
          </a:p>
        </p:txBody>
      </p:sp>
    </p:spTree>
    <p:extLst>
      <p:ext uri="{BB962C8B-B14F-4D97-AF65-F5344CB8AC3E}">
        <p14:creationId xmlns:p14="http://schemas.microsoft.com/office/powerpoint/2010/main" val="1830925450"/>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a:ln/>
        </p:spPr>
      </p:sp>
      <p:sp>
        <p:nvSpPr>
          <p:cNvPr id="808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Arial" pitchFamily="34" charset="0"/>
            </a:endParaRPr>
          </a:p>
        </p:txBody>
      </p:sp>
      <p:sp>
        <p:nvSpPr>
          <p:cNvPr id="809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defRPr>
            </a:lvl1pPr>
            <a:lvl2pPr marL="730250" indent="-280988">
              <a:defRPr sz="1200">
                <a:solidFill>
                  <a:schemeClr val="tx1"/>
                </a:solidFill>
                <a:latin typeface="Arial" pitchFamily="34" charset="0"/>
              </a:defRPr>
            </a:lvl2pPr>
            <a:lvl3pPr marL="1123950" indent="-223838">
              <a:defRPr sz="1200">
                <a:solidFill>
                  <a:schemeClr val="tx1"/>
                </a:solidFill>
                <a:latin typeface="Arial" pitchFamily="34" charset="0"/>
              </a:defRPr>
            </a:lvl3pPr>
            <a:lvl4pPr marL="1574800" indent="-223838">
              <a:defRPr sz="1200">
                <a:solidFill>
                  <a:schemeClr val="tx1"/>
                </a:solidFill>
                <a:latin typeface="Arial" pitchFamily="34" charset="0"/>
              </a:defRPr>
            </a:lvl4pPr>
            <a:lvl5pPr marL="2024063" indent="-223838">
              <a:defRPr sz="1200">
                <a:solidFill>
                  <a:schemeClr val="tx1"/>
                </a:solidFill>
                <a:latin typeface="Arial" pitchFamily="34" charset="0"/>
              </a:defRPr>
            </a:lvl5pPr>
            <a:lvl6pPr marL="2481263" indent="-223838" eaLnBrk="0" fontAlgn="base" hangingPunct="0">
              <a:spcBef>
                <a:spcPct val="30000"/>
              </a:spcBef>
              <a:spcAft>
                <a:spcPct val="0"/>
              </a:spcAft>
              <a:defRPr sz="1200">
                <a:solidFill>
                  <a:schemeClr val="tx1"/>
                </a:solidFill>
                <a:latin typeface="Arial" pitchFamily="34" charset="0"/>
              </a:defRPr>
            </a:lvl6pPr>
            <a:lvl7pPr marL="2938463" indent="-223838" eaLnBrk="0" fontAlgn="base" hangingPunct="0">
              <a:spcBef>
                <a:spcPct val="30000"/>
              </a:spcBef>
              <a:spcAft>
                <a:spcPct val="0"/>
              </a:spcAft>
              <a:defRPr sz="1200">
                <a:solidFill>
                  <a:schemeClr val="tx1"/>
                </a:solidFill>
                <a:latin typeface="Arial" pitchFamily="34" charset="0"/>
              </a:defRPr>
            </a:lvl7pPr>
            <a:lvl8pPr marL="3395663" indent="-223838" eaLnBrk="0" fontAlgn="base" hangingPunct="0">
              <a:spcBef>
                <a:spcPct val="30000"/>
              </a:spcBef>
              <a:spcAft>
                <a:spcPct val="0"/>
              </a:spcAft>
              <a:defRPr sz="1200">
                <a:solidFill>
                  <a:schemeClr val="tx1"/>
                </a:solidFill>
                <a:latin typeface="Arial" pitchFamily="34" charset="0"/>
              </a:defRPr>
            </a:lvl8pPr>
            <a:lvl9pPr marL="3852863" indent="-223838" eaLnBrk="0" fontAlgn="base" hangingPunct="0">
              <a:spcBef>
                <a:spcPct val="30000"/>
              </a:spcBef>
              <a:spcAft>
                <a:spcPct val="0"/>
              </a:spcAft>
              <a:defRPr sz="1200">
                <a:solidFill>
                  <a:schemeClr val="tx1"/>
                </a:solidFill>
                <a:latin typeface="Arial" pitchFamily="34" charset="0"/>
              </a:defRPr>
            </a:lvl9pPr>
          </a:lstStyle>
          <a:p>
            <a:fld id="{1F9A5E84-3875-4BA8-AF16-5A295639E148}" type="slidenum">
              <a:rPr lang="en-AU" altLang="tr-TR" sz="1300"/>
              <a:pPr/>
              <a:t>153</a:t>
            </a:fld>
            <a:endParaRPr lang="en-AU" altLang="tr-TR" sz="1300"/>
          </a:p>
        </p:txBody>
      </p:sp>
    </p:spTree>
    <p:extLst>
      <p:ext uri="{BB962C8B-B14F-4D97-AF65-F5344CB8AC3E}">
        <p14:creationId xmlns:p14="http://schemas.microsoft.com/office/powerpoint/2010/main" val="227406876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0B99D-38FF-8B65-10FA-758B82533EF0}"/>
            </a:ext>
          </a:extLst>
        </p:cNvPr>
        <p:cNvGrpSpPr/>
        <p:nvPr/>
      </p:nvGrpSpPr>
      <p:grpSpPr>
        <a:xfrm>
          <a:off x="0" y="0"/>
          <a:ext cx="0" cy="0"/>
          <a:chOff x="0" y="0"/>
          <a:chExt cx="0" cy="0"/>
        </a:xfrm>
      </p:grpSpPr>
      <p:sp>
        <p:nvSpPr>
          <p:cNvPr id="80898" name="Slide Image Placeholder 1">
            <a:extLst>
              <a:ext uri="{FF2B5EF4-FFF2-40B4-BE49-F238E27FC236}">
                <a16:creationId xmlns:a16="http://schemas.microsoft.com/office/drawing/2014/main" id="{5D95F22D-88E8-AC0C-169A-AC0DFA67B87C}"/>
              </a:ext>
            </a:extLst>
          </p:cNvPr>
          <p:cNvSpPr>
            <a:spLocks noGrp="1" noRot="1" noChangeAspect="1" noTextEdit="1"/>
          </p:cNvSpPr>
          <p:nvPr>
            <p:ph type="sldImg"/>
          </p:nvPr>
        </p:nvSpPr>
        <p:spPr>
          <a:ln/>
        </p:spPr>
      </p:sp>
      <p:sp>
        <p:nvSpPr>
          <p:cNvPr id="80899" name="Notes Placeholder 2">
            <a:extLst>
              <a:ext uri="{FF2B5EF4-FFF2-40B4-BE49-F238E27FC236}">
                <a16:creationId xmlns:a16="http://schemas.microsoft.com/office/drawing/2014/main" id="{F643B874-8D7C-2879-1B4E-82FB908A2E5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Arial" pitchFamily="34" charset="0"/>
            </a:endParaRPr>
          </a:p>
        </p:txBody>
      </p:sp>
      <p:sp>
        <p:nvSpPr>
          <p:cNvPr id="80900" name="Slide Number Placeholder 3">
            <a:extLst>
              <a:ext uri="{FF2B5EF4-FFF2-40B4-BE49-F238E27FC236}">
                <a16:creationId xmlns:a16="http://schemas.microsoft.com/office/drawing/2014/main" id="{216739AA-05A5-4C75-493C-8CEF091212E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defRPr>
            </a:lvl1pPr>
            <a:lvl2pPr marL="730250" indent="-280988">
              <a:defRPr sz="1200">
                <a:solidFill>
                  <a:schemeClr val="tx1"/>
                </a:solidFill>
                <a:latin typeface="Arial" pitchFamily="34" charset="0"/>
              </a:defRPr>
            </a:lvl2pPr>
            <a:lvl3pPr marL="1123950" indent="-223838">
              <a:defRPr sz="1200">
                <a:solidFill>
                  <a:schemeClr val="tx1"/>
                </a:solidFill>
                <a:latin typeface="Arial" pitchFamily="34" charset="0"/>
              </a:defRPr>
            </a:lvl3pPr>
            <a:lvl4pPr marL="1574800" indent="-223838">
              <a:defRPr sz="1200">
                <a:solidFill>
                  <a:schemeClr val="tx1"/>
                </a:solidFill>
                <a:latin typeface="Arial" pitchFamily="34" charset="0"/>
              </a:defRPr>
            </a:lvl4pPr>
            <a:lvl5pPr marL="2024063" indent="-223838">
              <a:defRPr sz="1200">
                <a:solidFill>
                  <a:schemeClr val="tx1"/>
                </a:solidFill>
                <a:latin typeface="Arial" pitchFamily="34" charset="0"/>
              </a:defRPr>
            </a:lvl5pPr>
            <a:lvl6pPr marL="2481263" indent="-223838" eaLnBrk="0" fontAlgn="base" hangingPunct="0">
              <a:spcBef>
                <a:spcPct val="30000"/>
              </a:spcBef>
              <a:spcAft>
                <a:spcPct val="0"/>
              </a:spcAft>
              <a:defRPr sz="1200">
                <a:solidFill>
                  <a:schemeClr val="tx1"/>
                </a:solidFill>
                <a:latin typeface="Arial" pitchFamily="34" charset="0"/>
              </a:defRPr>
            </a:lvl6pPr>
            <a:lvl7pPr marL="2938463" indent="-223838" eaLnBrk="0" fontAlgn="base" hangingPunct="0">
              <a:spcBef>
                <a:spcPct val="30000"/>
              </a:spcBef>
              <a:spcAft>
                <a:spcPct val="0"/>
              </a:spcAft>
              <a:defRPr sz="1200">
                <a:solidFill>
                  <a:schemeClr val="tx1"/>
                </a:solidFill>
                <a:latin typeface="Arial" pitchFamily="34" charset="0"/>
              </a:defRPr>
            </a:lvl7pPr>
            <a:lvl8pPr marL="3395663" indent="-223838" eaLnBrk="0" fontAlgn="base" hangingPunct="0">
              <a:spcBef>
                <a:spcPct val="30000"/>
              </a:spcBef>
              <a:spcAft>
                <a:spcPct val="0"/>
              </a:spcAft>
              <a:defRPr sz="1200">
                <a:solidFill>
                  <a:schemeClr val="tx1"/>
                </a:solidFill>
                <a:latin typeface="Arial" pitchFamily="34" charset="0"/>
              </a:defRPr>
            </a:lvl8pPr>
            <a:lvl9pPr marL="3852863" indent="-223838" eaLnBrk="0" fontAlgn="base" hangingPunct="0">
              <a:spcBef>
                <a:spcPct val="30000"/>
              </a:spcBef>
              <a:spcAft>
                <a:spcPct val="0"/>
              </a:spcAft>
              <a:defRPr sz="1200">
                <a:solidFill>
                  <a:schemeClr val="tx1"/>
                </a:solidFill>
                <a:latin typeface="Arial" pitchFamily="34" charset="0"/>
              </a:defRPr>
            </a:lvl9pPr>
          </a:lstStyle>
          <a:p>
            <a:fld id="{1F9A5E84-3875-4BA8-AF16-5A295639E148}" type="slidenum">
              <a:rPr lang="en-AU" altLang="tr-TR" sz="1300"/>
              <a:pPr/>
              <a:t>154</a:t>
            </a:fld>
            <a:endParaRPr lang="en-AU" altLang="tr-TR" sz="1300"/>
          </a:p>
        </p:txBody>
      </p:sp>
    </p:spTree>
    <p:extLst>
      <p:ext uri="{BB962C8B-B14F-4D97-AF65-F5344CB8AC3E}">
        <p14:creationId xmlns:p14="http://schemas.microsoft.com/office/powerpoint/2010/main" val="3507188528"/>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B98B5-1A50-E74E-4394-AABFF5F01DA2}"/>
            </a:ext>
          </a:extLst>
        </p:cNvPr>
        <p:cNvGrpSpPr/>
        <p:nvPr/>
      </p:nvGrpSpPr>
      <p:grpSpPr>
        <a:xfrm>
          <a:off x="0" y="0"/>
          <a:ext cx="0" cy="0"/>
          <a:chOff x="0" y="0"/>
          <a:chExt cx="0" cy="0"/>
        </a:xfrm>
      </p:grpSpPr>
      <p:sp>
        <p:nvSpPr>
          <p:cNvPr id="80898" name="Slide Image Placeholder 1">
            <a:extLst>
              <a:ext uri="{FF2B5EF4-FFF2-40B4-BE49-F238E27FC236}">
                <a16:creationId xmlns:a16="http://schemas.microsoft.com/office/drawing/2014/main" id="{B482A64E-3B51-6743-E7AE-7171B6F75EEB}"/>
              </a:ext>
            </a:extLst>
          </p:cNvPr>
          <p:cNvSpPr>
            <a:spLocks noGrp="1" noRot="1" noChangeAspect="1" noTextEdit="1"/>
          </p:cNvSpPr>
          <p:nvPr>
            <p:ph type="sldImg"/>
          </p:nvPr>
        </p:nvSpPr>
        <p:spPr>
          <a:ln/>
        </p:spPr>
      </p:sp>
      <p:sp>
        <p:nvSpPr>
          <p:cNvPr id="80899" name="Notes Placeholder 2">
            <a:extLst>
              <a:ext uri="{FF2B5EF4-FFF2-40B4-BE49-F238E27FC236}">
                <a16:creationId xmlns:a16="http://schemas.microsoft.com/office/drawing/2014/main" id="{5988235C-9FA8-DCB6-3C80-E6A23149360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Arial" pitchFamily="34" charset="0"/>
            </a:endParaRPr>
          </a:p>
        </p:txBody>
      </p:sp>
      <p:sp>
        <p:nvSpPr>
          <p:cNvPr id="80900" name="Slide Number Placeholder 3">
            <a:extLst>
              <a:ext uri="{FF2B5EF4-FFF2-40B4-BE49-F238E27FC236}">
                <a16:creationId xmlns:a16="http://schemas.microsoft.com/office/drawing/2014/main" id="{BA336240-7DF1-404E-3274-7D04D54A9B7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defRPr>
            </a:lvl1pPr>
            <a:lvl2pPr marL="730250" indent="-280988">
              <a:defRPr sz="1200">
                <a:solidFill>
                  <a:schemeClr val="tx1"/>
                </a:solidFill>
                <a:latin typeface="Arial" pitchFamily="34" charset="0"/>
              </a:defRPr>
            </a:lvl2pPr>
            <a:lvl3pPr marL="1123950" indent="-223838">
              <a:defRPr sz="1200">
                <a:solidFill>
                  <a:schemeClr val="tx1"/>
                </a:solidFill>
                <a:latin typeface="Arial" pitchFamily="34" charset="0"/>
              </a:defRPr>
            </a:lvl3pPr>
            <a:lvl4pPr marL="1574800" indent="-223838">
              <a:defRPr sz="1200">
                <a:solidFill>
                  <a:schemeClr val="tx1"/>
                </a:solidFill>
                <a:latin typeface="Arial" pitchFamily="34" charset="0"/>
              </a:defRPr>
            </a:lvl4pPr>
            <a:lvl5pPr marL="2024063" indent="-223838">
              <a:defRPr sz="1200">
                <a:solidFill>
                  <a:schemeClr val="tx1"/>
                </a:solidFill>
                <a:latin typeface="Arial" pitchFamily="34" charset="0"/>
              </a:defRPr>
            </a:lvl5pPr>
            <a:lvl6pPr marL="2481263" indent="-223838" eaLnBrk="0" fontAlgn="base" hangingPunct="0">
              <a:spcBef>
                <a:spcPct val="30000"/>
              </a:spcBef>
              <a:spcAft>
                <a:spcPct val="0"/>
              </a:spcAft>
              <a:defRPr sz="1200">
                <a:solidFill>
                  <a:schemeClr val="tx1"/>
                </a:solidFill>
                <a:latin typeface="Arial" pitchFamily="34" charset="0"/>
              </a:defRPr>
            </a:lvl6pPr>
            <a:lvl7pPr marL="2938463" indent="-223838" eaLnBrk="0" fontAlgn="base" hangingPunct="0">
              <a:spcBef>
                <a:spcPct val="30000"/>
              </a:spcBef>
              <a:spcAft>
                <a:spcPct val="0"/>
              </a:spcAft>
              <a:defRPr sz="1200">
                <a:solidFill>
                  <a:schemeClr val="tx1"/>
                </a:solidFill>
                <a:latin typeface="Arial" pitchFamily="34" charset="0"/>
              </a:defRPr>
            </a:lvl7pPr>
            <a:lvl8pPr marL="3395663" indent="-223838" eaLnBrk="0" fontAlgn="base" hangingPunct="0">
              <a:spcBef>
                <a:spcPct val="30000"/>
              </a:spcBef>
              <a:spcAft>
                <a:spcPct val="0"/>
              </a:spcAft>
              <a:defRPr sz="1200">
                <a:solidFill>
                  <a:schemeClr val="tx1"/>
                </a:solidFill>
                <a:latin typeface="Arial" pitchFamily="34" charset="0"/>
              </a:defRPr>
            </a:lvl8pPr>
            <a:lvl9pPr marL="3852863" indent="-223838" eaLnBrk="0" fontAlgn="base" hangingPunct="0">
              <a:spcBef>
                <a:spcPct val="30000"/>
              </a:spcBef>
              <a:spcAft>
                <a:spcPct val="0"/>
              </a:spcAft>
              <a:defRPr sz="1200">
                <a:solidFill>
                  <a:schemeClr val="tx1"/>
                </a:solidFill>
                <a:latin typeface="Arial" pitchFamily="34" charset="0"/>
              </a:defRPr>
            </a:lvl9pPr>
          </a:lstStyle>
          <a:p>
            <a:fld id="{1F9A5E84-3875-4BA8-AF16-5A295639E148}" type="slidenum">
              <a:rPr lang="en-AU" altLang="tr-TR" sz="1300"/>
              <a:pPr/>
              <a:t>155</a:t>
            </a:fld>
            <a:endParaRPr lang="en-AU" altLang="tr-TR" sz="1300"/>
          </a:p>
        </p:txBody>
      </p:sp>
    </p:spTree>
    <p:extLst>
      <p:ext uri="{BB962C8B-B14F-4D97-AF65-F5344CB8AC3E}">
        <p14:creationId xmlns:p14="http://schemas.microsoft.com/office/powerpoint/2010/main" val="82056544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a:ln/>
        </p:spPr>
      </p:sp>
      <p:sp>
        <p:nvSpPr>
          <p:cNvPr id="1013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itchFamily="34" charset="0"/>
                <a:ea typeface="MS PGothic" pitchFamily="34" charset="-128"/>
              </a:rPr>
              <a:t> Attack surfaces can be categorized as follows:</a:t>
            </a:r>
          </a:p>
          <a:p>
            <a:endParaRPr lang="en-US" altLang="en-US">
              <a:latin typeface="Arial" pitchFamily="34" charset="0"/>
              <a:ea typeface="MS PGothic" pitchFamily="34" charset="-128"/>
            </a:endParaRPr>
          </a:p>
          <a:p>
            <a:r>
              <a:rPr lang="en-US" altLang="en-US">
                <a:latin typeface="Arial" pitchFamily="34" charset="0"/>
                <a:ea typeface="MS PGothic" pitchFamily="34" charset="-128"/>
              </a:rPr>
              <a:t>■ Network attack surface:  This category refers to vulnerabilities over an enterprise</a:t>
            </a:r>
          </a:p>
          <a:p>
            <a:r>
              <a:rPr lang="en-US" altLang="en-US">
                <a:latin typeface="Arial" pitchFamily="34" charset="0"/>
                <a:ea typeface="MS PGothic" pitchFamily="34" charset="-128"/>
              </a:rPr>
              <a:t>network, wide-area network, or the Internet. Included in this category are network</a:t>
            </a:r>
          </a:p>
          <a:p>
            <a:r>
              <a:rPr lang="en-US" altLang="en-US">
                <a:latin typeface="Arial" pitchFamily="34" charset="0"/>
                <a:ea typeface="MS PGothic" pitchFamily="34" charset="-128"/>
              </a:rPr>
              <a:t>protocol vulnerabilities, such as those used for a denial-of-service attack,</a:t>
            </a:r>
          </a:p>
          <a:p>
            <a:r>
              <a:rPr lang="en-US" altLang="en-US">
                <a:latin typeface="Arial" pitchFamily="34" charset="0"/>
                <a:ea typeface="MS PGothic" pitchFamily="34" charset="-128"/>
              </a:rPr>
              <a:t>disruption of communications links, and various forms of intruder attacks.</a:t>
            </a:r>
          </a:p>
          <a:p>
            <a:endParaRPr lang="en-US" altLang="en-US">
              <a:latin typeface="Arial" pitchFamily="34" charset="0"/>
              <a:ea typeface="MS PGothic" pitchFamily="34" charset="-128"/>
            </a:endParaRPr>
          </a:p>
          <a:p>
            <a:r>
              <a:rPr lang="en-US" altLang="en-US">
                <a:latin typeface="Arial" pitchFamily="34" charset="0"/>
                <a:ea typeface="MS PGothic" pitchFamily="34" charset="-128"/>
              </a:rPr>
              <a:t>■ Software attack surface: This refers to vulnerabilities in application, utility,</a:t>
            </a:r>
          </a:p>
          <a:p>
            <a:r>
              <a:rPr lang="en-US" altLang="en-US">
                <a:latin typeface="Arial" pitchFamily="34" charset="0"/>
                <a:ea typeface="MS PGothic" pitchFamily="34" charset="-128"/>
              </a:rPr>
              <a:t>or operating system code. A particular focus in this category is Web server</a:t>
            </a:r>
          </a:p>
          <a:p>
            <a:r>
              <a:rPr lang="en-US" altLang="en-US">
                <a:latin typeface="Arial" pitchFamily="34" charset="0"/>
                <a:ea typeface="MS PGothic" pitchFamily="34" charset="-128"/>
              </a:rPr>
              <a:t>Software.</a:t>
            </a:r>
          </a:p>
          <a:p>
            <a:endParaRPr lang="en-US" altLang="en-US">
              <a:latin typeface="Arial" pitchFamily="34" charset="0"/>
              <a:ea typeface="MS PGothic" pitchFamily="34" charset="-128"/>
            </a:endParaRPr>
          </a:p>
          <a:p>
            <a:r>
              <a:rPr lang="en-US" altLang="en-US">
                <a:latin typeface="Arial" pitchFamily="34" charset="0"/>
                <a:ea typeface="MS PGothic" pitchFamily="34" charset="-128"/>
              </a:rPr>
              <a:t>■ Human attack surface: This category refers to vulnerabilities created by</a:t>
            </a:r>
          </a:p>
          <a:p>
            <a:r>
              <a:rPr lang="en-US" altLang="en-US">
                <a:latin typeface="Arial" pitchFamily="34" charset="0"/>
                <a:ea typeface="MS PGothic" pitchFamily="34" charset="-128"/>
              </a:rPr>
              <a:t>personnel or outsiders, such as social engineering, human error, and trusted</a:t>
            </a:r>
          </a:p>
          <a:p>
            <a:r>
              <a:rPr lang="en-US" altLang="en-US">
                <a:latin typeface="Arial" pitchFamily="34" charset="0"/>
                <a:ea typeface="MS PGothic" pitchFamily="34" charset="-128"/>
              </a:rPr>
              <a:t>insiders.</a:t>
            </a:r>
            <a:endParaRPr lang="en-US" altLang="en-US">
              <a:latin typeface="Arial" pitchFamily="34" charset="0"/>
            </a:endParaRPr>
          </a:p>
        </p:txBody>
      </p:sp>
      <p:sp>
        <p:nvSpPr>
          <p:cNvPr id="1013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defRPr>
            </a:lvl1pPr>
            <a:lvl2pPr marL="742950" indent="-285750">
              <a:defRPr sz="1200">
                <a:solidFill>
                  <a:schemeClr val="tx1"/>
                </a:solidFill>
                <a:latin typeface="Arial" pitchFamily="34" charset="0"/>
              </a:defRPr>
            </a:lvl2pPr>
            <a:lvl3pPr marL="1143000" indent="-228600">
              <a:defRPr sz="1200">
                <a:solidFill>
                  <a:schemeClr val="tx1"/>
                </a:solidFill>
                <a:latin typeface="Arial" pitchFamily="34" charset="0"/>
              </a:defRPr>
            </a:lvl3pPr>
            <a:lvl4pPr marL="1600200" indent="-228600">
              <a:defRPr sz="1200">
                <a:solidFill>
                  <a:schemeClr val="tx1"/>
                </a:solidFill>
                <a:latin typeface="Arial" pitchFamily="34" charset="0"/>
              </a:defRPr>
            </a:lvl4pPr>
            <a:lvl5pPr marL="2057400" indent="-228600">
              <a:defRPr sz="1200">
                <a:solidFill>
                  <a:schemeClr val="tx1"/>
                </a:solidFill>
                <a:latin typeface="Arial" pitchFamily="34" charset="0"/>
              </a:defRPr>
            </a:lvl5pPr>
            <a:lvl6pPr marL="2514600" indent="-228600" eaLnBrk="0" fontAlgn="base" hangingPunct="0">
              <a:spcBef>
                <a:spcPct val="30000"/>
              </a:spcBef>
              <a:spcAft>
                <a:spcPct val="0"/>
              </a:spcAft>
              <a:defRPr sz="1200">
                <a:solidFill>
                  <a:schemeClr val="tx1"/>
                </a:solidFill>
                <a:latin typeface="Arial" pitchFamily="34" charset="0"/>
              </a:defRPr>
            </a:lvl6pPr>
            <a:lvl7pPr marL="2971800" indent="-228600" eaLnBrk="0" fontAlgn="base" hangingPunct="0">
              <a:spcBef>
                <a:spcPct val="30000"/>
              </a:spcBef>
              <a:spcAft>
                <a:spcPct val="0"/>
              </a:spcAft>
              <a:defRPr sz="1200">
                <a:solidFill>
                  <a:schemeClr val="tx1"/>
                </a:solidFill>
                <a:latin typeface="Arial" pitchFamily="34" charset="0"/>
              </a:defRPr>
            </a:lvl7pPr>
            <a:lvl8pPr marL="3429000" indent="-228600" eaLnBrk="0" fontAlgn="base" hangingPunct="0">
              <a:spcBef>
                <a:spcPct val="30000"/>
              </a:spcBef>
              <a:spcAft>
                <a:spcPct val="0"/>
              </a:spcAft>
              <a:defRPr sz="1200">
                <a:solidFill>
                  <a:schemeClr val="tx1"/>
                </a:solidFill>
                <a:latin typeface="Arial" pitchFamily="34" charset="0"/>
              </a:defRPr>
            </a:lvl8pPr>
            <a:lvl9pPr marL="3886200" indent="-228600" eaLnBrk="0" fontAlgn="base" hangingPunct="0">
              <a:spcBef>
                <a:spcPct val="30000"/>
              </a:spcBef>
              <a:spcAft>
                <a:spcPct val="0"/>
              </a:spcAft>
              <a:defRPr sz="1200">
                <a:solidFill>
                  <a:schemeClr val="tx1"/>
                </a:solidFill>
                <a:latin typeface="Arial" pitchFamily="34" charset="0"/>
              </a:defRPr>
            </a:lvl9pPr>
          </a:lstStyle>
          <a:p>
            <a:fld id="{F09EF81A-BFE6-438D-9513-38444439B215}" type="slidenum">
              <a:rPr lang="en-AU" altLang="en-US" sz="1300"/>
              <a:pPr/>
              <a:t>156</a:t>
            </a:fld>
            <a:endParaRPr lang="en-AU" altLang="en-US" sz="1300"/>
          </a:p>
        </p:txBody>
      </p:sp>
    </p:spTree>
    <p:extLst>
      <p:ext uri="{BB962C8B-B14F-4D97-AF65-F5344CB8AC3E}">
        <p14:creationId xmlns:p14="http://schemas.microsoft.com/office/powerpoint/2010/main" val="4240800908"/>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BE49F-47B1-8D92-9475-A81C92E886EF}"/>
            </a:ext>
          </a:extLst>
        </p:cNvPr>
        <p:cNvGrpSpPr/>
        <p:nvPr/>
      </p:nvGrpSpPr>
      <p:grpSpPr>
        <a:xfrm>
          <a:off x="0" y="0"/>
          <a:ext cx="0" cy="0"/>
          <a:chOff x="0" y="0"/>
          <a:chExt cx="0" cy="0"/>
        </a:xfrm>
      </p:grpSpPr>
      <p:sp>
        <p:nvSpPr>
          <p:cNvPr id="101378" name="Slide Image Placeholder 1">
            <a:extLst>
              <a:ext uri="{FF2B5EF4-FFF2-40B4-BE49-F238E27FC236}">
                <a16:creationId xmlns:a16="http://schemas.microsoft.com/office/drawing/2014/main" id="{03DA7BA4-CE48-0E91-07D7-ABA74ED89C40}"/>
              </a:ext>
            </a:extLst>
          </p:cNvPr>
          <p:cNvSpPr>
            <a:spLocks noGrp="1" noRot="1" noChangeAspect="1" noTextEdit="1"/>
          </p:cNvSpPr>
          <p:nvPr>
            <p:ph type="sldImg"/>
          </p:nvPr>
        </p:nvSpPr>
        <p:spPr>
          <a:ln/>
        </p:spPr>
      </p:sp>
      <p:sp>
        <p:nvSpPr>
          <p:cNvPr id="101379" name="Notes Placeholder 2">
            <a:extLst>
              <a:ext uri="{FF2B5EF4-FFF2-40B4-BE49-F238E27FC236}">
                <a16:creationId xmlns:a16="http://schemas.microsoft.com/office/drawing/2014/main" id="{D2F9B2B5-5538-BE10-0F82-5A3D1D368B7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itchFamily="34" charset="0"/>
                <a:ea typeface="MS PGothic" pitchFamily="34" charset="-128"/>
              </a:rPr>
              <a:t> Attack surfaces can be categorized as follows:</a:t>
            </a:r>
          </a:p>
          <a:p>
            <a:endParaRPr lang="en-US" altLang="en-US">
              <a:latin typeface="Arial" pitchFamily="34" charset="0"/>
              <a:ea typeface="MS PGothic" pitchFamily="34" charset="-128"/>
            </a:endParaRPr>
          </a:p>
          <a:p>
            <a:r>
              <a:rPr lang="en-US" altLang="en-US">
                <a:latin typeface="Arial" pitchFamily="34" charset="0"/>
                <a:ea typeface="MS PGothic" pitchFamily="34" charset="-128"/>
              </a:rPr>
              <a:t>■ Network attack surface:  This category refers to vulnerabilities over an enterprise</a:t>
            </a:r>
          </a:p>
          <a:p>
            <a:r>
              <a:rPr lang="en-US" altLang="en-US">
                <a:latin typeface="Arial" pitchFamily="34" charset="0"/>
                <a:ea typeface="MS PGothic" pitchFamily="34" charset="-128"/>
              </a:rPr>
              <a:t>network, wide-area network, or the Internet. Included in this category are network</a:t>
            </a:r>
          </a:p>
          <a:p>
            <a:r>
              <a:rPr lang="en-US" altLang="en-US">
                <a:latin typeface="Arial" pitchFamily="34" charset="0"/>
                <a:ea typeface="MS PGothic" pitchFamily="34" charset="-128"/>
              </a:rPr>
              <a:t>protocol vulnerabilities, such as those used for a denial-of-service attack,</a:t>
            </a:r>
          </a:p>
          <a:p>
            <a:r>
              <a:rPr lang="en-US" altLang="en-US">
                <a:latin typeface="Arial" pitchFamily="34" charset="0"/>
                <a:ea typeface="MS PGothic" pitchFamily="34" charset="-128"/>
              </a:rPr>
              <a:t>disruption of communications links, and various forms of intruder attacks.</a:t>
            </a:r>
          </a:p>
          <a:p>
            <a:endParaRPr lang="en-US" altLang="en-US">
              <a:latin typeface="Arial" pitchFamily="34" charset="0"/>
              <a:ea typeface="MS PGothic" pitchFamily="34" charset="-128"/>
            </a:endParaRPr>
          </a:p>
          <a:p>
            <a:r>
              <a:rPr lang="en-US" altLang="en-US">
                <a:latin typeface="Arial" pitchFamily="34" charset="0"/>
                <a:ea typeface="MS PGothic" pitchFamily="34" charset="-128"/>
              </a:rPr>
              <a:t>■ Software attack surface: This refers to vulnerabilities in application, utility,</a:t>
            </a:r>
          </a:p>
          <a:p>
            <a:r>
              <a:rPr lang="en-US" altLang="en-US">
                <a:latin typeface="Arial" pitchFamily="34" charset="0"/>
                <a:ea typeface="MS PGothic" pitchFamily="34" charset="-128"/>
              </a:rPr>
              <a:t>or operating system code. A particular focus in this category is Web server</a:t>
            </a:r>
          </a:p>
          <a:p>
            <a:r>
              <a:rPr lang="en-US" altLang="en-US">
                <a:latin typeface="Arial" pitchFamily="34" charset="0"/>
                <a:ea typeface="MS PGothic" pitchFamily="34" charset="-128"/>
              </a:rPr>
              <a:t>Software.</a:t>
            </a:r>
          </a:p>
          <a:p>
            <a:endParaRPr lang="en-US" altLang="en-US">
              <a:latin typeface="Arial" pitchFamily="34" charset="0"/>
              <a:ea typeface="MS PGothic" pitchFamily="34" charset="-128"/>
            </a:endParaRPr>
          </a:p>
          <a:p>
            <a:r>
              <a:rPr lang="en-US" altLang="en-US">
                <a:latin typeface="Arial" pitchFamily="34" charset="0"/>
                <a:ea typeface="MS PGothic" pitchFamily="34" charset="-128"/>
              </a:rPr>
              <a:t>■ Human attack surface: This category refers to vulnerabilities created by</a:t>
            </a:r>
          </a:p>
          <a:p>
            <a:r>
              <a:rPr lang="en-US" altLang="en-US">
                <a:latin typeface="Arial" pitchFamily="34" charset="0"/>
                <a:ea typeface="MS PGothic" pitchFamily="34" charset="-128"/>
              </a:rPr>
              <a:t>personnel or outsiders, such as social engineering, human error, and trusted</a:t>
            </a:r>
          </a:p>
          <a:p>
            <a:r>
              <a:rPr lang="en-US" altLang="en-US">
                <a:latin typeface="Arial" pitchFamily="34" charset="0"/>
                <a:ea typeface="MS PGothic" pitchFamily="34" charset="-128"/>
              </a:rPr>
              <a:t>insiders.</a:t>
            </a:r>
            <a:endParaRPr lang="en-US" altLang="en-US">
              <a:latin typeface="Arial" pitchFamily="34" charset="0"/>
            </a:endParaRPr>
          </a:p>
        </p:txBody>
      </p:sp>
      <p:sp>
        <p:nvSpPr>
          <p:cNvPr id="101380" name="Slide Number Placeholder 3">
            <a:extLst>
              <a:ext uri="{FF2B5EF4-FFF2-40B4-BE49-F238E27FC236}">
                <a16:creationId xmlns:a16="http://schemas.microsoft.com/office/drawing/2014/main" id="{2313BC0D-9BF7-294F-BCB5-466A934C5B6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defRPr>
            </a:lvl1pPr>
            <a:lvl2pPr marL="742950" indent="-285750">
              <a:defRPr sz="1200">
                <a:solidFill>
                  <a:schemeClr val="tx1"/>
                </a:solidFill>
                <a:latin typeface="Arial" pitchFamily="34" charset="0"/>
              </a:defRPr>
            </a:lvl2pPr>
            <a:lvl3pPr marL="1143000" indent="-228600">
              <a:defRPr sz="1200">
                <a:solidFill>
                  <a:schemeClr val="tx1"/>
                </a:solidFill>
                <a:latin typeface="Arial" pitchFamily="34" charset="0"/>
              </a:defRPr>
            </a:lvl3pPr>
            <a:lvl4pPr marL="1600200" indent="-228600">
              <a:defRPr sz="1200">
                <a:solidFill>
                  <a:schemeClr val="tx1"/>
                </a:solidFill>
                <a:latin typeface="Arial" pitchFamily="34" charset="0"/>
              </a:defRPr>
            </a:lvl4pPr>
            <a:lvl5pPr marL="2057400" indent="-228600">
              <a:defRPr sz="1200">
                <a:solidFill>
                  <a:schemeClr val="tx1"/>
                </a:solidFill>
                <a:latin typeface="Arial" pitchFamily="34" charset="0"/>
              </a:defRPr>
            </a:lvl5pPr>
            <a:lvl6pPr marL="2514600" indent="-228600" eaLnBrk="0" fontAlgn="base" hangingPunct="0">
              <a:spcBef>
                <a:spcPct val="30000"/>
              </a:spcBef>
              <a:spcAft>
                <a:spcPct val="0"/>
              </a:spcAft>
              <a:defRPr sz="1200">
                <a:solidFill>
                  <a:schemeClr val="tx1"/>
                </a:solidFill>
                <a:latin typeface="Arial" pitchFamily="34" charset="0"/>
              </a:defRPr>
            </a:lvl6pPr>
            <a:lvl7pPr marL="2971800" indent="-228600" eaLnBrk="0" fontAlgn="base" hangingPunct="0">
              <a:spcBef>
                <a:spcPct val="30000"/>
              </a:spcBef>
              <a:spcAft>
                <a:spcPct val="0"/>
              </a:spcAft>
              <a:defRPr sz="1200">
                <a:solidFill>
                  <a:schemeClr val="tx1"/>
                </a:solidFill>
                <a:latin typeface="Arial" pitchFamily="34" charset="0"/>
              </a:defRPr>
            </a:lvl7pPr>
            <a:lvl8pPr marL="3429000" indent="-228600" eaLnBrk="0" fontAlgn="base" hangingPunct="0">
              <a:spcBef>
                <a:spcPct val="30000"/>
              </a:spcBef>
              <a:spcAft>
                <a:spcPct val="0"/>
              </a:spcAft>
              <a:defRPr sz="1200">
                <a:solidFill>
                  <a:schemeClr val="tx1"/>
                </a:solidFill>
                <a:latin typeface="Arial" pitchFamily="34" charset="0"/>
              </a:defRPr>
            </a:lvl8pPr>
            <a:lvl9pPr marL="3886200" indent="-228600" eaLnBrk="0" fontAlgn="base" hangingPunct="0">
              <a:spcBef>
                <a:spcPct val="30000"/>
              </a:spcBef>
              <a:spcAft>
                <a:spcPct val="0"/>
              </a:spcAft>
              <a:defRPr sz="1200">
                <a:solidFill>
                  <a:schemeClr val="tx1"/>
                </a:solidFill>
                <a:latin typeface="Arial" pitchFamily="34" charset="0"/>
              </a:defRPr>
            </a:lvl9pPr>
          </a:lstStyle>
          <a:p>
            <a:fld id="{F09EF81A-BFE6-438D-9513-38444439B215}" type="slidenum">
              <a:rPr lang="en-AU" altLang="en-US" sz="1300"/>
              <a:pPr/>
              <a:t>157</a:t>
            </a:fld>
            <a:endParaRPr lang="en-AU" altLang="en-US" sz="1300"/>
          </a:p>
        </p:txBody>
      </p:sp>
    </p:spTree>
    <p:extLst>
      <p:ext uri="{BB962C8B-B14F-4D97-AF65-F5344CB8AC3E}">
        <p14:creationId xmlns:p14="http://schemas.microsoft.com/office/powerpoint/2010/main" val="1499530132"/>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ADA92-2224-5F67-9AF1-6254A332FF4C}"/>
            </a:ext>
          </a:extLst>
        </p:cNvPr>
        <p:cNvGrpSpPr/>
        <p:nvPr/>
      </p:nvGrpSpPr>
      <p:grpSpPr>
        <a:xfrm>
          <a:off x="0" y="0"/>
          <a:ext cx="0" cy="0"/>
          <a:chOff x="0" y="0"/>
          <a:chExt cx="0" cy="0"/>
        </a:xfrm>
      </p:grpSpPr>
      <p:sp>
        <p:nvSpPr>
          <p:cNvPr id="101378" name="Slide Image Placeholder 1">
            <a:extLst>
              <a:ext uri="{FF2B5EF4-FFF2-40B4-BE49-F238E27FC236}">
                <a16:creationId xmlns:a16="http://schemas.microsoft.com/office/drawing/2014/main" id="{1E5DD97F-6206-431E-34AE-C0F577C586DF}"/>
              </a:ext>
            </a:extLst>
          </p:cNvPr>
          <p:cNvSpPr>
            <a:spLocks noGrp="1" noRot="1" noChangeAspect="1" noTextEdit="1"/>
          </p:cNvSpPr>
          <p:nvPr>
            <p:ph type="sldImg"/>
          </p:nvPr>
        </p:nvSpPr>
        <p:spPr>
          <a:ln/>
        </p:spPr>
      </p:sp>
      <p:sp>
        <p:nvSpPr>
          <p:cNvPr id="101379" name="Notes Placeholder 2">
            <a:extLst>
              <a:ext uri="{FF2B5EF4-FFF2-40B4-BE49-F238E27FC236}">
                <a16:creationId xmlns:a16="http://schemas.microsoft.com/office/drawing/2014/main" id="{A86D48E7-CC0E-A8CF-986C-FE006CBF422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itchFamily="34" charset="0"/>
                <a:ea typeface="MS PGothic" pitchFamily="34" charset="-128"/>
              </a:rPr>
              <a:t> Attack surfaces can be categorized as follows:</a:t>
            </a:r>
          </a:p>
          <a:p>
            <a:endParaRPr lang="en-US" altLang="en-US">
              <a:latin typeface="Arial" pitchFamily="34" charset="0"/>
              <a:ea typeface="MS PGothic" pitchFamily="34" charset="-128"/>
            </a:endParaRPr>
          </a:p>
          <a:p>
            <a:r>
              <a:rPr lang="en-US" altLang="en-US">
                <a:latin typeface="Arial" pitchFamily="34" charset="0"/>
                <a:ea typeface="MS PGothic" pitchFamily="34" charset="-128"/>
              </a:rPr>
              <a:t>■ Network attack surface:  This category refers to vulnerabilities over an enterprise</a:t>
            </a:r>
          </a:p>
          <a:p>
            <a:r>
              <a:rPr lang="en-US" altLang="en-US">
                <a:latin typeface="Arial" pitchFamily="34" charset="0"/>
                <a:ea typeface="MS PGothic" pitchFamily="34" charset="-128"/>
              </a:rPr>
              <a:t>network, wide-area network, or the Internet. Included in this category are network</a:t>
            </a:r>
          </a:p>
          <a:p>
            <a:r>
              <a:rPr lang="en-US" altLang="en-US">
                <a:latin typeface="Arial" pitchFamily="34" charset="0"/>
                <a:ea typeface="MS PGothic" pitchFamily="34" charset="-128"/>
              </a:rPr>
              <a:t>protocol vulnerabilities, such as those used for a denial-of-service attack,</a:t>
            </a:r>
          </a:p>
          <a:p>
            <a:r>
              <a:rPr lang="en-US" altLang="en-US">
                <a:latin typeface="Arial" pitchFamily="34" charset="0"/>
                <a:ea typeface="MS PGothic" pitchFamily="34" charset="-128"/>
              </a:rPr>
              <a:t>disruption of communications links, and various forms of intruder attacks.</a:t>
            </a:r>
          </a:p>
          <a:p>
            <a:endParaRPr lang="en-US" altLang="en-US">
              <a:latin typeface="Arial" pitchFamily="34" charset="0"/>
              <a:ea typeface="MS PGothic" pitchFamily="34" charset="-128"/>
            </a:endParaRPr>
          </a:p>
          <a:p>
            <a:r>
              <a:rPr lang="en-US" altLang="en-US">
                <a:latin typeface="Arial" pitchFamily="34" charset="0"/>
                <a:ea typeface="MS PGothic" pitchFamily="34" charset="-128"/>
              </a:rPr>
              <a:t>■ Software attack surface: This refers to vulnerabilities in application, utility,</a:t>
            </a:r>
          </a:p>
          <a:p>
            <a:r>
              <a:rPr lang="en-US" altLang="en-US">
                <a:latin typeface="Arial" pitchFamily="34" charset="0"/>
                <a:ea typeface="MS PGothic" pitchFamily="34" charset="-128"/>
              </a:rPr>
              <a:t>or operating system code. A particular focus in this category is Web server</a:t>
            </a:r>
          </a:p>
          <a:p>
            <a:r>
              <a:rPr lang="en-US" altLang="en-US">
                <a:latin typeface="Arial" pitchFamily="34" charset="0"/>
                <a:ea typeface="MS PGothic" pitchFamily="34" charset="-128"/>
              </a:rPr>
              <a:t>Software.</a:t>
            </a:r>
          </a:p>
          <a:p>
            <a:endParaRPr lang="en-US" altLang="en-US">
              <a:latin typeface="Arial" pitchFamily="34" charset="0"/>
              <a:ea typeface="MS PGothic" pitchFamily="34" charset="-128"/>
            </a:endParaRPr>
          </a:p>
          <a:p>
            <a:r>
              <a:rPr lang="en-US" altLang="en-US">
                <a:latin typeface="Arial" pitchFamily="34" charset="0"/>
                <a:ea typeface="MS PGothic" pitchFamily="34" charset="-128"/>
              </a:rPr>
              <a:t>■ Human attack surface: This category refers to vulnerabilities created by</a:t>
            </a:r>
          </a:p>
          <a:p>
            <a:r>
              <a:rPr lang="en-US" altLang="en-US">
                <a:latin typeface="Arial" pitchFamily="34" charset="0"/>
                <a:ea typeface="MS PGothic" pitchFamily="34" charset="-128"/>
              </a:rPr>
              <a:t>personnel or outsiders, such as social engineering, human error, and trusted</a:t>
            </a:r>
          </a:p>
          <a:p>
            <a:r>
              <a:rPr lang="en-US" altLang="en-US">
                <a:latin typeface="Arial" pitchFamily="34" charset="0"/>
                <a:ea typeface="MS PGothic" pitchFamily="34" charset="-128"/>
              </a:rPr>
              <a:t>insiders.</a:t>
            </a:r>
            <a:endParaRPr lang="en-US" altLang="en-US">
              <a:latin typeface="Arial" pitchFamily="34" charset="0"/>
            </a:endParaRPr>
          </a:p>
        </p:txBody>
      </p:sp>
      <p:sp>
        <p:nvSpPr>
          <p:cNvPr id="101380" name="Slide Number Placeholder 3">
            <a:extLst>
              <a:ext uri="{FF2B5EF4-FFF2-40B4-BE49-F238E27FC236}">
                <a16:creationId xmlns:a16="http://schemas.microsoft.com/office/drawing/2014/main" id="{8C75537C-17B2-E615-02F7-8FA3BC1204E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defRPr>
            </a:lvl1pPr>
            <a:lvl2pPr marL="742950" indent="-285750">
              <a:defRPr sz="1200">
                <a:solidFill>
                  <a:schemeClr val="tx1"/>
                </a:solidFill>
                <a:latin typeface="Arial" pitchFamily="34" charset="0"/>
              </a:defRPr>
            </a:lvl2pPr>
            <a:lvl3pPr marL="1143000" indent="-228600">
              <a:defRPr sz="1200">
                <a:solidFill>
                  <a:schemeClr val="tx1"/>
                </a:solidFill>
                <a:latin typeface="Arial" pitchFamily="34" charset="0"/>
              </a:defRPr>
            </a:lvl3pPr>
            <a:lvl4pPr marL="1600200" indent="-228600">
              <a:defRPr sz="1200">
                <a:solidFill>
                  <a:schemeClr val="tx1"/>
                </a:solidFill>
                <a:latin typeface="Arial" pitchFamily="34" charset="0"/>
              </a:defRPr>
            </a:lvl4pPr>
            <a:lvl5pPr marL="2057400" indent="-228600">
              <a:defRPr sz="1200">
                <a:solidFill>
                  <a:schemeClr val="tx1"/>
                </a:solidFill>
                <a:latin typeface="Arial" pitchFamily="34" charset="0"/>
              </a:defRPr>
            </a:lvl5pPr>
            <a:lvl6pPr marL="2514600" indent="-228600" eaLnBrk="0" fontAlgn="base" hangingPunct="0">
              <a:spcBef>
                <a:spcPct val="30000"/>
              </a:spcBef>
              <a:spcAft>
                <a:spcPct val="0"/>
              </a:spcAft>
              <a:defRPr sz="1200">
                <a:solidFill>
                  <a:schemeClr val="tx1"/>
                </a:solidFill>
                <a:latin typeface="Arial" pitchFamily="34" charset="0"/>
              </a:defRPr>
            </a:lvl6pPr>
            <a:lvl7pPr marL="2971800" indent="-228600" eaLnBrk="0" fontAlgn="base" hangingPunct="0">
              <a:spcBef>
                <a:spcPct val="30000"/>
              </a:spcBef>
              <a:spcAft>
                <a:spcPct val="0"/>
              </a:spcAft>
              <a:defRPr sz="1200">
                <a:solidFill>
                  <a:schemeClr val="tx1"/>
                </a:solidFill>
                <a:latin typeface="Arial" pitchFamily="34" charset="0"/>
              </a:defRPr>
            </a:lvl7pPr>
            <a:lvl8pPr marL="3429000" indent="-228600" eaLnBrk="0" fontAlgn="base" hangingPunct="0">
              <a:spcBef>
                <a:spcPct val="30000"/>
              </a:spcBef>
              <a:spcAft>
                <a:spcPct val="0"/>
              </a:spcAft>
              <a:defRPr sz="1200">
                <a:solidFill>
                  <a:schemeClr val="tx1"/>
                </a:solidFill>
                <a:latin typeface="Arial" pitchFamily="34" charset="0"/>
              </a:defRPr>
            </a:lvl8pPr>
            <a:lvl9pPr marL="3886200" indent="-228600" eaLnBrk="0" fontAlgn="base" hangingPunct="0">
              <a:spcBef>
                <a:spcPct val="30000"/>
              </a:spcBef>
              <a:spcAft>
                <a:spcPct val="0"/>
              </a:spcAft>
              <a:defRPr sz="1200">
                <a:solidFill>
                  <a:schemeClr val="tx1"/>
                </a:solidFill>
                <a:latin typeface="Arial" pitchFamily="34" charset="0"/>
              </a:defRPr>
            </a:lvl9pPr>
          </a:lstStyle>
          <a:p>
            <a:fld id="{F09EF81A-BFE6-438D-9513-38444439B215}" type="slidenum">
              <a:rPr lang="en-AU" altLang="en-US" sz="1300"/>
              <a:pPr/>
              <a:t>158</a:t>
            </a:fld>
            <a:endParaRPr lang="en-AU" altLang="en-US" sz="1300"/>
          </a:p>
        </p:txBody>
      </p:sp>
    </p:spTree>
    <p:extLst>
      <p:ext uri="{BB962C8B-B14F-4D97-AF65-F5344CB8AC3E}">
        <p14:creationId xmlns:p14="http://schemas.microsoft.com/office/powerpoint/2010/main" val="2480352367"/>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a:bodyPr>
          <a:lstStyle/>
          <a:p>
            <a:pPr>
              <a:defRPr/>
            </a:pPr>
            <a:endParaRPr lang="en-US" dirty="0"/>
          </a:p>
        </p:txBody>
      </p:sp>
      <p:sp>
        <p:nvSpPr>
          <p:cNvPr id="100356" name="Slide Number Placeholder 3"/>
          <p:cNvSpPr>
            <a:spLocks noGrp="1"/>
          </p:cNvSpPr>
          <p:nvPr>
            <p:ph type="sldNum" sz="quarter" idx="5"/>
          </p:nvPr>
        </p:nvSpPr>
        <p:spPr/>
        <p:txBody>
          <a:bodyPr/>
          <a:lstStyle/>
          <a:p>
            <a:pPr>
              <a:defRPr/>
            </a:pPr>
            <a:fld id="{85EC05E4-BF01-416B-BD57-4CB81FD9ECBF}" type="slidenum">
              <a:rPr lang="en-AU" smtClean="0">
                <a:latin typeface="Arial" pitchFamily="34" charset="0"/>
              </a:rPr>
              <a:pPr>
                <a:defRPr/>
              </a:pPr>
              <a:t>159</a:t>
            </a:fld>
            <a:endParaRPr lang="en-AU">
              <a:latin typeface="Arial" pitchFamily="34" charset="0"/>
            </a:endParaRPr>
          </a:p>
        </p:txBody>
      </p:sp>
    </p:spTree>
    <p:extLst>
      <p:ext uri="{BB962C8B-B14F-4D97-AF65-F5344CB8AC3E}">
        <p14:creationId xmlns:p14="http://schemas.microsoft.com/office/powerpoint/2010/main" val="2992342840"/>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057B2-5773-43E2-FBFD-627A434BE225}"/>
            </a:ext>
          </a:extLst>
        </p:cNvPr>
        <p:cNvGrpSpPr/>
        <p:nvPr/>
      </p:nvGrpSpPr>
      <p:grpSpPr>
        <a:xfrm>
          <a:off x="0" y="0"/>
          <a:ext cx="0" cy="0"/>
          <a:chOff x="0" y="0"/>
          <a:chExt cx="0" cy="0"/>
        </a:xfrm>
      </p:grpSpPr>
      <p:sp>
        <p:nvSpPr>
          <p:cNvPr id="118786" name="Slide Image Placeholder 1">
            <a:extLst>
              <a:ext uri="{FF2B5EF4-FFF2-40B4-BE49-F238E27FC236}">
                <a16:creationId xmlns:a16="http://schemas.microsoft.com/office/drawing/2014/main" id="{F1E5E80C-9D08-36E7-54B1-8CDEF4C41CED}"/>
              </a:ext>
            </a:extLst>
          </p:cNvPr>
          <p:cNvSpPr>
            <a:spLocks noGrp="1" noRot="1" noChangeAspect="1" noTextEdit="1"/>
          </p:cNvSpPr>
          <p:nvPr>
            <p:ph type="sldImg"/>
          </p:nvPr>
        </p:nvSpPr>
        <p:spPr>
          <a:ln/>
        </p:spPr>
      </p:sp>
      <p:sp>
        <p:nvSpPr>
          <p:cNvPr id="3" name="Notes Placeholder 2">
            <a:extLst>
              <a:ext uri="{FF2B5EF4-FFF2-40B4-BE49-F238E27FC236}">
                <a16:creationId xmlns:a16="http://schemas.microsoft.com/office/drawing/2014/main" id="{325D5F32-A3FF-9224-8407-2489BBDCBAB5}"/>
              </a:ext>
            </a:extLst>
          </p:cNvPr>
          <p:cNvSpPr>
            <a:spLocks noGrp="1"/>
          </p:cNvSpPr>
          <p:nvPr>
            <p:ph type="body" idx="1"/>
          </p:nvPr>
        </p:nvSpPr>
        <p:spPr/>
        <p:txBody>
          <a:bodyPr>
            <a:normAutofit/>
          </a:bodyPr>
          <a:lstStyle/>
          <a:p>
            <a:pPr>
              <a:defRPr/>
            </a:pPr>
            <a:endParaRPr lang="en-US" dirty="0"/>
          </a:p>
        </p:txBody>
      </p:sp>
      <p:sp>
        <p:nvSpPr>
          <p:cNvPr id="101380" name="Slide Number Placeholder 3">
            <a:extLst>
              <a:ext uri="{FF2B5EF4-FFF2-40B4-BE49-F238E27FC236}">
                <a16:creationId xmlns:a16="http://schemas.microsoft.com/office/drawing/2014/main" id="{57BA7282-B1A9-73E1-AA42-6DBC159A46A2}"/>
              </a:ext>
            </a:extLst>
          </p:cNvPr>
          <p:cNvSpPr>
            <a:spLocks noGrp="1"/>
          </p:cNvSpPr>
          <p:nvPr>
            <p:ph type="sldNum" sz="quarter" idx="5"/>
          </p:nvPr>
        </p:nvSpPr>
        <p:spPr/>
        <p:txBody>
          <a:bodyPr/>
          <a:lstStyle/>
          <a:p>
            <a:pPr>
              <a:defRPr/>
            </a:pPr>
            <a:fld id="{9ACB9018-2469-47C6-8F6E-02EEFDE5137C}" type="slidenum">
              <a:rPr lang="en-AU" smtClean="0">
                <a:latin typeface="Arial" pitchFamily="34" charset="0"/>
              </a:rPr>
              <a:pPr>
                <a:defRPr/>
              </a:pPr>
              <a:t>160</a:t>
            </a:fld>
            <a:endParaRPr lang="en-AU">
              <a:latin typeface="Arial" pitchFamily="34" charset="0"/>
            </a:endParaRPr>
          </a:p>
        </p:txBody>
      </p:sp>
    </p:spTree>
    <p:extLst>
      <p:ext uri="{BB962C8B-B14F-4D97-AF65-F5344CB8AC3E}">
        <p14:creationId xmlns:p14="http://schemas.microsoft.com/office/powerpoint/2010/main" val="1438476188"/>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p:cNvSpPr>
            <a:spLocks noGrp="1" noChangeArrowheads="1"/>
          </p:cNvSpPr>
          <p:nvPr>
            <p:ph type="ftr" sz="quarter" idx="4"/>
          </p:nvPr>
        </p:nvSpPr>
        <p:spPr/>
        <p:txBody>
          <a:bodyPr/>
          <a:lstStyle/>
          <a:p>
            <a:pPr>
              <a:defRPr/>
            </a:pPr>
            <a:r>
              <a:rPr lang="en-US"/>
              <a:t>1.#</a:t>
            </a:r>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p:spPr>
        <p:txBody>
          <a:bodyPr/>
          <a:lstStyle/>
          <a:p>
            <a:endParaRPr lang="en-US">
              <a:latin typeface="Arial" pitchFamily="34" charset="0"/>
              <a:ea typeface="ＭＳ Ｐゴシック" pitchFamily="34" charset="-128"/>
            </a:endParaRPr>
          </a:p>
        </p:txBody>
      </p:sp>
    </p:spTree>
    <p:extLst>
      <p:ext uri="{BB962C8B-B14F-4D97-AF65-F5344CB8AC3E}">
        <p14:creationId xmlns:p14="http://schemas.microsoft.com/office/powerpoint/2010/main" val="2310432560"/>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p:cNvSpPr>
            <a:spLocks noGrp="1" noChangeArrowheads="1"/>
          </p:cNvSpPr>
          <p:nvPr>
            <p:ph type="ftr" sz="quarter" idx="4"/>
          </p:nvPr>
        </p:nvSpPr>
        <p:spPr/>
        <p:txBody>
          <a:bodyPr/>
          <a:lstStyle/>
          <a:p>
            <a:pPr>
              <a:defRPr/>
            </a:pPr>
            <a:r>
              <a:rPr lang="en-US"/>
              <a:t>1.#</a:t>
            </a:r>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p:spPr>
        <p:txBody>
          <a:bodyPr/>
          <a:lstStyle/>
          <a:p>
            <a:endParaRPr lang="en-US">
              <a:latin typeface="Arial" pitchFamily="34" charset="0"/>
              <a:ea typeface="ＭＳ Ｐゴシック" pitchFamily="34" charset="-128"/>
            </a:endParaRPr>
          </a:p>
        </p:txBody>
      </p:sp>
    </p:spTree>
    <p:extLst>
      <p:ext uri="{BB962C8B-B14F-4D97-AF65-F5344CB8AC3E}">
        <p14:creationId xmlns:p14="http://schemas.microsoft.com/office/powerpoint/2010/main" val="3936852770"/>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p:cNvSpPr>
            <a:spLocks noGrp="1" noChangeArrowheads="1"/>
          </p:cNvSpPr>
          <p:nvPr>
            <p:ph type="ftr" sz="quarter" idx="4"/>
          </p:nvPr>
        </p:nvSpPr>
        <p:spPr/>
        <p:txBody>
          <a:bodyPr/>
          <a:lstStyle/>
          <a:p>
            <a:pPr>
              <a:defRPr/>
            </a:pPr>
            <a:r>
              <a:rPr lang="en-US"/>
              <a:t>1.#</a:t>
            </a:r>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ln/>
        </p:spPr>
        <p:txBody>
          <a:bodyPr/>
          <a:lstStyle/>
          <a:p>
            <a:endParaRPr lang="en-US">
              <a:latin typeface="Arial" pitchFamily="34" charset="0"/>
              <a:ea typeface="ＭＳ Ｐゴシック" pitchFamily="34" charset="-128"/>
            </a:endParaRPr>
          </a:p>
        </p:txBody>
      </p:sp>
    </p:spTree>
    <p:extLst>
      <p:ext uri="{BB962C8B-B14F-4D97-AF65-F5344CB8AC3E}">
        <p14:creationId xmlns:p14="http://schemas.microsoft.com/office/powerpoint/2010/main" val="2740334200"/>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p:cNvSpPr>
            <a:spLocks noGrp="1" noChangeArrowheads="1"/>
          </p:cNvSpPr>
          <p:nvPr>
            <p:ph type="ftr" sz="quarter" idx="4"/>
          </p:nvPr>
        </p:nvSpPr>
        <p:spPr/>
        <p:txBody>
          <a:bodyPr/>
          <a:lstStyle/>
          <a:p>
            <a:pPr>
              <a:defRPr/>
            </a:pPr>
            <a:r>
              <a:rPr lang="en-US"/>
              <a:t>1.#</a:t>
            </a: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p:spPr>
        <p:txBody>
          <a:bodyPr/>
          <a:lstStyle/>
          <a:p>
            <a:endParaRPr lang="en-US">
              <a:latin typeface="Arial" pitchFamily="34" charset="0"/>
              <a:ea typeface="ＭＳ Ｐゴシック" pitchFamily="34" charset="-128"/>
            </a:endParaRPr>
          </a:p>
        </p:txBody>
      </p:sp>
    </p:spTree>
    <p:extLst>
      <p:ext uri="{BB962C8B-B14F-4D97-AF65-F5344CB8AC3E}">
        <p14:creationId xmlns:p14="http://schemas.microsoft.com/office/powerpoint/2010/main" val="2867879960"/>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defRPr>
            </a:lvl1pPr>
            <a:lvl2pPr marL="730250" indent="-280988">
              <a:defRPr sz="1200">
                <a:solidFill>
                  <a:schemeClr val="tx1"/>
                </a:solidFill>
                <a:latin typeface="Arial" pitchFamily="34" charset="0"/>
              </a:defRPr>
            </a:lvl2pPr>
            <a:lvl3pPr marL="1123950" indent="-223838">
              <a:defRPr sz="1200">
                <a:solidFill>
                  <a:schemeClr val="tx1"/>
                </a:solidFill>
                <a:latin typeface="Arial" pitchFamily="34" charset="0"/>
              </a:defRPr>
            </a:lvl3pPr>
            <a:lvl4pPr marL="1574800" indent="-223838">
              <a:defRPr sz="1200">
                <a:solidFill>
                  <a:schemeClr val="tx1"/>
                </a:solidFill>
                <a:latin typeface="Arial" pitchFamily="34" charset="0"/>
              </a:defRPr>
            </a:lvl4pPr>
            <a:lvl5pPr marL="2024063" indent="-223838">
              <a:defRPr sz="1200">
                <a:solidFill>
                  <a:schemeClr val="tx1"/>
                </a:solidFill>
                <a:latin typeface="Arial" pitchFamily="34" charset="0"/>
              </a:defRPr>
            </a:lvl5pPr>
            <a:lvl6pPr marL="2481263" indent="-223838" eaLnBrk="0" fontAlgn="base" hangingPunct="0">
              <a:spcBef>
                <a:spcPct val="30000"/>
              </a:spcBef>
              <a:spcAft>
                <a:spcPct val="0"/>
              </a:spcAft>
              <a:defRPr sz="1200">
                <a:solidFill>
                  <a:schemeClr val="tx1"/>
                </a:solidFill>
                <a:latin typeface="Arial" pitchFamily="34" charset="0"/>
              </a:defRPr>
            </a:lvl6pPr>
            <a:lvl7pPr marL="2938463" indent="-223838" eaLnBrk="0" fontAlgn="base" hangingPunct="0">
              <a:spcBef>
                <a:spcPct val="30000"/>
              </a:spcBef>
              <a:spcAft>
                <a:spcPct val="0"/>
              </a:spcAft>
              <a:defRPr sz="1200">
                <a:solidFill>
                  <a:schemeClr val="tx1"/>
                </a:solidFill>
                <a:latin typeface="Arial" pitchFamily="34" charset="0"/>
              </a:defRPr>
            </a:lvl7pPr>
            <a:lvl8pPr marL="3395663" indent="-223838" eaLnBrk="0" fontAlgn="base" hangingPunct="0">
              <a:spcBef>
                <a:spcPct val="30000"/>
              </a:spcBef>
              <a:spcAft>
                <a:spcPct val="0"/>
              </a:spcAft>
              <a:defRPr sz="1200">
                <a:solidFill>
                  <a:schemeClr val="tx1"/>
                </a:solidFill>
                <a:latin typeface="Arial" pitchFamily="34" charset="0"/>
              </a:defRPr>
            </a:lvl8pPr>
            <a:lvl9pPr marL="3852863" indent="-223838" eaLnBrk="0" fontAlgn="base" hangingPunct="0">
              <a:spcBef>
                <a:spcPct val="30000"/>
              </a:spcBef>
              <a:spcAft>
                <a:spcPct val="0"/>
              </a:spcAft>
              <a:defRPr sz="1200">
                <a:solidFill>
                  <a:schemeClr val="tx1"/>
                </a:solidFill>
                <a:latin typeface="Arial" pitchFamily="34" charset="0"/>
              </a:defRPr>
            </a:lvl9pPr>
          </a:lstStyle>
          <a:p>
            <a:fld id="{D8826C29-CAA4-46FE-900E-FCBCF7C3D464}" type="slidenum">
              <a:rPr lang="en-AU" altLang="tr-TR" sz="1300"/>
              <a:pPr/>
              <a:t>168</a:t>
            </a:fld>
            <a:endParaRPr lang="en-AU" altLang="tr-TR" sz="1300"/>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tr-TR">
              <a:latin typeface="Times New Roman" pitchFamily="18" charset="0"/>
            </a:endParaRPr>
          </a:p>
        </p:txBody>
      </p:sp>
    </p:spTree>
    <p:extLst>
      <p:ext uri="{BB962C8B-B14F-4D97-AF65-F5344CB8AC3E}">
        <p14:creationId xmlns:p14="http://schemas.microsoft.com/office/powerpoint/2010/main" val="2825530772"/>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1031"/>
          <p:cNvSpPr>
            <a:spLocks noGrp="1" noChangeArrowheads="1"/>
          </p:cNvSpPr>
          <p:nvPr>
            <p:ph type="sldNum" sz="quarter" idx="5"/>
          </p:nvPr>
        </p:nvSpPr>
        <p:spPr/>
        <p:txBody>
          <a:bodyPr/>
          <a:lstStyle/>
          <a:p>
            <a:pPr>
              <a:defRPr/>
            </a:pPr>
            <a:fld id="{0FD7A5A1-6139-45F3-97B2-A2D741E9B3AA}" type="slidenum">
              <a:rPr lang="en-AU" smtClean="0">
                <a:latin typeface="Arial" pitchFamily="34" charset="0"/>
              </a:rPr>
              <a:pPr>
                <a:defRPr/>
              </a:pPr>
              <a:t>169</a:t>
            </a:fld>
            <a:endParaRPr lang="en-AU">
              <a:latin typeface="Arial" pitchFamily="34" charset="0"/>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p:spPr>
        <p:txBody>
          <a:bodyPr/>
          <a:lstStyle/>
          <a:p>
            <a:pPr eaLnBrk="1" hangingPunct="1"/>
            <a:r>
              <a:rPr lang="en-US">
                <a:latin typeface="Arial" pitchFamily="34" charset="0"/>
                <a:ea typeface="ＭＳ Ｐゴシック" pitchFamily="34" charset="-128"/>
              </a:rPr>
              <a:t>Chapter 1 summary.</a:t>
            </a:r>
          </a:p>
        </p:txBody>
      </p:sp>
    </p:spTree>
    <p:extLst>
      <p:ext uri="{BB962C8B-B14F-4D97-AF65-F5344CB8AC3E}">
        <p14:creationId xmlns:p14="http://schemas.microsoft.com/office/powerpoint/2010/main" val="29174391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32012" y="419100"/>
            <a:ext cx="17068800" cy="1323976"/>
          </a:xfrm>
        </p:spPr>
        <p:txBody>
          <a:bodyPr>
            <a:normAutofit/>
          </a:bodyPr>
          <a:lstStyle>
            <a:lvl1pPr>
              <a:defRPr sz="5400"/>
            </a:lvl1pPr>
          </a:lstStyle>
          <a:p>
            <a:r>
              <a:rPr lang="en-US" dirty="0"/>
              <a:t>Click to edit Master title style</a:t>
            </a:r>
          </a:p>
        </p:txBody>
      </p:sp>
      <p:sp>
        <p:nvSpPr>
          <p:cNvPr id="3" name="Content Placeholder 2"/>
          <p:cNvSpPr>
            <a:spLocks noGrp="1"/>
          </p:cNvSpPr>
          <p:nvPr>
            <p:ph idx="1"/>
          </p:nvPr>
        </p:nvSpPr>
        <p:spPr>
          <a:xfrm>
            <a:off x="609600" y="2019300"/>
            <a:ext cx="16992600" cy="7391400"/>
          </a:xfrm>
        </p:spPr>
        <p:txBody>
          <a:bodyPr/>
          <a:lstStyle>
            <a:lvl1pPr>
              <a:defRPr sz="3600"/>
            </a:lvl1pPr>
            <a:lvl2pPr>
              <a:defRPr sz="32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10" name="Footer Placeholder 5"/>
          <p:cNvSpPr>
            <a:spLocks noGrp="1"/>
          </p:cNvSpPr>
          <p:nvPr>
            <p:ph type="ftr" sz="quarter" idx="10"/>
          </p:nvPr>
        </p:nvSpPr>
        <p:spPr>
          <a:xfrm>
            <a:off x="482600" y="9534526"/>
            <a:ext cx="3787776" cy="547688"/>
          </a:xfrm>
          <a:prstGeom prst="rect">
            <a:avLst/>
          </a:prstGeom>
          <a:effectLst>
            <a:outerShdw blurRad="50800" dist="38100" dir="2700000" algn="tl" rotWithShape="0">
              <a:prstClr val="black">
                <a:alpha val="40000"/>
              </a:prstClr>
            </a:outerShdw>
          </a:effectLst>
        </p:spPr>
        <p:txBody>
          <a:bodyPr/>
          <a:lstStyle>
            <a:lvl1pPr marL="0" algn="l" defTabSz="1371600" rtl="0" eaLnBrk="1" latinLnBrk="0" hangingPunct="1">
              <a:defRPr sz="1800" kern="1200">
                <a:solidFill>
                  <a:schemeClr val="tx1"/>
                </a:solidFill>
                <a:effectLst>
                  <a:outerShdw blurRad="38100" dist="12700" dir="2700000" algn="tl" rotWithShape="0">
                    <a:prstClr val="black">
                      <a:alpha val="60000"/>
                    </a:prstClr>
                  </a:outerShdw>
                </a:effectLst>
                <a:latin typeface="+mn-lt"/>
                <a:ea typeface="+mn-ea"/>
                <a:cs typeface="+mn-cs"/>
              </a:defRPr>
            </a:lvl1pPr>
          </a:lstStyle>
          <a:p>
            <a:pPr>
              <a:defRPr/>
            </a:pPr>
            <a:endParaRPr lang="en-US"/>
          </a:p>
        </p:txBody>
      </p:sp>
      <p:sp>
        <p:nvSpPr>
          <p:cNvPr id="11" name="Slide Number Placeholder 6"/>
          <p:cNvSpPr>
            <a:spLocks noGrp="1"/>
          </p:cNvSpPr>
          <p:nvPr>
            <p:ph type="sldNum" sz="quarter" idx="11"/>
          </p:nvPr>
        </p:nvSpPr>
        <p:spPr>
          <a:xfrm>
            <a:off x="16770351" y="9424988"/>
            <a:ext cx="1517650" cy="862013"/>
          </a:xfrm>
        </p:spPr>
        <p:txBody>
          <a:bodyPr>
            <a:noAutofit/>
          </a:bodyPr>
          <a:lstStyle>
            <a:lvl1pPr marL="0" algn="ctr" defTabSz="1371600" rtl="0" eaLnBrk="1" latinLnBrk="0" hangingPunct="1">
              <a:spcBef>
                <a:spcPct val="0"/>
              </a:spcBef>
              <a:defRPr sz="5400" kern="1200">
                <a:solidFill>
                  <a:schemeClr val="tx1"/>
                </a:solidFill>
                <a:effectLst>
                  <a:outerShdw blurRad="50800" dist="12700" dir="2700000" sx="100500" sy="100500" algn="tl" rotWithShape="0">
                    <a:prstClr val="black">
                      <a:alpha val="60000"/>
                    </a:prstClr>
                  </a:outerShdw>
                </a:effectLst>
                <a:latin typeface="+mj-lt"/>
                <a:ea typeface="+mj-ea"/>
                <a:cs typeface="+mj-cs"/>
              </a:defRPr>
            </a:lvl1pPr>
          </a:lstStyle>
          <a:p>
            <a:pPr>
              <a:defRPr/>
            </a:pPr>
            <a:fld id="{652DE671-F87C-403A-9965-199A8985BA5D}" type="slidenum">
              <a:rPr lang="en-US"/>
              <a:pPr>
                <a:defRPr/>
              </a:pPr>
              <a:t>‹#›</a:t>
            </a:fld>
            <a:endParaRPr lang="en-US" dirty="0"/>
          </a:p>
        </p:txBody>
      </p:sp>
    </p:spTree>
    <p:extLst>
      <p:ext uri="{BB962C8B-B14F-4D97-AF65-F5344CB8AC3E}">
        <p14:creationId xmlns:p14="http://schemas.microsoft.com/office/powerpoint/2010/main" val="13924765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Content with Caption">
    <p:spTree>
      <p:nvGrpSpPr>
        <p:cNvPr id="1" name=""/>
        <p:cNvGrpSpPr/>
        <p:nvPr/>
      </p:nvGrpSpPr>
      <p:grpSpPr>
        <a:xfrm>
          <a:off x="0" y="0"/>
          <a:ext cx="0" cy="0"/>
          <a:chOff x="0" y="0"/>
          <a:chExt cx="0" cy="0"/>
        </a:xfrm>
      </p:grpSpPr>
      <p:sp>
        <p:nvSpPr>
          <p:cNvPr id="3" name="Slide Number Placeholder 6"/>
          <p:cNvSpPr>
            <a:spLocks noGrp="1"/>
          </p:cNvSpPr>
          <p:nvPr>
            <p:ph type="sldNum" sz="quarter" idx="11"/>
          </p:nvPr>
        </p:nvSpPr>
        <p:spPr>
          <a:xfrm>
            <a:off x="16764000" y="9486900"/>
            <a:ext cx="1524000" cy="800100"/>
          </a:xfrm>
        </p:spPr>
        <p:txBody>
          <a:bodyPr>
            <a:noAutofit/>
          </a:bodyPr>
          <a:lstStyle>
            <a:lvl1pPr marL="0" algn="ctr" defTabSz="1371600" rtl="0" eaLnBrk="1" latinLnBrk="0" hangingPunct="1">
              <a:spcBef>
                <a:spcPct val="0"/>
              </a:spcBef>
              <a:defRPr sz="2400" kern="1200">
                <a:solidFill>
                  <a:schemeClr val="tx1"/>
                </a:solidFill>
                <a:effectLst>
                  <a:outerShdw blurRad="50800" dist="12700" dir="2700000" sx="100500" sy="100500" algn="tl" rotWithShape="0">
                    <a:prstClr val="black">
                      <a:alpha val="60000"/>
                    </a:prstClr>
                  </a:outerShdw>
                </a:effectLst>
                <a:latin typeface="+mj-lt"/>
                <a:ea typeface="+mj-ea"/>
                <a:cs typeface="+mj-cs"/>
              </a:defRPr>
            </a:lvl1pPr>
          </a:lstStyle>
          <a:p>
            <a:pPr>
              <a:defRPr/>
            </a:pPr>
            <a:fld id="{2B45311F-D8AA-4AF7-9AF9-F279183E3F61}" type="slidenum">
              <a:rPr lang="en-US" smtClean="0"/>
              <a:pPr>
                <a:defRPr/>
              </a:pPr>
              <a:t>‹#›</a:t>
            </a:fld>
            <a:endParaRPr lang="en-US" dirty="0"/>
          </a:p>
        </p:txBody>
      </p:sp>
    </p:spTree>
    <p:extLst>
      <p:ext uri="{BB962C8B-B14F-4D97-AF65-F5344CB8AC3E}">
        <p14:creationId xmlns:p14="http://schemas.microsoft.com/office/powerpoint/2010/main" val="35098898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524001" y="228600"/>
            <a:ext cx="15166974" cy="1257300"/>
          </a:xfrm>
          <a:prstGeom prst="rect">
            <a:avLst/>
          </a:prstGeom>
        </p:spPr>
        <p:txBody>
          <a:bodyPr/>
          <a:lstStyle>
            <a:lvl1pPr>
              <a:defRPr sz="4200">
                <a:solidFill>
                  <a:srgbClr val="FFFF00"/>
                </a:solidFill>
              </a:defRPr>
            </a:lvl1pPr>
          </a:lstStyle>
          <a:p>
            <a:r>
              <a:rPr lang="en-US" dirty="0"/>
              <a:t>Click to edit Master title style</a:t>
            </a:r>
            <a:endParaRPr/>
          </a:p>
        </p:txBody>
      </p:sp>
      <p:sp>
        <p:nvSpPr>
          <p:cNvPr id="8" name="Slide Number Placeholder 5"/>
          <p:cNvSpPr>
            <a:spLocks noGrp="1"/>
          </p:cNvSpPr>
          <p:nvPr>
            <p:ph type="sldNum" sz="quarter" idx="11"/>
          </p:nvPr>
        </p:nvSpPr>
        <p:spPr/>
        <p:txBody>
          <a:bodyPr/>
          <a:lstStyle>
            <a:lvl1pPr>
              <a:defRPr/>
            </a:lvl1pPr>
          </a:lstStyle>
          <a:p>
            <a:pPr>
              <a:defRPr/>
            </a:pPr>
            <a:fld id="{A23436D4-448B-4E04-AFBA-663227BA0FD8}" type="slidenum">
              <a:rPr lang="en-US"/>
              <a:pPr>
                <a:defRPr/>
              </a:pPr>
              <a:t>‹#›</a:t>
            </a:fld>
            <a:endParaRPr lang="en-US" dirty="0"/>
          </a:p>
        </p:txBody>
      </p:sp>
    </p:spTree>
    <p:extLst>
      <p:ext uri="{BB962C8B-B14F-4D97-AF65-F5344CB8AC3E}">
        <p14:creationId xmlns:p14="http://schemas.microsoft.com/office/powerpoint/2010/main" val="21070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24000" y="228601"/>
            <a:ext cx="15166976" cy="1163171"/>
          </a:xfrm>
          <a:prstGeom prst="rect">
            <a:avLst/>
          </a:prstGeom>
        </p:spPr>
        <p:txBody>
          <a:bodyPr/>
          <a:lstStyle>
            <a:lvl1pPr>
              <a:defRPr sz="3600"/>
            </a:lvl1pPr>
          </a:lstStyle>
          <a:p>
            <a:r>
              <a:rPr lang="en-US" dirty="0"/>
              <a:t>Click to edit Master title style</a:t>
            </a:r>
            <a:endParaRPr/>
          </a:p>
        </p:txBody>
      </p:sp>
      <p:sp>
        <p:nvSpPr>
          <p:cNvPr id="7" name="Footer Placeholder 7"/>
          <p:cNvSpPr>
            <a:spLocks noGrp="1"/>
          </p:cNvSpPr>
          <p:nvPr>
            <p:ph type="ftr" sz="quarter" idx="10"/>
          </p:nvPr>
        </p:nvSpPr>
        <p:spPr>
          <a:xfrm>
            <a:off x="5486400" y="9367838"/>
            <a:ext cx="7315200" cy="714375"/>
          </a:xfrm>
          <a:prstGeom prst="rect">
            <a:avLst/>
          </a:prstGeom>
        </p:spPr>
        <p:txBody>
          <a:bodyPr/>
          <a:lstStyle>
            <a:lvl1pPr>
              <a:defRPr/>
            </a:lvl1pPr>
          </a:lstStyle>
          <a:p>
            <a:pPr>
              <a:defRPr/>
            </a:pPr>
            <a:endParaRPr lang="en-US"/>
          </a:p>
        </p:txBody>
      </p:sp>
      <p:sp>
        <p:nvSpPr>
          <p:cNvPr id="8" name="Slide Number Placeholder 8"/>
          <p:cNvSpPr>
            <a:spLocks noGrp="1"/>
          </p:cNvSpPr>
          <p:nvPr>
            <p:ph type="sldNum" sz="quarter" idx="11"/>
          </p:nvPr>
        </p:nvSpPr>
        <p:spPr/>
        <p:txBody>
          <a:bodyPr/>
          <a:lstStyle>
            <a:lvl1pPr>
              <a:defRPr/>
            </a:lvl1pPr>
          </a:lstStyle>
          <a:p>
            <a:pPr>
              <a:defRPr/>
            </a:pPr>
            <a:fld id="{BF115A7D-E909-42B9-8383-73B725758CD1}" type="slidenum">
              <a:rPr lang="en-US"/>
              <a:pPr>
                <a:defRPr/>
              </a:pPr>
              <a:t>‹#›</a:t>
            </a:fld>
            <a:endParaRPr lang="en-US" dirty="0"/>
          </a:p>
        </p:txBody>
      </p:sp>
    </p:spTree>
    <p:extLst>
      <p:ext uri="{BB962C8B-B14F-4D97-AF65-F5344CB8AC3E}">
        <p14:creationId xmlns:p14="http://schemas.microsoft.com/office/powerpoint/2010/main" val="8050348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lvl1pPr>
              <a:defRPr/>
            </a:lvl1pPr>
          </a:lstStyle>
          <a:p>
            <a:pPr>
              <a:defRPr/>
            </a:pPr>
            <a:fld id="{9D903451-7FB5-4754-85AC-46675494811D}" type="slidenum">
              <a:rPr lang="en-US"/>
              <a:pPr>
                <a:defRPr/>
              </a:pPr>
              <a:t>‹#›</a:t>
            </a:fld>
            <a:endParaRPr lang="en-US" dirty="0"/>
          </a:p>
        </p:txBody>
      </p:sp>
    </p:spTree>
    <p:extLst>
      <p:ext uri="{BB962C8B-B14F-4D97-AF65-F5344CB8AC3E}">
        <p14:creationId xmlns:p14="http://schemas.microsoft.com/office/powerpoint/2010/main" val="4860386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7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24000" y="228602"/>
            <a:ext cx="15166976" cy="1257300"/>
          </a:xfrm>
          <a:prstGeom prst="rect">
            <a:avLst/>
          </a:prstGeom>
        </p:spPr>
        <p:txBody>
          <a:bodyPr/>
          <a:lstStyle>
            <a:lvl1pPr>
              <a:defRPr sz="4800"/>
            </a:lvl1pPr>
          </a:lstStyle>
          <a:p>
            <a:r>
              <a:rPr lang="en-US" dirty="0"/>
              <a:t>Click to edit Master title style</a:t>
            </a:r>
            <a:endParaRPr/>
          </a:p>
        </p:txBody>
      </p:sp>
      <p:sp>
        <p:nvSpPr>
          <p:cNvPr id="8" name="Slide Number Placeholder 6"/>
          <p:cNvSpPr>
            <a:spLocks noGrp="1"/>
          </p:cNvSpPr>
          <p:nvPr>
            <p:ph type="sldNum" sz="quarter" idx="11"/>
          </p:nvPr>
        </p:nvSpPr>
        <p:spPr/>
        <p:txBody>
          <a:bodyPr/>
          <a:lstStyle>
            <a:lvl1pPr>
              <a:defRPr/>
            </a:lvl1pPr>
          </a:lstStyle>
          <a:p>
            <a:pPr>
              <a:defRPr/>
            </a:pPr>
            <a:fld id="{3D1DDD1E-8083-4C2F-82FA-F0F2767FCC10}" type="slidenum">
              <a:rPr lang="en-US"/>
              <a:pPr>
                <a:defRPr/>
              </a:pPr>
              <a:t>‹#›</a:t>
            </a:fld>
            <a:endParaRPr lang="en-US" dirty="0"/>
          </a:p>
        </p:txBody>
      </p:sp>
    </p:spTree>
    <p:extLst>
      <p:ext uri="{BB962C8B-B14F-4D97-AF65-F5344CB8AC3E}">
        <p14:creationId xmlns:p14="http://schemas.microsoft.com/office/powerpoint/2010/main" val="32963385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8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24000" y="228601"/>
            <a:ext cx="15166976" cy="1620371"/>
          </a:xfrm>
          <a:prstGeom prst="rect">
            <a:avLst/>
          </a:prstGeom>
        </p:spPr>
        <p:txBody>
          <a:bodyPr/>
          <a:lstStyle>
            <a:lvl1pPr>
              <a:defRPr sz="3600"/>
            </a:lvl1pPr>
          </a:lstStyle>
          <a:p>
            <a:r>
              <a:rPr lang="en-US" dirty="0"/>
              <a:t>Click to edit Master title style</a:t>
            </a:r>
            <a:endParaRPr/>
          </a:p>
        </p:txBody>
      </p:sp>
      <p:sp>
        <p:nvSpPr>
          <p:cNvPr id="8" name="Slide Number Placeholder 6"/>
          <p:cNvSpPr>
            <a:spLocks noGrp="1"/>
          </p:cNvSpPr>
          <p:nvPr>
            <p:ph type="sldNum" sz="quarter" idx="11"/>
          </p:nvPr>
        </p:nvSpPr>
        <p:spPr/>
        <p:txBody>
          <a:bodyPr/>
          <a:lstStyle>
            <a:lvl1pPr>
              <a:defRPr/>
            </a:lvl1pPr>
          </a:lstStyle>
          <a:p>
            <a:pPr>
              <a:defRPr/>
            </a:pPr>
            <a:fld id="{3D1DDD1E-8083-4C2F-82FA-F0F2767FCC10}" type="slidenum">
              <a:rPr lang="en-US"/>
              <a:pPr>
                <a:defRPr/>
              </a:pPr>
              <a:t>‹#›</a:t>
            </a:fld>
            <a:endParaRPr lang="en-US" dirty="0"/>
          </a:p>
        </p:txBody>
      </p:sp>
    </p:spTree>
    <p:extLst>
      <p:ext uri="{BB962C8B-B14F-4D97-AF65-F5344CB8AC3E}">
        <p14:creationId xmlns:p14="http://schemas.microsoft.com/office/powerpoint/2010/main" val="39656945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9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24000" y="228601"/>
            <a:ext cx="15166976" cy="1620371"/>
          </a:xfrm>
          <a:prstGeom prst="rect">
            <a:avLst/>
          </a:prstGeom>
        </p:spPr>
        <p:txBody>
          <a:bodyPr/>
          <a:lstStyle>
            <a:lvl1pPr>
              <a:defRPr sz="3600"/>
            </a:lvl1pPr>
          </a:lstStyle>
          <a:p>
            <a:r>
              <a:rPr lang="en-US" dirty="0"/>
              <a:t>Click to edit Master title style</a:t>
            </a:r>
            <a:endParaRPr/>
          </a:p>
        </p:txBody>
      </p:sp>
      <p:sp>
        <p:nvSpPr>
          <p:cNvPr id="7" name="Footer Placeholder 5"/>
          <p:cNvSpPr>
            <a:spLocks noGrp="1"/>
          </p:cNvSpPr>
          <p:nvPr>
            <p:ph type="ftr" sz="quarter" idx="10"/>
          </p:nvPr>
        </p:nvSpPr>
        <p:spPr>
          <a:xfrm>
            <a:off x="5486400" y="9367838"/>
            <a:ext cx="7315200" cy="714375"/>
          </a:xfrm>
          <a:prstGeom prst="rect">
            <a:avLst/>
          </a:prstGeom>
        </p:spPr>
        <p:txBody>
          <a:bodyPr/>
          <a:lstStyle>
            <a:lvl1pPr>
              <a:defRPr/>
            </a:lvl1pPr>
          </a:lstStyle>
          <a:p>
            <a:pPr>
              <a:defRPr/>
            </a:pPr>
            <a:endParaRPr lang="en-US"/>
          </a:p>
        </p:txBody>
      </p:sp>
      <p:sp>
        <p:nvSpPr>
          <p:cNvPr id="8" name="Slide Number Placeholder 6"/>
          <p:cNvSpPr>
            <a:spLocks noGrp="1"/>
          </p:cNvSpPr>
          <p:nvPr>
            <p:ph type="sldNum" sz="quarter" idx="11"/>
          </p:nvPr>
        </p:nvSpPr>
        <p:spPr/>
        <p:txBody>
          <a:bodyPr/>
          <a:lstStyle>
            <a:lvl1pPr>
              <a:defRPr/>
            </a:lvl1pPr>
          </a:lstStyle>
          <a:p>
            <a:pPr>
              <a:defRPr/>
            </a:pPr>
            <a:fld id="{3D1DDD1E-8083-4C2F-82FA-F0F2767FCC10}" type="slidenum">
              <a:rPr lang="en-US"/>
              <a:pPr>
                <a:defRPr/>
              </a:pPr>
              <a:t>‹#›</a:t>
            </a:fld>
            <a:endParaRPr lang="en-US" dirty="0"/>
          </a:p>
        </p:txBody>
      </p:sp>
    </p:spTree>
    <p:extLst>
      <p:ext uri="{BB962C8B-B14F-4D97-AF65-F5344CB8AC3E}">
        <p14:creationId xmlns:p14="http://schemas.microsoft.com/office/powerpoint/2010/main" val="16036365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24000" y="228601"/>
            <a:ext cx="15166976" cy="1163171"/>
          </a:xfrm>
          <a:prstGeom prst="rect">
            <a:avLst/>
          </a:prstGeom>
        </p:spPr>
        <p:txBody>
          <a:bodyPr/>
          <a:lstStyle>
            <a:lvl1pPr>
              <a:defRPr sz="3600"/>
            </a:lvl1pPr>
          </a:lstStyle>
          <a:p>
            <a:r>
              <a:rPr lang="en-US" dirty="0"/>
              <a:t>Click to edit Master title style</a:t>
            </a:r>
            <a:endParaRPr/>
          </a:p>
        </p:txBody>
      </p:sp>
      <p:sp>
        <p:nvSpPr>
          <p:cNvPr id="8" name="Slide Number Placeholder 8"/>
          <p:cNvSpPr>
            <a:spLocks noGrp="1"/>
          </p:cNvSpPr>
          <p:nvPr>
            <p:ph type="sldNum" sz="quarter" idx="11"/>
          </p:nvPr>
        </p:nvSpPr>
        <p:spPr/>
        <p:txBody>
          <a:bodyPr/>
          <a:lstStyle>
            <a:lvl1pPr>
              <a:defRPr/>
            </a:lvl1pPr>
          </a:lstStyle>
          <a:p>
            <a:pPr>
              <a:defRPr/>
            </a:pPr>
            <a:fld id="{BF115A7D-E909-42B9-8383-73B725758CD1}" type="slidenum">
              <a:rPr lang="en-US"/>
              <a:pPr>
                <a:defRPr/>
              </a:pPr>
              <a:t>‹#›</a:t>
            </a:fld>
            <a:endParaRPr lang="en-US" dirty="0"/>
          </a:p>
        </p:txBody>
      </p:sp>
    </p:spTree>
    <p:extLst>
      <p:ext uri="{BB962C8B-B14F-4D97-AF65-F5344CB8AC3E}">
        <p14:creationId xmlns:p14="http://schemas.microsoft.com/office/powerpoint/2010/main" val="24578857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4_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24000" y="228601"/>
            <a:ext cx="15166976" cy="1163171"/>
          </a:xfrm>
          <a:prstGeom prst="rect">
            <a:avLst/>
          </a:prstGeom>
        </p:spPr>
        <p:txBody>
          <a:bodyPr/>
          <a:lstStyle>
            <a:lvl1pPr>
              <a:defRPr sz="3600"/>
            </a:lvl1pPr>
          </a:lstStyle>
          <a:p>
            <a:r>
              <a:rPr lang="en-US" dirty="0"/>
              <a:t>Click to edit Master title style</a:t>
            </a:r>
            <a:endParaRPr/>
          </a:p>
        </p:txBody>
      </p:sp>
      <p:sp>
        <p:nvSpPr>
          <p:cNvPr id="7" name="Footer Placeholder 7"/>
          <p:cNvSpPr>
            <a:spLocks noGrp="1"/>
          </p:cNvSpPr>
          <p:nvPr>
            <p:ph type="ftr" sz="quarter" idx="10"/>
          </p:nvPr>
        </p:nvSpPr>
        <p:spPr>
          <a:xfrm>
            <a:off x="5486400" y="9367838"/>
            <a:ext cx="7315200" cy="714375"/>
          </a:xfrm>
          <a:prstGeom prst="rect">
            <a:avLst/>
          </a:prstGeom>
        </p:spPr>
        <p:txBody>
          <a:bodyPr/>
          <a:lstStyle>
            <a:lvl1pPr>
              <a:defRPr/>
            </a:lvl1pPr>
          </a:lstStyle>
          <a:p>
            <a:pPr>
              <a:defRPr/>
            </a:pPr>
            <a:endParaRPr lang="en-US"/>
          </a:p>
        </p:txBody>
      </p:sp>
      <p:sp>
        <p:nvSpPr>
          <p:cNvPr id="8" name="Slide Number Placeholder 8"/>
          <p:cNvSpPr>
            <a:spLocks noGrp="1"/>
          </p:cNvSpPr>
          <p:nvPr>
            <p:ph type="sldNum" sz="quarter" idx="11"/>
          </p:nvPr>
        </p:nvSpPr>
        <p:spPr/>
        <p:txBody>
          <a:bodyPr/>
          <a:lstStyle>
            <a:lvl1pPr>
              <a:defRPr/>
            </a:lvl1pPr>
          </a:lstStyle>
          <a:p>
            <a:pPr>
              <a:defRPr/>
            </a:pPr>
            <a:fld id="{BF115A7D-E909-42B9-8383-73B725758CD1}" type="slidenum">
              <a:rPr lang="en-US"/>
              <a:pPr>
                <a:defRPr/>
              </a:pPr>
              <a:t>‹#›</a:t>
            </a:fld>
            <a:endParaRPr lang="en-US" dirty="0"/>
          </a:p>
        </p:txBody>
      </p:sp>
    </p:spTree>
    <p:extLst>
      <p:ext uri="{BB962C8B-B14F-4D97-AF65-F5344CB8AC3E}">
        <p14:creationId xmlns:p14="http://schemas.microsoft.com/office/powerpoint/2010/main" val="42539285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5_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24000" y="228601"/>
            <a:ext cx="15166976" cy="1163171"/>
          </a:xfrm>
          <a:prstGeom prst="rect">
            <a:avLst/>
          </a:prstGeom>
        </p:spPr>
        <p:txBody>
          <a:bodyPr/>
          <a:lstStyle>
            <a:lvl1pPr>
              <a:defRPr sz="3600"/>
            </a:lvl1pPr>
          </a:lstStyle>
          <a:p>
            <a:r>
              <a:rPr lang="en-US" dirty="0"/>
              <a:t>Click to edit Master title style</a:t>
            </a:r>
            <a:endParaRPr/>
          </a:p>
        </p:txBody>
      </p:sp>
      <p:sp>
        <p:nvSpPr>
          <p:cNvPr id="7" name="Footer Placeholder 7"/>
          <p:cNvSpPr>
            <a:spLocks noGrp="1"/>
          </p:cNvSpPr>
          <p:nvPr>
            <p:ph type="ftr" sz="quarter" idx="10"/>
          </p:nvPr>
        </p:nvSpPr>
        <p:spPr>
          <a:xfrm>
            <a:off x="5486400" y="9367838"/>
            <a:ext cx="7315200" cy="714375"/>
          </a:xfrm>
          <a:prstGeom prst="rect">
            <a:avLst/>
          </a:prstGeom>
        </p:spPr>
        <p:txBody>
          <a:bodyPr/>
          <a:lstStyle>
            <a:lvl1pPr>
              <a:defRPr/>
            </a:lvl1pPr>
          </a:lstStyle>
          <a:p>
            <a:pPr>
              <a:defRPr/>
            </a:pPr>
            <a:endParaRPr lang="en-US"/>
          </a:p>
        </p:txBody>
      </p:sp>
      <p:sp>
        <p:nvSpPr>
          <p:cNvPr id="8" name="Slide Number Placeholder 8"/>
          <p:cNvSpPr>
            <a:spLocks noGrp="1"/>
          </p:cNvSpPr>
          <p:nvPr>
            <p:ph type="sldNum" sz="quarter" idx="11"/>
          </p:nvPr>
        </p:nvSpPr>
        <p:spPr/>
        <p:txBody>
          <a:bodyPr/>
          <a:lstStyle>
            <a:lvl1pPr>
              <a:defRPr/>
            </a:lvl1pPr>
          </a:lstStyle>
          <a:p>
            <a:pPr>
              <a:defRPr/>
            </a:pPr>
            <a:fld id="{BF115A7D-E909-42B9-8383-73B725758CD1}" type="slidenum">
              <a:rPr lang="en-US"/>
              <a:pPr>
                <a:defRPr/>
              </a:pPr>
              <a:t>‹#›</a:t>
            </a:fld>
            <a:endParaRPr lang="en-US" dirty="0"/>
          </a:p>
        </p:txBody>
      </p:sp>
    </p:spTree>
    <p:extLst>
      <p:ext uri="{BB962C8B-B14F-4D97-AF65-F5344CB8AC3E}">
        <p14:creationId xmlns:p14="http://schemas.microsoft.com/office/powerpoint/2010/main" val="11744744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524001" y="228600"/>
            <a:ext cx="15166974" cy="1924050"/>
          </a:xfrm>
          <a:prstGeom prst="rect">
            <a:avLst/>
          </a:prstGeom>
        </p:spPr>
        <p:txBody>
          <a:bodyPr/>
          <a:lstStyle>
            <a:lvl1pPr>
              <a:defRPr sz="4200">
                <a:solidFill>
                  <a:srgbClr val="000000"/>
                </a:solidFill>
              </a:defRPr>
            </a:lvl1pPr>
          </a:lstStyle>
          <a:p>
            <a:r>
              <a:rPr lang="en-US" dirty="0"/>
              <a:t>Click to edit Master title style</a:t>
            </a:r>
            <a:endParaRPr/>
          </a:p>
        </p:txBody>
      </p:sp>
      <p:sp>
        <p:nvSpPr>
          <p:cNvPr id="7" name="Footer Placeholder 4"/>
          <p:cNvSpPr>
            <a:spLocks noGrp="1"/>
          </p:cNvSpPr>
          <p:nvPr>
            <p:ph type="ftr" sz="quarter" idx="10"/>
          </p:nvPr>
        </p:nvSpPr>
        <p:spPr>
          <a:xfrm>
            <a:off x="5486400" y="9367838"/>
            <a:ext cx="7315200" cy="714375"/>
          </a:xfrm>
          <a:prstGeom prst="rect">
            <a:avLst/>
          </a:prstGeom>
        </p:spPr>
        <p:txBody>
          <a:bodyPr/>
          <a:lstStyle>
            <a:lvl1pPr>
              <a:defRPr/>
            </a:lvl1pPr>
          </a:lstStyle>
          <a:p>
            <a:pPr>
              <a:defRPr/>
            </a:pPr>
            <a:endParaRPr lang="en-US"/>
          </a:p>
        </p:txBody>
      </p:sp>
      <p:sp>
        <p:nvSpPr>
          <p:cNvPr id="8" name="Slide Number Placeholder 5"/>
          <p:cNvSpPr>
            <a:spLocks noGrp="1"/>
          </p:cNvSpPr>
          <p:nvPr>
            <p:ph type="sldNum" sz="quarter" idx="11"/>
          </p:nvPr>
        </p:nvSpPr>
        <p:spPr/>
        <p:txBody>
          <a:bodyPr/>
          <a:lstStyle>
            <a:lvl1pPr>
              <a:defRPr/>
            </a:lvl1pPr>
          </a:lstStyle>
          <a:p>
            <a:pPr>
              <a:defRPr/>
            </a:pPr>
            <a:fld id="{A23436D4-448B-4E04-AFBA-663227BA0FD8}" type="slidenum">
              <a:rPr lang="en-US"/>
              <a:pPr>
                <a:defRPr/>
              </a:pPr>
              <a:t>‹#›</a:t>
            </a:fld>
            <a:endParaRPr lang="en-US" dirty="0"/>
          </a:p>
        </p:txBody>
      </p:sp>
    </p:spTree>
    <p:extLst>
      <p:ext uri="{BB962C8B-B14F-4D97-AF65-F5344CB8AC3E}">
        <p14:creationId xmlns:p14="http://schemas.microsoft.com/office/powerpoint/2010/main" val="5438922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6_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24000" y="228601"/>
            <a:ext cx="15166976" cy="1163171"/>
          </a:xfrm>
          <a:prstGeom prst="rect">
            <a:avLst/>
          </a:prstGeom>
        </p:spPr>
        <p:txBody>
          <a:bodyPr/>
          <a:lstStyle>
            <a:lvl1pPr>
              <a:defRPr sz="3600"/>
            </a:lvl1pPr>
          </a:lstStyle>
          <a:p>
            <a:r>
              <a:rPr lang="en-US" dirty="0"/>
              <a:t>Click to edit Master title style</a:t>
            </a:r>
            <a:endParaRPr/>
          </a:p>
        </p:txBody>
      </p:sp>
      <p:sp>
        <p:nvSpPr>
          <p:cNvPr id="7" name="Footer Placeholder 7"/>
          <p:cNvSpPr>
            <a:spLocks noGrp="1"/>
          </p:cNvSpPr>
          <p:nvPr>
            <p:ph type="ftr" sz="quarter" idx="10"/>
          </p:nvPr>
        </p:nvSpPr>
        <p:spPr>
          <a:xfrm>
            <a:off x="5486400" y="9367838"/>
            <a:ext cx="7315200" cy="714375"/>
          </a:xfrm>
          <a:prstGeom prst="rect">
            <a:avLst/>
          </a:prstGeom>
        </p:spPr>
        <p:txBody>
          <a:bodyPr/>
          <a:lstStyle>
            <a:lvl1pPr>
              <a:defRPr/>
            </a:lvl1pPr>
          </a:lstStyle>
          <a:p>
            <a:pPr>
              <a:defRPr/>
            </a:pPr>
            <a:endParaRPr lang="en-US"/>
          </a:p>
        </p:txBody>
      </p:sp>
      <p:sp>
        <p:nvSpPr>
          <p:cNvPr id="8" name="Slide Number Placeholder 8"/>
          <p:cNvSpPr>
            <a:spLocks noGrp="1"/>
          </p:cNvSpPr>
          <p:nvPr>
            <p:ph type="sldNum" sz="quarter" idx="11"/>
          </p:nvPr>
        </p:nvSpPr>
        <p:spPr/>
        <p:txBody>
          <a:bodyPr/>
          <a:lstStyle>
            <a:lvl1pPr>
              <a:defRPr/>
            </a:lvl1pPr>
          </a:lstStyle>
          <a:p>
            <a:pPr>
              <a:defRPr/>
            </a:pPr>
            <a:fld id="{BF115A7D-E909-42B9-8383-73B725758CD1}" type="slidenum">
              <a:rPr lang="en-US"/>
              <a:pPr>
                <a:defRPr/>
              </a:pPr>
              <a:t>‹#›</a:t>
            </a:fld>
            <a:endParaRPr lang="en-US" dirty="0"/>
          </a:p>
        </p:txBody>
      </p:sp>
    </p:spTree>
    <p:extLst>
      <p:ext uri="{BB962C8B-B14F-4D97-AF65-F5344CB8AC3E}">
        <p14:creationId xmlns:p14="http://schemas.microsoft.com/office/powerpoint/2010/main" val="41464669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0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24000" y="228601"/>
            <a:ext cx="15166976" cy="1620371"/>
          </a:xfrm>
          <a:prstGeom prst="rect">
            <a:avLst/>
          </a:prstGeom>
        </p:spPr>
        <p:txBody>
          <a:bodyPr/>
          <a:lstStyle>
            <a:lvl1pPr>
              <a:defRPr sz="3600"/>
            </a:lvl1pPr>
          </a:lstStyle>
          <a:p>
            <a:r>
              <a:rPr lang="en-US" dirty="0"/>
              <a:t>Click to edit Master title style</a:t>
            </a:r>
            <a:endParaRPr/>
          </a:p>
        </p:txBody>
      </p:sp>
      <p:sp>
        <p:nvSpPr>
          <p:cNvPr id="8" name="Slide Number Placeholder 6"/>
          <p:cNvSpPr>
            <a:spLocks noGrp="1"/>
          </p:cNvSpPr>
          <p:nvPr>
            <p:ph type="sldNum" sz="quarter" idx="11"/>
          </p:nvPr>
        </p:nvSpPr>
        <p:spPr/>
        <p:txBody>
          <a:bodyPr/>
          <a:lstStyle>
            <a:lvl1pPr>
              <a:defRPr/>
            </a:lvl1pPr>
          </a:lstStyle>
          <a:p>
            <a:pPr>
              <a:defRPr/>
            </a:pPr>
            <a:fld id="{3D1DDD1E-8083-4C2F-82FA-F0F2767FCC10}" type="slidenum">
              <a:rPr lang="en-US"/>
              <a:pPr>
                <a:defRPr/>
              </a:pPr>
              <a:t>‹#›</a:t>
            </a:fld>
            <a:endParaRPr lang="en-US" dirty="0"/>
          </a:p>
        </p:txBody>
      </p:sp>
    </p:spTree>
    <p:extLst>
      <p:ext uri="{BB962C8B-B14F-4D97-AF65-F5344CB8AC3E}">
        <p14:creationId xmlns:p14="http://schemas.microsoft.com/office/powerpoint/2010/main" val="9470298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7_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24000" y="228601"/>
            <a:ext cx="15166976" cy="1163171"/>
          </a:xfrm>
          <a:prstGeom prst="rect">
            <a:avLst/>
          </a:prstGeom>
        </p:spPr>
        <p:txBody>
          <a:bodyPr/>
          <a:lstStyle>
            <a:lvl1pPr>
              <a:defRPr sz="3600"/>
            </a:lvl1pPr>
          </a:lstStyle>
          <a:p>
            <a:r>
              <a:rPr lang="en-US" dirty="0"/>
              <a:t>Click to edit Master title style</a:t>
            </a:r>
            <a:endParaRPr/>
          </a:p>
        </p:txBody>
      </p:sp>
      <p:sp>
        <p:nvSpPr>
          <p:cNvPr id="7" name="Footer Placeholder 7"/>
          <p:cNvSpPr>
            <a:spLocks noGrp="1"/>
          </p:cNvSpPr>
          <p:nvPr>
            <p:ph type="ftr" sz="quarter" idx="10"/>
          </p:nvPr>
        </p:nvSpPr>
        <p:spPr>
          <a:xfrm>
            <a:off x="5486400" y="9367838"/>
            <a:ext cx="7315200" cy="714375"/>
          </a:xfrm>
          <a:prstGeom prst="rect">
            <a:avLst/>
          </a:prstGeom>
        </p:spPr>
        <p:txBody>
          <a:bodyPr/>
          <a:lstStyle>
            <a:lvl1pPr>
              <a:defRPr/>
            </a:lvl1pPr>
          </a:lstStyle>
          <a:p>
            <a:pPr>
              <a:defRPr/>
            </a:pPr>
            <a:endParaRPr lang="en-US" dirty="0"/>
          </a:p>
        </p:txBody>
      </p:sp>
      <p:sp>
        <p:nvSpPr>
          <p:cNvPr id="8" name="Slide Number Placeholder 8"/>
          <p:cNvSpPr>
            <a:spLocks noGrp="1"/>
          </p:cNvSpPr>
          <p:nvPr>
            <p:ph type="sldNum" sz="quarter" idx="11"/>
          </p:nvPr>
        </p:nvSpPr>
        <p:spPr/>
        <p:txBody>
          <a:bodyPr/>
          <a:lstStyle>
            <a:lvl1pPr>
              <a:defRPr/>
            </a:lvl1pPr>
          </a:lstStyle>
          <a:p>
            <a:pPr>
              <a:defRPr/>
            </a:pPr>
            <a:fld id="{BF115A7D-E909-42B9-8383-73B725758CD1}" type="slidenum">
              <a:rPr lang="en-US"/>
              <a:pPr>
                <a:defRPr/>
              </a:pPr>
              <a:t>‹#›</a:t>
            </a:fld>
            <a:endParaRPr lang="en-US" dirty="0"/>
          </a:p>
        </p:txBody>
      </p:sp>
    </p:spTree>
    <p:extLst>
      <p:ext uri="{BB962C8B-B14F-4D97-AF65-F5344CB8AC3E}">
        <p14:creationId xmlns:p14="http://schemas.microsoft.com/office/powerpoint/2010/main" val="203984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8_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24000" y="228601"/>
            <a:ext cx="15166976" cy="1163171"/>
          </a:xfrm>
          <a:prstGeom prst="rect">
            <a:avLst/>
          </a:prstGeom>
        </p:spPr>
        <p:txBody>
          <a:bodyPr/>
          <a:lstStyle>
            <a:lvl1pPr>
              <a:defRPr sz="3600"/>
            </a:lvl1pPr>
          </a:lstStyle>
          <a:p>
            <a:r>
              <a:rPr lang="en-US" dirty="0"/>
              <a:t>Click to edit Master title style</a:t>
            </a:r>
            <a:endParaRPr/>
          </a:p>
        </p:txBody>
      </p:sp>
      <p:sp>
        <p:nvSpPr>
          <p:cNvPr id="7" name="Footer Placeholder 7"/>
          <p:cNvSpPr>
            <a:spLocks noGrp="1"/>
          </p:cNvSpPr>
          <p:nvPr>
            <p:ph type="ftr" sz="quarter" idx="10"/>
          </p:nvPr>
        </p:nvSpPr>
        <p:spPr>
          <a:xfrm>
            <a:off x="5486400" y="9367838"/>
            <a:ext cx="7315200" cy="714375"/>
          </a:xfrm>
          <a:prstGeom prst="rect">
            <a:avLst/>
          </a:prstGeom>
        </p:spPr>
        <p:txBody>
          <a:bodyPr/>
          <a:lstStyle>
            <a:lvl1pPr>
              <a:defRPr/>
            </a:lvl1pPr>
          </a:lstStyle>
          <a:p>
            <a:pPr>
              <a:defRPr/>
            </a:pPr>
            <a:endParaRPr lang="en-US"/>
          </a:p>
        </p:txBody>
      </p:sp>
      <p:sp>
        <p:nvSpPr>
          <p:cNvPr id="8" name="Slide Number Placeholder 8"/>
          <p:cNvSpPr>
            <a:spLocks noGrp="1"/>
          </p:cNvSpPr>
          <p:nvPr>
            <p:ph type="sldNum" sz="quarter" idx="11"/>
          </p:nvPr>
        </p:nvSpPr>
        <p:spPr/>
        <p:txBody>
          <a:bodyPr/>
          <a:lstStyle>
            <a:lvl1pPr>
              <a:defRPr/>
            </a:lvl1pPr>
          </a:lstStyle>
          <a:p>
            <a:pPr>
              <a:defRPr/>
            </a:pPr>
            <a:fld id="{BF115A7D-E909-42B9-8383-73B725758CD1}" type="slidenum">
              <a:rPr lang="en-US"/>
              <a:pPr>
                <a:defRPr/>
              </a:pPr>
              <a:t>‹#›</a:t>
            </a:fld>
            <a:endParaRPr lang="en-US" dirty="0"/>
          </a:p>
        </p:txBody>
      </p:sp>
    </p:spTree>
    <p:extLst>
      <p:ext uri="{BB962C8B-B14F-4D97-AF65-F5344CB8AC3E}">
        <p14:creationId xmlns:p14="http://schemas.microsoft.com/office/powerpoint/2010/main" val="5915421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9_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24000" y="228601"/>
            <a:ext cx="15166976" cy="1163171"/>
          </a:xfrm>
          <a:prstGeom prst="rect">
            <a:avLst/>
          </a:prstGeom>
        </p:spPr>
        <p:txBody>
          <a:bodyPr/>
          <a:lstStyle>
            <a:lvl1pPr>
              <a:defRPr sz="3600"/>
            </a:lvl1pPr>
          </a:lstStyle>
          <a:p>
            <a:r>
              <a:rPr lang="en-US" dirty="0"/>
              <a:t>Click to edit Master title style</a:t>
            </a:r>
            <a:endParaRPr/>
          </a:p>
        </p:txBody>
      </p:sp>
      <p:sp>
        <p:nvSpPr>
          <p:cNvPr id="7" name="Footer Placeholder 7"/>
          <p:cNvSpPr>
            <a:spLocks noGrp="1"/>
          </p:cNvSpPr>
          <p:nvPr>
            <p:ph type="ftr" sz="quarter" idx="10"/>
          </p:nvPr>
        </p:nvSpPr>
        <p:spPr>
          <a:xfrm>
            <a:off x="5486400" y="9367838"/>
            <a:ext cx="7315200" cy="714375"/>
          </a:xfrm>
          <a:prstGeom prst="rect">
            <a:avLst/>
          </a:prstGeom>
        </p:spPr>
        <p:txBody>
          <a:bodyPr/>
          <a:lstStyle>
            <a:lvl1pPr>
              <a:defRPr/>
            </a:lvl1pPr>
          </a:lstStyle>
          <a:p>
            <a:pPr>
              <a:defRPr/>
            </a:pPr>
            <a:endParaRPr lang="en-US"/>
          </a:p>
        </p:txBody>
      </p:sp>
      <p:sp>
        <p:nvSpPr>
          <p:cNvPr id="8" name="Slide Number Placeholder 8"/>
          <p:cNvSpPr>
            <a:spLocks noGrp="1"/>
          </p:cNvSpPr>
          <p:nvPr>
            <p:ph type="sldNum" sz="quarter" idx="11"/>
          </p:nvPr>
        </p:nvSpPr>
        <p:spPr/>
        <p:txBody>
          <a:bodyPr/>
          <a:lstStyle>
            <a:lvl1pPr>
              <a:defRPr/>
            </a:lvl1pPr>
          </a:lstStyle>
          <a:p>
            <a:pPr>
              <a:defRPr/>
            </a:pPr>
            <a:fld id="{BF115A7D-E909-42B9-8383-73B725758CD1}" type="slidenum">
              <a:rPr lang="en-US"/>
              <a:pPr>
                <a:defRPr/>
              </a:pPr>
              <a:t>‹#›</a:t>
            </a:fld>
            <a:endParaRPr lang="en-US" dirty="0"/>
          </a:p>
        </p:txBody>
      </p:sp>
    </p:spTree>
    <p:extLst>
      <p:ext uri="{BB962C8B-B14F-4D97-AF65-F5344CB8AC3E}">
        <p14:creationId xmlns:p14="http://schemas.microsoft.com/office/powerpoint/2010/main" val="116491802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0_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24000" y="228601"/>
            <a:ext cx="15166976" cy="1163171"/>
          </a:xfrm>
          <a:prstGeom prst="rect">
            <a:avLst/>
          </a:prstGeom>
        </p:spPr>
        <p:txBody>
          <a:bodyPr/>
          <a:lstStyle>
            <a:lvl1pPr>
              <a:defRPr sz="3600"/>
            </a:lvl1pPr>
          </a:lstStyle>
          <a:p>
            <a:r>
              <a:rPr lang="en-US" dirty="0"/>
              <a:t>Click to edit Master title style</a:t>
            </a:r>
            <a:endParaRPr/>
          </a:p>
        </p:txBody>
      </p:sp>
      <p:sp>
        <p:nvSpPr>
          <p:cNvPr id="8" name="Slide Number Placeholder 8"/>
          <p:cNvSpPr>
            <a:spLocks noGrp="1"/>
          </p:cNvSpPr>
          <p:nvPr>
            <p:ph type="sldNum" sz="quarter" idx="11"/>
          </p:nvPr>
        </p:nvSpPr>
        <p:spPr/>
        <p:txBody>
          <a:bodyPr/>
          <a:lstStyle>
            <a:lvl1pPr>
              <a:defRPr/>
            </a:lvl1pPr>
          </a:lstStyle>
          <a:p>
            <a:pPr>
              <a:defRPr/>
            </a:pPr>
            <a:fld id="{BF115A7D-E909-42B9-8383-73B725758CD1}" type="slidenum">
              <a:rPr lang="en-US"/>
              <a:pPr>
                <a:defRPr/>
              </a:pPr>
              <a:t>‹#›</a:t>
            </a:fld>
            <a:endParaRPr lang="en-US" dirty="0"/>
          </a:p>
        </p:txBody>
      </p:sp>
    </p:spTree>
    <p:extLst>
      <p:ext uri="{BB962C8B-B14F-4D97-AF65-F5344CB8AC3E}">
        <p14:creationId xmlns:p14="http://schemas.microsoft.com/office/powerpoint/2010/main" val="6639944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24000" y="228601"/>
            <a:ext cx="15166976" cy="1163171"/>
          </a:xfrm>
          <a:prstGeom prst="rect">
            <a:avLst/>
          </a:prstGeom>
        </p:spPr>
        <p:txBody>
          <a:bodyPr/>
          <a:lstStyle>
            <a:lvl1pPr>
              <a:defRPr sz="3600"/>
            </a:lvl1pPr>
          </a:lstStyle>
          <a:p>
            <a:r>
              <a:rPr lang="en-US" dirty="0"/>
              <a:t>Click to edit Master title style</a:t>
            </a:r>
            <a:endParaRPr/>
          </a:p>
        </p:txBody>
      </p:sp>
      <p:sp>
        <p:nvSpPr>
          <p:cNvPr id="7" name="Footer Placeholder 7"/>
          <p:cNvSpPr>
            <a:spLocks noGrp="1"/>
          </p:cNvSpPr>
          <p:nvPr>
            <p:ph type="ftr" sz="quarter" idx="10"/>
          </p:nvPr>
        </p:nvSpPr>
        <p:spPr>
          <a:xfrm>
            <a:off x="5486400" y="9367838"/>
            <a:ext cx="7315200" cy="714375"/>
          </a:xfrm>
          <a:prstGeom prst="rect">
            <a:avLst/>
          </a:prstGeom>
        </p:spPr>
        <p:txBody>
          <a:bodyPr/>
          <a:lstStyle>
            <a:lvl1pPr>
              <a:defRPr/>
            </a:lvl1pPr>
          </a:lstStyle>
          <a:p>
            <a:pPr>
              <a:defRPr/>
            </a:pPr>
            <a:endParaRPr lang="en-US"/>
          </a:p>
        </p:txBody>
      </p:sp>
      <p:sp>
        <p:nvSpPr>
          <p:cNvPr id="8" name="Slide Number Placeholder 8"/>
          <p:cNvSpPr>
            <a:spLocks noGrp="1"/>
          </p:cNvSpPr>
          <p:nvPr>
            <p:ph type="sldNum" sz="quarter" idx="11"/>
          </p:nvPr>
        </p:nvSpPr>
        <p:spPr/>
        <p:txBody>
          <a:bodyPr/>
          <a:lstStyle>
            <a:lvl1pPr>
              <a:defRPr/>
            </a:lvl1pPr>
          </a:lstStyle>
          <a:p>
            <a:pPr>
              <a:defRPr/>
            </a:pPr>
            <a:fld id="{BF115A7D-E909-42B9-8383-73B725758CD1}" type="slidenum">
              <a:rPr lang="en-US"/>
              <a:pPr>
                <a:defRPr/>
              </a:pPr>
              <a:t>‹#›</a:t>
            </a:fld>
            <a:endParaRPr lang="en-US" dirty="0"/>
          </a:p>
        </p:txBody>
      </p:sp>
    </p:spTree>
    <p:extLst>
      <p:ext uri="{BB962C8B-B14F-4D97-AF65-F5344CB8AC3E}">
        <p14:creationId xmlns:p14="http://schemas.microsoft.com/office/powerpoint/2010/main" val="35346405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1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24000" y="228601"/>
            <a:ext cx="15166976" cy="1620371"/>
          </a:xfrm>
          <a:prstGeom prst="rect">
            <a:avLst/>
          </a:prstGeom>
        </p:spPr>
        <p:txBody>
          <a:bodyPr/>
          <a:lstStyle>
            <a:lvl1pPr>
              <a:defRPr sz="3600"/>
            </a:lvl1pPr>
          </a:lstStyle>
          <a:p>
            <a:r>
              <a:rPr lang="en-US" dirty="0"/>
              <a:t>Click to edit Master title style</a:t>
            </a:r>
            <a:endParaRPr/>
          </a:p>
        </p:txBody>
      </p:sp>
      <p:sp>
        <p:nvSpPr>
          <p:cNvPr id="7" name="Footer Placeholder 5"/>
          <p:cNvSpPr>
            <a:spLocks noGrp="1"/>
          </p:cNvSpPr>
          <p:nvPr>
            <p:ph type="ftr" sz="quarter" idx="10"/>
          </p:nvPr>
        </p:nvSpPr>
        <p:spPr>
          <a:xfrm>
            <a:off x="5486400" y="9367838"/>
            <a:ext cx="7315200" cy="714375"/>
          </a:xfrm>
          <a:prstGeom prst="rect">
            <a:avLst/>
          </a:prstGeom>
        </p:spPr>
        <p:txBody>
          <a:bodyPr/>
          <a:lstStyle>
            <a:lvl1pPr>
              <a:defRPr/>
            </a:lvl1pPr>
          </a:lstStyle>
          <a:p>
            <a:pPr>
              <a:defRPr/>
            </a:pPr>
            <a:endParaRPr lang="en-US"/>
          </a:p>
        </p:txBody>
      </p:sp>
      <p:sp>
        <p:nvSpPr>
          <p:cNvPr id="8" name="Slide Number Placeholder 6"/>
          <p:cNvSpPr>
            <a:spLocks noGrp="1"/>
          </p:cNvSpPr>
          <p:nvPr>
            <p:ph type="sldNum" sz="quarter" idx="11"/>
          </p:nvPr>
        </p:nvSpPr>
        <p:spPr/>
        <p:txBody>
          <a:bodyPr/>
          <a:lstStyle>
            <a:lvl1pPr>
              <a:defRPr/>
            </a:lvl1pPr>
          </a:lstStyle>
          <a:p>
            <a:pPr>
              <a:defRPr/>
            </a:pPr>
            <a:fld id="{3D1DDD1E-8083-4C2F-82FA-F0F2767FCC10}" type="slidenum">
              <a:rPr lang="en-US"/>
              <a:pPr>
                <a:defRPr/>
              </a:pPr>
              <a:t>‹#›</a:t>
            </a:fld>
            <a:endParaRPr lang="en-US" dirty="0"/>
          </a:p>
        </p:txBody>
      </p:sp>
    </p:spTree>
    <p:extLst>
      <p:ext uri="{BB962C8B-B14F-4D97-AF65-F5344CB8AC3E}">
        <p14:creationId xmlns:p14="http://schemas.microsoft.com/office/powerpoint/2010/main" val="25357569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24000" y="228601"/>
            <a:ext cx="15166976" cy="1163171"/>
          </a:xfrm>
          <a:prstGeom prst="rect">
            <a:avLst/>
          </a:prstGeom>
        </p:spPr>
        <p:txBody>
          <a:bodyPr/>
          <a:lstStyle>
            <a:lvl1pPr>
              <a:defRPr sz="3600"/>
            </a:lvl1pPr>
          </a:lstStyle>
          <a:p>
            <a:r>
              <a:rPr lang="en-US" dirty="0"/>
              <a:t>Click to edit Master title style</a:t>
            </a:r>
            <a:endParaRPr/>
          </a:p>
        </p:txBody>
      </p:sp>
      <p:sp>
        <p:nvSpPr>
          <p:cNvPr id="8" name="Slide Number Placeholder 8"/>
          <p:cNvSpPr>
            <a:spLocks noGrp="1"/>
          </p:cNvSpPr>
          <p:nvPr>
            <p:ph type="sldNum" sz="quarter" idx="11"/>
          </p:nvPr>
        </p:nvSpPr>
        <p:spPr/>
        <p:txBody>
          <a:bodyPr/>
          <a:lstStyle>
            <a:lvl1pPr>
              <a:defRPr/>
            </a:lvl1pPr>
          </a:lstStyle>
          <a:p>
            <a:pPr>
              <a:defRPr/>
            </a:pPr>
            <a:fld id="{BF115A7D-E909-42B9-8383-73B725758CD1}" type="slidenum">
              <a:rPr lang="en-US"/>
              <a:pPr>
                <a:defRPr/>
              </a:pPr>
              <a:t>‹#›</a:t>
            </a:fld>
            <a:endParaRPr lang="en-US" dirty="0"/>
          </a:p>
        </p:txBody>
      </p:sp>
    </p:spTree>
    <p:extLst>
      <p:ext uri="{BB962C8B-B14F-4D97-AF65-F5344CB8AC3E}">
        <p14:creationId xmlns:p14="http://schemas.microsoft.com/office/powerpoint/2010/main" val="252095245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2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24000" y="228601"/>
            <a:ext cx="15166976" cy="1620371"/>
          </a:xfrm>
          <a:prstGeom prst="rect">
            <a:avLst/>
          </a:prstGeom>
        </p:spPr>
        <p:txBody>
          <a:bodyPr/>
          <a:lstStyle>
            <a:lvl1pPr>
              <a:defRPr sz="3600"/>
            </a:lvl1pPr>
          </a:lstStyle>
          <a:p>
            <a:r>
              <a:rPr lang="en-US" dirty="0"/>
              <a:t>Click to edit Master title style</a:t>
            </a:r>
            <a:endParaRPr/>
          </a:p>
        </p:txBody>
      </p:sp>
      <p:sp>
        <p:nvSpPr>
          <p:cNvPr id="7" name="Footer Placeholder 5"/>
          <p:cNvSpPr>
            <a:spLocks noGrp="1"/>
          </p:cNvSpPr>
          <p:nvPr>
            <p:ph type="ftr" sz="quarter" idx="10"/>
          </p:nvPr>
        </p:nvSpPr>
        <p:spPr>
          <a:xfrm>
            <a:off x="5486400" y="9367838"/>
            <a:ext cx="7315200" cy="714375"/>
          </a:xfrm>
          <a:prstGeom prst="rect">
            <a:avLst/>
          </a:prstGeom>
        </p:spPr>
        <p:txBody>
          <a:bodyPr/>
          <a:lstStyle>
            <a:lvl1pPr>
              <a:defRPr/>
            </a:lvl1pPr>
          </a:lstStyle>
          <a:p>
            <a:pPr>
              <a:defRPr/>
            </a:pPr>
            <a:endParaRPr lang="en-US"/>
          </a:p>
        </p:txBody>
      </p:sp>
      <p:sp>
        <p:nvSpPr>
          <p:cNvPr id="8" name="Slide Number Placeholder 6"/>
          <p:cNvSpPr>
            <a:spLocks noGrp="1"/>
          </p:cNvSpPr>
          <p:nvPr>
            <p:ph type="sldNum" sz="quarter" idx="11"/>
          </p:nvPr>
        </p:nvSpPr>
        <p:spPr/>
        <p:txBody>
          <a:bodyPr/>
          <a:lstStyle>
            <a:lvl1pPr>
              <a:defRPr/>
            </a:lvl1pPr>
          </a:lstStyle>
          <a:p>
            <a:pPr>
              <a:defRPr/>
            </a:pPr>
            <a:fld id="{3D1DDD1E-8083-4C2F-82FA-F0F2767FCC10}" type="slidenum">
              <a:rPr lang="en-US"/>
              <a:pPr>
                <a:defRPr/>
              </a:pPr>
              <a:t>‹#›</a:t>
            </a:fld>
            <a:endParaRPr lang="en-US" dirty="0"/>
          </a:p>
        </p:txBody>
      </p:sp>
    </p:spTree>
    <p:extLst>
      <p:ext uri="{BB962C8B-B14F-4D97-AF65-F5344CB8AC3E}">
        <p14:creationId xmlns:p14="http://schemas.microsoft.com/office/powerpoint/2010/main" val="14856203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3_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24000" y="228601"/>
            <a:ext cx="15166976" cy="1163171"/>
          </a:xfrm>
          <a:prstGeom prst="rect">
            <a:avLst/>
          </a:prstGeom>
        </p:spPr>
        <p:txBody>
          <a:bodyPr/>
          <a:lstStyle>
            <a:lvl1pPr>
              <a:defRPr sz="3600"/>
            </a:lvl1pPr>
          </a:lstStyle>
          <a:p>
            <a:r>
              <a:rPr lang="en-US" dirty="0"/>
              <a:t>Click to edit Master title style</a:t>
            </a:r>
            <a:endParaRPr/>
          </a:p>
        </p:txBody>
      </p:sp>
      <p:sp>
        <p:nvSpPr>
          <p:cNvPr id="8" name="Slide Number Placeholder 8"/>
          <p:cNvSpPr>
            <a:spLocks noGrp="1"/>
          </p:cNvSpPr>
          <p:nvPr>
            <p:ph type="sldNum" sz="quarter" idx="11"/>
          </p:nvPr>
        </p:nvSpPr>
        <p:spPr/>
        <p:txBody>
          <a:bodyPr/>
          <a:lstStyle>
            <a:lvl1pPr>
              <a:defRPr/>
            </a:lvl1pPr>
          </a:lstStyle>
          <a:p>
            <a:pPr>
              <a:defRPr/>
            </a:pPr>
            <a:fld id="{BF115A7D-E909-42B9-8383-73B725758CD1}" type="slidenum">
              <a:rPr lang="en-US"/>
              <a:pPr>
                <a:defRPr/>
              </a:pPr>
              <a:t>‹#›</a:t>
            </a:fld>
            <a:endParaRPr lang="en-US" dirty="0"/>
          </a:p>
        </p:txBody>
      </p:sp>
    </p:spTree>
    <p:extLst>
      <p:ext uri="{BB962C8B-B14F-4D97-AF65-F5344CB8AC3E}">
        <p14:creationId xmlns:p14="http://schemas.microsoft.com/office/powerpoint/2010/main" val="58475485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4_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24000" y="228601"/>
            <a:ext cx="15166976" cy="1163171"/>
          </a:xfrm>
          <a:prstGeom prst="rect">
            <a:avLst/>
          </a:prstGeom>
        </p:spPr>
        <p:txBody>
          <a:bodyPr/>
          <a:lstStyle>
            <a:lvl1pPr>
              <a:defRPr sz="3600"/>
            </a:lvl1pPr>
          </a:lstStyle>
          <a:p>
            <a:r>
              <a:rPr lang="en-US" dirty="0"/>
              <a:t>Click to edit Master title style</a:t>
            </a:r>
            <a:endParaRPr/>
          </a:p>
        </p:txBody>
      </p:sp>
      <p:sp>
        <p:nvSpPr>
          <p:cNvPr id="8" name="Slide Number Placeholder 8"/>
          <p:cNvSpPr>
            <a:spLocks noGrp="1"/>
          </p:cNvSpPr>
          <p:nvPr>
            <p:ph type="sldNum" sz="quarter" idx="11"/>
          </p:nvPr>
        </p:nvSpPr>
        <p:spPr/>
        <p:txBody>
          <a:bodyPr/>
          <a:lstStyle>
            <a:lvl1pPr>
              <a:defRPr/>
            </a:lvl1pPr>
          </a:lstStyle>
          <a:p>
            <a:pPr>
              <a:defRPr/>
            </a:pPr>
            <a:fld id="{BF115A7D-E909-42B9-8383-73B725758CD1}" type="slidenum">
              <a:rPr lang="en-US"/>
              <a:pPr>
                <a:defRPr/>
              </a:pPr>
              <a:t>‹#›</a:t>
            </a:fld>
            <a:endParaRPr lang="en-US" dirty="0"/>
          </a:p>
        </p:txBody>
      </p:sp>
    </p:spTree>
    <p:extLst>
      <p:ext uri="{BB962C8B-B14F-4D97-AF65-F5344CB8AC3E}">
        <p14:creationId xmlns:p14="http://schemas.microsoft.com/office/powerpoint/2010/main" val="28212837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4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24000" y="228601"/>
            <a:ext cx="15166976" cy="1620371"/>
          </a:xfrm>
          <a:prstGeom prst="rect">
            <a:avLst/>
          </a:prstGeom>
        </p:spPr>
        <p:txBody>
          <a:bodyPr/>
          <a:lstStyle>
            <a:lvl1pPr>
              <a:defRPr sz="3600"/>
            </a:lvl1pPr>
          </a:lstStyle>
          <a:p>
            <a:r>
              <a:rPr lang="en-US" dirty="0"/>
              <a:t>Click to edit Master title style</a:t>
            </a:r>
            <a:endParaRPr/>
          </a:p>
        </p:txBody>
      </p:sp>
      <p:sp>
        <p:nvSpPr>
          <p:cNvPr id="8" name="Slide Number Placeholder 6"/>
          <p:cNvSpPr>
            <a:spLocks noGrp="1"/>
          </p:cNvSpPr>
          <p:nvPr>
            <p:ph type="sldNum" sz="quarter" idx="11"/>
          </p:nvPr>
        </p:nvSpPr>
        <p:spPr/>
        <p:txBody>
          <a:bodyPr/>
          <a:lstStyle>
            <a:lvl1pPr>
              <a:defRPr/>
            </a:lvl1pPr>
          </a:lstStyle>
          <a:p>
            <a:pPr>
              <a:defRPr/>
            </a:pPr>
            <a:fld id="{3D1DDD1E-8083-4C2F-82FA-F0F2767FCC10}" type="slidenum">
              <a:rPr lang="en-US"/>
              <a:pPr>
                <a:defRPr/>
              </a:pPr>
              <a:t>‹#›</a:t>
            </a:fld>
            <a:endParaRPr lang="en-US" dirty="0"/>
          </a:p>
        </p:txBody>
      </p:sp>
    </p:spTree>
    <p:extLst>
      <p:ext uri="{BB962C8B-B14F-4D97-AF65-F5344CB8AC3E}">
        <p14:creationId xmlns:p14="http://schemas.microsoft.com/office/powerpoint/2010/main" val="174253647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5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24000" y="228601"/>
            <a:ext cx="15166976" cy="1620371"/>
          </a:xfrm>
          <a:prstGeom prst="rect">
            <a:avLst/>
          </a:prstGeom>
        </p:spPr>
        <p:txBody>
          <a:bodyPr/>
          <a:lstStyle>
            <a:lvl1pPr>
              <a:defRPr sz="3600"/>
            </a:lvl1pPr>
          </a:lstStyle>
          <a:p>
            <a:r>
              <a:rPr lang="en-US" dirty="0"/>
              <a:t>Click to edit Master title style</a:t>
            </a:r>
            <a:endParaRPr/>
          </a:p>
        </p:txBody>
      </p:sp>
      <p:sp>
        <p:nvSpPr>
          <p:cNvPr id="8" name="Slide Number Placeholder 6"/>
          <p:cNvSpPr>
            <a:spLocks noGrp="1"/>
          </p:cNvSpPr>
          <p:nvPr>
            <p:ph type="sldNum" sz="quarter" idx="11"/>
          </p:nvPr>
        </p:nvSpPr>
        <p:spPr/>
        <p:txBody>
          <a:bodyPr/>
          <a:lstStyle>
            <a:lvl1pPr>
              <a:defRPr/>
            </a:lvl1pPr>
          </a:lstStyle>
          <a:p>
            <a:pPr>
              <a:defRPr/>
            </a:pPr>
            <a:fld id="{3D1DDD1E-8083-4C2F-82FA-F0F2767FCC10}" type="slidenum">
              <a:rPr lang="en-US"/>
              <a:pPr>
                <a:defRPr/>
              </a:pPr>
              <a:t>‹#›</a:t>
            </a:fld>
            <a:endParaRPr lang="en-US" dirty="0"/>
          </a:p>
        </p:txBody>
      </p:sp>
    </p:spTree>
    <p:extLst>
      <p:ext uri="{BB962C8B-B14F-4D97-AF65-F5344CB8AC3E}">
        <p14:creationId xmlns:p14="http://schemas.microsoft.com/office/powerpoint/2010/main" val="180399130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6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24000" y="228601"/>
            <a:ext cx="15166976" cy="1620371"/>
          </a:xfrm>
          <a:prstGeom prst="rect">
            <a:avLst/>
          </a:prstGeom>
        </p:spPr>
        <p:txBody>
          <a:bodyPr/>
          <a:lstStyle>
            <a:lvl1pPr>
              <a:defRPr sz="3600"/>
            </a:lvl1pPr>
          </a:lstStyle>
          <a:p>
            <a:r>
              <a:rPr lang="en-US" dirty="0"/>
              <a:t>Click to edit Master title style</a:t>
            </a:r>
            <a:endParaRPr/>
          </a:p>
        </p:txBody>
      </p:sp>
      <p:sp>
        <p:nvSpPr>
          <p:cNvPr id="8" name="Slide Number Placeholder 6"/>
          <p:cNvSpPr>
            <a:spLocks noGrp="1"/>
          </p:cNvSpPr>
          <p:nvPr>
            <p:ph type="sldNum" sz="quarter" idx="11"/>
          </p:nvPr>
        </p:nvSpPr>
        <p:spPr/>
        <p:txBody>
          <a:bodyPr/>
          <a:lstStyle>
            <a:lvl1pPr>
              <a:defRPr/>
            </a:lvl1pPr>
          </a:lstStyle>
          <a:p>
            <a:pPr>
              <a:defRPr/>
            </a:pPr>
            <a:fld id="{3D1DDD1E-8083-4C2F-82FA-F0F2767FCC10}" type="slidenum">
              <a:rPr lang="en-US"/>
              <a:pPr>
                <a:defRPr/>
              </a:pPr>
              <a:t>‹#›</a:t>
            </a:fld>
            <a:endParaRPr lang="en-US" dirty="0"/>
          </a:p>
        </p:txBody>
      </p:sp>
    </p:spTree>
    <p:extLst>
      <p:ext uri="{BB962C8B-B14F-4D97-AF65-F5344CB8AC3E}">
        <p14:creationId xmlns:p14="http://schemas.microsoft.com/office/powerpoint/2010/main" val="191448964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7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24000" y="228601"/>
            <a:ext cx="15166976" cy="1620371"/>
          </a:xfrm>
          <a:prstGeom prst="rect">
            <a:avLst/>
          </a:prstGeom>
        </p:spPr>
        <p:txBody>
          <a:bodyPr/>
          <a:lstStyle>
            <a:lvl1pPr>
              <a:defRPr sz="3600"/>
            </a:lvl1pPr>
          </a:lstStyle>
          <a:p>
            <a:r>
              <a:rPr lang="en-US" dirty="0"/>
              <a:t>Click to edit Master title style</a:t>
            </a:r>
            <a:endParaRPr/>
          </a:p>
        </p:txBody>
      </p:sp>
      <p:sp>
        <p:nvSpPr>
          <p:cNvPr id="8" name="Slide Number Placeholder 6"/>
          <p:cNvSpPr>
            <a:spLocks noGrp="1"/>
          </p:cNvSpPr>
          <p:nvPr>
            <p:ph type="sldNum" sz="quarter" idx="11"/>
          </p:nvPr>
        </p:nvSpPr>
        <p:spPr/>
        <p:txBody>
          <a:bodyPr/>
          <a:lstStyle>
            <a:lvl1pPr>
              <a:defRPr/>
            </a:lvl1pPr>
          </a:lstStyle>
          <a:p>
            <a:pPr>
              <a:defRPr/>
            </a:pPr>
            <a:fld id="{3D1DDD1E-8083-4C2F-82FA-F0F2767FCC10}" type="slidenum">
              <a:rPr lang="en-US"/>
              <a:pPr>
                <a:defRPr/>
              </a:pPr>
              <a:t>‹#›</a:t>
            </a:fld>
            <a:endParaRPr lang="en-US" dirty="0"/>
          </a:p>
        </p:txBody>
      </p:sp>
    </p:spTree>
    <p:extLst>
      <p:ext uri="{BB962C8B-B14F-4D97-AF65-F5344CB8AC3E}">
        <p14:creationId xmlns:p14="http://schemas.microsoft.com/office/powerpoint/2010/main" val="33824415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7068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0"/>
            <a:ext cx="16992600" cy="78105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9678985"/>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6/20/2026</a:t>
            </a:fld>
            <a:endParaRPr lang="en-US"/>
          </a:p>
        </p:txBody>
      </p:sp>
      <p:sp>
        <p:nvSpPr>
          <p:cNvPr id="5" name="Footer Placeholder 4"/>
          <p:cNvSpPr>
            <a:spLocks noGrp="1"/>
          </p:cNvSpPr>
          <p:nvPr>
            <p:ph type="ftr" sz="quarter" idx="3"/>
          </p:nvPr>
        </p:nvSpPr>
        <p:spPr>
          <a:xfrm>
            <a:off x="7315200" y="9725023"/>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5544800" y="9678986"/>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50" r:id="rId1"/>
    <p:sldLayoutId id="2147483654" r:id="rId2"/>
    <p:sldLayoutId id="2147483655" r:id="rId3"/>
    <p:sldLayoutId id="2147483660" r:id="rId4"/>
    <p:sldLayoutId id="2147483661"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 id="2147483674" r:id="rId17"/>
    <p:sldLayoutId id="2147483675" r:id="rId18"/>
    <p:sldLayoutId id="2147483676" r:id="rId19"/>
    <p:sldLayoutId id="2147483677" r:id="rId20"/>
    <p:sldLayoutId id="2147483678" r:id="rId21"/>
    <p:sldLayoutId id="2147483679" r:id="rId22"/>
    <p:sldLayoutId id="2147483680" r:id="rId23"/>
    <p:sldLayoutId id="2147483681" r:id="rId24"/>
    <p:sldLayoutId id="2147483682" r:id="rId25"/>
    <p:sldLayoutId id="2147483683" r:id="rId26"/>
    <p:sldLayoutId id="2147483684" r:id="rId27"/>
    <p:sldLayoutId id="2147483685" r:id="rId28"/>
    <p:sldLayoutId id="2147483686" r:id="rId29"/>
    <p:sldLayoutId id="2147483687" r:id="rId30"/>
    <p:sldLayoutId id="2147483688" r:id="rId3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hyperlink" Target="https://www.accenture.com/us-en/insights/security/cost-cybercrime-study"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hyperlink" Target="https://www.accenture.com/us-en/insights/security/cost-cybercrime-study" TargetMode="External"/><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1.xml"/><Relationship Id="rId1" Type="http://schemas.openxmlformats.org/officeDocument/2006/relationships/slideLayout" Target="../slideLayouts/slideLayout8.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0.xml"/><Relationship Id="rId1" Type="http://schemas.openxmlformats.org/officeDocument/2006/relationships/slideLayout" Target="../slideLayouts/slideLayout3.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56.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31.xml"/><Relationship Id="rId1" Type="http://schemas.openxmlformats.org/officeDocument/2006/relationships/slideLayout" Target="../slideLayouts/slideLayout3.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5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8.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8.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8.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8.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notesSlide" Target="../notesSlides/notesSlide46.xml"/><Relationship Id="rId1" Type="http://schemas.openxmlformats.org/officeDocument/2006/relationships/slideLayout" Target="../slideLayouts/slideLayout3.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75.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50.png"/><Relationship Id="rId2" Type="http://schemas.openxmlformats.org/officeDocument/2006/relationships/notesSlide" Target="../notesSlides/notesSlide47.xml"/><Relationship Id="rId1" Type="http://schemas.openxmlformats.org/officeDocument/2006/relationships/slideLayout" Target="../slideLayouts/slideLayout3.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7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8.xml"/><Relationship Id="rId1" Type="http://schemas.openxmlformats.org/officeDocument/2006/relationships/slideLayout" Target="../slideLayouts/slideLayout3.xml"/><Relationship Id="rId4" Type="http://schemas.openxmlformats.org/officeDocument/2006/relationships/image" Target="../media/image51.png"/></Relationships>
</file>

<file path=ppt/slides/_rels/slide77.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42.png"/><Relationship Id="rId7" Type="http://schemas.openxmlformats.org/officeDocument/2006/relationships/image" Target="../media/image55.png"/><Relationship Id="rId2" Type="http://schemas.openxmlformats.org/officeDocument/2006/relationships/notesSlide" Target="../notesSlides/notesSlide49.xml"/><Relationship Id="rId1" Type="http://schemas.openxmlformats.org/officeDocument/2006/relationships/slideLayout" Target="../slideLayouts/slideLayout3.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 Id="rId9" Type="http://schemas.openxmlformats.org/officeDocument/2006/relationships/image" Target="../media/image57.png"/></Relationships>
</file>

<file path=ppt/slides/_rels/slide7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42.png"/><Relationship Id="rId7" Type="http://schemas.openxmlformats.org/officeDocument/2006/relationships/image" Target="../media/image60.png"/><Relationship Id="rId2" Type="http://schemas.openxmlformats.org/officeDocument/2006/relationships/notesSlide" Target="../notesSlides/notesSlide51.xml"/><Relationship Id="rId1" Type="http://schemas.openxmlformats.org/officeDocument/2006/relationships/slideLayout" Target="../slideLayouts/slideLayout3.xml"/><Relationship Id="rId6" Type="http://schemas.openxmlformats.org/officeDocument/2006/relationships/image" Target="../media/image59.png"/><Relationship Id="rId5" Type="http://schemas.openxmlformats.org/officeDocument/2006/relationships/image" Target="../media/image58.png"/><Relationship Id="rId10" Type="http://schemas.openxmlformats.org/officeDocument/2006/relationships/image" Target="../media/image63.png"/><Relationship Id="rId4" Type="http://schemas.openxmlformats.org/officeDocument/2006/relationships/image" Target="../media/image43.png"/><Relationship Id="rId9" Type="http://schemas.openxmlformats.org/officeDocument/2006/relationships/image" Target="../media/image62.png"/></Relationships>
</file>

<file path=ppt/slides/_rels/slide8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2.xml"/><Relationship Id="rId1" Type="http://schemas.openxmlformats.org/officeDocument/2006/relationships/slideLayout" Target="../slideLayouts/slideLayout3.xml"/><Relationship Id="rId4" Type="http://schemas.openxmlformats.org/officeDocument/2006/relationships/image" Target="../media/image64.emf"/></Relationships>
</file>

<file path=ppt/slides/_rels/slide8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53.xml"/><Relationship Id="rId1" Type="http://schemas.openxmlformats.org/officeDocument/2006/relationships/slideLayout" Target="../slideLayouts/slideLayout3.xml"/><Relationship Id="rId4" Type="http://schemas.openxmlformats.org/officeDocument/2006/relationships/image" Target="../media/image66.png"/></Relationships>
</file>

<file path=ppt/slides/_rels/slide8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4.xml"/><Relationship Id="rId1" Type="http://schemas.openxmlformats.org/officeDocument/2006/relationships/slideLayout" Target="../slideLayouts/slideLayout3.xml"/><Relationship Id="rId5" Type="http://schemas.openxmlformats.org/officeDocument/2006/relationships/image" Target="../media/image68.png"/><Relationship Id="rId4" Type="http://schemas.openxmlformats.org/officeDocument/2006/relationships/image" Target="../media/image67.png"/></Relationships>
</file>

<file path=ppt/slides/_rels/slide8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5.xml"/><Relationship Id="rId1" Type="http://schemas.openxmlformats.org/officeDocument/2006/relationships/slideLayout" Target="../slideLayouts/slideLayout3.xml"/><Relationship Id="rId4" Type="http://schemas.openxmlformats.org/officeDocument/2006/relationships/image" Target="../media/image69.jpg"/></Relationships>
</file>

<file path=ppt/slides/_rels/slide84.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42.png"/><Relationship Id="rId7" Type="http://schemas.openxmlformats.org/officeDocument/2006/relationships/image" Target="../media/image70.png"/><Relationship Id="rId2" Type="http://schemas.openxmlformats.org/officeDocument/2006/relationships/notesSlide" Target="../notesSlides/notesSlide56.xml"/><Relationship Id="rId1" Type="http://schemas.openxmlformats.org/officeDocument/2006/relationships/slideLayout" Target="../slideLayouts/slideLayout3.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 Id="rId9" Type="http://schemas.openxmlformats.org/officeDocument/2006/relationships/image" Target="../media/image72.png"/></Relationships>
</file>

<file path=ppt/slides/_rels/slide8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7.xml"/><Relationship Id="rId1" Type="http://schemas.openxmlformats.org/officeDocument/2006/relationships/slideLayout" Target="../slideLayouts/slideLayout3.xml"/><Relationship Id="rId4" Type="http://schemas.openxmlformats.org/officeDocument/2006/relationships/image" Target="../media/image73.png"/></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60.xml"/><Relationship Id="rId1" Type="http://schemas.openxmlformats.org/officeDocument/2006/relationships/slideLayout" Target="../slideLayouts/slideLayout3.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s>
</file>

<file path=ppt/slides/_rels/slide89.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image" Target="../media/image75.png"/><Relationship Id="rId7" Type="http://schemas.openxmlformats.org/officeDocument/2006/relationships/image" Target="../media/image82.png"/><Relationship Id="rId2" Type="http://schemas.openxmlformats.org/officeDocument/2006/relationships/notesSlide" Target="../notesSlides/notesSlide61.xml"/><Relationship Id="rId1" Type="http://schemas.openxmlformats.org/officeDocument/2006/relationships/slideLayout" Target="../slideLayouts/slideLayout3.xml"/><Relationship Id="rId6" Type="http://schemas.openxmlformats.org/officeDocument/2006/relationships/image" Target="../media/image81.png"/><Relationship Id="rId5" Type="http://schemas.openxmlformats.org/officeDocument/2006/relationships/image" Target="../media/image80.png"/><Relationship Id="rId10" Type="http://schemas.openxmlformats.org/officeDocument/2006/relationships/image" Target="../media/image85.png"/><Relationship Id="rId4" Type="http://schemas.openxmlformats.org/officeDocument/2006/relationships/image" Target="../media/image79.png"/><Relationship Id="rId9" Type="http://schemas.openxmlformats.org/officeDocument/2006/relationships/image" Target="../media/image84.png"/></Relationships>
</file>

<file path=ppt/slides/_rels/slide90.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62.xml"/><Relationship Id="rId1" Type="http://schemas.openxmlformats.org/officeDocument/2006/relationships/slideLayout" Target="../slideLayouts/slideLayout3.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86.png"/></Relationships>
</file>

<file path=ppt/slides/_rels/slide91.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image" Target="../media/image75.png"/><Relationship Id="rId7" Type="http://schemas.openxmlformats.org/officeDocument/2006/relationships/image" Target="../media/image91.png"/><Relationship Id="rId2" Type="http://schemas.openxmlformats.org/officeDocument/2006/relationships/notesSlide" Target="../notesSlides/notesSlide63.xml"/><Relationship Id="rId1" Type="http://schemas.openxmlformats.org/officeDocument/2006/relationships/slideLayout" Target="../slideLayouts/slideLayout3.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76.png"/></Relationships>
</file>

<file path=ppt/slides/_rels/slide92.xml.rels><?xml version="1.0" encoding="UTF-8" standalone="yes"?>
<Relationships xmlns="http://schemas.openxmlformats.org/package/2006/relationships"><Relationship Id="rId3" Type="http://schemas.openxmlformats.org/officeDocument/2006/relationships/image" Target="../media/image75.png"/><Relationship Id="rId7" Type="http://schemas.openxmlformats.org/officeDocument/2006/relationships/image" Target="../media/image96.png"/><Relationship Id="rId2" Type="http://schemas.openxmlformats.org/officeDocument/2006/relationships/notesSlide" Target="../notesSlides/notesSlide64.xml"/><Relationship Id="rId1" Type="http://schemas.openxmlformats.org/officeDocument/2006/relationships/slideLayout" Target="../slideLayouts/slideLayout3.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png"/></Relationships>
</file>

<file path=ppt/slides/_rels/slide93.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65.xml"/><Relationship Id="rId1" Type="http://schemas.openxmlformats.org/officeDocument/2006/relationships/slideLayout" Target="../slideLayouts/slideLayout3.xml"/><Relationship Id="rId6" Type="http://schemas.openxmlformats.org/officeDocument/2006/relationships/image" Target="../media/image99.png"/><Relationship Id="rId5" Type="http://schemas.openxmlformats.org/officeDocument/2006/relationships/image" Target="../media/image98.png"/><Relationship Id="rId4" Type="http://schemas.openxmlformats.org/officeDocument/2006/relationships/image" Target="../media/image97.png"/></Relationships>
</file>

<file path=ppt/slides/_rels/slide9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66.xml"/><Relationship Id="rId1" Type="http://schemas.openxmlformats.org/officeDocument/2006/relationships/slideLayout" Target="../slideLayouts/slideLayout3.xml"/><Relationship Id="rId6" Type="http://schemas.openxmlformats.org/officeDocument/2006/relationships/image" Target="../media/image101.png"/><Relationship Id="rId5" Type="http://schemas.openxmlformats.org/officeDocument/2006/relationships/image" Target="../media/image100.png"/><Relationship Id="rId4" Type="http://schemas.openxmlformats.org/officeDocument/2006/relationships/image" Target="../media/image76.png"/></Relationships>
</file>

<file path=ppt/slides/_rels/slide9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69.xml"/><Relationship Id="rId1" Type="http://schemas.openxmlformats.org/officeDocument/2006/relationships/slideLayout" Target="../slideLayouts/slideLayout3.xml"/><Relationship Id="rId4" Type="http://schemas.openxmlformats.org/officeDocument/2006/relationships/image" Target="../media/image102.png"/></Relationships>
</file>

<file path=ppt/slides/_rels/slide98.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72.xml"/><Relationship Id="rId1" Type="http://schemas.openxmlformats.org/officeDocument/2006/relationships/slideLayout" Target="../slideLayouts/slideLayout3.xml"/><Relationship Id="rId5" Type="http://schemas.openxmlformats.org/officeDocument/2006/relationships/image" Target="../media/image105.png"/><Relationship Id="rId4" Type="http://schemas.openxmlformats.org/officeDocument/2006/relationships/image" Target="../media/image104.png"/></Relationships>
</file>

<file path=ppt/slides/_rels/slide101.xml.rels><?xml version="1.0" encoding="UTF-8" standalone="yes"?>
<Relationships xmlns="http://schemas.openxmlformats.org/package/2006/relationships"><Relationship Id="rId8" Type="http://schemas.openxmlformats.org/officeDocument/2006/relationships/image" Target="../media/image110.png"/><Relationship Id="rId3" Type="http://schemas.openxmlformats.org/officeDocument/2006/relationships/image" Target="../media/image103.png"/><Relationship Id="rId7" Type="http://schemas.openxmlformats.org/officeDocument/2006/relationships/image" Target="../media/image109.png"/><Relationship Id="rId2" Type="http://schemas.openxmlformats.org/officeDocument/2006/relationships/notesSlide" Target="../notesSlides/notesSlide73.xml"/><Relationship Id="rId1" Type="http://schemas.openxmlformats.org/officeDocument/2006/relationships/slideLayout" Target="../slideLayouts/slideLayout3.xml"/><Relationship Id="rId6" Type="http://schemas.openxmlformats.org/officeDocument/2006/relationships/image" Target="../media/image108.png"/><Relationship Id="rId5" Type="http://schemas.openxmlformats.org/officeDocument/2006/relationships/image" Target="../media/image107.png"/><Relationship Id="rId4" Type="http://schemas.openxmlformats.org/officeDocument/2006/relationships/image" Target="../media/image106.png"/><Relationship Id="rId9" Type="http://schemas.openxmlformats.org/officeDocument/2006/relationships/image" Target="../media/image111.png"/></Relationships>
</file>

<file path=ppt/slides/_rels/slide102.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74.xml"/><Relationship Id="rId1" Type="http://schemas.openxmlformats.org/officeDocument/2006/relationships/slideLayout" Target="../slideLayouts/slideLayout3.xml"/><Relationship Id="rId6" Type="http://schemas.openxmlformats.org/officeDocument/2006/relationships/image" Target="../media/image114.png"/><Relationship Id="rId5" Type="http://schemas.openxmlformats.org/officeDocument/2006/relationships/image" Target="../media/image113.png"/><Relationship Id="rId4" Type="http://schemas.openxmlformats.org/officeDocument/2006/relationships/image" Target="../media/image112.png"/></Relationships>
</file>

<file path=ppt/slides/_rels/slide103.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75.xml"/><Relationship Id="rId1" Type="http://schemas.openxmlformats.org/officeDocument/2006/relationships/slideLayout" Target="../slideLayouts/slideLayout3.xml"/><Relationship Id="rId5" Type="http://schemas.openxmlformats.org/officeDocument/2006/relationships/image" Target="../media/image116.png"/><Relationship Id="rId4" Type="http://schemas.openxmlformats.org/officeDocument/2006/relationships/image" Target="../media/image115.png"/></Relationships>
</file>

<file path=ppt/slides/_rels/slide104.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8" Type="http://schemas.openxmlformats.org/officeDocument/2006/relationships/image" Target="../media/image121.png"/><Relationship Id="rId3" Type="http://schemas.openxmlformats.org/officeDocument/2006/relationships/image" Target="../media/image103.png"/><Relationship Id="rId7" Type="http://schemas.openxmlformats.org/officeDocument/2006/relationships/image" Target="../media/image120.png"/><Relationship Id="rId2" Type="http://schemas.openxmlformats.org/officeDocument/2006/relationships/notesSlide" Target="../notesSlides/notesSlide77.xml"/><Relationship Id="rId1" Type="http://schemas.openxmlformats.org/officeDocument/2006/relationships/slideLayout" Target="../slideLayouts/slideLayout3.xml"/><Relationship Id="rId6" Type="http://schemas.openxmlformats.org/officeDocument/2006/relationships/image" Target="../media/image119.png"/><Relationship Id="rId5" Type="http://schemas.openxmlformats.org/officeDocument/2006/relationships/image" Target="../media/image118.png"/><Relationship Id="rId4" Type="http://schemas.openxmlformats.org/officeDocument/2006/relationships/image" Target="../media/image117.png"/><Relationship Id="rId9" Type="http://schemas.openxmlformats.org/officeDocument/2006/relationships/image" Target="../media/image122.png"/></Relationships>
</file>

<file path=ppt/slides/_rels/slide106.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78.xml"/><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79.xml"/><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80.xml"/><Relationship Id="rId1" Type="http://schemas.openxmlformats.org/officeDocument/2006/relationships/slideLayout" Target="../slideLayouts/slideLayout3.xml"/><Relationship Id="rId4" Type="http://schemas.openxmlformats.org/officeDocument/2006/relationships/image" Target="../media/image123.png"/></Relationships>
</file>

<file path=ppt/slides/_rels/slide109.xml.rels><?xml version="1.0" encoding="UTF-8" standalone="yes"?>
<Relationships xmlns="http://schemas.openxmlformats.org/package/2006/relationships"><Relationship Id="rId3" Type="http://schemas.openxmlformats.org/officeDocument/2006/relationships/hyperlink" Target="http://en.wikipedia.org/wiki/Telecommunications" TargetMode="External"/><Relationship Id="rId2" Type="http://schemas.openxmlformats.org/officeDocument/2006/relationships/hyperlink" Target="http://en.wikipedia.org/wiki/International_Telecommunication_Union" TargetMode="External"/><Relationship Id="rId1" Type="http://schemas.openxmlformats.org/officeDocument/2006/relationships/slideLayout" Target="../slideLayouts/slideLayout12.xml"/></Relationships>
</file>

<file path=ppt/slides/_rels/slide110.xml.rels><?xml version="1.0" encoding="UTF-8" standalone="yes"?>
<Relationships xmlns="http://schemas.openxmlformats.org/package/2006/relationships"><Relationship Id="rId2" Type="http://schemas.openxmlformats.org/officeDocument/2006/relationships/hyperlink" Target="http://en.wikipedia.org/wiki/French_language" TargetMode="Externa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hyperlink" Target="http://en.wikipedia.org/wiki/Secure_communication" TargetMode="External"/><Relationship Id="rId2" Type="http://schemas.openxmlformats.org/officeDocument/2006/relationships/hyperlink" Target="http://en.wikipedia.org/wiki/OSI_model" TargetMode="External"/><Relationship Id="rId1" Type="http://schemas.openxmlformats.org/officeDocument/2006/relationships/slideLayout" Target="../slideLayouts/slideLayout13.xml"/><Relationship Id="rId4" Type="http://schemas.openxmlformats.org/officeDocument/2006/relationships/hyperlink" Target="http://en.wikipedia.org/wiki/Open_Systems_Interconnection" TargetMode="Externa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8.xml"/></Relationships>
</file>

<file path=ppt/slides/_rels/slide114.xml.rels><?xml version="1.0" encoding="UTF-8" standalone="yes"?>
<Relationships xmlns="http://schemas.openxmlformats.org/package/2006/relationships"><Relationship Id="rId3" Type="http://schemas.openxmlformats.org/officeDocument/2006/relationships/hyperlink" Target="http://en.wikipedia.org/wiki/Internet_protocol_suite" TargetMode="External"/><Relationship Id="rId2" Type="http://schemas.openxmlformats.org/officeDocument/2006/relationships/hyperlink" Target="http://en.wikipedia.org/wiki/Internet_standard" TargetMode="External"/><Relationship Id="rId1" Type="http://schemas.openxmlformats.org/officeDocument/2006/relationships/slideLayout" Target="../slideLayouts/slideLayout2.xml"/><Relationship Id="rId6" Type="http://schemas.openxmlformats.org/officeDocument/2006/relationships/hyperlink" Target="http://en.wikipedia.org/wiki/Internet" TargetMode="External"/><Relationship Id="rId5" Type="http://schemas.openxmlformats.org/officeDocument/2006/relationships/hyperlink" Target="http://en.wikipedia.org/wiki/Internet_Society" TargetMode="External"/><Relationship Id="rId4" Type="http://schemas.openxmlformats.org/officeDocument/2006/relationships/hyperlink" Target="http://en.wikipedia.org/wiki/Internet_Engineering_Task_Force" TargetMode="Externa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6.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82.xml"/><Relationship Id="rId1" Type="http://schemas.openxmlformats.org/officeDocument/2006/relationships/slideLayout" Target="../slideLayouts/slideLayout15.xml"/><Relationship Id="rId4" Type="http://schemas.openxmlformats.org/officeDocument/2006/relationships/image" Target="../media/image125.wmf"/></Relationships>
</file>

<file path=ppt/slides/_rels/slide117.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16.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4.xml"/></Relationships>
</file>

<file path=ppt/slides/_rels/slide119.xml.rels><?xml version="1.0" encoding="UTF-8" standalone="yes"?>
<Relationships xmlns="http://schemas.openxmlformats.org/package/2006/relationships"><Relationship Id="rId3" Type="http://schemas.openxmlformats.org/officeDocument/2006/relationships/image" Target="../media/image127.wmf"/><Relationship Id="rId2" Type="http://schemas.openxmlformats.org/officeDocument/2006/relationships/notesSlide" Target="../notesSlides/notesSlide84.xml"/><Relationship Id="rId1" Type="http://schemas.openxmlformats.org/officeDocument/2006/relationships/slideLayout" Target="../slideLayouts/slideLayout5.xml"/></Relationships>
</file>

<file path=ppt/slides/_rels/slide120.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85.xml"/><Relationship Id="rId1" Type="http://schemas.openxmlformats.org/officeDocument/2006/relationships/slideLayout" Target="../slideLayouts/slideLayout5.xml"/></Relationships>
</file>

<file path=ppt/slides/_rels/slide121.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4.xml"/></Relationships>
</file>

<file path=ppt/slides/_rels/slide122.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4.xml"/></Relationships>
</file>

<file path=ppt/slides/_rels/slide123.xml.rels><?xml version="1.0" encoding="UTF-8" standalone="yes"?>
<Relationships xmlns="http://schemas.openxmlformats.org/package/2006/relationships"><Relationship Id="rId3" Type="http://schemas.openxmlformats.org/officeDocument/2006/relationships/image" Target="../media/image131.wmf"/><Relationship Id="rId2" Type="http://schemas.openxmlformats.org/officeDocument/2006/relationships/notesSlide" Target="../notesSlides/notesSlide86.xml"/><Relationship Id="rId1" Type="http://schemas.openxmlformats.org/officeDocument/2006/relationships/slideLayout" Target="../slideLayouts/slideLayout1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5.xml.rels><?xml version="1.0" encoding="UTF-8" standalone="yes"?>
<Relationships xmlns="http://schemas.openxmlformats.org/package/2006/relationships"><Relationship Id="rId2" Type="http://schemas.openxmlformats.org/officeDocument/2006/relationships/image" Target="../media/image132.wmf"/><Relationship Id="rId1" Type="http://schemas.openxmlformats.org/officeDocument/2006/relationships/slideLayout" Target="../slideLayouts/slideLayout19.xml"/></Relationships>
</file>

<file path=ppt/slides/_rels/slide126.xml.rels><?xml version="1.0" encoding="UTF-8" standalone="yes"?>
<Relationships xmlns="http://schemas.openxmlformats.org/package/2006/relationships"><Relationship Id="rId8" Type="http://schemas.openxmlformats.org/officeDocument/2006/relationships/diagramLayout" Target="../diagrams/layout6.xml"/><Relationship Id="rId3" Type="http://schemas.openxmlformats.org/officeDocument/2006/relationships/diagramLayout" Target="../diagrams/layout5.xml"/><Relationship Id="rId7" Type="http://schemas.openxmlformats.org/officeDocument/2006/relationships/diagramData" Target="../diagrams/data6.xml"/><Relationship Id="rId2" Type="http://schemas.openxmlformats.org/officeDocument/2006/relationships/diagramData" Target="../diagrams/data5.xml"/><Relationship Id="rId1" Type="http://schemas.openxmlformats.org/officeDocument/2006/relationships/slideLayout" Target="../slideLayouts/slideLayout4.xml"/><Relationship Id="rId6" Type="http://schemas.microsoft.com/office/2007/relationships/diagramDrawing" Target="../diagrams/drawing5.xml"/><Relationship Id="rId11" Type="http://schemas.microsoft.com/office/2007/relationships/diagramDrawing" Target="../diagrams/drawing6.xml"/><Relationship Id="rId5" Type="http://schemas.openxmlformats.org/officeDocument/2006/relationships/diagramColors" Target="../diagrams/colors5.xml"/><Relationship Id="rId10" Type="http://schemas.openxmlformats.org/officeDocument/2006/relationships/diagramColors" Target="../diagrams/colors6.xml"/><Relationship Id="rId4" Type="http://schemas.openxmlformats.org/officeDocument/2006/relationships/diagramQuickStyle" Target="../diagrams/quickStyle5.xml"/><Relationship Id="rId9" Type="http://schemas.openxmlformats.org/officeDocument/2006/relationships/diagramQuickStyle" Target="../diagrams/quickStyle6.xml"/></Relationships>
</file>

<file path=ppt/slides/_rels/slide127.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33.png"/><Relationship Id="rId1" Type="http://schemas.openxmlformats.org/officeDocument/2006/relationships/slideLayout" Target="../slideLayouts/slideLayout20.xml"/></Relationships>
</file>

<file path=ppt/slides/_rels/slide128.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135.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37.wmf"/><Relationship Id="rId2" Type="http://schemas.openxmlformats.org/officeDocument/2006/relationships/notesSlide" Target="../notesSlides/notesSlide92.xml"/><Relationship Id="rId1" Type="http://schemas.openxmlformats.org/officeDocument/2006/relationships/slideLayout" Target="../slideLayouts/slideLayout8.xml"/></Relationships>
</file>

<file path=ppt/slides/_rels/slide136.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22.xml"/></Relationships>
</file>

<file path=ppt/slides/_rels/slide137.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93.xml"/><Relationship Id="rId1" Type="http://schemas.openxmlformats.org/officeDocument/2006/relationships/slideLayout" Target="../slideLayouts/slideLayout3.xml"/></Relationships>
</file>

<file path=ppt/slides/_rels/slide138.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94.xml"/><Relationship Id="rId1" Type="http://schemas.openxmlformats.org/officeDocument/2006/relationships/slideLayout" Target="../slideLayouts/slideLayout8.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39.xml.rels><?xml version="1.0" encoding="UTF-8" standalone="yes"?>
<Relationships xmlns="http://schemas.openxmlformats.org/package/2006/relationships"><Relationship Id="rId3" Type="http://schemas.openxmlformats.org/officeDocument/2006/relationships/image" Target="../media/image140.wmf"/><Relationship Id="rId2" Type="http://schemas.openxmlformats.org/officeDocument/2006/relationships/notesSlide" Target="../notesSlides/notesSlide95.xml"/><Relationship Id="rId1" Type="http://schemas.openxmlformats.org/officeDocument/2006/relationships/slideLayout" Target="../slideLayouts/slideLayout8.xml"/></Relationships>
</file>

<file path=ppt/slides/_rels/slide140.xml.rels><?xml version="1.0" encoding="UTF-8" standalone="yes"?>
<Relationships xmlns="http://schemas.openxmlformats.org/package/2006/relationships"><Relationship Id="rId3" Type="http://schemas.openxmlformats.org/officeDocument/2006/relationships/image" Target="../media/image141.jpeg"/><Relationship Id="rId2" Type="http://schemas.openxmlformats.org/officeDocument/2006/relationships/notesSlide" Target="../notesSlides/notesSlide96.xml"/><Relationship Id="rId1" Type="http://schemas.openxmlformats.org/officeDocument/2006/relationships/slideLayout" Target="../slideLayouts/slideLayout8.xml"/></Relationships>
</file>

<file path=ppt/slides/_rels/slide141.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97.xml"/><Relationship Id="rId1" Type="http://schemas.openxmlformats.org/officeDocument/2006/relationships/slideLayout" Target="../slideLayouts/slideLayout8.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42.xml.rels><?xml version="1.0" encoding="UTF-8" standalone="yes"?>
<Relationships xmlns="http://schemas.openxmlformats.org/package/2006/relationships"><Relationship Id="rId3" Type="http://schemas.openxmlformats.org/officeDocument/2006/relationships/image" Target="../media/image142.jpeg"/><Relationship Id="rId2" Type="http://schemas.openxmlformats.org/officeDocument/2006/relationships/notesSlide" Target="../notesSlides/notesSlide98.xml"/><Relationship Id="rId1" Type="http://schemas.openxmlformats.org/officeDocument/2006/relationships/slideLayout" Target="../slideLayouts/slideLayout8.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8.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49.xml.rels><?xml version="1.0" encoding="UTF-8" standalone="yes"?>
<Relationships xmlns="http://schemas.openxmlformats.org/package/2006/relationships"><Relationship Id="rId2" Type="http://schemas.openxmlformats.org/officeDocument/2006/relationships/image" Target="../media/image143.png"/><Relationship Id="rId1" Type="http://schemas.openxmlformats.org/officeDocument/2006/relationships/slideLayout" Target="../slideLayouts/slideLayout24.xml"/></Relationships>
</file>

<file path=ppt/slides/_rels/slide150.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104.xml"/><Relationship Id="rId1" Type="http://schemas.openxmlformats.org/officeDocument/2006/relationships/slideLayout" Target="../slideLayouts/slideLayout3.xml"/></Relationships>
</file>

<file path=ppt/slides/_rels/slide151.xml.rels><?xml version="1.0" encoding="UTF-8" standalone="yes"?>
<Relationships xmlns="http://schemas.openxmlformats.org/package/2006/relationships"><Relationship Id="rId2" Type="http://schemas.openxmlformats.org/officeDocument/2006/relationships/image" Target="../media/image145.png"/><Relationship Id="rId1" Type="http://schemas.openxmlformats.org/officeDocument/2006/relationships/slideLayout" Target="../slideLayouts/slideLayout25.xml"/></Relationships>
</file>

<file path=ppt/slides/_rels/slide152.xml.rels><?xml version="1.0" encoding="UTF-8" standalone="yes"?>
<Relationships xmlns="http://schemas.openxmlformats.org/package/2006/relationships"><Relationship Id="rId2" Type="http://schemas.openxmlformats.org/officeDocument/2006/relationships/image" Target="../media/image146.wmf"/><Relationship Id="rId1" Type="http://schemas.openxmlformats.org/officeDocument/2006/relationships/slideLayout" Target="../slideLayouts/slideLayout26.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106.xml"/><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107.xml"/><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notesSlide" Target="../notesSlides/notesSlide109.xml"/><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110.xml"/><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8" Type="http://schemas.microsoft.com/office/2007/relationships/diagramDrawing" Target="../diagrams/drawing9.xml"/><Relationship Id="rId3" Type="http://schemas.openxmlformats.org/officeDocument/2006/relationships/image" Target="../media/image151.wmf"/><Relationship Id="rId7" Type="http://schemas.openxmlformats.org/officeDocument/2006/relationships/diagramColors" Target="../diagrams/colors9.xml"/><Relationship Id="rId2" Type="http://schemas.openxmlformats.org/officeDocument/2006/relationships/notesSlide" Target="../notesSlides/notesSlide111.xml"/><Relationship Id="rId1" Type="http://schemas.openxmlformats.org/officeDocument/2006/relationships/slideLayout" Target="../slideLayouts/slideLayout8.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7.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3.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3.xml"/></Relationships>
</file>

<file path=ppt/slides/_rels/slide163.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115.xml"/><Relationship Id="rId1" Type="http://schemas.openxmlformats.org/officeDocument/2006/relationships/slideLayout" Target="../slideLayouts/slideLayout3.xml"/></Relationships>
</file>

<file path=ppt/slides/_rels/slide164.xml.rels><?xml version="1.0" encoding="UTF-8" standalone="yes"?>
<Relationships xmlns="http://schemas.openxmlformats.org/package/2006/relationships"><Relationship Id="rId3" Type="http://schemas.openxmlformats.org/officeDocument/2006/relationships/image" Target="../media/image153.wmf"/><Relationship Id="rId2" Type="http://schemas.openxmlformats.org/officeDocument/2006/relationships/notesSlide" Target="../notesSlides/notesSlide116.xml"/><Relationship Id="rId1" Type="http://schemas.openxmlformats.org/officeDocument/2006/relationships/slideLayout" Target="../slideLayouts/slideLayout3.xml"/><Relationship Id="rId4" Type="http://schemas.openxmlformats.org/officeDocument/2006/relationships/image" Target="../media/image154.wmf"/></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6602E7E-82E1-D8F3-D6C2-162364794525}"/>
            </a:ext>
          </a:extLst>
        </p:cNvPr>
        <p:cNvGrpSpPr/>
        <p:nvPr/>
      </p:nvGrpSpPr>
      <p:grpSpPr>
        <a:xfrm>
          <a:off x="0" y="0"/>
          <a:ext cx="0" cy="0"/>
          <a:chOff x="0" y="0"/>
          <a:chExt cx="0" cy="0"/>
        </a:xfrm>
      </p:grpSpPr>
      <p:sp>
        <p:nvSpPr>
          <p:cNvPr id="6" name="Freeform 2">
            <a:extLst>
              <a:ext uri="{FF2B5EF4-FFF2-40B4-BE49-F238E27FC236}">
                <a16:creationId xmlns:a16="http://schemas.microsoft.com/office/drawing/2014/main" id="{FB897647-70F6-A090-92B6-B107B9E19ADC}"/>
              </a:ext>
            </a:extLst>
          </p:cNvPr>
          <p:cNvSpPr/>
          <p:nvPr/>
        </p:nvSpPr>
        <p:spPr>
          <a:xfrm>
            <a:off x="0" y="0"/>
            <a:ext cx="18288000" cy="10316135"/>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TextBox 2">
            <a:extLst>
              <a:ext uri="{FF2B5EF4-FFF2-40B4-BE49-F238E27FC236}">
                <a16:creationId xmlns:a16="http://schemas.microsoft.com/office/drawing/2014/main" id="{8181CBFD-4CE6-E7E8-0BB5-6E4FB462EBDC}"/>
              </a:ext>
            </a:extLst>
          </p:cNvPr>
          <p:cNvSpPr txBox="1"/>
          <p:nvPr/>
        </p:nvSpPr>
        <p:spPr>
          <a:xfrm>
            <a:off x="5486400" y="3820061"/>
            <a:ext cx="7924800" cy="1323439"/>
          </a:xfrm>
          <a:prstGeom prst="rect">
            <a:avLst/>
          </a:prstGeom>
          <a:noFill/>
        </p:spPr>
        <p:txBody>
          <a:bodyPr wrap="square" rtlCol="0">
            <a:spAutoFit/>
          </a:bodyPr>
          <a:lstStyle/>
          <a:p>
            <a:r>
              <a:rPr lang="en-US" sz="8000" dirty="0">
                <a:solidFill>
                  <a:srgbClr val="00B0F0"/>
                </a:solidFill>
              </a:rPr>
              <a:t>Computer Security</a:t>
            </a:r>
          </a:p>
        </p:txBody>
      </p:sp>
      <p:sp>
        <p:nvSpPr>
          <p:cNvPr id="4" name="TextBox 3">
            <a:extLst>
              <a:ext uri="{FF2B5EF4-FFF2-40B4-BE49-F238E27FC236}">
                <a16:creationId xmlns:a16="http://schemas.microsoft.com/office/drawing/2014/main" id="{2707BB5B-35BF-ED98-2559-084721BB7A56}"/>
              </a:ext>
            </a:extLst>
          </p:cNvPr>
          <p:cNvSpPr txBox="1"/>
          <p:nvPr/>
        </p:nvSpPr>
        <p:spPr>
          <a:xfrm>
            <a:off x="7391400" y="6210300"/>
            <a:ext cx="4495800" cy="769441"/>
          </a:xfrm>
          <a:prstGeom prst="rect">
            <a:avLst/>
          </a:prstGeom>
          <a:noFill/>
        </p:spPr>
        <p:txBody>
          <a:bodyPr wrap="square" rtlCol="0">
            <a:spAutoFit/>
          </a:bodyPr>
          <a:lstStyle/>
          <a:p>
            <a:r>
              <a:rPr lang="en-US" sz="4400" dirty="0">
                <a:solidFill>
                  <a:srgbClr val="FFFF00"/>
                </a:solidFill>
              </a:rPr>
              <a:t>Security Concepts</a:t>
            </a:r>
          </a:p>
        </p:txBody>
      </p:sp>
    </p:spTree>
    <p:extLst>
      <p:ext uri="{BB962C8B-B14F-4D97-AF65-F5344CB8AC3E}">
        <p14:creationId xmlns:p14="http://schemas.microsoft.com/office/powerpoint/2010/main" val="34520480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0" y="342900"/>
            <a:ext cx="11375232" cy="1257300"/>
          </a:xfrm>
        </p:spPr>
        <p:txBody>
          <a:bodyPr/>
          <a:lstStyle/>
          <a:p>
            <a:pPr>
              <a:defRPr/>
            </a:pPr>
            <a:r>
              <a:rPr lang="en-US" dirty="0"/>
              <a:t>Text Book</a:t>
            </a:r>
          </a:p>
        </p:txBody>
      </p:sp>
      <p:sp>
        <p:nvSpPr>
          <p:cNvPr id="11267" name="Rectangle 4"/>
          <p:cNvSpPr>
            <a:spLocks noChangeArrowheads="1"/>
          </p:cNvSpPr>
          <p:nvPr/>
        </p:nvSpPr>
        <p:spPr bwMode="auto">
          <a:xfrm>
            <a:off x="3184005" y="1714500"/>
            <a:ext cx="6515100" cy="7478970"/>
          </a:xfrm>
          <a:prstGeom prst="rect">
            <a:avLst/>
          </a:prstGeom>
          <a:noFill/>
          <a:ln w="9525">
            <a:noFill/>
            <a:miter lim="800000"/>
            <a:headEnd/>
            <a:tailEnd/>
          </a:ln>
        </p:spPr>
        <p:txBody>
          <a:bodyPr wrap="square">
            <a:spAutoFit/>
          </a:bodyPr>
          <a:lstStyle/>
          <a:p>
            <a:pPr algn="just"/>
            <a:r>
              <a:rPr lang="en-US" sz="3000" dirty="0">
                <a:solidFill>
                  <a:srgbClr val="0000CC"/>
                </a:solidFill>
              </a:rPr>
              <a:t>Recommended Textbook</a:t>
            </a:r>
          </a:p>
          <a:p>
            <a:pPr algn="just"/>
            <a:r>
              <a:rPr lang="en-GB" sz="3000" b="1" dirty="0">
                <a:solidFill>
                  <a:srgbClr val="000000"/>
                </a:solidFill>
              </a:rPr>
              <a:t>Computer Security: Principles and Practice, Global Edition</a:t>
            </a:r>
            <a:endParaRPr lang="en-US" sz="3000" dirty="0">
              <a:solidFill>
                <a:srgbClr val="0000CC"/>
              </a:solidFill>
            </a:endParaRPr>
          </a:p>
          <a:p>
            <a:pPr algn="just"/>
            <a:endParaRPr lang="en-US" sz="3000" i="1" dirty="0">
              <a:solidFill>
                <a:srgbClr val="000000"/>
              </a:solidFill>
            </a:endParaRPr>
          </a:p>
          <a:p>
            <a:pPr algn="just"/>
            <a:r>
              <a:rPr lang="en-US" sz="3000" dirty="0">
                <a:solidFill>
                  <a:srgbClr val="0000CC"/>
                </a:solidFill>
              </a:rPr>
              <a:t>Ref</a:t>
            </a:r>
          </a:p>
          <a:p>
            <a:pPr algn="just"/>
            <a:r>
              <a:rPr lang="en-US" sz="3000" dirty="0">
                <a:solidFill>
                  <a:srgbClr val="000000"/>
                </a:solidFill>
              </a:rPr>
              <a:t>Network Security: Private Communication in a Public World</a:t>
            </a:r>
          </a:p>
          <a:p>
            <a:pPr algn="just"/>
            <a:r>
              <a:rPr lang="en-US" sz="3000" dirty="0">
                <a:solidFill>
                  <a:srgbClr val="000000"/>
                </a:solidFill>
              </a:rPr>
              <a:t>Charlie Kaufman, Rad </a:t>
            </a:r>
            <a:r>
              <a:rPr lang="en-US" sz="3000" dirty="0" err="1">
                <a:solidFill>
                  <a:srgbClr val="000000"/>
                </a:solidFill>
              </a:rPr>
              <a:t>ia</a:t>
            </a:r>
            <a:r>
              <a:rPr lang="en-US" sz="3000" dirty="0">
                <a:solidFill>
                  <a:srgbClr val="000000"/>
                </a:solidFill>
              </a:rPr>
              <a:t> Perlman, Mike </a:t>
            </a:r>
            <a:r>
              <a:rPr lang="en-US" sz="3000" dirty="0" err="1">
                <a:solidFill>
                  <a:srgbClr val="000000"/>
                </a:solidFill>
              </a:rPr>
              <a:t>Speciner</a:t>
            </a:r>
            <a:r>
              <a:rPr lang="en-US" sz="3000" dirty="0">
                <a:solidFill>
                  <a:srgbClr val="000000"/>
                </a:solidFill>
              </a:rPr>
              <a:t>, Michael </a:t>
            </a:r>
            <a:r>
              <a:rPr lang="en-US" sz="3000" dirty="0" err="1">
                <a:solidFill>
                  <a:srgbClr val="000000"/>
                </a:solidFill>
              </a:rPr>
              <a:t>Speciner</a:t>
            </a:r>
            <a:r>
              <a:rPr lang="en-US" sz="3000" dirty="0">
                <a:solidFill>
                  <a:srgbClr val="000000"/>
                </a:solidFill>
              </a:rPr>
              <a:t>, Prentice Hall</a:t>
            </a:r>
          </a:p>
          <a:p>
            <a:pPr algn="just"/>
            <a:endParaRPr lang="en-US" sz="3000" dirty="0">
              <a:solidFill>
                <a:srgbClr val="000000"/>
              </a:solidFill>
            </a:endParaRPr>
          </a:p>
          <a:p>
            <a:pPr algn="just"/>
            <a:r>
              <a:rPr lang="en-US" sz="3000" dirty="0"/>
              <a:t>Network Security Essentials Applications and Standards- William Stalling-Applications and Standards</a:t>
            </a:r>
          </a:p>
          <a:p>
            <a:pPr algn="just"/>
            <a:endParaRPr lang="en-US" sz="3000" dirty="0"/>
          </a:p>
          <a:p>
            <a:pPr lvl="2"/>
            <a:endParaRPr lang="en-US" sz="3000" dirty="0">
              <a:solidFill>
                <a:schemeClr val="bg2"/>
              </a:solidFill>
            </a:endParaRPr>
          </a:p>
          <a:p>
            <a:pPr lvl="2"/>
            <a:endParaRPr lang="en-US" sz="3000" dirty="0">
              <a:solidFill>
                <a:schemeClr val="bg2"/>
              </a:solidFill>
            </a:endParaRPr>
          </a:p>
        </p:txBody>
      </p:sp>
      <p:pic>
        <p:nvPicPr>
          <p:cNvPr id="7" name="Picture 6"/>
          <p:cNvPicPr>
            <a:picLocks noChangeAspect="1"/>
          </p:cNvPicPr>
          <p:nvPr/>
        </p:nvPicPr>
        <p:blipFill>
          <a:blip r:embed="rId3"/>
          <a:stretch>
            <a:fillRect/>
          </a:stretch>
        </p:blipFill>
        <p:spPr>
          <a:xfrm>
            <a:off x="13335000" y="3467100"/>
            <a:ext cx="2376768" cy="3093243"/>
          </a:xfrm>
          <a:prstGeom prst="rect">
            <a:avLst/>
          </a:prstGeom>
        </p:spPr>
      </p:pic>
      <p:pic>
        <p:nvPicPr>
          <p:cNvPr id="8" name="Picture 7"/>
          <p:cNvPicPr>
            <a:picLocks noChangeAspect="1"/>
          </p:cNvPicPr>
          <p:nvPr/>
        </p:nvPicPr>
        <p:blipFill>
          <a:blip r:embed="rId4"/>
          <a:stretch>
            <a:fillRect/>
          </a:stretch>
        </p:blipFill>
        <p:spPr>
          <a:xfrm>
            <a:off x="10514089" y="5794499"/>
            <a:ext cx="2558214" cy="3471863"/>
          </a:xfrm>
          <a:prstGeom prst="rect">
            <a:avLst/>
          </a:prstGeom>
        </p:spPr>
      </p:pic>
      <p:pic>
        <p:nvPicPr>
          <p:cNvPr id="5" name="Picture 4">
            <a:extLst>
              <a:ext uri="{FF2B5EF4-FFF2-40B4-BE49-F238E27FC236}">
                <a16:creationId xmlns:a16="http://schemas.microsoft.com/office/drawing/2014/main" id="{DAA24A60-5E7B-9B0B-D4DA-80FD3B57AC55}"/>
              </a:ext>
            </a:extLst>
          </p:cNvPr>
          <p:cNvPicPr>
            <a:picLocks noChangeAspect="1"/>
          </p:cNvPicPr>
          <p:nvPr/>
        </p:nvPicPr>
        <p:blipFill>
          <a:blip r:embed="rId5"/>
          <a:stretch>
            <a:fillRect/>
          </a:stretch>
        </p:blipFill>
        <p:spPr>
          <a:xfrm>
            <a:off x="10242959" y="1709737"/>
            <a:ext cx="2829344" cy="3471863"/>
          </a:xfrm>
          <a:prstGeom prst="rect">
            <a:avLst/>
          </a:prstGeom>
        </p:spPr>
      </p:pic>
    </p:spTree>
    <p:extLst>
      <p:ext uri="{BB962C8B-B14F-4D97-AF65-F5344CB8AC3E}">
        <p14:creationId xmlns:p14="http://schemas.microsoft.com/office/powerpoint/2010/main" val="2514292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defRPr/>
            </a:pPr>
            <a:r>
              <a:rPr lang="en-US" altLang="zh-TW" dirty="0"/>
              <a:t>Learning Objectives</a:t>
            </a:r>
            <a:endParaRPr lang="zh-TW" altLang="en-US" dirty="0"/>
          </a:p>
        </p:txBody>
      </p:sp>
      <p:sp>
        <p:nvSpPr>
          <p:cNvPr id="3" name="內容版面配置區 2"/>
          <p:cNvSpPr>
            <a:spLocks noGrp="1"/>
          </p:cNvSpPr>
          <p:nvPr>
            <p:ph idx="1"/>
          </p:nvPr>
        </p:nvSpPr>
        <p:spPr>
          <a:xfrm>
            <a:off x="3200400" y="2400300"/>
            <a:ext cx="12344400" cy="6286500"/>
          </a:xfrm>
        </p:spPr>
        <p:txBody>
          <a:bodyPr/>
          <a:lstStyle/>
          <a:p>
            <a:pPr algn="just">
              <a:spcBef>
                <a:spcPts val="2700"/>
              </a:spcBef>
              <a:defRPr/>
            </a:pPr>
            <a:r>
              <a:rPr lang="en-US" altLang="zh-TW" dirty="0">
                <a:solidFill>
                  <a:schemeClr val="tx1"/>
                </a:solidFill>
              </a:rPr>
              <a:t>Describe the key security requirements of </a:t>
            </a:r>
            <a:r>
              <a:rPr lang="en-US" altLang="zh-TW" dirty="0">
                <a:solidFill>
                  <a:srgbClr val="FF0000"/>
                </a:solidFill>
              </a:rPr>
              <a:t>confidentiality, integrity, </a:t>
            </a:r>
            <a:r>
              <a:rPr lang="en-US" altLang="zh-TW" dirty="0">
                <a:solidFill>
                  <a:schemeClr val="tx1"/>
                </a:solidFill>
              </a:rPr>
              <a:t>and</a:t>
            </a:r>
            <a:r>
              <a:rPr lang="en-US" altLang="zh-TW" dirty="0">
                <a:solidFill>
                  <a:srgbClr val="FF0000"/>
                </a:solidFill>
              </a:rPr>
              <a:t> availability</a:t>
            </a:r>
          </a:p>
          <a:p>
            <a:pPr algn="just">
              <a:spcBef>
                <a:spcPts val="2700"/>
              </a:spcBef>
              <a:defRPr/>
            </a:pPr>
            <a:r>
              <a:rPr lang="en-US" altLang="zh-TW" dirty="0">
                <a:solidFill>
                  <a:schemeClr val="tx1"/>
                </a:solidFill>
              </a:rPr>
              <a:t>Discuss the types of security threats and attacks</a:t>
            </a:r>
          </a:p>
          <a:p>
            <a:pPr algn="just">
              <a:spcBef>
                <a:spcPts val="2700"/>
              </a:spcBef>
              <a:defRPr/>
            </a:pPr>
            <a:r>
              <a:rPr lang="en-US" altLang="zh-TW" dirty="0">
                <a:solidFill>
                  <a:schemeClr val="tx1"/>
                </a:solidFill>
              </a:rPr>
              <a:t> Summarize the functional requirements for computer security</a:t>
            </a:r>
          </a:p>
          <a:p>
            <a:pPr algn="just">
              <a:spcBef>
                <a:spcPts val="2700"/>
              </a:spcBef>
              <a:defRPr/>
            </a:pPr>
            <a:r>
              <a:rPr lang="en-US" altLang="zh-TW" dirty="0">
                <a:solidFill>
                  <a:schemeClr val="tx1"/>
                </a:solidFill>
              </a:rPr>
              <a:t>Describe the X.800 security architecture for OSI</a:t>
            </a:r>
          </a:p>
          <a:p>
            <a:pPr algn="just">
              <a:spcBef>
                <a:spcPts val="2700"/>
              </a:spcBef>
              <a:defRPr/>
            </a:pPr>
            <a:r>
              <a:rPr lang="en-US" altLang="zh-TW" dirty="0">
                <a:solidFill>
                  <a:schemeClr val="tx1"/>
                </a:solidFill>
              </a:rPr>
              <a:t>Cryptography applications</a:t>
            </a:r>
            <a:endParaRPr lang="zh-TW" altLang="en-US" dirty="0">
              <a:solidFill>
                <a:schemeClr val="tx1"/>
              </a:solidFill>
            </a:endParaRPr>
          </a:p>
          <a:p>
            <a:pPr>
              <a:defRPr/>
            </a:pPr>
            <a:endParaRPr lang="zh-TW" altLang="en-US" dirty="0"/>
          </a:p>
        </p:txBody>
      </p:sp>
    </p:spTree>
    <p:extLst>
      <p:ext uri="{BB962C8B-B14F-4D97-AF65-F5344CB8AC3E}">
        <p14:creationId xmlns:p14="http://schemas.microsoft.com/office/powerpoint/2010/main" val="38784593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defRPr/>
            </a:pPr>
            <a:r>
              <a:rPr lang="en-GB" altLang="zh-TW" dirty="0"/>
              <a:t>Introduction</a:t>
            </a:r>
            <a:endParaRPr lang="zh-TW" altLang="en-US" dirty="0"/>
          </a:p>
        </p:txBody>
      </p:sp>
      <p:sp>
        <p:nvSpPr>
          <p:cNvPr id="5" name="Content Placeholder 2"/>
          <p:cNvSpPr txBox="1">
            <a:spLocks/>
          </p:cNvSpPr>
          <p:nvPr/>
        </p:nvSpPr>
        <p:spPr bwMode="auto">
          <a:xfrm>
            <a:off x="3200400" y="2971801"/>
            <a:ext cx="12344400" cy="3771899"/>
          </a:xfrm>
          <a:prstGeom prst="rect">
            <a:avLst/>
          </a:prstGeom>
          <a:noFill/>
          <a:ln w="9525">
            <a:noFill/>
            <a:miter lim="800000"/>
            <a:headEnd/>
            <a:tailEnd/>
          </a:ln>
        </p:spPr>
        <p:txBody>
          <a:bodyPr vert="horz" wrap="square" lIns="137160" tIns="68580" rIns="137160" bIns="68580" numCol="1" anchor="t" anchorCtr="0" compatLnSpc="1">
            <a:prstTxWarp prst="textNoShape">
              <a:avLst/>
            </a:prstTxWarp>
          </a:bodyPr>
          <a:lstStyle/>
          <a:p>
            <a:pPr marL="514350" indent="-514350">
              <a:spcBef>
                <a:spcPct val="50000"/>
              </a:spcBef>
              <a:buFont typeface="Wingdings" pitchFamily="2" charset="2"/>
              <a:buChar char="§"/>
              <a:defRPr/>
            </a:pPr>
            <a:r>
              <a:rPr lang="en-US" sz="3600" kern="0" dirty="0">
                <a:solidFill>
                  <a:srgbClr val="000000"/>
                </a:solidFill>
              </a:rPr>
              <a:t>Humans have been in conflict since prehistoric times.</a:t>
            </a:r>
          </a:p>
          <a:p>
            <a:pPr marL="514350" indent="-514350">
              <a:spcBef>
                <a:spcPct val="50000"/>
              </a:spcBef>
              <a:buFont typeface="Wingdings" pitchFamily="2" charset="2"/>
              <a:buChar char="§"/>
              <a:defRPr/>
            </a:pPr>
            <a:r>
              <a:rPr lang="en-US" sz="3600" kern="0" dirty="0">
                <a:solidFill>
                  <a:srgbClr val="000000"/>
                </a:solidFill>
              </a:rPr>
              <a:t>In The Art of War 1, Sun Tzu says </a:t>
            </a:r>
            <a:r>
              <a:rPr lang="en-US" sz="3600" kern="0" dirty="0">
                <a:solidFill>
                  <a:srgbClr val="C00000"/>
                </a:solidFill>
              </a:rPr>
              <a:t>“The entire art of war is based on deception”. </a:t>
            </a:r>
          </a:p>
        </p:txBody>
      </p:sp>
    </p:spTree>
    <p:extLst>
      <p:ext uri="{BB962C8B-B14F-4D97-AF65-F5344CB8AC3E}">
        <p14:creationId xmlns:p14="http://schemas.microsoft.com/office/powerpoint/2010/main" val="14840394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defRPr/>
            </a:pPr>
            <a:r>
              <a:rPr lang="en-GB" altLang="zh-TW" dirty="0"/>
              <a:t>History – Pre-Renaissance</a:t>
            </a:r>
            <a:endParaRPr lang="zh-TW" altLang="en-US" dirty="0"/>
          </a:p>
        </p:txBody>
      </p:sp>
      <p:sp>
        <p:nvSpPr>
          <p:cNvPr id="4" name="Content Placeholder 2"/>
          <p:cNvSpPr txBox="1">
            <a:spLocks/>
          </p:cNvSpPr>
          <p:nvPr/>
        </p:nvSpPr>
        <p:spPr bwMode="auto">
          <a:xfrm>
            <a:off x="2971800" y="2400300"/>
            <a:ext cx="12573000" cy="3523059"/>
          </a:xfrm>
          <a:prstGeom prst="rect">
            <a:avLst/>
          </a:prstGeom>
          <a:noFill/>
          <a:ln w="9525">
            <a:noFill/>
            <a:miter lim="800000"/>
            <a:headEnd/>
            <a:tailEnd/>
          </a:ln>
        </p:spPr>
        <p:txBody>
          <a:bodyPr vert="horz" wrap="square" lIns="137160" tIns="68580" rIns="137160" bIns="68580" numCol="1" anchor="t" anchorCtr="0" compatLnSpc="1">
            <a:prstTxWarp prst="textNoShape">
              <a:avLst/>
            </a:prstTxWarp>
          </a:bodyPr>
          <a:lstStyle/>
          <a:p>
            <a:pPr marL="857250" indent="-857250">
              <a:buFont typeface="Wingdings" pitchFamily="2" charset="2"/>
              <a:buChar char="§"/>
            </a:pPr>
            <a:r>
              <a:rPr lang="en-US" sz="3600" dirty="0"/>
              <a:t>Paper was first introduced to Europe by Crusaders around 1200 A.D.</a:t>
            </a:r>
          </a:p>
          <a:p>
            <a:endParaRPr lang="en-US" sz="3600" dirty="0"/>
          </a:p>
          <a:p>
            <a:pPr marL="857250" indent="-857250">
              <a:buFont typeface="Wingdings" pitchFamily="2" charset="2"/>
              <a:buChar char="§"/>
            </a:pPr>
            <a:r>
              <a:rPr lang="en-US" sz="3600" dirty="0"/>
              <a:t>Information was stored using tokens, tablets, knotted strings, notched sticks or handwritten parchment.</a:t>
            </a:r>
            <a:endParaRPr lang="en-US" sz="3600" kern="0" dirty="0">
              <a:latin typeface="Lucida Sans"/>
              <a:cs typeface="Arial"/>
            </a:endParaRPr>
          </a:p>
        </p:txBody>
      </p:sp>
    </p:spTree>
    <p:extLst>
      <p:ext uri="{BB962C8B-B14F-4D97-AF65-F5344CB8AC3E}">
        <p14:creationId xmlns:p14="http://schemas.microsoft.com/office/powerpoint/2010/main" val="1276437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defRPr/>
            </a:pPr>
            <a:r>
              <a:rPr lang="en-GB" altLang="zh-TW" dirty="0"/>
              <a:t>History – Pre-Renaissance</a:t>
            </a:r>
            <a:endParaRPr lang="zh-TW" altLang="en-US" dirty="0"/>
          </a:p>
        </p:txBody>
      </p:sp>
      <p:sp>
        <p:nvSpPr>
          <p:cNvPr id="5" name="Content Placeholder 2"/>
          <p:cNvSpPr txBox="1">
            <a:spLocks/>
          </p:cNvSpPr>
          <p:nvPr/>
        </p:nvSpPr>
        <p:spPr bwMode="auto">
          <a:xfrm>
            <a:off x="2667000" y="1743076"/>
            <a:ext cx="12573000" cy="7886700"/>
          </a:xfrm>
          <a:prstGeom prst="rect">
            <a:avLst/>
          </a:prstGeom>
          <a:noFill/>
          <a:ln w="9525">
            <a:noFill/>
            <a:miter lim="800000"/>
            <a:headEnd/>
            <a:tailEnd/>
          </a:ln>
        </p:spPr>
        <p:txBody>
          <a:bodyPr vert="horz" wrap="square" lIns="137160" tIns="68580" rIns="137160" bIns="68580" numCol="1" anchor="t" anchorCtr="0" compatLnSpc="1">
            <a:prstTxWarp prst="textNoShape">
              <a:avLst/>
            </a:prstTxWarp>
          </a:bodyPr>
          <a:lstStyle/>
          <a:p>
            <a:pPr marL="514350" indent="-514350" algn="just">
              <a:buFont typeface="Wingdings" pitchFamily="2" charset="2"/>
              <a:buChar char="§"/>
            </a:pPr>
            <a:r>
              <a:rPr lang="en-US" sz="3000" dirty="0"/>
              <a:t>Perhaps the best illustration of the importance of information security to ancient societies is the relatively </a:t>
            </a:r>
            <a:r>
              <a:rPr lang="en-US" sz="3000" dirty="0">
                <a:solidFill>
                  <a:srgbClr val="FF0000"/>
                </a:solidFill>
              </a:rPr>
              <a:t>advanced state of cryptography and steganography</a:t>
            </a:r>
            <a:r>
              <a:rPr lang="en-US" sz="3000" dirty="0"/>
              <a:t>, technologies devoted to keeping information secret, when compared to the other technologies available for computing and communication.</a:t>
            </a:r>
          </a:p>
          <a:p>
            <a:pPr marL="514350" indent="-514350" algn="just">
              <a:buFont typeface="Wingdings" pitchFamily="2" charset="2"/>
              <a:buChar char="§"/>
            </a:pPr>
            <a:endParaRPr lang="en-US" sz="3000" dirty="0"/>
          </a:p>
          <a:p>
            <a:pPr marL="514350" indent="-514350" algn="just">
              <a:buFont typeface="Wingdings" pitchFamily="2" charset="2"/>
              <a:buChar char="§"/>
            </a:pPr>
            <a:r>
              <a:rPr lang="en-US" sz="3000" dirty="0"/>
              <a:t>Cryptography is the science of writing in codes that are hard to decipher, and steganography is the art of hiding information to make it hard to detect.</a:t>
            </a:r>
          </a:p>
          <a:p>
            <a:pPr algn="just"/>
            <a:endParaRPr lang="en-US" sz="3000" dirty="0"/>
          </a:p>
          <a:p>
            <a:pPr marL="514350" indent="-514350" algn="just">
              <a:buFont typeface="Wingdings" pitchFamily="2" charset="2"/>
              <a:buChar char="§"/>
            </a:pPr>
            <a:r>
              <a:rPr lang="en-US" sz="3000" dirty="0"/>
              <a:t>In Rome, Julius Caesar used a simple substitution cipher to hide information from his enemies </a:t>
            </a:r>
          </a:p>
          <a:p>
            <a:pPr marL="514350" indent="-514350" algn="just">
              <a:buFont typeface="Wingdings" pitchFamily="2" charset="2"/>
              <a:buChar char="§"/>
            </a:pPr>
            <a:endParaRPr lang="en-US" sz="3000" dirty="0"/>
          </a:p>
          <a:p>
            <a:pPr marL="514350" indent="-514350" algn="just">
              <a:buFont typeface="Wingdings" pitchFamily="2" charset="2"/>
              <a:buChar char="§"/>
            </a:pPr>
            <a:r>
              <a:rPr lang="en-US" sz="3000" dirty="0"/>
              <a:t>During Abbasid caliphate [750 A.D], instruction to administrators explained how to use </a:t>
            </a:r>
            <a:r>
              <a:rPr lang="en-US" sz="3000" dirty="0">
                <a:solidFill>
                  <a:srgbClr val="FF0000"/>
                </a:solidFill>
              </a:rPr>
              <a:t>substitution ciphers</a:t>
            </a:r>
            <a:r>
              <a:rPr lang="en-US" sz="3000" dirty="0"/>
              <a:t>. Muslim texts of that era explain how frequency counting can easily break substitution ciphers.</a:t>
            </a:r>
          </a:p>
        </p:txBody>
      </p:sp>
    </p:spTree>
    <p:extLst>
      <p:ext uri="{BB962C8B-B14F-4D97-AF65-F5344CB8AC3E}">
        <p14:creationId xmlns:p14="http://schemas.microsoft.com/office/powerpoint/2010/main" val="12734409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971800" y="342900"/>
            <a:ext cx="12344400" cy="1714500"/>
          </a:xfrm>
        </p:spPr>
        <p:txBody>
          <a:bodyPr/>
          <a:lstStyle/>
          <a:p>
            <a:pPr>
              <a:defRPr/>
            </a:pPr>
            <a:r>
              <a:rPr lang="en-GB" altLang="zh-TW" dirty="0"/>
              <a:t>History – Pre-Renaissance</a:t>
            </a:r>
            <a:endParaRPr lang="zh-TW" altLang="en-US" dirty="0"/>
          </a:p>
        </p:txBody>
      </p:sp>
      <p:sp>
        <p:nvSpPr>
          <p:cNvPr id="4" name="Content Placeholder 2"/>
          <p:cNvSpPr txBox="1">
            <a:spLocks/>
          </p:cNvSpPr>
          <p:nvPr/>
        </p:nvSpPr>
        <p:spPr bwMode="auto">
          <a:xfrm>
            <a:off x="2857500" y="1828800"/>
            <a:ext cx="12573000" cy="1943100"/>
          </a:xfrm>
          <a:prstGeom prst="rect">
            <a:avLst/>
          </a:prstGeom>
          <a:noFill/>
          <a:ln w="9525">
            <a:noFill/>
            <a:miter lim="800000"/>
            <a:headEnd/>
            <a:tailEnd/>
          </a:ln>
        </p:spPr>
        <p:txBody>
          <a:bodyPr vert="horz" wrap="square" lIns="137160" tIns="68580" rIns="137160" bIns="68580" numCol="1" anchor="t" anchorCtr="0" compatLnSpc="1">
            <a:prstTxWarp prst="textNoShape">
              <a:avLst/>
            </a:prstTxWarp>
          </a:bodyPr>
          <a:lstStyle/>
          <a:p>
            <a:pPr marL="514350" indent="-514350" algn="just">
              <a:buFont typeface="Wingdings" pitchFamily="2" charset="2"/>
              <a:buChar char="§"/>
            </a:pPr>
            <a:r>
              <a:rPr lang="en-US" sz="3600" dirty="0"/>
              <a:t>Even more effort was devoted to finding tools for steganography. Recorded ancient approaches for information hiding include</a:t>
            </a:r>
          </a:p>
          <a:p>
            <a:pPr marL="514350" indent="-514350" algn="just">
              <a:buFont typeface="Wingdings" pitchFamily="2" charset="2"/>
              <a:buChar char="§"/>
            </a:pPr>
            <a:endParaRPr lang="en-US" sz="3000" dirty="0"/>
          </a:p>
          <a:p>
            <a:pPr marL="685800" indent="-685800" algn="just">
              <a:buFont typeface="Wingdings" pitchFamily="2" charset="2"/>
              <a:buChar char="v"/>
            </a:pPr>
            <a:endParaRPr lang="en-US" sz="3000" dirty="0"/>
          </a:p>
        </p:txBody>
      </p:sp>
      <p:sp>
        <p:nvSpPr>
          <p:cNvPr id="6" name="Rectangle 5"/>
          <p:cNvSpPr/>
          <p:nvPr/>
        </p:nvSpPr>
        <p:spPr>
          <a:xfrm>
            <a:off x="3886200" y="4229100"/>
            <a:ext cx="10401300" cy="5078313"/>
          </a:xfrm>
          <a:prstGeom prst="rect">
            <a:avLst/>
          </a:prstGeom>
        </p:spPr>
        <p:txBody>
          <a:bodyPr wrap="square">
            <a:spAutoFit/>
          </a:bodyPr>
          <a:lstStyle/>
          <a:p>
            <a:pPr marL="685800" indent="-685800" algn="just">
              <a:buFont typeface="Wingdings" pitchFamily="2" charset="2"/>
              <a:buChar char="v"/>
            </a:pPr>
            <a:r>
              <a:rPr lang="en-US" sz="2700" dirty="0"/>
              <a:t>Texts written on shaved skulls that were later covered by letting hair grow (Greece),</a:t>
            </a:r>
          </a:p>
          <a:p>
            <a:pPr marL="685800" indent="-685800" algn="just">
              <a:buFont typeface="Wingdings" pitchFamily="2" charset="2"/>
              <a:buChar char="v"/>
            </a:pPr>
            <a:endParaRPr lang="en-US" sz="2700" dirty="0"/>
          </a:p>
          <a:p>
            <a:pPr marL="685800" indent="-685800" algn="just">
              <a:buFont typeface="Wingdings" pitchFamily="2" charset="2"/>
              <a:buChar char="v"/>
            </a:pPr>
            <a:r>
              <a:rPr lang="en-US" sz="2700" dirty="0"/>
              <a:t> Invisible inks (Rome),</a:t>
            </a:r>
          </a:p>
          <a:p>
            <a:pPr marL="685800" indent="-685800" algn="just">
              <a:buFont typeface="Wingdings" pitchFamily="2" charset="2"/>
              <a:buChar char="v"/>
            </a:pPr>
            <a:endParaRPr lang="en-US" sz="2700" dirty="0"/>
          </a:p>
          <a:p>
            <a:pPr marL="685800" indent="-685800" algn="just">
              <a:buFont typeface="Wingdings" pitchFamily="2" charset="2"/>
              <a:buChar char="v"/>
            </a:pPr>
            <a:r>
              <a:rPr lang="en-US" sz="2700" dirty="0"/>
              <a:t>Pin pricks placed above letters in a text to indicate letters in a secret message (Greece),</a:t>
            </a:r>
          </a:p>
          <a:p>
            <a:pPr marL="685800" indent="-685800" algn="just">
              <a:buFont typeface="Wingdings" pitchFamily="2" charset="2"/>
              <a:buChar char="v"/>
            </a:pPr>
            <a:endParaRPr lang="en-US" sz="2700" dirty="0"/>
          </a:p>
          <a:p>
            <a:pPr marL="685800" indent="-685800" algn="just">
              <a:buFont typeface="Wingdings" pitchFamily="2" charset="2"/>
              <a:buChar char="v"/>
            </a:pPr>
            <a:r>
              <a:rPr lang="en-US" sz="2700" dirty="0"/>
              <a:t>Messages hidden in images and hieroglyphics (Egypt), and</a:t>
            </a:r>
          </a:p>
          <a:p>
            <a:pPr marL="685800" indent="-685800" algn="just">
              <a:buFont typeface="Wingdings" pitchFamily="2" charset="2"/>
              <a:buChar char="v"/>
            </a:pPr>
            <a:endParaRPr lang="en-US" sz="2700" dirty="0"/>
          </a:p>
          <a:p>
            <a:pPr marL="685800" indent="-685800" algn="just">
              <a:buFont typeface="Wingdings" pitchFamily="2" charset="2"/>
              <a:buChar char="v"/>
            </a:pPr>
            <a:r>
              <a:rPr lang="en-US" sz="2700" dirty="0"/>
              <a:t>Messages written on a thin sheet, rolled into a wax ball, and hidden or swallowed (China).</a:t>
            </a:r>
          </a:p>
        </p:txBody>
      </p:sp>
    </p:spTree>
    <p:extLst>
      <p:ext uri="{BB962C8B-B14F-4D97-AF65-F5344CB8AC3E}">
        <p14:creationId xmlns:p14="http://schemas.microsoft.com/office/powerpoint/2010/main" val="31123552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971800" y="342900"/>
            <a:ext cx="12344400" cy="1714500"/>
          </a:xfrm>
        </p:spPr>
        <p:txBody>
          <a:bodyPr/>
          <a:lstStyle/>
          <a:p>
            <a:pPr>
              <a:defRPr/>
            </a:pPr>
            <a:r>
              <a:rPr lang="en-GB" altLang="zh-TW" dirty="0"/>
              <a:t>History – Renaissance to World War I</a:t>
            </a:r>
            <a:endParaRPr lang="zh-TW" altLang="en-US" dirty="0"/>
          </a:p>
        </p:txBody>
      </p:sp>
      <p:sp>
        <p:nvSpPr>
          <p:cNvPr id="5" name="Content Placeholder 2"/>
          <p:cNvSpPr txBox="1">
            <a:spLocks/>
          </p:cNvSpPr>
          <p:nvPr/>
        </p:nvSpPr>
        <p:spPr bwMode="auto">
          <a:xfrm>
            <a:off x="2971800" y="2286001"/>
            <a:ext cx="12573000" cy="1210004"/>
          </a:xfrm>
          <a:prstGeom prst="rect">
            <a:avLst/>
          </a:prstGeom>
          <a:noFill/>
          <a:ln w="9525">
            <a:noFill/>
            <a:miter lim="800000"/>
            <a:headEnd/>
            <a:tailEnd/>
          </a:ln>
        </p:spPr>
        <p:txBody>
          <a:bodyPr vert="horz" wrap="square" lIns="137160" tIns="68580" rIns="137160" bIns="68580" numCol="1" anchor="t" anchorCtr="0" compatLnSpc="1">
            <a:prstTxWarp prst="textNoShape">
              <a:avLst/>
            </a:prstTxWarp>
          </a:bodyPr>
          <a:lstStyle/>
          <a:p>
            <a:pPr marL="514350" indent="-514350" algn="just">
              <a:buFont typeface="Wingdings" pitchFamily="2" charset="2"/>
              <a:buChar char="§"/>
            </a:pPr>
            <a:r>
              <a:rPr lang="en-US" sz="3000" dirty="0"/>
              <a:t>The Renaissance was a period of renewed intellectual activity in Europe starting in the 14th century.</a:t>
            </a:r>
          </a:p>
          <a:p>
            <a:pPr marL="685800" indent="-685800" algn="just">
              <a:buFont typeface="Wingdings" pitchFamily="2" charset="2"/>
              <a:buChar char="v"/>
            </a:pPr>
            <a:endParaRPr lang="en-US" sz="3000" dirty="0"/>
          </a:p>
        </p:txBody>
      </p:sp>
      <p:sp>
        <p:nvSpPr>
          <p:cNvPr id="7" name="Rectangle 6"/>
          <p:cNvSpPr/>
          <p:nvPr/>
        </p:nvSpPr>
        <p:spPr>
          <a:xfrm>
            <a:off x="3283170" y="3724604"/>
            <a:ext cx="11772900" cy="4662815"/>
          </a:xfrm>
          <a:prstGeom prst="rect">
            <a:avLst/>
          </a:prstGeom>
        </p:spPr>
        <p:txBody>
          <a:bodyPr wrap="square">
            <a:spAutoFit/>
          </a:bodyPr>
          <a:lstStyle/>
          <a:p>
            <a:pPr marL="685800" indent="-685800" algn="just">
              <a:buFont typeface="Wingdings" pitchFamily="2" charset="2"/>
              <a:buChar char="v"/>
            </a:pPr>
            <a:r>
              <a:rPr lang="en-US" sz="2700" dirty="0"/>
              <a:t>Napier’s bones used for multiplication, division, and finding square roots [1617]</a:t>
            </a:r>
          </a:p>
          <a:p>
            <a:pPr marL="685800" indent="-685800" algn="just">
              <a:buFont typeface="Wingdings" pitchFamily="2" charset="2"/>
              <a:buChar char="v"/>
            </a:pPr>
            <a:endParaRPr lang="en-US" sz="2700" dirty="0"/>
          </a:p>
          <a:p>
            <a:pPr marL="685800" indent="-685800" algn="just">
              <a:buFont typeface="Wingdings" pitchFamily="2" charset="2"/>
              <a:buChar char="v"/>
            </a:pPr>
            <a:r>
              <a:rPr lang="en-US" sz="2700" dirty="0"/>
              <a:t> </a:t>
            </a:r>
            <a:r>
              <a:rPr lang="en-US" sz="2700" dirty="0" err="1"/>
              <a:t>Blaise</a:t>
            </a:r>
            <a:r>
              <a:rPr lang="en-US" sz="2700" dirty="0"/>
              <a:t> Pascal produced around 50 mechanical calculators starting in 1642.</a:t>
            </a:r>
          </a:p>
          <a:p>
            <a:pPr marL="685800" indent="-685800" algn="just">
              <a:buFont typeface="Wingdings" pitchFamily="2" charset="2"/>
              <a:buChar char="v"/>
            </a:pPr>
            <a:endParaRPr lang="en-US" sz="2700" dirty="0"/>
          </a:p>
          <a:p>
            <a:pPr marL="685800" indent="-685800" algn="just">
              <a:buFont typeface="Wingdings" pitchFamily="2" charset="2"/>
              <a:buChar char="v"/>
            </a:pPr>
            <a:r>
              <a:rPr lang="en-US" sz="2700" dirty="0"/>
              <a:t>In 1800s Herman Hollerith developed a punch card tabulation system</a:t>
            </a:r>
          </a:p>
          <a:p>
            <a:pPr marL="685800" indent="-685800" algn="just">
              <a:buFont typeface="Wingdings" pitchFamily="2" charset="2"/>
              <a:buChar char="v"/>
            </a:pPr>
            <a:endParaRPr lang="en-US" sz="2700" dirty="0"/>
          </a:p>
          <a:p>
            <a:pPr marL="685800" indent="-685800" algn="just">
              <a:buFont typeface="Wingdings" pitchFamily="2" charset="2"/>
              <a:buChar char="v"/>
            </a:pPr>
            <a:r>
              <a:rPr lang="en-US" sz="2700" dirty="0"/>
              <a:t>Charles Babbage produced the first programmable machines, the difference and analytical engines, in the mid-1800s</a:t>
            </a:r>
          </a:p>
          <a:p>
            <a:pPr marL="685800" indent="-685800" algn="just">
              <a:buFont typeface="Wingdings" pitchFamily="2" charset="2"/>
              <a:buChar char="v"/>
            </a:pPr>
            <a:endParaRPr lang="en-US" sz="2700" dirty="0"/>
          </a:p>
          <a:p>
            <a:pPr marL="685800" indent="-685800" algn="just">
              <a:buFont typeface="Wingdings" pitchFamily="2" charset="2"/>
              <a:buChar char="v"/>
            </a:pPr>
            <a:r>
              <a:rPr lang="en-US" sz="2700" dirty="0"/>
              <a:t>Poly-alphabetic solution ciphers</a:t>
            </a:r>
          </a:p>
        </p:txBody>
      </p:sp>
    </p:spTree>
    <p:extLst>
      <p:ext uri="{BB962C8B-B14F-4D97-AF65-F5344CB8AC3E}">
        <p14:creationId xmlns:p14="http://schemas.microsoft.com/office/powerpoint/2010/main" val="11969862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971800" y="342900"/>
            <a:ext cx="12344400" cy="1714500"/>
          </a:xfrm>
        </p:spPr>
        <p:txBody>
          <a:bodyPr/>
          <a:lstStyle/>
          <a:p>
            <a:pPr>
              <a:defRPr/>
            </a:pPr>
            <a:r>
              <a:rPr lang="en-GB" altLang="zh-TW" dirty="0"/>
              <a:t>History –World War II</a:t>
            </a:r>
            <a:endParaRPr lang="zh-TW" altLang="en-US" dirty="0"/>
          </a:p>
        </p:txBody>
      </p:sp>
      <p:sp>
        <p:nvSpPr>
          <p:cNvPr id="6" name="Rectangle 5"/>
          <p:cNvSpPr/>
          <p:nvPr/>
        </p:nvSpPr>
        <p:spPr>
          <a:xfrm>
            <a:off x="3200400" y="2971801"/>
            <a:ext cx="11772900" cy="2862322"/>
          </a:xfrm>
          <a:prstGeom prst="rect">
            <a:avLst/>
          </a:prstGeom>
        </p:spPr>
        <p:txBody>
          <a:bodyPr wrap="square">
            <a:spAutoFit/>
          </a:bodyPr>
          <a:lstStyle/>
          <a:p>
            <a:pPr marL="685800" indent="-685800" algn="just">
              <a:buFont typeface="Wingdings" pitchFamily="2" charset="2"/>
              <a:buChar char="v"/>
            </a:pPr>
            <a:r>
              <a:rPr lang="en-US" sz="3600" dirty="0"/>
              <a:t>During WWII, German cryptographers secured their communications using the </a:t>
            </a:r>
            <a:r>
              <a:rPr lang="en-US" sz="3600" dirty="0">
                <a:solidFill>
                  <a:srgbClr val="FF0000"/>
                </a:solidFill>
              </a:rPr>
              <a:t>Enigma encryption</a:t>
            </a:r>
          </a:p>
          <a:p>
            <a:pPr marL="685800" indent="-685800" algn="just">
              <a:buFont typeface="Wingdings" pitchFamily="2" charset="2"/>
              <a:buChar char="v"/>
            </a:pPr>
            <a:endParaRPr lang="en-US" sz="3600" dirty="0"/>
          </a:p>
          <a:p>
            <a:pPr marL="685800" indent="-685800" algn="just">
              <a:buFont typeface="Wingdings" pitchFamily="2" charset="2"/>
              <a:buChar char="v"/>
            </a:pPr>
            <a:r>
              <a:rPr lang="en-US" sz="3600" dirty="0"/>
              <a:t>The Japanese had a cipher device that was their equivalent to Enigma. It was code-named Purple.</a:t>
            </a:r>
          </a:p>
        </p:txBody>
      </p:sp>
    </p:spTree>
    <p:extLst>
      <p:ext uri="{BB962C8B-B14F-4D97-AF65-F5344CB8AC3E}">
        <p14:creationId xmlns:p14="http://schemas.microsoft.com/office/powerpoint/2010/main" val="1767409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971800" y="342900"/>
            <a:ext cx="12344400" cy="1714500"/>
          </a:xfrm>
        </p:spPr>
        <p:txBody>
          <a:bodyPr/>
          <a:lstStyle/>
          <a:p>
            <a:pPr>
              <a:defRPr/>
            </a:pPr>
            <a:r>
              <a:rPr lang="en-US" dirty="0"/>
              <a:t>History –Cold War</a:t>
            </a:r>
            <a:endParaRPr lang="zh-TW" altLang="en-US" dirty="0"/>
          </a:p>
        </p:txBody>
      </p:sp>
      <p:sp>
        <p:nvSpPr>
          <p:cNvPr id="4" name="Rectangle 3"/>
          <p:cNvSpPr/>
          <p:nvPr/>
        </p:nvSpPr>
        <p:spPr>
          <a:xfrm>
            <a:off x="3200400" y="2628901"/>
            <a:ext cx="11772900" cy="5909310"/>
          </a:xfrm>
          <a:prstGeom prst="rect">
            <a:avLst/>
          </a:prstGeom>
        </p:spPr>
        <p:txBody>
          <a:bodyPr wrap="square">
            <a:spAutoFit/>
          </a:bodyPr>
          <a:lstStyle/>
          <a:p>
            <a:pPr marL="685800" indent="-685800" algn="just">
              <a:buFont typeface="Wingdings" pitchFamily="2" charset="2"/>
              <a:buChar char="v"/>
            </a:pPr>
            <a:r>
              <a:rPr lang="en-US" sz="2700" dirty="0"/>
              <a:t>The new availability of computers allowed the science of cryptography to make major advances.</a:t>
            </a:r>
          </a:p>
          <a:p>
            <a:pPr marL="685800" indent="-685800" algn="just">
              <a:buFont typeface="Wingdings" pitchFamily="2" charset="2"/>
              <a:buChar char="v"/>
            </a:pPr>
            <a:endParaRPr lang="en-US" sz="2700" dirty="0"/>
          </a:p>
          <a:p>
            <a:pPr marL="685800" indent="-685800" algn="just">
              <a:buFont typeface="Wingdings" pitchFamily="2" charset="2"/>
              <a:buChar char="v"/>
            </a:pPr>
            <a:r>
              <a:rPr lang="en-US" sz="2700" dirty="0"/>
              <a:t> In the United States, the National Security Agency (NSA) is in charge of cryptographic research for the United States government</a:t>
            </a:r>
          </a:p>
          <a:p>
            <a:pPr marL="685800" indent="-685800" algn="just">
              <a:buFont typeface="Wingdings" pitchFamily="2" charset="2"/>
              <a:buChar char="v"/>
            </a:pPr>
            <a:endParaRPr lang="en-US" sz="2700" dirty="0"/>
          </a:p>
          <a:p>
            <a:pPr marL="685800" indent="-685800" algn="just">
              <a:buFont typeface="Wingdings" pitchFamily="2" charset="2"/>
              <a:buChar char="v"/>
            </a:pPr>
            <a:r>
              <a:rPr lang="en-US" sz="2700" dirty="0"/>
              <a:t>Cryptography also became available for civilian use.</a:t>
            </a:r>
          </a:p>
          <a:p>
            <a:pPr marL="685800" indent="-685800" algn="just">
              <a:buFont typeface="Wingdings" pitchFamily="2" charset="2"/>
              <a:buChar char="v"/>
            </a:pPr>
            <a:endParaRPr lang="en-US" sz="2700" dirty="0"/>
          </a:p>
          <a:p>
            <a:pPr marL="685800" indent="-685800" algn="just">
              <a:buFont typeface="Wingdings" pitchFamily="2" charset="2"/>
              <a:buChar char="v"/>
            </a:pPr>
            <a:r>
              <a:rPr lang="en-US" sz="2700" dirty="0"/>
              <a:t>In the 1970s the U.S. National Bureau of Standards4, with NSA approval, agreed to the release of the Data Encryption Standard (DES) with a 56-bit key-space.</a:t>
            </a:r>
          </a:p>
          <a:p>
            <a:pPr marL="685800" indent="-685800" algn="just">
              <a:buFont typeface="Wingdings" pitchFamily="2" charset="2"/>
              <a:buChar char="v"/>
            </a:pPr>
            <a:endParaRPr lang="en-US" sz="2700" dirty="0"/>
          </a:p>
          <a:p>
            <a:pPr marL="685800" indent="-685800" algn="just">
              <a:buFont typeface="Wingdings" pitchFamily="2" charset="2"/>
              <a:buChar char="v"/>
            </a:pPr>
            <a:r>
              <a:rPr lang="en-US" sz="2700" dirty="0"/>
              <a:t>The development of public key cryptography is a major step towards solving the problem of key distribution</a:t>
            </a:r>
          </a:p>
        </p:txBody>
      </p:sp>
    </p:spTree>
    <p:extLst>
      <p:ext uri="{BB962C8B-B14F-4D97-AF65-F5344CB8AC3E}">
        <p14:creationId xmlns:p14="http://schemas.microsoft.com/office/powerpoint/2010/main" val="19020705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971800" y="342900"/>
            <a:ext cx="12344400" cy="1714500"/>
          </a:xfrm>
        </p:spPr>
        <p:txBody>
          <a:bodyPr/>
          <a:lstStyle/>
          <a:p>
            <a:pPr>
              <a:defRPr/>
            </a:pPr>
            <a:r>
              <a:rPr lang="en-US" dirty="0"/>
              <a:t>History –Cold War</a:t>
            </a:r>
            <a:endParaRPr lang="zh-TW" altLang="en-US" dirty="0"/>
          </a:p>
        </p:txBody>
      </p:sp>
      <p:sp>
        <p:nvSpPr>
          <p:cNvPr id="5" name="Rectangle 4"/>
          <p:cNvSpPr/>
          <p:nvPr/>
        </p:nvSpPr>
        <p:spPr>
          <a:xfrm>
            <a:off x="3314700" y="2286001"/>
            <a:ext cx="11772900" cy="6555641"/>
          </a:xfrm>
          <a:prstGeom prst="rect">
            <a:avLst/>
          </a:prstGeom>
        </p:spPr>
        <p:txBody>
          <a:bodyPr wrap="square">
            <a:spAutoFit/>
          </a:bodyPr>
          <a:lstStyle/>
          <a:p>
            <a:pPr marL="685800" indent="-685800" algn="just">
              <a:buFont typeface="Wingdings" pitchFamily="2" charset="2"/>
              <a:buChar char="v"/>
            </a:pPr>
            <a:r>
              <a:rPr lang="en-US" sz="3000" dirty="0"/>
              <a:t>The new availability of computers allowed the science of cryptography to make major advances.</a:t>
            </a:r>
          </a:p>
          <a:p>
            <a:pPr marL="685800" indent="-685800" algn="just">
              <a:buFont typeface="Wingdings" pitchFamily="2" charset="2"/>
              <a:buChar char="v"/>
            </a:pPr>
            <a:endParaRPr lang="en-US" sz="3000" dirty="0"/>
          </a:p>
          <a:p>
            <a:pPr marL="685800" indent="-685800" algn="just">
              <a:buFont typeface="Wingdings" pitchFamily="2" charset="2"/>
              <a:buChar char="v"/>
            </a:pPr>
            <a:r>
              <a:rPr lang="en-US" sz="3000" dirty="0"/>
              <a:t> In the United States, the National Security Agency (NSA) is in charge of cryptographic research for the United States government</a:t>
            </a:r>
          </a:p>
          <a:p>
            <a:pPr marL="685800" indent="-685800" algn="just">
              <a:buFont typeface="Wingdings" pitchFamily="2" charset="2"/>
              <a:buChar char="v"/>
            </a:pPr>
            <a:endParaRPr lang="en-US" sz="3000" dirty="0"/>
          </a:p>
          <a:p>
            <a:pPr marL="685800" indent="-685800" algn="just">
              <a:buFont typeface="Wingdings" pitchFamily="2" charset="2"/>
              <a:buChar char="v"/>
            </a:pPr>
            <a:r>
              <a:rPr lang="en-US" sz="3000" dirty="0"/>
              <a:t>Cryptography also became available for civilian use.</a:t>
            </a:r>
          </a:p>
          <a:p>
            <a:pPr marL="685800" indent="-685800" algn="just">
              <a:buFont typeface="Wingdings" pitchFamily="2" charset="2"/>
              <a:buChar char="v"/>
            </a:pPr>
            <a:endParaRPr lang="en-US" sz="3000" dirty="0"/>
          </a:p>
          <a:p>
            <a:pPr marL="685800" indent="-685800" algn="just">
              <a:buFont typeface="Wingdings" pitchFamily="2" charset="2"/>
              <a:buChar char="v"/>
            </a:pPr>
            <a:r>
              <a:rPr lang="en-US" sz="3000" dirty="0"/>
              <a:t>In the 1970s the U.S. National Bureau of Standards4, with NSA approval, agreed to the release of the Data Encryption Standard (DES) with a 56-bit key-space.</a:t>
            </a:r>
          </a:p>
          <a:p>
            <a:pPr marL="685800" indent="-685800" algn="just">
              <a:buFont typeface="Wingdings" pitchFamily="2" charset="2"/>
              <a:buChar char="v"/>
            </a:pPr>
            <a:endParaRPr lang="en-US" sz="3000" dirty="0"/>
          </a:p>
          <a:p>
            <a:pPr marL="685800" indent="-685800" algn="just">
              <a:buFont typeface="Wingdings" pitchFamily="2" charset="2"/>
              <a:buChar char="v"/>
            </a:pPr>
            <a:r>
              <a:rPr lang="en-US" sz="3000" dirty="0"/>
              <a:t>The development of public key cryptography is a major step towards solving the problem of key distribution</a:t>
            </a:r>
          </a:p>
        </p:txBody>
      </p:sp>
    </p:spTree>
    <p:extLst>
      <p:ext uri="{BB962C8B-B14F-4D97-AF65-F5344CB8AC3E}">
        <p14:creationId xmlns:p14="http://schemas.microsoft.com/office/powerpoint/2010/main" val="10174914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971800" y="342900"/>
            <a:ext cx="12344400" cy="1714500"/>
          </a:xfrm>
        </p:spPr>
        <p:txBody>
          <a:bodyPr/>
          <a:lstStyle/>
          <a:p>
            <a:pPr>
              <a:defRPr/>
            </a:pPr>
            <a:r>
              <a:rPr lang="en-GB" altLang="zh-TW" dirty="0"/>
              <a:t>History – The Modern Era</a:t>
            </a:r>
            <a:endParaRPr lang="zh-TW" altLang="en-US" dirty="0"/>
          </a:p>
        </p:txBody>
      </p:sp>
      <p:sp>
        <p:nvSpPr>
          <p:cNvPr id="4" name="Content Placeholder 2"/>
          <p:cNvSpPr txBox="1">
            <a:spLocks/>
          </p:cNvSpPr>
          <p:nvPr/>
        </p:nvSpPr>
        <p:spPr bwMode="auto">
          <a:xfrm>
            <a:off x="3200400" y="2857500"/>
            <a:ext cx="12573000" cy="4769643"/>
          </a:xfrm>
          <a:prstGeom prst="rect">
            <a:avLst/>
          </a:prstGeom>
          <a:noFill/>
          <a:ln w="9525">
            <a:noFill/>
            <a:miter lim="800000"/>
            <a:headEnd/>
            <a:tailEnd/>
          </a:ln>
        </p:spPr>
        <p:txBody>
          <a:bodyPr vert="horz" wrap="square" lIns="137160" tIns="68580" rIns="137160" bIns="68580" numCol="1" anchor="t" anchorCtr="0" compatLnSpc="1">
            <a:prstTxWarp prst="textNoShape">
              <a:avLst/>
            </a:prstTxWarp>
          </a:bodyPr>
          <a:lstStyle/>
          <a:p>
            <a:pPr marL="514350" indent="-514350" defTabSz="1371600" fontAlgn="base">
              <a:spcBef>
                <a:spcPct val="50000"/>
              </a:spcBef>
              <a:spcAft>
                <a:spcPct val="0"/>
              </a:spcAft>
              <a:buFont typeface="Wingdings" pitchFamily="2" charset="2"/>
              <a:buChar char="§"/>
              <a:defRPr/>
            </a:pPr>
            <a:r>
              <a:rPr lang="en-US" sz="3600" kern="0" dirty="0">
                <a:solidFill>
                  <a:srgbClr val="000000"/>
                </a:solidFill>
                <a:cs typeface="Arial"/>
              </a:rPr>
              <a:t>Computers!</a:t>
            </a:r>
          </a:p>
          <a:p>
            <a:pPr marL="514350" indent="-514350" defTabSz="1371600" fontAlgn="base">
              <a:spcBef>
                <a:spcPct val="50000"/>
              </a:spcBef>
              <a:spcAft>
                <a:spcPct val="0"/>
              </a:spcAft>
              <a:buFont typeface="Wingdings" pitchFamily="2" charset="2"/>
              <a:buChar char="§"/>
              <a:defRPr/>
            </a:pPr>
            <a:r>
              <a:rPr lang="en-US" sz="3600" kern="0" dirty="0">
                <a:solidFill>
                  <a:srgbClr val="000000"/>
                </a:solidFill>
                <a:cs typeface="Arial"/>
              </a:rPr>
              <a:t>Examples</a:t>
            </a:r>
          </a:p>
          <a:p>
            <a:pPr marL="1114425" lvl="1" indent="-428625" defTabSz="1371600" fontAlgn="base">
              <a:spcBef>
                <a:spcPct val="20000"/>
              </a:spcBef>
              <a:spcAft>
                <a:spcPct val="0"/>
              </a:spcAft>
              <a:buFont typeface="Times" pitchFamily="18" charset="0"/>
              <a:buChar char="•"/>
              <a:defRPr/>
            </a:pPr>
            <a:r>
              <a:rPr lang="en-US" sz="3600" kern="0" dirty="0">
                <a:solidFill>
                  <a:srgbClr val="000000"/>
                </a:solidFill>
                <a:cs typeface="Arial"/>
              </a:rPr>
              <a:t>Lucifer</a:t>
            </a:r>
          </a:p>
          <a:p>
            <a:pPr marL="1114425" lvl="1" indent="-428625" defTabSz="1371600" fontAlgn="base">
              <a:spcBef>
                <a:spcPct val="20000"/>
              </a:spcBef>
              <a:spcAft>
                <a:spcPct val="0"/>
              </a:spcAft>
              <a:buFont typeface="Times" pitchFamily="18" charset="0"/>
              <a:buChar char="•"/>
              <a:defRPr/>
            </a:pPr>
            <a:r>
              <a:rPr lang="en-US" sz="3600" kern="0" dirty="0" err="1">
                <a:solidFill>
                  <a:srgbClr val="000000"/>
                </a:solidFill>
                <a:cs typeface="Arial"/>
              </a:rPr>
              <a:t>Rijndael</a:t>
            </a:r>
            <a:endParaRPr lang="en-US" sz="3600" kern="0" dirty="0">
              <a:solidFill>
                <a:srgbClr val="000000"/>
              </a:solidFill>
              <a:cs typeface="Arial"/>
            </a:endParaRPr>
          </a:p>
          <a:p>
            <a:pPr marL="1114425" lvl="1" indent="-428625" defTabSz="1371600" fontAlgn="base">
              <a:spcBef>
                <a:spcPct val="20000"/>
              </a:spcBef>
              <a:spcAft>
                <a:spcPct val="0"/>
              </a:spcAft>
              <a:buFont typeface="Times" pitchFamily="18" charset="0"/>
              <a:buChar char="•"/>
              <a:defRPr/>
            </a:pPr>
            <a:r>
              <a:rPr lang="en-US" sz="3600" kern="0" dirty="0">
                <a:solidFill>
                  <a:srgbClr val="000000"/>
                </a:solidFill>
                <a:cs typeface="Arial"/>
              </a:rPr>
              <a:t>RSA</a:t>
            </a:r>
          </a:p>
          <a:p>
            <a:pPr marL="1114425" lvl="1" indent="-428625" defTabSz="1371600" fontAlgn="base">
              <a:spcBef>
                <a:spcPct val="20000"/>
              </a:spcBef>
              <a:spcAft>
                <a:spcPct val="0"/>
              </a:spcAft>
              <a:buFont typeface="Times" pitchFamily="18" charset="0"/>
              <a:buChar char="•"/>
              <a:defRPr/>
            </a:pPr>
            <a:r>
              <a:rPr lang="en-US" sz="3600" kern="0" dirty="0" err="1">
                <a:solidFill>
                  <a:srgbClr val="000000"/>
                </a:solidFill>
                <a:cs typeface="Arial"/>
              </a:rPr>
              <a:t>ElGamal</a:t>
            </a:r>
            <a:endParaRPr lang="en-US" sz="3600" kern="0" dirty="0">
              <a:solidFill>
                <a:srgbClr val="000000"/>
              </a:solidFill>
              <a:cs typeface="Arial"/>
            </a:endParaRPr>
          </a:p>
          <a:p>
            <a:pPr marL="1114425" lvl="1" indent="-428625" defTabSz="1371600" fontAlgn="base">
              <a:spcBef>
                <a:spcPct val="20000"/>
              </a:spcBef>
              <a:spcAft>
                <a:spcPct val="0"/>
              </a:spcAft>
              <a:buFont typeface="Times" pitchFamily="18" charset="0"/>
              <a:buChar char="•"/>
              <a:defRPr/>
            </a:pPr>
            <a:endParaRPr lang="en-US" sz="4800" kern="0" dirty="0">
              <a:solidFill>
                <a:srgbClr val="000000"/>
              </a:solidFill>
              <a:latin typeface="Lucida Sans"/>
              <a:cs typeface="Arial"/>
            </a:endParaRPr>
          </a:p>
        </p:txBody>
      </p:sp>
    </p:spTree>
    <p:extLst>
      <p:ext uri="{BB962C8B-B14F-4D97-AF65-F5344CB8AC3E}">
        <p14:creationId xmlns:p14="http://schemas.microsoft.com/office/powerpoint/2010/main" val="36424119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971800" y="342900"/>
            <a:ext cx="12344400" cy="1714500"/>
          </a:xfrm>
        </p:spPr>
        <p:txBody>
          <a:bodyPr/>
          <a:lstStyle/>
          <a:p>
            <a:pPr>
              <a:defRPr/>
            </a:pPr>
            <a:r>
              <a:rPr lang="en-US" dirty="0"/>
              <a:t>Organized Crime and Botnets</a:t>
            </a:r>
            <a:endParaRPr lang="zh-TW" altLang="en-US" dirty="0"/>
          </a:p>
        </p:txBody>
      </p:sp>
      <p:sp>
        <p:nvSpPr>
          <p:cNvPr id="5" name="Rectangle 4"/>
          <p:cNvSpPr/>
          <p:nvPr/>
        </p:nvSpPr>
        <p:spPr>
          <a:xfrm>
            <a:off x="3105810" y="2081050"/>
            <a:ext cx="12096090" cy="646331"/>
          </a:xfrm>
          <a:prstGeom prst="rect">
            <a:avLst/>
          </a:prstGeom>
        </p:spPr>
        <p:txBody>
          <a:bodyPr wrap="square">
            <a:spAutoFit/>
          </a:bodyPr>
          <a:lstStyle/>
          <a:p>
            <a:pPr marL="685800" indent="-685800" algn="just">
              <a:buFont typeface="Wingdings" pitchFamily="2" charset="2"/>
              <a:buChar char="v"/>
            </a:pPr>
            <a:r>
              <a:rPr lang="fr-FR" sz="3600" dirty="0" err="1"/>
              <a:t>Current</a:t>
            </a:r>
            <a:r>
              <a:rPr lang="fr-FR" sz="3600" dirty="0"/>
              <a:t> </a:t>
            </a:r>
            <a:r>
              <a:rPr lang="fr-FR" sz="3600" dirty="0" err="1"/>
              <a:t>cybercrime</a:t>
            </a:r>
            <a:r>
              <a:rPr lang="fr-FR" sz="3600" dirty="0"/>
              <a:t> technologies and techniques </a:t>
            </a:r>
            <a:r>
              <a:rPr lang="fr-FR" sz="3600" dirty="0" err="1"/>
              <a:t>include</a:t>
            </a:r>
            <a:endParaRPr lang="en-US" sz="3600" dirty="0"/>
          </a:p>
        </p:txBody>
      </p:sp>
      <p:sp>
        <p:nvSpPr>
          <p:cNvPr id="6" name="Rectangle 5"/>
          <p:cNvSpPr/>
          <p:nvPr/>
        </p:nvSpPr>
        <p:spPr>
          <a:xfrm>
            <a:off x="3157049" y="3327545"/>
            <a:ext cx="12181359" cy="4478149"/>
          </a:xfrm>
          <a:prstGeom prst="rect">
            <a:avLst/>
          </a:prstGeom>
        </p:spPr>
        <p:txBody>
          <a:bodyPr wrap="square">
            <a:spAutoFit/>
          </a:bodyPr>
          <a:lstStyle/>
          <a:p>
            <a:pPr marL="514350" indent="-514350" algn="just">
              <a:lnSpc>
                <a:spcPct val="150000"/>
              </a:lnSpc>
              <a:buFont typeface="+mj-lt"/>
              <a:buAutoNum type="arabicPeriod"/>
            </a:pPr>
            <a:r>
              <a:rPr lang="en-US" sz="3000" dirty="0"/>
              <a:t>botnets – networks of compromised machines,</a:t>
            </a:r>
          </a:p>
          <a:p>
            <a:pPr marL="514350" indent="-514350" algn="just">
              <a:buFont typeface="+mj-lt"/>
              <a:buAutoNum type="arabicPeriod"/>
            </a:pPr>
            <a:r>
              <a:rPr lang="en-US" sz="3000" dirty="0"/>
              <a:t>spam – unsolicited e-mail advertisements, usually fraudulent,</a:t>
            </a:r>
          </a:p>
          <a:p>
            <a:pPr marL="514350" indent="-514350" algn="just">
              <a:buFont typeface="+mj-lt"/>
              <a:buAutoNum type="arabicPeriod"/>
            </a:pPr>
            <a:r>
              <a:rPr lang="en-US" sz="3000" dirty="0"/>
              <a:t>phishing – attempts to fraudulently collect sensitive personal information,</a:t>
            </a:r>
          </a:p>
          <a:p>
            <a:pPr marL="514350" indent="-514350" algn="just">
              <a:buFont typeface="+mj-lt"/>
              <a:buAutoNum type="arabicPeriod"/>
            </a:pPr>
            <a:r>
              <a:rPr lang="en-US" sz="3000" dirty="0"/>
              <a:t>pharming – redirecting web traffic to a fraudulent site,</a:t>
            </a:r>
          </a:p>
          <a:p>
            <a:pPr marL="514350" indent="-514350" algn="just">
              <a:buFont typeface="+mj-lt"/>
              <a:buAutoNum type="arabicPeriod"/>
            </a:pPr>
            <a:r>
              <a:rPr lang="en-US" sz="3000" dirty="0"/>
              <a:t>identity theft and identity fraud – fraudulent use of personal information,</a:t>
            </a:r>
          </a:p>
          <a:p>
            <a:pPr marL="514350" indent="-514350" algn="just">
              <a:buFont typeface="+mj-lt"/>
              <a:buAutoNum type="arabicPeriod"/>
            </a:pPr>
            <a:r>
              <a:rPr lang="en-US" sz="3000" dirty="0"/>
              <a:t>cross site scripting – inserting script commands into another’s website,</a:t>
            </a:r>
          </a:p>
          <a:p>
            <a:pPr marL="514350" indent="-514350" algn="just">
              <a:buFont typeface="+mj-lt"/>
              <a:buAutoNum type="arabicPeriod"/>
            </a:pPr>
            <a:r>
              <a:rPr lang="en-US" sz="3000" dirty="0"/>
              <a:t>cross site request forgery – tricking a user’s browser to making requests  on another party’s website, • underground forums, and</a:t>
            </a:r>
          </a:p>
          <a:p>
            <a:pPr marL="514350" indent="-514350" algn="just">
              <a:buFont typeface="+mj-lt"/>
              <a:buAutoNum type="arabicPeriod"/>
            </a:pPr>
            <a:r>
              <a:rPr lang="en-US" sz="3000" dirty="0"/>
              <a:t>money laundering.</a:t>
            </a:r>
          </a:p>
        </p:txBody>
      </p:sp>
    </p:spTree>
    <p:extLst>
      <p:ext uri="{BB962C8B-B14F-4D97-AF65-F5344CB8AC3E}">
        <p14:creationId xmlns:p14="http://schemas.microsoft.com/office/powerpoint/2010/main" val="31044571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971800" y="342900"/>
            <a:ext cx="12344400" cy="1714500"/>
          </a:xfrm>
        </p:spPr>
        <p:txBody>
          <a:bodyPr/>
          <a:lstStyle/>
          <a:p>
            <a:pPr>
              <a:defRPr/>
            </a:pPr>
            <a:r>
              <a:rPr lang="en-GB" dirty="0"/>
              <a:t>What is Security?</a:t>
            </a:r>
            <a:endParaRPr lang="zh-TW" altLang="en-US" dirty="0"/>
          </a:p>
        </p:txBody>
      </p:sp>
      <p:sp>
        <p:nvSpPr>
          <p:cNvPr id="3" name="Rectangle 2"/>
          <p:cNvSpPr/>
          <p:nvPr/>
        </p:nvSpPr>
        <p:spPr>
          <a:xfrm>
            <a:off x="3314700" y="2171701"/>
            <a:ext cx="11201400" cy="646331"/>
          </a:xfrm>
          <a:prstGeom prst="rect">
            <a:avLst/>
          </a:prstGeom>
        </p:spPr>
        <p:txBody>
          <a:bodyPr wrap="square">
            <a:spAutoFit/>
          </a:bodyPr>
          <a:lstStyle/>
          <a:p>
            <a:r>
              <a:rPr lang="en-GB" sz="3600" dirty="0"/>
              <a:t>Security according to two boys of 10 years old-</a:t>
            </a:r>
          </a:p>
        </p:txBody>
      </p:sp>
      <p:pic>
        <p:nvPicPr>
          <p:cNvPr id="4" name="Picture 3"/>
          <p:cNvPicPr>
            <a:picLocks noChangeAspect="1"/>
          </p:cNvPicPr>
          <p:nvPr/>
        </p:nvPicPr>
        <p:blipFill>
          <a:blip r:embed="rId2"/>
          <a:stretch>
            <a:fillRect/>
          </a:stretch>
        </p:blipFill>
        <p:spPr>
          <a:xfrm>
            <a:off x="3657601" y="3543300"/>
            <a:ext cx="4843463" cy="4257675"/>
          </a:xfrm>
          <a:prstGeom prst="rect">
            <a:avLst/>
          </a:prstGeom>
        </p:spPr>
      </p:pic>
      <p:pic>
        <p:nvPicPr>
          <p:cNvPr id="8" name="Picture 7"/>
          <p:cNvPicPr>
            <a:picLocks noChangeAspect="1"/>
          </p:cNvPicPr>
          <p:nvPr/>
        </p:nvPicPr>
        <p:blipFill>
          <a:blip r:embed="rId3"/>
          <a:stretch>
            <a:fillRect/>
          </a:stretch>
        </p:blipFill>
        <p:spPr>
          <a:xfrm>
            <a:off x="9829800" y="3429000"/>
            <a:ext cx="4772025" cy="4314825"/>
          </a:xfrm>
          <a:prstGeom prst="rect">
            <a:avLst/>
          </a:prstGeom>
        </p:spPr>
      </p:pic>
    </p:spTree>
    <p:extLst>
      <p:ext uri="{BB962C8B-B14F-4D97-AF65-F5344CB8AC3E}">
        <p14:creationId xmlns:p14="http://schemas.microsoft.com/office/powerpoint/2010/main" val="19142880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971800" y="342900"/>
            <a:ext cx="12344400" cy="1714500"/>
          </a:xfrm>
        </p:spPr>
        <p:txBody>
          <a:bodyPr/>
          <a:lstStyle/>
          <a:p>
            <a:pPr>
              <a:defRPr/>
            </a:pPr>
            <a:r>
              <a:rPr lang="en-GB" dirty="0"/>
              <a:t>What is Security?</a:t>
            </a:r>
            <a:endParaRPr lang="zh-TW" altLang="en-US" dirty="0"/>
          </a:p>
        </p:txBody>
      </p:sp>
      <p:sp>
        <p:nvSpPr>
          <p:cNvPr id="3" name="Rectangle 2"/>
          <p:cNvSpPr/>
          <p:nvPr/>
        </p:nvSpPr>
        <p:spPr>
          <a:xfrm>
            <a:off x="3314700" y="2171701"/>
            <a:ext cx="11201400" cy="646331"/>
          </a:xfrm>
          <a:prstGeom prst="rect">
            <a:avLst/>
          </a:prstGeom>
        </p:spPr>
        <p:txBody>
          <a:bodyPr wrap="square">
            <a:spAutoFit/>
          </a:bodyPr>
          <a:lstStyle/>
          <a:p>
            <a:r>
              <a:rPr lang="en-GB" sz="3600" dirty="0"/>
              <a:t>Security According to Junior High School ICT teacher-</a:t>
            </a:r>
          </a:p>
        </p:txBody>
      </p:sp>
      <p:pic>
        <p:nvPicPr>
          <p:cNvPr id="5" name="Picture 4"/>
          <p:cNvPicPr>
            <a:picLocks noChangeAspect="1"/>
          </p:cNvPicPr>
          <p:nvPr/>
        </p:nvPicPr>
        <p:blipFill>
          <a:blip r:embed="rId2"/>
          <a:stretch>
            <a:fillRect/>
          </a:stretch>
        </p:blipFill>
        <p:spPr>
          <a:xfrm>
            <a:off x="5600700" y="3543301"/>
            <a:ext cx="6743700" cy="5214938"/>
          </a:xfrm>
          <a:prstGeom prst="rect">
            <a:avLst/>
          </a:prstGeom>
        </p:spPr>
      </p:pic>
    </p:spTree>
    <p:extLst>
      <p:ext uri="{BB962C8B-B14F-4D97-AF65-F5344CB8AC3E}">
        <p14:creationId xmlns:p14="http://schemas.microsoft.com/office/powerpoint/2010/main" val="36696102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971800" y="342900"/>
            <a:ext cx="12344400" cy="1714500"/>
          </a:xfrm>
        </p:spPr>
        <p:txBody>
          <a:bodyPr/>
          <a:lstStyle/>
          <a:p>
            <a:pPr>
              <a:defRPr/>
            </a:pPr>
            <a:r>
              <a:rPr lang="en-GB" dirty="0"/>
              <a:t>What is Security?</a:t>
            </a:r>
            <a:endParaRPr lang="zh-TW" altLang="en-US" dirty="0"/>
          </a:p>
        </p:txBody>
      </p:sp>
      <p:sp>
        <p:nvSpPr>
          <p:cNvPr id="3" name="Rectangle 2"/>
          <p:cNvSpPr/>
          <p:nvPr/>
        </p:nvSpPr>
        <p:spPr>
          <a:xfrm>
            <a:off x="3314700" y="2171701"/>
            <a:ext cx="11201400" cy="646331"/>
          </a:xfrm>
          <a:prstGeom prst="rect">
            <a:avLst/>
          </a:prstGeom>
        </p:spPr>
        <p:txBody>
          <a:bodyPr wrap="square">
            <a:spAutoFit/>
          </a:bodyPr>
          <a:lstStyle/>
          <a:p>
            <a:r>
              <a:rPr lang="en-GB" sz="3600" dirty="0"/>
              <a:t>There is no clear cut definition.</a:t>
            </a:r>
          </a:p>
        </p:txBody>
      </p:sp>
      <p:pic>
        <p:nvPicPr>
          <p:cNvPr id="4" name="Picture 3"/>
          <p:cNvPicPr>
            <a:picLocks noChangeAspect="1"/>
          </p:cNvPicPr>
          <p:nvPr/>
        </p:nvPicPr>
        <p:blipFill>
          <a:blip r:embed="rId2"/>
          <a:stretch>
            <a:fillRect/>
          </a:stretch>
        </p:blipFill>
        <p:spPr>
          <a:xfrm>
            <a:off x="7658101" y="3086101"/>
            <a:ext cx="4471988" cy="4300538"/>
          </a:xfrm>
          <a:prstGeom prst="rect">
            <a:avLst/>
          </a:prstGeom>
        </p:spPr>
      </p:pic>
    </p:spTree>
    <p:extLst>
      <p:ext uri="{BB962C8B-B14F-4D97-AF65-F5344CB8AC3E}">
        <p14:creationId xmlns:p14="http://schemas.microsoft.com/office/powerpoint/2010/main" val="24567956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971800" y="342900"/>
            <a:ext cx="12344400" cy="1714500"/>
          </a:xfrm>
        </p:spPr>
        <p:txBody>
          <a:bodyPr/>
          <a:lstStyle/>
          <a:p>
            <a:pPr>
              <a:defRPr/>
            </a:pPr>
            <a:r>
              <a:rPr lang="en-GB" dirty="0"/>
              <a:t>What is Security?</a:t>
            </a:r>
            <a:endParaRPr lang="zh-TW" altLang="en-US" dirty="0"/>
          </a:p>
        </p:txBody>
      </p:sp>
      <p:sp>
        <p:nvSpPr>
          <p:cNvPr id="3" name="Rectangle 2"/>
          <p:cNvSpPr/>
          <p:nvPr/>
        </p:nvSpPr>
        <p:spPr>
          <a:xfrm>
            <a:off x="3314700" y="2171701"/>
            <a:ext cx="11201400" cy="646331"/>
          </a:xfrm>
          <a:prstGeom prst="rect">
            <a:avLst/>
          </a:prstGeom>
        </p:spPr>
        <p:txBody>
          <a:bodyPr wrap="square">
            <a:spAutoFit/>
          </a:bodyPr>
          <a:lstStyle/>
          <a:p>
            <a:r>
              <a:rPr lang="en-GB" sz="3600" dirty="0"/>
              <a:t>Security is a process, not an end state</a:t>
            </a:r>
          </a:p>
        </p:txBody>
      </p:sp>
      <p:pic>
        <p:nvPicPr>
          <p:cNvPr id="5" name="Picture 4"/>
          <p:cNvPicPr>
            <a:picLocks noChangeAspect="1"/>
          </p:cNvPicPr>
          <p:nvPr/>
        </p:nvPicPr>
        <p:blipFill>
          <a:blip r:embed="rId2"/>
          <a:stretch>
            <a:fillRect/>
          </a:stretch>
        </p:blipFill>
        <p:spPr>
          <a:xfrm>
            <a:off x="5829300" y="3314700"/>
            <a:ext cx="6743700" cy="5658303"/>
          </a:xfrm>
          <a:prstGeom prst="rect">
            <a:avLst/>
          </a:prstGeom>
        </p:spPr>
      </p:pic>
    </p:spTree>
    <p:extLst>
      <p:ext uri="{BB962C8B-B14F-4D97-AF65-F5344CB8AC3E}">
        <p14:creationId xmlns:p14="http://schemas.microsoft.com/office/powerpoint/2010/main" val="38661714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971800" y="342900"/>
            <a:ext cx="12344400" cy="1714500"/>
          </a:xfrm>
        </p:spPr>
        <p:txBody>
          <a:bodyPr/>
          <a:lstStyle/>
          <a:p>
            <a:pPr>
              <a:defRPr/>
            </a:pPr>
            <a:r>
              <a:rPr lang="en-US" dirty="0"/>
              <a:t>Computer Security Concepts</a:t>
            </a:r>
            <a:endParaRPr lang="zh-TW" altLang="en-US" dirty="0"/>
          </a:p>
        </p:txBody>
      </p:sp>
      <p:sp>
        <p:nvSpPr>
          <p:cNvPr id="7" name="Content Placeholder 2"/>
          <p:cNvSpPr>
            <a:spLocks noGrp="1"/>
          </p:cNvSpPr>
          <p:nvPr>
            <p:ph idx="1"/>
          </p:nvPr>
        </p:nvSpPr>
        <p:spPr>
          <a:xfrm>
            <a:off x="3200400" y="2171700"/>
            <a:ext cx="11887200" cy="7200900"/>
          </a:xfrm>
        </p:spPr>
        <p:txBody>
          <a:bodyPr>
            <a:normAutofit/>
          </a:bodyPr>
          <a:lstStyle/>
          <a:p>
            <a:pPr algn="just">
              <a:defRPr/>
            </a:pPr>
            <a:r>
              <a:rPr lang="en-US" sz="3000" dirty="0">
                <a:solidFill>
                  <a:schemeClr val="tx2">
                    <a:lumMod val="10000"/>
                  </a:schemeClr>
                </a:solidFill>
                <a:latin typeface="+mj-lt"/>
              </a:rPr>
              <a:t>Before the widespread use of data processing equipment, the security of </a:t>
            </a:r>
            <a:r>
              <a:rPr lang="en-US" sz="3000" dirty="0">
                <a:solidFill>
                  <a:srgbClr val="0000FF"/>
                </a:solidFill>
                <a:latin typeface="+mj-lt"/>
              </a:rPr>
              <a:t>information</a:t>
            </a:r>
            <a:r>
              <a:rPr lang="en-US" sz="3000" dirty="0">
                <a:solidFill>
                  <a:schemeClr val="tx2">
                    <a:lumMod val="10000"/>
                  </a:schemeClr>
                </a:solidFill>
                <a:latin typeface="+mj-lt"/>
              </a:rPr>
              <a:t> valuable to an organization was provided primarily </a:t>
            </a:r>
            <a:r>
              <a:rPr lang="en-US" sz="3000" dirty="0">
                <a:solidFill>
                  <a:srgbClr val="C00000"/>
                </a:solidFill>
                <a:latin typeface="+mj-lt"/>
              </a:rPr>
              <a:t>by physical and administrative means</a:t>
            </a:r>
          </a:p>
          <a:p>
            <a:pPr algn="just">
              <a:defRPr/>
            </a:pPr>
            <a:endParaRPr lang="en-US" sz="3000" dirty="0">
              <a:solidFill>
                <a:srgbClr val="C00000"/>
              </a:solidFill>
              <a:latin typeface="+mj-lt"/>
            </a:endParaRPr>
          </a:p>
          <a:p>
            <a:pPr algn="just">
              <a:defRPr/>
            </a:pPr>
            <a:r>
              <a:rPr lang="en-US" sz="3000" dirty="0">
                <a:solidFill>
                  <a:schemeClr val="tx2">
                    <a:lumMod val="10000"/>
                  </a:schemeClr>
                </a:solidFill>
                <a:latin typeface="+mj-lt"/>
              </a:rPr>
              <a:t>With the introduction of the computer, </a:t>
            </a:r>
            <a:r>
              <a:rPr lang="en-US" sz="3000" dirty="0">
                <a:solidFill>
                  <a:srgbClr val="C00000"/>
                </a:solidFill>
                <a:latin typeface="+mj-lt"/>
              </a:rPr>
              <a:t>the need for automated tools</a:t>
            </a:r>
            <a:r>
              <a:rPr lang="en-US" sz="3000" dirty="0">
                <a:solidFill>
                  <a:schemeClr val="tx2">
                    <a:lumMod val="10000"/>
                  </a:schemeClr>
                </a:solidFill>
                <a:latin typeface="+mj-lt"/>
              </a:rPr>
              <a:t> for </a:t>
            </a:r>
            <a:r>
              <a:rPr lang="en-US" sz="3000" dirty="0">
                <a:solidFill>
                  <a:srgbClr val="0000FF"/>
                </a:solidFill>
                <a:latin typeface="+mj-lt"/>
              </a:rPr>
              <a:t>protecting</a:t>
            </a:r>
            <a:r>
              <a:rPr lang="en-US" sz="3000" dirty="0">
                <a:solidFill>
                  <a:schemeClr val="tx2">
                    <a:lumMod val="10000"/>
                  </a:schemeClr>
                </a:solidFill>
                <a:latin typeface="+mj-lt"/>
              </a:rPr>
              <a:t> files and other information stored on the computer became evident</a:t>
            </a:r>
          </a:p>
          <a:p>
            <a:pPr algn="just">
              <a:defRPr/>
            </a:pPr>
            <a:endParaRPr lang="en-US" sz="3000" dirty="0">
              <a:solidFill>
                <a:schemeClr val="tx2">
                  <a:lumMod val="10000"/>
                </a:schemeClr>
              </a:solidFill>
              <a:latin typeface="+mj-lt"/>
            </a:endParaRPr>
          </a:p>
          <a:p>
            <a:pPr algn="just">
              <a:defRPr/>
            </a:pPr>
            <a:r>
              <a:rPr lang="en-US" sz="3000" dirty="0">
                <a:solidFill>
                  <a:schemeClr val="tx2">
                    <a:lumMod val="10000"/>
                  </a:schemeClr>
                </a:solidFill>
                <a:latin typeface="+mj-lt"/>
              </a:rPr>
              <a:t>Another major change that affected security is the introduction of </a:t>
            </a:r>
            <a:r>
              <a:rPr lang="en-US" sz="3000" dirty="0">
                <a:solidFill>
                  <a:srgbClr val="FF0000"/>
                </a:solidFill>
                <a:latin typeface="+mj-lt"/>
              </a:rPr>
              <a:t>distributed systems </a:t>
            </a:r>
            <a:r>
              <a:rPr lang="en-US" sz="3000" dirty="0">
                <a:solidFill>
                  <a:schemeClr val="tx2">
                    <a:lumMod val="10000"/>
                  </a:schemeClr>
                </a:solidFill>
                <a:latin typeface="+mj-lt"/>
              </a:rPr>
              <a:t>and the use of </a:t>
            </a:r>
            <a:r>
              <a:rPr lang="en-US" sz="3000" dirty="0">
                <a:solidFill>
                  <a:srgbClr val="0000FF"/>
                </a:solidFill>
                <a:latin typeface="+mj-lt"/>
              </a:rPr>
              <a:t>networks and communication</a:t>
            </a:r>
            <a:r>
              <a:rPr lang="en-US" sz="3000" dirty="0">
                <a:solidFill>
                  <a:schemeClr val="tx2">
                    <a:lumMod val="10000"/>
                  </a:schemeClr>
                </a:solidFill>
                <a:latin typeface="+mj-lt"/>
              </a:rPr>
              <a:t>s facilities for carrying data between terminal user and computer and between computers</a:t>
            </a:r>
          </a:p>
        </p:txBody>
      </p:sp>
    </p:spTree>
    <p:extLst>
      <p:ext uri="{BB962C8B-B14F-4D97-AF65-F5344CB8AC3E}">
        <p14:creationId xmlns:p14="http://schemas.microsoft.com/office/powerpoint/2010/main" val="26295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971800" y="342900"/>
            <a:ext cx="12344400" cy="1714500"/>
          </a:xfrm>
        </p:spPr>
        <p:txBody>
          <a:bodyPr/>
          <a:lstStyle/>
          <a:p>
            <a:pPr>
              <a:defRPr/>
            </a:pPr>
            <a:r>
              <a:rPr lang="en-US" dirty="0"/>
              <a:t>Computer and Internet Security </a:t>
            </a:r>
            <a:endParaRPr lang="zh-TW" altLang="en-US" dirty="0"/>
          </a:p>
        </p:txBody>
      </p:sp>
      <p:sp>
        <p:nvSpPr>
          <p:cNvPr id="5" name="Rectangle 4"/>
          <p:cNvSpPr/>
          <p:nvPr/>
        </p:nvSpPr>
        <p:spPr>
          <a:xfrm>
            <a:off x="3429000" y="2743200"/>
            <a:ext cx="11087100" cy="4770537"/>
          </a:xfrm>
          <a:prstGeom prst="rect">
            <a:avLst/>
          </a:prstGeom>
        </p:spPr>
        <p:txBody>
          <a:bodyPr>
            <a:spAutoFit/>
          </a:bodyPr>
          <a:lstStyle/>
          <a:p>
            <a:pPr marL="423863" indent="-423863">
              <a:spcBef>
                <a:spcPts val="3000"/>
              </a:spcBef>
              <a:buFont typeface="Calisto MT" pitchFamily="18" charset="0"/>
              <a:buChar char="•"/>
              <a:defRPr/>
            </a:pPr>
            <a:r>
              <a:rPr lang="en-US" sz="4200" b="1" dirty="0">
                <a:solidFill>
                  <a:srgbClr val="0000CC"/>
                </a:solidFill>
                <a:effectLst>
                  <a:outerShdw blurRad="63500" dir="2700000" algn="tl" rotWithShape="0">
                    <a:prstClr val="white">
                      <a:alpha val="40000"/>
                    </a:prstClr>
                  </a:outerShdw>
                </a:effectLst>
                <a:latin typeface="Arial Unicode MS" pitchFamily="34" charset="-128"/>
                <a:ea typeface="Arial Unicode MS" pitchFamily="34" charset="-128"/>
                <a:cs typeface="Arial Unicode MS" pitchFamily="34" charset="-128"/>
              </a:rPr>
              <a:t>Computer security</a:t>
            </a:r>
          </a:p>
          <a:p>
            <a:pPr marL="866775" lvl="1" indent="-442913">
              <a:spcBef>
                <a:spcPts val="900"/>
              </a:spcBef>
              <a:buClr>
                <a:srgbClr val="921F07"/>
              </a:buClr>
              <a:buFont typeface="Calisto MT" pitchFamily="18" charset="0"/>
              <a:buChar char="•"/>
              <a:defRPr/>
            </a:pPr>
            <a:r>
              <a:rPr lang="en-US" sz="3600" dirty="0">
                <a:solidFill>
                  <a:srgbClr val="E5E5D3">
                    <a:lumMod val="10000"/>
                  </a:srgbClr>
                </a:solidFill>
                <a:effectLst>
                  <a:outerShdw blurRad="63500" dir="2700000" algn="tl" rotWithShape="0">
                    <a:prstClr val="white">
                      <a:alpha val="40000"/>
                    </a:prstClr>
                  </a:outerShdw>
                </a:effectLst>
                <a:latin typeface="Arial Unicode MS" pitchFamily="34" charset="-128"/>
                <a:ea typeface="Arial Unicode MS" pitchFamily="34" charset="-128"/>
                <a:cs typeface="Arial Unicode MS" pitchFamily="34" charset="-128"/>
              </a:rPr>
              <a:t>The generic name for the </a:t>
            </a:r>
            <a:r>
              <a:rPr lang="en-US" sz="3600" dirty="0">
                <a:solidFill>
                  <a:srgbClr val="FF0000"/>
                </a:solidFill>
                <a:effectLst>
                  <a:outerShdw blurRad="63500" dir="2700000" algn="tl" rotWithShape="0">
                    <a:prstClr val="white">
                      <a:alpha val="40000"/>
                    </a:prstClr>
                  </a:outerShdw>
                </a:effectLst>
                <a:latin typeface="Arial Unicode MS" pitchFamily="34" charset="-128"/>
                <a:ea typeface="Arial Unicode MS" pitchFamily="34" charset="-128"/>
                <a:cs typeface="Arial Unicode MS" pitchFamily="34" charset="-128"/>
              </a:rPr>
              <a:t>collection of tools </a:t>
            </a:r>
            <a:r>
              <a:rPr lang="en-US" sz="3600" dirty="0">
                <a:solidFill>
                  <a:srgbClr val="E5E5D3">
                    <a:lumMod val="10000"/>
                  </a:srgbClr>
                </a:solidFill>
                <a:effectLst>
                  <a:outerShdw blurRad="63500" dir="2700000" algn="tl" rotWithShape="0">
                    <a:prstClr val="white">
                      <a:alpha val="40000"/>
                    </a:prstClr>
                  </a:outerShdw>
                </a:effectLst>
                <a:latin typeface="Arial Unicode MS" pitchFamily="34" charset="-128"/>
                <a:ea typeface="Arial Unicode MS" pitchFamily="34" charset="-128"/>
                <a:cs typeface="Arial Unicode MS" pitchFamily="34" charset="-128"/>
              </a:rPr>
              <a:t>designed to protect data and to thwart hackers</a:t>
            </a:r>
          </a:p>
          <a:p>
            <a:pPr marL="423863" indent="-423863">
              <a:spcBef>
                <a:spcPts val="3000"/>
              </a:spcBef>
              <a:buFont typeface="Calisto MT" pitchFamily="18" charset="0"/>
              <a:buChar char="•"/>
              <a:defRPr/>
            </a:pPr>
            <a:r>
              <a:rPr lang="en-US" sz="4200" b="1" dirty="0">
                <a:solidFill>
                  <a:srgbClr val="0000CC"/>
                </a:solidFill>
                <a:effectLst>
                  <a:outerShdw blurRad="63500" dir="2700000" algn="tl" rotWithShape="0">
                    <a:prstClr val="white">
                      <a:alpha val="40000"/>
                    </a:prstClr>
                  </a:outerShdw>
                </a:effectLst>
                <a:latin typeface="Arial Unicode MS" pitchFamily="34" charset="-128"/>
                <a:ea typeface="Arial Unicode MS" pitchFamily="34" charset="-128"/>
                <a:cs typeface="Arial Unicode MS" pitchFamily="34" charset="-128"/>
              </a:rPr>
              <a:t>Internet security </a:t>
            </a:r>
            <a:endParaRPr lang="en-US" sz="4200" dirty="0">
              <a:solidFill>
                <a:srgbClr val="E5E5D3">
                  <a:lumMod val="10000"/>
                </a:srgbClr>
              </a:solidFill>
              <a:effectLst>
                <a:outerShdw blurRad="63500" dir="2700000" algn="tl" rotWithShape="0">
                  <a:prstClr val="white">
                    <a:alpha val="40000"/>
                  </a:prstClr>
                </a:outerShdw>
              </a:effectLst>
              <a:latin typeface="Arial Unicode MS" pitchFamily="34" charset="-128"/>
              <a:ea typeface="Arial Unicode MS" pitchFamily="34" charset="-128"/>
              <a:cs typeface="Arial Unicode MS" pitchFamily="34" charset="-128"/>
            </a:endParaRPr>
          </a:p>
          <a:p>
            <a:pPr marL="866775" lvl="1" indent="-442913">
              <a:spcBef>
                <a:spcPts val="900"/>
              </a:spcBef>
              <a:buClr>
                <a:srgbClr val="921F07"/>
              </a:buClr>
              <a:buFont typeface="Calisto MT" pitchFamily="18" charset="0"/>
              <a:buChar char="•"/>
              <a:defRPr/>
            </a:pPr>
            <a:r>
              <a:rPr lang="en-US" sz="3600" dirty="0">
                <a:solidFill>
                  <a:srgbClr val="E5E5D3">
                    <a:lumMod val="10000"/>
                  </a:srgbClr>
                </a:solidFill>
                <a:effectLst>
                  <a:outerShdw blurRad="63500" dir="2700000" algn="tl" rotWithShape="0">
                    <a:prstClr val="white">
                      <a:alpha val="40000"/>
                    </a:prstClr>
                  </a:outerShdw>
                </a:effectLst>
                <a:latin typeface="Arial Unicode MS" pitchFamily="34" charset="-128"/>
                <a:ea typeface="Arial Unicode MS" pitchFamily="34" charset="-128"/>
                <a:cs typeface="Arial Unicode MS" pitchFamily="34" charset="-128"/>
              </a:rPr>
              <a:t>Consists of measures to</a:t>
            </a:r>
            <a:r>
              <a:rPr lang="en-US" sz="3600" dirty="0">
                <a:solidFill>
                  <a:schemeClr val="bg2"/>
                </a:solidFill>
                <a:effectLst>
                  <a:outerShdw blurRad="63500" dir="2700000" algn="tl" rotWithShape="0">
                    <a:prstClr val="white">
                      <a:alpha val="40000"/>
                    </a:prstClr>
                  </a:outerShdw>
                </a:effectLst>
                <a:latin typeface="Arial Unicode MS" pitchFamily="34" charset="-128"/>
                <a:ea typeface="Arial Unicode MS" pitchFamily="34" charset="-128"/>
                <a:cs typeface="Arial Unicode MS" pitchFamily="34" charset="-128"/>
              </a:rPr>
              <a:t>,</a:t>
            </a:r>
            <a:r>
              <a:rPr lang="en-US" sz="3600" dirty="0">
                <a:solidFill>
                  <a:srgbClr val="FF0000"/>
                </a:solidFill>
                <a:effectLst>
                  <a:outerShdw blurRad="63500" dir="2700000" algn="tl" rotWithShape="0">
                    <a:prstClr val="white">
                      <a:alpha val="40000"/>
                    </a:prstClr>
                  </a:outerShdw>
                </a:effectLst>
                <a:latin typeface="Arial Unicode MS" pitchFamily="34" charset="-128"/>
                <a:ea typeface="Arial Unicode MS" pitchFamily="34" charset="-128"/>
                <a:cs typeface="Arial Unicode MS" pitchFamily="34" charset="-128"/>
              </a:rPr>
              <a:t> deter, prevent, detect and correct</a:t>
            </a:r>
            <a:r>
              <a:rPr lang="en-US" sz="3600" dirty="0">
                <a:solidFill>
                  <a:srgbClr val="E5E5D3">
                    <a:lumMod val="10000"/>
                  </a:srgbClr>
                </a:solidFill>
                <a:effectLst>
                  <a:outerShdw blurRad="63500" dir="2700000" algn="tl" rotWithShape="0">
                    <a:prstClr val="white">
                      <a:alpha val="40000"/>
                    </a:prstClr>
                  </a:outerShdw>
                </a:effectLst>
                <a:latin typeface="Arial Unicode MS" pitchFamily="34" charset="-128"/>
                <a:ea typeface="Arial Unicode MS" pitchFamily="34" charset="-128"/>
                <a:cs typeface="Arial Unicode MS" pitchFamily="34" charset="-128"/>
              </a:rPr>
              <a:t> security violations that involve the </a:t>
            </a:r>
            <a:r>
              <a:rPr lang="en-US" sz="3600" b="1" dirty="0">
                <a:solidFill>
                  <a:srgbClr val="C00000"/>
                </a:solidFill>
                <a:effectLst>
                  <a:outerShdw blurRad="63500" dir="2700000" algn="tl" rotWithShape="0">
                    <a:prstClr val="white">
                      <a:alpha val="40000"/>
                    </a:prstClr>
                  </a:outerShdw>
                </a:effectLst>
                <a:latin typeface="Arial Unicode MS" pitchFamily="34" charset="-128"/>
                <a:ea typeface="Arial Unicode MS" pitchFamily="34" charset="-128"/>
                <a:cs typeface="Arial Unicode MS" pitchFamily="34" charset="-128"/>
              </a:rPr>
              <a:t>transmission of information</a:t>
            </a:r>
          </a:p>
        </p:txBody>
      </p:sp>
    </p:spTree>
    <p:extLst>
      <p:ext uri="{BB962C8B-B14F-4D97-AF65-F5344CB8AC3E}">
        <p14:creationId xmlns:p14="http://schemas.microsoft.com/office/powerpoint/2010/main" val="18163707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800">
                <a:solidFill>
                  <a:schemeClr val="tx1"/>
                </a:solidFill>
                <a:latin typeface="Arial" pitchFamily="34" charset="0"/>
              </a:defRPr>
            </a:lvl1pPr>
            <a:lvl2pPr>
              <a:defRPr sz="4200">
                <a:solidFill>
                  <a:schemeClr val="tx1"/>
                </a:solidFill>
                <a:latin typeface="Arial" pitchFamily="34" charset="0"/>
              </a:defRPr>
            </a:lvl2pPr>
            <a:lvl3pPr>
              <a:defRPr sz="3600">
                <a:solidFill>
                  <a:schemeClr val="tx1"/>
                </a:solidFill>
                <a:latin typeface="Arial" pitchFamily="34" charset="0"/>
              </a:defRPr>
            </a:lvl3pPr>
            <a:lvl4pPr>
              <a:defRPr sz="3000">
                <a:solidFill>
                  <a:schemeClr val="tx1"/>
                </a:solidFill>
                <a:latin typeface="Arial" pitchFamily="34" charset="0"/>
              </a:defRPr>
            </a:lvl4pPr>
            <a:lvl5pPr>
              <a:defRPr sz="3000">
                <a:solidFill>
                  <a:schemeClr val="tx1"/>
                </a:solidFill>
                <a:latin typeface="Arial" pitchFamily="34" charset="0"/>
              </a:defRPr>
            </a:lvl5pPr>
            <a:lvl6pPr eaLnBrk="0" hangingPunct="0">
              <a:defRPr sz="3000">
                <a:solidFill>
                  <a:schemeClr val="tx1"/>
                </a:solidFill>
                <a:latin typeface="Arial" pitchFamily="34" charset="0"/>
              </a:defRPr>
            </a:lvl6pPr>
            <a:lvl7pPr eaLnBrk="0" hangingPunct="0">
              <a:defRPr sz="3000">
                <a:solidFill>
                  <a:schemeClr val="tx1"/>
                </a:solidFill>
                <a:latin typeface="Arial" pitchFamily="34" charset="0"/>
              </a:defRPr>
            </a:lvl7pPr>
            <a:lvl8pPr eaLnBrk="0" hangingPunct="0">
              <a:defRPr sz="3000">
                <a:solidFill>
                  <a:schemeClr val="tx1"/>
                </a:solidFill>
                <a:latin typeface="Arial" pitchFamily="34" charset="0"/>
              </a:defRPr>
            </a:lvl8pPr>
            <a:lvl9pPr eaLnBrk="0" hangingPunct="0">
              <a:defRPr sz="3000">
                <a:solidFill>
                  <a:schemeClr val="tx1"/>
                </a:solidFill>
                <a:latin typeface="Arial" pitchFamily="34" charset="0"/>
              </a:defRPr>
            </a:lvl9pPr>
          </a:lstStyle>
          <a:p>
            <a:fld id="{FABDEDBB-3994-4FAF-B410-B5CD78509CFC}" type="slidenum">
              <a:rPr lang="en-US" altLang="tr-TR" sz="2100"/>
              <a:pPr/>
              <a:t>20</a:t>
            </a:fld>
            <a:endParaRPr lang="en-US" altLang="tr-TR" sz="2100"/>
          </a:p>
        </p:txBody>
      </p:sp>
      <p:sp>
        <p:nvSpPr>
          <p:cNvPr id="11267" name="Rectangle 1026"/>
          <p:cNvSpPr>
            <a:spLocks noGrp="1" noChangeArrowheads="1"/>
          </p:cNvSpPr>
          <p:nvPr>
            <p:ph type="title"/>
          </p:nvPr>
        </p:nvSpPr>
        <p:spPr/>
        <p:txBody>
          <a:bodyPr/>
          <a:lstStyle/>
          <a:p>
            <a:pPr eaLnBrk="1" hangingPunct="1"/>
            <a:r>
              <a:rPr lang="en-US" altLang="tr-TR" dirty="0"/>
              <a:t>What security is about in general?</a:t>
            </a:r>
          </a:p>
        </p:txBody>
      </p:sp>
      <p:sp>
        <p:nvSpPr>
          <p:cNvPr id="11268" name="Rectangle 1027"/>
          <p:cNvSpPr>
            <a:spLocks noGrp="1" noChangeArrowheads="1"/>
          </p:cNvSpPr>
          <p:nvPr>
            <p:ph type="body" idx="1"/>
          </p:nvPr>
        </p:nvSpPr>
        <p:spPr>
          <a:xfrm>
            <a:off x="2971800" y="2057400"/>
            <a:ext cx="12344400" cy="7886700"/>
          </a:xfrm>
        </p:spPr>
        <p:txBody>
          <a:bodyPr/>
          <a:lstStyle/>
          <a:p>
            <a:pPr eaLnBrk="1" hangingPunct="1">
              <a:lnSpc>
                <a:spcPct val="90000"/>
              </a:lnSpc>
            </a:pPr>
            <a:r>
              <a:rPr lang="en-US" altLang="tr-TR" sz="4200" dirty="0"/>
              <a:t>Security is about protection of assets</a:t>
            </a:r>
          </a:p>
          <a:p>
            <a:pPr lvl="1" eaLnBrk="1" hangingPunct="1">
              <a:lnSpc>
                <a:spcPct val="90000"/>
              </a:lnSpc>
            </a:pPr>
            <a:r>
              <a:rPr lang="en-US" altLang="tr-TR" sz="3600" dirty="0"/>
              <a:t>D. </a:t>
            </a:r>
            <a:r>
              <a:rPr lang="en-US" altLang="tr-TR" sz="3600" dirty="0" err="1"/>
              <a:t>Gollmann</a:t>
            </a:r>
            <a:r>
              <a:rPr lang="en-US" altLang="tr-TR" sz="3600" dirty="0"/>
              <a:t>, Computer Security, Wiley</a:t>
            </a:r>
          </a:p>
          <a:p>
            <a:pPr marL="685800" lvl="1" indent="0">
              <a:lnSpc>
                <a:spcPct val="90000"/>
              </a:lnSpc>
              <a:buNone/>
            </a:pPr>
            <a:endParaRPr lang="en-US" altLang="tr-TR" sz="3600" dirty="0"/>
          </a:p>
          <a:p>
            <a:pPr marL="685800" lvl="1" indent="0">
              <a:lnSpc>
                <a:spcPct val="90000"/>
              </a:lnSpc>
              <a:buNone/>
            </a:pPr>
            <a:r>
              <a:rPr lang="en-US" altLang="tr-TR" sz="4200" dirty="0">
                <a:solidFill>
                  <a:srgbClr val="FF0000"/>
                </a:solidFill>
              </a:rPr>
              <a:t>Need</a:t>
            </a:r>
          </a:p>
          <a:p>
            <a:pPr eaLnBrk="1" hangingPunct="1">
              <a:lnSpc>
                <a:spcPct val="90000"/>
              </a:lnSpc>
            </a:pPr>
            <a:r>
              <a:rPr lang="en-US" altLang="tr-TR" sz="4200" dirty="0"/>
              <a:t>Prevention</a:t>
            </a:r>
          </a:p>
          <a:p>
            <a:pPr lvl="1" eaLnBrk="1" hangingPunct="1">
              <a:lnSpc>
                <a:spcPct val="90000"/>
              </a:lnSpc>
            </a:pPr>
            <a:r>
              <a:rPr lang="en-US" altLang="tr-TR" sz="3600" dirty="0"/>
              <a:t>take measures that prevent your assets from being damaged (or stolen)</a:t>
            </a:r>
          </a:p>
          <a:p>
            <a:pPr eaLnBrk="1" hangingPunct="1">
              <a:lnSpc>
                <a:spcPct val="90000"/>
              </a:lnSpc>
            </a:pPr>
            <a:r>
              <a:rPr lang="en-US" altLang="tr-TR" sz="4200" dirty="0"/>
              <a:t>Detection</a:t>
            </a:r>
          </a:p>
          <a:p>
            <a:pPr lvl="1" eaLnBrk="1" hangingPunct="1">
              <a:lnSpc>
                <a:spcPct val="90000"/>
              </a:lnSpc>
            </a:pPr>
            <a:r>
              <a:rPr lang="en-US" altLang="tr-TR" sz="3600" dirty="0"/>
              <a:t>take measures so that you can detect when, how, and by whom an asset has been damaged</a:t>
            </a:r>
          </a:p>
          <a:p>
            <a:pPr eaLnBrk="1" hangingPunct="1">
              <a:lnSpc>
                <a:spcPct val="90000"/>
              </a:lnSpc>
            </a:pPr>
            <a:r>
              <a:rPr lang="en-US" altLang="tr-TR" sz="4200" dirty="0"/>
              <a:t>Reaction</a:t>
            </a:r>
          </a:p>
          <a:p>
            <a:pPr lvl="1" eaLnBrk="1" hangingPunct="1">
              <a:lnSpc>
                <a:spcPct val="90000"/>
              </a:lnSpc>
            </a:pPr>
            <a:r>
              <a:rPr lang="en-US" altLang="tr-TR" sz="3600" dirty="0"/>
              <a:t>take measures so that you can recover your assets</a:t>
            </a:r>
          </a:p>
        </p:txBody>
      </p:sp>
    </p:spTree>
    <p:extLst>
      <p:ext uri="{BB962C8B-B14F-4D97-AF65-F5344CB8AC3E}">
        <p14:creationId xmlns:p14="http://schemas.microsoft.com/office/powerpoint/2010/main" val="30407651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800">
                <a:solidFill>
                  <a:schemeClr val="tx1"/>
                </a:solidFill>
                <a:latin typeface="Arial" pitchFamily="34" charset="0"/>
              </a:defRPr>
            </a:lvl1pPr>
            <a:lvl2pPr>
              <a:defRPr sz="4200">
                <a:solidFill>
                  <a:schemeClr val="tx1"/>
                </a:solidFill>
                <a:latin typeface="Arial" pitchFamily="34" charset="0"/>
              </a:defRPr>
            </a:lvl2pPr>
            <a:lvl3pPr>
              <a:defRPr sz="3600">
                <a:solidFill>
                  <a:schemeClr val="tx1"/>
                </a:solidFill>
                <a:latin typeface="Arial" pitchFamily="34" charset="0"/>
              </a:defRPr>
            </a:lvl3pPr>
            <a:lvl4pPr>
              <a:defRPr sz="3000">
                <a:solidFill>
                  <a:schemeClr val="tx1"/>
                </a:solidFill>
                <a:latin typeface="Arial" pitchFamily="34" charset="0"/>
              </a:defRPr>
            </a:lvl4pPr>
            <a:lvl5pPr>
              <a:defRPr sz="3000">
                <a:solidFill>
                  <a:schemeClr val="tx1"/>
                </a:solidFill>
                <a:latin typeface="Arial" pitchFamily="34" charset="0"/>
              </a:defRPr>
            </a:lvl5pPr>
            <a:lvl6pPr eaLnBrk="0" hangingPunct="0">
              <a:defRPr sz="3000">
                <a:solidFill>
                  <a:schemeClr val="tx1"/>
                </a:solidFill>
                <a:latin typeface="Arial" pitchFamily="34" charset="0"/>
              </a:defRPr>
            </a:lvl6pPr>
            <a:lvl7pPr eaLnBrk="0" hangingPunct="0">
              <a:defRPr sz="3000">
                <a:solidFill>
                  <a:schemeClr val="tx1"/>
                </a:solidFill>
                <a:latin typeface="Arial" pitchFamily="34" charset="0"/>
              </a:defRPr>
            </a:lvl7pPr>
            <a:lvl8pPr eaLnBrk="0" hangingPunct="0">
              <a:defRPr sz="3000">
                <a:solidFill>
                  <a:schemeClr val="tx1"/>
                </a:solidFill>
                <a:latin typeface="Arial" pitchFamily="34" charset="0"/>
              </a:defRPr>
            </a:lvl8pPr>
            <a:lvl9pPr eaLnBrk="0" hangingPunct="0">
              <a:defRPr sz="3000">
                <a:solidFill>
                  <a:schemeClr val="tx1"/>
                </a:solidFill>
                <a:latin typeface="Arial" pitchFamily="34" charset="0"/>
              </a:defRPr>
            </a:lvl9pPr>
          </a:lstStyle>
          <a:p>
            <a:fld id="{0405133F-F908-4E93-835E-818B2FC08D96}" type="slidenum">
              <a:rPr lang="en-US" altLang="tr-TR" sz="2100"/>
              <a:pPr/>
              <a:t>21</a:t>
            </a:fld>
            <a:endParaRPr lang="en-US" altLang="tr-TR" sz="2100"/>
          </a:p>
        </p:txBody>
      </p:sp>
      <p:sp>
        <p:nvSpPr>
          <p:cNvPr id="17411" name="Rectangle 2"/>
          <p:cNvSpPr>
            <a:spLocks noGrp="1" noChangeArrowheads="1"/>
          </p:cNvSpPr>
          <p:nvPr>
            <p:ph type="title"/>
          </p:nvPr>
        </p:nvSpPr>
        <p:spPr>
          <a:xfrm>
            <a:off x="2500313" y="342900"/>
            <a:ext cx="13180218" cy="1714500"/>
          </a:xfrm>
        </p:spPr>
        <p:txBody>
          <a:bodyPr/>
          <a:lstStyle/>
          <a:p>
            <a:pPr eaLnBrk="1" hangingPunct="1"/>
            <a:r>
              <a:rPr lang="en-US" altLang="tr-TR" dirty="0"/>
              <a:t>Information security in past &amp; present</a:t>
            </a:r>
          </a:p>
        </p:txBody>
      </p:sp>
      <p:sp>
        <p:nvSpPr>
          <p:cNvPr id="17412" name="Rectangle 3"/>
          <p:cNvSpPr>
            <a:spLocks noGrp="1" noChangeArrowheads="1"/>
          </p:cNvSpPr>
          <p:nvPr>
            <p:ph type="body" idx="1"/>
          </p:nvPr>
        </p:nvSpPr>
        <p:spPr>
          <a:xfrm>
            <a:off x="3164682" y="2057400"/>
            <a:ext cx="11658600" cy="6172200"/>
          </a:xfrm>
        </p:spPr>
        <p:txBody>
          <a:bodyPr/>
          <a:lstStyle/>
          <a:p>
            <a:pPr eaLnBrk="1" hangingPunct="1">
              <a:lnSpc>
                <a:spcPct val="90000"/>
              </a:lnSpc>
            </a:pPr>
            <a:r>
              <a:rPr lang="en-US" altLang="tr-TR" sz="4200" dirty="0"/>
              <a:t>Traditional Information Security</a:t>
            </a:r>
          </a:p>
          <a:p>
            <a:pPr lvl="1" eaLnBrk="1" hangingPunct="1">
              <a:lnSpc>
                <a:spcPct val="90000"/>
              </a:lnSpc>
            </a:pPr>
            <a:r>
              <a:rPr lang="en-US" altLang="tr-TR" sz="3600" dirty="0"/>
              <a:t>keep the cabinets locked</a:t>
            </a:r>
          </a:p>
          <a:p>
            <a:pPr lvl="1" eaLnBrk="1" hangingPunct="1">
              <a:lnSpc>
                <a:spcPct val="90000"/>
              </a:lnSpc>
            </a:pPr>
            <a:r>
              <a:rPr lang="en-US" altLang="tr-TR" sz="3600" dirty="0"/>
              <a:t>put them in a secure room</a:t>
            </a:r>
          </a:p>
          <a:p>
            <a:pPr lvl="1" eaLnBrk="1" hangingPunct="1">
              <a:lnSpc>
                <a:spcPct val="90000"/>
              </a:lnSpc>
            </a:pPr>
            <a:r>
              <a:rPr lang="en-US" altLang="tr-TR" sz="3600" dirty="0"/>
              <a:t>human guards</a:t>
            </a:r>
          </a:p>
          <a:p>
            <a:pPr lvl="1" eaLnBrk="1" hangingPunct="1">
              <a:lnSpc>
                <a:spcPct val="90000"/>
              </a:lnSpc>
            </a:pPr>
            <a:r>
              <a:rPr lang="en-US" altLang="tr-TR" sz="3600" dirty="0"/>
              <a:t>electronic surveillance systems</a:t>
            </a:r>
          </a:p>
          <a:p>
            <a:pPr lvl="1" eaLnBrk="1" hangingPunct="1">
              <a:lnSpc>
                <a:spcPct val="90000"/>
              </a:lnSpc>
            </a:pPr>
            <a:r>
              <a:rPr lang="en-US" altLang="tr-TR" sz="3600" dirty="0"/>
              <a:t>in general: physical and administrative mechanisms</a:t>
            </a:r>
          </a:p>
          <a:p>
            <a:pPr eaLnBrk="1" hangingPunct="1">
              <a:lnSpc>
                <a:spcPct val="90000"/>
              </a:lnSpc>
            </a:pPr>
            <a:r>
              <a:rPr lang="en-US" altLang="tr-TR" sz="4200" dirty="0"/>
              <a:t>Modern World</a:t>
            </a:r>
          </a:p>
          <a:p>
            <a:pPr lvl="1" eaLnBrk="1" hangingPunct="1">
              <a:lnSpc>
                <a:spcPct val="90000"/>
              </a:lnSpc>
            </a:pPr>
            <a:r>
              <a:rPr lang="en-US" altLang="tr-TR" sz="3600" dirty="0"/>
              <a:t>Data are in computers</a:t>
            </a:r>
          </a:p>
          <a:p>
            <a:pPr lvl="1" eaLnBrk="1" hangingPunct="1">
              <a:lnSpc>
                <a:spcPct val="90000"/>
              </a:lnSpc>
            </a:pPr>
            <a:r>
              <a:rPr lang="en-US" altLang="tr-TR" sz="3600" dirty="0"/>
              <a:t>Computers are interconnected</a:t>
            </a:r>
          </a:p>
        </p:txBody>
      </p:sp>
      <p:sp>
        <p:nvSpPr>
          <p:cNvPr id="21508" name="Text Box 4"/>
          <p:cNvSpPr txBox="1">
            <a:spLocks noChangeArrowheads="1"/>
          </p:cNvSpPr>
          <p:nvPr/>
        </p:nvSpPr>
        <p:spPr bwMode="auto">
          <a:xfrm>
            <a:off x="3086101" y="8458200"/>
            <a:ext cx="11465720" cy="1255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defRPr>
            </a:lvl1pPr>
            <a:lvl2pPr marL="457200">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lvl="1" eaLnBrk="1" hangingPunct="1">
              <a:lnSpc>
                <a:spcPct val="90000"/>
              </a:lnSpc>
              <a:spcBef>
                <a:spcPct val="20000"/>
              </a:spcBef>
            </a:pPr>
            <a:r>
              <a:rPr lang="en-US" altLang="tr-TR" sz="4200" b="1" dirty="0">
                <a:solidFill>
                  <a:srgbClr val="FF0000"/>
                </a:solidFill>
              </a:rPr>
              <a:t>Data/ Computer and Network Security-&gt; Cyber Security</a:t>
            </a:r>
            <a:endParaRPr lang="en-US" altLang="tr-TR" sz="4200" b="1" dirty="0">
              <a:latin typeface="Times New Roman" pitchFamily="18" charset="0"/>
            </a:endParaRPr>
          </a:p>
        </p:txBody>
      </p:sp>
    </p:spTree>
    <p:extLst>
      <p:ext uri="{BB962C8B-B14F-4D97-AF65-F5344CB8AC3E}">
        <p14:creationId xmlns:p14="http://schemas.microsoft.com/office/powerpoint/2010/main" val="40747347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32" fill="hold" grpId="0" nodeType="clickEffect">
                                  <p:stCondLst>
                                    <p:cond delay="0"/>
                                  </p:stCondLst>
                                  <p:childTnLst>
                                    <p:set>
                                      <p:cBhvr>
                                        <p:cTn id="6" dur="1" fill="hold">
                                          <p:stCondLst>
                                            <p:cond delay="0"/>
                                          </p:stCondLst>
                                        </p:cTn>
                                        <p:tgtEl>
                                          <p:spTgt spid="21508"/>
                                        </p:tgtEl>
                                        <p:attrNameLst>
                                          <p:attrName>style.visibility</p:attrName>
                                        </p:attrNameLst>
                                      </p:cBhvr>
                                      <p:to>
                                        <p:strVal val="visible"/>
                                      </p:to>
                                    </p:set>
                                    <p:anim calcmode="lin" valueType="num">
                                      <p:cBhvr>
                                        <p:cTn id="7" dur="500" fill="hold"/>
                                        <p:tgtEl>
                                          <p:spTgt spid="21508"/>
                                        </p:tgtEl>
                                        <p:attrNameLst>
                                          <p:attrName>ppt_w</p:attrName>
                                        </p:attrNameLst>
                                      </p:cBhvr>
                                      <p:tavLst>
                                        <p:tav tm="0">
                                          <p:val>
                                            <p:strVal val="4*#ppt_w"/>
                                          </p:val>
                                        </p:tav>
                                        <p:tav tm="100000">
                                          <p:val>
                                            <p:strVal val="#ppt_w"/>
                                          </p:val>
                                        </p:tav>
                                      </p:tavLst>
                                    </p:anim>
                                    <p:anim calcmode="lin" valueType="num">
                                      <p:cBhvr>
                                        <p:cTn id="8" dur="500" fill="hold"/>
                                        <p:tgtEl>
                                          <p:spTgt spid="21508"/>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8"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800">
                <a:solidFill>
                  <a:schemeClr val="tx1"/>
                </a:solidFill>
                <a:latin typeface="Arial" pitchFamily="34" charset="0"/>
              </a:defRPr>
            </a:lvl1pPr>
            <a:lvl2pPr>
              <a:defRPr sz="4200">
                <a:solidFill>
                  <a:schemeClr val="tx1"/>
                </a:solidFill>
                <a:latin typeface="Arial" pitchFamily="34" charset="0"/>
              </a:defRPr>
            </a:lvl2pPr>
            <a:lvl3pPr>
              <a:defRPr sz="3600">
                <a:solidFill>
                  <a:schemeClr val="tx1"/>
                </a:solidFill>
                <a:latin typeface="Arial" pitchFamily="34" charset="0"/>
              </a:defRPr>
            </a:lvl3pPr>
            <a:lvl4pPr>
              <a:defRPr sz="3000">
                <a:solidFill>
                  <a:schemeClr val="tx1"/>
                </a:solidFill>
                <a:latin typeface="Arial" pitchFamily="34" charset="0"/>
              </a:defRPr>
            </a:lvl4pPr>
            <a:lvl5pPr>
              <a:defRPr sz="3000">
                <a:solidFill>
                  <a:schemeClr val="tx1"/>
                </a:solidFill>
                <a:latin typeface="Arial" pitchFamily="34" charset="0"/>
              </a:defRPr>
            </a:lvl5pPr>
            <a:lvl6pPr eaLnBrk="0" hangingPunct="0">
              <a:defRPr sz="3000">
                <a:solidFill>
                  <a:schemeClr val="tx1"/>
                </a:solidFill>
                <a:latin typeface="Arial" pitchFamily="34" charset="0"/>
              </a:defRPr>
            </a:lvl6pPr>
            <a:lvl7pPr eaLnBrk="0" hangingPunct="0">
              <a:defRPr sz="3000">
                <a:solidFill>
                  <a:schemeClr val="tx1"/>
                </a:solidFill>
                <a:latin typeface="Arial" pitchFamily="34" charset="0"/>
              </a:defRPr>
            </a:lvl7pPr>
            <a:lvl8pPr eaLnBrk="0" hangingPunct="0">
              <a:defRPr sz="3000">
                <a:solidFill>
                  <a:schemeClr val="tx1"/>
                </a:solidFill>
                <a:latin typeface="Arial" pitchFamily="34" charset="0"/>
              </a:defRPr>
            </a:lvl8pPr>
            <a:lvl9pPr eaLnBrk="0" hangingPunct="0">
              <a:defRPr sz="3000">
                <a:solidFill>
                  <a:schemeClr val="tx1"/>
                </a:solidFill>
                <a:latin typeface="Arial" pitchFamily="34" charset="0"/>
              </a:defRPr>
            </a:lvl9pPr>
          </a:lstStyle>
          <a:p>
            <a:fld id="{17070F1E-9C2E-4FAA-AF06-A4C0D0D61A89}" type="slidenum">
              <a:rPr lang="en-US" altLang="tr-TR" sz="2100"/>
              <a:pPr/>
              <a:t>22</a:t>
            </a:fld>
            <a:endParaRPr lang="en-US" altLang="tr-TR" sz="2100"/>
          </a:p>
        </p:txBody>
      </p:sp>
      <p:sp>
        <p:nvSpPr>
          <p:cNvPr id="13315" name="Rectangle 1026"/>
          <p:cNvSpPr>
            <a:spLocks noGrp="1" noChangeArrowheads="1"/>
          </p:cNvSpPr>
          <p:nvPr>
            <p:ph type="title"/>
          </p:nvPr>
        </p:nvSpPr>
        <p:spPr/>
        <p:txBody>
          <a:bodyPr/>
          <a:lstStyle/>
          <a:p>
            <a:pPr eaLnBrk="1" hangingPunct="1"/>
            <a:r>
              <a:rPr lang="en-US" altLang="tr-TR"/>
              <a:t>Real world example</a:t>
            </a:r>
          </a:p>
        </p:txBody>
      </p:sp>
      <p:sp>
        <p:nvSpPr>
          <p:cNvPr id="66563" name="Rectangle 1027"/>
          <p:cNvSpPr>
            <a:spLocks noGrp="1" noChangeArrowheads="1"/>
          </p:cNvSpPr>
          <p:nvPr>
            <p:ph type="body" idx="1"/>
          </p:nvPr>
        </p:nvSpPr>
        <p:spPr>
          <a:xfrm>
            <a:off x="3314700" y="2400300"/>
            <a:ext cx="11658600" cy="6172200"/>
          </a:xfrm>
        </p:spPr>
        <p:txBody>
          <a:bodyPr/>
          <a:lstStyle/>
          <a:p>
            <a:pPr eaLnBrk="1" hangingPunct="1"/>
            <a:r>
              <a:rPr lang="en-US" altLang="tr-TR" sz="4200" dirty="0"/>
              <a:t>Prevention</a:t>
            </a:r>
          </a:p>
          <a:p>
            <a:pPr lvl="1" eaLnBrk="1" hangingPunct="1"/>
            <a:r>
              <a:rPr lang="en-US" altLang="tr-TR" sz="3600" dirty="0"/>
              <a:t>locks at doors, window bars, secure the walls around the property, hire a guard</a:t>
            </a:r>
          </a:p>
          <a:p>
            <a:pPr eaLnBrk="1" hangingPunct="1"/>
            <a:r>
              <a:rPr lang="en-US" altLang="tr-TR" sz="4200" dirty="0"/>
              <a:t>Detection</a:t>
            </a:r>
          </a:p>
          <a:p>
            <a:pPr lvl="1" eaLnBrk="1" hangingPunct="1"/>
            <a:r>
              <a:rPr lang="en-US" altLang="tr-TR" sz="3600" dirty="0"/>
              <a:t>missing items, burglar alarms, closed circuit TV</a:t>
            </a:r>
          </a:p>
          <a:p>
            <a:pPr eaLnBrk="1" hangingPunct="1"/>
            <a:r>
              <a:rPr lang="en-US" altLang="tr-TR" sz="4200" dirty="0"/>
              <a:t>Reaction</a:t>
            </a:r>
          </a:p>
          <a:p>
            <a:pPr lvl="1" eaLnBrk="1" hangingPunct="1"/>
            <a:r>
              <a:rPr lang="en-US" altLang="tr-TR" sz="3600" dirty="0"/>
              <a:t>attack on burglar (not recommended </a:t>
            </a:r>
            <a:r>
              <a:rPr lang="en-US" altLang="tr-TR" sz="3600" dirty="0">
                <a:sym typeface="Wingdings" pitchFamily="2" charset="2"/>
              </a:rPr>
              <a:t>)</a:t>
            </a:r>
            <a:r>
              <a:rPr lang="en-US" altLang="tr-TR" sz="3600" dirty="0"/>
              <a:t>, call the police, replace stolen items, make an insurance claim</a:t>
            </a:r>
          </a:p>
        </p:txBody>
      </p:sp>
    </p:spTree>
    <p:extLst>
      <p:ext uri="{BB962C8B-B14F-4D97-AF65-F5344CB8AC3E}">
        <p14:creationId xmlns:p14="http://schemas.microsoft.com/office/powerpoint/2010/main" val="20318921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656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656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6656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6656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6656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6656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build="p" bldLvl="2"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3CBE9-0652-2949-0EA1-FADBEAB34092}"/>
            </a:ext>
          </a:extLst>
        </p:cNvPr>
        <p:cNvGrpSpPr/>
        <p:nvPr/>
      </p:nvGrpSpPr>
      <p:grpSpPr>
        <a:xfrm>
          <a:off x="0" y="0"/>
          <a:ext cx="0" cy="0"/>
          <a:chOff x="0" y="0"/>
          <a:chExt cx="0" cy="0"/>
        </a:xfrm>
      </p:grpSpPr>
      <p:sp>
        <p:nvSpPr>
          <p:cNvPr id="17410" name="Slide Number Placeholder 5">
            <a:extLst>
              <a:ext uri="{FF2B5EF4-FFF2-40B4-BE49-F238E27FC236}">
                <a16:creationId xmlns:a16="http://schemas.microsoft.com/office/drawing/2014/main" id="{06C88FB1-A6FC-91FF-6219-4B26C4D146A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800">
                <a:solidFill>
                  <a:schemeClr val="tx1"/>
                </a:solidFill>
                <a:latin typeface="Arial" pitchFamily="34" charset="0"/>
              </a:defRPr>
            </a:lvl1pPr>
            <a:lvl2pPr>
              <a:defRPr sz="4200">
                <a:solidFill>
                  <a:schemeClr val="tx1"/>
                </a:solidFill>
                <a:latin typeface="Arial" pitchFamily="34" charset="0"/>
              </a:defRPr>
            </a:lvl2pPr>
            <a:lvl3pPr>
              <a:defRPr sz="3600">
                <a:solidFill>
                  <a:schemeClr val="tx1"/>
                </a:solidFill>
                <a:latin typeface="Arial" pitchFamily="34" charset="0"/>
              </a:defRPr>
            </a:lvl3pPr>
            <a:lvl4pPr>
              <a:defRPr sz="3000">
                <a:solidFill>
                  <a:schemeClr val="tx1"/>
                </a:solidFill>
                <a:latin typeface="Arial" pitchFamily="34" charset="0"/>
              </a:defRPr>
            </a:lvl4pPr>
            <a:lvl5pPr>
              <a:defRPr sz="3000">
                <a:solidFill>
                  <a:schemeClr val="tx1"/>
                </a:solidFill>
                <a:latin typeface="Arial" pitchFamily="34" charset="0"/>
              </a:defRPr>
            </a:lvl5pPr>
            <a:lvl6pPr eaLnBrk="0" hangingPunct="0">
              <a:defRPr sz="3000">
                <a:solidFill>
                  <a:schemeClr val="tx1"/>
                </a:solidFill>
                <a:latin typeface="Arial" pitchFamily="34" charset="0"/>
              </a:defRPr>
            </a:lvl6pPr>
            <a:lvl7pPr eaLnBrk="0" hangingPunct="0">
              <a:defRPr sz="3000">
                <a:solidFill>
                  <a:schemeClr val="tx1"/>
                </a:solidFill>
                <a:latin typeface="Arial" pitchFamily="34" charset="0"/>
              </a:defRPr>
            </a:lvl7pPr>
            <a:lvl8pPr eaLnBrk="0" hangingPunct="0">
              <a:defRPr sz="3000">
                <a:solidFill>
                  <a:schemeClr val="tx1"/>
                </a:solidFill>
                <a:latin typeface="Arial" pitchFamily="34" charset="0"/>
              </a:defRPr>
            </a:lvl8pPr>
            <a:lvl9pPr eaLnBrk="0" hangingPunct="0">
              <a:defRPr sz="3000">
                <a:solidFill>
                  <a:schemeClr val="tx1"/>
                </a:solidFill>
                <a:latin typeface="Arial" pitchFamily="34" charset="0"/>
              </a:defRPr>
            </a:lvl9pPr>
          </a:lstStyle>
          <a:p>
            <a:fld id="{0405133F-F908-4E93-835E-818B2FC08D96}" type="slidenum">
              <a:rPr lang="en-US" altLang="tr-TR" sz="2100"/>
              <a:pPr/>
              <a:t>23</a:t>
            </a:fld>
            <a:endParaRPr lang="en-US" altLang="tr-TR" sz="2100"/>
          </a:p>
        </p:txBody>
      </p:sp>
      <p:sp>
        <p:nvSpPr>
          <p:cNvPr id="17411" name="Rectangle 2">
            <a:extLst>
              <a:ext uri="{FF2B5EF4-FFF2-40B4-BE49-F238E27FC236}">
                <a16:creationId xmlns:a16="http://schemas.microsoft.com/office/drawing/2014/main" id="{DBC3CEBB-279C-BD0A-3CCB-8BFBE55DE524}"/>
              </a:ext>
            </a:extLst>
          </p:cNvPr>
          <p:cNvSpPr>
            <a:spLocks noGrp="1" noChangeArrowheads="1"/>
          </p:cNvSpPr>
          <p:nvPr>
            <p:ph type="title"/>
          </p:nvPr>
        </p:nvSpPr>
        <p:spPr>
          <a:xfrm>
            <a:off x="2500313" y="342900"/>
            <a:ext cx="13180218" cy="1714500"/>
          </a:xfrm>
        </p:spPr>
        <p:txBody>
          <a:bodyPr/>
          <a:lstStyle/>
          <a:p>
            <a:pPr eaLnBrk="1" hangingPunct="1"/>
            <a:r>
              <a:rPr lang="en-US" altLang="tr-TR" dirty="0"/>
              <a:t>Definition</a:t>
            </a:r>
          </a:p>
        </p:txBody>
      </p:sp>
      <p:sp>
        <p:nvSpPr>
          <p:cNvPr id="5" name="Content Placeholder 4">
            <a:extLst>
              <a:ext uri="{FF2B5EF4-FFF2-40B4-BE49-F238E27FC236}">
                <a16:creationId xmlns:a16="http://schemas.microsoft.com/office/drawing/2014/main" id="{EEB4C602-408E-4D8F-6B3B-F826E0696A6B}"/>
              </a:ext>
            </a:extLst>
          </p:cNvPr>
          <p:cNvSpPr>
            <a:spLocks noGrp="1"/>
          </p:cNvSpPr>
          <p:nvPr>
            <p:ph idx="1"/>
          </p:nvPr>
        </p:nvSpPr>
        <p:spPr>
          <a:xfrm>
            <a:off x="1504950" y="2781300"/>
            <a:ext cx="15278100" cy="5334000"/>
          </a:xfrm>
          <a:ln>
            <a:solidFill>
              <a:srgbClr val="FF0000"/>
            </a:solidFill>
          </a:ln>
        </p:spPr>
        <p:txBody>
          <a:bodyPr>
            <a:normAutofit lnSpcReduction="10000"/>
          </a:bodyPr>
          <a:lstStyle/>
          <a:p>
            <a:pPr algn="just"/>
            <a:r>
              <a:rPr lang="en-US" dirty="0"/>
              <a:t>Cybersecurity is the protection of information that is stored, transmitted, and processed in a networked system of computers, other digital devices, and network devices and transmission lines, including the Internet. </a:t>
            </a:r>
          </a:p>
          <a:p>
            <a:pPr algn="just"/>
            <a:endParaRPr lang="en-US" dirty="0"/>
          </a:p>
          <a:p>
            <a:pPr algn="just"/>
            <a:r>
              <a:rPr lang="en-US" dirty="0"/>
              <a:t>Protection encompasses </a:t>
            </a:r>
            <a:r>
              <a:rPr lang="en-US" dirty="0">
                <a:solidFill>
                  <a:srgbClr val="FF0000"/>
                </a:solidFill>
              </a:rPr>
              <a:t>confidentiality</a:t>
            </a:r>
            <a:r>
              <a:rPr lang="en-US" dirty="0"/>
              <a:t>, </a:t>
            </a:r>
            <a:r>
              <a:rPr lang="en-US" dirty="0">
                <a:solidFill>
                  <a:srgbClr val="FF0000"/>
                </a:solidFill>
              </a:rPr>
              <a:t>integrity</a:t>
            </a:r>
            <a:r>
              <a:rPr lang="en-US" dirty="0"/>
              <a:t>, </a:t>
            </a:r>
            <a:r>
              <a:rPr lang="en-US" dirty="0">
                <a:solidFill>
                  <a:srgbClr val="FF0000"/>
                </a:solidFill>
              </a:rPr>
              <a:t>availability</a:t>
            </a:r>
            <a:r>
              <a:rPr lang="en-US" dirty="0"/>
              <a:t>, </a:t>
            </a:r>
            <a:r>
              <a:rPr lang="en-US" dirty="0">
                <a:solidFill>
                  <a:srgbClr val="FF0000"/>
                </a:solidFill>
              </a:rPr>
              <a:t>authenticity</a:t>
            </a:r>
            <a:r>
              <a:rPr lang="en-US" dirty="0"/>
              <a:t>, and </a:t>
            </a:r>
            <a:r>
              <a:rPr lang="en-US" dirty="0">
                <a:solidFill>
                  <a:srgbClr val="FF0000"/>
                </a:solidFill>
              </a:rPr>
              <a:t>accountability</a:t>
            </a:r>
            <a:r>
              <a:rPr lang="en-US" dirty="0"/>
              <a:t>. </a:t>
            </a:r>
          </a:p>
          <a:p>
            <a:pPr algn="just"/>
            <a:endParaRPr lang="en-US" dirty="0"/>
          </a:p>
          <a:p>
            <a:pPr algn="just"/>
            <a:r>
              <a:rPr lang="en-US" dirty="0"/>
              <a:t>Methods of protection include organizational </a:t>
            </a:r>
            <a:r>
              <a:rPr lang="en-US" dirty="0">
                <a:solidFill>
                  <a:srgbClr val="FF0000"/>
                </a:solidFill>
              </a:rPr>
              <a:t>policies and procedures</a:t>
            </a:r>
            <a:r>
              <a:rPr lang="en-US" dirty="0"/>
              <a:t>, as well as </a:t>
            </a:r>
            <a:r>
              <a:rPr lang="en-US" dirty="0">
                <a:solidFill>
                  <a:srgbClr val="FF0000"/>
                </a:solidFill>
              </a:rPr>
              <a:t>technical means </a:t>
            </a:r>
            <a:r>
              <a:rPr lang="en-US" dirty="0"/>
              <a:t>such as encryption and </a:t>
            </a:r>
            <a:r>
              <a:rPr lang="en-US" dirty="0">
                <a:solidFill>
                  <a:srgbClr val="FF0000"/>
                </a:solidFill>
              </a:rPr>
              <a:t>secure communications protocols</a:t>
            </a:r>
            <a:r>
              <a:rPr lang="en-US" dirty="0"/>
              <a:t>.</a:t>
            </a:r>
          </a:p>
        </p:txBody>
      </p:sp>
    </p:spTree>
    <p:extLst>
      <p:ext uri="{BB962C8B-B14F-4D97-AF65-F5344CB8AC3E}">
        <p14:creationId xmlns:p14="http://schemas.microsoft.com/office/powerpoint/2010/main" val="41251850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70800-9F73-E3BA-2E93-B6DB3606D4E1}"/>
            </a:ext>
          </a:extLst>
        </p:cNvPr>
        <p:cNvGrpSpPr/>
        <p:nvPr/>
      </p:nvGrpSpPr>
      <p:grpSpPr>
        <a:xfrm>
          <a:off x="0" y="0"/>
          <a:ext cx="0" cy="0"/>
          <a:chOff x="0" y="0"/>
          <a:chExt cx="0" cy="0"/>
        </a:xfrm>
      </p:grpSpPr>
      <p:sp>
        <p:nvSpPr>
          <p:cNvPr id="17410" name="Slide Number Placeholder 5">
            <a:extLst>
              <a:ext uri="{FF2B5EF4-FFF2-40B4-BE49-F238E27FC236}">
                <a16:creationId xmlns:a16="http://schemas.microsoft.com/office/drawing/2014/main" id="{5425747D-A753-B14F-9933-465167C4F61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800">
                <a:solidFill>
                  <a:schemeClr val="tx1"/>
                </a:solidFill>
                <a:latin typeface="Arial" pitchFamily="34" charset="0"/>
              </a:defRPr>
            </a:lvl1pPr>
            <a:lvl2pPr>
              <a:defRPr sz="4200">
                <a:solidFill>
                  <a:schemeClr val="tx1"/>
                </a:solidFill>
                <a:latin typeface="Arial" pitchFamily="34" charset="0"/>
              </a:defRPr>
            </a:lvl2pPr>
            <a:lvl3pPr>
              <a:defRPr sz="3600">
                <a:solidFill>
                  <a:schemeClr val="tx1"/>
                </a:solidFill>
                <a:latin typeface="Arial" pitchFamily="34" charset="0"/>
              </a:defRPr>
            </a:lvl3pPr>
            <a:lvl4pPr>
              <a:defRPr sz="3000">
                <a:solidFill>
                  <a:schemeClr val="tx1"/>
                </a:solidFill>
                <a:latin typeface="Arial" pitchFamily="34" charset="0"/>
              </a:defRPr>
            </a:lvl4pPr>
            <a:lvl5pPr>
              <a:defRPr sz="3000">
                <a:solidFill>
                  <a:schemeClr val="tx1"/>
                </a:solidFill>
                <a:latin typeface="Arial" pitchFamily="34" charset="0"/>
              </a:defRPr>
            </a:lvl5pPr>
            <a:lvl6pPr eaLnBrk="0" hangingPunct="0">
              <a:defRPr sz="3000">
                <a:solidFill>
                  <a:schemeClr val="tx1"/>
                </a:solidFill>
                <a:latin typeface="Arial" pitchFamily="34" charset="0"/>
              </a:defRPr>
            </a:lvl6pPr>
            <a:lvl7pPr eaLnBrk="0" hangingPunct="0">
              <a:defRPr sz="3000">
                <a:solidFill>
                  <a:schemeClr val="tx1"/>
                </a:solidFill>
                <a:latin typeface="Arial" pitchFamily="34" charset="0"/>
              </a:defRPr>
            </a:lvl7pPr>
            <a:lvl8pPr eaLnBrk="0" hangingPunct="0">
              <a:defRPr sz="3000">
                <a:solidFill>
                  <a:schemeClr val="tx1"/>
                </a:solidFill>
                <a:latin typeface="Arial" pitchFamily="34" charset="0"/>
              </a:defRPr>
            </a:lvl8pPr>
            <a:lvl9pPr eaLnBrk="0" hangingPunct="0">
              <a:defRPr sz="3000">
                <a:solidFill>
                  <a:schemeClr val="tx1"/>
                </a:solidFill>
                <a:latin typeface="Arial" pitchFamily="34" charset="0"/>
              </a:defRPr>
            </a:lvl9pPr>
          </a:lstStyle>
          <a:p>
            <a:fld id="{0405133F-F908-4E93-835E-818B2FC08D96}" type="slidenum">
              <a:rPr lang="en-US" altLang="tr-TR" sz="2100"/>
              <a:pPr/>
              <a:t>24</a:t>
            </a:fld>
            <a:endParaRPr lang="en-US" altLang="tr-TR" sz="2100"/>
          </a:p>
        </p:txBody>
      </p:sp>
      <p:sp>
        <p:nvSpPr>
          <p:cNvPr id="17411" name="Rectangle 2">
            <a:extLst>
              <a:ext uri="{FF2B5EF4-FFF2-40B4-BE49-F238E27FC236}">
                <a16:creationId xmlns:a16="http://schemas.microsoft.com/office/drawing/2014/main" id="{F74CB611-3C84-FD68-B089-D5BE3D779E86}"/>
              </a:ext>
            </a:extLst>
          </p:cNvPr>
          <p:cNvSpPr>
            <a:spLocks noGrp="1" noChangeArrowheads="1"/>
          </p:cNvSpPr>
          <p:nvPr>
            <p:ph type="title"/>
          </p:nvPr>
        </p:nvSpPr>
        <p:spPr>
          <a:xfrm>
            <a:off x="2500313" y="342900"/>
            <a:ext cx="13180218" cy="1714500"/>
          </a:xfrm>
        </p:spPr>
        <p:txBody>
          <a:bodyPr>
            <a:normAutofit/>
          </a:bodyPr>
          <a:lstStyle/>
          <a:p>
            <a:r>
              <a:rPr lang="en-US" dirty="0"/>
              <a:t>Cybersecurity: Categories</a:t>
            </a:r>
            <a:endParaRPr lang="en-US" altLang="tr-TR" dirty="0"/>
          </a:p>
        </p:txBody>
      </p:sp>
      <p:sp>
        <p:nvSpPr>
          <p:cNvPr id="5" name="Content Placeholder 4">
            <a:extLst>
              <a:ext uri="{FF2B5EF4-FFF2-40B4-BE49-F238E27FC236}">
                <a16:creationId xmlns:a16="http://schemas.microsoft.com/office/drawing/2014/main" id="{AC75D3FB-62F1-9C37-A4FF-3A4A166A5F7A}"/>
              </a:ext>
            </a:extLst>
          </p:cNvPr>
          <p:cNvSpPr>
            <a:spLocks noGrp="1"/>
          </p:cNvSpPr>
          <p:nvPr>
            <p:ph idx="1"/>
          </p:nvPr>
        </p:nvSpPr>
        <p:spPr>
          <a:xfrm>
            <a:off x="1590675" y="2454275"/>
            <a:ext cx="15106650" cy="6096000"/>
          </a:xfrm>
          <a:ln>
            <a:solidFill>
              <a:srgbClr val="FF0000"/>
            </a:solidFill>
          </a:ln>
        </p:spPr>
        <p:txBody>
          <a:bodyPr>
            <a:normAutofit lnSpcReduction="10000"/>
          </a:bodyPr>
          <a:lstStyle/>
          <a:p>
            <a:pPr algn="just">
              <a:buFont typeface="Wingdings" panose="05000000000000000000" pitchFamily="2" charset="2"/>
              <a:buChar char="§"/>
            </a:pPr>
            <a:r>
              <a:rPr lang="en-US" dirty="0"/>
              <a:t> </a:t>
            </a:r>
            <a:r>
              <a:rPr lang="en-US" dirty="0">
                <a:highlight>
                  <a:srgbClr val="FFFF00"/>
                </a:highlight>
              </a:rPr>
              <a:t>Information security</a:t>
            </a:r>
            <a:r>
              <a:rPr lang="en-US" dirty="0"/>
              <a:t>: This term refers to preservation of </a:t>
            </a:r>
            <a:r>
              <a:rPr lang="en-US" dirty="0">
                <a:solidFill>
                  <a:srgbClr val="FF0000"/>
                </a:solidFill>
              </a:rPr>
              <a:t>confidentiality, integrity, and availability </a:t>
            </a:r>
            <a:r>
              <a:rPr lang="en-US" dirty="0"/>
              <a:t>of information. </a:t>
            </a:r>
          </a:p>
          <a:p>
            <a:pPr marL="457200" lvl="1" indent="0" algn="just">
              <a:buNone/>
            </a:pPr>
            <a:endParaRPr lang="en-US" dirty="0"/>
          </a:p>
          <a:p>
            <a:pPr lvl="1" algn="just">
              <a:buFont typeface="Wingdings" panose="05000000000000000000" pitchFamily="2" charset="2"/>
              <a:buChar char="§"/>
            </a:pPr>
            <a:r>
              <a:rPr lang="en-US" dirty="0"/>
              <a:t>In addition, other properties, such as </a:t>
            </a:r>
            <a:r>
              <a:rPr lang="en-US" dirty="0">
                <a:solidFill>
                  <a:srgbClr val="FF0000"/>
                </a:solidFill>
              </a:rPr>
              <a:t>authenticity, accountability, nonrepudiation, and reliability </a:t>
            </a:r>
            <a:r>
              <a:rPr lang="en-US" dirty="0"/>
              <a:t>can also be involved.</a:t>
            </a:r>
          </a:p>
          <a:p>
            <a:pPr algn="just">
              <a:buFont typeface="Wingdings" panose="05000000000000000000" pitchFamily="2" charset="2"/>
              <a:buChar char="§"/>
            </a:pPr>
            <a:endParaRPr lang="en-US" dirty="0"/>
          </a:p>
          <a:p>
            <a:pPr algn="just">
              <a:buFont typeface="Wingdings" panose="05000000000000000000" pitchFamily="2" charset="2"/>
              <a:buChar char="§"/>
            </a:pPr>
            <a:r>
              <a:rPr lang="en-US" dirty="0">
                <a:highlight>
                  <a:srgbClr val="FFFF00"/>
                </a:highlight>
              </a:rPr>
              <a:t>Network security</a:t>
            </a:r>
            <a:r>
              <a:rPr lang="en-US" dirty="0"/>
              <a:t>: This term refers to </a:t>
            </a:r>
          </a:p>
          <a:p>
            <a:pPr lvl="1" algn="just">
              <a:buFont typeface="Wingdings" panose="05000000000000000000" pitchFamily="2" charset="2"/>
              <a:buChar char="§"/>
            </a:pPr>
            <a:r>
              <a:rPr lang="en-US" dirty="0">
                <a:solidFill>
                  <a:srgbClr val="FF0000"/>
                </a:solidFill>
              </a:rPr>
              <a:t>protection of networks and their service </a:t>
            </a:r>
            <a:r>
              <a:rPr lang="en-US" dirty="0"/>
              <a:t>from </a:t>
            </a:r>
          </a:p>
          <a:p>
            <a:pPr lvl="1" algn="just">
              <a:buFont typeface="Wingdings" panose="05000000000000000000" pitchFamily="2" charset="2"/>
              <a:buChar char="§"/>
            </a:pPr>
            <a:r>
              <a:rPr lang="en-US" dirty="0">
                <a:solidFill>
                  <a:srgbClr val="0070C0"/>
                </a:solidFill>
              </a:rPr>
              <a:t>unauthorized modification, destruction, or disclosure</a:t>
            </a:r>
            <a:r>
              <a:rPr lang="en-US" dirty="0"/>
              <a:t>, and </a:t>
            </a:r>
          </a:p>
          <a:p>
            <a:pPr lvl="1" algn="just">
              <a:buFont typeface="Wingdings" panose="05000000000000000000" pitchFamily="2" charset="2"/>
              <a:buChar char="§"/>
            </a:pPr>
            <a:r>
              <a:rPr lang="en-US" dirty="0">
                <a:solidFill>
                  <a:schemeClr val="accent6">
                    <a:lumMod val="75000"/>
                  </a:schemeClr>
                </a:solidFill>
              </a:rPr>
              <a:t>provision of assurance that the network performs its critical functions correctly </a:t>
            </a:r>
            <a:r>
              <a:rPr lang="en-US" dirty="0"/>
              <a:t>and </a:t>
            </a:r>
          </a:p>
          <a:p>
            <a:pPr lvl="1" algn="just">
              <a:buFont typeface="Wingdings" panose="05000000000000000000" pitchFamily="2" charset="2"/>
              <a:buChar char="§"/>
            </a:pPr>
            <a:r>
              <a:rPr lang="en-US" dirty="0">
                <a:solidFill>
                  <a:srgbClr val="92D050"/>
                </a:solidFill>
              </a:rPr>
              <a:t>there are no harmful side effects.</a:t>
            </a:r>
          </a:p>
        </p:txBody>
      </p:sp>
    </p:spTree>
    <p:extLst>
      <p:ext uri="{BB962C8B-B14F-4D97-AF65-F5344CB8AC3E}">
        <p14:creationId xmlns:p14="http://schemas.microsoft.com/office/powerpoint/2010/main" val="4437737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800">
                <a:solidFill>
                  <a:schemeClr val="tx1"/>
                </a:solidFill>
                <a:latin typeface="Arial" pitchFamily="34" charset="0"/>
              </a:defRPr>
            </a:lvl1pPr>
            <a:lvl2pPr>
              <a:defRPr sz="4200">
                <a:solidFill>
                  <a:schemeClr val="tx1"/>
                </a:solidFill>
                <a:latin typeface="Arial" pitchFamily="34" charset="0"/>
              </a:defRPr>
            </a:lvl2pPr>
            <a:lvl3pPr>
              <a:defRPr sz="3600">
                <a:solidFill>
                  <a:schemeClr val="tx1"/>
                </a:solidFill>
                <a:latin typeface="Arial" pitchFamily="34" charset="0"/>
              </a:defRPr>
            </a:lvl3pPr>
            <a:lvl4pPr>
              <a:defRPr sz="3000">
                <a:solidFill>
                  <a:schemeClr val="tx1"/>
                </a:solidFill>
                <a:latin typeface="Arial" pitchFamily="34" charset="0"/>
              </a:defRPr>
            </a:lvl4pPr>
            <a:lvl5pPr>
              <a:defRPr sz="3000">
                <a:solidFill>
                  <a:schemeClr val="tx1"/>
                </a:solidFill>
                <a:latin typeface="Arial" pitchFamily="34" charset="0"/>
              </a:defRPr>
            </a:lvl5pPr>
            <a:lvl6pPr eaLnBrk="0" hangingPunct="0">
              <a:defRPr sz="3000">
                <a:solidFill>
                  <a:schemeClr val="tx1"/>
                </a:solidFill>
                <a:latin typeface="Arial" pitchFamily="34" charset="0"/>
              </a:defRPr>
            </a:lvl6pPr>
            <a:lvl7pPr eaLnBrk="0" hangingPunct="0">
              <a:defRPr sz="3000">
                <a:solidFill>
                  <a:schemeClr val="tx1"/>
                </a:solidFill>
                <a:latin typeface="Arial" pitchFamily="34" charset="0"/>
              </a:defRPr>
            </a:lvl7pPr>
            <a:lvl8pPr eaLnBrk="0" hangingPunct="0">
              <a:defRPr sz="3000">
                <a:solidFill>
                  <a:schemeClr val="tx1"/>
                </a:solidFill>
                <a:latin typeface="Arial" pitchFamily="34" charset="0"/>
              </a:defRPr>
            </a:lvl8pPr>
            <a:lvl9pPr eaLnBrk="0" hangingPunct="0">
              <a:defRPr sz="3000">
                <a:solidFill>
                  <a:schemeClr val="tx1"/>
                </a:solidFill>
                <a:latin typeface="Arial" pitchFamily="34" charset="0"/>
              </a:defRPr>
            </a:lvl9pPr>
          </a:lstStyle>
          <a:p>
            <a:fld id="{0405133F-F908-4E93-835E-818B2FC08D96}" type="slidenum">
              <a:rPr lang="en-US" altLang="tr-TR" sz="2100"/>
              <a:pPr/>
              <a:t>25</a:t>
            </a:fld>
            <a:endParaRPr lang="en-US" altLang="tr-TR" sz="2100"/>
          </a:p>
        </p:txBody>
      </p:sp>
      <p:sp>
        <p:nvSpPr>
          <p:cNvPr id="17411" name="Rectangle 2"/>
          <p:cNvSpPr>
            <a:spLocks noGrp="1" noChangeArrowheads="1"/>
          </p:cNvSpPr>
          <p:nvPr>
            <p:ph type="title"/>
          </p:nvPr>
        </p:nvSpPr>
        <p:spPr>
          <a:xfrm>
            <a:off x="2500313" y="342900"/>
            <a:ext cx="13180218" cy="1714500"/>
          </a:xfrm>
        </p:spPr>
        <p:txBody>
          <a:bodyPr/>
          <a:lstStyle/>
          <a:p>
            <a:pPr eaLnBrk="1" hangingPunct="1"/>
            <a:r>
              <a:rPr lang="en-US" altLang="tr-TR" dirty="0"/>
              <a:t>Domains of Cybersecurity</a:t>
            </a:r>
          </a:p>
        </p:txBody>
      </p:sp>
      <p:sp>
        <p:nvSpPr>
          <p:cNvPr id="4" name="Content Placeholder 3"/>
          <p:cNvSpPr>
            <a:spLocks noGrp="1"/>
          </p:cNvSpPr>
          <p:nvPr>
            <p:ph idx="1"/>
          </p:nvPr>
        </p:nvSpPr>
        <p:spPr>
          <a:xfrm>
            <a:off x="2800350" y="8650286"/>
            <a:ext cx="12344400" cy="1028700"/>
          </a:xfrm>
        </p:spPr>
        <p:txBody>
          <a:bodyPr/>
          <a:lstStyle/>
          <a:p>
            <a:r>
              <a:rPr lang="en-GB" dirty="0"/>
              <a:t>https://link.springer.com/article/10.1007/s10669-013-9484-z</a:t>
            </a:r>
          </a:p>
        </p:txBody>
      </p:sp>
      <p:sp>
        <p:nvSpPr>
          <p:cNvPr id="5" name="Rectangle 4"/>
          <p:cNvSpPr/>
          <p:nvPr/>
        </p:nvSpPr>
        <p:spPr>
          <a:xfrm>
            <a:off x="2800350" y="2158214"/>
            <a:ext cx="13180218" cy="2308324"/>
          </a:xfrm>
          <a:prstGeom prst="rect">
            <a:avLst/>
          </a:prstGeom>
        </p:spPr>
        <p:txBody>
          <a:bodyPr wrap="square">
            <a:spAutoFit/>
          </a:bodyPr>
          <a:lstStyle/>
          <a:p>
            <a:r>
              <a:rPr lang="en-GB" sz="3600" dirty="0">
                <a:highlight>
                  <a:srgbClr val="FFFF00"/>
                </a:highlight>
              </a:rPr>
              <a:t>Four domains of cybersecurity</a:t>
            </a:r>
            <a:r>
              <a:rPr lang="en-GB" sz="3600" dirty="0"/>
              <a:t>: a risk-based systems approach to cyber decisions</a:t>
            </a:r>
          </a:p>
          <a:p>
            <a:r>
              <a:rPr lang="en-US" sz="3600" dirty="0"/>
              <a:t>Zachary A. Collier • Igor Linkov • James H. Lambert</a:t>
            </a:r>
            <a:endParaRPr lang="en-GB" sz="3600" dirty="0"/>
          </a:p>
          <a:p>
            <a:endParaRPr lang="en-GB" sz="3600" dirty="0"/>
          </a:p>
        </p:txBody>
      </p:sp>
      <p:sp>
        <p:nvSpPr>
          <p:cNvPr id="3" name="TextBox 2">
            <a:extLst>
              <a:ext uri="{FF2B5EF4-FFF2-40B4-BE49-F238E27FC236}">
                <a16:creationId xmlns:a16="http://schemas.microsoft.com/office/drawing/2014/main" id="{2458E555-4C3B-B7BB-D25F-E412CBF7EC3B}"/>
              </a:ext>
            </a:extLst>
          </p:cNvPr>
          <p:cNvSpPr txBox="1"/>
          <p:nvPr/>
        </p:nvSpPr>
        <p:spPr>
          <a:xfrm>
            <a:off x="2875359" y="4187603"/>
            <a:ext cx="12687300" cy="3970318"/>
          </a:xfrm>
          <a:prstGeom prst="rect">
            <a:avLst/>
          </a:prstGeom>
          <a:noFill/>
        </p:spPr>
        <p:txBody>
          <a:bodyPr wrap="square">
            <a:spAutoFit/>
          </a:bodyPr>
          <a:lstStyle/>
          <a:p>
            <a:pPr algn="just"/>
            <a:r>
              <a:rPr lang="en-US" sz="3600" dirty="0"/>
              <a:t>Linkov et al. (2013) discuss how decision-makers require the ability to plan for threats and absorb, recover, and adapt to threats after they occur along the </a:t>
            </a:r>
          </a:p>
          <a:p>
            <a:pPr marL="571500" indent="-571500" algn="just">
              <a:buFont typeface="Wingdings" panose="05000000000000000000" pitchFamily="2" charset="2"/>
              <a:buChar char="§"/>
            </a:pPr>
            <a:r>
              <a:rPr lang="en-US" sz="3600" dirty="0"/>
              <a:t>physical, </a:t>
            </a:r>
          </a:p>
          <a:p>
            <a:pPr marL="571500" indent="-571500" algn="just">
              <a:buFont typeface="Wingdings" panose="05000000000000000000" pitchFamily="2" charset="2"/>
              <a:buChar char="§"/>
            </a:pPr>
            <a:r>
              <a:rPr lang="en-US" sz="3600" dirty="0"/>
              <a:t>information, </a:t>
            </a:r>
          </a:p>
          <a:p>
            <a:pPr marL="571500" indent="-571500" algn="just">
              <a:buFont typeface="Wingdings" panose="05000000000000000000" pitchFamily="2" charset="2"/>
              <a:buChar char="§"/>
            </a:pPr>
            <a:r>
              <a:rPr lang="en-US" sz="3600" dirty="0"/>
              <a:t>cognitive, and </a:t>
            </a:r>
          </a:p>
          <a:p>
            <a:pPr marL="571500" indent="-571500" algn="just">
              <a:buFont typeface="Wingdings" panose="05000000000000000000" pitchFamily="2" charset="2"/>
              <a:buChar char="§"/>
            </a:pPr>
            <a:r>
              <a:rPr lang="en-US" sz="3600" dirty="0"/>
              <a:t>social domains in which these systems exist.</a:t>
            </a:r>
          </a:p>
        </p:txBody>
      </p:sp>
    </p:spTree>
    <p:extLst>
      <p:ext uri="{BB962C8B-B14F-4D97-AF65-F5344CB8AC3E}">
        <p14:creationId xmlns:p14="http://schemas.microsoft.com/office/powerpoint/2010/main" val="29247490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800">
                <a:solidFill>
                  <a:schemeClr val="tx1"/>
                </a:solidFill>
                <a:latin typeface="Arial" pitchFamily="34" charset="0"/>
              </a:defRPr>
            </a:lvl1pPr>
            <a:lvl2pPr>
              <a:defRPr sz="4200">
                <a:solidFill>
                  <a:schemeClr val="tx1"/>
                </a:solidFill>
                <a:latin typeface="Arial" pitchFamily="34" charset="0"/>
              </a:defRPr>
            </a:lvl2pPr>
            <a:lvl3pPr>
              <a:defRPr sz="3600">
                <a:solidFill>
                  <a:schemeClr val="tx1"/>
                </a:solidFill>
                <a:latin typeface="Arial" pitchFamily="34" charset="0"/>
              </a:defRPr>
            </a:lvl3pPr>
            <a:lvl4pPr>
              <a:defRPr sz="3000">
                <a:solidFill>
                  <a:schemeClr val="tx1"/>
                </a:solidFill>
                <a:latin typeface="Arial" pitchFamily="34" charset="0"/>
              </a:defRPr>
            </a:lvl4pPr>
            <a:lvl5pPr>
              <a:defRPr sz="3000">
                <a:solidFill>
                  <a:schemeClr val="tx1"/>
                </a:solidFill>
                <a:latin typeface="Arial" pitchFamily="34" charset="0"/>
              </a:defRPr>
            </a:lvl5pPr>
            <a:lvl6pPr eaLnBrk="0" hangingPunct="0">
              <a:defRPr sz="3000">
                <a:solidFill>
                  <a:schemeClr val="tx1"/>
                </a:solidFill>
                <a:latin typeface="Arial" pitchFamily="34" charset="0"/>
              </a:defRPr>
            </a:lvl6pPr>
            <a:lvl7pPr eaLnBrk="0" hangingPunct="0">
              <a:defRPr sz="3000">
                <a:solidFill>
                  <a:schemeClr val="tx1"/>
                </a:solidFill>
                <a:latin typeface="Arial" pitchFamily="34" charset="0"/>
              </a:defRPr>
            </a:lvl7pPr>
            <a:lvl8pPr eaLnBrk="0" hangingPunct="0">
              <a:defRPr sz="3000">
                <a:solidFill>
                  <a:schemeClr val="tx1"/>
                </a:solidFill>
                <a:latin typeface="Arial" pitchFamily="34" charset="0"/>
              </a:defRPr>
            </a:lvl8pPr>
            <a:lvl9pPr eaLnBrk="0" hangingPunct="0">
              <a:defRPr sz="3000">
                <a:solidFill>
                  <a:schemeClr val="tx1"/>
                </a:solidFill>
                <a:latin typeface="Arial" pitchFamily="34" charset="0"/>
              </a:defRPr>
            </a:lvl9pPr>
          </a:lstStyle>
          <a:p>
            <a:fld id="{30EBB9E2-F089-4901-902E-1EF7556C2640}" type="slidenum">
              <a:rPr lang="en-US" altLang="tr-TR" sz="2100"/>
              <a:pPr/>
              <a:t>26</a:t>
            </a:fld>
            <a:endParaRPr lang="en-US" altLang="tr-TR" sz="2100"/>
          </a:p>
        </p:txBody>
      </p:sp>
      <p:sp>
        <p:nvSpPr>
          <p:cNvPr id="28675" name="Rectangle 2"/>
          <p:cNvSpPr>
            <a:spLocks noGrp="1" noChangeArrowheads="1"/>
          </p:cNvSpPr>
          <p:nvPr>
            <p:ph type="title"/>
          </p:nvPr>
        </p:nvSpPr>
        <p:spPr>
          <a:xfrm>
            <a:off x="3743325" y="390525"/>
            <a:ext cx="9613107" cy="971550"/>
          </a:xfrm>
        </p:spPr>
        <p:txBody>
          <a:bodyPr/>
          <a:lstStyle/>
          <a:p>
            <a:pPr algn="r" eaLnBrk="1" hangingPunct="1"/>
            <a:r>
              <a:rPr lang="en-US" altLang="tr-TR"/>
              <a:t>Security Trends</a:t>
            </a:r>
          </a:p>
        </p:txBody>
      </p:sp>
      <p:pic>
        <p:nvPicPr>
          <p:cNvPr id="28676" name="Picture 2" descr="http://www.timlaytoncybersecurity.com/wp-content/uploads/2012/03/CERT-Attack-Sophistication-1024x79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5625" y="1497807"/>
            <a:ext cx="12096750" cy="8522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7" name="AutoShape 10"/>
          <p:cNvSpPr>
            <a:spLocks noChangeArrowheads="1"/>
          </p:cNvSpPr>
          <p:nvPr/>
        </p:nvSpPr>
        <p:spPr bwMode="auto">
          <a:xfrm>
            <a:off x="3286126" y="1002508"/>
            <a:ext cx="4319588" cy="812006"/>
          </a:xfrm>
          <a:prstGeom prst="wedgeRoundRectCallout">
            <a:avLst>
              <a:gd name="adj1" fmla="val -27444"/>
              <a:gd name="adj2" fmla="val 162796"/>
              <a:gd name="adj3" fmla="val 16667"/>
            </a:avLst>
          </a:prstGeom>
          <a:solidFill>
            <a:schemeClr val="bg1"/>
          </a:solidFill>
          <a:ln w="9525">
            <a:solidFill>
              <a:schemeClr val="tx1"/>
            </a:solidFill>
            <a:miter lim="800000"/>
            <a:headEnd/>
            <a:tailEnd/>
          </a:ln>
        </p:spPr>
        <p:txBody>
          <a:bodyPr/>
          <a:lstStyle/>
          <a:p>
            <a:pPr algn="ctr" eaLnBrk="1" hangingPunct="1"/>
            <a:r>
              <a:rPr lang="en-US" altLang="tr-TR" sz="2100">
                <a:latin typeface="Arial" pitchFamily="34" charset="0"/>
              </a:rPr>
              <a:t>Skill and knowledge required to mount an attack</a:t>
            </a:r>
          </a:p>
        </p:txBody>
      </p:sp>
    </p:spTree>
    <p:extLst>
      <p:ext uri="{BB962C8B-B14F-4D97-AF65-F5344CB8AC3E}">
        <p14:creationId xmlns:p14="http://schemas.microsoft.com/office/powerpoint/2010/main" val="21414497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3721895" y="500063"/>
            <a:ext cx="11658600" cy="1714500"/>
          </a:xfrm>
        </p:spPr>
        <p:txBody>
          <a:bodyPr>
            <a:normAutofit fontScale="90000"/>
          </a:bodyPr>
          <a:lstStyle/>
          <a:p>
            <a:r>
              <a:rPr lang="en-US" altLang="en-US" dirty="0"/>
              <a:t>The global average cost of cyber crime/attacks</a:t>
            </a:r>
          </a:p>
        </p:txBody>
      </p:sp>
      <p:sp>
        <p:nvSpPr>
          <p:cNvPr id="30724"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800">
                <a:solidFill>
                  <a:schemeClr val="tx1"/>
                </a:solidFill>
                <a:latin typeface="Arial" pitchFamily="34" charset="0"/>
              </a:defRPr>
            </a:lvl1pPr>
            <a:lvl2pPr>
              <a:defRPr sz="4200">
                <a:solidFill>
                  <a:schemeClr val="tx1"/>
                </a:solidFill>
                <a:latin typeface="Arial" pitchFamily="34" charset="0"/>
              </a:defRPr>
            </a:lvl2pPr>
            <a:lvl3pPr>
              <a:defRPr sz="3600">
                <a:solidFill>
                  <a:schemeClr val="tx1"/>
                </a:solidFill>
                <a:latin typeface="Arial" pitchFamily="34" charset="0"/>
              </a:defRPr>
            </a:lvl3pPr>
            <a:lvl4pPr>
              <a:defRPr sz="3000">
                <a:solidFill>
                  <a:schemeClr val="tx1"/>
                </a:solidFill>
                <a:latin typeface="Arial" pitchFamily="34" charset="0"/>
              </a:defRPr>
            </a:lvl4pPr>
            <a:lvl5pPr>
              <a:defRPr sz="3000">
                <a:solidFill>
                  <a:schemeClr val="tx1"/>
                </a:solidFill>
                <a:latin typeface="Arial" pitchFamily="34" charset="0"/>
              </a:defRPr>
            </a:lvl5pPr>
            <a:lvl6pPr eaLnBrk="0" hangingPunct="0">
              <a:defRPr sz="3000">
                <a:solidFill>
                  <a:schemeClr val="tx1"/>
                </a:solidFill>
                <a:latin typeface="Arial" pitchFamily="34" charset="0"/>
              </a:defRPr>
            </a:lvl6pPr>
            <a:lvl7pPr eaLnBrk="0" hangingPunct="0">
              <a:defRPr sz="3000">
                <a:solidFill>
                  <a:schemeClr val="tx1"/>
                </a:solidFill>
                <a:latin typeface="Arial" pitchFamily="34" charset="0"/>
              </a:defRPr>
            </a:lvl7pPr>
            <a:lvl8pPr eaLnBrk="0" hangingPunct="0">
              <a:defRPr sz="3000">
                <a:solidFill>
                  <a:schemeClr val="tx1"/>
                </a:solidFill>
                <a:latin typeface="Arial" pitchFamily="34" charset="0"/>
              </a:defRPr>
            </a:lvl8pPr>
            <a:lvl9pPr eaLnBrk="0" hangingPunct="0">
              <a:defRPr sz="3000">
                <a:solidFill>
                  <a:schemeClr val="tx1"/>
                </a:solidFill>
                <a:latin typeface="Arial" pitchFamily="34" charset="0"/>
              </a:defRPr>
            </a:lvl9pPr>
          </a:lstStyle>
          <a:p>
            <a:fld id="{62D24EC8-C493-4473-998C-2BAC5B352841}" type="slidenum">
              <a:rPr lang="en-US" altLang="tr-TR" sz="2100"/>
              <a:pPr/>
              <a:t>27</a:t>
            </a:fld>
            <a:endParaRPr lang="en-US" altLang="tr-TR" sz="2100"/>
          </a:p>
        </p:txBody>
      </p:sp>
      <p:sp>
        <p:nvSpPr>
          <p:cNvPr id="30726" name="Rectangle 6"/>
          <p:cNvSpPr>
            <a:spLocks noChangeArrowheads="1"/>
          </p:cNvSpPr>
          <p:nvPr/>
        </p:nvSpPr>
        <p:spPr bwMode="auto">
          <a:xfrm>
            <a:off x="12970670" y="2045495"/>
            <a:ext cx="2733675"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altLang="en-US" sz="2700" dirty="0">
                <a:latin typeface="Graphik-Black"/>
              </a:rPr>
              <a:t>2018 Cost of Cyber Crime Study by Accenture*</a:t>
            </a:r>
            <a:endParaRPr lang="en-US" altLang="en-US" sz="2700" dirty="0"/>
          </a:p>
        </p:txBody>
      </p:sp>
      <p:sp>
        <p:nvSpPr>
          <p:cNvPr id="30728" name="Rectangle 8"/>
          <p:cNvSpPr>
            <a:spLocks noChangeArrowheads="1"/>
          </p:cNvSpPr>
          <p:nvPr/>
        </p:nvSpPr>
        <p:spPr bwMode="auto">
          <a:xfrm>
            <a:off x="12970670" y="4955383"/>
            <a:ext cx="2733675"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altLang="en-US" sz="2700">
                <a:latin typeface="Graphik-Black"/>
              </a:rPr>
              <a:t>Steeper increasing trend in the recent years </a:t>
            </a:r>
            <a:endParaRPr lang="en-US" altLang="en-US" sz="2700"/>
          </a:p>
        </p:txBody>
      </p:sp>
      <p:pic>
        <p:nvPicPr>
          <p:cNvPr id="2" name="Picture 1"/>
          <p:cNvPicPr>
            <a:picLocks noChangeAspect="1"/>
          </p:cNvPicPr>
          <p:nvPr/>
        </p:nvPicPr>
        <p:blipFill>
          <a:blip r:embed="rId3"/>
          <a:stretch>
            <a:fillRect/>
          </a:stretch>
        </p:blipFill>
        <p:spPr>
          <a:xfrm>
            <a:off x="3314701" y="2400300"/>
            <a:ext cx="8786813" cy="5429250"/>
          </a:xfrm>
          <a:prstGeom prst="rect">
            <a:avLst/>
          </a:prstGeom>
        </p:spPr>
      </p:pic>
      <p:sp>
        <p:nvSpPr>
          <p:cNvPr id="3" name="Rectangle 2"/>
          <p:cNvSpPr/>
          <p:nvPr/>
        </p:nvSpPr>
        <p:spPr>
          <a:xfrm>
            <a:off x="3543300" y="8572500"/>
            <a:ext cx="6858000" cy="923330"/>
          </a:xfrm>
          <a:prstGeom prst="rect">
            <a:avLst/>
          </a:prstGeom>
        </p:spPr>
        <p:txBody>
          <a:bodyPr>
            <a:spAutoFit/>
          </a:bodyPr>
          <a:lstStyle/>
          <a:p>
            <a:r>
              <a:rPr lang="en-GB" sz="2700" dirty="0">
                <a:hlinkClick r:id="rId4"/>
              </a:rPr>
              <a:t>https://www.accenture.com/us-en/insights/security/cost-cybercrime-study</a:t>
            </a:r>
            <a:endParaRPr lang="en-GB" sz="2700" dirty="0"/>
          </a:p>
        </p:txBody>
      </p:sp>
    </p:spTree>
    <p:extLst>
      <p:ext uri="{BB962C8B-B14F-4D97-AF65-F5344CB8AC3E}">
        <p14:creationId xmlns:p14="http://schemas.microsoft.com/office/powerpoint/2010/main" val="20715304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a:xfrm>
            <a:off x="3743325" y="311945"/>
            <a:ext cx="11658600" cy="695325"/>
          </a:xfrm>
        </p:spPr>
        <p:txBody>
          <a:bodyPr>
            <a:normAutofit fontScale="90000"/>
          </a:bodyPr>
          <a:lstStyle/>
          <a:p>
            <a:r>
              <a:rPr lang="en-US" altLang="en-US" sz="5400"/>
              <a:t>Types of cyber attacks experienced</a:t>
            </a:r>
          </a:p>
        </p:txBody>
      </p:sp>
      <p:sp>
        <p:nvSpPr>
          <p:cNvPr id="3891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800">
                <a:solidFill>
                  <a:schemeClr val="tx1"/>
                </a:solidFill>
                <a:latin typeface="Arial" pitchFamily="34" charset="0"/>
              </a:defRPr>
            </a:lvl1pPr>
            <a:lvl2pPr>
              <a:defRPr sz="4200">
                <a:solidFill>
                  <a:schemeClr val="tx1"/>
                </a:solidFill>
                <a:latin typeface="Arial" pitchFamily="34" charset="0"/>
              </a:defRPr>
            </a:lvl2pPr>
            <a:lvl3pPr>
              <a:defRPr sz="3600">
                <a:solidFill>
                  <a:schemeClr val="tx1"/>
                </a:solidFill>
                <a:latin typeface="Arial" pitchFamily="34" charset="0"/>
              </a:defRPr>
            </a:lvl3pPr>
            <a:lvl4pPr>
              <a:defRPr sz="3000">
                <a:solidFill>
                  <a:schemeClr val="tx1"/>
                </a:solidFill>
                <a:latin typeface="Arial" pitchFamily="34" charset="0"/>
              </a:defRPr>
            </a:lvl4pPr>
            <a:lvl5pPr>
              <a:defRPr sz="3000">
                <a:solidFill>
                  <a:schemeClr val="tx1"/>
                </a:solidFill>
                <a:latin typeface="Arial" pitchFamily="34" charset="0"/>
              </a:defRPr>
            </a:lvl5pPr>
            <a:lvl6pPr eaLnBrk="0" hangingPunct="0">
              <a:defRPr sz="3000">
                <a:solidFill>
                  <a:schemeClr val="tx1"/>
                </a:solidFill>
                <a:latin typeface="Arial" pitchFamily="34" charset="0"/>
              </a:defRPr>
            </a:lvl6pPr>
            <a:lvl7pPr eaLnBrk="0" hangingPunct="0">
              <a:defRPr sz="3000">
                <a:solidFill>
                  <a:schemeClr val="tx1"/>
                </a:solidFill>
                <a:latin typeface="Arial" pitchFamily="34" charset="0"/>
              </a:defRPr>
            </a:lvl7pPr>
            <a:lvl8pPr eaLnBrk="0" hangingPunct="0">
              <a:defRPr sz="3000">
                <a:solidFill>
                  <a:schemeClr val="tx1"/>
                </a:solidFill>
                <a:latin typeface="Arial" pitchFamily="34" charset="0"/>
              </a:defRPr>
            </a:lvl8pPr>
            <a:lvl9pPr eaLnBrk="0" hangingPunct="0">
              <a:defRPr sz="3000">
                <a:solidFill>
                  <a:schemeClr val="tx1"/>
                </a:solidFill>
                <a:latin typeface="Arial" pitchFamily="34" charset="0"/>
              </a:defRPr>
            </a:lvl9pPr>
          </a:lstStyle>
          <a:p>
            <a:fld id="{771616BE-6685-471E-8EE9-A9F185F63FFE}" type="slidenum">
              <a:rPr lang="en-US" altLang="tr-TR" sz="2100"/>
              <a:pPr/>
              <a:t>28</a:t>
            </a:fld>
            <a:endParaRPr lang="en-US" altLang="tr-TR" sz="2100"/>
          </a:p>
        </p:txBody>
      </p:sp>
      <p:sp>
        <p:nvSpPr>
          <p:cNvPr id="38917" name="Rectangle 6"/>
          <p:cNvSpPr>
            <a:spLocks noChangeArrowheads="1"/>
          </p:cNvSpPr>
          <p:nvPr/>
        </p:nvSpPr>
        <p:spPr bwMode="auto">
          <a:xfrm>
            <a:off x="12569429" y="2147888"/>
            <a:ext cx="2733675"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altLang="en-US" sz="2700" dirty="0">
                <a:latin typeface="Graphik-Black"/>
              </a:rPr>
              <a:t>2018 Cost of Cyber Crime Study by Accenture*</a:t>
            </a:r>
            <a:endParaRPr lang="en-US" altLang="en-US" sz="2700" dirty="0"/>
          </a:p>
        </p:txBody>
      </p:sp>
      <p:pic>
        <p:nvPicPr>
          <p:cNvPr id="3" name="Picture 2"/>
          <p:cNvPicPr>
            <a:picLocks noChangeAspect="1"/>
          </p:cNvPicPr>
          <p:nvPr/>
        </p:nvPicPr>
        <p:blipFill>
          <a:blip r:embed="rId3"/>
          <a:stretch>
            <a:fillRect/>
          </a:stretch>
        </p:blipFill>
        <p:spPr>
          <a:xfrm>
            <a:off x="3429001" y="1600200"/>
            <a:ext cx="8129588" cy="6200775"/>
          </a:xfrm>
          <a:prstGeom prst="rect">
            <a:avLst/>
          </a:prstGeom>
        </p:spPr>
      </p:pic>
      <p:pic>
        <p:nvPicPr>
          <p:cNvPr id="4" name="Picture 3"/>
          <p:cNvPicPr>
            <a:picLocks noChangeAspect="1"/>
          </p:cNvPicPr>
          <p:nvPr/>
        </p:nvPicPr>
        <p:blipFill>
          <a:blip r:embed="rId4"/>
          <a:stretch>
            <a:fillRect/>
          </a:stretch>
        </p:blipFill>
        <p:spPr>
          <a:xfrm>
            <a:off x="11772900" y="7315200"/>
            <a:ext cx="3477357" cy="800100"/>
          </a:xfrm>
          <a:prstGeom prst="rect">
            <a:avLst/>
          </a:prstGeom>
        </p:spPr>
      </p:pic>
      <p:sp>
        <p:nvSpPr>
          <p:cNvPr id="13" name="Rectangle 12"/>
          <p:cNvSpPr/>
          <p:nvPr/>
        </p:nvSpPr>
        <p:spPr>
          <a:xfrm>
            <a:off x="3543300" y="8572500"/>
            <a:ext cx="6858000" cy="923330"/>
          </a:xfrm>
          <a:prstGeom prst="rect">
            <a:avLst/>
          </a:prstGeom>
        </p:spPr>
        <p:txBody>
          <a:bodyPr>
            <a:spAutoFit/>
          </a:bodyPr>
          <a:lstStyle/>
          <a:p>
            <a:r>
              <a:rPr lang="en-GB" sz="2700" dirty="0">
                <a:hlinkClick r:id="rId5"/>
              </a:rPr>
              <a:t>https://www.accenture.com/us-en/insights/security/cost-cybercrime-study</a:t>
            </a:r>
            <a:endParaRPr lang="en-GB" sz="2700" dirty="0"/>
          </a:p>
        </p:txBody>
      </p:sp>
    </p:spTree>
    <p:extLst>
      <p:ext uri="{BB962C8B-B14F-4D97-AF65-F5344CB8AC3E}">
        <p14:creationId xmlns:p14="http://schemas.microsoft.com/office/powerpoint/2010/main" val="5044003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6F3A5-0D7D-DAEE-3F18-C5AC78D3C07C}"/>
              </a:ext>
            </a:extLst>
          </p:cNvPr>
          <p:cNvSpPr>
            <a:spLocks noGrp="1"/>
          </p:cNvSpPr>
          <p:nvPr>
            <p:ph type="title"/>
          </p:nvPr>
        </p:nvSpPr>
        <p:spPr>
          <a:xfrm>
            <a:off x="1560512" y="4561914"/>
            <a:ext cx="15166976" cy="1163171"/>
          </a:xfrm>
        </p:spPr>
        <p:txBody>
          <a:bodyPr>
            <a:normAutofit/>
          </a:bodyPr>
          <a:lstStyle/>
          <a:p>
            <a:r>
              <a:rPr lang="en-US" sz="6000" dirty="0">
                <a:solidFill>
                  <a:schemeClr val="accent2">
                    <a:lumMod val="75000"/>
                  </a:schemeClr>
                </a:solidFill>
              </a:rPr>
              <a:t>Computer Security</a:t>
            </a:r>
          </a:p>
        </p:txBody>
      </p:sp>
    </p:spTree>
    <p:extLst>
      <p:ext uri="{BB962C8B-B14F-4D97-AF65-F5344CB8AC3E}">
        <p14:creationId xmlns:p14="http://schemas.microsoft.com/office/powerpoint/2010/main" val="30228482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6F53E-0661-93E4-A9AD-E498CC2204D1}"/>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BD555EC1-5A88-6772-08B6-9E8B2D38876E}"/>
              </a:ext>
            </a:extLst>
          </p:cNvPr>
          <p:cNvSpPr>
            <a:spLocks noGrp="1"/>
          </p:cNvSpPr>
          <p:nvPr>
            <p:ph type="title"/>
          </p:nvPr>
        </p:nvSpPr>
        <p:spPr>
          <a:xfrm>
            <a:off x="2971800" y="342900"/>
            <a:ext cx="12344400" cy="1714500"/>
          </a:xfrm>
        </p:spPr>
        <p:txBody>
          <a:bodyPr/>
          <a:lstStyle/>
          <a:p>
            <a:pPr>
              <a:defRPr/>
            </a:pPr>
            <a:r>
              <a:rPr lang="en-US" dirty="0"/>
              <a:t>Computer Security </a:t>
            </a:r>
            <a:endParaRPr lang="zh-TW" altLang="en-US" dirty="0"/>
          </a:p>
        </p:txBody>
      </p:sp>
      <p:sp>
        <p:nvSpPr>
          <p:cNvPr id="5" name="Rectangle 4">
            <a:extLst>
              <a:ext uri="{FF2B5EF4-FFF2-40B4-BE49-F238E27FC236}">
                <a16:creationId xmlns:a16="http://schemas.microsoft.com/office/drawing/2014/main" id="{5D609094-3B1B-EEF5-FF8B-4C9D2322F747}"/>
              </a:ext>
            </a:extLst>
          </p:cNvPr>
          <p:cNvSpPr/>
          <p:nvPr/>
        </p:nvSpPr>
        <p:spPr>
          <a:xfrm>
            <a:off x="2286000" y="2281178"/>
            <a:ext cx="14782800" cy="3185487"/>
          </a:xfrm>
          <a:prstGeom prst="rect">
            <a:avLst/>
          </a:prstGeom>
        </p:spPr>
        <p:txBody>
          <a:bodyPr wrap="square">
            <a:spAutoFit/>
          </a:bodyPr>
          <a:lstStyle/>
          <a:p>
            <a:pPr marL="423863" indent="-423863">
              <a:spcBef>
                <a:spcPts val="3000"/>
              </a:spcBef>
              <a:buFont typeface="Calisto MT" pitchFamily="18" charset="0"/>
              <a:buChar char="•"/>
              <a:defRPr/>
            </a:pPr>
            <a:r>
              <a:rPr lang="en-US" sz="4200" b="1" dirty="0">
                <a:solidFill>
                  <a:srgbClr val="0000CC"/>
                </a:solidFill>
                <a:effectLst>
                  <a:outerShdw blurRad="63500" dir="2700000" algn="tl" rotWithShape="0">
                    <a:prstClr val="white">
                      <a:alpha val="40000"/>
                    </a:prstClr>
                  </a:outerShdw>
                </a:effectLst>
                <a:latin typeface="Arial Unicode MS" pitchFamily="34" charset="-128"/>
                <a:ea typeface="Arial Unicode MS" pitchFamily="34" charset="-128"/>
                <a:cs typeface="Arial Unicode MS" pitchFamily="34" charset="-128"/>
              </a:rPr>
              <a:t>Computer security</a:t>
            </a:r>
          </a:p>
          <a:p>
            <a:pPr marL="866775" lvl="1" indent="-442913" algn="just">
              <a:spcBef>
                <a:spcPts val="900"/>
              </a:spcBef>
              <a:buClr>
                <a:srgbClr val="921F07"/>
              </a:buClr>
              <a:buFont typeface="Calisto MT" pitchFamily="18" charset="0"/>
              <a:buChar char="•"/>
              <a:defRPr/>
            </a:pPr>
            <a:r>
              <a:rPr lang="en-US" sz="3600" dirty="0">
                <a:highlight>
                  <a:srgbClr val="FFFF00"/>
                </a:highlight>
              </a:rPr>
              <a:t>Measures</a:t>
            </a:r>
            <a:r>
              <a:rPr lang="en-US" sz="3600" dirty="0"/>
              <a:t> and </a:t>
            </a:r>
            <a:r>
              <a:rPr lang="en-US" sz="3600" dirty="0">
                <a:highlight>
                  <a:srgbClr val="FFFF00"/>
                </a:highlight>
              </a:rPr>
              <a:t>controls</a:t>
            </a:r>
            <a:r>
              <a:rPr lang="en-US" sz="3600" dirty="0"/>
              <a:t> that ensure </a:t>
            </a:r>
            <a:r>
              <a:rPr lang="en-US" sz="3600" dirty="0">
                <a:solidFill>
                  <a:srgbClr val="FF0000"/>
                </a:solidFill>
              </a:rPr>
              <a:t>confidentiality, integrity, and availability</a:t>
            </a:r>
            <a:r>
              <a:rPr lang="en-US" sz="3600" dirty="0"/>
              <a:t> of information system assets including hardware, software, firm ware, and information being processed, stored, and communicated. </a:t>
            </a:r>
          </a:p>
          <a:p>
            <a:pPr marL="423862" lvl="1" algn="just">
              <a:spcBef>
                <a:spcPts val="900"/>
              </a:spcBef>
              <a:buClr>
                <a:srgbClr val="921F07"/>
              </a:buClr>
              <a:defRPr/>
            </a:pPr>
            <a:endParaRPr lang="en-US" sz="3600" b="1" dirty="0">
              <a:solidFill>
                <a:srgbClr val="0000CC"/>
              </a:solidFill>
              <a:effectLst>
                <a:outerShdw blurRad="63500" dir="2700000" algn="tl" rotWithShape="0">
                  <a:prstClr val="white">
                    <a:alpha val="40000"/>
                  </a:prstClr>
                </a:outerShdw>
              </a:effectLst>
              <a:latin typeface="Arial Unicode MS" pitchFamily="34" charset="-128"/>
              <a:ea typeface="Arial Unicode MS" pitchFamily="34" charset="-128"/>
              <a:cs typeface="Arial Unicode MS" pitchFamily="34" charset="-128"/>
            </a:endParaRPr>
          </a:p>
        </p:txBody>
      </p:sp>
      <p:sp>
        <p:nvSpPr>
          <p:cNvPr id="4" name="TextBox 3">
            <a:extLst>
              <a:ext uri="{FF2B5EF4-FFF2-40B4-BE49-F238E27FC236}">
                <a16:creationId xmlns:a16="http://schemas.microsoft.com/office/drawing/2014/main" id="{E239B53C-8AF2-30E7-8E00-8CA69274FBBD}"/>
              </a:ext>
            </a:extLst>
          </p:cNvPr>
          <p:cNvSpPr txBox="1"/>
          <p:nvPr/>
        </p:nvSpPr>
        <p:spPr>
          <a:xfrm>
            <a:off x="8839200" y="7896134"/>
            <a:ext cx="9144000" cy="1200329"/>
          </a:xfrm>
          <a:prstGeom prst="rect">
            <a:avLst/>
          </a:prstGeom>
          <a:noFill/>
        </p:spPr>
        <p:txBody>
          <a:bodyPr wrap="square">
            <a:spAutoFit/>
          </a:bodyPr>
          <a:lstStyle/>
          <a:p>
            <a:r>
              <a:rPr lang="en-US" sz="2400" dirty="0"/>
              <a:t>The NIST Internal/Interagency Report NISTIR 7298 (Glossary of Key Information Security Terms, May 2013) defines the term computer security as follows</a:t>
            </a:r>
          </a:p>
        </p:txBody>
      </p:sp>
      <p:pic>
        <p:nvPicPr>
          <p:cNvPr id="1026" name="Picture 2" descr="National Institute of Standards and Technology - NIST">
            <a:extLst>
              <a:ext uri="{FF2B5EF4-FFF2-40B4-BE49-F238E27FC236}">
                <a16:creationId xmlns:a16="http://schemas.microsoft.com/office/drawing/2014/main" id="{F54FE265-C89F-B7E6-891A-11CF1F8434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5200" y="7558087"/>
            <a:ext cx="4572000" cy="1876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46570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3429000" y="228600"/>
            <a:ext cx="11375232" cy="914400"/>
          </a:xfrm>
        </p:spPr>
        <p:txBody>
          <a:bodyPr/>
          <a:lstStyle/>
          <a:p>
            <a:pPr>
              <a:defRPr/>
            </a:pPr>
            <a:r>
              <a:rPr lang="en-US" sz="4800" dirty="0">
                <a:solidFill>
                  <a:srgbClr val="C00000"/>
                </a:solidFill>
              </a:rPr>
              <a:t>Computer Security Objectives</a:t>
            </a:r>
          </a:p>
        </p:txBody>
      </p:sp>
      <p:graphicFrame>
        <p:nvGraphicFramePr>
          <p:cNvPr id="5" name="Content Placeholder 4"/>
          <p:cNvGraphicFramePr>
            <a:graphicFrameLocks noGrp="1"/>
          </p:cNvGraphicFramePr>
          <p:nvPr>
            <p:ph idx="4294967295"/>
            <p:extLst>
              <p:ext uri="{D42A27DB-BD31-4B8C-83A1-F6EECF244321}">
                <p14:modId xmlns:p14="http://schemas.microsoft.com/office/powerpoint/2010/main" val="2933859104"/>
              </p:ext>
            </p:extLst>
          </p:nvPr>
        </p:nvGraphicFramePr>
        <p:xfrm>
          <a:off x="2857500" y="1485900"/>
          <a:ext cx="12687300" cy="8001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56384" y="650640"/>
            <a:ext cx="11375232" cy="1162050"/>
          </a:xfrm>
        </p:spPr>
        <p:txBody>
          <a:bodyPr/>
          <a:lstStyle/>
          <a:p>
            <a:pPr eaLnBrk="1" hangingPunct="1">
              <a:defRPr/>
            </a:pPr>
            <a:endParaRPr lang="en-US" dirty="0"/>
          </a:p>
        </p:txBody>
      </p:sp>
      <p:grpSp>
        <p:nvGrpSpPr>
          <p:cNvPr id="3" name="Group 2"/>
          <p:cNvGrpSpPr>
            <a:grpSpLocks/>
          </p:cNvGrpSpPr>
          <p:nvPr/>
        </p:nvGrpSpPr>
        <p:grpSpPr bwMode="auto">
          <a:xfrm>
            <a:off x="2743200" y="3200400"/>
            <a:ext cx="12687300" cy="5486400"/>
            <a:chOff x="0" y="2438400"/>
            <a:chExt cx="8839200" cy="2154600"/>
          </a:xfrm>
        </p:grpSpPr>
        <p:sp>
          <p:nvSpPr>
            <p:cNvPr id="4" name="Rectangle 3"/>
            <p:cNvSpPr/>
            <p:nvPr/>
          </p:nvSpPr>
          <p:spPr>
            <a:xfrm>
              <a:off x="0" y="2438400"/>
              <a:ext cx="8839200" cy="2154600"/>
            </a:xfrm>
            <a:prstGeom prst="rect">
              <a:avLst/>
            </a:prstGeom>
          </p:spPr>
          <p:style>
            <a:lnRef idx="1">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5" name="Rectangle 4"/>
            <p:cNvSpPr/>
            <p:nvPr/>
          </p:nvSpPr>
          <p:spPr>
            <a:xfrm>
              <a:off x="0" y="2438400"/>
              <a:ext cx="8610257" cy="2097556"/>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lIns="1029030" tIns="187452" rIns="1029030" bIns="192024"/>
            <a:lstStyle/>
            <a:p>
              <a:pPr marL="257175" lvl="1" indent="-257175" algn="just" defTabSz="1200150">
                <a:lnSpc>
                  <a:spcPct val="90000"/>
                </a:lnSpc>
                <a:spcAft>
                  <a:spcPct val="15000"/>
                </a:spcAft>
                <a:buFontTx/>
                <a:buChar char="•"/>
                <a:defRPr/>
              </a:pPr>
              <a:r>
                <a:rPr lang="en-US" sz="3600" b="1" dirty="0">
                  <a:solidFill>
                    <a:srgbClr val="1C1C10"/>
                  </a:solidFill>
                  <a:cs typeface="Arial" pitchFamily="34" charset="0"/>
                </a:rPr>
                <a:t>Data integrity</a:t>
              </a:r>
            </a:p>
            <a:p>
              <a:pPr marL="514350" lvl="2" indent="-257175" algn="just" defTabSz="1200150">
                <a:lnSpc>
                  <a:spcPct val="90000"/>
                </a:lnSpc>
                <a:spcAft>
                  <a:spcPct val="15000"/>
                </a:spcAft>
                <a:buFontTx/>
                <a:buChar char="•"/>
                <a:defRPr/>
              </a:pPr>
              <a:r>
                <a:rPr lang="en-US" sz="3600" dirty="0">
                  <a:solidFill>
                    <a:srgbClr val="921F07"/>
                  </a:solidFill>
                  <a:cs typeface="Arial" pitchFamily="34" charset="0"/>
                </a:rPr>
                <a:t>Assures that information and programs are </a:t>
              </a:r>
              <a:r>
                <a:rPr lang="en-US" sz="3600" dirty="0">
                  <a:solidFill>
                    <a:srgbClr val="0099FF"/>
                  </a:solidFill>
                  <a:cs typeface="Arial" pitchFamily="34" charset="0"/>
                </a:rPr>
                <a:t>changed </a:t>
              </a:r>
              <a:r>
                <a:rPr lang="en-US" sz="3600" dirty="0">
                  <a:solidFill>
                    <a:srgbClr val="921F07"/>
                  </a:solidFill>
                  <a:cs typeface="Arial" pitchFamily="34" charset="0"/>
                </a:rPr>
                <a:t>only in a specified and </a:t>
              </a:r>
              <a:r>
                <a:rPr lang="en-US" sz="3600" dirty="0">
                  <a:solidFill>
                    <a:srgbClr val="00B0F0"/>
                  </a:solidFill>
                  <a:cs typeface="Arial" pitchFamily="34" charset="0"/>
                </a:rPr>
                <a:t>authorized manner</a:t>
              </a:r>
            </a:p>
            <a:p>
              <a:pPr marL="257175" lvl="1" indent="-257175" algn="just" defTabSz="1200150">
                <a:lnSpc>
                  <a:spcPct val="90000"/>
                </a:lnSpc>
                <a:spcAft>
                  <a:spcPct val="15000"/>
                </a:spcAft>
                <a:buFontTx/>
                <a:buChar char="•"/>
                <a:defRPr/>
              </a:pPr>
              <a:r>
                <a:rPr lang="en-US" sz="3600" b="1" dirty="0">
                  <a:solidFill>
                    <a:srgbClr val="1C1C10"/>
                  </a:solidFill>
                  <a:cs typeface="Arial" pitchFamily="34" charset="0"/>
                </a:rPr>
                <a:t>System integrity</a:t>
              </a:r>
            </a:p>
            <a:p>
              <a:pPr marL="514350" lvl="2" indent="-257175" algn="just" defTabSz="1200150">
                <a:lnSpc>
                  <a:spcPct val="90000"/>
                </a:lnSpc>
                <a:spcAft>
                  <a:spcPct val="15000"/>
                </a:spcAft>
                <a:buFontTx/>
                <a:buChar char="•"/>
                <a:defRPr/>
              </a:pPr>
              <a:r>
                <a:rPr lang="en-US" sz="3600" dirty="0">
                  <a:solidFill>
                    <a:srgbClr val="921F07"/>
                  </a:solidFill>
                  <a:cs typeface="Arial" pitchFamily="34" charset="0"/>
                </a:rPr>
                <a:t>Assures that a </a:t>
              </a:r>
              <a:r>
                <a:rPr lang="en-US" sz="3600" dirty="0">
                  <a:solidFill>
                    <a:srgbClr val="0099FF"/>
                  </a:solidFill>
                  <a:cs typeface="Arial" pitchFamily="34" charset="0"/>
                </a:rPr>
                <a:t>system performs </a:t>
              </a:r>
              <a:r>
                <a:rPr lang="en-US" sz="3600" dirty="0">
                  <a:solidFill>
                    <a:srgbClr val="921F07"/>
                  </a:solidFill>
                  <a:cs typeface="Arial" pitchFamily="34" charset="0"/>
                </a:rPr>
                <a:t>its intended function in an </a:t>
              </a:r>
              <a:r>
                <a:rPr lang="en-US" sz="3600" dirty="0">
                  <a:solidFill>
                    <a:srgbClr val="00B0F0"/>
                  </a:solidFill>
                  <a:cs typeface="Arial" pitchFamily="34" charset="0"/>
                </a:rPr>
                <a:t>unimpaired manner</a:t>
              </a:r>
              <a:r>
                <a:rPr lang="en-US" sz="3600" dirty="0">
                  <a:solidFill>
                    <a:srgbClr val="921F07"/>
                  </a:solidFill>
                  <a:cs typeface="Arial" pitchFamily="34" charset="0"/>
                </a:rPr>
                <a:t>, free from deliberate or inadvertent unauthorized manipulation of the system</a:t>
              </a:r>
            </a:p>
          </p:txBody>
        </p:sp>
      </p:grpSp>
      <p:grpSp>
        <p:nvGrpSpPr>
          <p:cNvPr id="6" name="Group 5"/>
          <p:cNvGrpSpPr>
            <a:grpSpLocks/>
          </p:cNvGrpSpPr>
          <p:nvPr/>
        </p:nvGrpSpPr>
        <p:grpSpPr bwMode="auto">
          <a:xfrm>
            <a:off x="2743201" y="2171701"/>
            <a:ext cx="4252913" cy="1083470"/>
            <a:chOff x="441960" y="2716380"/>
            <a:chExt cx="2834651" cy="721950"/>
          </a:xfrm>
        </p:grpSpPr>
        <p:sp>
          <p:nvSpPr>
            <p:cNvPr id="7" name="Rounded Rectangle 6"/>
            <p:cNvSpPr/>
            <p:nvPr/>
          </p:nvSpPr>
          <p:spPr>
            <a:xfrm>
              <a:off x="441960" y="2716380"/>
              <a:ext cx="2834651" cy="721950"/>
            </a:xfrm>
            <a:prstGeom prst="roundRect">
              <a:avLst/>
            </a:pr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8" name="Rounded Rectangle 4"/>
            <p:cNvSpPr/>
            <p:nvPr/>
          </p:nvSpPr>
          <p:spPr>
            <a:xfrm>
              <a:off x="476877" y="2751287"/>
              <a:ext cx="2764816" cy="652135"/>
            </a:xfrm>
            <a:prstGeom prst="rect">
              <a:avLst/>
            </a:prstGeom>
          </p:spPr>
          <p:style>
            <a:lnRef idx="0">
              <a:scrgbClr r="0" g="0" b="0"/>
            </a:lnRef>
            <a:fillRef idx="0">
              <a:scrgbClr r="0" g="0" b="0"/>
            </a:fillRef>
            <a:effectRef idx="0">
              <a:scrgbClr r="0" g="0" b="0"/>
            </a:effectRef>
            <a:fontRef idx="minor">
              <a:schemeClr val="lt1"/>
            </a:fontRef>
          </p:style>
          <p:txBody>
            <a:bodyPr lIns="350807" tIns="0" rIns="350807" bIns="0" spcCol="1270" anchor="ctr"/>
            <a:lstStyle/>
            <a:p>
              <a:pPr algn="ctr" defTabSz="1600200">
                <a:lnSpc>
                  <a:spcPct val="90000"/>
                </a:lnSpc>
                <a:spcAft>
                  <a:spcPct val="35000"/>
                </a:spcAft>
                <a:defRPr/>
              </a:pPr>
              <a:r>
                <a:rPr lang="en-US" sz="3600" dirty="0">
                  <a:solidFill>
                    <a:srgbClr val="FFFF00"/>
                  </a:solidFill>
                  <a:effectLst>
                    <a:outerShdw blurRad="38100" dist="38100" dir="2700000" algn="tl">
                      <a:srgbClr val="000000">
                        <a:alpha val="43137"/>
                      </a:srgbClr>
                    </a:outerShdw>
                  </a:effectLst>
                </a:rPr>
                <a:t>Integrity</a:t>
              </a: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idx="4294967295"/>
          </p:nvPr>
        </p:nvSpPr>
        <p:spPr>
          <a:xfrm>
            <a:off x="3455195" y="95250"/>
            <a:ext cx="11375231" cy="1924050"/>
          </a:xfrm>
          <a:prstGeom prst="rect">
            <a:avLst/>
          </a:prstGeom>
        </p:spPr>
        <p:txBody>
          <a:bodyPr/>
          <a:lstStyle/>
          <a:p>
            <a:pPr>
              <a:defRPr/>
            </a:pPr>
            <a:r>
              <a:rPr lang="en-US" dirty="0"/>
              <a:t>CIA Triad</a:t>
            </a:r>
          </a:p>
        </p:txBody>
      </p:sp>
      <p:pic>
        <p:nvPicPr>
          <p:cNvPr id="23555" name="Picture 11" descr="f1.pdf"/>
          <p:cNvPicPr>
            <a:picLocks noChangeAspect="1"/>
          </p:cNvPicPr>
          <p:nvPr/>
        </p:nvPicPr>
        <p:blipFill>
          <a:blip r:embed="rId3" cstate="print"/>
          <a:srcRect t="13635" b="24545"/>
          <a:stretch>
            <a:fillRect/>
          </a:stretch>
        </p:blipFill>
        <p:spPr bwMode="auto">
          <a:xfrm>
            <a:off x="4572001" y="1257301"/>
            <a:ext cx="8662988" cy="6931820"/>
          </a:xfrm>
          <a:prstGeom prst="rect">
            <a:avLst/>
          </a:prstGeom>
          <a:noFill/>
          <a:ln w="9525">
            <a:noFill/>
            <a:miter lim="800000"/>
            <a:headEnd/>
            <a:tailEnd/>
          </a:ln>
        </p:spPr>
      </p:pic>
      <p:sp>
        <p:nvSpPr>
          <p:cNvPr id="23556" name="Rectangle 3"/>
          <p:cNvSpPr>
            <a:spLocks noChangeArrowheads="1"/>
          </p:cNvSpPr>
          <p:nvPr/>
        </p:nvSpPr>
        <p:spPr bwMode="auto">
          <a:xfrm>
            <a:off x="5372100" y="8572501"/>
            <a:ext cx="6972300" cy="646331"/>
          </a:xfrm>
          <a:prstGeom prst="rect">
            <a:avLst/>
          </a:prstGeom>
          <a:noFill/>
          <a:ln w="9525">
            <a:noFill/>
            <a:miter lim="800000"/>
            <a:headEnd/>
            <a:tailEnd/>
          </a:ln>
        </p:spPr>
        <p:txBody>
          <a:bodyPr>
            <a:spAutoFit/>
          </a:bodyPr>
          <a:lstStyle/>
          <a:p>
            <a:r>
              <a:rPr lang="en-US" sz="3600">
                <a:solidFill>
                  <a:srgbClr val="FF0000"/>
                </a:solidFill>
              </a:rPr>
              <a:t>The Security Requirements Triad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1"/>
          <p:cNvSpPr>
            <a:spLocks noGrp="1" noChangeArrowheads="1"/>
          </p:cNvSpPr>
          <p:nvPr>
            <p:ph type="title"/>
          </p:nvPr>
        </p:nvSpPr>
        <p:spPr/>
        <p:txBody>
          <a:bodyPr/>
          <a:lstStyle/>
          <a:p>
            <a:r>
              <a:rPr lang="en-GB" altLang="en-US" dirty="0"/>
              <a:t>NSTISSC Security Model</a:t>
            </a:r>
          </a:p>
        </p:txBody>
      </p:sp>
      <p:sp>
        <p:nvSpPr>
          <p:cNvPr id="5325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lgn="just">
              <a:lnSpc>
                <a:spcPct val="93000"/>
              </a:lnSpc>
              <a:spcBef>
                <a:spcPts val="900"/>
              </a:spcBef>
              <a:buClr>
                <a:srgbClr val="003366"/>
              </a:buClr>
              <a:buSzPct val="100000"/>
              <a:buFont typeface="Wingdings" panose="05000000000000000000" pitchFamily="2" charset="2"/>
              <a:buChar char=""/>
              <a:tabLst>
                <a:tab pos="0" algn="l"/>
                <a:tab pos="1028700" algn="l"/>
                <a:tab pos="2057400" algn="l"/>
                <a:tab pos="3086100" algn="l"/>
                <a:tab pos="4114800" algn="l"/>
                <a:tab pos="5143500" algn="l"/>
                <a:tab pos="6172200" algn="l"/>
                <a:tab pos="7200900" algn="l"/>
                <a:tab pos="8229600" algn="l"/>
                <a:tab pos="9258300" algn="l"/>
                <a:tab pos="10287000" algn="l"/>
                <a:tab pos="11315700" algn="l"/>
              </a:tabLst>
              <a:defRPr sz="4200">
                <a:solidFill>
                  <a:srgbClr val="000000"/>
                </a:solidFill>
                <a:latin typeface="Arial Narrow" panose="020B0606020202030204" pitchFamily="34" charset="0"/>
                <a:cs typeface="Lucida Sans Unicode" panose="020B0602030504020204" pitchFamily="34" charset="0"/>
              </a:defRPr>
            </a:lvl1pPr>
            <a:lvl2pPr marL="835820" indent="-321470" algn="just">
              <a:lnSpc>
                <a:spcPct val="93000"/>
              </a:lnSpc>
              <a:spcBef>
                <a:spcPts val="788"/>
              </a:spcBef>
              <a:buClr>
                <a:srgbClr val="003366"/>
              </a:buClr>
              <a:buSzPct val="100000"/>
              <a:buFont typeface="Wingdings" panose="05000000000000000000" pitchFamily="2" charset="2"/>
              <a:buChar char=""/>
              <a:tabLst>
                <a:tab pos="0" algn="l"/>
                <a:tab pos="1028700" algn="l"/>
                <a:tab pos="2057400" algn="l"/>
                <a:tab pos="3086100" algn="l"/>
                <a:tab pos="4114800" algn="l"/>
                <a:tab pos="5143500" algn="l"/>
                <a:tab pos="6172200" algn="l"/>
                <a:tab pos="7200900" algn="l"/>
                <a:tab pos="8229600" algn="l"/>
                <a:tab pos="9258300" algn="l"/>
                <a:tab pos="10287000" algn="l"/>
                <a:tab pos="11315700" algn="l"/>
              </a:tabLst>
              <a:defRPr sz="3600">
                <a:solidFill>
                  <a:srgbClr val="000000"/>
                </a:solidFill>
                <a:latin typeface="Arial Narrow" panose="020B0606020202030204" pitchFamily="34" charset="0"/>
                <a:cs typeface="Lucida Sans Unicode" panose="020B0602030504020204" pitchFamily="34" charset="0"/>
              </a:defRPr>
            </a:lvl2pPr>
            <a:lvl3pPr marL="1285875" indent="-257175" algn="just">
              <a:lnSpc>
                <a:spcPct val="93000"/>
              </a:lnSpc>
              <a:spcBef>
                <a:spcPts val="675"/>
              </a:spcBef>
              <a:buClr>
                <a:srgbClr val="003366"/>
              </a:buClr>
              <a:buSzPct val="100000"/>
              <a:buFont typeface="Wingdings" panose="05000000000000000000" pitchFamily="2" charset="2"/>
              <a:buChar char=""/>
              <a:tabLst>
                <a:tab pos="0" algn="l"/>
                <a:tab pos="1028700" algn="l"/>
                <a:tab pos="2057400" algn="l"/>
                <a:tab pos="3086100" algn="l"/>
                <a:tab pos="4114800" algn="l"/>
                <a:tab pos="5143500" algn="l"/>
                <a:tab pos="6172200" algn="l"/>
                <a:tab pos="7200900" algn="l"/>
                <a:tab pos="8229600" algn="l"/>
                <a:tab pos="9258300" algn="l"/>
                <a:tab pos="10287000" algn="l"/>
                <a:tab pos="11315700" algn="l"/>
              </a:tabLst>
              <a:defRPr sz="3600">
                <a:solidFill>
                  <a:srgbClr val="000000"/>
                </a:solidFill>
                <a:latin typeface="Arial Narrow" panose="020B0606020202030204" pitchFamily="34" charset="0"/>
                <a:cs typeface="Lucida Sans Unicode" panose="020B0602030504020204" pitchFamily="34" charset="0"/>
              </a:defRPr>
            </a:lvl3pPr>
            <a:lvl4pPr marL="1800225" indent="-257175" algn="just">
              <a:lnSpc>
                <a:spcPct val="93000"/>
              </a:lnSpc>
              <a:spcBef>
                <a:spcPts val="563"/>
              </a:spcBef>
              <a:buClr>
                <a:srgbClr val="003366"/>
              </a:buClr>
              <a:buSzPct val="100000"/>
              <a:buFont typeface="Wingdings" panose="05000000000000000000" pitchFamily="2" charset="2"/>
              <a:buChar char=""/>
              <a:tabLst>
                <a:tab pos="0" algn="l"/>
                <a:tab pos="1028700" algn="l"/>
                <a:tab pos="2057400" algn="l"/>
                <a:tab pos="3086100" algn="l"/>
                <a:tab pos="4114800" algn="l"/>
                <a:tab pos="5143500" algn="l"/>
                <a:tab pos="6172200" algn="l"/>
                <a:tab pos="7200900" algn="l"/>
                <a:tab pos="8229600" algn="l"/>
                <a:tab pos="9258300" algn="l"/>
                <a:tab pos="10287000" algn="l"/>
                <a:tab pos="11315700" algn="l"/>
              </a:tabLst>
              <a:defRPr sz="3600">
                <a:solidFill>
                  <a:srgbClr val="000000"/>
                </a:solidFill>
                <a:latin typeface="Arial Narrow" panose="020B0606020202030204" pitchFamily="34" charset="0"/>
                <a:cs typeface="Lucida Sans Unicode" panose="020B0602030504020204" pitchFamily="34" charset="0"/>
              </a:defRPr>
            </a:lvl4pPr>
            <a:lvl5pPr marL="2314575" indent="-257175">
              <a:lnSpc>
                <a:spcPct val="95000"/>
              </a:lnSpc>
              <a:spcBef>
                <a:spcPts val="563"/>
              </a:spcBef>
              <a:buClr>
                <a:srgbClr val="003366"/>
              </a:buClr>
              <a:buSzPct val="100000"/>
              <a:buFont typeface="Times New Roman" panose="02020603050405020304" pitchFamily="18" charset="0"/>
              <a:buChar char="•"/>
              <a:tabLst>
                <a:tab pos="0" algn="l"/>
                <a:tab pos="1028700" algn="l"/>
                <a:tab pos="2057400" algn="l"/>
                <a:tab pos="3086100" algn="l"/>
                <a:tab pos="4114800" algn="l"/>
                <a:tab pos="5143500" algn="l"/>
                <a:tab pos="6172200" algn="l"/>
                <a:tab pos="7200900" algn="l"/>
                <a:tab pos="8229600" algn="l"/>
                <a:tab pos="9258300" algn="l"/>
                <a:tab pos="10287000" algn="l"/>
                <a:tab pos="11315700" algn="l"/>
              </a:tabLst>
              <a:defRPr sz="2250">
                <a:solidFill>
                  <a:srgbClr val="FFFFCC"/>
                </a:solidFill>
                <a:latin typeface="Times New Roman" panose="02020603050405020304" pitchFamily="18" charset="0"/>
                <a:cs typeface="Lucida Sans Unicode" panose="020B0602030504020204" pitchFamily="34" charset="0"/>
              </a:defRPr>
            </a:lvl5pPr>
            <a:lvl6pPr marL="3000375" indent="-257175" defTabSz="685800" eaLnBrk="0" fontAlgn="base" hangingPunct="0">
              <a:lnSpc>
                <a:spcPct val="95000"/>
              </a:lnSpc>
              <a:spcBef>
                <a:spcPts val="563"/>
              </a:spcBef>
              <a:spcAft>
                <a:spcPct val="0"/>
              </a:spcAft>
              <a:buClr>
                <a:srgbClr val="003366"/>
              </a:buClr>
              <a:buSzPct val="100000"/>
              <a:buFont typeface="Times New Roman" panose="02020603050405020304" pitchFamily="18" charset="0"/>
              <a:buChar char="•"/>
              <a:tabLst>
                <a:tab pos="0" algn="l"/>
                <a:tab pos="1028700" algn="l"/>
                <a:tab pos="2057400" algn="l"/>
                <a:tab pos="3086100" algn="l"/>
                <a:tab pos="4114800" algn="l"/>
                <a:tab pos="5143500" algn="l"/>
                <a:tab pos="6172200" algn="l"/>
                <a:tab pos="7200900" algn="l"/>
                <a:tab pos="8229600" algn="l"/>
                <a:tab pos="9258300" algn="l"/>
                <a:tab pos="10287000" algn="l"/>
                <a:tab pos="11315700" algn="l"/>
              </a:tabLst>
              <a:defRPr sz="2250">
                <a:solidFill>
                  <a:srgbClr val="FFFFCC"/>
                </a:solidFill>
                <a:latin typeface="Times New Roman" panose="02020603050405020304" pitchFamily="18" charset="0"/>
                <a:cs typeface="Lucida Sans Unicode" panose="020B0602030504020204" pitchFamily="34" charset="0"/>
              </a:defRPr>
            </a:lvl6pPr>
            <a:lvl7pPr marL="3686175" indent="-257175" defTabSz="685800" eaLnBrk="0" fontAlgn="base" hangingPunct="0">
              <a:lnSpc>
                <a:spcPct val="95000"/>
              </a:lnSpc>
              <a:spcBef>
                <a:spcPts val="563"/>
              </a:spcBef>
              <a:spcAft>
                <a:spcPct val="0"/>
              </a:spcAft>
              <a:buClr>
                <a:srgbClr val="003366"/>
              </a:buClr>
              <a:buSzPct val="100000"/>
              <a:buFont typeface="Times New Roman" panose="02020603050405020304" pitchFamily="18" charset="0"/>
              <a:buChar char="•"/>
              <a:tabLst>
                <a:tab pos="0" algn="l"/>
                <a:tab pos="1028700" algn="l"/>
                <a:tab pos="2057400" algn="l"/>
                <a:tab pos="3086100" algn="l"/>
                <a:tab pos="4114800" algn="l"/>
                <a:tab pos="5143500" algn="l"/>
                <a:tab pos="6172200" algn="l"/>
                <a:tab pos="7200900" algn="l"/>
                <a:tab pos="8229600" algn="l"/>
                <a:tab pos="9258300" algn="l"/>
                <a:tab pos="10287000" algn="l"/>
                <a:tab pos="11315700" algn="l"/>
              </a:tabLst>
              <a:defRPr sz="2250">
                <a:solidFill>
                  <a:srgbClr val="FFFFCC"/>
                </a:solidFill>
                <a:latin typeface="Times New Roman" panose="02020603050405020304" pitchFamily="18" charset="0"/>
                <a:cs typeface="Lucida Sans Unicode" panose="020B0602030504020204" pitchFamily="34" charset="0"/>
              </a:defRPr>
            </a:lvl7pPr>
            <a:lvl8pPr marL="4371975" indent="-257175" defTabSz="685800" eaLnBrk="0" fontAlgn="base" hangingPunct="0">
              <a:lnSpc>
                <a:spcPct val="95000"/>
              </a:lnSpc>
              <a:spcBef>
                <a:spcPts val="563"/>
              </a:spcBef>
              <a:spcAft>
                <a:spcPct val="0"/>
              </a:spcAft>
              <a:buClr>
                <a:srgbClr val="003366"/>
              </a:buClr>
              <a:buSzPct val="100000"/>
              <a:buFont typeface="Times New Roman" panose="02020603050405020304" pitchFamily="18" charset="0"/>
              <a:buChar char="•"/>
              <a:tabLst>
                <a:tab pos="0" algn="l"/>
                <a:tab pos="1028700" algn="l"/>
                <a:tab pos="2057400" algn="l"/>
                <a:tab pos="3086100" algn="l"/>
                <a:tab pos="4114800" algn="l"/>
                <a:tab pos="5143500" algn="l"/>
                <a:tab pos="6172200" algn="l"/>
                <a:tab pos="7200900" algn="l"/>
                <a:tab pos="8229600" algn="l"/>
                <a:tab pos="9258300" algn="l"/>
                <a:tab pos="10287000" algn="l"/>
                <a:tab pos="11315700" algn="l"/>
              </a:tabLst>
              <a:defRPr sz="2250">
                <a:solidFill>
                  <a:srgbClr val="FFFFCC"/>
                </a:solidFill>
                <a:latin typeface="Times New Roman" panose="02020603050405020304" pitchFamily="18" charset="0"/>
                <a:cs typeface="Lucida Sans Unicode" panose="020B0602030504020204" pitchFamily="34" charset="0"/>
              </a:defRPr>
            </a:lvl8pPr>
            <a:lvl9pPr marL="5057775" indent="-257175" defTabSz="685800" eaLnBrk="0" fontAlgn="base" hangingPunct="0">
              <a:lnSpc>
                <a:spcPct val="95000"/>
              </a:lnSpc>
              <a:spcBef>
                <a:spcPts val="563"/>
              </a:spcBef>
              <a:spcAft>
                <a:spcPct val="0"/>
              </a:spcAft>
              <a:buClr>
                <a:srgbClr val="003366"/>
              </a:buClr>
              <a:buSzPct val="100000"/>
              <a:buFont typeface="Times New Roman" panose="02020603050405020304" pitchFamily="18" charset="0"/>
              <a:buChar char="•"/>
              <a:tabLst>
                <a:tab pos="0" algn="l"/>
                <a:tab pos="1028700" algn="l"/>
                <a:tab pos="2057400" algn="l"/>
                <a:tab pos="3086100" algn="l"/>
                <a:tab pos="4114800" algn="l"/>
                <a:tab pos="5143500" algn="l"/>
                <a:tab pos="6172200" algn="l"/>
                <a:tab pos="7200900" algn="l"/>
                <a:tab pos="8229600" algn="l"/>
                <a:tab pos="9258300" algn="l"/>
                <a:tab pos="10287000" algn="l"/>
                <a:tab pos="11315700" algn="l"/>
              </a:tabLst>
              <a:defRPr sz="2250">
                <a:solidFill>
                  <a:srgbClr val="FFFFCC"/>
                </a:solidFill>
                <a:latin typeface="Times New Roman" panose="02020603050405020304" pitchFamily="18" charset="0"/>
                <a:cs typeface="Lucida Sans Unicode" panose="020B0602030504020204" pitchFamily="34" charset="0"/>
              </a:defRPr>
            </a:lvl9pPr>
          </a:lstStyle>
          <a:p>
            <a:pPr algn="r">
              <a:buFont typeface="Wingdings" panose="05000000000000000000" pitchFamily="2" charset="2"/>
              <a:buNone/>
            </a:pPr>
            <a:fld id="{3BFCB37D-8324-4884-830A-CB1DEC752560}" type="slidenum">
              <a:rPr lang="en-GB" altLang="en-US" sz="3600"/>
              <a:pPr algn="r">
                <a:buFont typeface="Wingdings" panose="05000000000000000000" pitchFamily="2" charset="2"/>
                <a:buNone/>
              </a:pPr>
              <a:t>34</a:t>
            </a:fld>
            <a:endParaRPr lang="en-GB" altLang="en-US" sz="3600"/>
          </a:p>
        </p:txBody>
      </p:sp>
      <p:pic>
        <p:nvPicPr>
          <p:cNvPr id="2" name="Picture 1"/>
          <p:cNvPicPr>
            <a:picLocks noChangeAspect="1"/>
          </p:cNvPicPr>
          <p:nvPr/>
        </p:nvPicPr>
        <p:blipFill>
          <a:blip r:embed="rId3"/>
          <a:stretch>
            <a:fillRect/>
          </a:stretch>
        </p:blipFill>
        <p:spPr>
          <a:xfrm>
            <a:off x="3014663" y="2107406"/>
            <a:ext cx="12258675" cy="6072188"/>
          </a:xfrm>
          <a:prstGeom prst="rect">
            <a:avLst/>
          </a:prstGeom>
        </p:spPr>
      </p:pic>
      <p:sp>
        <p:nvSpPr>
          <p:cNvPr id="3" name="Rectangle 2"/>
          <p:cNvSpPr/>
          <p:nvPr/>
        </p:nvSpPr>
        <p:spPr>
          <a:xfrm>
            <a:off x="2857500" y="8229600"/>
            <a:ext cx="12458700" cy="923330"/>
          </a:xfrm>
          <a:prstGeom prst="rect">
            <a:avLst/>
          </a:prstGeom>
        </p:spPr>
        <p:txBody>
          <a:bodyPr wrap="square">
            <a:spAutoFit/>
          </a:bodyPr>
          <a:lstStyle/>
          <a:p>
            <a:r>
              <a:rPr lang="en-GB" sz="2700" dirty="0"/>
              <a:t>‘National Security Telecommunications &amp; Information systems security committee’ document.</a:t>
            </a:r>
          </a:p>
        </p:txBody>
      </p:sp>
      <p:sp>
        <p:nvSpPr>
          <p:cNvPr id="4" name="Rectangle 3"/>
          <p:cNvSpPr/>
          <p:nvPr/>
        </p:nvSpPr>
        <p:spPr>
          <a:xfrm>
            <a:off x="2743200" y="9258300"/>
            <a:ext cx="12115800" cy="507831"/>
          </a:xfrm>
          <a:prstGeom prst="rect">
            <a:avLst/>
          </a:prstGeom>
        </p:spPr>
        <p:txBody>
          <a:bodyPr wrap="square">
            <a:spAutoFit/>
          </a:bodyPr>
          <a:lstStyle/>
          <a:p>
            <a:r>
              <a:rPr lang="en-GB" sz="2700" dirty="0"/>
              <a:t>It is now called the National Training Standard for Information security professionals.</a:t>
            </a:r>
          </a:p>
        </p:txBody>
      </p:sp>
    </p:spTree>
    <p:extLst>
      <p:ext uri="{BB962C8B-B14F-4D97-AF65-F5344CB8AC3E}">
        <p14:creationId xmlns:p14="http://schemas.microsoft.com/office/powerpoint/2010/main" val="271684446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75E2C-6CD3-05E8-EB26-2EF2C43525B3}"/>
            </a:ext>
          </a:extLst>
        </p:cNvPr>
        <p:cNvGrpSpPr/>
        <p:nvPr/>
      </p:nvGrpSpPr>
      <p:grpSpPr>
        <a:xfrm>
          <a:off x="0" y="0"/>
          <a:ext cx="0" cy="0"/>
          <a:chOff x="0" y="0"/>
          <a:chExt cx="0" cy="0"/>
        </a:xfrm>
      </p:grpSpPr>
      <p:sp>
        <p:nvSpPr>
          <p:cNvPr id="53250" name="Rectangle 1">
            <a:extLst>
              <a:ext uri="{FF2B5EF4-FFF2-40B4-BE49-F238E27FC236}">
                <a16:creationId xmlns:a16="http://schemas.microsoft.com/office/drawing/2014/main" id="{3D565FD5-17F2-7853-FD37-9B5AD4D75CFD}"/>
              </a:ext>
            </a:extLst>
          </p:cNvPr>
          <p:cNvSpPr>
            <a:spLocks noGrp="1" noChangeArrowheads="1"/>
          </p:cNvSpPr>
          <p:nvPr>
            <p:ph type="title"/>
          </p:nvPr>
        </p:nvSpPr>
        <p:spPr/>
        <p:txBody>
          <a:bodyPr/>
          <a:lstStyle/>
          <a:p>
            <a:r>
              <a:rPr lang="en-GB" altLang="en-US" dirty="0">
                <a:solidFill>
                  <a:schemeClr val="accent6">
                    <a:lumMod val="75000"/>
                  </a:schemeClr>
                </a:solidFill>
              </a:rPr>
              <a:t>NSTISSC Security Model</a:t>
            </a:r>
          </a:p>
        </p:txBody>
      </p:sp>
      <p:sp>
        <p:nvSpPr>
          <p:cNvPr id="53251" name="Slide Number Placeholder 5">
            <a:extLst>
              <a:ext uri="{FF2B5EF4-FFF2-40B4-BE49-F238E27FC236}">
                <a16:creationId xmlns:a16="http://schemas.microsoft.com/office/drawing/2014/main" id="{E109022B-9CBA-57A1-69DB-1400A7E61F7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lgn="just">
              <a:lnSpc>
                <a:spcPct val="93000"/>
              </a:lnSpc>
              <a:spcBef>
                <a:spcPts val="900"/>
              </a:spcBef>
              <a:buClr>
                <a:srgbClr val="003366"/>
              </a:buClr>
              <a:buSzPct val="100000"/>
              <a:buFont typeface="Wingdings" panose="05000000000000000000" pitchFamily="2" charset="2"/>
              <a:buChar char=""/>
              <a:tabLst>
                <a:tab pos="0" algn="l"/>
                <a:tab pos="1028700" algn="l"/>
                <a:tab pos="2057400" algn="l"/>
                <a:tab pos="3086100" algn="l"/>
                <a:tab pos="4114800" algn="l"/>
                <a:tab pos="5143500" algn="l"/>
                <a:tab pos="6172200" algn="l"/>
                <a:tab pos="7200900" algn="l"/>
                <a:tab pos="8229600" algn="l"/>
                <a:tab pos="9258300" algn="l"/>
                <a:tab pos="10287000" algn="l"/>
                <a:tab pos="11315700" algn="l"/>
              </a:tabLst>
              <a:defRPr sz="4200">
                <a:solidFill>
                  <a:srgbClr val="000000"/>
                </a:solidFill>
                <a:latin typeface="Arial Narrow" panose="020B0606020202030204" pitchFamily="34" charset="0"/>
                <a:cs typeface="Lucida Sans Unicode" panose="020B0602030504020204" pitchFamily="34" charset="0"/>
              </a:defRPr>
            </a:lvl1pPr>
            <a:lvl2pPr marL="835820" indent="-321470" algn="just">
              <a:lnSpc>
                <a:spcPct val="93000"/>
              </a:lnSpc>
              <a:spcBef>
                <a:spcPts val="788"/>
              </a:spcBef>
              <a:buClr>
                <a:srgbClr val="003366"/>
              </a:buClr>
              <a:buSzPct val="100000"/>
              <a:buFont typeface="Wingdings" panose="05000000000000000000" pitchFamily="2" charset="2"/>
              <a:buChar char=""/>
              <a:tabLst>
                <a:tab pos="0" algn="l"/>
                <a:tab pos="1028700" algn="l"/>
                <a:tab pos="2057400" algn="l"/>
                <a:tab pos="3086100" algn="l"/>
                <a:tab pos="4114800" algn="l"/>
                <a:tab pos="5143500" algn="l"/>
                <a:tab pos="6172200" algn="l"/>
                <a:tab pos="7200900" algn="l"/>
                <a:tab pos="8229600" algn="l"/>
                <a:tab pos="9258300" algn="l"/>
                <a:tab pos="10287000" algn="l"/>
                <a:tab pos="11315700" algn="l"/>
              </a:tabLst>
              <a:defRPr sz="3600">
                <a:solidFill>
                  <a:srgbClr val="000000"/>
                </a:solidFill>
                <a:latin typeface="Arial Narrow" panose="020B0606020202030204" pitchFamily="34" charset="0"/>
                <a:cs typeface="Lucida Sans Unicode" panose="020B0602030504020204" pitchFamily="34" charset="0"/>
              </a:defRPr>
            </a:lvl2pPr>
            <a:lvl3pPr marL="1285875" indent="-257175" algn="just">
              <a:lnSpc>
                <a:spcPct val="93000"/>
              </a:lnSpc>
              <a:spcBef>
                <a:spcPts val="675"/>
              </a:spcBef>
              <a:buClr>
                <a:srgbClr val="003366"/>
              </a:buClr>
              <a:buSzPct val="100000"/>
              <a:buFont typeface="Wingdings" panose="05000000000000000000" pitchFamily="2" charset="2"/>
              <a:buChar char=""/>
              <a:tabLst>
                <a:tab pos="0" algn="l"/>
                <a:tab pos="1028700" algn="l"/>
                <a:tab pos="2057400" algn="l"/>
                <a:tab pos="3086100" algn="l"/>
                <a:tab pos="4114800" algn="l"/>
                <a:tab pos="5143500" algn="l"/>
                <a:tab pos="6172200" algn="l"/>
                <a:tab pos="7200900" algn="l"/>
                <a:tab pos="8229600" algn="l"/>
                <a:tab pos="9258300" algn="l"/>
                <a:tab pos="10287000" algn="l"/>
                <a:tab pos="11315700" algn="l"/>
              </a:tabLst>
              <a:defRPr sz="3600">
                <a:solidFill>
                  <a:srgbClr val="000000"/>
                </a:solidFill>
                <a:latin typeface="Arial Narrow" panose="020B0606020202030204" pitchFamily="34" charset="0"/>
                <a:cs typeface="Lucida Sans Unicode" panose="020B0602030504020204" pitchFamily="34" charset="0"/>
              </a:defRPr>
            </a:lvl3pPr>
            <a:lvl4pPr marL="1800225" indent="-257175" algn="just">
              <a:lnSpc>
                <a:spcPct val="93000"/>
              </a:lnSpc>
              <a:spcBef>
                <a:spcPts val="563"/>
              </a:spcBef>
              <a:buClr>
                <a:srgbClr val="003366"/>
              </a:buClr>
              <a:buSzPct val="100000"/>
              <a:buFont typeface="Wingdings" panose="05000000000000000000" pitchFamily="2" charset="2"/>
              <a:buChar char=""/>
              <a:tabLst>
                <a:tab pos="0" algn="l"/>
                <a:tab pos="1028700" algn="l"/>
                <a:tab pos="2057400" algn="l"/>
                <a:tab pos="3086100" algn="l"/>
                <a:tab pos="4114800" algn="l"/>
                <a:tab pos="5143500" algn="l"/>
                <a:tab pos="6172200" algn="l"/>
                <a:tab pos="7200900" algn="l"/>
                <a:tab pos="8229600" algn="l"/>
                <a:tab pos="9258300" algn="l"/>
                <a:tab pos="10287000" algn="l"/>
                <a:tab pos="11315700" algn="l"/>
              </a:tabLst>
              <a:defRPr sz="3600">
                <a:solidFill>
                  <a:srgbClr val="000000"/>
                </a:solidFill>
                <a:latin typeface="Arial Narrow" panose="020B0606020202030204" pitchFamily="34" charset="0"/>
                <a:cs typeface="Lucida Sans Unicode" panose="020B0602030504020204" pitchFamily="34" charset="0"/>
              </a:defRPr>
            </a:lvl4pPr>
            <a:lvl5pPr marL="2314575" indent="-257175">
              <a:lnSpc>
                <a:spcPct val="95000"/>
              </a:lnSpc>
              <a:spcBef>
                <a:spcPts val="563"/>
              </a:spcBef>
              <a:buClr>
                <a:srgbClr val="003366"/>
              </a:buClr>
              <a:buSzPct val="100000"/>
              <a:buFont typeface="Times New Roman" panose="02020603050405020304" pitchFamily="18" charset="0"/>
              <a:buChar char="•"/>
              <a:tabLst>
                <a:tab pos="0" algn="l"/>
                <a:tab pos="1028700" algn="l"/>
                <a:tab pos="2057400" algn="l"/>
                <a:tab pos="3086100" algn="l"/>
                <a:tab pos="4114800" algn="l"/>
                <a:tab pos="5143500" algn="l"/>
                <a:tab pos="6172200" algn="l"/>
                <a:tab pos="7200900" algn="l"/>
                <a:tab pos="8229600" algn="l"/>
                <a:tab pos="9258300" algn="l"/>
                <a:tab pos="10287000" algn="l"/>
                <a:tab pos="11315700" algn="l"/>
              </a:tabLst>
              <a:defRPr sz="2250">
                <a:solidFill>
                  <a:srgbClr val="FFFFCC"/>
                </a:solidFill>
                <a:latin typeface="Times New Roman" panose="02020603050405020304" pitchFamily="18" charset="0"/>
                <a:cs typeface="Lucida Sans Unicode" panose="020B0602030504020204" pitchFamily="34" charset="0"/>
              </a:defRPr>
            </a:lvl5pPr>
            <a:lvl6pPr marL="3000375" indent="-257175" defTabSz="685800" eaLnBrk="0" fontAlgn="base" hangingPunct="0">
              <a:lnSpc>
                <a:spcPct val="95000"/>
              </a:lnSpc>
              <a:spcBef>
                <a:spcPts val="563"/>
              </a:spcBef>
              <a:spcAft>
                <a:spcPct val="0"/>
              </a:spcAft>
              <a:buClr>
                <a:srgbClr val="003366"/>
              </a:buClr>
              <a:buSzPct val="100000"/>
              <a:buFont typeface="Times New Roman" panose="02020603050405020304" pitchFamily="18" charset="0"/>
              <a:buChar char="•"/>
              <a:tabLst>
                <a:tab pos="0" algn="l"/>
                <a:tab pos="1028700" algn="l"/>
                <a:tab pos="2057400" algn="l"/>
                <a:tab pos="3086100" algn="l"/>
                <a:tab pos="4114800" algn="l"/>
                <a:tab pos="5143500" algn="l"/>
                <a:tab pos="6172200" algn="l"/>
                <a:tab pos="7200900" algn="l"/>
                <a:tab pos="8229600" algn="l"/>
                <a:tab pos="9258300" algn="l"/>
                <a:tab pos="10287000" algn="l"/>
                <a:tab pos="11315700" algn="l"/>
              </a:tabLst>
              <a:defRPr sz="2250">
                <a:solidFill>
                  <a:srgbClr val="FFFFCC"/>
                </a:solidFill>
                <a:latin typeface="Times New Roman" panose="02020603050405020304" pitchFamily="18" charset="0"/>
                <a:cs typeface="Lucida Sans Unicode" panose="020B0602030504020204" pitchFamily="34" charset="0"/>
              </a:defRPr>
            </a:lvl6pPr>
            <a:lvl7pPr marL="3686175" indent="-257175" defTabSz="685800" eaLnBrk="0" fontAlgn="base" hangingPunct="0">
              <a:lnSpc>
                <a:spcPct val="95000"/>
              </a:lnSpc>
              <a:spcBef>
                <a:spcPts val="563"/>
              </a:spcBef>
              <a:spcAft>
                <a:spcPct val="0"/>
              </a:spcAft>
              <a:buClr>
                <a:srgbClr val="003366"/>
              </a:buClr>
              <a:buSzPct val="100000"/>
              <a:buFont typeface="Times New Roman" panose="02020603050405020304" pitchFamily="18" charset="0"/>
              <a:buChar char="•"/>
              <a:tabLst>
                <a:tab pos="0" algn="l"/>
                <a:tab pos="1028700" algn="l"/>
                <a:tab pos="2057400" algn="l"/>
                <a:tab pos="3086100" algn="l"/>
                <a:tab pos="4114800" algn="l"/>
                <a:tab pos="5143500" algn="l"/>
                <a:tab pos="6172200" algn="l"/>
                <a:tab pos="7200900" algn="l"/>
                <a:tab pos="8229600" algn="l"/>
                <a:tab pos="9258300" algn="l"/>
                <a:tab pos="10287000" algn="l"/>
                <a:tab pos="11315700" algn="l"/>
              </a:tabLst>
              <a:defRPr sz="2250">
                <a:solidFill>
                  <a:srgbClr val="FFFFCC"/>
                </a:solidFill>
                <a:latin typeface="Times New Roman" panose="02020603050405020304" pitchFamily="18" charset="0"/>
                <a:cs typeface="Lucida Sans Unicode" panose="020B0602030504020204" pitchFamily="34" charset="0"/>
              </a:defRPr>
            </a:lvl7pPr>
            <a:lvl8pPr marL="4371975" indent="-257175" defTabSz="685800" eaLnBrk="0" fontAlgn="base" hangingPunct="0">
              <a:lnSpc>
                <a:spcPct val="95000"/>
              </a:lnSpc>
              <a:spcBef>
                <a:spcPts val="563"/>
              </a:spcBef>
              <a:spcAft>
                <a:spcPct val="0"/>
              </a:spcAft>
              <a:buClr>
                <a:srgbClr val="003366"/>
              </a:buClr>
              <a:buSzPct val="100000"/>
              <a:buFont typeface="Times New Roman" panose="02020603050405020304" pitchFamily="18" charset="0"/>
              <a:buChar char="•"/>
              <a:tabLst>
                <a:tab pos="0" algn="l"/>
                <a:tab pos="1028700" algn="l"/>
                <a:tab pos="2057400" algn="l"/>
                <a:tab pos="3086100" algn="l"/>
                <a:tab pos="4114800" algn="l"/>
                <a:tab pos="5143500" algn="l"/>
                <a:tab pos="6172200" algn="l"/>
                <a:tab pos="7200900" algn="l"/>
                <a:tab pos="8229600" algn="l"/>
                <a:tab pos="9258300" algn="l"/>
                <a:tab pos="10287000" algn="l"/>
                <a:tab pos="11315700" algn="l"/>
              </a:tabLst>
              <a:defRPr sz="2250">
                <a:solidFill>
                  <a:srgbClr val="FFFFCC"/>
                </a:solidFill>
                <a:latin typeface="Times New Roman" panose="02020603050405020304" pitchFamily="18" charset="0"/>
                <a:cs typeface="Lucida Sans Unicode" panose="020B0602030504020204" pitchFamily="34" charset="0"/>
              </a:defRPr>
            </a:lvl8pPr>
            <a:lvl9pPr marL="5057775" indent="-257175" defTabSz="685800" eaLnBrk="0" fontAlgn="base" hangingPunct="0">
              <a:lnSpc>
                <a:spcPct val="95000"/>
              </a:lnSpc>
              <a:spcBef>
                <a:spcPts val="563"/>
              </a:spcBef>
              <a:spcAft>
                <a:spcPct val="0"/>
              </a:spcAft>
              <a:buClr>
                <a:srgbClr val="003366"/>
              </a:buClr>
              <a:buSzPct val="100000"/>
              <a:buFont typeface="Times New Roman" panose="02020603050405020304" pitchFamily="18" charset="0"/>
              <a:buChar char="•"/>
              <a:tabLst>
                <a:tab pos="0" algn="l"/>
                <a:tab pos="1028700" algn="l"/>
                <a:tab pos="2057400" algn="l"/>
                <a:tab pos="3086100" algn="l"/>
                <a:tab pos="4114800" algn="l"/>
                <a:tab pos="5143500" algn="l"/>
                <a:tab pos="6172200" algn="l"/>
                <a:tab pos="7200900" algn="l"/>
                <a:tab pos="8229600" algn="l"/>
                <a:tab pos="9258300" algn="l"/>
                <a:tab pos="10287000" algn="l"/>
                <a:tab pos="11315700" algn="l"/>
              </a:tabLst>
              <a:defRPr sz="2250">
                <a:solidFill>
                  <a:srgbClr val="FFFFCC"/>
                </a:solidFill>
                <a:latin typeface="Times New Roman" panose="02020603050405020304" pitchFamily="18" charset="0"/>
                <a:cs typeface="Lucida Sans Unicode" panose="020B0602030504020204" pitchFamily="34" charset="0"/>
              </a:defRPr>
            </a:lvl9pPr>
          </a:lstStyle>
          <a:p>
            <a:pPr algn="r">
              <a:buFont typeface="Wingdings" panose="05000000000000000000" pitchFamily="2" charset="2"/>
              <a:buNone/>
            </a:pPr>
            <a:fld id="{3BFCB37D-8324-4884-830A-CB1DEC752560}" type="slidenum">
              <a:rPr lang="en-GB" altLang="en-US" sz="3600"/>
              <a:pPr algn="r">
                <a:buFont typeface="Wingdings" panose="05000000000000000000" pitchFamily="2" charset="2"/>
                <a:buNone/>
              </a:pPr>
              <a:t>35</a:t>
            </a:fld>
            <a:endParaRPr lang="en-GB" altLang="en-US" sz="3600"/>
          </a:p>
        </p:txBody>
      </p:sp>
      <p:sp>
        <p:nvSpPr>
          <p:cNvPr id="6" name="TextBox 5">
            <a:extLst>
              <a:ext uri="{FF2B5EF4-FFF2-40B4-BE49-F238E27FC236}">
                <a16:creationId xmlns:a16="http://schemas.microsoft.com/office/drawing/2014/main" id="{0031D8EE-3C7D-48AF-E41D-309CB1DB2BC1}"/>
              </a:ext>
            </a:extLst>
          </p:cNvPr>
          <p:cNvSpPr txBox="1"/>
          <p:nvPr/>
        </p:nvSpPr>
        <p:spPr>
          <a:xfrm>
            <a:off x="2743200" y="2635121"/>
            <a:ext cx="13225182" cy="5078313"/>
          </a:xfrm>
          <a:prstGeom prst="rect">
            <a:avLst/>
          </a:prstGeom>
          <a:noFill/>
        </p:spPr>
        <p:txBody>
          <a:bodyPr wrap="square">
            <a:spAutoFit/>
          </a:bodyPr>
          <a:lstStyle/>
          <a:p>
            <a:pPr algn="just"/>
            <a:r>
              <a:rPr lang="en-US" sz="3600" b="1" dirty="0"/>
              <a:t>What is the McCumber Cube?</a:t>
            </a:r>
          </a:p>
          <a:p>
            <a:pPr algn="just"/>
            <a:endParaRPr lang="en-US" sz="3200" dirty="0"/>
          </a:p>
          <a:p>
            <a:pPr algn="just"/>
            <a:r>
              <a:rPr lang="en-US" sz="3200" dirty="0"/>
              <a:t>Developed by John McCumber in 1991, this model provides a comprehensive framework for evaluating security programs.</a:t>
            </a:r>
          </a:p>
          <a:p>
            <a:pPr algn="just"/>
            <a:endParaRPr lang="en-US" sz="3200" dirty="0"/>
          </a:p>
          <a:p>
            <a:pPr marL="457200" indent="-457200" algn="just">
              <a:buClr>
                <a:srgbClr val="00B0F0"/>
              </a:buClr>
              <a:buFont typeface="Wingdings" panose="05000000000000000000" pitchFamily="2" charset="2"/>
              <a:buChar char="§"/>
            </a:pPr>
            <a:r>
              <a:rPr lang="en-US" sz="3200" dirty="0"/>
              <a:t>Holistic Approach: Independent of specific technology.</a:t>
            </a:r>
          </a:p>
          <a:p>
            <a:pPr marL="457200" indent="-457200" algn="just">
              <a:buClr>
                <a:srgbClr val="00B0F0"/>
              </a:buClr>
              <a:buFont typeface="Wingdings" panose="05000000000000000000" pitchFamily="2" charset="2"/>
              <a:buChar char="§"/>
            </a:pPr>
            <a:endParaRPr lang="en-US" sz="3200" dirty="0"/>
          </a:p>
          <a:p>
            <a:pPr marL="457200" indent="-457200" algn="just">
              <a:buClr>
                <a:srgbClr val="00B0F0"/>
              </a:buClr>
              <a:buFont typeface="Wingdings" panose="05000000000000000000" pitchFamily="2" charset="2"/>
              <a:buChar char="§"/>
            </a:pPr>
            <a:r>
              <a:rPr lang="en-US" sz="3200" dirty="0"/>
              <a:t>3-Dimensional: Identifies 27 critical "cells" of security.</a:t>
            </a:r>
          </a:p>
          <a:p>
            <a:pPr marL="457200" indent="-457200" algn="just">
              <a:buClr>
                <a:srgbClr val="00B0F0"/>
              </a:buClr>
              <a:buFont typeface="Wingdings" panose="05000000000000000000" pitchFamily="2" charset="2"/>
              <a:buChar char="§"/>
            </a:pPr>
            <a:endParaRPr lang="en-US" sz="3200" dirty="0"/>
          </a:p>
          <a:p>
            <a:pPr marL="457200" indent="-457200" algn="just">
              <a:buClr>
                <a:srgbClr val="00B0F0"/>
              </a:buClr>
              <a:buFont typeface="Wingdings" panose="05000000000000000000" pitchFamily="2" charset="2"/>
              <a:buChar char="§"/>
            </a:pPr>
            <a:r>
              <a:rPr lang="en-US" sz="3200" dirty="0"/>
              <a:t>Versatile: Applicable to assessment, design, and evaluation</a:t>
            </a:r>
            <a:r>
              <a:rPr lang="en-US" sz="2800" dirty="0"/>
              <a:t>.</a:t>
            </a:r>
          </a:p>
        </p:txBody>
      </p:sp>
      <p:pic>
        <p:nvPicPr>
          <p:cNvPr id="1026" name="Picture 2" descr="McCumber Cube 3D security model diagram">
            <a:extLst>
              <a:ext uri="{FF2B5EF4-FFF2-40B4-BE49-F238E27FC236}">
                <a16:creationId xmlns:a16="http://schemas.microsoft.com/office/drawing/2014/main" id="{1E1EDDA6-811D-94DA-2831-060C5C6ED6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95612" y="4442566"/>
            <a:ext cx="3390900" cy="32708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160921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6645A-C641-4295-6300-9DB804448F08}"/>
            </a:ext>
          </a:extLst>
        </p:cNvPr>
        <p:cNvGrpSpPr/>
        <p:nvPr/>
      </p:nvGrpSpPr>
      <p:grpSpPr>
        <a:xfrm>
          <a:off x="0" y="0"/>
          <a:ext cx="0" cy="0"/>
          <a:chOff x="0" y="0"/>
          <a:chExt cx="0" cy="0"/>
        </a:xfrm>
      </p:grpSpPr>
      <p:sp>
        <p:nvSpPr>
          <p:cNvPr id="53250" name="Rectangle 1">
            <a:extLst>
              <a:ext uri="{FF2B5EF4-FFF2-40B4-BE49-F238E27FC236}">
                <a16:creationId xmlns:a16="http://schemas.microsoft.com/office/drawing/2014/main" id="{02A043BF-8B75-93B9-47F8-767F73A9A31B}"/>
              </a:ext>
            </a:extLst>
          </p:cNvPr>
          <p:cNvSpPr>
            <a:spLocks noGrp="1" noChangeArrowheads="1"/>
          </p:cNvSpPr>
          <p:nvPr>
            <p:ph type="title"/>
          </p:nvPr>
        </p:nvSpPr>
        <p:spPr/>
        <p:txBody>
          <a:bodyPr/>
          <a:lstStyle/>
          <a:p>
            <a:r>
              <a:rPr lang="en-GB" altLang="en-US" dirty="0">
                <a:solidFill>
                  <a:schemeClr val="accent6">
                    <a:lumMod val="75000"/>
                  </a:schemeClr>
                </a:solidFill>
              </a:rPr>
              <a:t>NSTISSC Security Model</a:t>
            </a:r>
          </a:p>
        </p:txBody>
      </p:sp>
      <p:sp>
        <p:nvSpPr>
          <p:cNvPr id="53251" name="Slide Number Placeholder 5">
            <a:extLst>
              <a:ext uri="{FF2B5EF4-FFF2-40B4-BE49-F238E27FC236}">
                <a16:creationId xmlns:a16="http://schemas.microsoft.com/office/drawing/2014/main" id="{5D8DA1ED-0839-C005-25F4-BF6B97DF9DE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lgn="just">
              <a:lnSpc>
                <a:spcPct val="93000"/>
              </a:lnSpc>
              <a:spcBef>
                <a:spcPts val="900"/>
              </a:spcBef>
              <a:buClr>
                <a:srgbClr val="003366"/>
              </a:buClr>
              <a:buSzPct val="100000"/>
              <a:buFont typeface="Wingdings" panose="05000000000000000000" pitchFamily="2" charset="2"/>
              <a:buChar char=""/>
              <a:tabLst>
                <a:tab pos="0" algn="l"/>
                <a:tab pos="1028700" algn="l"/>
                <a:tab pos="2057400" algn="l"/>
                <a:tab pos="3086100" algn="l"/>
                <a:tab pos="4114800" algn="l"/>
                <a:tab pos="5143500" algn="l"/>
                <a:tab pos="6172200" algn="l"/>
                <a:tab pos="7200900" algn="l"/>
                <a:tab pos="8229600" algn="l"/>
                <a:tab pos="9258300" algn="l"/>
                <a:tab pos="10287000" algn="l"/>
                <a:tab pos="11315700" algn="l"/>
              </a:tabLst>
              <a:defRPr sz="4200">
                <a:solidFill>
                  <a:srgbClr val="000000"/>
                </a:solidFill>
                <a:latin typeface="Arial Narrow" panose="020B0606020202030204" pitchFamily="34" charset="0"/>
                <a:cs typeface="Lucida Sans Unicode" panose="020B0602030504020204" pitchFamily="34" charset="0"/>
              </a:defRPr>
            </a:lvl1pPr>
            <a:lvl2pPr marL="835820" indent="-321470" algn="just">
              <a:lnSpc>
                <a:spcPct val="93000"/>
              </a:lnSpc>
              <a:spcBef>
                <a:spcPts val="788"/>
              </a:spcBef>
              <a:buClr>
                <a:srgbClr val="003366"/>
              </a:buClr>
              <a:buSzPct val="100000"/>
              <a:buFont typeface="Wingdings" panose="05000000000000000000" pitchFamily="2" charset="2"/>
              <a:buChar char=""/>
              <a:tabLst>
                <a:tab pos="0" algn="l"/>
                <a:tab pos="1028700" algn="l"/>
                <a:tab pos="2057400" algn="l"/>
                <a:tab pos="3086100" algn="l"/>
                <a:tab pos="4114800" algn="l"/>
                <a:tab pos="5143500" algn="l"/>
                <a:tab pos="6172200" algn="l"/>
                <a:tab pos="7200900" algn="l"/>
                <a:tab pos="8229600" algn="l"/>
                <a:tab pos="9258300" algn="l"/>
                <a:tab pos="10287000" algn="l"/>
                <a:tab pos="11315700" algn="l"/>
              </a:tabLst>
              <a:defRPr sz="3600">
                <a:solidFill>
                  <a:srgbClr val="000000"/>
                </a:solidFill>
                <a:latin typeface="Arial Narrow" panose="020B0606020202030204" pitchFamily="34" charset="0"/>
                <a:cs typeface="Lucida Sans Unicode" panose="020B0602030504020204" pitchFamily="34" charset="0"/>
              </a:defRPr>
            </a:lvl2pPr>
            <a:lvl3pPr marL="1285875" indent="-257175" algn="just">
              <a:lnSpc>
                <a:spcPct val="93000"/>
              </a:lnSpc>
              <a:spcBef>
                <a:spcPts val="675"/>
              </a:spcBef>
              <a:buClr>
                <a:srgbClr val="003366"/>
              </a:buClr>
              <a:buSzPct val="100000"/>
              <a:buFont typeface="Wingdings" panose="05000000000000000000" pitchFamily="2" charset="2"/>
              <a:buChar char=""/>
              <a:tabLst>
                <a:tab pos="0" algn="l"/>
                <a:tab pos="1028700" algn="l"/>
                <a:tab pos="2057400" algn="l"/>
                <a:tab pos="3086100" algn="l"/>
                <a:tab pos="4114800" algn="l"/>
                <a:tab pos="5143500" algn="l"/>
                <a:tab pos="6172200" algn="l"/>
                <a:tab pos="7200900" algn="l"/>
                <a:tab pos="8229600" algn="l"/>
                <a:tab pos="9258300" algn="l"/>
                <a:tab pos="10287000" algn="l"/>
                <a:tab pos="11315700" algn="l"/>
              </a:tabLst>
              <a:defRPr sz="3600">
                <a:solidFill>
                  <a:srgbClr val="000000"/>
                </a:solidFill>
                <a:latin typeface="Arial Narrow" panose="020B0606020202030204" pitchFamily="34" charset="0"/>
                <a:cs typeface="Lucida Sans Unicode" panose="020B0602030504020204" pitchFamily="34" charset="0"/>
              </a:defRPr>
            </a:lvl3pPr>
            <a:lvl4pPr marL="1800225" indent="-257175" algn="just">
              <a:lnSpc>
                <a:spcPct val="93000"/>
              </a:lnSpc>
              <a:spcBef>
                <a:spcPts val="563"/>
              </a:spcBef>
              <a:buClr>
                <a:srgbClr val="003366"/>
              </a:buClr>
              <a:buSzPct val="100000"/>
              <a:buFont typeface="Wingdings" panose="05000000000000000000" pitchFamily="2" charset="2"/>
              <a:buChar char=""/>
              <a:tabLst>
                <a:tab pos="0" algn="l"/>
                <a:tab pos="1028700" algn="l"/>
                <a:tab pos="2057400" algn="l"/>
                <a:tab pos="3086100" algn="l"/>
                <a:tab pos="4114800" algn="l"/>
                <a:tab pos="5143500" algn="l"/>
                <a:tab pos="6172200" algn="l"/>
                <a:tab pos="7200900" algn="l"/>
                <a:tab pos="8229600" algn="l"/>
                <a:tab pos="9258300" algn="l"/>
                <a:tab pos="10287000" algn="l"/>
                <a:tab pos="11315700" algn="l"/>
              </a:tabLst>
              <a:defRPr sz="3600">
                <a:solidFill>
                  <a:srgbClr val="000000"/>
                </a:solidFill>
                <a:latin typeface="Arial Narrow" panose="020B0606020202030204" pitchFamily="34" charset="0"/>
                <a:cs typeface="Lucida Sans Unicode" panose="020B0602030504020204" pitchFamily="34" charset="0"/>
              </a:defRPr>
            </a:lvl4pPr>
            <a:lvl5pPr marL="2314575" indent="-257175">
              <a:lnSpc>
                <a:spcPct val="95000"/>
              </a:lnSpc>
              <a:spcBef>
                <a:spcPts val="563"/>
              </a:spcBef>
              <a:buClr>
                <a:srgbClr val="003366"/>
              </a:buClr>
              <a:buSzPct val="100000"/>
              <a:buFont typeface="Times New Roman" panose="02020603050405020304" pitchFamily="18" charset="0"/>
              <a:buChar char="•"/>
              <a:tabLst>
                <a:tab pos="0" algn="l"/>
                <a:tab pos="1028700" algn="l"/>
                <a:tab pos="2057400" algn="l"/>
                <a:tab pos="3086100" algn="l"/>
                <a:tab pos="4114800" algn="l"/>
                <a:tab pos="5143500" algn="l"/>
                <a:tab pos="6172200" algn="l"/>
                <a:tab pos="7200900" algn="l"/>
                <a:tab pos="8229600" algn="l"/>
                <a:tab pos="9258300" algn="l"/>
                <a:tab pos="10287000" algn="l"/>
                <a:tab pos="11315700" algn="l"/>
              </a:tabLst>
              <a:defRPr sz="2250">
                <a:solidFill>
                  <a:srgbClr val="FFFFCC"/>
                </a:solidFill>
                <a:latin typeface="Times New Roman" panose="02020603050405020304" pitchFamily="18" charset="0"/>
                <a:cs typeface="Lucida Sans Unicode" panose="020B0602030504020204" pitchFamily="34" charset="0"/>
              </a:defRPr>
            </a:lvl5pPr>
            <a:lvl6pPr marL="3000375" indent="-257175" defTabSz="685800" eaLnBrk="0" fontAlgn="base" hangingPunct="0">
              <a:lnSpc>
                <a:spcPct val="95000"/>
              </a:lnSpc>
              <a:spcBef>
                <a:spcPts val="563"/>
              </a:spcBef>
              <a:spcAft>
                <a:spcPct val="0"/>
              </a:spcAft>
              <a:buClr>
                <a:srgbClr val="003366"/>
              </a:buClr>
              <a:buSzPct val="100000"/>
              <a:buFont typeface="Times New Roman" panose="02020603050405020304" pitchFamily="18" charset="0"/>
              <a:buChar char="•"/>
              <a:tabLst>
                <a:tab pos="0" algn="l"/>
                <a:tab pos="1028700" algn="l"/>
                <a:tab pos="2057400" algn="l"/>
                <a:tab pos="3086100" algn="l"/>
                <a:tab pos="4114800" algn="l"/>
                <a:tab pos="5143500" algn="l"/>
                <a:tab pos="6172200" algn="l"/>
                <a:tab pos="7200900" algn="l"/>
                <a:tab pos="8229600" algn="l"/>
                <a:tab pos="9258300" algn="l"/>
                <a:tab pos="10287000" algn="l"/>
                <a:tab pos="11315700" algn="l"/>
              </a:tabLst>
              <a:defRPr sz="2250">
                <a:solidFill>
                  <a:srgbClr val="FFFFCC"/>
                </a:solidFill>
                <a:latin typeface="Times New Roman" panose="02020603050405020304" pitchFamily="18" charset="0"/>
                <a:cs typeface="Lucida Sans Unicode" panose="020B0602030504020204" pitchFamily="34" charset="0"/>
              </a:defRPr>
            </a:lvl6pPr>
            <a:lvl7pPr marL="3686175" indent="-257175" defTabSz="685800" eaLnBrk="0" fontAlgn="base" hangingPunct="0">
              <a:lnSpc>
                <a:spcPct val="95000"/>
              </a:lnSpc>
              <a:spcBef>
                <a:spcPts val="563"/>
              </a:spcBef>
              <a:spcAft>
                <a:spcPct val="0"/>
              </a:spcAft>
              <a:buClr>
                <a:srgbClr val="003366"/>
              </a:buClr>
              <a:buSzPct val="100000"/>
              <a:buFont typeface="Times New Roman" panose="02020603050405020304" pitchFamily="18" charset="0"/>
              <a:buChar char="•"/>
              <a:tabLst>
                <a:tab pos="0" algn="l"/>
                <a:tab pos="1028700" algn="l"/>
                <a:tab pos="2057400" algn="l"/>
                <a:tab pos="3086100" algn="l"/>
                <a:tab pos="4114800" algn="l"/>
                <a:tab pos="5143500" algn="l"/>
                <a:tab pos="6172200" algn="l"/>
                <a:tab pos="7200900" algn="l"/>
                <a:tab pos="8229600" algn="l"/>
                <a:tab pos="9258300" algn="l"/>
                <a:tab pos="10287000" algn="l"/>
                <a:tab pos="11315700" algn="l"/>
              </a:tabLst>
              <a:defRPr sz="2250">
                <a:solidFill>
                  <a:srgbClr val="FFFFCC"/>
                </a:solidFill>
                <a:latin typeface="Times New Roman" panose="02020603050405020304" pitchFamily="18" charset="0"/>
                <a:cs typeface="Lucida Sans Unicode" panose="020B0602030504020204" pitchFamily="34" charset="0"/>
              </a:defRPr>
            </a:lvl7pPr>
            <a:lvl8pPr marL="4371975" indent="-257175" defTabSz="685800" eaLnBrk="0" fontAlgn="base" hangingPunct="0">
              <a:lnSpc>
                <a:spcPct val="95000"/>
              </a:lnSpc>
              <a:spcBef>
                <a:spcPts val="563"/>
              </a:spcBef>
              <a:spcAft>
                <a:spcPct val="0"/>
              </a:spcAft>
              <a:buClr>
                <a:srgbClr val="003366"/>
              </a:buClr>
              <a:buSzPct val="100000"/>
              <a:buFont typeface="Times New Roman" panose="02020603050405020304" pitchFamily="18" charset="0"/>
              <a:buChar char="•"/>
              <a:tabLst>
                <a:tab pos="0" algn="l"/>
                <a:tab pos="1028700" algn="l"/>
                <a:tab pos="2057400" algn="l"/>
                <a:tab pos="3086100" algn="l"/>
                <a:tab pos="4114800" algn="l"/>
                <a:tab pos="5143500" algn="l"/>
                <a:tab pos="6172200" algn="l"/>
                <a:tab pos="7200900" algn="l"/>
                <a:tab pos="8229600" algn="l"/>
                <a:tab pos="9258300" algn="l"/>
                <a:tab pos="10287000" algn="l"/>
                <a:tab pos="11315700" algn="l"/>
              </a:tabLst>
              <a:defRPr sz="2250">
                <a:solidFill>
                  <a:srgbClr val="FFFFCC"/>
                </a:solidFill>
                <a:latin typeface="Times New Roman" panose="02020603050405020304" pitchFamily="18" charset="0"/>
                <a:cs typeface="Lucida Sans Unicode" panose="020B0602030504020204" pitchFamily="34" charset="0"/>
              </a:defRPr>
            </a:lvl8pPr>
            <a:lvl9pPr marL="5057775" indent="-257175" defTabSz="685800" eaLnBrk="0" fontAlgn="base" hangingPunct="0">
              <a:lnSpc>
                <a:spcPct val="95000"/>
              </a:lnSpc>
              <a:spcBef>
                <a:spcPts val="563"/>
              </a:spcBef>
              <a:spcAft>
                <a:spcPct val="0"/>
              </a:spcAft>
              <a:buClr>
                <a:srgbClr val="003366"/>
              </a:buClr>
              <a:buSzPct val="100000"/>
              <a:buFont typeface="Times New Roman" panose="02020603050405020304" pitchFamily="18" charset="0"/>
              <a:buChar char="•"/>
              <a:tabLst>
                <a:tab pos="0" algn="l"/>
                <a:tab pos="1028700" algn="l"/>
                <a:tab pos="2057400" algn="l"/>
                <a:tab pos="3086100" algn="l"/>
                <a:tab pos="4114800" algn="l"/>
                <a:tab pos="5143500" algn="l"/>
                <a:tab pos="6172200" algn="l"/>
                <a:tab pos="7200900" algn="l"/>
                <a:tab pos="8229600" algn="l"/>
                <a:tab pos="9258300" algn="l"/>
                <a:tab pos="10287000" algn="l"/>
                <a:tab pos="11315700" algn="l"/>
              </a:tabLst>
              <a:defRPr sz="2250">
                <a:solidFill>
                  <a:srgbClr val="FFFFCC"/>
                </a:solidFill>
                <a:latin typeface="Times New Roman" panose="02020603050405020304" pitchFamily="18" charset="0"/>
                <a:cs typeface="Lucida Sans Unicode" panose="020B0602030504020204" pitchFamily="34" charset="0"/>
              </a:defRPr>
            </a:lvl9pPr>
          </a:lstStyle>
          <a:p>
            <a:pPr algn="r">
              <a:buFont typeface="Wingdings" panose="05000000000000000000" pitchFamily="2" charset="2"/>
              <a:buNone/>
            </a:pPr>
            <a:fld id="{3BFCB37D-8324-4884-830A-CB1DEC752560}" type="slidenum">
              <a:rPr lang="en-GB" altLang="en-US" sz="3600"/>
              <a:pPr algn="r">
                <a:buFont typeface="Wingdings" panose="05000000000000000000" pitchFamily="2" charset="2"/>
                <a:buNone/>
              </a:pPr>
              <a:t>36</a:t>
            </a:fld>
            <a:endParaRPr lang="en-GB" altLang="en-US" sz="3600"/>
          </a:p>
        </p:txBody>
      </p:sp>
      <p:sp>
        <p:nvSpPr>
          <p:cNvPr id="6" name="TextBox 5">
            <a:extLst>
              <a:ext uri="{FF2B5EF4-FFF2-40B4-BE49-F238E27FC236}">
                <a16:creationId xmlns:a16="http://schemas.microsoft.com/office/drawing/2014/main" id="{59A33155-BDC0-E50A-AA09-7B89E22C0307}"/>
              </a:ext>
            </a:extLst>
          </p:cNvPr>
          <p:cNvSpPr txBox="1"/>
          <p:nvPr/>
        </p:nvSpPr>
        <p:spPr>
          <a:xfrm>
            <a:off x="2057400" y="6057900"/>
            <a:ext cx="13225182" cy="3046988"/>
          </a:xfrm>
          <a:prstGeom prst="rect">
            <a:avLst/>
          </a:prstGeom>
          <a:noFill/>
        </p:spPr>
        <p:txBody>
          <a:bodyPr wrap="square">
            <a:spAutoFit/>
          </a:bodyPr>
          <a:lstStyle/>
          <a:p>
            <a:pPr algn="just"/>
            <a:r>
              <a:rPr lang="en-US" sz="3200" dirty="0"/>
              <a:t>Example:</a:t>
            </a:r>
          </a:p>
          <a:p>
            <a:pPr algn="just"/>
            <a:endParaRPr lang="en-US" sz="3200" dirty="0"/>
          </a:p>
          <a:p>
            <a:pPr algn="just"/>
            <a:r>
              <a:rPr lang="en-US" sz="3200" dirty="0"/>
              <a:t>Confidentiality + Transmission + Technology  → Encryption of network traffic.</a:t>
            </a:r>
          </a:p>
          <a:p>
            <a:pPr algn="just"/>
            <a:endParaRPr lang="en-US" sz="3200" dirty="0"/>
          </a:p>
          <a:p>
            <a:pPr algn="just"/>
            <a:endParaRPr lang="en-US" sz="3200" dirty="0"/>
          </a:p>
          <a:p>
            <a:pPr algn="just"/>
            <a:r>
              <a:rPr lang="en-US" sz="3200" dirty="0"/>
              <a:t>Integrity + Storage + Policy→ Database backup and change-control procedures.</a:t>
            </a:r>
          </a:p>
        </p:txBody>
      </p:sp>
      <p:pic>
        <p:nvPicPr>
          <p:cNvPr id="1026" name="Picture 2" descr="McCumber Cube 3D security model diagram">
            <a:extLst>
              <a:ext uri="{FF2B5EF4-FFF2-40B4-BE49-F238E27FC236}">
                <a16:creationId xmlns:a16="http://schemas.microsoft.com/office/drawing/2014/main" id="{95A2E733-1167-8F16-8765-CDF71A5902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20800" y="3900429"/>
            <a:ext cx="3390900" cy="327086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F13D953-3133-176D-9252-B8D67B252953}"/>
              </a:ext>
            </a:extLst>
          </p:cNvPr>
          <p:cNvSpPr txBox="1"/>
          <p:nvPr/>
        </p:nvSpPr>
        <p:spPr>
          <a:xfrm>
            <a:off x="2472018" y="2924671"/>
            <a:ext cx="13072782" cy="1569660"/>
          </a:xfrm>
          <a:prstGeom prst="rect">
            <a:avLst/>
          </a:prstGeom>
          <a:noFill/>
        </p:spPr>
        <p:txBody>
          <a:bodyPr wrap="square">
            <a:spAutoFit/>
          </a:bodyPr>
          <a:lstStyle/>
          <a:p>
            <a:pPr marL="457200" indent="-457200" algn="just">
              <a:buClr>
                <a:srgbClr val="00B0F0"/>
              </a:buClr>
              <a:buFont typeface="Wingdings" panose="05000000000000000000" pitchFamily="2" charset="2"/>
              <a:buChar char="§"/>
            </a:pPr>
            <a:r>
              <a:rPr lang="en-US" sz="3200" dirty="0"/>
              <a:t>The NSTISS model forms a 3 × 3 × 3 cube.</a:t>
            </a:r>
          </a:p>
          <a:p>
            <a:pPr marL="457200" indent="-457200" algn="just">
              <a:buClr>
                <a:srgbClr val="00B0F0"/>
              </a:buClr>
              <a:buFont typeface="Wingdings" panose="05000000000000000000" pitchFamily="2" charset="2"/>
              <a:buChar char="§"/>
            </a:pPr>
            <a:r>
              <a:rPr lang="en-US" sz="3200" dirty="0"/>
              <a:t>Each cell represents a specific security requirement.</a:t>
            </a:r>
          </a:p>
          <a:p>
            <a:pPr marL="457200" indent="-457200" algn="just">
              <a:buClr>
                <a:srgbClr val="00B0F0"/>
              </a:buClr>
              <a:buFont typeface="Wingdings" panose="05000000000000000000" pitchFamily="2" charset="2"/>
              <a:buChar char="§"/>
            </a:pPr>
            <a:r>
              <a:rPr lang="en-US" sz="3200" dirty="0"/>
              <a:t>Total of 27 security considerations (3 objectives × 3 states × 3 measures).</a:t>
            </a:r>
          </a:p>
        </p:txBody>
      </p:sp>
    </p:spTree>
    <p:extLst>
      <p:ext uri="{BB962C8B-B14F-4D97-AF65-F5344CB8AC3E}">
        <p14:creationId xmlns:p14="http://schemas.microsoft.com/office/powerpoint/2010/main" val="302913660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0" y="228600"/>
            <a:ext cx="11375232" cy="1619250"/>
          </a:xfrm>
        </p:spPr>
        <p:txBody>
          <a:bodyPr/>
          <a:lstStyle/>
          <a:p>
            <a:pPr>
              <a:defRPr/>
            </a:pPr>
            <a:endParaRPr lang="en-US"/>
          </a:p>
        </p:txBody>
      </p:sp>
      <p:pic>
        <p:nvPicPr>
          <p:cNvPr id="24579" name="Picture 6"/>
          <p:cNvPicPr>
            <a:picLocks noChangeAspect="1" noChangeArrowheads="1"/>
          </p:cNvPicPr>
          <p:nvPr/>
        </p:nvPicPr>
        <p:blipFill>
          <a:blip r:embed="rId2"/>
          <a:srcRect/>
          <a:stretch>
            <a:fillRect/>
          </a:stretch>
        </p:blipFill>
        <p:spPr bwMode="auto">
          <a:xfrm>
            <a:off x="3200400" y="2971801"/>
            <a:ext cx="11477625" cy="3167063"/>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0" y="228600"/>
            <a:ext cx="11375232" cy="1619250"/>
          </a:xfrm>
        </p:spPr>
        <p:txBody>
          <a:bodyPr/>
          <a:lstStyle/>
          <a:p>
            <a:pPr>
              <a:defRPr/>
            </a:pPr>
            <a:endParaRPr lang="en-US"/>
          </a:p>
        </p:txBody>
      </p:sp>
      <p:sp>
        <p:nvSpPr>
          <p:cNvPr id="5" name="Rectangle 4"/>
          <p:cNvSpPr/>
          <p:nvPr/>
        </p:nvSpPr>
        <p:spPr>
          <a:xfrm>
            <a:off x="2971800" y="4914901"/>
            <a:ext cx="12230100" cy="1846659"/>
          </a:xfrm>
          <a:prstGeom prst="rect">
            <a:avLst/>
          </a:prstGeom>
        </p:spPr>
        <p:txBody>
          <a:bodyPr>
            <a:spAutoFit/>
          </a:bodyPr>
          <a:lstStyle/>
          <a:p>
            <a:pPr algn="just">
              <a:defRPr/>
            </a:pPr>
            <a:r>
              <a:rPr lang="en-US" sz="3600" b="1" dirty="0">
                <a:solidFill>
                  <a:srgbClr val="FF0000"/>
                </a:solidFill>
                <a:latin typeface="Times New Roman" pitchFamily="18" charset="0"/>
              </a:rPr>
              <a:t>Integrity :</a:t>
            </a:r>
            <a:r>
              <a:rPr lang="en-US" sz="3600" b="1" dirty="0">
                <a:solidFill>
                  <a:schemeClr val="hlink"/>
                </a:solidFill>
                <a:latin typeface="Times New Roman" pitchFamily="18" charset="0"/>
              </a:rPr>
              <a:t>  </a:t>
            </a:r>
            <a:r>
              <a:rPr lang="en-US" sz="3600" kern="0" dirty="0">
                <a:solidFill>
                  <a:sysClr val="windowText" lastClr="000000"/>
                </a:solidFill>
                <a:latin typeface="Times New Roman" pitchFamily="18" charset="0"/>
              </a:rPr>
              <a:t>Information needs to be changed constantly. Integrity means that changes need to be done only by authorized entities and through authorized mechanisms</a:t>
            </a:r>
            <a:r>
              <a:rPr lang="en-US" sz="4200" kern="0" dirty="0">
                <a:solidFill>
                  <a:sysClr val="windowText" lastClr="000000"/>
                </a:solidFill>
                <a:latin typeface="Times New Roman" pitchFamily="18" charset="0"/>
              </a:rPr>
              <a:t>. </a:t>
            </a:r>
          </a:p>
        </p:txBody>
      </p:sp>
      <p:sp>
        <p:nvSpPr>
          <p:cNvPr id="6" name="Rectangle 5"/>
          <p:cNvSpPr/>
          <p:nvPr/>
        </p:nvSpPr>
        <p:spPr>
          <a:xfrm>
            <a:off x="2857500" y="7200900"/>
            <a:ext cx="12458700" cy="2308324"/>
          </a:xfrm>
          <a:prstGeom prst="rect">
            <a:avLst/>
          </a:prstGeom>
        </p:spPr>
        <p:txBody>
          <a:bodyPr>
            <a:spAutoFit/>
          </a:bodyPr>
          <a:lstStyle/>
          <a:p>
            <a:pPr algn="just">
              <a:defRPr/>
            </a:pPr>
            <a:r>
              <a:rPr lang="en-US" sz="3600" b="1" dirty="0">
                <a:solidFill>
                  <a:srgbClr val="FF0000"/>
                </a:solidFill>
                <a:latin typeface="Times New Roman" pitchFamily="18" charset="0"/>
              </a:rPr>
              <a:t>Availability :</a:t>
            </a:r>
            <a:r>
              <a:rPr lang="en-US" sz="3600" b="1" dirty="0">
                <a:solidFill>
                  <a:schemeClr val="hlink"/>
                </a:solidFill>
                <a:latin typeface="Times New Roman" pitchFamily="18" charset="0"/>
              </a:rPr>
              <a:t> </a:t>
            </a:r>
            <a:r>
              <a:rPr lang="en-US" sz="3600" dirty="0">
                <a:solidFill>
                  <a:srgbClr val="000000"/>
                </a:solidFill>
                <a:latin typeface="Times New Roman" pitchFamily="18" charset="0"/>
              </a:rPr>
              <a:t>The information created and stored by an organization needs to be available to authorized entities. Information needs to be constantly changed, which means it must be accessible to authorized entities.</a:t>
            </a:r>
            <a:endParaRPr lang="en-US" sz="3600" dirty="0"/>
          </a:p>
        </p:txBody>
      </p:sp>
      <p:sp>
        <p:nvSpPr>
          <p:cNvPr id="25605" name="Rectangle 6"/>
          <p:cNvSpPr>
            <a:spLocks noChangeArrowheads="1"/>
          </p:cNvSpPr>
          <p:nvPr/>
        </p:nvSpPr>
        <p:spPr bwMode="auto">
          <a:xfrm>
            <a:off x="3086100" y="1828800"/>
            <a:ext cx="12458700" cy="2862322"/>
          </a:xfrm>
          <a:prstGeom prst="rect">
            <a:avLst/>
          </a:prstGeom>
          <a:noFill/>
          <a:ln w="9525">
            <a:noFill/>
            <a:miter lim="800000"/>
            <a:headEnd/>
            <a:tailEnd/>
          </a:ln>
        </p:spPr>
        <p:txBody>
          <a:bodyPr>
            <a:spAutoFit/>
          </a:bodyPr>
          <a:lstStyle/>
          <a:p>
            <a:pPr algn="just"/>
            <a:r>
              <a:rPr lang="en-US" sz="3600" b="1" dirty="0">
                <a:solidFill>
                  <a:srgbClr val="FF0000"/>
                </a:solidFill>
                <a:latin typeface="Times New Roman" pitchFamily="18" charset="0"/>
              </a:rPr>
              <a:t>Confidentiality</a:t>
            </a:r>
            <a:r>
              <a:rPr lang="en-US" sz="3600" dirty="0">
                <a:solidFill>
                  <a:schemeClr val="bg2"/>
                </a:solidFill>
                <a:latin typeface="Times New Roman" pitchFamily="18" charset="0"/>
              </a:rPr>
              <a:t> </a:t>
            </a:r>
            <a:r>
              <a:rPr lang="en-US" sz="3600" dirty="0">
                <a:latin typeface="Times New Roman" pitchFamily="18" charset="0"/>
              </a:rPr>
              <a:t>is probably the most common aspect of information security. We need to protect our confidential information. An organization needs to guard against those malicious actions that endanger the confidentiality of its information.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idx="4294967295"/>
          </p:nvPr>
        </p:nvSpPr>
        <p:spPr>
          <a:xfrm>
            <a:off x="3455195" y="95250"/>
            <a:ext cx="11375231" cy="1924050"/>
          </a:xfrm>
          <a:prstGeom prst="rect">
            <a:avLst/>
          </a:prstGeom>
        </p:spPr>
        <p:txBody>
          <a:bodyPr>
            <a:normAutofit/>
          </a:bodyPr>
          <a:lstStyle/>
          <a:p>
            <a:pPr>
              <a:defRPr/>
            </a:pPr>
            <a:r>
              <a:rPr lang="en-US" sz="6600" dirty="0"/>
              <a:t>Possible additional concepts:</a:t>
            </a:r>
          </a:p>
        </p:txBody>
      </p:sp>
      <p:graphicFrame>
        <p:nvGraphicFramePr>
          <p:cNvPr id="4" name="Content Placeholder 3"/>
          <p:cNvGraphicFramePr>
            <a:graphicFrameLocks noGrp="1"/>
          </p:cNvGraphicFramePr>
          <p:nvPr>
            <p:ph idx="4294967295"/>
          </p:nvPr>
        </p:nvGraphicFramePr>
        <p:xfrm>
          <a:off x="3543300" y="2971801"/>
          <a:ext cx="11356182" cy="68437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1E136-8952-E88D-82BC-131680FAC415}"/>
            </a:ext>
          </a:extLst>
        </p:cNvPr>
        <p:cNvGrpSpPr/>
        <p:nvPr/>
      </p:nvGrpSpPr>
      <p:grpSpPr>
        <a:xfrm>
          <a:off x="0" y="0"/>
          <a:ext cx="0" cy="0"/>
          <a:chOff x="0" y="0"/>
          <a:chExt cx="0" cy="0"/>
        </a:xfrm>
      </p:grpSpPr>
      <p:sp>
        <p:nvSpPr>
          <p:cNvPr id="33794" name="Title 1">
            <a:extLst>
              <a:ext uri="{FF2B5EF4-FFF2-40B4-BE49-F238E27FC236}">
                <a16:creationId xmlns:a16="http://schemas.microsoft.com/office/drawing/2014/main" id="{0591F2D7-A674-4E37-3B6A-CCCFD3A0CF89}"/>
              </a:ext>
            </a:extLst>
          </p:cNvPr>
          <p:cNvSpPr>
            <a:spLocks noGrp="1"/>
          </p:cNvSpPr>
          <p:nvPr>
            <p:ph type="title" idx="4294967295"/>
          </p:nvPr>
        </p:nvSpPr>
        <p:spPr>
          <a:xfrm>
            <a:off x="3455195" y="95250"/>
            <a:ext cx="11375231" cy="1924050"/>
          </a:xfrm>
          <a:prstGeom prst="rect">
            <a:avLst/>
          </a:prstGeom>
        </p:spPr>
        <p:txBody>
          <a:bodyPr>
            <a:normAutofit/>
          </a:bodyPr>
          <a:lstStyle/>
          <a:p>
            <a:pPr>
              <a:defRPr/>
            </a:pPr>
            <a:r>
              <a:rPr lang="en-US" sz="6600" dirty="0"/>
              <a:t>Possible additional concepts:</a:t>
            </a:r>
          </a:p>
        </p:txBody>
      </p:sp>
      <p:sp>
        <p:nvSpPr>
          <p:cNvPr id="3" name="TextBox 2">
            <a:extLst>
              <a:ext uri="{FF2B5EF4-FFF2-40B4-BE49-F238E27FC236}">
                <a16:creationId xmlns:a16="http://schemas.microsoft.com/office/drawing/2014/main" id="{4F639A85-2E8C-1E35-A081-091E88A1170A}"/>
              </a:ext>
            </a:extLst>
          </p:cNvPr>
          <p:cNvSpPr txBox="1"/>
          <p:nvPr/>
        </p:nvSpPr>
        <p:spPr>
          <a:xfrm>
            <a:off x="1447800" y="4991100"/>
            <a:ext cx="14859000" cy="1964512"/>
          </a:xfrm>
          <a:prstGeom prst="rect">
            <a:avLst/>
          </a:prstGeom>
          <a:noFill/>
        </p:spPr>
        <p:txBody>
          <a:bodyPr wrap="square">
            <a:spAutoFit/>
          </a:bodyPr>
          <a:lstStyle/>
          <a:p>
            <a:pPr algn="just">
              <a:lnSpc>
                <a:spcPct val="150000"/>
              </a:lnSpc>
            </a:pPr>
            <a:r>
              <a:rPr lang="en-US" sz="2800" b="1" dirty="0"/>
              <a:t>Entity</a:t>
            </a:r>
            <a:r>
              <a:rPr lang="en-US" sz="2800" dirty="0"/>
              <a:t> = a user, computer, application, process, or device.</a:t>
            </a:r>
          </a:p>
          <a:p>
            <a:pPr algn="just">
              <a:lnSpc>
                <a:spcPct val="150000"/>
              </a:lnSpc>
            </a:pPr>
            <a:r>
              <a:rPr lang="en-US" sz="2800" b="1" dirty="0"/>
              <a:t>Action</a:t>
            </a:r>
            <a:r>
              <a:rPr lang="en-US" sz="2800" dirty="0"/>
              <a:t> = login, file access, data modification, sending an email, deleting a record, etc.</a:t>
            </a:r>
          </a:p>
          <a:p>
            <a:pPr algn="just">
              <a:lnSpc>
                <a:spcPct val="150000"/>
              </a:lnSpc>
            </a:pPr>
            <a:r>
              <a:rPr lang="en-US" sz="2800" b="1" dirty="0"/>
              <a:t>Traced uniquely </a:t>
            </a:r>
            <a:r>
              <a:rPr lang="en-US" sz="2800" dirty="0"/>
              <a:t>= there must be evidence showing exactly </a:t>
            </a:r>
            <a:r>
              <a:rPr lang="en-US" sz="2800" dirty="0">
                <a:highlight>
                  <a:srgbClr val="FFFF00"/>
                </a:highlight>
              </a:rPr>
              <a:t>who</a:t>
            </a:r>
            <a:r>
              <a:rPr lang="en-US" sz="2800" dirty="0"/>
              <a:t> or </a:t>
            </a:r>
            <a:r>
              <a:rPr lang="en-US" sz="2800" dirty="0">
                <a:highlight>
                  <a:srgbClr val="FFFF00"/>
                </a:highlight>
              </a:rPr>
              <a:t>what performed the action.</a:t>
            </a:r>
          </a:p>
        </p:txBody>
      </p:sp>
      <p:sp>
        <p:nvSpPr>
          <p:cNvPr id="6" name="TextBox 5">
            <a:extLst>
              <a:ext uri="{FF2B5EF4-FFF2-40B4-BE49-F238E27FC236}">
                <a16:creationId xmlns:a16="http://schemas.microsoft.com/office/drawing/2014/main" id="{9652DE8A-570D-C8E8-6967-19246C434BD7}"/>
              </a:ext>
            </a:extLst>
          </p:cNvPr>
          <p:cNvSpPr txBox="1"/>
          <p:nvPr/>
        </p:nvSpPr>
        <p:spPr>
          <a:xfrm>
            <a:off x="1447800" y="1866900"/>
            <a:ext cx="14478000" cy="2123658"/>
          </a:xfrm>
          <a:prstGeom prst="rect">
            <a:avLst/>
          </a:prstGeom>
          <a:noFill/>
        </p:spPr>
        <p:txBody>
          <a:bodyPr wrap="square">
            <a:spAutoFit/>
          </a:bodyPr>
          <a:lstStyle/>
          <a:p>
            <a:r>
              <a:rPr lang="en-US" sz="3600" b="1" dirty="0">
                <a:solidFill>
                  <a:srgbClr val="C00000"/>
                </a:solidFill>
              </a:rPr>
              <a:t>Accountability</a:t>
            </a:r>
          </a:p>
          <a:p>
            <a:endParaRPr lang="en-US" sz="3200" dirty="0">
              <a:solidFill>
                <a:srgbClr val="C00000"/>
              </a:solidFill>
            </a:endParaRPr>
          </a:p>
          <a:p>
            <a:r>
              <a:rPr lang="en-US" sz="3200" dirty="0"/>
              <a:t>The security goal that generates the requirement for actions of an entity to be traced uniquely to that entity.</a:t>
            </a:r>
          </a:p>
        </p:txBody>
      </p:sp>
    </p:spTree>
    <p:extLst>
      <p:ext uri="{BB962C8B-B14F-4D97-AF65-F5344CB8AC3E}">
        <p14:creationId xmlns:p14="http://schemas.microsoft.com/office/powerpoint/2010/main" val="37523930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F0B57-A46E-D51C-0E94-7523C319E7FC}"/>
            </a:ext>
          </a:extLst>
        </p:cNvPr>
        <p:cNvGrpSpPr/>
        <p:nvPr/>
      </p:nvGrpSpPr>
      <p:grpSpPr>
        <a:xfrm>
          <a:off x="0" y="0"/>
          <a:ext cx="0" cy="0"/>
          <a:chOff x="0" y="0"/>
          <a:chExt cx="0" cy="0"/>
        </a:xfrm>
      </p:grpSpPr>
      <p:sp>
        <p:nvSpPr>
          <p:cNvPr id="33794" name="Title 1">
            <a:extLst>
              <a:ext uri="{FF2B5EF4-FFF2-40B4-BE49-F238E27FC236}">
                <a16:creationId xmlns:a16="http://schemas.microsoft.com/office/drawing/2014/main" id="{35247C06-8EAB-5D50-7660-975979E22C9A}"/>
              </a:ext>
            </a:extLst>
          </p:cNvPr>
          <p:cNvSpPr>
            <a:spLocks noGrp="1"/>
          </p:cNvSpPr>
          <p:nvPr>
            <p:ph type="title" idx="4294967295"/>
          </p:nvPr>
        </p:nvSpPr>
        <p:spPr>
          <a:xfrm>
            <a:off x="3455195" y="95250"/>
            <a:ext cx="11375231" cy="1924050"/>
          </a:xfrm>
          <a:prstGeom prst="rect">
            <a:avLst/>
          </a:prstGeom>
        </p:spPr>
        <p:txBody>
          <a:bodyPr>
            <a:normAutofit/>
          </a:bodyPr>
          <a:lstStyle/>
          <a:p>
            <a:pPr>
              <a:defRPr/>
            </a:pPr>
            <a:r>
              <a:rPr lang="en-US" sz="6600" dirty="0"/>
              <a:t>Possible additional concepts:</a:t>
            </a:r>
          </a:p>
        </p:txBody>
      </p:sp>
      <p:sp>
        <p:nvSpPr>
          <p:cNvPr id="8" name="TextBox 7">
            <a:extLst>
              <a:ext uri="{FF2B5EF4-FFF2-40B4-BE49-F238E27FC236}">
                <a16:creationId xmlns:a16="http://schemas.microsoft.com/office/drawing/2014/main" id="{13C73929-1672-C447-C13C-45C170093D94}"/>
              </a:ext>
            </a:extLst>
          </p:cNvPr>
          <p:cNvSpPr txBox="1"/>
          <p:nvPr/>
        </p:nvSpPr>
        <p:spPr>
          <a:xfrm>
            <a:off x="1295400" y="2171700"/>
            <a:ext cx="9144000" cy="707886"/>
          </a:xfrm>
          <a:prstGeom prst="rect">
            <a:avLst/>
          </a:prstGeom>
          <a:noFill/>
        </p:spPr>
        <p:txBody>
          <a:bodyPr wrap="square">
            <a:spAutoFit/>
          </a:bodyPr>
          <a:lstStyle/>
          <a:p>
            <a:pPr lvl="0" rtl="0"/>
            <a:r>
              <a:rPr lang="en-US" sz="4000" b="1" dirty="0">
                <a:solidFill>
                  <a:srgbClr val="C00000"/>
                </a:solidFill>
              </a:rPr>
              <a:t>Authenticity</a:t>
            </a:r>
          </a:p>
        </p:txBody>
      </p:sp>
      <p:sp>
        <p:nvSpPr>
          <p:cNvPr id="10" name="TextBox 9">
            <a:extLst>
              <a:ext uri="{FF2B5EF4-FFF2-40B4-BE49-F238E27FC236}">
                <a16:creationId xmlns:a16="http://schemas.microsoft.com/office/drawing/2014/main" id="{A754F41B-9934-84F4-D1AC-D2FA482773B5}"/>
              </a:ext>
            </a:extLst>
          </p:cNvPr>
          <p:cNvSpPr txBox="1"/>
          <p:nvPr/>
        </p:nvSpPr>
        <p:spPr>
          <a:xfrm>
            <a:off x="1329813" y="3238500"/>
            <a:ext cx="13792200" cy="2062103"/>
          </a:xfrm>
          <a:prstGeom prst="rect">
            <a:avLst/>
          </a:prstGeom>
          <a:noFill/>
        </p:spPr>
        <p:txBody>
          <a:bodyPr wrap="square">
            <a:spAutoFit/>
          </a:bodyPr>
          <a:lstStyle/>
          <a:p>
            <a:pPr algn="just"/>
            <a:r>
              <a:rPr lang="en-US" sz="3200" dirty="0"/>
              <a:t>The property of </a:t>
            </a:r>
            <a:r>
              <a:rPr lang="en-US" sz="3200" dirty="0">
                <a:highlight>
                  <a:srgbClr val="FFFF00"/>
                </a:highlight>
              </a:rPr>
              <a:t>being genuine </a:t>
            </a:r>
            <a:r>
              <a:rPr lang="en-US" sz="3200" dirty="0"/>
              <a:t>and </a:t>
            </a:r>
            <a:r>
              <a:rPr lang="en-US" sz="3200" dirty="0">
                <a:highlight>
                  <a:srgbClr val="FFFF00"/>
                </a:highlight>
              </a:rPr>
              <a:t>being able to be verified </a:t>
            </a:r>
            <a:r>
              <a:rPr lang="en-US" sz="3200" dirty="0"/>
              <a:t>and </a:t>
            </a:r>
            <a:r>
              <a:rPr lang="en-US" sz="3200" dirty="0">
                <a:highlight>
                  <a:srgbClr val="FFFF00"/>
                </a:highlight>
              </a:rPr>
              <a:t>trusted; </a:t>
            </a:r>
            <a:r>
              <a:rPr lang="en-US" sz="3200" dirty="0"/>
              <a:t>confidence in the validity of a transmission, a message, or message originator. This means verifying that users are who they say they are and that each input arriving at the system came from a trusted source.</a:t>
            </a:r>
          </a:p>
        </p:txBody>
      </p:sp>
      <p:sp>
        <p:nvSpPr>
          <p:cNvPr id="4" name="TextBox 3">
            <a:extLst>
              <a:ext uri="{FF2B5EF4-FFF2-40B4-BE49-F238E27FC236}">
                <a16:creationId xmlns:a16="http://schemas.microsoft.com/office/drawing/2014/main" id="{935D5580-F6C7-C048-FAC5-4CD02F045831}"/>
              </a:ext>
            </a:extLst>
          </p:cNvPr>
          <p:cNvSpPr txBox="1"/>
          <p:nvPr/>
        </p:nvSpPr>
        <p:spPr>
          <a:xfrm>
            <a:off x="1329813" y="5981700"/>
            <a:ext cx="13500613" cy="2395399"/>
          </a:xfrm>
          <a:prstGeom prst="rect">
            <a:avLst/>
          </a:prstGeom>
          <a:noFill/>
        </p:spPr>
        <p:txBody>
          <a:bodyPr wrap="square">
            <a:spAutoFit/>
          </a:bodyPr>
          <a:lstStyle/>
          <a:p>
            <a:pPr>
              <a:buNone/>
            </a:pPr>
            <a:r>
              <a:rPr lang="en-US" sz="2800" dirty="0"/>
              <a:t>This implies that when you receive information, you can verify that:</a:t>
            </a:r>
          </a:p>
          <a:p>
            <a:pPr marL="457200" indent="-457200">
              <a:lnSpc>
                <a:spcPct val="150000"/>
              </a:lnSpc>
              <a:buFont typeface="Wingdings" panose="05000000000000000000" pitchFamily="2" charset="2"/>
              <a:buChar char="§"/>
            </a:pPr>
            <a:r>
              <a:rPr lang="en-US" sz="2800" dirty="0"/>
              <a:t>It has not come from a fake source. </a:t>
            </a:r>
          </a:p>
          <a:p>
            <a:pPr marL="457200" indent="-457200">
              <a:lnSpc>
                <a:spcPct val="150000"/>
              </a:lnSpc>
              <a:buFont typeface="Wingdings" panose="05000000000000000000" pitchFamily="2" charset="2"/>
              <a:buChar char="§"/>
            </a:pPr>
            <a:r>
              <a:rPr lang="en-US" sz="2800" dirty="0"/>
              <a:t>The sender is who they claim to be. </a:t>
            </a:r>
          </a:p>
          <a:p>
            <a:pPr marL="457200" indent="-457200">
              <a:lnSpc>
                <a:spcPct val="150000"/>
              </a:lnSpc>
              <a:buFont typeface="Wingdings" panose="05000000000000000000" pitchFamily="2" charset="2"/>
              <a:buChar char="§"/>
            </a:pPr>
            <a:r>
              <a:rPr lang="en-US" sz="2800" dirty="0"/>
              <a:t>The data has not been forged or impersonated.</a:t>
            </a:r>
          </a:p>
        </p:txBody>
      </p:sp>
    </p:spTree>
    <p:extLst>
      <p:ext uri="{BB962C8B-B14F-4D97-AF65-F5344CB8AC3E}">
        <p14:creationId xmlns:p14="http://schemas.microsoft.com/office/powerpoint/2010/main" val="10595402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idx="4294967295"/>
          </p:nvPr>
        </p:nvSpPr>
        <p:spPr>
          <a:xfrm>
            <a:off x="3455195" y="95250"/>
            <a:ext cx="11375231" cy="1924050"/>
          </a:xfrm>
          <a:prstGeom prst="rect">
            <a:avLst/>
          </a:prstGeom>
        </p:spPr>
        <p:txBody>
          <a:bodyPr>
            <a:normAutofit/>
          </a:bodyPr>
          <a:lstStyle/>
          <a:p>
            <a:pPr>
              <a:defRPr/>
            </a:pPr>
            <a:r>
              <a:rPr lang="en-US" sz="6600" dirty="0"/>
              <a:t>Possible additional concepts:</a:t>
            </a:r>
          </a:p>
        </p:txBody>
      </p:sp>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8010" y="2247900"/>
            <a:ext cx="8229600" cy="64258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58920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50FA8-DDD9-19FF-154F-AA39783197D5}"/>
              </a:ext>
            </a:extLst>
          </p:cNvPr>
          <p:cNvSpPr>
            <a:spLocks noGrp="1"/>
          </p:cNvSpPr>
          <p:nvPr>
            <p:ph type="title"/>
          </p:nvPr>
        </p:nvSpPr>
        <p:spPr>
          <a:xfrm>
            <a:off x="1560512" y="571500"/>
            <a:ext cx="15166976" cy="1163171"/>
          </a:xfrm>
        </p:spPr>
        <p:txBody>
          <a:bodyPr>
            <a:normAutofit/>
          </a:bodyPr>
          <a:lstStyle/>
          <a:p>
            <a:r>
              <a:rPr lang="en-US" sz="6000" dirty="0"/>
              <a:t>FIPS 199 Impact Levels  of Breach</a:t>
            </a:r>
          </a:p>
        </p:txBody>
      </p:sp>
      <p:sp>
        <p:nvSpPr>
          <p:cNvPr id="4" name="TextBox 3">
            <a:extLst>
              <a:ext uri="{FF2B5EF4-FFF2-40B4-BE49-F238E27FC236}">
                <a16:creationId xmlns:a16="http://schemas.microsoft.com/office/drawing/2014/main" id="{912B2877-886A-8C0D-8638-64C5D8CFE36F}"/>
              </a:ext>
            </a:extLst>
          </p:cNvPr>
          <p:cNvSpPr txBox="1"/>
          <p:nvPr/>
        </p:nvSpPr>
        <p:spPr>
          <a:xfrm>
            <a:off x="1560512" y="2705100"/>
            <a:ext cx="15849600" cy="3416320"/>
          </a:xfrm>
          <a:prstGeom prst="rect">
            <a:avLst/>
          </a:prstGeom>
          <a:noFill/>
        </p:spPr>
        <p:txBody>
          <a:bodyPr wrap="square">
            <a:spAutoFit/>
          </a:bodyPr>
          <a:lstStyle/>
          <a:p>
            <a:pPr algn="just"/>
            <a:r>
              <a:rPr lang="en-US" sz="3600" dirty="0"/>
              <a:t>Example of applications and for each application, the impact of a security breach such as loss of confidentiality, integrity, or availability is evaluated using the three impact levels defined in FIPS 199 will be discussed.</a:t>
            </a:r>
          </a:p>
          <a:p>
            <a:pPr algn="just"/>
            <a:endParaRPr lang="en-US" sz="3600" dirty="0"/>
          </a:p>
          <a:p>
            <a:pPr algn="just"/>
            <a:r>
              <a:rPr lang="en-US" sz="3600" dirty="0"/>
              <a:t>These levels help determine the severity of harm to an organization or individual if a security failure occurs.</a:t>
            </a:r>
          </a:p>
        </p:txBody>
      </p:sp>
    </p:spTree>
    <p:extLst>
      <p:ext uri="{BB962C8B-B14F-4D97-AF65-F5344CB8AC3E}">
        <p14:creationId xmlns:p14="http://schemas.microsoft.com/office/powerpoint/2010/main" val="42103390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idx="4294967295"/>
          </p:nvPr>
        </p:nvSpPr>
        <p:spPr>
          <a:xfrm>
            <a:off x="1905001" y="95250"/>
            <a:ext cx="12925426" cy="1924050"/>
          </a:xfrm>
          <a:prstGeom prst="rect">
            <a:avLst/>
          </a:prstGeom>
        </p:spPr>
        <p:txBody>
          <a:bodyPr>
            <a:normAutofit/>
          </a:bodyPr>
          <a:lstStyle/>
          <a:p>
            <a:pPr>
              <a:defRPr/>
            </a:pPr>
            <a:r>
              <a:rPr lang="en-US" dirty="0"/>
              <a:t>Breach of Security : 3 Levels of Impact</a:t>
            </a:r>
          </a:p>
        </p:txBody>
      </p:sp>
      <p:graphicFrame>
        <p:nvGraphicFramePr>
          <p:cNvPr id="6" name="Content Placeholder 5"/>
          <p:cNvGraphicFramePr>
            <a:graphicFrameLocks noGrp="1"/>
          </p:cNvGraphicFramePr>
          <p:nvPr>
            <p:ph idx="4294967295"/>
            <p:extLst>
              <p:ext uri="{D42A27DB-BD31-4B8C-83A1-F6EECF244321}">
                <p14:modId xmlns:p14="http://schemas.microsoft.com/office/powerpoint/2010/main" val="3019466554"/>
              </p:ext>
            </p:extLst>
          </p:nvPr>
        </p:nvGraphicFramePr>
        <p:xfrm>
          <a:off x="2857500" y="1943101"/>
          <a:ext cx="12801600" cy="76580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55195" y="95250"/>
            <a:ext cx="11375231" cy="1733550"/>
          </a:xfrm>
        </p:spPr>
        <p:txBody>
          <a:bodyPr>
            <a:normAutofit/>
          </a:bodyPr>
          <a:lstStyle/>
          <a:p>
            <a:pPr>
              <a:defRPr/>
            </a:pPr>
            <a:r>
              <a:rPr lang="en-US" sz="4400" dirty="0"/>
              <a:t>Examples of Security Requirements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007729936"/>
              </p:ext>
            </p:extLst>
          </p:nvPr>
        </p:nvGraphicFramePr>
        <p:xfrm>
          <a:off x="2895600" y="2019300"/>
          <a:ext cx="12801600" cy="7543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3455195" y="95250"/>
            <a:ext cx="11375231" cy="1619250"/>
          </a:xfrm>
        </p:spPr>
        <p:txBody>
          <a:bodyPr/>
          <a:lstStyle/>
          <a:p>
            <a:pPr>
              <a:defRPr/>
            </a:pPr>
            <a:r>
              <a:rPr lang="en-US" sz="4800" dirty="0">
                <a:effectLst>
                  <a:outerShdw blurRad="38100" dist="38100" dir="2700000" algn="tl">
                    <a:srgbClr val="000000">
                      <a:alpha val="43137"/>
                    </a:srgbClr>
                  </a:outerShdw>
                </a:effectLst>
              </a:rPr>
              <a:t>Computer Security Challenges</a:t>
            </a:r>
          </a:p>
        </p:txBody>
      </p:sp>
      <p:sp>
        <p:nvSpPr>
          <p:cNvPr id="5" name="Content Placeholder 4"/>
          <p:cNvSpPr>
            <a:spLocks noGrp="1"/>
          </p:cNvSpPr>
          <p:nvPr>
            <p:ph sz="half" idx="4294967295"/>
          </p:nvPr>
        </p:nvSpPr>
        <p:spPr>
          <a:xfrm>
            <a:off x="3455195" y="2057401"/>
            <a:ext cx="5348288" cy="7131845"/>
          </a:xfrm>
          <a:prstGeom prst="rect">
            <a:avLst/>
          </a:prstGeom>
        </p:spPr>
        <p:txBody>
          <a:bodyPr>
            <a:normAutofit fontScale="77500" lnSpcReduction="20000"/>
          </a:bodyPr>
          <a:lstStyle/>
          <a:p>
            <a:pPr>
              <a:defRPr/>
            </a:pPr>
            <a:r>
              <a:rPr lang="en-US" sz="4350" dirty="0">
                <a:solidFill>
                  <a:schemeClr val="tx2">
                    <a:lumMod val="10000"/>
                  </a:schemeClr>
                </a:solidFill>
              </a:rPr>
              <a:t>Security is </a:t>
            </a:r>
            <a:r>
              <a:rPr lang="en-US" sz="4350" b="1" dirty="0">
                <a:solidFill>
                  <a:srgbClr val="C00000"/>
                </a:solidFill>
              </a:rPr>
              <a:t>not simple</a:t>
            </a:r>
          </a:p>
          <a:p>
            <a:pPr>
              <a:defRPr/>
            </a:pPr>
            <a:r>
              <a:rPr lang="en-US" sz="4350" b="1" dirty="0">
                <a:solidFill>
                  <a:srgbClr val="C00000"/>
                </a:solidFill>
              </a:rPr>
              <a:t>Potential attacks </a:t>
            </a:r>
            <a:r>
              <a:rPr lang="en-US" sz="4350" dirty="0">
                <a:solidFill>
                  <a:schemeClr val="tx2">
                    <a:lumMod val="10000"/>
                  </a:schemeClr>
                </a:solidFill>
              </a:rPr>
              <a:t>on the security features need </a:t>
            </a:r>
            <a:r>
              <a:rPr lang="en-US" sz="4350" b="1" dirty="0">
                <a:solidFill>
                  <a:srgbClr val="C00000"/>
                </a:solidFill>
              </a:rPr>
              <a:t>to be considered</a:t>
            </a:r>
          </a:p>
          <a:p>
            <a:pPr>
              <a:defRPr/>
            </a:pPr>
            <a:r>
              <a:rPr lang="en-US" sz="4350" dirty="0">
                <a:solidFill>
                  <a:schemeClr val="tx2">
                    <a:lumMod val="10000"/>
                  </a:schemeClr>
                </a:solidFill>
              </a:rPr>
              <a:t>Procedures used to provide particular services are often </a:t>
            </a:r>
            <a:r>
              <a:rPr lang="en-US" sz="4350" b="1" dirty="0">
                <a:solidFill>
                  <a:srgbClr val="C00000"/>
                </a:solidFill>
              </a:rPr>
              <a:t>counter-intuitive</a:t>
            </a:r>
          </a:p>
          <a:p>
            <a:pPr>
              <a:defRPr/>
            </a:pPr>
            <a:r>
              <a:rPr lang="en-US" sz="4350" dirty="0">
                <a:solidFill>
                  <a:schemeClr val="tx2">
                    <a:lumMod val="10000"/>
                  </a:schemeClr>
                </a:solidFill>
              </a:rPr>
              <a:t>It is necessary to decide </a:t>
            </a:r>
            <a:r>
              <a:rPr lang="en-US" sz="4350" b="1" dirty="0">
                <a:solidFill>
                  <a:srgbClr val="C00000"/>
                </a:solidFill>
              </a:rPr>
              <a:t>where to use </a:t>
            </a:r>
            <a:r>
              <a:rPr lang="en-US" sz="4350" dirty="0">
                <a:solidFill>
                  <a:schemeClr val="tx2">
                    <a:lumMod val="10000"/>
                  </a:schemeClr>
                </a:solidFill>
              </a:rPr>
              <a:t>the various security mechanisms</a:t>
            </a:r>
          </a:p>
          <a:p>
            <a:pPr>
              <a:defRPr/>
            </a:pPr>
            <a:r>
              <a:rPr lang="en-US" sz="4350" dirty="0">
                <a:solidFill>
                  <a:schemeClr val="tx2">
                    <a:lumMod val="10000"/>
                  </a:schemeClr>
                </a:solidFill>
              </a:rPr>
              <a:t>Requires </a:t>
            </a:r>
            <a:r>
              <a:rPr lang="en-US" sz="4350" b="1" dirty="0">
                <a:solidFill>
                  <a:srgbClr val="C00000"/>
                </a:solidFill>
              </a:rPr>
              <a:t>constant monitoring</a:t>
            </a:r>
          </a:p>
          <a:p>
            <a:pPr>
              <a:defRPr/>
            </a:pPr>
            <a:r>
              <a:rPr lang="en-US" sz="4350" dirty="0">
                <a:solidFill>
                  <a:schemeClr val="tx2">
                    <a:lumMod val="10000"/>
                  </a:schemeClr>
                </a:solidFill>
              </a:rPr>
              <a:t>Is too often an </a:t>
            </a:r>
            <a:r>
              <a:rPr lang="en-US" sz="4350" b="1" dirty="0">
                <a:solidFill>
                  <a:srgbClr val="C00000"/>
                </a:solidFill>
              </a:rPr>
              <a:t>afterthought</a:t>
            </a:r>
          </a:p>
          <a:p>
            <a:pPr>
              <a:defRPr/>
            </a:pPr>
            <a:endParaRPr lang="en-US" dirty="0"/>
          </a:p>
        </p:txBody>
      </p:sp>
      <p:sp>
        <p:nvSpPr>
          <p:cNvPr id="6" name="Content Placeholder 5"/>
          <p:cNvSpPr>
            <a:spLocks noGrp="1"/>
          </p:cNvSpPr>
          <p:nvPr>
            <p:ph sz="half" idx="4294967295"/>
          </p:nvPr>
        </p:nvSpPr>
        <p:spPr>
          <a:xfrm>
            <a:off x="9482138" y="2171701"/>
            <a:ext cx="5348288" cy="7017545"/>
          </a:xfrm>
          <a:prstGeom prst="rect">
            <a:avLst/>
          </a:prstGeom>
        </p:spPr>
        <p:txBody>
          <a:bodyPr>
            <a:normAutofit lnSpcReduction="10000"/>
          </a:bodyPr>
          <a:lstStyle/>
          <a:p>
            <a:pPr>
              <a:defRPr/>
            </a:pPr>
            <a:r>
              <a:rPr lang="en-US" dirty="0">
                <a:solidFill>
                  <a:schemeClr val="tx2">
                    <a:lumMod val="10000"/>
                  </a:schemeClr>
                </a:solidFill>
              </a:rPr>
              <a:t>Security mechanisms typically involve </a:t>
            </a:r>
            <a:r>
              <a:rPr lang="en-US" b="1" dirty="0">
                <a:solidFill>
                  <a:srgbClr val="C00000"/>
                </a:solidFill>
              </a:rPr>
              <a:t>more than a particular algorithm or protocol</a:t>
            </a:r>
          </a:p>
          <a:p>
            <a:pPr>
              <a:defRPr/>
            </a:pPr>
            <a:r>
              <a:rPr lang="en-US" dirty="0">
                <a:solidFill>
                  <a:schemeClr val="tx2">
                    <a:lumMod val="10000"/>
                  </a:schemeClr>
                </a:solidFill>
              </a:rPr>
              <a:t>Security is essentially a </a:t>
            </a:r>
            <a:r>
              <a:rPr lang="en-US" b="1" dirty="0">
                <a:solidFill>
                  <a:srgbClr val="C00000"/>
                </a:solidFill>
              </a:rPr>
              <a:t>battle of wits </a:t>
            </a:r>
            <a:r>
              <a:rPr lang="en-US" dirty="0">
                <a:solidFill>
                  <a:schemeClr val="tx2">
                    <a:lumMod val="10000"/>
                  </a:schemeClr>
                </a:solidFill>
              </a:rPr>
              <a:t>between a perpetrator and the designer</a:t>
            </a:r>
          </a:p>
          <a:p>
            <a:pPr>
              <a:defRPr/>
            </a:pPr>
            <a:r>
              <a:rPr lang="en-US" b="1" dirty="0">
                <a:solidFill>
                  <a:srgbClr val="C00000"/>
                </a:solidFill>
              </a:rPr>
              <a:t>Little benefit </a:t>
            </a:r>
            <a:r>
              <a:rPr lang="en-US" dirty="0">
                <a:solidFill>
                  <a:schemeClr val="tx2">
                    <a:lumMod val="10000"/>
                  </a:schemeClr>
                </a:solidFill>
              </a:rPr>
              <a:t>from security investment </a:t>
            </a:r>
            <a:r>
              <a:rPr lang="en-US" b="1" dirty="0">
                <a:solidFill>
                  <a:srgbClr val="C00000"/>
                </a:solidFill>
              </a:rPr>
              <a:t>is perceived </a:t>
            </a:r>
            <a:r>
              <a:rPr lang="en-US" dirty="0">
                <a:solidFill>
                  <a:schemeClr val="tx2">
                    <a:lumMod val="10000"/>
                  </a:schemeClr>
                </a:solidFill>
              </a:rPr>
              <a:t>until a security failure occurs</a:t>
            </a:r>
          </a:p>
          <a:p>
            <a:pPr>
              <a:defRPr/>
            </a:pPr>
            <a:r>
              <a:rPr lang="en-US" dirty="0">
                <a:solidFill>
                  <a:schemeClr val="tx2">
                    <a:lumMod val="10000"/>
                  </a:schemeClr>
                </a:solidFill>
              </a:rPr>
              <a:t>Strong security is often viewed as </a:t>
            </a:r>
            <a:r>
              <a:rPr lang="en-US" b="1" dirty="0">
                <a:solidFill>
                  <a:srgbClr val="C00000"/>
                </a:solidFill>
              </a:rPr>
              <a:t>an impediment </a:t>
            </a:r>
            <a:r>
              <a:rPr lang="en-US" dirty="0">
                <a:solidFill>
                  <a:schemeClr val="tx2">
                    <a:lumMod val="10000"/>
                  </a:schemeClr>
                </a:solidFill>
              </a:rPr>
              <a:t>to efficient and user-friendly operation</a:t>
            </a:r>
          </a:p>
          <a:p>
            <a:pPr>
              <a:defRPr/>
            </a:pPr>
            <a:endParaRPr lang="en-US" dirty="0"/>
          </a:p>
        </p:txBody>
      </p:sp>
      <p:sp>
        <p:nvSpPr>
          <p:cNvPr id="4" name="Rectangle 3"/>
          <p:cNvSpPr txBox="1">
            <a:spLocks noChangeArrowheads="1"/>
          </p:cNvSpPr>
          <p:nvPr/>
        </p:nvSpPr>
        <p:spPr bwMode="black">
          <a:xfrm>
            <a:off x="2857500" y="2286000"/>
            <a:ext cx="12573000" cy="7200900"/>
          </a:xfrm>
          <a:prstGeom prst="rect">
            <a:avLst/>
          </a:prstGeom>
          <a:noFill/>
          <a:ln w="9525">
            <a:noFill/>
            <a:miter lim="800000"/>
            <a:headEnd/>
            <a:tailEnd/>
          </a:ln>
          <a:effectLst/>
        </p:spPr>
        <p:txBody>
          <a:bodyPr/>
          <a:lstStyle/>
          <a:p>
            <a:pPr marL="914400" indent="-914400">
              <a:lnSpc>
                <a:spcPct val="90000"/>
              </a:lnSpc>
              <a:spcBef>
                <a:spcPct val="20000"/>
              </a:spcBef>
              <a:buClr>
                <a:schemeClr val="hlink"/>
              </a:buClr>
              <a:buSzPct val="80000"/>
              <a:defRPr/>
            </a:pPr>
            <a:endParaRPr lang="en-US" sz="4200" dirty="0">
              <a:effectLst>
                <a:outerShdw blurRad="38100" dist="38100" dir="2700000" algn="tl">
                  <a:srgbClr val="000000"/>
                </a:outerShdw>
              </a:effectLst>
              <a:latin typeface="Arial" pitchFamily="-107" charset="0"/>
            </a:endParaRPr>
          </a:p>
        </p:txBody>
      </p:sp>
      <p:pic>
        <p:nvPicPr>
          <p:cNvPr id="7" name="Picture 6"/>
          <p:cNvPicPr>
            <a:picLocks noChangeAspect="1"/>
          </p:cNvPicPr>
          <p:nvPr/>
        </p:nvPicPr>
        <p:blipFill>
          <a:blip r:embed="rId3"/>
          <a:stretch>
            <a:fillRect/>
          </a:stretch>
        </p:blipFill>
        <p:spPr>
          <a:xfrm>
            <a:off x="13716000" y="8178084"/>
            <a:ext cx="2286000" cy="2108916"/>
          </a:xfrm>
          <a:prstGeom prst="rect">
            <a:avLst/>
          </a:prstGeom>
          <a:solidFill>
            <a:schemeClr val="accent3"/>
          </a:solidFill>
          <a:scene3d>
            <a:camera prst="orthographicFront">
              <a:rot lat="0" lon="10799999" rev="0"/>
            </a:camera>
            <a:lightRig rig="threePt" dir="t"/>
          </a:scene3d>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0F122-7478-8588-44AB-373B9183FB9C}"/>
              </a:ext>
            </a:extLst>
          </p:cNvPr>
          <p:cNvSpPr>
            <a:spLocks noGrp="1"/>
          </p:cNvSpPr>
          <p:nvPr>
            <p:ph type="title"/>
          </p:nvPr>
        </p:nvSpPr>
        <p:spPr>
          <a:xfrm>
            <a:off x="1905000" y="4229100"/>
            <a:ext cx="15166976" cy="1163171"/>
          </a:xfrm>
        </p:spPr>
        <p:txBody>
          <a:bodyPr>
            <a:normAutofit/>
          </a:bodyPr>
          <a:lstStyle/>
          <a:p>
            <a:r>
              <a:rPr lang="en-US" sz="5400" dirty="0">
                <a:solidFill>
                  <a:schemeClr val="accent2">
                    <a:lumMod val="75000"/>
                  </a:schemeClr>
                </a:solidFill>
              </a:rPr>
              <a:t>A Model for Computer Security</a:t>
            </a:r>
          </a:p>
        </p:txBody>
      </p:sp>
    </p:spTree>
    <p:extLst>
      <p:ext uri="{BB962C8B-B14F-4D97-AF65-F5344CB8AC3E}">
        <p14:creationId xmlns:p14="http://schemas.microsoft.com/office/powerpoint/2010/main" val="416433864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289F3-80B9-934B-B78F-E0BA1B825BF4}"/>
            </a:ext>
          </a:extLst>
        </p:cNvPr>
        <p:cNvGrpSpPr/>
        <p:nvPr/>
      </p:nvGrpSpPr>
      <p:grpSpPr>
        <a:xfrm>
          <a:off x="0" y="0"/>
          <a:ext cx="0" cy="0"/>
          <a:chOff x="0" y="0"/>
          <a:chExt cx="0" cy="0"/>
        </a:xfrm>
      </p:grpSpPr>
      <p:sp>
        <p:nvSpPr>
          <p:cNvPr id="37890" name="Title 1">
            <a:extLst>
              <a:ext uri="{FF2B5EF4-FFF2-40B4-BE49-F238E27FC236}">
                <a16:creationId xmlns:a16="http://schemas.microsoft.com/office/drawing/2014/main" id="{BFBFAEC9-7366-7CEF-F83C-40A15A646CD4}"/>
              </a:ext>
            </a:extLst>
          </p:cNvPr>
          <p:cNvSpPr>
            <a:spLocks noGrp="1"/>
          </p:cNvSpPr>
          <p:nvPr>
            <p:ph type="title"/>
          </p:nvPr>
        </p:nvSpPr>
        <p:spPr>
          <a:xfrm>
            <a:off x="3455195" y="95250"/>
            <a:ext cx="11375231" cy="1619250"/>
          </a:xfrm>
        </p:spPr>
        <p:txBody>
          <a:bodyPr/>
          <a:lstStyle/>
          <a:p>
            <a:pPr>
              <a:defRPr/>
            </a:pPr>
            <a:r>
              <a:rPr lang="en-US" sz="4800" dirty="0"/>
              <a:t>Vulnerabilities, Threats, and Attacks</a:t>
            </a:r>
            <a:endParaRPr lang="en-US" sz="4800"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FBF5CF57-CF3C-5E62-8781-0821E399D4AF}"/>
              </a:ext>
            </a:extLst>
          </p:cNvPr>
          <p:cNvSpPr txBox="1"/>
          <p:nvPr/>
        </p:nvSpPr>
        <p:spPr>
          <a:xfrm>
            <a:off x="1874045" y="1655802"/>
            <a:ext cx="14554200" cy="2123658"/>
          </a:xfrm>
          <a:prstGeom prst="rect">
            <a:avLst/>
          </a:prstGeom>
          <a:noFill/>
        </p:spPr>
        <p:txBody>
          <a:bodyPr wrap="square">
            <a:spAutoFit/>
          </a:bodyPr>
          <a:lstStyle/>
          <a:p>
            <a:r>
              <a:rPr lang="en-US" sz="3600" b="1" dirty="0"/>
              <a:t>Vulnerabilities</a:t>
            </a:r>
          </a:p>
          <a:p>
            <a:pPr marL="457200" indent="-457200">
              <a:buFont typeface="Wingdings" panose="05000000000000000000" pitchFamily="2" charset="2"/>
              <a:buChar char="§"/>
            </a:pPr>
            <a:r>
              <a:rPr lang="en-US" sz="3200" dirty="0"/>
              <a:t>Corrupted – Loss of integrity</a:t>
            </a:r>
          </a:p>
          <a:p>
            <a:pPr marL="457200" indent="-457200">
              <a:buFont typeface="Wingdings" panose="05000000000000000000" pitchFamily="2" charset="2"/>
              <a:buChar char="§"/>
            </a:pPr>
            <a:r>
              <a:rPr lang="en-US" sz="3200" dirty="0"/>
              <a:t>Leaky – Loss of confidentiality</a:t>
            </a:r>
          </a:p>
          <a:p>
            <a:pPr marL="457200" indent="-457200">
              <a:buFont typeface="Wingdings" panose="05000000000000000000" pitchFamily="2" charset="2"/>
              <a:buChar char="§"/>
            </a:pPr>
            <a:r>
              <a:rPr lang="en-US" sz="3200" dirty="0"/>
              <a:t>Unavailable or Very Slow – Loss of availability</a:t>
            </a:r>
          </a:p>
        </p:txBody>
      </p:sp>
      <p:sp>
        <p:nvSpPr>
          <p:cNvPr id="9" name="TextBox 8">
            <a:extLst>
              <a:ext uri="{FF2B5EF4-FFF2-40B4-BE49-F238E27FC236}">
                <a16:creationId xmlns:a16="http://schemas.microsoft.com/office/drawing/2014/main" id="{3EDAA4B2-3098-9C24-4127-EA14EC91AB91}"/>
              </a:ext>
            </a:extLst>
          </p:cNvPr>
          <p:cNvSpPr txBox="1"/>
          <p:nvPr/>
        </p:nvSpPr>
        <p:spPr>
          <a:xfrm>
            <a:off x="1828800" y="4247287"/>
            <a:ext cx="9144000" cy="1754326"/>
          </a:xfrm>
          <a:prstGeom prst="rect">
            <a:avLst/>
          </a:prstGeom>
          <a:noFill/>
        </p:spPr>
        <p:txBody>
          <a:bodyPr wrap="square">
            <a:spAutoFit/>
          </a:bodyPr>
          <a:lstStyle/>
          <a:p>
            <a:r>
              <a:rPr lang="en-US" sz="3600" b="1" dirty="0"/>
              <a:t>Threats</a:t>
            </a:r>
          </a:p>
          <a:p>
            <a:pPr marL="571500" indent="-571500">
              <a:buFont typeface="Wingdings" panose="05000000000000000000" pitchFamily="2" charset="2"/>
              <a:buChar char="§"/>
            </a:pPr>
            <a:r>
              <a:rPr lang="en-US" sz="3600" dirty="0"/>
              <a:t>Capable of exploiting vulnerabilities</a:t>
            </a:r>
          </a:p>
          <a:p>
            <a:pPr marL="571500" indent="-571500">
              <a:buFont typeface="Wingdings" panose="05000000000000000000" pitchFamily="2" charset="2"/>
              <a:buChar char="§"/>
            </a:pPr>
            <a:r>
              <a:rPr lang="en-US" sz="3600" dirty="0"/>
              <a:t>Represent potential security harm to assets</a:t>
            </a:r>
          </a:p>
        </p:txBody>
      </p:sp>
      <p:sp>
        <p:nvSpPr>
          <p:cNvPr id="15" name="TextBox 14">
            <a:extLst>
              <a:ext uri="{FF2B5EF4-FFF2-40B4-BE49-F238E27FC236}">
                <a16:creationId xmlns:a16="http://schemas.microsoft.com/office/drawing/2014/main" id="{0E1FA19F-3CF4-A0D2-BE8A-B8159E06A962}"/>
              </a:ext>
            </a:extLst>
          </p:cNvPr>
          <p:cNvSpPr txBox="1"/>
          <p:nvPr/>
        </p:nvSpPr>
        <p:spPr>
          <a:xfrm>
            <a:off x="1828800" y="6507540"/>
            <a:ext cx="15392400" cy="2554545"/>
          </a:xfrm>
          <a:prstGeom prst="rect">
            <a:avLst/>
          </a:prstGeom>
          <a:noFill/>
        </p:spPr>
        <p:txBody>
          <a:bodyPr wrap="square">
            <a:spAutoFit/>
          </a:bodyPr>
          <a:lstStyle/>
          <a:p>
            <a:r>
              <a:rPr lang="en-US" sz="3200" b="1" dirty="0"/>
              <a:t>Attacks (Threats Carried Out)</a:t>
            </a:r>
          </a:p>
          <a:p>
            <a:pPr marL="457200" indent="-457200" algn="just">
              <a:buFont typeface="Wingdings" panose="05000000000000000000" pitchFamily="2" charset="2"/>
              <a:buChar char="§"/>
            </a:pPr>
            <a:r>
              <a:rPr lang="en-US" sz="3200" dirty="0"/>
              <a:t>Passive Attack: Attempts to obtain information without affecting system resources</a:t>
            </a:r>
          </a:p>
          <a:p>
            <a:pPr marL="457200" indent="-457200" algn="just">
              <a:buFont typeface="Wingdings" panose="05000000000000000000" pitchFamily="2" charset="2"/>
              <a:buChar char="§"/>
            </a:pPr>
            <a:r>
              <a:rPr lang="en-US" sz="3200" dirty="0"/>
              <a:t>Active Attack: Attempts to modify system resources or disrupt operations</a:t>
            </a:r>
          </a:p>
          <a:p>
            <a:pPr marL="457200" indent="-457200" algn="just">
              <a:buFont typeface="Wingdings" panose="05000000000000000000" pitchFamily="2" charset="2"/>
              <a:buChar char="§"/>
            </a:pPr>
            <a:r>
              <a:rPr lang="en-US" sz="3200" dirty="0"/>
              <a:t>Insider Attack: Initiated by an entity within the security boundary</a:t>
            </a:r>
          </a:p>
          <a:p>
            <a:pPr marL="457200" indent="-457200" algn="just">
              <a:buFont typeface="Wingdings" panose="05000000000000000000" pitchFamily="2" charset="2"/>
              <a:buChar char="§"/>
            </a:pPr>
            <a:r>
              <a:rPr lang="en-US" sz="3200" dirty="0"/>
              <a:t>Outsider Attack: Initiated from outside the security boundary</a:t>
            </a:r>
          </a:p>
        </p:txBody>
      </p:sp>
      <p:sp>
        <p:nvSpPr>
          <p:cNvPr id="17" name="TextBox 16">
            <a:extLst>
              <a:ext uri="{FF2B5EF4-FFF2-40B4-BE49-F238E27FC236}">
                <a16:creationId xmlns:a16="http://schemas.microsoft.com/office/drawing/2014/main" id="{EB3C8426-9781-82C2-4EF4-432370055FCF}"/>
              </a:ext>
            </a:extLst>
          </p:cNvPr>
          <p:cNvSpPr txBox="1"/>
          <p:nvPr/>
        </p:nvSpPr>
        <p:spPr>
          <a:xfrm>
            <a:off x="5372100" y="9256574"/>
            <a:ext cx="5943600" cy="584775"/>
          </a:xfrm>
          <a:prstGeom prst="rect">
            <a:avLst/>
          </a:prstGeom>
          <a:noFill/>
          <a:ln>
            <a:solidFill>
              <a:schemeClr val="accent6">
                <a:lumMod val="75000"/>
              </a:schemeClr>
            </a:solidFill>
          </a:ln>
        </p:spPr>
        <p:txBody>
          <a:bodyPr wrap="square">
            <a:spAutoFit/>
          </a:bodyPr>
          <a:lstStyle/>
          <a:p>
            <a:r>
              <a:rPr lang="en-US" sz="3200" b="1" dirty="0"/>
              <a:t>Vulnerability → Threat → Attack</a:t>
            </a:r>
          </a:p>
        </p:txBody>
      </p:sp>
    </p:spTree>
    <p:extLst>
      <p:ext uri="{BB962C8B-B14F-4D97-AF65-F5344CB8AC3E}">
        <p14:creationId xmlns:p14="http://schemas.microsoft.com/office/powerpoint/2010/main" val="17650808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80EEA-6498-0666-9D8B-87187F2F19FE}"/>
            </a:ext>
          </a:extLst>
        </p:cNvPr>
        <p:cNvGrpSpPr/>
        <p:nvPr/>
      </p:nvGrpSpPr>
      <p:grpSpPr>
        <a:xfrm>
          <a:off x="0" y="0"/>
          <a:ext cx="0" cy="0"/>
          <a:chOff x="0" y="0"/>
          <a:chExt cx="0" cy="0"/>
        </a:xfrm>
      </p:grpSpPr>
      <p:sp>
        <p:nvSpPr>
          <p:cNvPr id="37890" name="Title 1">
            <a:extLst>
              <a:ext uri="{FF2B5EF4-FFF2-40B4-BE49-F238E27FC236}">
                <a16:creationId xmlns:a16="http://schemas.microsoft.com/office/drawing/2014/main" id="{D3A26BA6-0A8A-5076-7478-074E5934CD1E}"/>
              </a:ext>
            </a:extLst>
          </p:cNvPr>
          <p:cNvSpPr>
            <a:spLocks noGrp="1"/>
          </p:cNvSpPr>
          <p:nvPr>
            <p:ph type="title"/>
          </p:nvPr>
        </p:nvSpPr>
        <p:spPr>
          <a:xfrm>
            <a:off x="3455195" y="95250"/>
            <a:ext cx="11375231" cy="1619250"/>
          </a:xfrm>
        </p:spPr>
        <p:txBody>
          <a:bodyPr/>
          <a:lstStyle/>
          <a:p>
            <a:pPr>
              <a:defRPr/>
            </a:pPr>
            <a:r>
              <a:rPr lang="en-US" sz="4800" dirty="0"/>
              <a:t>A Model for Computer Security</a:t>
            </a:r>
            <a:endParaRPr lang="en-US" sz="4800" dirty="0">
              <a:effectLst>
                <a:outerShdw blurRad="38100" dist="38100" dir="2700000" algn="tl">
                  <a:srgbClr val="000000">
                    <a:alpha val="43137"/>
                  </a:srgbClr>
                </a:outerShdw>
              </a:effectLst>
            </a:endParaRPr>
          </a:p>
        </p:txBody>
      </p:sp>
      <p:sp>
        <p:nvSpPr>
          <p:cNvPr id="3" name="Google Shape;94;p14">
            <a:extLst>
              <a:ext uri="{FF2B5EF4-FFF2-40B4-BE49-F238E27FC236}">
                <a16:creationId xmlns:a16="http://schemas.microsoft.com/office/drawing/2014/main" id="{0C4D1ED5-F1B1-6F87-7F82-56900EAC8BF0}"/>
              </a:ext>
            </a:extLst>
          </p:cNvPr>
          <p:cNvSpPr txBox="1"/>
          <p:nvPr/>
        </p:nvSpPr>
        <p:spPr>
          <a:xfrm>
            <a:off x="2514600" y="1806677"/>
            <a:ext cx="5590698" cy="4308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00" b="1" i="0" u="none" strike="noStrike" cap="none" dirty="0">
                <a:solidFill>
                  <a:srgbClr val="38BDF8"/>
                </a:solidFill>
                <a:latin typeface="Urbanist"/>
                <a:ea typeface="Urbanist"/>
                <a:cs typeface="Urbanist"/>
                <a:sym typeface="Urbanist"/>
              </a:rPr>
              <a:t>Relationship Framework</a:t>
            </a:r>
            <a:endParaRPr sz="2800" dirty="0"/>
          </a:p>
        </p:txBody>
      </p:sp>
      <p:sp>
        <p:nvSpPr>
          <p:cNvPr id="8" name="Google Shape;95;p14">
            <a:extLst>
              <a:ext uri="{FF2B5EF4-FFF2-40B4-BE49-F238E27FC236}">
                <a16:creationId xmlns:a16="http://schemas.microsoft.com/office/drawing/2014/main" id="{C4636297-3FBE-D53A-1F50-08FAB996D015}"/>
              </a:ext>
            </a:extLst>
          </p:cNvPr>
          <p:cNvSpPr txBox="1"/>
          <p:nvPr/>
        </p:nvSpPr>
        <p:spPr>
          <a:xfrm>
            <a:off x="2467896" y="2504570"/>
            <a:ext cx="12162503" cy="60324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800" b="0" i="0" u="none" strike="noStrike" cap="none" dirty="0">
                <a:latin typeface="Urbanist"/>
                <a:ea typeface="Urbanist"/>
                <a:cs typeface="Urbanist"/>
                <a:sym typeface="Urbanist"/>
              </a:rPr>
              <a:t>The model defines the interactions between four key components:</a:t>
            </a:r>
            <a:endParaRPr sz="2800" dirty="0"/>
          </a:p>
        </p:txBody>
      </p:sp>
      <p:sp>
        <p:nvSpPr>
          <p:cNvPr id="10" name="Google Shape;97;p14">
            <a:extLst>
              <a:ext uri="{FF2B5EF4-FFF2-40B4-BE49-F238E27FC236}">
                <a16:creationId xmlns:a16="http://schemas.microsoft.com/office/drawing/2014/main" id="{0D737B2E-97F0-590F-74CA-DFE5CC48C41A}"/>
              </a:ext>
            </a:extLst>
          </p:cNvPr>
          <p:cNvSpPr txBox="1"/>
          <p:nvPr/>
        </p:nvSpPr>
        <p:spPr>
          <a:xfrm>
            <a:off x="2514600" y="3758497"/>
            <a:ext cx="9829800" cy="60324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800" b="1" i="0" u="none" strike="noStrike" cap="none" dirty="0">
                <a:latin typeface="Urbanist"/>
                <a:ea typeface="Urbanist"/>
                <a:cs typeface="Urbanist"/>
                <a:sym typeface="Urbanist"/>
              </a:rPr>
              <a:t>Assets:</a:t>
            </a:r>
            <a:r>
              <a:rPr lang="en-US" sz="2800" b="0" i="0" u="none" strike="noStrike" cap="none" dirty="0">
                <a:latin typeface="Urbanist"/>
                <a:ea typeface="Urbanist"/>
                <a:cs typeface="Urbanist"/>
                <a:sym typeface="Urbanist"/>
              </a:rPr>
              <a:t> Hardware, software, and data that require protection.</a:t>
            </a:r>
            <a:endParaRPr sz="2800" dirty="0"/>
          </a:p>
        </p:txBody>
      </p:sp>
      <p:sp>
        <p:nvSpPr>
          <p:cNvPr id="11" name="Google Shape;98;p14">
            <a:extLst>
              <a:ext uri="{FF2B5EF4-FFF2-40B4-BE49-F238E27FC236}">
                <a16:creationId xmlns:a16="http://schemas.microsoft.com/office/drawing/2014/main" id="{62E09246-DCE0-A3D1-A1F7-488E2F9655F1}"/>
              </a:ext>
            </a:extLst>
          </p:cNvPr>
          <p:cNvSpPr txBox="1"/>
          <p:nvPr/>
        </p:nvSpPr>
        <p:spPr>
          <a:xfrm>
            <a:off x="2442662" y="5070288"/>
            <a:ext cx="7267575" cy="60324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800" b="1" i="0" u="none" strike="noStrike" cap="none" dirty="0">
                <a:latin typeface="Urbanist"/>
                <a:ea typeface="Urbanist"/>
                <a:cs typeface="Urbanist"/>
                <a:sym typeface="Urbanist"/>
              </a:rPr>
              <a:t>Vulnerabilities:</a:t>
            </a:r>
            <a:r>
              <a:rPr lang="en-US" sz="2800" b="0" i="0" u="none" strike="noStrike" cap="none" dirty="0">
                <a:latin typeface="Urbanist"/>
                <a:ea typeface="Urbanist"/>
                <a:cs typeface="Urbanist"/>
                <a:sym typeface="Urbanist"/>
              </a:rPr>
              <a:t> Weaknesses in the system.</a:t>
            </a:r>
            <a:endParaRPr sz="2800" dirty="0"/>
          </a:p>
        </p:txBody>
      </p:sp>
      <p:sp>
        <p:nvSpPr>
          <p:cNvPr id="12" name="Google Shape;99;p14">
            <a:extLst>
              <a:ext uri="{FF2B5EF4-FFF2-40B4-BE49-F238E27FC236}">
                <a16:creationId xmlns:a16="http://schemas.microsoft.com/office/drawing/2014/main" id="{D1AEDF56-0003-2224-8334-F1B0F6059855}"/>
              </a:ext>
            </a:extLst>
          </p:cNvPr>
          <p:cNvSpPr txBox="1"/>
          <p:nvPr/>
        </p:nvSpPr>
        <p:spPr>
          <a:xfrm>
            <a:off x="2440668" y="6335276"/>
            <a:ext cx="6736555" cy="60324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800" b="1" i="0" u="none" strike="noStrike" cap="none" dirty="0">
                <a:latin typeface="Urbanist"/>
                <a:ea typeface="Urbanist"/>
                <a:cs typeface="Urbanist"/>
                <a:sym typeface="Urbanist"/>
              </a:rPr>
              <a:t>Threats:</a:t>
            </a:r>
            <a:r>
              <a:rPr lang="en-US" sz="2800" b="0" i="0" u="none" strike="noStrike" cap="none" dirty="0">
                <a:latin typeface="Urbanist"/>
                <a:ea typeface="Urbanist"/>
                <a:cs typeface="Urbanist"/>
                <a:sym typeface="Urbanist"/>
              </a:rPr>
              <a:t> Potential for a security violation.</a:t>
            </a:r>
            <a:endParaRPr sz="2800" dirty="0"/>
          </a:p>
        </p:txBody>
      </p:sp>
      <p:sp>
        <p:nvSpPr>
          <p:cNvPr id="13" name="Google Shape;100;p14">
            <a:extLst>
              <a:ext uri="{FF2B5EF4-FFF2-40B4-BE49-F238E27FC236}">
                <a16:creationId xmlns:a16="http://schemas.microsoft.com/office/drawing/2014/main" id="{D3DD0800-0C2A-50EA-61CF-5D39FECB0D2D}"/>
              </a:ext>
            </a:extLst>
          </p:cNvPr>
          <p:cNvSpPr txBox="1"/>
          <p:nvPr/>
        </p:nvSpPr>
        <p:spPr>
          <a:xfrm>
            <a:off x="2514600" y="7480809"/>
            <a:ext cx="8258175" cy="60324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800" b="1" i="0" u="none" strike="noStrike" cap="none" dirty="0">
                <a:latin typeface="Urbanist"/>
                <a:ea typeface="Urbanist"/>
                <a:cs typeface="Urbanist"/>
                <a:sym typeface="Urbanist"/>
              </a:rPr>
              <a:t>Countermeasures:</a:t>
            </a:r>
            <a:r>
              <a:rPr lang="en-US" sz="2800" b="0" i="0" u="none" strike="noStrike" cap="none" dirty="0">
                <a:latin typeface="Urbanist"/>
                <a:ea typeface="Urbanist"/>
                <a:cs typeface="Urbanist"/>
                <a:sym typeface="Urbanist"/>
              </a:rPr>
              <a:t> Means to mitigate threats.</a:t>
            </a:r>
            <a:endParaRPr sz="2800" dirty="0"/>
          </a:p>
        </p:txBody>
      </p:sp>
    </p:spTree>
    <p:extLst>
      <p:ext uri="{BB962C8B-B14F-4D97-AF65-F5344CB8AC3E}">
        <p14:creationId xmlns:p14="http://schemas.microsoft.com/office/powerpoint/2010/main" val="22250076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C6CAB-1327-AAF8-3CD8-2F29D31320D2}"/>
            </a:ext>
          </a:extLst>
        </p:cNvPr>
        <p:cNvGrpSpPr/>
        <p:nvPr/>
      </p:nvGrpSpPr>
      <p:grpSpPr>
        <a:xfrm>
          <a:off x="0" y="0"/>
          <a:ext cx="0" cy="0"/>
          <a:chOff x="0" y="0"/>
          <a:chExt cx="0" cy="0"/>
        </a:xfrm>
      </p:grpSpPr>
      <p:sp>
        <p:nvSpPr>
          <p:cNvPr id="37890" name="Title 1">
            <a:extLst>
              <a:ext uri="{FF2B5EF4-FFF2-40B4-BE49-F238E27FC236}">
                <a16:creationId xmlns:a16="http://schemas.microsoft.com/office/drawing/2014/main" id="{3B5894F9-4FEB-7D66-CC72-4E17529CE157}"/>
              </a:ext>
            </a:extLst>
          </p:cNvPr>
          <p:cNvSpPr>
            <a:spLocks noGrp="1"/>
          </p:cNvSpPr>
          <p:nvPr>
            <p:ph type="title"/>
          </p:nvPr>
        </p:nvSpPr>
        <p:spPr>
          <a:xfrm>
            <a:off x="3455195" y="95250"/>
            <a:ext cx="11375231" cy="1619250"/>
          </a:xfrm>
        </p:spPr>
        <p:txBody>
          <a:bodyPr/>
          <a:lstStyle/>
          <a:p>
            <a:pPr>
              <a:defRPr/>
            </a:pPr>
            <a:r>
              <a:rPr lang="en-US" sz="4800" dirty="0"/>
              <a:t>A Model for Computer Security</a:t>
            </a:r>
            <a:endParaRPr lang="en-US" sz="4800" dirty="0">
              <a:effectLst>
                <a:outerShdw blurRad="38100" dist="38100" dir="2700000" algn="tl">
                  <a:srgbClr val="000000">
                    <a:alpha val="43137"/>
                  </a:srgbClr>
                </a:outerShdw>
              </a:effectLst>
            </a:endParaRPr>
          </a:p>
        </p:txBody>
      </p:sp>
      <p:sp>
        <p:nvSpPr>
          <p:cNvPr id="3" name="Google Shape;94;p14">
            <a:extLst>
              <a:ext uri="{FF2B5EF4-FFF2-40B4-BE49-F238E27FC236}">
                <a16:creationId xmlns:a16="http://schemas.microsoft.com/office/drawing/2014/main" id="{27040A00-7AB2-7463-E1AE-401DCFF84AC5}"/>
              </a:ext>
            </a:extLst>
          </p:cNvPr>
          <p:cNvSpPr txBox="1"/>
          <p:nvPr/>
        </p:nvSpPr>
        <p:spPr>
          <a:xfrm>
            <a:off x="2514600" y="1806677"/>
            <a:ext cx="5590698" cy="4308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00" b="1" i="0" u="none" strike="noStrike" cap="none" dirty="0">
                <a:solidFill>
                  <a:srgbClr val="38BDF8"/>
                </a:solidFill>
                <a:latin typeface="Urbanist"/>
                <a:ea typeface="Urbanist"/>
                <a:cs typeface="Urbanist"/>
                <a:sym typeface="Urbanist"/>
              </a:rPr>
              <a:t>Relationship Framework</a:t>
            </a:r>
            <a:endParaRPr sz="2800" dirty="0"/>
          </a:p>
        </p:txBody>
      </p:sp>
      <p:sp>
        <p:nvSpPr>
          <p:cNvPr id="8" name="Google Shape;95;p14">
            <a:extLst>
              <a:ext uri="{FF2B5EF4-FFF2-40B4-BE49-F238E27FC236}">
                <a16:creationId xmlns:a16="http://schemas.microsoft.com/office/drawing/2014/main" id="{1DC49FBD-DB76-C5E7-9E7E-CCEB85586991}"/>
              </a:ext>
            </a:extLst>
          </p:cNvPr>
          <p:cNvSpPr txBox="1"/>
          <p:nvPr/>
        </p:nvSpPr>
        <p:spPr>
          <a:xfrm>
            <a:off x="2467896" y="2504570"/>
            <a:ext cx="12162503" cy="60324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800" b="0" i="0" u="none" strike="noStrike" cap="none" dirty="0">
                <a:latin typeface="Urbanist"/>
                <a:ea typeface="Urbanist"/>
                <a:cs typeface="Urbanist"/>
                <a:sym typeface="Urbanist"/>
              </a:rPr>
              <a:t>The model defines the interactions between four key components:</a:t>
            </a:r>
            <a:endParaRPr sz="2800" dirty="0"/>
          </a:p>
        </p:txBody>
      </p:sp>
      <p:sp>
        <p:nvSpPr>
          <p:cNvPr id="10" name="Google Shape;97;p14">
            <a:extLst>
              <a:ext uri="{FF2B5EF4-FFF2-40B4-BE49-F238E27FC236}">
                <a16:creationId xmlns:a16="http://schemas.microsoft.com/office/drawing/2014/main" id="{0D6D4F34-DBD6-ABDB-2CFD-2A3F26CA7336}"/>
              </a:ext>
            </a:extLst>
          </p:cNvPr>
          <p:cNvSpPr txBox="1"/>
          <p:nvPr/>
        </p:nvSpPr>
        <p:spPr>
          <a:xfrm>
            <a:off x="2514600" y="3758497"/>
            <a:ext cx="9829800" cy="60324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800" b="1" i="0" u="none" strike="noStrike" cap="none" dirty="0">
                <a:latin typeface="Urbanist"/>
                <a:ea typeface="Urbanist"/>
                <a:cs typeface="Urbanist"/>
                <a:sym typeface="Urbanist"/>
              </a:rPr>
              <a:t>Assets:</a:t>
            </a:r>
            <a:r>
              <a:rPr lang="en-US" sz="2800" b="0" i="0" u="none" strike="noStrike" cap="none" dirty="0">
                <a:latin typeface="Urbanist"/>
                <a:ea typeface="Urbanist"/>
                <a:cs typeface="Urbanist"/>
                <a:sym typeface="Urbanist"/>
              </a:rPr>
              <a:t> Hardware, software, and data that require protection.</a:t>
            </a:r>
            <a:endParaRPr sz="2800" dirty="0"/>
          </a:p>
        </p:txBody>
      </p:sp>
      <p:sp>
        <p:nvSpPr>
          <p:cNvPr id="11" name="Google Shape;98;p14">
            <a:extLst>
              <a:ext uri="{FF2B5EF4-FFF2-40B4-BE49-F238E27FC236}">
                <a16:creationId xmlns:a16="http://schemas.microsoft.com/office/drawing/2014/main" id="{31BD4BCF-D266-D705-0803-375ECB9A9A36}"/>
              </a:ext>
            </a:extLst>
          </p:cNvPr>
          <p:cNvSpPr txBox="1"/>
          <p:nvPr/>
        </p:nvSpPr>
        <p:spPr>
          <a:xfrm>
            <a:off x="2442662" y="5070288"/>
            <a:ext cx="7267575" cy="60324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800" b="1" i="0" u="none" strike="noStrike" cap="none" dirty="0">
                <a:latin typeface="Urbanist"/>
                <a:ea typeface="Urbanist"/>
                <a:cs typeface="Urbanist"/>
                <a:sym typeface="Urbanist"/>
              </a:rPr>
              <a:t>Vulnerabilities:</a:t>
            </a:r>
            <a:r>
              <a:rPr lang="en-US" sz="2800" b="0" i="0" u="none" strike="noStrike" cap="none" dirty="0">
                <a:latin typeface="Urbanist"/>
                <a:ea typeface="Urbanist"/>
                <a:cs typeface="Urbanist"/>
                <a:sym typeface="Urbanist"/>
              </a:rPr>
              <a:t> Weaknesses in the system.</a:t>
            </a:r>
            <a:endParaRPr sz="2800" dirty="0"/>
          </a:p>
        </p:txBody>
      </p:sp>
      <p:sp>
        <p:nvSpPr>
          <p:cNvPr id="12" name="Google Shape;99;p14">
            <a:extLst>
              <a:ext uri="{FF2B5EF4-FFF2-40B4-BE49-F238E27FC236}">
                <a16:creationId xmlns:a16="http://schemas.microsoft.com/office/drawing/2014/main" id="{125769B1-86EF-9DBA-B0A1-21928A16341F}"/>
              </a:ext>
            </a:extLst>
          </p:cNvPr>
          <p:cNvSpPr txBox="1"/>
          <p:nvPr/>
        </p:nvSpPr>
        <p:spPr>
          <a:xfrm>
            <a:off x="2440668" y="6335276"/>
            <a:ext cx="6736555" cy="60324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800" b="1" i="0" u="none" strike="noStrike" cap="none" dirty="0">
                <a:latin typeface="Urbanist"/>
                <a:ea typeface="Urbanist"/>
                <a:cs typeface="Urbanist"/>
                <a:sym typeface="Urbanist"/>
              </a:rPr>
              <a:t>Threats:</a:t>
            </a:r>
            <a:r>
              <a:rPr lang="en-US" sz="2800" b="0" i="0" u="none" strike="noStrike" cap="none" dirty="0">
                <a:latin typeface="Urbanist"/>
                <a:ea typeface="Urbanist"/>
                <a:cs typeface="Urbanist"/>
                <a:sym typeface="Urbanist"/>
              </a:rPr>
              <a:t> Potential for a security violation.</a:t>
            </a:r>
            <a:endParaRPr sz="2800" dirty="0"/>
          </a:p>
        </p:txBody>
      </p:sp>
      <p:sp>
        <p:nvSpPr>
          <p:cNvPr id="13" name="Google Shape;100;p14">
            <a:extLst>
              <a:ext uri="{FF2B5EF4-FFF2-40B4-BE49-F238E27FC236}">
                <a16:creationId xmlns:a16="http://schemas.microsoft.com/office/drawing/2014/main" id="{F044B0C8-32A4-69B9-F8F2-D80D4B590034}"/>
              </a:ext>
            </a:extLst>
          </p:cNvPr>
          <p:cNvSpPr txBox="1"/>
          <p:nvPr/>
        </p:nvSpPr>
        <p:spPr>
          <a:xfrm>
            <a:off x="2514600" y="7480809"/>
            <a:ext cx="8258175" cy="60324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800" b="1" i="0" u="none" strike="noStrike" cap="none" dirty="0">
                <a:latin typeface="Urbanist"/>
                <a:ea typeface="Urbanist"/>
                <a:cs typeface="Urbanist"/>
                <a:sym typeface="Urbanist"/>
              </a:rPr>
              <a:t>Countermeasures:</a:t>
            </a:r>
            <a:r>
              <a:rPr lang="en-US" sz="2800" b="0" i="0" u="none" strike="noStrike" cap="none" dirty="0">
                <a:latin typeface="Urbanist"/>
                <a:ea typeface="Urbanist"/>
                <a:cs typeface="Urbanist"/>
                <a:sym typeface="Urbanist"/>
              </a:rPr>
              <a:t> Means to mitigate threats.</a:t>
            </a:r>
            <a:endParaRPr sz="2800" dirty="0"/>
          </a:p>
        </p:txBody>
      </p:sp>
    </p:spTree>
    <p:extLst>
      <p:ext uri="{BB962C8B-B14F-4D97-AF65-F5344CB8AC3E}">
        <p14:creationId xmlns:p14="http://schemas.microsoft.com/office/powerpoint/2010/main" val="91158861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0501C-85B3-C0D3-5ADA-4F703E71215C}"/>
            </a:ext>
          </a:extLst>
        </p:cNvPr>
        <p:cNvGrpSpPr/>
        <p:nvPr/>
      </p:nvGrpSpPr>
      <p:grpSpPr>
        <a:xfrm>
          <a:off x="0" y="0"/>
          <a:ext cx="0" cy="0"/>
          <a:chOff x="0" y="0"/>
          <a:chExt cx="0" cy="0"/>
        </a:xfrm>
      </p:grpSpPr>
      <p:sp>
        <p:nvSpPr>
          <p:cNvPr id="37890" name="Title 1">
            <a:extLst>
              <a:ext uri="{FF2B5EF4-FFF2-40B4-BE49-F238E27FC236}">
                <a16:creationId xmlns:a16="http://schemas.microsoft.com/office/drawing/2014/main" id="{C6E99D27-628F-5FA0-A855-E7675352C208}"/>
              </a:ext>
            </a:extLst>
          </p:cNvPr>
          <p:cNvSpPr>
            <a:spLocks noGrp="1"/>
          </p:cNvSpPr>
          <p:nvPr>
            <p:ph type="title"/>
          </p:nvPr>
        </p:nvSpPr>
        <p:spPr>
          <a:xfrm>
            <a:off x="3455195" y="95250"/>
            <a:ext cx="11375231" cy="1619250"/>
          </a:xfrm>
        </p:spPr>
        <p:txBody>
          <a:bodyPr/>
          <a:lstStyle/>
          <a:p>
            <a:pPr>
              <a:defRPr/>
            </a:pPr>
            <a:r>
              <a:rPr lang="en-US" sz="4800" dirty="0"/>
              <a:t>Computer Security Terminologies</a:t>
            </a:r>
            <a:endParaRPr lang="en-US" sz="4800" dirty="0">
              <a:effectLst>
                <a:outerShdw blurRad="38100" dist="38100" dir="2700000" algn="tl">
                  <a:srgbClr val="000000">
                    <a:alpha val="43137"/>
                  </a:srgbClr>
                </a:outerShdw>
              </a:effectLst>
            </a:endParaRPr>
          </a:p>
        </p:txBody>
      </p:sp>
      <p:pic>
        <p:nvPicPr>
          <p:cNvPr id="4" name="Picture 3">
            <a:extLst>
              <a:ext uri="{FF2B5EF4-FFF2-40B4-BE49-F238E27FC236}">
                <a16:creationId xmlns:a16="http://schemas.microsoft.com/office/drawing/2014/main" id="{8B930BBE-4C44-749F-0259-F33461C05B8D}"/>
              </a:ext>
            </a:extLst>
          </p:cNvPr>
          <p:cNvPicPr>
            <a:picLocks noChangeAspect="1"/>
          </p:cNvPicPr>
          <p:nvPr/>
        </p:nvPicPr>
        <p:blipFill>
          <a:blip r:embed="rId3"/>
          <a:stretch>
            <a:fillRect/>
          </a:stretch>
        </p:blipFill>
        <p:spPr>
          <a:xfrm>
            <a:off x="2590800" y="1409700"/>
            <a:ext cx="12677775" cy="8334375"/>
          </a:xfrm>
          <a:prstGeom prst="rect">
            <a:avLst/>
          </a:prstGeom>
        </p:spPr>
      </p:pic>
    </p:spTree>
    <p:extLst>
      <p:ext uri="{BB962C8B-B14F-4D97-AF65-F5344CB8AC3E}">
        <p14:creationId xmlns:p14="http://schemas.microsoft.com/office/powerpoint/2010/main" val="1055800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3419476" y="685800"/>
            <a:ext cx="12284870" cy="1002507"/>
          </a:xfrm>
        </p:spPr>
        <p:txBody>
          <a:bodyPr/>
          <a:lstStyle/>
          <a:p>
            <a:r>
              <a:rPr lang="tr-TR" altLang="tr-TR" sz="5400"/>
              <a:t>Relationships among the security Concepts</a:t>
            </a:r>
          </a:p>
        </p:txBody>
      </p:sp>
      <p:sp>
        <p:nvSpPr>
          <p:cNvPr id="27651"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800">
                <a:solidFill>
                  <a:schemeClr val="tx1"/>
                </a:solidFill>
                <a:latin typeface="Arial" pitchFamily="34" charset="0"/>
              </a:defRPr>
            </a:lvl1pPr>
            <a:lvl2pPr>
              <a:defRPr sz="4200">
                <a:solidFill>
                  <a:schemeClr val="tx1"/>
                </a:solidFill>
                <a:latin typeface="Arial" pitchFamily="34" charset="0"/>
              </a:defRPr>
            </a:lvl2pPr>
            <a:lvl3pPr>
              <a:defRPr sz="3600">
                <a:solidFill>
                  <a:schemeClr val="tx1"/>
                </a:solidFill>
                <a:latin typeface="Arial" pitchFamily="34" charset="0"/>
              </a:defRPr>
            </a:lvl3pPr>
            <a:lvl4pPr>
              <a:defRPr sz="3000">
                <a:solidFill>
                  <a:schemeClr val="tx1"/>
                </a:solidFill>
                <a:latin typeface="Arial" pitchFamily="34" charset="0"/>
              </a:defRPr>
            </a:lvl4pPr>
            <a:lvl5pPr>
              <a:defRPr sz="3000">
                <a:solidFill>
                  <a:schemeClr val="tx1"/>
                </a:solidFill>
                <a:latin typeface="Arial" pitchFamily="34" charset="0"/>
              </a:defRPr>
            </a:lvl5pPr>
            <a:lvl6pPr eaLnBrk="0" hangingPunct="0">
              <a:defRPr sz="3000">
                <a:solidFill>
                  <a:schemeClr val="tx1"/>
                </a:solidFill>
                <a:latin typeface="Arial" pitchFamily="34" charset="0"/>
              </a:defRPr>
            </a:lvl6pPr>
            <a:lvl7pPr eaLnBrk="0" hangingPunct="0">
              <a:defRPr sz="3000">
                <a:solidFill>
                  <a:schemeClr val="tx1"/>
                </a:solidFill>
                <a:latin typeface="Arial" pitchFamily="34" charset="0"/>
              </a:defRPr>
            </a:lvl7pPr>
            <a:lvl8pPr eaLnBrk="0" hangingPunct="0">
              <a:defRPr sz="3000">
                <a:solidFill>
                  <a:schemeClr val="tx1"/>
                </a:solidFill>
                <a:latin typeface="Arial" pitchFamily="34" charset="0"/>
              </a:defRPr>
            </a:lvl8pPr>
            <a:lvl9pPr eaLnBrk="0" hangingPunct="0">
              <a:defRPr sz="3000">
                <a:solidFill>
                  <a:schemeClr val="tx1"/>
                </a:solidFill>
                <a:latin typeface="Arial" pitchFamily="34" charset="0"/>
              </a:defRPr>
            </a:lvl9pPr>
          </a:lstStyle>
          <a:p>
            <a:fld id="{68CAC70C-AB3E-4329-9FD7-E40E88E39A48}" type="slidenum">
              <a:rPr lang="en-US" altLang="tr-TR" sz="2100"/>
              <a:pPr/>
              <a:t>52</a:t>
            </a:fld>
            <a:endParaRPr lang="en-US" altLang="tr-TR" sz="2100"/>
          </a:p>
        </p:txBody>
      </p:sp>
      <p:pic>
        <p:nvPicPr>
          <p:cNvPr id="27652" name="Picture 2"/>
          <p:cNvPicPr>
            <a:picLocks noChangeAspect="1" noChangeArrowheads="1"/>
          </p:cNvPicPr>
          <p:nvPr/>
        </p:nvPicPr>
        <p:blipFill>
          <a:blip r:embed="rId2">
            <a:extLst>
              <a:ext uri="{28A0092B-C50C-407E-A947-70E740481C1C}">
                <a14:useLocalDpi xmlns:a14="http://schemas.microsoft.com/office/drawing/2010/main" val="0"/>
              </a:ext>
            </a:extLst>
          </a:blip>
          <a:srcRect b="13457"/>
          <a:stretch>
            <a:fillRect/>
          </a:stretch>
        </p:blipFill>
        <p:spPr bwMode="auto">
          <a:xfrm>
            <a:off x="3314700" y="2057400"/>
            <a:ext cx="11087100" cy="76348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817081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5F5E6-3E70-A79C-ADB8-D5604D079D6D}"/>
            </a:ext>
          </a:extLst>
        </p:cNvPr>
        <p:cNvGrpSpPr/>
        <p:nvPr/>
      </p:nvGrpSpPr>
      <p:grpSpPr>
        <a:xfrm>
          <a:off x="0" y="0"/>
          <a:ext cx="0" cy="0"/>
          <a:chOff x="0" y="0"/>
          <a:chExt cx="0" cy="0"/>
        </a:xfrm>
      </p:grpSpPr>
      <p:sp>
        <p:nvSpPr>
          <p:cNvPr id="37890" name="Title 1">
            <a:extLst>
              <a:ext uri="{FF2B5EF4-FFF2-40B4-BE49-F238E27FC236}">
                <a16:creationId xmlns:a16="http://schemas.microsoft.com/office/drawing/2014/main" id="{3F111B14-B3BD-39E5-6C23-1ACB5E40A3F3}"/>
              </a:ext>
            </a:extLst>
          </p:cNvPr>
          <p:cNvSpPr>
            <a:spLocks noGrp="1"/>
          </p:cNvSpPr>
          <p:nvPr>
            <p:ph type="title"/>
          </p:nvPr>
        </p:nvSpPr>
        <p:spPr>
          <a:xfrm>
            <a:off x="3455195" y="95250"/>
            <a:ext cx="11375231" cy="1619250"/>
          </a:xfrm>
        </p:spPr>
        <p:txBody>
          <a:bodyPr/>
          <a:lstStyle/>
          <a:p>
            <a:pPr>
              <a:defRPr/>
            </a:pPr>
            <a:r>
              <a:rPr lang="en-US" sz="4800" dirty="0"/>
              <a:t>Threat Consequences</a:t>
            </a:r>
            <a:endParaRPr lang="en-US" sz="4800" dirty="0">
              <a:effectLst>
                <a:outerShdw blurRad="38100" dist="38100" dir="2700000" algn="tl">
                  <a:srgbClr val="000000">
                    <a:alpha val="43137"/>
                  </a:srgbClr>
                </a:outerShdw>
              </a:effectLst>
            </a:endParaRPr>
          </a:p>
        </p:txBody>
      </p:sp>
      <p:pic>
        <p:nvPicPr>
          <p:cNvPr id="6" name="Picture 5">
            <a:extLst>
              <a:ext uri="{FF2B5EF4-FFF2-40B4-BE49-F238E27FC236}">
                <a16:creationId xmlns:a16="http://schemas.microsoft.com/office/drawing/2014/main" id="{4808CFEE-3332-6953-BB4C-24D7B52180CB}"/>
              </a:ext>
            </a:extLst>
          </p:cNvPr>
          <p:cNvPicPr>
            <a:picLocks noChangeAspect="1"/>
          </p:cNvPicPr>
          <p:nvPr/>
        </p:nvPicPr>
        <p:blipFill>
          <a:blip r:embed="rId3"/>
          <a:stretch>
            <a:fillRect/>
          </a:stretch>
        </p:blipFill>
        <p:spPr>
          <a:xfrm>
            <a:off x="3810000" y="1714500"/>
            <a:ext cx="9915525" cy="7953375"/>
          </a:xfrm>
          <a:prstGeom prst="rect">
            <a:avLst/>
          </a:prstGeom>
        </p:spPr>
      </p:pic>
    </p:spTree>
    <p:extLst>
      <p:ext uri="{BB962C8B-B14F-4D97-AF65-F5344CB8AC3E}">
        <p14:creationId xmlns:p14="http://schemas.microsoft.com/office/powerpoint/2010/main" val="344486955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D808EDD7-1798-A066-10EE-1FD300991FC1}"/>
            </a:ext>
          </a:extLst>
        </p:cNvPr>
        <p:cNvGrpSpPr/>
        <p:nvPr/>
      </p:nvGrpSpPr>
      <p:grpSpPr>
        <a:xfrm>
          <a:off x="0" y="0"/>
          <a:ext cx="0" cy="0"/>
          <a:chOff x="0" y="0"/>
          <a:chExt cx="0" cy="0"/>
        </a:xfrm>
      </p:grpSpPr>
      <p:sp>
        <p:nvSpPr>
          <p:cNvPr id="37890" name="Title 1">
            <a:extLst>
              <a:ext uri="{FF2B5EF4-FFF2-40B4-BE49-F238E27FC236}">
                <a16:creationId xmlns:a16="http://schemas.microsoft.com/office/drawing/2014/main" id="{E00C81D0-B2D5-8783-6A29-3A05595C73BA}"/>
              </a:ext>
            </a:extLst>
          </p:cNvPr>
          <p:cNvSpPr>
            <a:spLocks noGrp="1"/>
          </p:cNvSpPr>
          <p:nvPr>
            <p:ph type="title"/>
          </p:nvPr>
        </p:nvSpPr>
        <p:spPr>
          <a:xfrm>
            <a:off x="3124200" y="0"/>
            <a:ext cx="11375231" cy="1619250"/>
          </a:xfrm>
        </p:spPr>
        <p:txBody>
          <a:bodyPr/>
          <a:lstStyle/>
          <a:p>
            <a:pPr>
              <a:defRPr/>
            </a:pPr>
            <a:r>
              <a:rPr lang="en-US" sz="4800" dirty="0">
                <a:solidFill>
                  <a:schemeClr val="bg2"/>
                </a:solidFill>
              </a:rPr>
              <a:t>Threat Consequences</a:t>
            </a:r>
            <a:endParaRPr lang="en-US" sz="4800" dirty="0">
              <a:solidFill>
                <a:schemeClr val="bg2"/>
              </a:solidFill>
              <a:effectLst>
                <a:outerShdw blurRad="38100" dist="38100" dir="2700000" algn="tl">
                  <a:srgbClr val="000000">
                    <a:alpha val="43137"/>
                  </a:srgbClr>
                </a:outerShdw>
              </a:effectLst>
            </a:endParaRPr>
          </a:p>
        </p:txBody>
      </p:sp>
      <p:pic>
        <p:nvPicPr>
          <p:cNvPr id="3" name="Picture 2">
            <a:extLst>
              <a:ext uri="{FF2B5EF4-FFF2-40B4-BE49-F238E27FC236}">
                <a16:creationId xmlns:a16="http://schemas.microsoft.com/office/drawing/2014/main" id="{19B766E7-28DA-56D3-5B7B-3317948290F7}"/>
              </a:ext>
            </a:extLst>
          </p:cNvPr>
          <p:cNvPicPr>
            <a:picLocks noChangeAspect="1"/>
          </p:cNvPicPr>
          <p:nvPr/>
        </p:nvPicPr>
        <p:blipFill>
          <a:blip r:embed="rId3"/>
          <a:stretch>
            <a:fillRect/>
          </a:stretch>
        </p:blipFill>
        <p:spPr>
          <a:xfrm>
            <a:off x="1676400" y="1257300"/>
            <a:ext cx="7873657" cy="8610600"/>
          </a:xfrm>
          <a:prstGeom prst="rect">
            <a:avLst/>
          </a:prstGeom>
        </p:spPr>
      </p:pic>
      <p:sp>
        <p:nvSpPr>
          <p:cNvPr id="5" name="TextBox 4">
            <a:extLst>
              <a:ext uri="{FF2B5EF4-FFF2-40B4-BE49-F238E27FC236}">
                <a16:creationId xmlns:a16="http://schemas.microsoft.com/office/drawing/2014/main" id="{5B33B120-2192-F718-908A-53CA1F425C6E}"/>
              </a:ext>
            </a:extLst>
          </p:cNvPr>
          <p:cNvSpPr txBox="1"/>
          <p:nvPr/>
        </p:nvSpPr>
        <p:spPr>
          <a:xfrm>
            <a:off x="12039600" y="3086100"/>
            <a:ext cx="3581400" cy="3416320"/>
          </a:xfrm>
          <a:prstGeom prst="rect">
            <a:avLst/>
          </a:prstGeom>
          <a:noFill/>
        </p:spPr>
        <p:txBody>
          <a:bodyPr wrap="square">
            <a:spAutoFit/>
          </a:bodyPr>
          <a:lstStyle/>
          <a:p>
            <a:r>
              <a:rPr lang="en-US" sz="3600" dirty="0">
                <a:solidFill>
                  <a:schemeClr val="bg1"/>
                </a:solidFill>
              </a:rPr>
              <a:t>Table 1.2 Threat Consequences, and the Types of Threat Actions that Cause Each Consequence</a:t>
            </a:r>
          </a:p>
        </p:txBody>
      </p:sp>
    </p:spTree>
    <p:extLst>
      <p:ext uri="{BB962C8B-B14F-4D97-AF65-F5344CB8AC3E}">
        <p14:creationId xmlns:p14="http://schemas.microsoft.com/office/powerpoint/2010/main" val="126864241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86" name="Google Shape;86;p13"/>
          <p:cNvSpPr txBox="1"/>
          <p:nvPr/>
        </p:nvSpPr>
        <p:spPr>
          <a:xfrm>
            <a:off x="871538" y="871538"/>
            <a:ext cx="17372171" cy="900246"/>
          </a:xfrm>
          <a:prstGeom prst="rect">
            <a:avLst/>
          </a:prstGeom>
          <a:noFill/>
          <a:ln>
            <a:noFill/>
          </a:ln>
        </p:spPr>
        <p:txBody>
          <a:bodyPr spcFirstLastPara="1" wrap="square" lIns="0" tIns="0" rIns="0" bIns="0" anchor="t" anchorCtr="0">
            <a:spAutoFit/>
          </a:bodyPr>
          <a:lstStyle/>
          <a:p>
            <a:r>
              <a:rPr lang="en-US" sz="5850" b="1" dirty="0">
                <a:solidFill>
                  <a:srgbClr val="F8FAFC"/>
                </a:solidFill>
                <a:latin typeface="Outfit"/>
                <a:ea typeface="Outfit"/>
                <a:cs typeface="Outfit"/>
                <a:sym typeface="Outfit"/>
              </a:rPr>
              <a:t>Countermeasures</a:t>
            </a:r>
            <a:endParaRPr sz="2700" dirty="0"/>
          </a:p>
        </p:txBody>
      </p:sp>
      <p:sp>
        <p:nvSpPr>
          <p:cNvPr id="87" name="Google Shape;87;p13"/>
          <p:cNvSpPr txBox="1"/>
          <p:nvPr/>
        </p:nvSpPr>
        <p:spPr>
          <a:xfrm>
            <a:off x="871538" y="2271713"/>
            <a:ext cx="16544925" cy="380873"/>
          </a:xfrm>
          <a:prstGeom prst="rect">
            <a:avLst/>
          </a:prstGeom>
          <a:noFill/>
          <a:ln>
            <a:noFill/>
          </a:ln>
        </p:spPr>
        <p:txBody>
          <a:bodyPr spcFirstLastPara="1" wrap="square" lIns="0" tIns="0" rIns="0" bIns="0" anchor="t" anchorCtr="0">
            <a:spAutoFit/>
          </a:bodyPr>
          <a:lstStyle/>
          <a:p>
            <a:r>
              <a:rPr lang="en-US" sz="2475" dirty="0">
                <a:solidFill>
                  <a:srgbClr val="94A3B8"/>
                </a:solidFill>
                <a:latin typeface="Inter"/>
                <a:ea typeface="Inter"/>
                <a:cs typeface="Inter"/>
                <a:sym typeface="Inter"/>
              </a:rPr>
              <a:t>THE LIFECYCLE OF SECURITY MITIGATION &amp; RESIDUAL RISK</a:t>
            </a:r>
            <a:endParaRPr sz="2700" dirty="0"/>
          </a:p>
        </p:txBody>
      </p:sp>
      <p:grpSp>
        <p:nvGrpSpPr>
          <p:cNvPr id="2" name="Group 1">
            <a:extLst>
              <a:ext uri="{FF2B5EF4-FFF2-40B4-BE49-F238E27FC236}">
                <a16:creationId xmlns:a16="http://schemas.microsoft.com/office/drawing/2014/main" id="{2544BEF6-25BF-A6CF-02AC-9E346BEA69CE}"/>
              </a:ext>
            </a:extLst>
          </p:cNvPr>
          <p:cNvGrpSpPr/>
          <p:nvPr/>
        </p:nvGrpSpPr>
        <p:grpSpPr>
          <a:xfrm>
            <a:off x="871538" y="3357563"/>
            <a:ext cx="16544926" cy="6572250"/>
            <a:chOff x="871538" y="3357563"/>
            <a:chExt cx="16544926" cy="6572250"/>
          </a:xfrm>
        </p:grpSpPr>
        <p:pic>
          <p:nvPicPr>
            <p:cNvPr id="85" name="Google Shape;85;p13" descr="image.png"/>
            <p:cNvPicPr preferRelativeResize="0"/>
            <p:nvPr/>
          </p:nvPicPr>
          <p:blipFill rotWithShape="1">
            <a:blip r:embed="rId4">
              <a:alphaModFix/>
            </a:blip>
            <a:srcRect/>
            <a:stretch/>
          </p:blipFill>
          <p:spPr>
            <a:xfrm>
              <a:off x="871538" y="3357563"/>
              <a:ext cx="16544925" cy="6572250"/>
            </a:xfrm>
            <a:prstGeom prst="rect">
              <a:avLst/>
            </a:prstGeom>
            <a:noFill/>
            <a:ln>
              <a:noFill/>
            </a:ln>
          </p:spPr>
        </p:pic>
        <p:sp>
          <p:nvSpPr>
            <p:cNvPr id="88" name="Google Shape;88;p13"/>
            <p:cNvSpPr txBox="1"/>
            <p:nvPr/>
          </p:nvSpPr>
          <p:spPr>
            <a:xfrm>
              <a:off x="12430126" y="9172575"/>
              <a:ext cx="4986338" cy="242374"/>
            </a:xfrm>
            <a:prstGeom prst="rect">
              <a:avLst/>
            </a:prstGeom>
            <a:noFill/>
            <a:ln>
              <a:noFill/>
            </a:ln>
          </p:spPr>
          <p:txBody>
            <a:bodyPr spcFirstLastPara="1" wrap="square" lIns="0" tIns="0" rIns="0" bIns="0" anchor="t" anchorCtr="0">
              <a:spAutoFit/>
            </a:bodyPr>
            <a:lstStyle/>
            <a:p>
              <a:r>
                <a:rPr lang="en-US" sz="1575">
                  <a:solidFill>
                    <a:srgbClr val="475569"/>
                  </a:solidFill>
                  <a:latin typeface="Inter"/>
                  <a:ea typeface="Inter"/>
                  <a:cs typeface="Inter"/>
                  <a:sym typeface="Inter"/>
                </a:rPr>
                <a:t>Computer Security: Principles and Practice | Stallings</a:t>
              </a:r>
              <a:endParaRPr sz="2700"/>
            </a:p>
          </p:txBody>
        </p:sp>
        <p:pic>
          <p:nvPicPr>
            <p:cNvPr id="89" name="Google Shape;89;p13" descr="image.png"/>
            <p:cNvPicPr preferRelativeResize="0"/>
            <p:nvPr/>
          </p:nvPicPr>
          <p:blipFill rotWithShape="1">
            <a:blip r:embed="rId5">
              <a:alphaModFix/>
            </a:blip>
            <a:srcRect/>
            <a:stretch/>
          </p:blipFill>
          <p:spPr>
            <a:xfrm>
              <a:off x="8786813" y="6286500"/>
              <a:ext cx="714375" cy="714375"/>
            </a:xfrm>
            <a:prstGeom prst="rect">
              <a:avLst/>
            </a:prstGeom>
            <a:noFill/>
            <a:ln>
              <a:noFill/>
            </a:ln>
          </p:spPr>
        </p:pic>
        <p:pic>
          <p:nvPicPr>
            <p:cNvPr id="90" name="Google Shape;90;p13" descr="image.png"/>
            <p:cNvPicPr preferRelativeResize="0"/>
            <p:nvPr/>
          </p:nvPicPr>
          <p:blipFill rotWithShape="1">
            <a:blip r:embed="rId6">
              <a:alphaModFix/>
            </a:blip>
            <a:srcRect/>
            <a:stretch/>
          </p:blipFill>
          <p:spPr>
            <a:xfrm>
              <a:off x="8143875" y="5643563"/>
              <a:ext cx="2000250" cy="2000250"/>
            </a:xfrm>
            <a:prstGeom prst="rect">
              <a:avLst/>
            </a:prstGeom>
            <a:noFill/>
            <a:ln>
              <a:noFill/>
            </a:ln>
          </p:spPr>
        </p:pic>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pic>
        <p:nvPicPr>
          <p:cNvPr id="115" name="Google Shape;115;p16" descr="image.png"/>
          <p:cNvPicPr preferRelativeResize="0"/>
          <p:nvPr/>
        </p:nvPicPr>
        <p:blipFill rotWithShape="1">
          <a:blip r:embed="rId3">
            <a:alphaModFix/>
          </a:blip>
          <a:srcRect/>
          <a:stretch/>
        </p:blipFill>
        <p:spPr>
          <a:xfrm>
            <a:off x="871538" y="3500438"/>
            <a:ext cx="3921918" cy="4543425"/>
          </a:xfrm>
          <a:prstGeom prst="rect">
            <a:avLst/>
          </a:prstGeom>
          <a:noFill/>
          <a:ln>
            <a:noFill/>
          </a:ln>
        </p:spPr>
      </p:pic>
      <p:pic>
        <p:nvPicPr>
          <p:cNvPr id="116" name="Google Shape;116;p16" descr="image.png"/>
          <p:cNvPicPr preferRelativeResize="0"/>
          <p:nvPr/>
        </p:nvPicPr>
        <p:blipFill rotWithShape="1">
          <a:blip r:embed="rId3">
            <a:alphaModFix/>
          </a:blip>
          <a:srcRect/>
          <a:stretch/>
        </p:blipFill>
        <p:spPr>
          <a:xfrm>
            <a:off x="5079206" y="3500438"/>
            <a:ext cx="3921918" cy="4543425"/>
          </a:xfrm>
          <a:prstGeom prst="rect">
            <a:avLst/>
          </a:prstGeom>
          <a:noFill/>
          <a:ln>
            <a:noFill/>
          </a:ln>
        </p:spPr>
      </p:pic>
      <p:pic>
        <p:nvPicPr>
          <p:cNvPr id="117" name="Google Shape;117;p16" descr="image.png"/>
          <p:cNvPicPr preferRelativeResize="0"/>
          <p:nvPr/>
        </p:nvPicPr>
        <p:blipFill rotWithShape="1">
          <a:blip r:embed="rId3">
            <a:alphaModFix/>
          </a:blip>
          <a:srcRect/>
          <a:stretch/>
        </p:blipFill>
        <p:spPr>
          <a:xfrm>
            <a:off x="9286875" y="3500438"/>
            <a:ext cx="3921918" cy="4543425"/>
          </a:xfrm>
          <a:prstGeom prst="rect">
            <a:avLst/>
          </a:prstGeom>
          <a:noFill/>
          <a:ln>
            <a:noFill/>
          </a:ln>
        </p:spPr>
      </p:pic>
      <p:pic>
        <p:nvPicPr>
          <p:cNvPr id="118" name="Google Shape;118;p16" descr="image.png"/>
          <p:cNvPicPr preferRelativeResize="0"/>
          <p:nvPr/>
        </p:nvPicPr>
        <p:blipFill rotWithShape="1">
          <a:blip r:embed="rId3">
            <a:alphaModFix/>
          </a:blip>
          <a:srcRect/>
          <a:stretch/>
        </p:blipFill>
        <p:spPr>
          <a:xfrm>
            <a:off x="13494543" y="3500438"/>
            <a:ext cx="3921918" cy="4543425"/>
          </a:xfrm>
          <a:prstGeom prst="rect">
            <a:avLst/>
          </a:prstGeom>
          <a:noFill/>
          <a:ln>
            <a:noFill/>
          </a:ln>
        </p:spPr>
      </p:pic>
      <p:sp>
        <p:nvSpPr>
          <p:cNvPr id="119" name="Google Shape;119;p16"/>
          <p:cNvSpPr txBox="1"/>
          <p:nvPr/>
        </p:nvSpPr>
        <p:spPr>
          <a:xfrm>
            <a:off x="1228725" y="4614863"/>
            <a:ext cx="3367920" cy="484748"/>
          </a:xfrm>
          <a:prstGeom prst="rect">
            <a:avLst/>
          </a:prstGeom>
          <a:noFill/>
          <a:ln>
            <a:noFill/>
          </a:ln>
        </p:spPr>
        <p:txBody>
          <a:bodyPr spcFirstLastPara="1" wrap="square" lIns="0" tIns="0" rIns="0" bIns="0" anchor="t" anchorCtr="0">
            <a:spAutoFit/>
          </a:bodyPr>
          <a:lstStyle/>
          <a:p>
            <a:r>
              <a:rPr lang="en-US" sz="3150" b="1">
                <a:solidFill>
                  <a:srgbClr val="DEFF9A"/>
                </a:solidFill>
                <a:latin typeface="Urbanist"/>
                <a:ea typeface="Urbanist"/>
                <a:cs typeface="Urbanist"/>
                <a:sym typeface="Urbanist"/>
              </a:rPr>
              <a:t>Hardware</a:t>
            </a:r>
            <a:endParaRPr sz="2700"/>
          </a:p>
        </p:txBody>
      </p:sp>
      <p:sp>
        <p:nvSpPr>
          <p:cNvPr id="120" name="Google Shape;120;p16"/>
          <p:cNvSpPr txBox="1"/>
          <p:nvPr/>
        </p:nvSpPr>
        <p:spPr>
          <a:xfrm>
            <a:off x="1228725" y="5314951"/>
            <a:ext cx="3207543" cy="2596865"/>
          </a:xfrm>
          <a:prstGeom prst="rect">
            <a:avLst/>
          </a:prstGeom>
          <a:noFill/>
          <a:ln>
            <a:noFill/>
          </a:ln>
        </p:spPr>
        <p:txBody>
          <a:bodyPr spcFirstLastPara="1" wrap="square" lIns="0" tIns="0" rIns="0" bIns="0" anchor="t" anchorCtr="0">
            <a:spAutoFit/>
          </a:bodyPr>
          <a:lstStyle/>
          <a:p>
            <a:pPr>
              <a:lnSpc>
                <a:spcPct val="150000"/>
              </a:lnSpc>
            </a:pPr>
            <a:r>
              <a:rPr lang="en-US" sz="2250">
                <a:solidFill>
                  <a:srgbClr val="94A3B8"/>
                </a:solidFill>
                <a:latin typeface="Urbanist"/>
                <a:ea typeface="Urbanist"/>
                <a:cs typeface="Urbanist"/>
                <a:sym typeface="Urbanist"/>
              </a:rPr>
              <a:t>Physical devices, processors, and storage media. Threats: Theft, destruction, and sabotage.</a:t>
            </a:r>
            <a:endParaRPr sz="2700"/>
          </a:p>
        </p:txBody>
      </p:sp>
      <p:sp>
        <p:nvSpPr>
          <p:cNvPr id="121" name="Google Shape;121;p16"/>
          <p:cNvSpPr txBox="1"/>
          <p:nvPr/>
        </p:nvSpPr>
        <p:spPr>
          <a:xfrm>
            <a:off x="5436393" y="4614863"/>
            <a:ext cx="3367920" cy="484748"/>
          </a:xfrm>
          <a:prstGeom prst="rect">
            <a:avLst/>
          </a:prstGeom>
          <a:noFill/>
          <a:ln>
            <a:noFill/>
          </a:ln>
        </p:spPr>
        <p:txBody>
          <a:bodyPr spcFirstLastPara="1" wrap="square" lIns="0" tIns="0" rIns="0" bIns="0" anchor="t" anchorCtr="0">
            <a:spAutoFit/>
          </a:bodyPr>
          <a:lstStyle/>
          <a:p>
            <a:r>
              <a:rPr lang="en-US" sz="3150" b="1">
                <a:solidFill>
                  <a:srgbClr val="DEFF9A"/>
                </a:solidFill>
                <a:latin typeface="Urbanist"/>
                <a:ea typeface="Urbanist"/>
                <a:cs typeface="Urbanist"/>
                <a:sym typeface="Urbanist"/>
              </a:rPr>
              <a:t>Software</a:t>
            </a:r>
            <a:endParaRPr sz="2700"/>
          </a:p>
        </p:txBody>
      </p:sp>
      <p:sp>
        <p:nvSpPr>
          <p:cNvPr id="122" name="Google Shape;122;p16"/>
          <p:cNvSpPr txBox="1"/>
          <p:nvPr/>
        </p:nvSpPr>
        <p:spPr>
          <a:xfrm>
            <a:off x="5436393" y="5314951"/>
            <a:ext cx="3207543" cy="2077492"/>
          </a:xfrm>
          <a:prstGeom prst="rect">
            <a:avLst/>
          </a:prstGeom>
          <a:noFill/>
          <a:ln>
            <a:noFill/>
          </a:ln>
        </p:spPr>
        <p:txBody>
          <a:bodyPr spcFirstLastPara="1" wrap="square" lIns="0" tIns="0" rIns="0" bIns="0" anchor="t" anchorCtr="0">
            <a:spAutoFit/>
          </a:bodyPr>
          <a:lstStyle/>
          <a:p>
            <a:pPr>
              <a:lnSpc>
                <a:spcPct val="150000"/>
              </a:lnSpc>
            </a:pPr>
            <a:r>
              <a:rPr lang="en-US" sz="2250">
                <a:solidFill>
                  <a:srgbClr val="94A3B8"/>
                </a:solidFill>
                <a:latin typeface="Urbanist"/>
                <a:ea typeface="Urbanist"/>
                <a:cs typeface="Urbanist"/>
                <a:sym typeface="Urbanist"/>
              </a:rPr>
              <a:t>OS, utilities, and applications. Threats: Deletion, alteration, or unauthorized copying.</a:t>
            </a:r>
            <a:endParaRPr sz="2700"/>
          </a:p>
        </p:txBody>
      </p:sp>
      <p:sp>
        <p:nvSpPr>
          <p:cNvPr id="123" name="Google Shape;123;p16"/>
          <p:cNvSpPr txBox="1"/>
          <p:nvPr/>
        </p:nvSpPr>
        <p:spPr>
          <a:xfrm>
            <a:off x="9644063" y="4614863"/>
            <a:ext cx="3367920" cy="484748"/>
          </a:xfrm>
          <a:prstGeom prst="rect">
            <a:avLst/>
          </a:prstGeom>
          <a:noFill/>
          <a:ln>
            <a:noFill/>
          </a:ln>
        </p:spPr>
        <p:txBody>
          <a:bodyPr spcFirstLastPara="1" wrap="square" lIns="0" tIns="0" rIns="0" bIns="0" anchor="t" anchorCtr="0">
            <a:spAutoFit/>
          </a:bodyPr>
          <a:lstStyle/>
          <a:p>
            <a:r>
              <a:rPr lang="en-US" sz="3150" b="1">
                <a:solidFill>
                  <a:srgbClr val="DEFF9A"/>
                </a:solidFill>
                <a:latin typeface="Urbanist"/>
                <a:ea typeface="Urbanist"/>
                <a:cs typeface="Urbanist"/>
                <a:sym typeface="Urbanist"/>
              </a:rPr>
              <a:t>Data</a:t>
            </a:r>
            <a:endParaRPr sz="2700"/>
          </a:p>
        </p:txBody>
      </p:sp>
      <p:sp>
        <p:nvSpPr>
          <p:cNvPr id="124" name="Google Shape;124;p16"/>
          <p:cNvSpPr txBox="1"/>
          <p:nvPr/>
        </p:nvSpPr>
        <p:spPr>
          <a:xfrm>
            <a:off x="9644063" y="5314950"/>
            <a:ext cx="3207543" cy="2077492"/>
          </a:xfrm>
          <a:prstGeom prst="rect">
            <a:avLst/>
          </a:prstGeom>
          <a:noFill/>
          <a:ln>
            <a:noFill/>
          </a:ln>
        </p:spPr>
        <p:txBody>
          <a:bodyPr spcFirstLastPara="1" wrap="square" lIns="0" tIns="0" rIns="0" bIns="0" anchor="t" anchorCtr="0">
            <a:spAutoFit/>
          </a:bodyPr>
          <a:lstStyle/>
          <a:p>
            <a:pPr>
              <a:lnSpc>
                <a:spcPct val="150000"/>
              </a:lnSpc>
            </a:pPr>
            <a:r>
              <a:rPr lang="en-US" sz="2250">
                <a:solidFill>
                  <a:srgbClr val="94A3B8"/>
                </a:solidFill>
                <a:latin typeface="Urbanist"/>
                <a:ea typeface="Urbanist"/>
                <a:cs typeface="Urbanist"/>
                <a:sym typeface="Urbanist"/>
              </a:rPr>
              <a:t>Files, DBs, and sensitive info. Primary target of disclosure and corruption attacks.</a:t>
            </a:r>
            <a:endParaRPr sz="2700"/>
          </a:p>
        </p:txBody>
      </p:sp>
      <p:sp>
        <p:nvSpPr>
          <p:cNvPr id="125" name="Google Shape;125;p16"/>
          <p:cNvSpPr txBox="1"/>
          <p:nvPr/>
        </p:nvSpPr>
        <p:spPr>
          <a:xfrm>
            <a:off x="13851731" y="4614863"/>
            <a:ext cx="3367920" cy="484748"/>
          </a:xfrm>
          <a:prstGeom prst="rect">
            <a:avLst/>
          </a:prstGeom>
          <a:noFill/>
          <a:ln>
            <a:noFill/>
          </a:ln>
        </p:spPr>
        <p:txBody>
          <a:bodyPr spcFirstLastPara="1" wrap="square" lIns="0" tIns="0" rIns="0" bIns="0" anchor="t" anchorCtr="0">
            <a:spAutoFit/>
          </a:bodyPr>
          <a:lstStyle/>
          <a:p>
            <a:r>
              <a:rPr lang="en-US" sz="3150" b="1">
                <a:solidFill>
                  <a:srgbClr val="DEFF9A"/>
                </a:solidFill>
                <a:latin typeface="Urbanist"/>
                <a:ea typeface="Urbanist"/>
                <a:cs typeface="Urbanist"/>
                <a:sym typeface="Urbanist"/>
              </a:rPr>
              <a:t>Network</a:t>
            </a:r>
            <a:endParaRPr sz="2700"/>
          </a:p>
        </p:txBody>
      </p:sp>
      <p:sp>
        <p:nvSpPr>
          <p:cNvPr id="126" name="Google Shape;126;p16"/>
          <p:cNvSpPr txBox="1"/>
          <p:nvPr/>
        </p:nvSpPr>
        <p:spPr>
          <a:xfrm>
            <a:off x="13851731" y="5314950"/>
            <a:ext cx="3207543" cy="1558119"/>
          </a:xfrm>
          <a:prstGeom prst="rect">
            <a:avLst/>
          </a:prstGeom>
          <a:noFill/>
          <a:ln>
            <a:noFill/>
          </a:ln>
        </p:spPr>
        <p:txBody>
          <a:bodyPr spcFirstLastPara="1" wrap="square" lIns="0" tIns="0" rIns="0" bIns="0" anchor="t" anchorCtr="0">
            <a:spAutoFit/>
          </a:bodyPr>
          <a:lstStyle/>
          <a:p>
            <a:pPr>
              <a:lnSpc>
                <a:spcPct val="150000"/>
              </a:lnSpc>
            </a:pPr>
            <a:r>
              <a:rPr lang="en-US" sz="2250">
                <a:solidFill>
                  <a:srgbClr val="94A3B8"/>
                </a:solidFill>
                <a:latin typeface="Urbanist"/>
                <a:ea typeface="Urbanist"/>
                <a:cs typeface="Urbanist"/>
                <a:sym typeface="Urbanist"/>
              </a:rPr>
              <a:t>Communication lines and switches. Vulnerable to interception and DoS.</a:t>
            </a:r>
            <a:endParaRPr sz="2700"/>
          </a:p>
        </p:txBody>
      </p:sp>
      <p:pic>
        <p:nvPicPr>
          <p:cNvPr id="127" name="Google Shape;127;p16" descr="image.png"/>
          <p:cNvPicPr preferRelativeResize="0"/>
          <p:nvPr/>
        </p:nvPicPr>
        <p:blipFill rotWithShape="1">
          <a:blip r:embed="rId4">
            <a:alphaModFix/>
          </a:blip>
          <a:srcRect/>
          <a:stretch/>
        </p:blipFill>
        <p:spPr>
          <a:xfrm>
            <a:off x="1228725" y="3886200"/>
            <a:ext cx="457200" cy="457200"/>
          </a:xfrm>
          <a:prstGeom prst="rect">
            <a:avLst/>
          </a:prstGeom>
          <a:noFill/>
          <a:ln>
            <a:noFill/>
          </a:ln>
        </p:spPr>
      </p:pic>
      <p:pic>
        <p:nvPicPr>
          <p:cNvPr id="128" name="Google Shape;128;p16" descr="image.png"/>
          <p:cNvPicPr preferRelativeResize="0"/>
          <p:nvPr/>
        </p:nvPicPr>
        <p:blipFill rotWithShape="1">
          <a:blip r:embed="rId5">
            <a:alphaModFix/>
          </a:blip>
          <a:srcRect/>
          <a:stretch/>
        </p:blipFill>
        <p:spPr>
          <a:xfrm>
            <a:off x="5436393" y="3886200"/>
            <a:ext cx="342900" cy="457200"/>
          </a:xfrm>
          <a:prstGeom prst="rect">
            <a:avLst/>
          </a:prstGeom>
          <a:noFill/>
          <a:ln>
            <a:noFill/>
          </a:ln>
        </p:spPr>
      </p:pic>
      <p:pic>
        <p:nvPicPr>
          <p:cNvPr id="129" name="Google Shape;129;p16" descr="image.png"/>
          <p:cNvPicPr preferRelativeResize="0"/>
          <p:nvPr/>
        </p:nvPicPr>
        <p:blipFill rotWithShape="1">
          <a:blip r:embed="rId6">
            <a:alphaModFix/>
          </a:blip>
          <a:srcRect/>
          <a:stretch/>
        </p:blipFill>
        <p:spPr>
          <a:xfrm>
            <a:off x="9644063" y="3886200"/>
            <a:ext cx="400050" cy="457200"/>
          </a:xfrm>
          <a:prstGeom prst="rect">
            <a:avLst/>
          </a:prstGeom>
          <a:noFill/>
          <a:ln>
            <a:noFill/>
          </a:ln>
        </p:spPr>
      </p:pic>
      <p:pic>
        <p:nvPicPr>
          <p:cNvPr id="130" name="Google Shape;130;p16" descr="image.png"/>
          <p:cNvPicPr preferRelativeResize="0"/>
          <p:nvPr/>
        </p:nvPicPr>
        <p:blipFill rotWithShape="1">
          <a:blip r:embed="rId7">
            <a:alphaModFix/>
          </a:blip>
          <a:srcRect/>
          <a:stretch/>
        </p:blipFill>
        <p:spPr>
          <a:xfrm>
            <a:off x="13851731" y="3886200"/>
            <a:ext cx="571500" cy="457200"/>
          </a:xfrm>
          <a:prstGeom prst="rect">
            <a:avLst/>
          </a:prstGeom>
          <a:noFill/>
          <a:ln>
            <a:noFill/>
          </a:ln>
        </p:spPr>
      </p:pic>
      <p:sp>
        <p:nvSpPr>
          <p:cNvPr id="131" name="Google Shape;131;p16"/>
          <p:cNvSpPr txBox="1"/>
          <p:nvPr/>
        </p:nvSpPr>
        <p:spPr>
          <a:xfrm>
            <a:off x="871538" y="871538"/>
            <a:ext cx="17372171" cy="830997"/>
          </a:xfrm>
          <a:prstGeom prst="rect">
            <a:avLst/>
          </a:prstGeom>
          <a:noFill/>
          <a:ln>
            <a:noFill/>
          </a:ln>
        </p:spPr>
        <p:txBody>
          <a:bodyPr spcFirstLastPara="1" wrap="square" lIns="0" tIns="0" rIns="0" bIns="0" anchor="t" anchorCtr="0">
            <a:spAutoFit/>
          </a:bodyPr>
          <a:lstStyle/>
          <a:p>
            <a:r>
              <a:rPr lang="en-US" sz="5400" b="1" dirty="0">
                <a:solidFill>
                  <a:srgbClr val="F8FAFC"/>
                </a:solidFill>
                <a:latin typeface="Urbanist"/>
                <a:ea typeface="Urbanist"/>
                <a:cs typeface="Urbanist"/>
                <a:sym typeface="Urbanist"/>
              </a:rPr>
              <a:t>System </a:t>
            </a:r>
            <a:r>
              <a:rPr lang="en-US" sz="5400" b="1" dirty="0">
                <a:latin typeface="Urbanist"/>
                <a:ea typeface="Urbanist"/>
                <a:cs typeface="Urbanist"/>
                <a:sym typeface="Urbanist"/>
              </a:rPr>
              <a:t>Assets Detailed</a:t>
            </a:r>
            <a:endParaRPr sz="27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339186A6-97FE-E2A2-48C5-51F058F88FC1}"/>
            </a:ext>
          </a:extLst>
        </p:cNvPr>
        <p:cNvGrpSpPr/>
        <p:nvPr/>
      </p:nvGrpSpPr>
      <p:grpSpPr>
        <a:xfrm>
          <a:off x="0" y="0"/>
          <a:ext cx="0" cy="0"/>
          <a:chOff x="0" y="0"/>
          <a:chExt cx="0" cy="0"/>
        </a:xfrm>
      </p:grpSpPr>
      <p:sp>
        <p:nvSpPr>
          <p:cNvPr id="131" name="Google Shape;131;p16">
            <a:extLst>
              <a:ext uri="{FF2B5EF4-FFF2-40B4-BE49-F238E27FC236}">
                <a16:creationId xmlns:a16="http://schemas.microsoft.com/office/drawing/2014/main" id="{7DE6CBE7-66F1-BE46-9ABA-9DA116A3894E}"/>
              </a:ext>
            </a:extLst>
          </p:cNvPr>
          <p:cNvSpPr txBox="1"/>
          <p:nvPr/>
        </p:nvSpPr>
        <p:spPr>
          <a:xfrm>
            <a:off x="871538" y="871538"/>
            <a:ext cx="17372171" cy="830997"/>
          </a:xfrm>
          <a:prstGeom prst="rect">
            <a:avLst/>
          </a:prstGeom>
          <a:noFill/>
          <a:ln>
            <a:noFill/>
          </a:ln>
        </p:spPr>
        <p:txBody>
          <a:bodyPr spcFirstLastPara="1" wrap="square" lIns="0" tIns="0" rIns="0" bIns="0" anchor="t" anchorCtr="0">
            <a:spAutoFit/>
          </a:bodyPr>
          <a:lstStyle/>
          <a:p>
            <a:r>
              <a:rPr lang="en-US" sz="5400" b="1" dirty="0">
                <a:solidFill>
                  <a:srgbClr val="F8FAFC"/>
                </a:solidFill>
                <a:latin typeface="Urbanist"/>
                <a:ea typeface="Urbanist"/>
                <a:cs typeface="Urbanist"/>
                <a:sym typeface="Urbanist"/>
              </a:rPr>
              <a:t>System </a:t>
            </a:r>
            <a:r>
              <a:rPr lang="en-US" sz="5400" b="1" dirty="0">
                <a:latin typeface="Urbanist"/>
                <a:ea typeface="Urbanist"/>
                <a:cs typeface="Urbanist"/>
                <a:sym typeface="Urbanist"/>
              </a:rPr>
              <a:t>Assets and Threats</a:t>
            </a:r>
            <a:endParaRPr sz="2700" dirty="0"/>
          </a:p>
        </p:txBody>
      </p:sp>
      <p:pic>
        <p:nvPicPr>
          <p:cNvPr id="4" name="Picture 3">
            <a:extLst>
              <a:ext uri="{FF2B5EF4-FFF2-40B4-BE49-F238E27FC236}">
                <a16:creationId xmlns:a16="http://schemas.microsoft.com/office/drawing/2014/main" id="{5DCB69D2-7182-7D21-84DA-0DE86A654508}"/>
              </a:ext>
            </a:extLst>
          </p:cNvPr>
          <p:cNvPicPr>
            <a:picLocks noChangeAspect="1"/>
          </p:cNvPicPr>
          <p:nvPr/>
        </p:nvPicPr>
        <p:blipFill>
          <a:blip r:embed="rId3"/>
          <a:stretch>
            <a:fillRect/>
          </a:stretch>
        </p:blipFill>
        <p:spPr>
          <a:xfrm>
            <a:off x="1752600" y="2247900"/>
            <a:ext cx="14554200" cy="7242148"/>
          </a:xfrm>
          <a:prstGeom prst="rect">
            <a:avLst/>
          </a:prstGeom>
        </p:spPr>
      </p:pic>
    </p:spTree>
    <p:extLst>
      <p:ext uri="{BB962C8B-B14F-4D97-AF65-F5344CB8AC3E}">
        <p14:creationId xmlns:p14="http://schemas.microsoft.com/office/powerpoint/2010/main" val="291474686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937C7F18-6EF4-84E0-B8D1-44953B584D21}"/>
            </a:ext>
          </a:extLst>
        </p:cNvPr>
        <p:cNvGrpSpPr/>
        <p:nvPr/>
      </p:nvGrpSpPr>
      <p:grpSpPr>
        <a:xfrm>
          <a:off x="0" y="0"/>
          <a:ext cx="0" cy="0"/>
          <a:chOff x="0" y="0"/>
          <a:chExt cx="0" cy="0"/>
        </a:xfrm>
      </p:grpSpPr>
      <p:sp>
        <p:nvSpPr>
          <p:cNvPr id="131" name="Google Shape;131;p16">
            <a:extLst>
              <a:ext uri="{FF2B5EF4-FFF2-40B4-BE49-F238E27FC236}">
                <a16:creationId xmlns:a16="http://schemas.microsoft.com/office/drawing/2014/main" id="{CD4EE7A0-E2A0-8341-11BD-F19BBF5C54C6}"/>
              </a:ext>
            </a:extLst>
          </p:cNvPr>
          <p:cNvSpPr txBox="1"/>
          <p:nvPr/>
        </p:nvSpPr>
        <p:spPr>
          <a:xfrm>
            <a:off x="871538" y="871538"/>
            <a:ext cx="17372171" cy="830997"/>
          </a:xfrm>
          <a:prstGeom prst="rect">
            <a:avLst/>
          </a:prstGeom>
          <a:noFill/>
          <a:ln>
            <a:noFill/>
          </a:ln>
        </p:spPr>
        <p:txBody>
          <a:bodyPr spcFirstLastPara="1" wrap="square" lIns="0" tIns="0" rIns="0" bIns="0" anchor="t" anchorCtr="0">
            <a:spAutoFit/>
          </a:bodyPr>
          <a:lstStyle/>
          <a:p>
            <a:r>
              <a:rPr lang="en-US" sz="5400" b="1" dirty="0">
                <a:solidFill>
                  <a:srgbClr val="F8FAFC"/>
                </a:solidFill>
                <a:latin typeface="Urbanist"/>
                <a:ea typeface="Urbanist"/>
                <a:cs typeface="Urbanist"/>
                <a:sym typeface="Urbanist"/>
              </a:rPr>
              <a:t>System </a:t>
            </a:r>
            <a:r>
              <a:rPr lang="en-US" sz="5400" b="1" dirty="0">
                <a:latin typeface="Urbanist"/>
                <a:ea typeface="Urbanist"/>
                <a:cs typeface="Urbanist"/>
                <a:sym typeface="Urbanist"/>
              </a:rPr>
              <a:t>Assets and Security Scope</a:t>
            </a:r>
            <a:endParaRPr sz="2700" dirty="0"/>
          </a:p>
        </p:txBody>
      </p:sp>
      <p:pic>
        <p:nvPicPr>
          <p:cNvPr id="5" name="Picture 4">
            <a:extLst>
              <a:ext uri="{FF2B5EF4-FFF2-40B4-BE49-F238E27FC236}">
                <a16:creationId xmlns:a16="http://schemas.microsoft.com/office/drawing/2014/main" id="{0E6DEE39-70E6-DF98-17A0-6EE1CCDEB062}"/>
              </a:ext>
            </a:extLst>
          </p:cNvPr>
          <p:cNvPicPr>
            <a:picLocks noChangeAspect="1"/>
          </p:cNvPicPr>
          <p:nvPr/>
        </p:nvPicPr>
        <p:blipFill>
          <a:blip r:embed="rId3"/>
          <a:stretch>
            <a:fillRect/>
          </a:stretch>
        </p:blipFill>
        <p:spPr>
          <a:xfrm>
            <a:off x="3200400" y="1702535"/>
            <a:ext cx="10896600" cy="8190443"/>
          </a:xfrm>
          <a:prstGeom prst="rect">
            <a:avLst/>
          </a:prstGeom>
        </p:spPr>
      </p:pic>
    </p:spTree>
    <p:extLst>
      <p:ext uri="{BB962C8B-B14F-4D97-AF65-F5344CB8AC3E}">
        <p14:creationId xmlns:p14="http://schemas.microsoft.com/office/powerpoint/2010/main" val="222594046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4A4F62"/>
        </a:solidFill>
        <a:effectLst/>
      </p:bgPr>
    </p:bg>
    <p:spTree>
      <p:nvGrpSpPr>
        <p:cNvPr id="1" name="Shape 113">
          <a:extLst>
            <a:ext uri="{FF2B5EF4-FFF2-40B4-BE49-F238E27FC236}">
              <a16:creationId xmlns:a16="http://schemas.microsoft.com/office/drawing/2014/main" id="{E76E24AA-CA89-3823-9997-306625621C47}"/>
            </a:ext>
          </a:extLst>
        </p:cNvPr>
        <p:cNvGrpSpPr/>
        <p:nvPr/>
      </p:nvGrpSpPr>
      <p:grpSpPr>
        <a:xfrm>
          <a:off x="0" y="0"/>
          <a:ext cx="0" cy="0"/>
          <a:chOff x="0" y="0"/>
          <a:chExt cx="0" cy="0"/>
        </a:xfrm>
      </p:grpSpPr>
      <p:pic>
        <p:nvPicPr>
          <p:cNvPr id="2" name="Picture 1" descr="image.jpg">
            <a:extLst>
              <a:ext uri="{FF2B5EF4-FFF2-40B4-BE49-F238E27FC236}">
                <a16:creationId xmlns:a16="http://schemas.microsoft.com/office/drawing/2014/main" id="{7618E6A0-13A2-D90F-836E-7B3974188AB9}"/>
              </a:ext>
            </a:extLst>
          </p:cNvPr>
          <p:cNvPicPr>
            <a:picLocks noChangeAspect="1"/>
          </p:cNvPicPr>
          <p:nvPr/>
        </p:nvPicPr>
        <p:blipFill>
          <a:blip r:embed="rId3"/>
          <a:stretch>
            <a:fillRect/>
          </a:stretch>
        </p:blipFill>
        <p:spPr>
          <a:xfrm>
            <a:off x="2590800" y="828675"/>
            <a:ext cx="13466818" cy="8629650"/>
          </a:xfrm>
          <a:prstGeom prst="rect">
            <a:avLst/>
          </a:prstGeom>
        </p:spPr>
      </p:pic>
    </p:spTree>
    <p:extLst>
      <p:ext uri="{BB962C8B-B14F-4D97-AF65-F5344CB8AC3E}">
        <p14:creationId xmlns:p14="http://schemas.microsoft.com/office/powerpoint/2010/main" val="346985567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825C1062-A255-C809-B1EF-6CA4946335D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0730CAB-9E2D-7E93-3BF1-1B5C9A33A06B}"/>
              </a:ext>
            </a:extLst>
          </p:cNvPr>
          <p:cNvSpPr txBox="1"/>
          <p:nvPr/>
        </p:nvSpPr>
        <p:spPr>
          <a:xfrm>
            <a:off x="1752600" y="373782"/>
            <a:ext cx="13563600" cy="923330"/>
          </a:xfrm>
          <a:prstGeom prst="rect">
            <a:avLst/>
          </a:prstGeom>
          <a:noFill/>
        </p:spPr>
        <p:txBody>
          <a:bodyPr wrap="square">
            <a:spAutoFit/>
          </a:bodyPr>
          <a:lstStyle/>
          <a:p>
            <a:r>
              <a:rPr kumimoji="0" lang="en-US" sz="5400" b="1" i="0" u="none" strike="noStrike" kern="1200" cap="none" spc="0" normalizeH="0" baseline="0" noProof="0" dirty="0">
                <a:ln>
                  <a:noFill/>
                </a:ln>
                <a:solidFill>
                  <a:prstClr val="black"/>
                </a:solidFill>
                <a:effectLst/>
                <a:uLnTx/>
                <a:uFillTx/>
                <a:latin typeface="Urbanist"/>
                <a:ea typeface="Urbanist"/>
                <a:cs typeface="Urbanist"/>
                <a:sym typeface="Urbanist"/>
              </a:rPr>
              <a:t>Security Functional Requirements</a:t>
            </a:r>
            <a:endParaRPr lang="en-US" dirty="0"/>
          </a:p>
        </p:txBody>
      </p:sp>
      <p:pic>
        <p:nvPicPr>
          <p:cNvPr id="3" name="Picture 2">
            <a:extLst>
              <a:ext uri="{FF2B5EF4-FFF2-40B4-BE49-F238E27FC236}">
                <a16:creationId xmlns:a16="http://schemas.microsoft.com/office/drawing/2014/main" id="{DCA2D602-329B-FC34-B821-DB983C1A03D5}"/>
              </a:ext>
            </a:extLst>
          </p:cNvPr>
          <p:cNvPicPr>
            <a:picLocks noChangeAspect="1"/>
          </p:cNvPicPr>
          <p:nvPr/>
        </p:nvPicPr>
        <p:blipFill>
          <a:blip r:embed="rId3">
            <a:duotone>
              <a:prstClr val="black"/>
              <a:schemeClr val="accent3">
                <a:tint val="45000"/>
                <a:satMod val="400000"/>
              </a:schemeClr>
            </a:duotone>
          </a:blip>
          <a:stretch>
            <a:fillRect/>
          </a:stretch>
        </p:blipFill>
        <p:spPr>
          <a:xfrm>
            <a:off x="1752600" y="1607418"/>
            <a:ext cx="14941160" cy="8305800"/>
          </a:xfrm>
          <a:prstGeom prst="rect">
            <a:avLst/>
          </a:prstGeom>
        </p:spPr>
      </p:pic>
    </p:spTree>
    <p:extLst>
      <p:ext uri="{BB962C8B-B14F-4D97-AF65-F5344CB8AC3E}">
        <p14:creationId xmlns:p14="http://schemas.microsoft.com/office/powerpoint/2010/main" val="391028973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C2DD8F"/>
        </a:solidFill>
        <a:effectLst/>
      </p:bgPr>
    </p:bg>
    <p:spTree>
      <p:nvGrpSpPr>
        <p:cNvPr id="1" name="Shape 113">
          <a:extLst>
            <a:ext uri="{FF2B5EF4-FFF2-40B4-BE49-F238E27FC236}">
              <a16:creationId xmlns:a16="http://schemas.microsoft.com/office/drawing/2014/main" id="{A299DE57-65DD-5A9D-FBE4-BE1DB91EDB38}"/>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FD87E3DA-4C10-5246-B733-707EACA34282}"/>
              </a:ext>
            </a:extLst>
          </p:cNvPr>
          <p:cNvSpPr txBox="1"/>
          <p:nvPr/>
        </p:nvSpPr>
        <p:spPr>
          <a:xfrm>
            <a:off x="1524000" y="467954"/>
            <a:ext cx="13411200" cy="923330"/>
          </a:xfrm>
          <a:prstGeom prst="rect">
            <a:avLst/>
          </a:prstGeom>
          <a:noFill/>
        </p:spPr>
        <p:txBody>
          <a:bodyPr wrap="square">
            <a:spAutoFit/>
          </a:bodyPr>
          <a:lstStyle/>
          <a:p>
            <a:r>
              <a:rPr kumimoji="0" lang="en-US" sz="5400" b="1" i="0" u="none" strike="noStrike" kern="1200" cap="none" spc="0" normalizeH="0" baseline="0" noProof="0" dirty="0">
                <a:ln>
                  <a:noFill/>
                </a:ln>
                <a:solidFill>
                  <a:prstClr val="black"/>
                </a:solidFill>
                <a:effectLst/>
                <a:uLnTx/>
                <a:uFillTx/>
                <a:latin typeface="Urbanist"/>
                <a:ea typeface="Urbanist"/>
                <a:cs typeface="Urbanist"/>
                <a:sym typeface="Urbanist"/>
              </a:rPr>
              <a:t>Security Functional Requirements</a:t>
            </a:r>
            <a:endParaRPr lang="en-US" dirty="0"/>
          </a:p>
        </p:txBody>
      </p:sp>
      <p:pic>
        <p:nvPicPr>
          <p:cNvPr id="5" name="Picture 4">
            <a:extLst>
              <a:ext uri="{FF2B5EF4-FFF2-40B4-BE49-F238E27FC236}">
                <a16:creationId xmlns:a16="http://schemas.microsoft.com/office/drawing/2014/main" id="{9207A1DF-7F85-596E-BF9C-E98B2DD4C677}"/>
              </a:ext>
            </a:extLst>
          </p:cNvPr>
          <p:cNvPicPr>
            <a:picLocks noChangeAspect="1"/>
          </p:cNvPicPr>
          <p:nvPr/>
        </p:nvPicPr>
        <p:blipFill>
          <a:blip r:embed="rId3">
            <a:duotone>
              <a:prstClr val="black"/>
              <a:schemeClr val="accent3">
                <a:tint val="45000"/>
                <a:satMod val="400000"/>
              </a:schemeClr>
            </a:duotone>
          </a:blip>
          <a:stretch>
            <a:fillRect/>
          </a:stretch>
        </p:blipFill>
        <p:spPr>
          <a:xfrm>
            <a:off x="2819400" y="1505584"/>
            <a:ext cx="11858625" cy="8080656"/>
          </a:xfrm>
          <a:prstGeom prst="rect">
            <a:avLst/>
          </a:prstGeom>
        </p:spPr>
      </p:pic>
    </p:spTree>
    <p:extLst>
      <p:ext uri="{BB962C8B-B14F-4D97-AF65-F5344CB8AC3E}">
        <p14:creationId xmlns:p14="http://schemas.microsoft.com/office/powerpoint/2010/main" val="390297858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C2DD8F"/>
        </a:solidFill>
        <a:effectLst/>
      </p:bgPr>
    </p:bg>
    <p:spTree>
      <p:nvGrpSpPr>
        <p:cNvPr id="1" name="Shape 113">
          <a:extLst>
            <a:ext uri="{FF2B5EF4-FFF2-40B4-BE49-F238E27FC236}">
              <a16:creationId xmlns:a16="http://schemas.microsoft.com/office/drawing/2014/main" id="{FD23D415-3DCE-7543-2E5B-FB3E50A66B5A}"/>
            </a:ext>
          </a:extLst>
        </p:cNvPr>
        <p:cNvGrpSpPr/>
        <p:nvPr/>
      </p:nvGrpSpPr>
      <p:grpSpPr>
        <a:xfrm>
          <a:off x="0" y="0"/>
          <a:ext cx="0" cy="0"/>
          <a:chOff x="0" y="0"/>
          <a:chExt cx="0" cy="0"/>
        </a:xfrm>
      </p:grpSpPr>
      <p:sp>
        <p:nvSpPr>
          <p:cNvPr id="131" name="Google Shape;131;p16">
            <a:extLst>
              <a:ext uri="{FF2B5EF4-FFF2-40B4-BE49-F238E27FC236}">
                <a16:creationId xmlns:a16="http://schemas.microsoft.com/office/drawing/2014/main" id="{9620DC48-1195-701D-84ED-B835C8B2A2E7}"/>
              </a:ext>
            </a:extLst>
          </p:cNvPr>
          <p:cNvSpPr txBox="1"/>
          <p:nvPr/>
        </p:nvSpPr>
        <p:spPr>
          <a:xfrm>
            <a:off x="990600" y="240455"/>
            <a:ext cx="16948309" cy="830997"/>
          </a:xfrm>
          <a:prstGeom prst="rect">
            <a:avLst/>
          </a:prstGeom>
          <a:noFill/>
          <a:ln>
            <a:noFill/>
          </a:ln>
        </p:spPr>
        <p:txBody>
          <a:bodyPr spcFirstLastPara="1" wrap="square" lIns="0" tIns="0" rIns="0" bIns="0" anchor="t" anchorCtr="0">
            <a:spAutoFit/>
          </a:bodyPr>
          <a:lstStyle/>
          <a:p>
            <a:r>
              <a:rPr lang="en-US" sz="5400" b="1" dirty="0">
                <a:latin typeface="Urbanist"/>
                <a:ea typeface="Urbanist"/>
                <a:cs typeface="Urbanist"/>
                <a:sym typeface="Urbanist"/>
              </a:rPr>
              <a:t>System</a:t>
            </a:r>
            <a:r>
              <a:rPr lang="en-US" sz="5400" b="1" dirty="0">
                <a:solidFill>
                  <a:srgbClr val="F8FAFC"/>
                </a:solidFill>
                <a:latin typeface="Urbanist"/>
                <a:ea typeface="Urbanist"/>
                <a:cs typeface="Urbanist"/>
                <a:sym typeface="Urbanist"/>
              </a:rPr>
              <a:t> </a:t>
            </a:r>
            <a:r>
              <a:rPr lang="en-US" sz="5400" b="1" dirty="0">
                <a:latin typeface="Urbanist"/>
                <a:ea typeface="Urbanist"/>
                <a:cs typeface="Urbanist"/>
                <a:sym typeface="Urbanist"/>
              </a:rPr>
              <a:t>Security Functional Requirements</a:t>
            </a:r>
            <a:endParaRPr sz="2700" dirty="0"/>
          </a:p>
        </p:txBody>
      </p:sp>
      <p:pic>
        <p:nvPicPr>
          <p:cNvPr id="4" name="Picture 3">
            <a:extLst>
              <a:ext uri="{FF2B5EF4-FFF2-40B4-BE49-F238E27FC236}">
                <a16:creationId xmlns:a16="http://schemas.microsoft.com/office/drawing/2014/main" id="{80B208FA-1A41-E23B-27D7-D147F8B29911}"/>
              </a:ext>
            </a:extLst>
          </p:cNvPr>
          <p:cNvPicPr>
            <a:picLocks noChangeAspect="1"/>
          </p:cNvPicPr>
          <p:nvPr/>
        </p:nvPicPr>
        <p:blipFill>
          <a:blip r:embed="rId3">
            <a:duotone>
              <a:prstClr val="black"/>
              <a:schemeClr val="accent3">
                <a:tint val="45000"/>
                <a:satMod val="400000"/>
              </a:schemeClr>
            </a:duotone>
          </a:blip>
          <a:stretch>
            <a:fillRect/>
          </a:stretch>
        </p:blipFill>
        <p:spPr>
          <a:xfrm>
            <a:off x="1905000" y="1390649"/>
            <a:ext cx="13792200" cy="8431539"/>
          </a:xfrm>
          <a:prstGeom prst="rect">
            <a:avLst/>
          </a:prstGeom>
        </p:spPr>
      </p:pic>
    </p:spTree>
    <p:extLst>
      <p:ext uri="{BB962C8B-B14F-4D97-AF65-F5344CB8AC3E}">
        <p14:creationId xmlns:p14="http://schemas.microsoft.com/office/powerpoint/2010/main" val="83794708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66F96-D06A-3F49-EBC0-B921AD421BC3}"/>
              </a:ext>
            </a:extLst>
          </p:cNvPr>
          <p:cNvSpPr>
            <a:spLocks noGrp="1"/>
          </p:cNvSpPr>
          <p:nvPr>
            <p:ph type="title"/>
          </p:nvPr>
        </p:nvSpPr>
        <p:spPr>
          <a:xfrm>
            <a:off x="1828800" y="4381500"/>
            <a:ext cx="15166976" cy="1163171"/>
          </a:xfrm>
        </p:spPr>
        <p:txBody>
          <a:bodyPr>
            <a:normAutofit/>
          </a:bodyPr>
          <a:lstStyle/>
          <a:p>
            <a:r>
              <a:rPr lang="en-US" sz="6000" dirty="0">
                <a:solidFill>
                  <a:schemeClr val="accent6">
                    <a:lumMod val="50000"/>
                  </a:schemeClr>
                </a:solidFill>
              </a:rPr>
              <a:t>Fundamental Security Design Principles</a:t>
            </a:r>
          </a:p>
        </p:txBody>
      </p:sp>
    </p:spTree>
    <p:extLst>
      <p:ext uri="{BB962C8B-B14F-4D97-AF65-F5344CB8AC3E}">
        <p14:creationId xmlns:p14="http://schemas.microsoft.com/office/powerpoint/2010/main" val="108488352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4A4F6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45074-A97D-2B94-2BB2-15ED884D519F}"/>
              </a:ext>
            </a:extLst>
          </p:cNvPr>
          <p:cNvSpPr>
            <a:spLocks noGrp="1"/>
          </p:cNvSpPr>
          <p:nvPr>
            <p:ph type="title"/>
          </p:nvPr>
        </p:nvSpPr>
        <p:spPr/>
        <p:txBody>
          <a:bodyPr>
            <a:normAutofit/>
          </a:bodyPr>
          <a:lstStyle/>
          <a:p>
            <a:r>
              <a:rPr lang="en-US" sz="6000" dirty="0">
                <a:solidFill>
                  <a:srgbClr val="FFC000"/>
                </a:solidFill>
              </a:rPr>
              <a:t>Fundamental Security Design Principles</a:t>
            </a:r>
          </a:p>
        </p:txBody>
      </p:sp>
      <p:pic>
        <p:nvPicPr>
          <p:cNvPr id="4" name="Picture 3">
            <a:extLst>
              <a:ext uri="{FF2B5EF4-FFF2-40B4-BE49-F238E27FC236}">
                <a16:creationId xmlns:a16="http://schemas.microsoft.com/office/drawing/2014/main" id="{56F809BA-7C35-D3A3-4317-585A46CFB0E6}"/>
              </a:ext>
            </a:extLst>
          </p:cNvPr>
          <p:cNvPicPr>
            <a:picLocks noChangeAspect="1"/>
          </p:cNvPicPr>
          <p:nvPr/>
        </p:nvPicPr>
        <p:blipFill>
          <a:blip r:embed="rId2"/>
          <a:stretch>
            <a:fillRect/>
          </a:stretch>
        </p:blipFill>
        <p:spPr>
          <a:xfrm>
            <a:off x="3087688" y="1866900"/>
            <a:ext cx="12039600" cy="7458075"/>
          </a:xfrm>
          <a:prstGeom prst="rect">
            <a:avLst/>
          </a:prstGeom>
        </p:spPr>
      </p:pic>
    </p:spTree>
    <p:extLst>
      <p:ext uri="{BB962C8B-B14F-4D97-AF65-F5344CB8AC3E}">
        <p14:creationId xmlns:p14="http://schemas.microsoft.com/office/powerpoint/2010/main" val="46046304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p:cNvSpPr>
            <a:spLocks noGrp="1"/>
          </p:cNvSpPr>
          <p:nvPr>
            <p:ph type="title" idx="4294967295"/>
          </p:nvPr>
        </p:nvSpPr>
        <p:spPr>
          <a:xfrm>
            <a:off x="3455195" y="95250"/>
            <a:ext cx="11375231" cy="1924050"/>
          </a:xfrm>
          <a:prstGeom prst="rect">
            <a:avLst/>
          </a:prstGeom>
        </p:spPr>
        <p:txBody>
          <a:bodyPr>
            <a:normAutofit/>
          </a:bodyPr>
          <a:lstStyle/>
          <a:p>
            <a:pPr>
              <a:defRPr/>
            </a:pPr>
            <a:r>
              <a:rPr lang="en-US" dirty="0"/>
              <a:t>Fundamental Security design Principals</a:t>
            </a:r>
          </a:p>
        </p:txBody>
      </p:sp>
      <p:sp>
        <p:nvSpPr>
          <p:cNvPr id="2" name="Rectangle 1"/>
          <p:cNvSpPr/>
          <p:nvPr/>
        </p:nvSpPr>
        <p:spPr>
          <a:xfrm>
            <a:off x="1828800" y="1485900"/>
            <a:ext cx="14859000" cy="7848302"/>
          </a:xfrm>
          <a:prstGeom prst="rect">
            <a:avLst/>
          </a:prstGeom>
        </p:spPr>
        <p:txBody>
          <a:bodyPr wrap="square">
            <a:spAutoFit/>
          </a:bodyPr>
          <a:lstStyle/>
          <a:p>
            <a:r>
              <a:rPr lang="en-GB" sz="3600" dirty="0"/>
              <a:t>■ Economy of mechanism </a:t>
            </a:r>
          </a:p>
          <a:p>
            <a:r>
              <a:rPr lang="en-GB" sz="3600" dirty="0"/>
              <a:t>■ Fail-safe defaults </a:t>
            </a:r>
          </a:p>
          <a:p>
            <a:r>
              <a:rPr lang="en-GB" sz="3600" dirty="0"/>
              <a:t>■ Complete mediation:</a:t>
            </a:r>
            <a:r>
              <a:rPr lang="en-US" sz="3600" dirty="0"/>
              <a:t>Every access request must be checked for authorization.</a:t>
            </a:r>
            <a:endParaRPr lang="en-GB" sz="3600" dirty="0"/>
          </a:p>
          <a:p>
            <a:r>
              <a:rPr lang="en-GB" sz="3600" dirty="0"/>
              <a:t>■ Open design </a:t>
            </a:r>
          </a:p>
          <a:p>
            <a:r>
              <a:rPr lang="en-GB" sz="3600" dirty="0"/>
              <a:t>■ Separation of privilege </a:t>
            </a:r>
          </a:p>
          <a:p>
            <a:r>
              <a:rPr lang="en-GB" sz="3600" dirty="0"/>
              <a:t>■ Least privilege </a:t>
            </a:r>
          </a:p>
          <a:p>
            <a:r>
              <a:rPr lang="en-GB" sz="3600" dirty="0"/>
              <a:t>■ Least common mechanism : </a:t>
            </a:r>
            <a:r>
              <a:rPr lang="en-US" sz="3600" dirty="0"/>
              <a:t>Minimize shared resources between users or processes.</a:t>
            </a:r>
            <a:endParaRPr lang="en-GB" sz="3600" dirty="0"/>
          </a:p>
          <a:p>
            <a:r>
              <a:rPr lang="en-GB" sz="3600" dirty="0"/>
              <a:t>■ Psychological acceptability </a:t>
            </a:r>
          </a:p>
          <a:p>
            <a:r>
              <a:rPr lang="en-GB" sz="3600" dirty="0"/>
              <a:t>■ Isolation </a:t>
            </a:r>
          </a:p>
          <a:p>
            <a:r>
              <a:rPr lang="en-GB" sz="3600" dirty="0"/>
              <a:t>■ Encapsulation </a:t>
            </a:r>
          </a:p>
          <a:p>
            <a:r>
              <a:rPr lang="en-GB" sz="3600" dirty="0"/>
              <a:t>■ Modularity </a:t>
            </a:r>
          </a:p>
          <a:p>
            <a:r>
              <a:rPr lang="en-GB" sz="3600" dirty="0"/>
              <a:t>■ Layering </a:t>
            </a:r>
          </a:p>
          <a:p>
            <a:r>
              <a:rPr lang="en-GB" sz="3600" dirty="0"/>
              <a:t>■ Least astonishment: </a:t>
            </a:r>
            <a:r>
              <a:rPr lang="en-US" sz="3600" dirty="0"/>
              <a:t>System behavior should be predictable and intuitive.</a:t>
            </a:r>
            <a:endParaRPr lang="en-GB" sz="3600" dirty="0"/>
          </a:p>
        </p:txBody>
      </p:sp>
      <p:sp>
        <p:nvSpPr>
          <p:cNvPr id="3" name="Rectangle 2"/>
          <p:cNvSpPr/>
          <p:nvPr/>
        </p:nvSpPr>
        <p:spPr>
          <a:xfrm>
            <a:off x="8458200" y="6362700"/>
            <a:ext cx="9829800" cy="2169825"/>
          </a:xfrm>
          <a:prstGeom prst="rect">
            <a:avLst/>
          </a:prstGeom>
        </p:spPr>
        <p:txBody>
          <a:bodyPr wrap="square">
            <a:spAutoFit/>
          </a:bodyPr>
          <a:lstStyle/>
          <a:p>
            <a:pPr algn="just"/>
            <a:r>
              <a:rPr lang="en-GB" sz="2700" dirty="0"/>
              <a:t>The National </a:t>
            </a:r>
            <a:r>
              <a:rPr lang="en-GB" sz="2700" dirty="0" err="1"/>
              <a:t>Centers</a:t>
            </a:r>
            <a:r>
              <a:rPr lang="en-GB" sz="2700" dirty="0"/>
              <a:t> of Academic Excellence in Information Assurance/Cyber </a:t>
            </a:r>
            <a:r>
              <a:rPr lang="en-GB" sz="2700" dirty="0" err="1"/>
              <a:t>Defense</a:t>
            </a:r>
            <a:r>
              <a:rPr lang="en-GB" sz="2700" dirty="0"/>
              <a:t>, which is jointly sponsored by the U.S. National Security Agency and the U.S. Department of Homeland Security, list the following as fundamental security design principles [NCAE13]:</a:t>
            </a:r>
          </a:p>
        </p:txBody>
      </p:sp>
    </p:spTree>
    <p:extLst>
      <p:ext uri="{BB962C8B-B14F-4D97-AF65-F5344CB8AC3E}">
        <p14:creationId xmlns:p14="http://schemas.microsoft.com/office/powerpoint/2010/main" val="572579881"/>
      </p:ext>
    </p:extLst>
  </p:cSld>
  <p:clrMapOvr>
    <a:masterClrMapping/>
  </p:clrMapOvr>
  <p:transition spd="med">
    <p:wipe dir="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22018-F865-3359-948F-A47DCA14EE25}"/>
            </a:ext>
          </a:extLst>
        </p:cNvPr>
        <p:cNvGrpSpPr/>
        <p:nvPr/>
      </p:nvGrpSpPr>
      <p:grpSpPr>
        <a:xfrm>
          <a:off x="0" y="0"/>
          <a:ext cx="0" cy="0"/>
          <a:chOff x="0" y="0"/>
          <a:chExt cx="0" cy="0"/>
        </a:xfrm>
      </p:grpSpPr>
      <p:sp>
        <p:nvSpPr>
          <p:cNvPr id="72706" name="Title 1">
            <a:extLst>
              <a:ext uri="{FF2B5EF4-FFF2-40B4-BE49-F238E27FC236}">
                <a16:creationId xmlns:a16="http://schemas.microsoft.com/office/drawing/2014/main" id="{6DA0219E-5533-AB60-899C-5C176E4B7006}"/>
              </a:ext>
            </a:extLst>
          </p:cNvPr>
          <p:cNvSpPr>
            <a:spLocks noGrp="1"/>
          </p:cNvSpPr>
          <p:nvPr>
            <p:ph type="title" idx="4294967295"/>
          </p:nvPr>
        </p:nvSpPr>
        <p:spPr>
          <a:xfrm>
            <a:off x="3456384" y="571500"/>
            <a:ext cx="11375231" cy="1924050"/>
          </a:xfrm>
          <a:prstGeom prst="rect">
            <a:avLst/>
          </a:prstGeom>
        </p:spPr>
        <p:txBody>
          <a:bodyPr>
            <a:normAutofit/>
          </a:bodyPr>
          <a:lstStyle/>
          <a:p>
            <a:pPr>
              <a:defRPr/>
            </a:pPr>
            <a:r>
              <a:rPr lang="en-US" b="1" dirty="0"/>
              <a:t>Fundamental Security design Principals</a:t>
            </a:r>
          </a:p>
        </p:txBody>
      </p:sp>
      <p:sp>
        <p:nvSpPr>
          <p:cNvPr id="4" name="Rectangle 1">
            <a:extLst>
              <a:ext uri="{FF2B5EF4-FFF2-40B4-BE49-F238E27FC236}">
                <a16:creationId xmlns:a16="http://schemas.microsoft.com/office/drawing/2014/main" id="{C0CD58E3-C369-B7E4-F292-BAB8D5977620}"/>
              </a:ext>
            </a:extLst>
          </p:cNvPr>
          <p:cNvSpPr>
            <a:spLocks noChangeArrowheads="1"/>
          </p:cNvSpPr>
          <p:nvPr/>
        </p:nvSpPr>
        <p:spPr bwMode="auto">
          <a:xfrm>
            <a:off x="1752600" y="3009900"/>
            <a:ext cx="15316200"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Security design principles are fundamental guidelines for building secure systems</a:t>
            </a:r>
          </a:p>
          <a:p>
            <a:pPr marL="342900" marR="0" lvl="0" indent="-342900" algn="l" defTabSz="914400" rtl="0" eaLnBrk="0" fontAlgn="base" latinLnBrk="0" hangingPunct="0">
              <a:spcBef>
                <a:spcPct val="0"/>
              </a:spcBef>
              <a:spcAft>
                <a:spcPct val="0"/>
              </a:spcAft>
              <a:buClrTx/>
              <a:buSzTx/>
              <a:buFont typeface="Arial" panose="020B0604020202020204" pitchFamily="34" charset="0"/>
              <a:buChar char="•"/>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They ensure systems are designed to </a:t>
            </a:r>
            <a:r>
              <a:rPr kumimoji="0" lang="en-US" altLang="en-US" sz="3200" i="0" u="none" strike="noStrike" cap="none" normalizeH="0" baseline="0" dirty="0">
                <a:ln>
                  <a:noFill/>
                </a:ln>
                <a:solidFill>
                  <a:schemeClr val="accent6">
                    <a:lumMod val="75000"/>
                  </a:schemeClr>
                </a:solidFill>
                <a:effectLst/>
                <a:latin typeface="Arial" panose="020B0604020202020204" pitchFamily="34" charset="0"/>
              </a:rPr>
              <a:t>prevent vulnerabilities rather than fix them later </a:t>
            </a:r>
          </a:p>
          <a:p>
            <a:pPr marL="342900" marR="0" lvl="0" indent="-342900" algn="l" defTabSz="914400" rtl="0" eaLnBrk="0" fontAlgn="base" latinLnBrk="0" hangingPunct="0">
              <a:spcBef>
                <a:spcPct val="0"/>
              </a:spcBef>
              <a:spcAft>
                <a:spcPct val="0"/>
              </a:spcAft>
              <a:buClrTx/>
              <a:buSzTx/>
              <a:buFont typeface="Arial" panose="020B0604020202020204" pitchFamily="34" charset="0"/>
              <a:buChar char="•"/>
              <a:tabLst/>
            </a:pPr>
            <a:endParaRPr kumimoji="0" lang="en-US" altLang="en-US" sz="3200" i="0" u="none" strike="noStrike" cap="none" normalizeH="0" baseline="0" dirty="0">
              <a:ln>
                <a:noFill/>
              </a:ln>
              <a:solidFill>
                <a:schemeClr val="accent6">
                  <a:lumMod val="75000"/>
                </a:schemeClr>
              </a:solidFill>
              <a:effectLst/>
              <a:latin typeface="Arial" panose="020B0604020202020204" pitchFamily="34" charset="0"/>
            </a:endParaRPr>
          </a:p>
          <a:p>
            <a:pPr marL="342900" marR="0" lvl="0" indent="-342900" algn="l"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These principles guide developers in designing </a:t>
            </a:r>
            <a:r>
              <a:rPr kumimoji="0" lang="en-US" altLang="en-US" sz="3200" i="0" u="none" strike="noStrike" cap="none" normalizeH="0" baseline="0" dirty="0">
                <a:ln>
                  <a:noFill/>
                </a:ln>
                <a:solidFill>
                  <a:schemeClr val="accent6">
                    <a:lumMod val="75000"/>
                  </a:schemeClr>
                </a:solidFill>
                <a:effectLst/>
                <a:latin typeface="Arial" panose="020B0604020202020204" pitchFamily="34" charset="0"/>
              </a:rPr>
              <a:t>robust, reliable, and secure systems </a:t>
            </a:r>
          </a:p>
        </p:txBody>
      </p:sp>
    </p:spTree>
    <p:extLst>
      <p:ext uri="{BB962C8B-B14F-4D97-AF65-F5344CB8AC3E}">
        <p14:creationId xmlns:p14="http://schemas.microsoft.com/office/powerpoint/2010/main" val="909073119"/>
      </p:ext>
    </p:extLst>
  </p:cSld>
  <p:clrMapOvr>
    <a:masterClrMapping/>
  </p:clrMapOvr>
  <p:transition spd="med">
    <p:wipe dir="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30FBD-2979-2462-1D3F-8BE20D097D83}"/>
            </a:ext>
          </a:extLst>
        </p:cNvPr>
        <p:cNvGrpSpPr/>
        <p:nvPr/>
      </p:nvGrpSpPr>
      <p:grpSpPr>
        <a:xfrm>
          <a:off x="0" y="0"/>
          <a:ext cx="0" cy="0"/>
          <a:chOff x="0" y="0"/>
          <a:chExt cx="0" cy="0"/>
        </a:xfrm>
      </p:grpSpPr>
      <p:sp>
        <p:nvSpPr>
          <p:cNvPr id="72706" name="Title 1">
            <a:extLst>
              <a:ext uri="{FF2B5EF4-FFF2-40B4-BE49-F238E27FC236}">
                <a16:creationId xmlns:a16="http://schemas.microsoft.com/office/drawing/2014/main" id="{04558F6A-21AA-4C6F-D34B-2B58733F7A7E}"/>
              </a:ext>
            </a:extLst>
          </p:cNvPr>
          <p:cNvSpPr>
            <a:spLocks noGrp="1"/>
          </p:cNvSpPr>
          <p:nvPr>
            <p:ph type="title" idx="4294967295"/>
          </p:nvPr>
        </p:nvSpPr>
        <p:spPr>
          <a:xfrm>
            <a:off x="3456384" y="571500"/>
            <a:ext cx="11375231" cy="1924050"/>
          </a:xfrm>
          <a:prstGeom prst="rect">
            <a:avLst/>
          </a:prstGeom>
        </p:spPr>
        <p:txBody>
          <a:bodyPr>
            <a:normAutofit/>
          </a:bodyPr>
          <a:lstStyle/>
          <a:p>
            <a:pPr>
              <a:defRPr/>
            </a:pPr>
            <a:r>
              <a:rPr lang="en-US" b="1" dirty="0"/>
              <a:t>Fundamental Security Design Principals</a:t>
            </a:r>
          </a:p>
        </p:txBody>
      </p:sp>
      <p:sp>
        <p:nvSpPr>
          <p:cNvPr id="5" name="TextBox 4">
            <a:extLst>
              <a:ext uri="{FF2B5EF4-FFF2-40B4-BE49-F238E27FC236}">
                <a16:creationId xmlns:a16="http://schemas.microsoft.com/office/drawing/2014/main" id="{117E27EF-EE72-66CE-29EA-5C921FF1022E}"/>
              </a:ext>
            </a:extLst>
          </p:cNvPr>
          <p:cNvSpPr txBox="1"/>
          <p:nvPr/>
        </p:nvSpPr>
        <p:spPr>
          <a:xfrm>
            <a:off x="2286000" y="2996655"/>
            <a:ext cx="12725400" cy="2217082"/>
          </a:xfrm>
          <a:prstGeom prst="rect">
            <a:avLst/>
          </a:prstGeom>
          <a:noFill/>
        </p:spPr>
        <p:txBody>
          <a:bodyPr wrap="square">
            <a:spAutoFit/>
          </a:bodyPr>
          <a:lstStyle/>
          <a:p>
            <a:pPr marL="342900" indent="-342900" eaLnBrk="0" fontAlgn="base" hangingPunct="0">
              <a:lnSpc>
                <a:spcPct val="150000"/>
              </a:lnSpc>
              <a:spcBef>
                <a:spcPct val="0"/>
              </a:spcBef>
              <a:spcAft>
                <a:spcPct val="0"/>
              </a:spcAft>
              <a:buFont typeface="Arial" panose="020B0604020202020204" pitchFamily="34" charset="0"/>
              <a:buChar char="•"/>
            </a:pPr>
            <a:r>
              <a:rPr lang="en-US" sz="3200" dirty="0">
                <a:latin typeface="Arial" panose="020B0604020202020204" pitchFamily="34" charset="0"/>
              </a:rPr>
              <a:t>Security design should be simple and small</a:t>
            </a:r>
          </a:p>
          <a:p>
            <a:pPr marL="342900" indent="-342900" eaLnBrk="0" fontAlgn="base" hangingPunct="0">
              <a:lnSpc>
                <a:spcPct val="150000"/>
              </a:lnSpc>
              <a:spcBef>
                <a:spcPct val="0"/>
              </a:spcBef>
              <a:spcAft>
                <a:spcPct val="0"/>
              </a:spcAft>
              <a:buFont typeface="Arial" panose="020B0604020202020204" pitchFamily="34" charset="0"/>
              <a:buChar char="•"/>
            </a:pPr>
            <a:r>
              <a:rPr lang="en-US" sz="3200" dirty="0">
                <a:latin typeface="Arial" panose="020B0604020202020204" pitchFamily="34" charset="0"/>
              </a:rPr>
              <a:t>Fewer components → fewer chances of errors or vulnerabilities</a:t>
            </a:r>
          </a:p>
          <a:p>
            <a:pPr marL="342900" indent="-342900" eaLnBrk="0" fontAlgn="base" hangingPunct="0">
              <a:lnSpc>
                <a:spcPct val="150000"/>
              </a:lnSpc>
              <a:spcBef>
                <a:spcPct val="0"/>
              </a:spcBef>
              <a:spcAft>
                <a:spcPct val="0"/>
              </a:spcAft>
              <a:buFont typeface="Arial" panose="020B0604020202020204" pitchFamily="34" charset="0"/>
              <a:buChar char="•"/>
            </a:pPr>
            <a:r>
              <a:rPr lang="en-US" sz="3200" dirty="0">
                <a:latin typeface="Arial" panose="020B0604020202020204" pitchFamily="34" charset="0"/>
              </a:rPr>
              <a:t>Simplicity makes systems easier to analyze and secure</a:t>
            </a:r>
          </a:p>
        </p:txBody>
      </p:sp>
      <p:sp>
        <p:nvSpPr>
          <p:cNvPr id="7" name="TextBox 6">
            <a:extLst>
              <a:ext uri="{FF2B5EF4-FFF2-40B4-BE49-F238E27FC236}">
                <a16:creationId xmlns:a16="http://schemas.microsoft.com/office/drawing/2014/main" id="{EA491F61-E0C4-9B9B-4D38-7C8BC3CF0016}"/>
              </a:ext>
            </a:extLst>
          </p:cNvPr>
          <p:cNvSpPr txBox="1"/>
          <p:nvPr/>
        </p:nvSpPr>
        <p:spPr>
          <a:xfrm>
            <a:off x="1981200" y="2411880"/>
            <a:ext cx="9144000" cy="584775"/>
          </a:xfrm>
          <a:prstGeom prst="rect">
            <a:avLst/>
          </a:prstGeom>
          <a:noFill/>
        </p:spPr>
        <p:txBody>
          <a:bodyPr wrap="square">
            <a:spAutoFit/>
          </a:bodyPr>
          <a:lstStyle/>
          <a:p>
            <a:r>
              <a:rPr lang="en-US" sz="3200" b="1" dirty="0">
                <a:highlight>
                  <a:srgbClr val="00FFFF"/>
                </a:highlight>
              </a:rPr>
              <a:t>Economy of Mechanism</a:t>
            </a:r>
          </a:p>
        </p:txBody>
      </p:sp>
      <p:sp>
        <p:nvSpPr>
          <p:cNvPr id="9" name="TextBox 8">
            <a:extLst>
              <a:ext uri="{FF2B5EF4-FFF2-40B4-BE49-F238E27FC236}">
                <a16:creationId xmlns:a16="http://schemas.microsoft.com/office/drawing/2014/main" id="{B875FB90-5822-F514-0314-E5B0A4C8AB8B}"/>
              </a:ext>
            </a:extLst>
          </p:cNvPr>
          <p:cNvSpPr txBox="1"/>
          <p:nvPr/>
        </p:nvSpPr>
        <p:spPr>
          <a:xfrm>
            <a:off x="2628899" y="6348778"/>
            <a:ext cx="13030200" cy="2955746"/>
          </a:xfrm>
          <a:prstGeom prst="rect">
            <a:avLst/>
          </a:prstGeom>
          <a:noFill/>
        </p:spPr>
        <p:txBody>
          <a:bodyPr wrap="square">
            <a:spAutoFit/>
          </a:bodyPr>
          <a:lstStyle/>
          <a:p>
            <a:pPr marL="342900" indent="-342900" eaLnBrk="0" fontAlgn="base" hangingPunct="0">
              <a:lnSpc>
                <a:spcPct val="150000"/>
              </a:lnSpc>
              <a:spcBef>
                <a:spcPct val="0"/>
              </a:spcBef>
              <a:spcAft>
                <a:spcPct val="0"/>
              </a:spcAft>
              <a:buFont typeface="Arial" panose="020B0604020202020204" pitchFamily="34" charset="0"/>
              <a:buChar char="•"/>
            </a:pPr>
            <a:r>
              <a:rPr lang="en-US" sz="3200" dirty="0">
                <a:latin typeface="Arial" panose="020B0604020202020204" pitchFamily="34" charset="0"/>
              </a:rPr>
              <a:t>Default access should be denied</a:t>
            </a:r>
          </a:p>
          <a:p>
            <a:pPr marL="342900" indent="-342900" eaLnBrk="0" fontAlgn="base" hangingPunct="0">
              <a:lnSpc>
                <a:spcPct val="150000"/>
              </a:lnSpc>
              <a:spcBef>
                <a:spcPct val="0"/>
              </a:spcBef>
              <a:spcAft>
                <a:spcPct val="0"/>
              </a:spcAft>
              <a:buFont typeface="Arial" panose="020B0604020202020204" pitchFamily="34" charset="0"/>
              <a:buChar char="•"/>
            </a:pPr>
            <a:r>
              <a:rPr lang="en-US" sz="3200" dirty="0">
                <a:latin typeface="Arial" panose="020B0604020202020204" pitchFamily="34" charset="0"/>
              </a:rPr>
              <a:t>Access is granted only when explicitly allowed</a:t>
            </a:r>
          </a:p>
          <a:p>
            <a:pPr marL="342900" indent="-342900" eaLnBrk="0" fontAlgn="base" hangingPunct="0">
              <a:lnSpc>
                <a:spcPct val="150000"/>
              </a:lnSpc>
              <a:spcBef>
                <a:spcPct val="0"/>
              </a:spcBef>
              <a:spcAft>
                <a:spcPct val="0"/>
              </a:spcAft>
              <a:buFont typeface="Arial" panose="020B0604020202020204" pitchFamily="34" charset="0"/>
              <a:buChar char="•"/>
            </a:pPr>
            <a:r>
              <a:rPr lang="en-US" sz="3200" dirty="0">
                <a:latin typeface="Arial" panose="020B0604020202020204" pitchFamily="34" charset="0"/>
              </a:rPr>
              <a:t>Ensures that failure or missing permission does not cause security breach</a:t>
            </a:r>
          </a:p>
        </p:txBody>
      </p:sp>
      <p:sp>
        <p:nvSpPr>
          <p:cNvPr id="11" name="TextBox 10">
            <a:extLst>
              <a:ext uri="{FF2B5EF4-FFF2-40B4-BE49-F238E27FC236}">
                <a16:creationId xmlns:a16="http://schemas.microsoft.com/office/drawing/2014/main" id="{5F4A7BD5-136E-8168-AFC2-DE4237864971}"/>
              </a:ext>
            </a:extLst>
          </p:cNvPr>
          <p:cNvSpPr txBox="1"/>
          <p:nvPr/>
        </p:nvSpPr>
        <p:spPr>
          <a:xfrm>
            <a:off x="1981200" y="5733277"/>
            <a:ext cx="9144000" cy="584775"/>
          </a:xfrm>
          <a:prstGeom prst="rect">
            <a:avLst/>
          </a:prstGeom>
          <a:noFill/>
        </p:spPr>
        <p:txBody>
          <a:bodyPr wrap="square">
            <a:spAutoFit/>
          </a:bodyPr>
          <a:lstStyle/>
          <a:p>
            <a:r>
              <a:rPr lang="en-US" sz="3200" b="1" dirty="0">
                <a:highlight>
                  <a:srgbClr val="00FFFF"/>
                </a:highlight>
              </a:rPr>
              <a:t>Fail-Safe Defaults</a:t>
            </a:r>
          </a:p>
        </p:txBody>
      </p:sp>
    </p:spTree>
    <p:extLst>
      <p:ext uri="{BB962C8B-B14F-4D97-AF65-F5344CB8AC3E}">
        <p14:creationId xmlns:p14="http://schemas.microsoft.com/office/powerpoint/2010/main" val="1555751335"/>
      </p:ext>
    </p:extLst>
  </p:cSld>
  <p:clrMapOvr>
    <a:masterClrMapping/>
  </p:clrMapOvr>
  <p:transition spd="med">
    <p:wipe dir="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49C53-0840-5222-2B68-ECA1685D63F3}"/>
            </a:ext>
          </a:extLst>
        </p:cNvPr>
        <p:cNvGrpSpPr/>
        <p:nvPr/>
      </p:nvGrpSpPr>
      <p:grpSpPr>
        <a:xfrm>
          <a:off x="0" y="0"/>
          <a:ext cx="0" cy="0"/>
          <a:chOff x="0" y="0"/>
          <a:chExt cx="0" cy="0"/>
        </a:xfrm>
      </p:grpSpPr>
      <p:sp>
        <p:nvSpPr>
          <p:cNvPr id="72706" name="Title 1">
            <a:extLst>
              <a:ext uri="{FF2B5EF4-FFF2-40B4-BE49-F238E27FC236}">
                <a16:creationId xmlns:a16="http://schemas.microsoft.com/office/drawing/2014/main" id="{3FEAC33C-FD09-7F36-1F5B-51B29230F42B}"/>
              </a:ext>
            </a:extLst>
          </p:cNvPr>
          <p:cNvSpPr>
            <a:spLocks noGrp="1"/>
          </p:cNvSpPr>
          <p:nvPr>
            <p:ph type="title" idx="4294967295"/>
          </p:nvPr>
        </p:nvSpPr>
        <p:spPr>
          <a:xfrm>
            <a:off x="3456384" y="571500"/>
            <a:ext cx="11375231" cy="1924050"/>
          </a:xfrm>
          <a:prstGeom prst="rect">
            <a:avLst/>
          </a:prstGeom>
        </p:spPr>
        <p:txBody>
          <a:bodyPr>
            <a:normAutofit/>
          </a:bodyPr>
          <a:lstStyle/>
          <a:p>
            <a:pPr>
              <a:defRPr/>
            </a:pPr>
            <a:r>
              <a:rPr lang="en-US" b="1" dirty="0"/>
              <a:t>Fundamental Security Design Principals</a:t>
            </a:r>
          </a:p>
        </p:txBody>
      </p:sp>
      <p:sp>
        <p:nvSpPr>
          <p:cNvPr id="5" name="TextBox 4">
            <a:extLst>
              <a:ext uri="{FF2B5EF4-FFF2-40B4-BE49-F238E27FC236}">
                <a16:creationId xmlns:a16="http://schemas.microsoft.com/office/drawing/2014/main" id="{B96D8516-6287-D147-0719-701E263FC749}"/>
              </a:ext>
            </a:extLst>
          </p:cNvPr>
          <p:cNvSpPr txBox="1"/>
          <p:nvPr/>
        </p:nvSpPr>
        <p:spPr>
          <a:xfrm>
            <a:off x="2286000" y="2996655"/>
            <a:ext cx="12725400" cy="2217082"/>
          </a:xfrm>
          <a:prstGeom prst="rect">
            <a:avLst/>
          </a:prstGeom>
          <a:noFill/>
        </p:spPr>
        <p:txBody>
          <a:bodyPr wrap="square">
            <a:spAutoFit/>
          </a:bodyPr>
          <a:lstStyle/>
          <a:p>
            <a:pPr marL="342900" indent="-342900" eaLnBrk="0" fontAlgn="base" hangingPunct="0">
              <a:lnSpc>
                <a:spcPct val="150000"/>
              </a:lnSpc>
              <a:spcBef>
                <a:spcPct val="0"/>
              </a:spcBef>
              <a:spcAft>
                <a:spcPct val="0"/>
              </a:spcAft>
              <a:buFont typeface="Arial" panose="020B0604020202020204" pitchFamily="34" charset="0"/>
              <a:buChar char="•"/>
            </a:pPr>
            <a:r>
              <a:rPr lang="en-US" sz="3200" dirty="0">
                <a:latin typeface="Arial" panose="020B0604020202020204" pitchFamily="34" charset="0"/>
              </a:rPr>
              <a:t>Every access request must be checked every time</a:t>
            </a:r>
          </a:p>
          <a:p>
            <a:pPr marL="342900" indent="-342900" eaLnBrk="0" fontAlgn="base" hangingPunct="0">
              <a:lnSpc>
                <a:spcPct val="150000"/>
              </a:lnSpc>
              <a:spcBef>
                <a:spcPct val="0"/>
              </a:spcBef>
              <a:spcAft>
                <a:spcPct val="0"/>
              </a:spcAft>
              <a:buFont typeface="Arial" panose="020B0604020202020204" pitchFamily="34" charset="0"/>
              <a:buChar char="•"/>
            </a:pPr>
            <a:r>
              <a:rPr lang="en-US" sz="3200" dirty="0">
                <a:latin typeface="Arial" panose="020B0604020202020204" pitchFamily="34" charset="0"/>
              </a:rPr>
              <a:t>No caching of previous permission decisions</a:t>
            </a:r>
          </a:p>
          <a:p>
            <a:pPr marL="342900" indent="-342900" eaLnBrk="0" fontAlgn="base" hangingPunct="0">
              <a:lnSpc>
                <a:spcPct val="150000"/>
              </a:lnSpc>
              <a:spcBef>
                <a:spcPct val="0"/>
              </a:spcBef>
              <a:spcAft>
                <a:spcPct val="0"/>
              </a:spcAft>
              <a:buFont typeface="Arial" panose="020B0604020202020204" pitchFamily="34" charset="0"/>
              <a:buChar char="•"/>
            </a:pPr>
            <a:r>
              <a:rPr lang="en-US" sz="3200" dirty="0">
                <a:latin typeface="Arial" panose="020B0604020202020204" pitchFamily="34" charset="0"/>
              </a:rPr>
              <a:t>Ensures continuous enforcement of security policy</a:t>
            </a:r>
          </a:p>
        </p:txBody>
      </p:sp>
      <p:sp>
        <p:nvSpPr>
          <p:cNvPr id="7" name="TextBox 6">
            <a:extLst>
              <a:ext uri="{FF2B5EF4-FFF2-40B4-BE49-F238E27FC236}">
                <a16:creationId xmlns:a16="http://schemas.microsoft.com/office/drawing/2014/main" id="{3B404CB2-BD11-6F40-D9FF-D26D7B891596}"/>
              </a:ext>
            </a:extLst>
          </p:cNvPr>
          <p:cNvSpPr txBox="1"/>
          <p:nvPr/>
        </p:nvSpPr>
        <p:spPr>
          <a:xfrm>
            <a:off x="1981200" y="2411880"/>
            <a:ext cx="9144000" cy="584775"/>
          </a:xfrm>
          <a:prstGeom prst="rect">
            <a:avLst/>
          </a:prstGeom>
          <a:noFill/>
        </p:spPr>
        <p:txBody>
          <a:bodyPr wrap="square">
            <a:spAutoFit/>
          </a:bodyPr>
          <a:lstStyle/>
          <a:p>
            <a:r>
              <a:rPr lang="en-US" sz="3200" b="1" dirty="0">
                <a:highlight>
                  <a:srgbClr val="00FFFF"/>
                </a:highlight>
              </a:rPr>
              <a:t>Complete Mediation</a:t>
            </a:r>
          </a:p>
        </p:txBody>
      </p:sp>
      <p:sp>
        <p:nvSpPr>
          <p:cNvPr id="9" name="TextBox 8">
            <a:extLst>
              <a:ext uri="{FF2B5EF4-FFF2-40B4-BE49-F238E27FC236}">
                <a16:creationId xmlns:a16="http://schemas.microsoft.com/office/drawing/2014/main" id="{F84C3517-452C-235A-8234-C40D2D486261}"/>
              </a:ext>
            </a:extLst>
          </p:cNvPr>
          <p:cNvSpPr txBox="1"/>
          <p:nvPr/>
        </p:nvSpPr>
        <p:spPr>
          <a:xfrm>
            <a:off x="2628899" y="6348778"/>
            <a:ext cx="13030200" cy="2217082"/>
          </a:xfrm>
          <a:prstGeom prst="rect">
            <a:avLst/>
          </a:prstGeom>
          <a:noFill/>
        </p:spPr>
        <p:txBody>
          <a:bodyPr wrap="square">
            <a:spAutoFit/>
          </a:bodyPr>
          <a:lstStyle/>
          <a:p>
            <a:pPr marL="342900" indent="-342900" eaLnBrk="0" fontAlgn="base" hangingPunct="0">
              <a:lnSpc>
                <a:spcPct val="150000"/>
              </a:lnSpc>
              <a:spcBef>
                <a:spcPct val="0"/>
              </a:spcBef>
              <a:spcAft>
                <a:spcPct val="0"/>
              </a:spcAft>
              <a:buFont typeface="Arial" panose="020B0604020202020204" pitchFamily="34" charset="0"/>
              <a:buChar char="•"/>
            </a:pPr>
            <a:r>
              <a:rPr lang="en-US" sz="3200" dirty="0">
                <a:latin typeface="Arial" panose="020B0604020202020204" pitchFamily="34" charset="0"/>
              </a:rPr>
              <a:t>Security should not depend on secrecy of system design</a:t>
            </a:r>
          </a:p>
          <a:p>
            <a:pPr marL="342900" indent="-342900" eaLnBrk="0" fontAlgn="base" hangingPunct="0">
              <a:lnSpc>
                <a:spcPct val="150000"/>
              </a:lnSpc>
              <a:spcBef>
                <a:spcPct val="0"/>
              </a:spcBef>
              <a:spcAft>
                <a:spcPct val="0"/>
              </a:spcAft>
              <a:buFont typeface="Arial" panose="020B0604020202020204" pitchFamily="34" charset="0"/>
              <a:buChar char="•"/>
            </a:pPr>
            <a:r>
              <a:rPr lang="en-US" sz="3200" dirty="0">
                <a:latin typeface="Arial" panose="020B0604020202020204" pitchFamily="34" charset="0"/>
              </a:rPr>
              <a:t>System design can be public</a:t>
            </a:r>
          </a:p>
          <a:p>
            <a:pPr marL="342900" indent="-342900" eaLnBrk="0" fontAlgn="base" hangingPunct="0">
              <a:lnSpc>
                <a:spcPct val="150000"/>
              </a:lnSpc>
              <a:spcBef>
                <a:spcPct val="0"/>
              </a:spcBef>
              <a:spcAft>
                <a:spcPct val="0"/>
              </a:spcAft>
              <a:buFont typeface="Arial" panose="020B0604020202020204" pitchFamily="34" charset="0"/>
              <a:buChar char="•"/>
            </a:pPr>
            <a:r>
              <a:rPr lang="en-US" sz="3200" dirty="0">
                <a:latin typeface="Arial" panose="020B0604020202020204" pitchFamily="34" charset="0"/>
              </a:rPr>
              <a:t>Security relies on secret keys, not hidden algorithms</a:t>
            </a:r>
          </a:p>
        </p:txBody>
      </p:sp>
      <p:sp>
        <p:nvSpPr>
          <p:cNvPr id="11" name="TextBox 10">
            <a:extLst>
              <a:ext uri="{FF2B5EF4-FFF2-40B4-BE49-F238E27FC236}">
                <a16:creationId xmlns:a16="http://schemas.microsoft.com/office/drawing/2014/main" id="{DEC8DF2E-0B45-9C2E-7085-E9A48B0530E6}"/>
              </a:ext>
            </a:extLst>
          </p:cNvPr>
          <p:cNvSpPr txBox="1"/>
          <p:nvPr/>
        </p:nvSpPr>
        <p:spPr>
          <a:xfrm>
            <a:off x="1981200" y="5733277"/>
            <a:ext cx="9144000" cy="584775"/>
          </a:xfrm>
          <a:prstGeom prst="rect">
            <a:avLst/>
          </a:prstGeom>
          <a:noFill/>
        </p:spPr>
        <p:txBody>
          <a:bodyPr wrap="square">
            <a:spAutoFit/>
          </a:bodyPr>
          <a:lstStyle/>
          <a:p>
            <a:r>
              <a:rPr lang="en-US" sz="3200" b="1" dirty="0">
                <a:highlight>
                  <a:srgbClr val="00FFFF"/>
                </a:highlight>
              </a:rPr>
              <a:t>Open Design</a:t>
            </a:r>
          </a:p>
        </p:txBody>
      </p:sp>
    </p:spTree>
    <p:extLst>
      <p:ext uri="{BB962C8B-B14F-4D97-AF65-F5344CB8AC3E}">
        <p14:creationId xmlns:p14="http://schemas.microsoft.com/office/powerpoint/2010/main" val="3702162831"/>
      </p:ext>
    </p:extLst>
  </p:cSld>
  <p:clrMapOvr>
    <a:masterClrMapping/>
  </p:clrMapOvr>
  <p:transition spd="med">
    <p:wipe dir="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8FE96-0754-8B24-EDCC-8465EFF1270E}"/>
            </a:ext>
          </a:extLst>
        </p:cNvPr>
        <p:cNvGrpSpPr/>
        <p:nvPr/>
      </p:nvGrpSpPr>
      <p:grpSpPr>
        <a:xfrm>
          <a:off x="0" y="0"/>
          <a:ext cx="0" cy="0"/>
          <a:chOff x="0" y="0"/>
          <a:chExt cx="0" cy="0"/>
        </a:xfrm>
      </p:grpSpPr>
      <p:sp>
        <p:nvSpPr>
          <p:cNvPr id="72706" name="Title 1">
            <a:extLst>
              <a:ext uri="{FF2B5EF4-FFF2-40B4-BE49-F238E27FC236}">
                <a16:creationId xmlns:a16="http://schemas.microsoft.com/office/drawing/2014/main" id="{09A11058-BAC5-E8AB-8CA4-1786C6FDA88C}"/>
              </a:ext>
            </a:extLst>
          </p:cNvPr>
          <p:cNvSpPr>
            <a:spLocks noGrp="1"/>
          </p:cNvSpPr>
          <p:nvPr>
            <p:ph type="title" idx="4294967295"/>
          </p:nvPr>
        </p:nvSpPr>
        <p:spPr>
          <a:xfrm>
            <a:off x="3456384" y="571500"/>
            <a:ext cx="11375231" cy="1924050"/>
          </a:xfrm>
          <a:prstGeom prst="rect">
            <a:avLst/>
          </a:prstGeom>
        </p:spPr>
        <p:txBody>
          <a:bodyPr>
            <a:normAutofit/>
          </a:bodyPr>
          <a:lstStyle/>
          <a:p>
            <a:pPr>
              <a:defRPr/>
            </a:pPr>
            <a:r>
              <a:rPr lang="en-US" b="1" dirty="0"/>
              <a:t>Fundamental Security Design Principals</a:t>
            </a:r>
          </a:p>
        </p:txBody>
      </p:sp>
      <p:sp>
        <p:nvSpPr>
          <p:cNvPr id="5" name="TextBox 4">
            <a:extLst>
              <a:ext uri="{FF2B5EF4-FFF2-40B4-BE49-F238E27FC236}">
                <a16:creationId xmlns:a16="http://schemas.microsoft.com/office/drawing/2014/main" id="{967CA6BA-6B22-F36D-7312-8A319DB186FF}"/>
              </a:ext>
            </a:extLst>
          </p:cNvPr>
          <p:cNvSpPr txBox="1"/>
          <p:nvPr/>
        </p:nvSpPr>
        <p:spPr>
          <a:xfrm>
            <a:off x="2286000" y="2996655"/>
            <a:ext cx="14859000" cy="2955746"/>
          </a:xfrm>
          <a:prstGeom prst="rect">
            <a:avLst/>
          </a:prstGeom>
          <a:noFill/>
        </p:spPr>
        <p:txBody>
          <a:bodyPr wrap="square">
            <a:spAutoFit/>
          </a:bodyPr>
          <a:lstStyle/>
          <a:p>
            <a:pPr marL="342900" indent="-342900" eaLnBrk="0" fontAlgn="base" hangingPunct="0">
              <a:lnSpc>
                <a:spcPct val="150000"/>
              </a:lnSpc>
              <a:spcBef>
                <a:spcPct val="0"/>
              </a:spcBef>
              <a:spcAft>
                <a:spcPct val="0"/>
              </a:spcAft>
              <a:buFont typeface="Arial" panose="020B0604020202020204" pitchFamily="34" charset="0"/>
              <a:buChar char="•"/>
            </a:pPr>
            <a:r>
              <a:rPr lang="en-US" sz="3200" dirty="0">
                <a:latin typeface="Arial" panose="020B0604020202020204" pitchFamily="34" charset="0"/>
              </a:rPr>
              <a:t>Access should require multiple conditions or permissions (password + OTP)</a:t>
            </a:r>
          </a:p>
          <a:p>
            <a:pPr marL="342900" indent="-342900" eaLnBrk="0" fontAlgn="base" hangingPunct="0">
              <a:lnSpc>
                <a:spcPct val="150000"/>
              </a:lnSpc>
              <a:spcBef>
                <a:spcPct val="0"/>
              </a:spcBef>
              <a:spcAft>
                <a:spcPct val="0"/>
              </a:spcAft>
              <a:buFont typeface="Arial" panose="020B0604020202020204" pitchFamily="34" charset="0"/>
              <a:buChar char="•"/>
            </a:pPr>
            <a:r>
              <a:rPr lang="en-US" sz="3200" dirty="0">
                <a:latin typeface="Arial" panose="020B0604020202020204" pitchFamily="34" charset="0"/>
              </a:rPr>
              <a:t>Reduces risk of unauthorized access</a:t>
            </a:r>
          </a:p>
          <a:p>
            <a:pPr marL="342900" indent="-342900" eaLnBrk="0" fontAlgn="base" hangingPunct="0">
              <a:lnSpc>
                <a:spcPct val="150000"/>
              </a:lnSpc>
              <a:spcBef>
                <a:spcPct val="0"/>
              </a:spcBef>
              <a:spcAft>
                <a:spcPct val="0"/>
              </a:spcAft>
              <a:buFont typeface="Arial" panose="020B0604020202020204" pitchFamily="34" charset="0"/>
              <a:buChar char="•"/>
            </a:pPr>
            <a:r>
              <a:rPr lang="en-US" sz="3200" dirty="0">
                <a:latin typeface="Arial" panose="020B0604020202020204" pitchFamily="34" charset="0"/>
              </a:rPr>
              <a:t> Any technique in which a program is divided into parts that are limited to the specific privileges they require in order to perform a specific task.</a:t>
            </a:r>
          </a:p>
        </p:txBody>
      </p:sp>
      <p:sp>
        <p:nvSpPr>
          <p:cNvPr id="7" name="TextBox 6">
            <a:extLst>
              <a:ext uri="{FF2B5EF4-FFF2-40B4-BE49-F238E27FC236}">
                <a16:creationId xmlns:a16="http://schemas.microsoft.com/office/drawing/2014/main" id="{F676D6B3-FBCF-CF8C-3BC9-A9068683DE5C}"/>
              </a:ext>
            </a:extLst>
          </p:cNvPr>
          <p:cNvSpPr txBox="1"/>
          <p:nvPr/>
        </p:nvSpPr>
        <p:spPr>
          <a:xfrm>
            <a:off x="1981200" y="2411880"/>
            <a:ext cx="9144000" cy="584775"/>
          </a:xfrm>
          <a:prstGeom prst="rect">
            <a:avLst/>
          </a:prstGeom>
          <a:noFill/>
        </p:spPr>
        <p:txBody>
          <a:bodyPr wrap="square">
            <a:spAutoFit/>
          </a:bodyPr>
          <a:lstStyle/>
          <a:p>
            <a:r>
              <a:rPr lang="en-US" sz="3200" b="1" dirty="0">
                <a:highlight>
                  <a:srgbClr val="00FFFF"/>
                </a:highlight>
              </a:rPr>
              <a:t>Separation of Privilege</a:t>
            </a:r>
          </a:p>
        </p:txBody>
      </p:sp>
      <p:sp>
        <p:nvSpPr>
          <p:cNvPr id="9" name="TextBox 8">
            <a:extLst>
              <a:ext uri="{FF2B5EF4-FFF2-40B4-BE49-F238E27FC236}">
                <a16:creationId xmlns:a16="http://schemas.microsoft.com/office/drawing/2014/main" id="{1F03B7FF-0C30-BB0B-FB65-B254A854E50E}"/>
              </a:ext>
            </a:extLst>
          </p:cNvPr>
          <p:cNvSpPr txBox="1"/>
          <p:nvPr/>
        </p:nvSpPr>
        <p:spPr>
          <a:xfrm>
            <a:off x="2628899" y="7281581"/>
            <a:ext cx="13030200" cy="2217082"/>
          </a:xfrm>
          <a:prstGeom prst="rect">
            <a:avLst/>
          </a:prstGeom>
          <a:noFill/>
        </p:spPr>
        <p:txBody>
          <a:bodyPr wrap="square">
            <a:spAutoFit/>
          </a:bodyPr>
          <a:lstStyle/>
          <a:p>
            <a:pPr marL="342900" indent="-342900" eaLnBrk="0" fontAlgn="base" hangingPunct="0">
              <a:lnSpc>
                <a:spcPct val="150000"/>
              </a:lnSpc>
              <a:spcBef>
                <a:spcPct val="0"/>
              </a:spcBef>
              <a:spcAft>
                <a:spcPct val="0"/>
              </a:spcAft>
              <a:buFont typeface="Arial" panose="020B0604020202020204" pitchFamily="34" charset="0"/>
              <a:buChar char="•"/>
            </a:pPr>
            <a:r>
              <a:rPr lang="en-US" sz="3200" dirty="0">
                <a:latin typeface="Arial" panose="020B0604020202020204" pitchFamily="34" charset="0"/>
              </a:rPr>
              <a:t>Users and programs should have minimum required permissions</a:t>
            </a:r>
          </a:p>
          <a:p>
            <a:pPr marL="342900" indent="-342900" eaLnBrk="0" fontAlgn="base" hangingPunct="0">
              <a:lnSpc>
                <a:spcPct val="150000"/>
              </a:lnSpc>
              <a:spcBef>
                <a:spcPct val="0"/>
              </a:spcBef>
              <a:spcAft>
                <a:spcPct val="0"/>
              </a:spcAft>
              <a:buFont typeface="Arial" panose="020B0604020202020204" pitchFamily="34" charset="0"/>
              <a:buChar char="•"/>
            </a:pPr>
            <a:r>
              <a:rPr lang="en-US" sz="3200" dirty="0">
                <a:latin typeface="Arial" panose="020B0604020202020204" pitchFamily="34" charset="0"/>
              </a:rPr>
              <a:t>Limits damage if account or process is compromised</a:t>
            </a:r>
          </a:p>
          <a:p>
            <a:pPr marL="342900" indent="-342900" eaLnBrk="0" fontAlgn="base" hangingPunct="0">
              <a:lnSpc>
                <a:spcPct val="150000"/>
              </a:lnSpc>
              <a:spcBef>
                <a:spcPct val="0"/>
              </a:spcBef>
              <a:spcAft>
                <a:spcPct val="0"/>
              </a:spcAft>
              <a:buFont typeface="Arial" panose="020B0604020202020204" pitchFamily="34" charset="0"/>
              <a:buChar char="•"/>
            </a:pPr>
            <a:r>
              <a:rPr lang="en-US" sz="3200" dirty="0">
                <a:latin typeface="Arial" panose="020B0604020202020204" pitchFamily="34" charset="0"/>
              </a:rPr>
              <a:t>Widely used in operating systems and networks</a:t>
            </a:r>
          </a:p>
        </p:txBody>
      </p:sp>
      <p:sp>
        <p:nvSpPr>
          <p:cNvPr id="11" name="TextBox 10">
            <a:extLst>
              <a:ext uri="{FF2B5EF4-FFF2-40B4-BE49-F238E27FC236}">
                <a16:creationId xmlns:a16="http://schemas.microsoft.com/office/drawing/2014/main" id="{CCBB4ABA-C868-2D61-DE6E-B61FE2EB4636}"/>
              </a:ext>
            </a:extLst>
          </p:cNvPr>
          <p:cNvSpPr txBox="1"/>
          <p:nvPr/>
        </p:nvSpPr>
        <p:spPr>
          <a:xfrm>
            <a:off x="2227006" y="6675087"/>
            <a:ext cx="9144000" cy="584775"/>
          </a:xfrm>
          <a:prstGeom prst="rect">
            <a:avLst/>
          </a:prstGeom>
          <a:noFill/>
        </p:spPr>
        <p:txBody>
          <a:bodyPr wrap="square">
            <a:spAutoFit/>
          </a:bodyPr>
          <a:lstStyle/>
          <a:p>
            <a:r>
              <a:rPr lang="en-US" sz="3200" b="1" dirty="0">
                <a:highlight>
                  <a:srgbClr val="00FFFF"/>
                </a:highlight>
              </a:rPr>
              <a:t>Least Privilege</a:t>
            </a:r>
          </a:p>
        </p:txBody>
      </p:sp>
    </p:spTree>
    <p:extLst>
      <p:ext uri="{BB962C8B-B14F-4D97-AF65-F5344CB8AC3E}">
        <p14:creationId xmlns:p14="http://schemas.microsoft.com/office/powerpoint/2010/main" val="625160773"/>
      </p:ext>
    </p:extLst>
  </p:cSld>
  <p:clrMapOvr>
    <a:masterClrMapping/>
  </p:clrMapOvr>
  <p:transition spd="med">
    <p:wipe dir="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43124-F4B7-CF4D-D310-D9919D4D1C0C}"/>
            </a:ext>
          </a:extLst>
        </p:cNvPr>
        <p:cNvGrpSpPr/>
        <p:nvPr/>
      </p:nvGrpSpPr>
      <p:grpSpPr>
        <a:xfrm>
          <a:off x="0" y="0"/>
          <a:ext cx="0" cy="0"/>
          <a:chOff x="0" y="0"/>
          <a:chExt cx="0" cy="0"/>
        </a:xfrm>
      </p:grpSpPr>
      <p:sp>
        <p:nvSpPr>
          <p:cNvPr id="72706" name="Title 1">
            <a:extLst>
              <a:ext uri="{FF2B5EF4-FFF2-40B4-BE49-F238E27FC236}">
                <a16:creationId xmlns:a16="http://schemas.microsoft.com/office/drawing/2014/main" id="{48D65558-9D88-7B00-F574-6782D4A06715}"/>
              </a:ext>
            </a:extLst>
          </p:cNvPr>
          <p:cNvSpPr>
            <a:spLocks noGrp="1"/>
          </p:cNvSpPr>
          <p:nvPr>
            <p:ph type="title" idx="4294967295"/>
          </p:nvPr>
        </p:nvSpPr>
        <p:spPr>
          <a:xfrm>
            <a:off x="3456384" y="571500"/>
            <a:ext cx="11375231" cy="1924050"/>
          </a:xfrm>
          <a:prstGeom prst="rect">
            <a:avLst/>
          </a:prstGeom>
        </p:spPr>
        <p:txBody>
          <a:bodyPr>
            <a:normAutofit/>
          </a:bodyPr>
          <a:lstStyle/>
          <a:p>
            <a:pPr>
              <a:defRPr/>
            </a:pPr>
            <a:r>
              <a:rPr lang="en-US" b="1" dirty="0"/>
              <a:t>Fundamental Security Design Principals</a:t>
            </a:r>
          </a:p>
        </p:txBody>
      </p:sp>
      <p:sp>
        <p:nvSpPr>
          <p:cNvPr id="5" name="TextBox 4">
            <a:extLst>
              <a:ext uri="{FF2B5EF4-FFF2-40B4-BE49-F238E27FC236}">
                <a16:creationId xmlns:a16="http://schemas.microsoft.com/office/drawing/2014/main" id="{7283A07B-D148-C45B-C456-3E21656F581A}"/>
              </a:ext>
            </a:extLst>
          </p:cNvPr>
          <p:cNvSpPr txBox="1"/>
          <p:nvPr/>
        </p:nvSpPr>
        <p:spPr>
          <a:xfrm>
            <a:off x="2286000" y="2996655"/>
            <a:ext cx="14859000" cy="2217082"/>
          </a:xfrm>
          <a:prstGeom prst="rect">
            <a:avLst/>
          </a:prstGeom>
          <a:noFill/>
        </p:spPr>
        <p:txBody>
          <a:bodyPr wrap="square">
            <a:spAutoFit/>
          </a:bodyPr>
          <a:lstStyle/>
          <a:p>
            <a:pPr marL="342900" indent="-342900" eaLnBrk="0" fontAlgn="base" hangingPunct="0">
              <a:lnSpc>
                <a:spcPct val="150000"/>
              </a:lnSpc>
              <a:spcBef>
                <a:spcPct val="0"/>
              </a:spcBef>
              <a:spcAft>
                <a:spcPct val="0"/>
              </a:spcAft>
              <a:buFont typeface="Arial" panose="020B0604020202020204" pitchFamily="34" charset="0"/>
              <a:buChar char="•"/>
            </a:pPr>
            <a:r>
              <a:rPr lang="en-US" sz="3200" dirty="0">
                <a:latin typeface="Arial" panose="020B0604020202020204" pitchFamily="34" charset="0"/>
              </a:rPr>
              <a:t>Reduce sharing of resources among users</a:t>
            </a:r>
          </a:p>
          <a:p>
            <a:pPr marL="342900" indent="-342900" eaLnBrk="0" fontAlgn="base" hangingPunct="0">
              <a:lnSpc>
                <a:spcPct val="150000"/>
              </a:lnSpc>
              <a:spcBef>
                <a:spcPct val="0"/>
              </a:spcBef>
              <a:spcAft>
                <a:spcPct val="0"/>
              </a:spcAft>
              <a:buFont typeface="Arial" panose="020B0604020202020204" pitchFamily="34" charset="0"/>
              <a:buChar char="•"/>
            </a:pPr>
            <a:r>
              <a:rPr lang="en-US" sz="3200" dirty="0">
                <a:latin typeface="Arial" panose="020B0604020202020204" pitchFamily="34" charset="0"/>
              </a:rPr>
              <a:t>Shared mechanisms increase risk of information leakage</a:t>
            </a:r>
          </a:p>
          <a:p>
            <a:pPr marL="342900" indent="-342900" eaLnBrk="0" fontAlgn="base" hangingPunct="0">
              <a:lnSpc>
                <a:spcPct val="150000"/>
              </a:lnSpc>
              <a:spcBef>
                <a:spcPct val="0"/>
              </a:spcBef>
              <a:spcAft>
                <a:spcPct val="0"/>
              </a:spcAft>
              <a:buFont typeface="Arial" panose="020B0604020202020204" pitchFamily="34" charset="0"/>
              <a:buChar char="•"/>
            </a:pPr>
            <a:r>
              <a:rPr lang="en-US" sz="3200" dirty="0">
                <a:latin typeface="Arial" panose="020B0604020202020204" pitchFamily="34" charset="0"/>
              </a:rPr>
              <a:t>Isolation improves security and reduces attack surface</a:t>
            </a:r>
          </a:p>
        </p:txBody>
      </p:sp>
      <p:sp>
        <p:nvSpPr>
          <p:cNvPr id="7" name="TextBox 6">
            <a:extLst>
              <a:ext uri="{FF2B5EF4-FFF2-40B4-BE49-F238E27FC236}">
                <a16:creationId xmlns:a16="http://schemas.microsoft.com/office/drawing/2014/main" id="{DB0BA401-342A-CE75-BD45-8D9C809A9B87}"/>
              </a:ext>
            </a:extLst>
          </p:cNvPr>
          <p:cNvSpPr txBox="1"/>
          <p:nvPr/>
        </p:nvSpPr>
        <p:spPr>
          <a:xfrm>
            <a:off x="1981200" y="2411880"/>
            <a:ext cx="9144000" cy="584775"/>
          </a:xfrm>
          <a:prstGeom prst="rect">
            <a:avLst/>
          </a:prstGeom>
          <a:noFill/>
        </p:spPr>
        <p:txBody>
          <a:bodyPr wrap="square">
            <a:spAutoFit/>
          </a:bodyPr>
          <a:lstStyle/>
          <a:p>
            <a:r>
              <a:rPr lang="en-US" sz="3200" b="1" dirty="0">
                <a:highlight>
                  <a:srgbClr val="00FFFF"/>
                </a:highlight>
              </a:rPr>
              <a:t>Least Common Mechanism</a:t>
            </a:r>
          </a:p>
        </p:txBody>
      </p:sp>
      <p:sp>
        <p:nvSpPr>
          <p:cNvPr id="9" name="TextBox 8">
            <a:extLst>
              <a:ext uri="{FF2B5EF4-FFF2-40B4-BE49-F238E27FC236}">
                <a16:creationId xmlns:a16="http://schemas.microsoft.com/office/drawing/2014/main" id="{937A3125-356C-99DB-49FB-335DD8D914E7}"/>
              </a:ext>
            </a:extLst>
          </p:cNvPr>
          <p:cNvSpPr txBox="1"/>
          <p:nvPr/>
        </p:nvSpPr>
        <p:spPr>
          <a:xfrm>
            <a:off x="2628899" y="7281581"/>
            <a:ext cx="13030200" cy="2217082"/>
          </a:xfrm>
          <a:prstGeom prst="rect">
            <a:avLst/>
          </a:prstGeom>
          <a:noFill/>
        </p:spPr>
        <p:txBody>
          <a:bodyPr wrap="square">
            <a:spAutoFit/>
          </a:bodyPr>
          <a:lstStyle/>
          <a:p>
            <a:pPr marL="342900" indent="-342900" eaLnBrk="0" fontAlgn="base" hangingPunct="0">
              <a:lnSpc>
                <a:spcPct val="150000"/>
              </a:lnSpc>
              <a:spcBef>
                <a:spcPct val="0"/>
              </a:spcBef>
              <a:spcAft>
                <a:spcPct val="0"/>
              </a:spcAft>
              <a:buFont typeface="Arial" panose="020B0604020202020204" pitchFamily="34" charset="0"/>
              <a:buChar char="•"/>
            </a:pPr>
            <a:r>
              <a:rPr lang="en-US" sz="3200" dirty="0">
                <a:latin typeface="Arial" panose="020B0604020202020204" pitchFamily="34" charset="0"/>
              </a:rPr>
              <a:t>Security mechanisms should be easy to use</a:t>
            </a:r>
          </a:p>
          <a:p>
            <a:pPr marL="342900" indent="-342900" eaLnBrk="0" fontAlgn="base" hangingPunct="0">
              <a:lnSpc>
                <a:spcPct val="150000"/>
              </a:lnSpc>
              <a:spcBef>
                <a:spcPct val="0"/>
              </a:spcBef>
              <a:spcAft>
                <a:spcPct val="0"/>
              </a:spcAft>
              <a:buFont typeface="Arial" panose="020B0604020202020204" pitchFamily="34" charset="0"/>
              <a:buChar char="•"/>
            </a:pPr>
            <a:r>
              <a:rPr lang="en-US" sz="3200" dirty="0">
                <a:latin typeface="Arial" panose="020B0604020202020204" pitchFamily="34" charset="0"/>
              </a:rPr>
              <a:t>If too complex, users may bypass security controls</a:t>
            </a:r>
          </a:p>
          <a:p>
            <a:pPr marL="342900" indent="-342900" eaLnBrk="0" fontAlgn="base" hangingPunct="0">
              <a:lnSpc>
                <a:spcPct val="150000"/>
              </a:lnSpc>
              <a:spcBef>
                <a:spcPct val="0"/>
              </a:spcBef>
              <a:spcAft>
                <a:spcPct val="0"/>
              </a:spcAft>
              <a:buFont typeface="Arial" panose="020B0604020202020204" pitchFamily="34" charset="0"/>
              <a:buChar char="•"/>
            </a:pPr>
            <a:r>
              <a:rPr lang="en-US" sz="3200" dirty="0">
                <a:latin typeface="Arial" panose="020B0604020202020204" pitchFamily="34" charset="0"/>
              </a:rPr>
              <a:t>Security should not reduce usability</a:t>
            </a:r>
          </a:p>
        </p:txBody>
      </p:sp>
      <p:sp>
        <p:nvSpPr>
          <p:cNvPr id="11" name="TextBox 10">
            <a:extLst>
              <a:ext uri="{FF2B5EF4-FFF2-40B4-BE49-F238E27FC236}">
                <a16:creationId xmlns:a16="http://schemas.microsoft.com/office/drawing/2014/main" id="{E2B082F6-707A-B2F8-71CA-006FAEB73A2D}"/>
              </a:ext>
            </a:extLst>
          </p:cNvPr>
          <p:cNvSpPr txBox="1"/>
          <p:nvPr/>
        </p:nvSpPr>
        <p:spPr>
          <a:xfrm>
            <a:off x="2227006" y="6675087"/>
            <a:ext cx="9144000" cy="584775"/>
          </a:xfrm>
          <a:prstGeom prst="rect">
            <a:avLst/>
          </a:prstGeom>
          <a:noFill/>
        </p:spPr>
        <p:txBody>
          <a:bodyPr wrap="square">
            <a:spAutoFit/>
          </a:bodyPr>
          <a:lstStyle/>
          <a:p>
            <a:r>
              <a:rPr lang="en-US" sz="3200" b="1" dirty="0">
                <a:highlight>
                  <a:srgbClr val="00FFFF"/>
                </a:highlight>
              </a:rPr>
              <a:t>Psychological Acceptability</a:t>
            </a:r>
          </a:p>
        </p:txBody>
      </p:sp>
    </p:spTree>
    <p:extLst>
      <p:ext uri="{BB962C8B-B14F-4D97-AF65-F5344CB8AC3E}">
        <p14:creationId xmlns:p14="http://schemas.microsoft.com/office/powerpoint/2010/main" val="2538435597"/>
      </p:ext>
    </p:extLst>
  </p:cSld>
  <p:clrMapOvr>
    <a:masterClrMapping/>
  </p:clrMapOvr>
  <p:transition spd="med">
    <p:wipe dir="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DD631-2AF6-7318-B956-A2EB0B9DA4A9}"/>
            </a:ext>
          </a:extLst>
        </p:cNvPr>
        <p:cNvGrpSpPr/>
        <p:nvPr/>
      </p:nvGrpSpPr>
      <p:grpSpPr>
        <a:xfrm>
          <a:off x="0" y="0"/>
          <a:ext cx="0" cy="0"/>
          <a:chOff x="0" y="0"/>
          <a:chExt cx="0" cy="0"/>
        </a:xfrm>
      </p:grpSpPr>
      <p:sp>
        <p:nvSpPr>
          <p:cNvPr id="72706" name="Title 1">
            <a:extLst>
              <a:ext uri="{FF2B5EF4-FFF2-40B4-BE49-F238E27FC236}">
                <a16:creationId xmlns:a16="http://schemas.microsoft.com/office/drawing/2014/main" id="{92071BF6-E842-0799-8741-25023A9EA9CE}"/>
              </a:ext>
            </a:extLst>
          </p:cNvPr>
          <p:cNvSpPr>
            <a:spLocks noGrp="1"/>
          </p:cNvSpPr>
          <p:nvPr>
            <p:ph type="title" idx="4294967295"/>
          </p:nvPr>
        </p:nvSpPr>
        <p:spPr>
          <a:xfrm>
            <a:off x="3456384" y="571500"/>
            <a:ext cx="11375231" cy="1924050"/>
          </a:xfrm>
          <a:prstGeom prst="rect">
            <a:avLst/>
          </a:prstGeom>
        </p:spPr>
        <p:txBody>
          <a:bodyPr>
            <a:normAutofit/>
          </a:bodyPr>
          <a:lstStyle/>
          <a:p>
            <a:pPr>
              <a:defRPr/>
            </a:pPr>
            <a:r>
              <a:rPr lang="en-US" b="1" dirty="0"/>
              <a:t>Fundamental Security Design Principals</a:t>
            </a:r>
          </a:p>
        </p:txBody>
      </p:sp>
      <p:sp>
        <p:nvSpPr>
          <p:cNvPr id="5" name="TextBox 4">
            <a:extLst>
              <a:ext uri="{FF2B5EF4-FFF2-40B4-BE49-F238E27FC236}">
                <a16:creationId xmlns:a16="http://schemas.microsoft.com/office/drawing/2014/main" id="{7F4014CB-C5F1-827C-2875-FBFE43677B20}"/>
              </a:ext>
            </a:extLst>
          </p:cNvPr>
          <p:cNvSpPr txBox="1"/>
          <p:nvPr/>
        </p:nvSpPr>
        <p:spPr>
          <a:xfrm>
            <a:off x="2286000" y="2996655"/>
            <a:ext cx="14859000" cy="2217082"/>
          </a:xfrm>
          <a:prstGeom prst="rect">
            <a:avLst/>
          </a:prstGeom>
          <a:noFill/>
        </p:spPr>
        <p:txBody>
          <a:bodyPr wrap="square">
            <a:spAutoFit/>
          </a:bodyPr>
          <a:lstStyle/>
          <a:p>
            <a:pPr marL="342900" indent="-342900" eaLnBrk="0" fontAlgn="base" hangingPunct="0">
              <a:lnSpc>
                <a:spcPct val="150000"/>
              </a:lnSpc>
              <a:spcBef>
                <a:spcPct val="0"/>
              </a:spcBef>
              <a:spcAft>
                <a:spcPct val="0"/>
              </a:spcAft>
              <a:buFont typeface="Arial" panose="020B0604020202020204" pitchFamily="34" charset="0"/>
              <a:buChar char="•"/>
            </a:pPr>
            <a:r>
              <a:rPr lang="en-US" sz="3200" dirty="0">
                <a:latin typeface="Arial" panose="020B0604020202020204" pitchFamily="34" charset="0"/>
              </a:rPr>
              <a:t>System should behave predictably</a:t>
            </a:r>
          </a:p>
          <a:p>
            <a:pPr marL="342900" indent="-342900" eaLnBrk="0" fontAlgn="base" hangingPunct="0">
              <a:lnSpc>
                <a:spcPct val="150000"/>
              </a:lnSpc>
              <a:spcBef>
                <a:spcPct val="0"/>
              </a:spcBef>
              <a:spcAft>
                <a:spcPct val="0"/>
              </a:spcAft>
              <a:buFont typeface="Arial" panose="020B0604020202020204" pitchFamily="34" charset="0"/>
              <a:buChar char="•"/>
            </a:pPr>
            <a:r>
              <a:rPr lang="en-US" sz="3200" dirty="0">
                <a:latin typeface="Arial" panose="020B0604020202020204" pitchFamily="34" charset="0"/>
              </a:rPr>
              <a:t>Avoid unexpected security behavior</a:t>
            </a:r>
          </a:p>
          <a:p>
            <a:pPr marL="342900" indent="-342900" eaLnBrk="0" fontAlgn="base" hangingPunct="0">
              <a:lnSpc>
                <a:spcPct val="150000"/>
              </a:lnSpc>
              <a:spcBef>
                <a:spcPct val="0"/>
              </a:spcBef>
              <a:spcAft>
                <a:spcPct val="0"/>
              </a:spcAft>
              <a:buFont typeface="Arial" panose="020B0604020202020204" pitchFamily="34" charset="0"/>
              <a:buChar char="•"/>
            </a:pPr>
            <a:r>
              <a:rPr lang="en-US" sz="3200" dirty="0">
                <a:latin typeface="Arial" panose="020B0604020202020204" pitchFamily="34" charset="0"/>
              </a:rPr>
              <a:t>Reduces user and admin errors</a:t>
            </a:r>
          </a:p>
        </p:txBody>
      </p:sp>
      <p:sp>
        <p:nvSpPr>
          <p:cNvPr id="7" name="TextBox 6">
            <a:extLst>
              <a:ext uri="{FF2B5EF4-FFF2-40B4-BE49-F238E27FC236}">
                <a16:creationId xmlns:a16="http://schemas.microsoft.com/office/drawing/2014/main" id="{2E2E6668-F30D-EAC5-9F70-84BEBD1B94A0}"/>
              </a:ext>
            </a:extLst>
          </p:cNvPr>
          <p:cNvSpPr txBox="1"/>
          <p:nvPr/>
        </p:nvSpPr>
        <p:spPr>
          <a:xfrm>
            <a:off x="1981200" y="2411880"/>
            <a:ext cx="9144000" cy="584775"/>
          </a:xfrm>
          <a:prstGeom prst="rect">
            <a:avLst/>
          </a:prstGeom>
          <a:noFill/>
        </p:spPr>
        <p:txBody>
          <a:bodyPr wrap="square">
            <a:spAutoFit/>
          </a:bodyPr>
          <a:lstStyle/>
          <a:p>
            <a:r>
              <a:rPr lang="en-US" sz="3200" b="1" dirty="0">
                <a:highlight>
                  <a:srgbClr val="00FFFF"/>
                </a:highlight>
              </a:rPr>
              <a:t>Least Astonishment</a:t>
            </a:r>
          </a:p>
        </p:txBody>
      </p:sp>
      <p:sp>
        <p:nvSpPr>
          <p:cNvPr id="9" name="TextBox 8">
            <a:extLst>
              <a:ext uri="{FF2B5EF4-FFF2-40B4-BE49-F238E27FC236}">
                <a16:creationId xmlns:a16="http://schemas.microsoft.com/office/drawing/2014/main" id="{F41ACF5C-837C-1F25-981C-BB41BE7C98DD}"/>
              </a:ext>
            </a:extLst>
          </p:cNvPr>
          <p:cNvSpPr txBox="1"/>
          <p:nvPr/>
        </p:nvSpPr>
        <p:spPr>
          <a:xfrm>
            <a:off x="2628899" y="7281581"/>
            <a:ext cx="13030200" cy="2217082"/>
          </a:xfrm>
          <a:prstGeom prst="rect">
            <a:avLst/>
          </a:prstGeom>
          <a:noFill/>
        </p:spPr>
        <p:txBody>
          <a:bodyPr wrap="square">
            <a:spAutoFit/>
          </a:bodyPr>
          <a:lstStyle/>
          <a:p>
            <a:pPr marL="342900" indent="-342900" eaLnBrk="0" fontAlgn="base" hangingPunct="0">
              <a:lnSpc>
                <a:spcPct val="150000"/>
              </a:lnSpc>
              <a:spcBef>
                <a:spcPct val="0"/>
              </a:spcBef>
              <a:spcAft>
                <a:spcPct val="0"/>
              </a:spcAft>
              <a:buFont typeface="Arial" panose="020B0604020202020204" pitchFamily="34" charset="0"/>
              <a:buChar char="•"/>
            </a:pPr>
            <a:r>
              <a:rPr lang="en-US" sz="3200" dirty="0">
                <a:latin typeface="Arial" panose="020B0604020202020204" pitchFamily="34" charset="0"/>
              </a:rPr>
              <a:t>Use multiple security layers</a:t>
            </a:r>
          </a:p>
          <a:p>
            <a:pPr marL="342900" indent="-342900" eaLnBrk="0" fontAlgn="base" hangingPunct="0">
              <a:lnSpc>
                <a:spcPct val="150000"/>
              </a:lnSpc>
              <a:spcBef>
                <a:spcPct val="0"/>
              </a:spcBef>
              <a:spcAft>
                <a:spcPct val="0"/>
              </a:spcAft>
              <a:buFont typeface="Arial" panose="020B0604020202020204" pitchFamily="34" charset="0"/>
              <a:buChar char="•"/>
            </a:pPr>
            <a:r>
              <a:rPr lang="en-US" sz="3200" dirty="0">
                <a:latin typeface="Arial" panose="020B0604020202020204" pitchFamily="34" charset="0"/>
              </a:rPr>
              <a:t>One failure doesn’t break system</a:t>
            </a:r>
          </a:p>
          <a:p>
            <a:pPr marL="342900" indent="-342900" eaLnBrk="0" fontAlgn="base" hangingPunct="0">
              <a:lnSpc>
                <a:spcPct val="150000"/>
              </a:lnSpc>
              <a:spcBef>
                <a:spcPct val="0"/>
              </a:spcBef>
              <a:spcAft>
                <a:spcPct val="0"/>
              </a:spcAft>
              <a:buFont typeface="Arial" panose="020B0604020202020204" pitchFamily="34" charset="0"/>
              <a:buChar char="•"/>
            </a:pPr>
            <a:r>
              <a:rPr lang="en-US" sz="3200" dirty="0">
                <a:latin typeface="Arial" panose="020B0604020202020204" pitchFamily="34" charset="0"/>
              </a:rPr>
              <a:t>Combine firewall, encryption, auth</a:t>
            </a:r>
          </a:p>
        </p:txBody>
      </p:sp>
      <p:sp>
        <p:nvSpPr>
          <p:cNvPr id="11" name="TextBox 10">
            <a:extLst>
              <a:ext uri="{FF2B5EF4-FFF2-40B4-BE49-F238E27FC236}">
                <a16:creationId xmlns:a16="http://schemas.microsoft.com/office/drawing/2014/main" id="{73A42F34-F01B-6D88-7DF7-EE1828429057}"/>
              </a:ext>
            </a:extLst>
          </p:cNvPr>
          <p:cNvSpPr txBox="1"/>
          <p:nvPr/>
        </p:nvSpPr>
        <p:spPr>
          <a:xfrm>
            <a:off x="2227006" y="6675087"/>
            <a:ext cx="9144000" cy="584775"/>
          </a:xfrm>
          <a:prstGeom prst="rect">
            <a:avLst/>
          </a:prstGeom>
          <a:noFill/>
        </p:spPr>
        <p:txBody>
          <a:bodyPr wrap="square">
            <a:spAutoFit/>
          </a:bodyPr>
          <a:lstStyle/>
          <a:p>
            <a:r>
              <a:rPr lang="en-US" sz="3200" b="1" dirty="0">
                <a:highlight>
                  <a:srgbClr val="00FFFF"/>
                </a:highlight>
              </a:rPr>
              <a:t>Defense in Depth</a:t>
            </a:r>
          </a:p>
        </p:txBody>
      </p:sp>
    </p:spTree>
    <p:extLst>
      <p:ext uri="{BB962C8B-B14F-4D97-AF65-F5344CB8AC3E}">
        <p14:creationId xmlns:p14="http://schemas.microsoft.com/office/powerpoint/2010/main" val="620235755"/>
      </p:ext>
    </p:extLst>
  </p:cSld>
  <p:clrMapOvr>
    <a:masterClrMapping/>
  </p:clrMapOvr>
  <p:transition spd="med">
    <p:wipe dir="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60ABC-1D85-55E4-F4DB-F1AF97946856}"/>
              </a:ext>
            </a:extLst>
          </p:cNvPr>
          <p:cNvSpPr>
            <a:spLocks noGrp="1"/>
          </p:cNvSpPr>
          <p:nvPr>
            <p:ph type="title"/>
          </p:nvPr>
        </p:nvSpPr>
        <p:spPr>
          <a:xfrm>
            <a:off x="1752600" y="4000500"/>
            <a:ext cx="15166976" cy="1620371"/>
          </a:xfrm>
        </p:spPr>
        <p:txBody>
          <a:bodyPr>
            <a:normAutofit/>
          </a:bodyPr>
          <a:lstStyle/>
          <a:p>
            <a:r>
              <a:rPr lang="en-US" sz="6600" dirty="0">
                <a:solidFill>
                  <a:schemeClr val="accent6">
                    <a:lumMod val="75000"/>
                  </a:schemeClr>
                </a:solidFill>
              </a:rPr>
              <a:t>Attack Surface and Attack Tress</a:t>
            </a:r>
          </a:p>
        </p:txBody>
      </p:sp>
    </p:spTree>
    <p:extLst>
      <p:ext uri="{BB962C8B-B14F-4D97-AF65-F5344CB8AC3E}">
        <p14:creationId xmlns:p14="http://schemas.microsoft.com/office/powerpoint/2010/main" val="2414755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85" name="Google Shape;85;p13"/>
          <p:cNvSpPr txBox="1"/>
          <p:nvPr/>
        </p:nvSpPr>
        <p:spPr>
          <a:xfrm>
            <a:off x="871538" y="3004840"/>
            <a:ext cx="17372171" cy="2742289"/>
          </a:xfrm>
          <a:prstGeom prst="rect">
            <a:avLst/>
          </a:prstGeom>
          <a:noFill/>
          <a:ln>
            <a:noFill/>
          </a:ln>
        </p:spPr>
        <p:txBody>
          <a:bodyPr spcFirstLastPara="1" wrap="square" lIns="0" tIns="0" rIns="0" bIns="0" anchor="t" anchorCtr="0">
            <a:spAutoFit/>
          </a:bodyPr>
          <a:lstStyle/>
          <a:p>
            <a:pPr>
              <a:lnSpc>
                <a:spcPct val="110000"/>
              </a:lnSpc>
            </a:pPr>
            <a:r>
              <a:rPr lang="en-US" sz="8100" b="1">
                <a:solidFill>
                  <a:srgbClr val="22D3EE"/>
                </a:solidFill>
                <a:latin typeface="Urbanist"/>
                <a:ea typeface="Urbanist"/>
                <a:cs typeface="Urbanist"/>
                <a:sym typeface="Urbanist"/>
              </a:rPr>
              <a:t>Attack Surfaces</a:t>
            </a:r>
            <a:br>
              <a:rPr lang="en-US" sz="2700">
                <a:solidFill>
                  <a:schemeClr val="dk1"/>
                </a:solidFill>
                <a:latin typeface="Calibri"/>
                <a:ea typeface="Calibri"/>
                <a:cs typeface="Calibri"/>
                <a:sym typeface="Calibri"/>
              </a:rPr>
            </a:br>
            <a:r>
              <a:rPr lang="en-US" sz="8100" b="1">
                <a:solidFill>
                  <a:srgbClr val="F8FAFC"/>
                </a:solidFill>
                <a:latin typeface="Urbanist"/>
                <a:ea typeface="Urbanist"/>
                <a:cs typeface="Urbanist"/>
                <a:sym typeface="Urbanist"/>
              </a:rPr>
              <a:t> and Attack Trees</a:t>
            </a:r>
            <a:endParaRPr sz="2700"/>
          </a:p>
        </p:txBody>
      </p:sp>
      <p:sp>
        <p:nvSpPr>
          <p:cNvPr id="87" name="Google Shape;87;p13"/>
          <p:cNvSpPr txBox="1"/>
          <p:nvPr/>
        </p:nvSpPr>
        <p:spPr>
          <a:xfrm>
            <a:off x="1214438" y="6639223"/>
            <a:ext cx="16202025" cy="519373"/>
          </a:xfrm>
          <a:prstGeom prst="rect">
            <a:avLst/>
          </a:prstGeom>
          <a:noFill/>
          <a:ln>
            <a:noFill/>
          </a:ln>
        </p:spPr>
        <p:txBody>
          <a:bodyPr spcFirstLastPara="1" wrap="square" lIns="0" tIns="0" rIns="0" bIns="0" anchor="t" anchorCtr="0">
            <a:spAutoFit/>
          </a:bodyPr>
          <a:lstStyle/>
          <a:p>
            <a:pPr>
              <a:lnSpc>
                <a:spcPct val="150000"/>
              </a:lnSpc>
            </a:pPr>
            <a:r>
              <a:rPr lang="en-US" sz="2250">
                <a:solidFill>
                  <a:srgbClr val="F8FAFC"/>
                </a:solidFill>
                <a:latin typeface="Urbanist"/>
                <a:ea typeface="Urbanist"/>
                <a:cs typeface="Urbanist"/>
                <a:sym typeface="Urbanist"/>
              </a:rPr>
              <a:t>Systematic analysis of modern security threats.</a:t>
            </a:r>
            <a:endParaRPr sz="270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92" name="Google Shape;92;p14" descr="image.png"/>
          <p:cNvPicPr preferRelativeResize="0"/>
          <p:nvPr/>
        </p:nvPicPr>
        <p:blipFill rotWithShape="1">
          <a:blip r:embed="rId3">
            <a:alphaModFix/>
          </a:blip>
          <a:srcRect/>
          <a:stretch/>
        </p:blipFill>
        <p:spPr>
          <a:xfrm>
            <a:off x="0" y="0"/>
            <a:ext cx="18288000" cy="10287000"/>
          </a:xfrm>
          <a:prstGeom prst="rect">
            <a:avLst/>
          </a:prstGeom>
          <a:noFill/>
          <a:ln>
            <a:noFill/>
          </a:ln>
        </p:spPr>
      </p:pic>
      <p:pic>
        <p:nvPicPr>
          <p:cNvPr id="93" name="Google Shape;93;p14" descr="image.png"/>
          <p:cNvPicPr preferRelativeResize="0"/>
          <p:nvPr/>
        </p:nvPicPr>
        <p:blipFill rotWithShape="1">
          <a:blip r:embed="rId4">
            <a:alphaModFix/>
          </a:blip>
          <a:srcRect/>
          <a:stretch/>
        </p:blipFill>
        <p:spPr>
          <a:xfrm>
            <a:off x="9501188" y="2950368"/>
            <a:ext cx="7915275" cy="5715000"/>
          </a:xfrm>
          <a:prstGeom prst="rect">
            <a:avLst/>
          </a:prstGeom>
          <a:noFill/>
          <a:ln>
            <a:noFill/>
          </a:ln>
        </p:spPr>
      </p:pic>
      <p:pic>
        <p:nvPicPr>
          <p:cNvPr id="94" name="Google Shape;94;p14" descr="image.png"/>
          <p:cNvPicPr preferRelativeResize="0"/>
          <p:nvPr/>
        </p:nvPicPr>
        <p:blipFill rotWithShape="1">
          <a:blip r:embed="rId5">
            <a:alphaModFix/>
          </a:blip>
          <a:srcRect/>
          <a:stretch/>
        </p:blipFill>
        <p:spPr>
          <a:xfrm>
            <a:off x="871538" y="4093368"/>
            <a:ext cx="7915275" cy="2971800"/>
          </a:xfrm>
          <a:prstGeom prst="rect">
            <a:avLst/>
          </a:prstGeom>
          <a:noFill/>
          <a:ln>
            <a:noFill/>
          </a:ln>
        </p:spPr>
      </p:pic>
      <p:sp>
        <p:nvSpPr>
          <p:cNvPr id="95" name="Google Shape;95;p14"/>
          <p:cNvSpPr txBox="1"/>
          <p:nvPr/>
        </p:nvSpPr>
        <p:spPr>
          <a:xfrm>
            <a:off x="871538" y="2950369"/>
            <a:ext cx="7915275" cy="1038746"/>
          </a:xfrm>
          <a:prstGeom prst="rect">
            <a:avLst/>
          </a:prstGeom>
          <a:noFill/>
          <a:ln>
            <a:noFill/>
          </a:ln>
        </p:spPr>
        <p:txBody>
          <a:bodyPr spcFirstLastPara="1" wrap="square" lIns="0" tIns="0" rIns="0" bIns="0" anchor="t" anchorCtr="0">
            <a:spAutoFit/>
          </a:bodyPr>
          <a:lstStyle/>
          <a:p>
            <a:pPr>
              <a:lnSpc>
                <a:spcPct val="150000"/>
              </a:lnSpc>
            </a:pPr>
            <a:r>
              <a:rPr lang="en-US" sz="2250">
                <a:solidFill>
                  <a:srgbClr val="94A3B8"/>
                </a:solidFill>
                <a:latin typeface="Urbanist"/>
                <a:ea typeface="Urbanist"/>
                <a:cs typeface="Urbanist"/>
                <a:sym typeface="Urbanist"/>
              </a:rPr>
              <a:t>Modern systems face numerous security threats. Effective defense requires identifying every possible attack point.</a:t>
            </a:r>
            <a:endParaRPr sz="2700"/>
          </a:p>
        </p:txBody>
      </p:sp>
      <p:pic>
        <p:nvPicPr>
          <p:cNvPr id="96" name="Google Shape;96;p14" descr="image.png"/>
          <p:cNvPicPr preferRelativeResize="0"/>
          <p:nvPr/>
        </p:nvPicPr>
        <p:blipFill rotWithShape="1">
          <a:blip r:embed="rId6">
            <a:alphaModFix/>
          </a:blip>
          <a:srcRect/>
          <a:stretch/>
        </p:blipFill>
        <p:spPr>
          <a:xfrm>
            <a:off x="9515475" y="2964656"/>
            <a:ext cx="3143250" cy="271463"/>
          </a:xfrm>
          <a:prstGeom prst="rect">
            <a:avLst/>
          </a:prstGeom>
          <a:noFill/>
          <a:ln>
            <a:noFill/>
          </a:ln>
        </p:spPr>
      </p:pic>
      <p:sp>
        <p:nvSpPr>
          <p:cNvPr id="97" name="Google Shape;97;p14"/>
          <p:cNvSpPr txBox="1"/>
          <p:nvPr/>
        </p:nvSpPr>
        <p:spPr>
          <a:xfrm>
            <a:off x="1314451" y="4536281"/>
            <a:ext cx="7380923" cy="415498"/>
          </a:xfrm>
          <a:prstGeom prst="rect">
            <a:avLst/>
          </a:prstGeom>
          <a:noFill/>
          <a:ln>
            <a:noFill/>
          </a:ln>
        </p:spPr>
        <p:txBody>
          <a:bodyPr spcFirstLastPara="1" wrap="square" lIns="0" tIns="0" rIns="0" bIns="0" anchor="t" anchorCtr="0">
            <a:spAutoFit/>
          </a:bodyPr>
          <a:lstStyle/>
          <a:p>
            <a:r>
              <a:rPr lang="en-US" sz="2700" b="1">
                <a:solidFill>
                  <a:srgbClr val="F1F5F9"/>
                </a:solidFill>
                <a:latin typeface="Urbanist"/>
                <a:ea typeface="Urbanist"/>
                <a:cs typeface="Urbanist"/>
                <a:sym typeface="Urbanist"/>
              </a:rPr>
              <a:t>The Analytic Framework</a:t>
            </a:r>
            <a:endParaRPr sz="2700"/>
          </a:p>
        </p:txBody>
      </p:sp>
      <p:sp>
        <p:nvSpPr>
          <p:cNvPr id="98" name="Google Shape;98;p14"/>
          <p:cNvSpPr txBox="1"/>
          <p:nvPr/>
        </p:nvSpPr>
        <p:spPr>
          <a:xfrm>
            <a:off x="1314450" y="5122068"/>
            <a:ext cx="7029450" cy="1558119"/>
          </a:xfrm>
          <a:prstGeom prst="rect">
            <a:avLst/>
          </a:prstGeom>
          <a:noFill/>
          <a:ln>
            <a:noFill/>
          </a:ln>
        </p:spPr>
        <p:txBody>
          <a:bodyPr spcFirstLastPara="1" wrap="square" lIns="0" tIns="0" rIns="0" bIns="0" anchor="t" anchorCtr="0">
            <a:spAutoFit/>
          </a:bodyPr>
          <a:lstStyle/>
          <a:p>
            <a:pPr>
              <a:lnSpc>
                <a:spcPct val="150000"/>
              </a:lnSpc>
            </a:pPr>
            <a:r>
              <a:rPr lang="en-US" sz="2250">
                <a:solidFill>
                  <a:srgbClr val="94A3B8"/>
                </a:solidFill>
                <a:latin typeface="Urbanist"/>
                <a:ea typeface="Urbanist"/>
                <a:cs typeface="Urbanist"/>
                <a:sym typeface="Urbanist"/>
              </a:rPr>
              <a:t>Security analysis is built on two primary concepts: </a:t>
            </a:r>
            <a:r>
              <a:rPr lang="en-US" sz="2250" b="1">
                <a:solidFill>
                  <a:srgbClr val="94A3B8"/>
                </a:solidFill>
                <a:latin typeface="Urbanist"/>
                <a:ea typeface="Urbanist"/>
                <a:cs typeface="Urbanist"/>
                <a:sym typeface="Urbanist"/>
              </a:rPr>
              <a:t>Attack Surfaces</a:t>
            </a:r>
            <a:r>
              <a:rPr lang="en-US" sz="2250">
                <a:solidFill>
                  <a:srgbClr val="94A3B8"/>
                </a:solidFill>
                <a:latin typeface="Urbanist"/>
                <a:ea typeface="Urbanist"/>
                <a:cs typeface="Urbanist"/>
                <a:sym typeface="Urbanist"/>
              </a:rPr>
              <a:t> (measuring where) and </a:t>
            </a:r>
            <a:r>
              <a:rPr lang="en-US" sz="2250" b="1">
                <a:solidFill>
                  <a:srgbClr val="94A3B8"/>
                </a:solidFill>
                <a:latin typeface="Urbanist"/>
                <a:ea typeface="Urbanist"/>
                <a:cs typeface="Urbanist"/>
                <a:sym typeface="Urbanist"/>
              </a:rPr>
              <a:t>Attack Trees</a:t>
            </a:r>
            <a:r>
              <a:rPr lang="en-US" sz="2250">
                <a:solidFill>
                  <a:srgbClr val="94A3B8"/>
                </a:solidFill>
                <a:latin typeface="Urbanist"/>
                <a:ea typeface="Urbanist"/>
                <a:cs typeface="Urbanist"/>
                <a:sym typeface="Urbanist"/>
              </a:rPr>
              <a:t> (modeling how).</a:t>
            </a:r>
            <a:endParaRPr sz="2700"/>
          </a:p>
        </p:txBody>
      </p:sp>
      <p:sp>
        <p:nvSpPr>
          <p:cNvPr id="99" name="Google Shape;99;p14"/>
          <p:cNvSpPr txBox="1"/>
          <p:nvPr/>
        </p:nvSpPr>
        <p:spPr>
          <a:xfrm>
            <a:off x="871538" y="871538"/>
            <a:ext cx="17372171" cy="761747"/>
          </a:xfrm>
          <a:prstGeom prst="rect">
            <a:avLst/>
          </a:prstGeom>
          <a:noFill/>
          <a:ln>
            <a:noFill/>
          </a:ln>
        </p:spPr>
        <p:txBody>
          <a:bodyPr spcFirstLastPara="1" wrap="square" lIns="0" tIns="0" rIns="0" bIns="0" anchor="t" anchorCtr="0">
            <a:spAutoFit/>
          </a:bodyPr>
          <a:lstStyle/>
          <a:p>
            <a:r>
              <a:rPr lang="en-US" sz="4950" b="1">
                <a:solidFill>
                  <a:srgbClr val="22D3EE"/>
                </a:solidFill>
                <a:latin typeface="Urbanist"/>
                <a:ea typeface="Urbanist"/>
                <a:cs typeface="Urbanist"/>
                <a:sym typeface="Urbanist"/>
              </a:rPr>
              <a:t>Analyzing Security Exposure</a:t>
            </a:r>
            <a:endParaRPr sz="2700"/>
          </a:p>
        </p:txBody>
      </p:sp>
      <p:pic>
        <p:nvPicPr>
          <p:cNvPr id="2" name="Picture 1">
            <a:extLst>
              <a:ext uri="{FF2B5EF4-FFF2-40B4-BE49-F238E27FC236}">
                <a16:creationId xmlns:a16="http://schemas.microsoft.com/office/drawing/2014/main" id="{B46DAB23-0A1A-067B-F833-BE034BE98B51}"/>
              </a:ext>
            </a:extLst>
          </p:cNvPr>
          <p:cNvPicPr>
            <a:picLocks noChangeAspect="1"/>
          </p:cNvPicPr>
          <p:nvPr/>
        </p:nvPicPr>
        <p:blipFill>
          <a:blip r:embed="rId7"/>
          <a:stretch>
            <a:fillRect/>
          </a:stretch>
        </p:blipFill>
        <p:spPr>
          <a:xfrm>
            <a:off x="9515474" y="2964657"/>
            <a:ext cx="8125115" cy="5700711"/>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pic>
        <p:nvPicPr>
          <p:cNvPr id="104" name="Google Shape;104;p15" descr="image.png"/>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105" name="Google Shape;105;p15"/>
          <p:cNvSpPr txBox="1"/>
          <p:nvPr/>
        </p:nvSpPr>
        <p:spPr>
          <a:xfrm>
            <a:off x="871538" y="871538"/>
            <a:ext cx="7785972" cy="1523494"/>
          </a:xfrm>
          <a:prstGeom prst="rect">
            <a:avLst/>
          </a:prstGeom>
          <a:noFill/>
          <a:ln>
            <a:noFill/>
          </a:ln>
        </p:spPr>
        <p:txBody>
          <a:bodyPr spcFirstLastPara="1" wrap="square" lIns="0" tIns="0" rIns="0" bIns="0" anchor="t" anchorCtr="0">
            <a:spAutoFit/>
          </a:bodyPr>
          <a:lstStyle/>
          <a:p>
            <a:r>
              <a:rPr lang="en-US" sz="4950" b="1">
                <a:solidFill>
                  <a:srgbClr val="22D3EE"/>
                </a:solidFill>
                <a:latin typeface="Urbanist"/>
                <a:ea typeface="Urbanist"/>
                <a:cs typeface="Urbanist"/>
                <a:sym typeface="Urbanist"/>
              </a:rPr>
              <a:t>What is an Attack Surface?</a:t>
            </a:r>
            <a:endParaRPr sz="2700"/>
          </a:p>
        </p:txBody>
      </p:sp>
      <p:sp>
        <p:nvSpPr>
          <p:cNvPr id="106" name="Google Shape;106;p15"/>
          <p:cNvSpPr txBox="1"/>
          <p:nvPr/>
        </p:nvSpPr>
        <p:spPr>
          <a:xfrm>
            <a:off x="871538" y="2200276"/>
            <a:ext cx="7415213" cy="1038746"/>
          </a:xfrm>
          <a:prstGeom prst="rect">
            <a:avLst/>
          </a:prstGeom>
          <a:noFill/>
          <a:ln>
            <a:noFill/>
          </a:ln>
        </p:spPr>
        <p:txBody>
          <a:bodyPr spcFirstLastPara="1" wrap="square" lIns="0" tIns="0" rIns="0" bIns="0" anchor="t" anchorCtr="0">
            <a:spAutoFit/>
          </a:bodyPr>
          <a:lstStyle/>
          <a:p>
            <a:pPr>
              <a:lnSpc>
                <a:spcPct val="150000"/>
              </a:lnSpc>
            </a:pPr>
            <a:r>
              <a:rPr lang="en-US" sz="2250">
                <a:solidFill>
                  <a:srgbClr val="94A3B8"/>
                </a:solidFill>
                <a:latin typeface="Urbanist"/>
                <a:ea typeface="Urbanist"/>
                <a:cs typeface="Urbanist"/>
                <a:sym typeface="Urbanist"/>
              </a:rPr>
              <a:t>The sum of all points where an attacker can try to enter or extract data from a system.</a:t>
            </a:r>
            <a:endParaRPr sz="2700"/>
          </a:p>
        </p:txBody>
      </p:sp>
      <p:sp>
        <p:nvSpPr>
          <p:cNvPr id="108" name="Google Shape;108;p15"/>
          <p:cNvSpPr txBox="1"/>
          <p:nvPr/>
        </p:nvSpPr>
        <p:spPr>
          <a:xfrm>
            <a:off x="1443038" y="3486150"/>
            <a:ext cx="6843713" cy="571310"/>
          </a:xfrm>
          <a:prstGeom prst="rect">
            <a:avLst/>
          </a:prstGeom>
          <a:noFill/>
          <a:ln>
            <a:noFill/>
          </a:ln>
        </p:spPr>
        <p:txBody>
          <a:bodyPr spcFirstLastPara="1" wrap="square" lIns="0" tIns="0" rIns="0" bIns="0" anchor="t" anchorCtr="0">
            <a:spAutoFit/>
          </a:bodyPr>
          <a:lstStyle/>
          <a:p>
            <a:pPr>
              <a:lnSpc>
                <a:spcPct val="150000"/>
              </a:lnSpc>
            </a:pPr>
            <a:r>
              <a:rPr lang="en-US" sz="2475" b="1">
                <a:solidFill>
                  <a:srgbClr val="94A3B8"/>
                </a:solidFill>
                <a:latin typeface="Urbanist"/>
                <a:ea typeface="Urbanist"/>
                <a:cs typeface="Urbanist"/>
                <a:sym typeface="Urbanist"/>
              </a:rPr>
              <a:t>Exposure:</a:t>
            </a:r>
            <a:r>
              <a:rPr lang="en-US" sz="2475">
                <a:solidFill>
                  <a:srgbClr val="94A3B8"/>
                </a:solidFill>
                <a:latin typeface="Urbanist"/>
                <a:ea typeface="Urbanist"/>
                <a:cs typeface="Urbanist"/>
                <a:sym typeface="Urbanist"/>
              </a:rPr>
              <a:t> Represents total system vulnerability.</a:t>
            </a:r>
            <a:endParaRPr sz="2700"/>
          </a:p>
        </p:txBody>
      </p:sp>
      <p:sp>
        <p:nvSpPr>
          <p:cNvPr id="109" name="Google Shape;109;p15"/>
          <p:cNvSpPr txBox="1"/>
          <p:nvPr/>
        </p:nvSpPr>
        <p:spPr>
          <a:xfrm>
            <a:off x="1443038" y="4214813"/>
            <a:ext cx="6843713" cy="571310"/>
          </a:xfrm>
          <a:prstGeom prst="rect">
            <a:avLst/>
          </a:prstGeom>
          <a:noFill/>
          <a:ln>
            <a:noFill/>
          </a:ln>
        </p:spPr>
        <p:txBody>
          <a:bodyPr spcFirstLastPara="1" wrap="square" lIns="0" tIns="0" rIns="0" bIns="0" anchor="t" anchorCtr="0">
            <a:spAutoFit/>
          </a:bodyPr>
          <a:lstStyle/>
          <a:p>
            <a:pPr>
              <a:lnSpc>
                <a:spcPct val="150000"/>
              </a:lnSpc>
            </a:pPr>
            <a:r>
              <a:rPr lang="en-US" sz="2475" b="1">
                <a:solidFill>
                  <a:srgbClr val="94A3B8"/>
                </a:solidFill>
                <a:latin typeface="Urbanist"/>
                <a:ea typeface="Urbanist"/>
                <a:cs typeface="Urbanist"/>
                <a:sym typeface="Urbanist"/>
              </a:rPr>
              <a:t>Risk:</a:t>
            </a:r>
            <a:r>
              <a:rPr lang="en-US" sz="2475">
                <a:solidFill>
                  <a:srgbClr val="94A3B8"/>
                </a:solidFill>
                <a:latin typeface="Urbanist"/>
                <a:ea typeface="Urbanist"/>
                <a:cs typeface="Urbanist"/>
                <a:sym typeface="Urbanist"/>
              </a:rPr>
              <a:t> Larger surfaces increase security risk.</a:t>
            </a:r>
            <a:endParaRPr sz="2700"/>
          </a:p>
        </p:txBody>
      </p:sp>
      <p:sp>
        <p:nvSpPr>
          <p:cNvPr id="110" name="Google Shape;110;p15"/>
          <p:cNvSpPr txBox="1"/>
          <p:nvPr/>
        </p:nvSpPr>
        <p:spPr>
          <a:xfrm>
            <a:off x="1443038" y="4943475"/>
            <a:ext cx="6843713" cy="1142620"/>
          </a:xfrm>
          <a:prstGeom prst="rect">
            <a:avLst/>
          </a:prstGeom>
          <a:noFill/>
          <a:ln>
            <a:noFill/>
          </a:ln>
        </p:spPr>
        <p:txBody>
          <a:bodyPr spcFirstLastPara="1" wrap="square" lIns="0" tIns="0" rIns="0" bIns="0" anchor="t" anchorCtr="0">
            <a:spAutoFit/>
          </a:bodyPr>
          <a:lstStyle/>
          <a:p>
            <a:pPr>
              <a:lnSpc>
                <a:spcPct val="150000"/>
              </a:lnSpc>
            </a:pPr>
            <a:r>
              <a:rPr lang="en-US" sz="2475" b="1">
                <a:solidFill>
                  <a:srgbClr val="94A3B8"/>
                </a:solidFill>
                <a:latin typeface="Urbanist"/>
                <a:ea typeface="Urbanist"/>
                <a:cs typeface="Urbanist"/>
                <a:sym typeface="Urbanist"/>
              </a:rPr>
              <a:t>Goal:</a:t>
            </a:r>
            <a:r>
              <a:rPr lang="en-US" sz="2475">
                <a:solidFill>
                  <a:srgbClr val="94A3B8"/>
                </a:solidFill>
                <a:latin typeface="Urbanist"/>
                <a:ea typeface="Urbanist"/>
                <a:cs typeface="Urbanist"/>
                <a:sym typeface="Urbanist"/>
              </a:rPr>
              <a:t> Minimize entry points to reduce opportunity.</a:t>
            </a:r>
            <a:endParaRPr sz="2700"/>
          </a:p>
        </p:txBody>
      </p:sp>
      <p:pic>
        <p:nvPicPr>
          <p:cNvPr id="111" name="Google Shape;111;p15" descr="image.png"/>
          <p:cNvPicPr preferRelativeResize="0"/>
          <p:nvPr/>
        </p:nvPicPr>
        <p:blipFill rotWithShape="1">
          <a:blip r:embed="rId4">
            <a:alphaModFix/>
          </a:blip>
          <a:srcRect/>
          <a:stretch/>
        </p:blipFill>
        <p:spPr>
          <a:xfrm>
            <a:off x="871538" y="3550444"/>
            <a:ext cx="271463" cy="328613"/>
          </a:xfrm>
          <a:prstGeom prst="rect">
            <a:avLst/>
          </a:prstGeom>
          <a:noFill/>
          <a:ln>
            <a:noFill/>
          </a:ln>
        </p:spPr>
      </p:pic>
      <p:pic>
        <p:nvPicPr>
          <p:cNvPr id="112" name="Google Shape;112;p15" descr="image.png"/>
          <p:cNvPicPr preferRelativeResize="0"/>
          <p:nvPr/>
        </p:nvPicPr>
        <p:blipFill rotWithShape="1">
          <a:blip r:embed="rId5">
            <a:alphaModFix/>
          </a:blip>
          <a:srcRect/>
          <a:stretch/>
        </p:blipFill>
        <p:spPr>
          <a:xfrm>
            <a:off x="871538" y="4279106"/>
            <a:ext cx="314325" cy="328613"/>
          </a:xfrm>
          <a:prstGeom prst="rect">
            <a:avLst/>
          </a:prstGeom>
          <a:noFill/>
          <a:ln>
            <a:noFill/>
          </a:ln>
        </p:spPr>
      </p:pic>
      <p:pic>
        <p:nvPicPr>
          <p:cNvPr id="113" name="Google Shape;113;p15" descr="image.png"/>
          <p:cNvPicPr preferRelativeResize="0"/>
          <p:nvPr/>
        </p:nvPicPr>
        <p:blipFill rotWithShape="1">
          <a:blip r:embed="rId6">
            <a:alphaModFix/>
          </a:blip>
          <a:srcRect/>
          <a:stretch/>
        </p:blipFill>
        <p:spPr>
          <a:xfrm>
            <a:off x="871538" y="5007769"/>
            <a:ext cx="271463" cy="328613"/>
          </a:xfrm>
          <a:prstGeom prst="rect">
            <a:avLst/>
          </a:prstGeom>
          <a:noFill/>
          <a:ln>
            <a:noFill/>
          </a:ln>
        </p:spPr>
      </p:pic>
      <p:pic>
        <p:nvPicPr>
          <p:cNvPr id="3" name="Picture 2">
            <a:extLst>
              <a:ext uri="{FF2B5EF4-FFF2-40B4-BE49-F238E27FC236}">
                <a16:creationId xmlns:a16="http://schemas.microsoft.com/office/drawing/2014/main" id="{583A9E99-3459-3E97-C994-79C79EB59969}"/>
              </a:ext>
            </a:extLst>
          </p:cNvPr>
          <p:cNvPicPr>
            <a:picLocks noChangeAspect="1"/>
          </p:cNvPicPr>
          <p:nvPr/>
        </p:nvPicPr>
        <p:blipFill>
          <a:blip r:embed="rId7"/>
          <a:stretch>
            <a:fillRect/>
          </a:stretch>
        </p:blipFill>
        <p:spPr>
          <a:xfrm>
            <a:off x="9729788" y="1331594"/>
            <a:ext cx="7143750" cy="6586538"/>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DED4D592-767C-DC0B-E53E-5DD3265DFF40}"/>
            </a:ext>
          </a:extLst>
        </p:cNvPr>
        <p:cNvGrpSpPr/>
        <p:nvPr/>
      </p:nvGrpSpPr>
      <p:grpSpPr>
        <a:xfrm>
          <a:off x="0" y="0"/>
          <a:ext cx="0" cy="0"/>
          <a:chOff x="0" y="0"/>
          <a:chExt cx="0" cy="0"/>
        </a:xfrm>
      </p:grpSpPr>
      <p:pic>
        <p:nvPicPr>
          <p:cNvPr id="104" name="Google Shape;104;p15" descr="image.png">
            <a:extLst>
              <a:ext uri="{FF2B5EF4-FFF2-40B4-BE49-F238E27FC236}">
                <a16:creationId xmlns:a16="http://schemas.microsoft.com/office/drawing/2014/main" id="{363E42DC-3AF5-9E02-C2AA-4AD407BEDAAA}"/>
              </a:ext>
            </a:extLst>
          </p:cNvPr>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105" name="Google Shape;105;p15">
            <a:extLst>
              <a:ext uri="{FF2B5EF4-FFF2-40B4-BE49-F238E27FC236}">
                <a16:creationId xmlns:a16="http://schemas.microsoft.com/office/drawing/2014/main" id="{E259AD9A-D635-8E70-7EF6-B384408C5657}"/>
              </a:ext>
            </a:extLst>
          </p:cNvPr>
          <p:cNvSpPr txBox="1"/>
          <p:nvPr/>
        </p:nvSpPr>
        <p:spPr>
          <a:xfrm>
            <a:off x="871538" y="871538"/>
            <a:ext cx="7785972" cy="1523494"/>
          </a:xfrm>
          <a:prstGeom prst="rect">
            <a:avLst/>
          </a:prstGeom>
          <a:noFill/>
          <a:ln>
            <a:noFill/>
          </a:ln>
        </p:spPr>
        <p:txBody>
          <a:bodyPr spcFirstLastPara="1" wrap="square" lIns="0" tIns="0" rIns="0" bIns="0" anchor="t" anchorCtr="0">
            <a:spAutoFit/>
          </a:bodyPr>
          <a:lstStyle/>
          <a:p>
            <a:r>
              <a:rPr lang="en-US" sz="4950" b="1">
                <a:solidFill>
                  <a:srgbClr val="22D3EE"/>
                </a:solidFill>
                <a:latin typeface="Urbanist"/>
                <a:ea typeface="Urbanist"/>
                <a:cs typeface="Urbanist"/>
                <a:sym typeface="Urbanist"/>
              </a:rPr>
              <a:t>What is an Attack Surface?</a:t>
            </a:r>
            <a:endParaRPr sz="2700"/>
          </a:p>
        </p:txBody>
      </p:sp>
      <p:pic>
        <p:nvPicPr>
          <p:cNvPr id="4" name="Picture 3">
            <a:extLst>
              <a:ext uri="{FF2B5EF4-FFF2-40B4-BE49-F238E27FC236}">
                <a16:creationId xmlns:a16="http://schemas.microsoft.com/office/drawing/2014/main" id="{29801F73-F536-C3B6-E738-A3FC500820E8}"/>
              </a:ext>
            </a:extLst>
          </p:cNvPr>
          <p:cNvPicPr>
            <a:picLocks noChangeAspect="1"/>
          </p:cNvPicPr>
          <p:nvPr/>
        </p:nvPicPr>
        <p:blipFill>
          <a:blip r:embed="rId4"/>
          <a:stretch>
            <a:fillRect/>
          </a:stretch>
        </p:blipFill>
        <p:spPr>
          <a:xfrm>
            <a:off x="6068733" y="2171700"/>
            <a:ext cx="11161276" cy="6858885"/>
          </a:xfrm>
          <a:prstGeom prst="rect">
            <a:avLst/>
          </a:prstGeom>
        </p:spPr>
      </p:pic>
    </p:spTree>
    <p:extLst>
      <p:ext uri="{BB962C8B-B14F-4D97-AF65-F5344CB8AC3E}">
        <p14:creationId xmlns:p14="http://schemas.microsoft.com/office/powerpoint/2010/main" val="316210030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pic>
        <p:nvPicPr>
          <p:cNvPr id="118" name="Google Shape;118;p16" descr="image.png"/>
          <p:cNvPicPr preferRelativeResize="0"/>
          <p:nvPr/>
        </p:nvPicPr>
        <p:blipFill rotWithShape="1">
          <a:blip r:embed="rId3">
            <a:alphaModFix/>
          </a:blip>
          <a:srcRect/>
          <a:stretch/>
        </p:blipFill>
        <p:spPr>
          <a:xfrm>
            <a:off x="0" y="0"/>
            <a:ext cx="18288000" cy="10287000"/>
          </a:xfrm>
          <a:prstGeom prst="rect">
            <a:avLst/>
          </a:prstGeom>
          <a:noFill/>
          <a:ln>
            <a:noFill/>
          </a:ln>
        </p:spPr>
      </p:pic>
      <p:pic>
        <p:nvPicPr>
          <p:cNvPr id="119" name="Google Shape;119;p16" descr="image.png"/>
          <p:cNvPicPr preferRelativeResize="0"/>
          <p:nvPr/>
        </p:nvPicPr>
        <p:blipFill rotWithShape="1">
          <a:blip r:embed="rId4">
            <a:alphaModFix/>
          </a:blip>
          <a:srcRect/>
          <a:stretch/>
        </p:blipFill>
        <p:spPr>
          <a:xfrm>
            <a:off x="871538" y="3836193"/>
            <a:ext cx="5229225" cy="3943350"/>
          </a:xfrm>
          <a:prstGeom prst="rect">
            <a:avLst/>
          </a:prstGeom>
          <a:noFill/>
          <a:ln>
            <a:noFill/>
          </a:ln>
        </p:spPr>
      </p:pic>
      <p:pic>
        <p:nvPicPr>
          <p:cNvPr id="120" name="Google Shape;120;p16" descr="image.png"/>
          <p:cNvPicPr preferRelativeResize="0"/>
          <p:nvPr/>
        </p:nvPicPr>
        <p:blipFill rotWithShape="1">
          <a:blip r:embed="rId5">
            <a:alphaModFix/>
          </a:blip>
          <a:srcRect/>
          <a:stretch/>
        </p:blipFill>
        <p:spPr>
          <a:xfrm>
            <a:off x="6529388" y="3836193"/>
            <a:ext cx="5229225" cy="3943350"/>
          </a:xfrm>
          <a:prstGeom prst="rect">
            <a:avLst/>
          </a:prstGeom>
          <a:noFill/>
          <a:ln>
            <a:noFill/>
          </a:ln>
        </p:spPr>
      </p:pic>
      <p:pic>
        <p:nvPicPr>
          <p:cNvPr id="121" name="Google Shape;121;p16" descr="image.png"/>
          <p:cNvPicPr preferRelativeResize="0"/>
          <p:nvPr/>
        </p:nvPicPr>
        <p:blipFill rotWithShape="1">
          <a:blip r:embed="rId6">
            <a:alphaModFix/>
          </a:blip>
          <a:srcRect/>
          <a:stretch/>
        </p:blipFill>
        <p:spPr>
          <a:xfrm>
            <a:off x="12187238" y="3836193"/>
            <a:ext cx="5229225" cy="3943350"/>
          </a:xfrm>
          <a:prstGeom prst="rect">
            <a:avLst/>
          </a:prstGeom>
          <a:noFill/>
          <a:ln>
            <a:noFill/>
          </a:ln>
        </p:spPr>
      </p:pic>
      <p:sp>
        <p:nvSpPr>
          <p:cNvPr id="122" name="Google Shape;122;p16"/>
          <p:cNvSpPr txBox="1"/>
          <p:nvPr/>
        </p:nvSpPr>
        <p:spPr>
          <a:xfrm>
            <a:off x="1314450" y="5250656"/>
            <a:ext cx="4560570" cy="415498"/>
          </a:xfrm>
          <a:prstGeom prst="rect">
            <a:avLst/>
          </a:prstGeom>
          <a:noFill/>
          <a:ln>
            <a:noFill/>
          </a:ln>
        </p:spPr>
        <p:txBody>
          <a:bodyPr spcFirstLastPara="1" wrap="square" lIns="0" tIns="0" rIns="0" bIns="0" anchor="t" anchorCtr="0">
            <a:spAutoFit/>
          </a:bodyPr>
          <a:lstStyle/>
          <a:p>
            <a:r>
              <a:rPr lang="en-US" sz="2700" b="1">
                <a:solidFill>
                  <a:srgbClr val="F1F5F9"/>
                </a:solidFill>
                <a:latin typeface="Urbanist"/>
                <a:ea typeface="Urbanist"/>
                <a:cs typeface="Urbanist"/>
                <a:sym typeface="Urbanist"/>
              </a:rPr>
              <a:t>Network</a:t>
            </a:r>
            <a:endParaRPr sz="2700"/>
          </a:p>
        </p:txBody>
      </p:sp>
      <p:sp>
        <p:nvSpPr>
          <p:cNvPr id="123" name="Google Shape;123;p16"/>
          <p:cNvSpPr txBox="1"/>
          <p:nvPr/>
        </p:nvSpPr>
        <p:spPr>
          <a:xfrm>
            <a:off x="1314450" y="5836444"/>
            <a:ext cx="4343400" cy="1038746"/>
          </a:xfrm>
          <a:prstGeom prst="rect">
            <a:avLst/>
          </a:prstGeom>
          <a:noFill/>
          <a:ln>
            <a:noFill/>
          </a:ln>
        </p:spPr>
        <p:txBody>
          <a:bodyPr spcFirstLastPara="1" wrap="square" lIns="0" tIns="0" rIns="0" bIns="0" anchor="t" anchorCtr="0">
            <a:spAutoFit/>
          </a:bodyPr>
          <a:lstStyle/>
          <a:p>
            <a:pPr>
              <a:lnSpc>
                <a:spcPct val="150000"/>
              </a:lnSpc>
            </a:pPr>
            <a:r>
              <a:rPr lang="en-US" sz="2250">
                <a:solidFill>
                  <a:srgbClr val="94A3B8"/>
                </a:solidFill>
                <a:latin typeface="Urbanist"/>
                <a:ea typeface="Urbanist"/>
                <a:cs typeface="Urbanist"/>
                <a:sym typeface="Urbanist"/>
              </a:rPr>
              <a:t>Open ports, protocols, services, and wireless access points.</a:t>
            </a:r>
            <a:endParaRPr sz="2700"/>
          </a:p>
        </p:txBody>
      </p:sp>
      <p:sp>
        <p:nvSpPr>
          <p:cNvPr id="124" name="Google Shape;124;p16"/>
          <p:cNvSpPr txBox="1"/>
          <p:nvPr/>
        </p:nvSpPr>
        <p:spPr>
          <a:xfrm>
            <a:off x="6972300" y="5250656"/>
            <a:ext cx="4560570" cy="415498"/>
          </a:xfrm>
          <a:prstGeom prst="rect">
            <a:avLst/>
          </a:prstGeom>
          <a:noFill/>
          <a:ln>
            <a:noFill/>
          </a:ln>
        </p:spPr>
        <p:txBody>
          <a:bodyPr spcFirstLastPara="1" wrap="square" lIns="0" tIns="0" rIns="0" bIns="0" anchor="t" anchorCtr="0">
            <a:spAutoFit/>
          </a:bodyPr>
          <a:lstStyle/>
          <a:p>
            <a:r>
              <a:rPr lang="en-US" sz="2700" b="1">
                <a:solidFill>
                  <a:srgbClr val="F1F5F9"/>
                </a:solidFill>
                <a:latin typeface="Urbanist"/>
                <a:ea typeface="Urbanist"/>
                <a:cs typeface="Urbanist"/>
                <a:sym typeface="Urbanist"/>
              </a:rPr>
              <a:t>Software</a:t>
            </a:r>
            <a:endParaRPr sz="2700"/>
          </a:p>
        </p:txBody>
      </p:sp>
      <p:sp>
        <p:nvSpPr>
          <p:cNvPr id="125" name="Google Shape;125;p16"/>
          <p:cNvSpPr txBox="1"/>
          <p:nvPr/>
        </p:nvSpPr>
        <p:spPr>
          <a:xfrm>
            <a:off x="6972300" y="5836444"/>
            <a:ext cx="4343400" cy="1038746"/>
          </a:xfrm>
          <a:prstGeom prst="rect">
            <a:avLst/>
          </a:prstGeom>
          <a:noFill/>
          <a:ln>
            <a:noFill/>
          </a:ln>
        </p:spPr>
        <p:txBody>
          <a:bodyPr spcFirstLastPara="1" wrap="square" lIns="0" tIns="0" rIns="0" bIns="0" anchor="t" anchorCtr="0">
            <a:spAutoFit/>
          </a:bodyPr>
          <a:lstStyle/>
          <a:p>
            <a:pPr>
              <a:lnSpc>
                <a:spcPct val="150000"/>
              </a:lnSpc>
            </a:pPr>
            <a:r>
              <a:rPr lang="en-US" sz="2250">
                <a:solidFill>
                  <a:srgbClr val="94A3B8"/>
                </a:solidFill>
                <a:latin typeface="Urbanist"/>
                <a:ea typeface="Urbanist"/>
                <a:cs typeface="Urbanist"/>
                <a:sym typeface="Urbanist"/>
              </a:rPr>
              <a:t>Applications, OS code, APIs, and vulnerable libraries.</a:t>
            </a:r>
            <a:endParaRPr sz="2700"/>
          </a:p>
        </p:txBody>
      </p:sp>
      <p:sp>
        <p:nvSpPr>
          <p:cNvPr id="126" name="Google Shape;126;p16"/>
          <p:cNvSpPr txBox="1"/>
          <p:nvPr/>
        </p:nvSpPr>
        <p:spPr>
          <a:xfrm>
            <a:off x="12630150" y="5250656"/>
            <a:ext cx="4560570" cy="415498"/>
          </a:xfrm>
          <a:prstGeom prst="rect">
            <a:avLst/>
          </a:prstGeom>
          <a:noFill/>
          <a:ln>
            <a:noFill/>
          </a:ln>
        </p:spPr>
        <p:txBody>
          <a:bodyPr spcFirstLastPara="1" wrap="square" lIns="0" tIns="0" rIns="0" bIns="0" anchor="t" anchorCtr="0">
            <a:spAutoFit/>
          </a:bodyPr>
          <a:lstStyle/>
          <a:p>
            <a:r>
              <a:rPr lang="en-US" sz="2700" b="1">
                <a:solidFill>
                  <a:srgbClr val="F1F5F9"/>
                </a:solidFill>
                <a:latin typeface="Urbanist"/>
                <a:ea typeface="Urbanist"/>
                <a:cs typeface="Urbanist"/>
                <a:sym typeface="Urbanist"/>
              </a:rPr>
              <a:t>Human</a:t>
            </a:r>
            <a:endParaRPr sz="2700"/>
          </a:p>
        </p:txBody>
      </p:sp>
      <p:sp>
        <p:nvSpPr>
          <p:cNvPr id="127" name="Google Shape;127;p16"/>
          <p:cNvSpPr txBox="1"/>
          <p:nvPr/>
        </p:nvSpPr>
        <p:spPr>
          <a:xfrm>
            <a:off x="12630150" y="5836443"/>
            <a:ext cx="4343400" cy="1558119"/>
          </a:xfrm>
          <a:prstGeom prst="rect">
            <a:avLst/>
          </a:prstGeom>
          <a:noFill/>
          <a:ln>
            <a:noFill/>
          </a:ln>
        </p:spPr>
        <p:txBody>
          <a:bodyPr spcFirstLastPara="1" wrap="square" lIns="0" tIns="0" rIns="0" bIns="0" anchor="t" anchorCtr="0">
            <a:spAutoFit/>
          </a:bodyPr>
          <a:lstStyle/>
          <a:p>
            <a:pPr>
              <a:lnSpc>
                <a:spcPct val="150000"/>
              </a:lnSpc>
            </a:pPr>
            <a:r>
              <a:rPr lang="en-US" sz="2250">
                <a:solidFill>
                  <a:srgbClr val="94A3B8"/>
                </a:solidFill>
                <a:latin typeface="Urbanist"/>
                <a:ea typeface="Urbanist"/>
                <a:cs typeface="Urbanist"/>
                <a:sym typeface="Urbanist"/>
              </a:rPr>
              <a:t>Users and admins, social engineering, and security awareness.</a:t>
            </a:r>
            <a:endParaRPr sz="2700"/>
          </a:p>
        </p:txBody>
      </p:sp>
      <p:pic>
        <p:nvPicPr>
          <p:cNvPr id="128" name="Google Shape;128;p16" descr="image.png"/>
          <p:cNvPicPr preferRelativeResize="0"/>
          <p:nvPr/>
        </p:nvPicPr>
        <p:blipFill rotWithShape="1">
          <a:blip r:embed="rId7">
            <a:alphaModFix/>
          </a:blip>
          <a:srcRect/>
          <a:stretch/>
        </p:blipFill>
        <p:spPr>
          <a:xfrm>
            <a:off x="1314450" y="4321968"/>
            <a:ext cx="714375" cy="571500"/>
          </a:xfrm>
          <a:prstGeom prst="rect">
            <a:avLst/>
          </a:prstGeom>
          <a:noFill/>
          <a:ln>
            <a:noFill/>
          </a:ln>
        </p:spPr>
      </p:pic>
      <p:pic>
        <p:nvPicPr>
          <p:cNvPr id="129" name="Google Shape;129;p16" descr="image.png"/>
          <p:cNvPicPr preferRelativeResize="0"/>
          <p:nvPr/>
        </p:nvPicPr>
        <p:blipFill rotWithShape="1">
          <a:blip r:embed="rId8">
            <a:alphaModFix/>
          </a:blip>
          <a:srcRect/>
          <a:stretch/>
        </p:blipFill>
        <p:spPr>
          <a:xfrm>
            <a:off x="6972300" y="4321968"/>
            <a:ext cx="714375" cy="571500"/>
          </a:xfrm>
          <a:prstGeom prst="rect">
            <a:avLst/>
          </a:prstGeom>
          <a:noFill/>
          <a:ln>
            <a:noFill/>
          </a:ln>
        </p:spPr>
      </p:pic>
      <p:pic>
        <p:nvPicPr>
          <p:cNvPr id="130" name="Google Shape;130;p16" descr="image.png"/>
          <p:cNvPicPr preferRelativeResize="0"/>
          <p:nvPr/>
        </p:nvPicPr>
        <p:blipFill rotWithShape="1">
          <a:blip r:embed="rId9">
            <a:alphaModFix/>
          </a:blip>
          <a:srcRect/>
          <a:stretch/>
        </p:blipFill>
        <p:spPr>
          <a:xfrm>
            <a:off x="12630150" y="4321968"/>
            <a:ext cx="714375" cy="571500"/>
          </a:xfrm>
          <a:prstGeom prst="rect">
            <a:avLst/>
          </a:prstGeom>
          <a:noFill/>
          <a:ln>
            <a:noFill/>
          </a:ln>
        </p:spPr>
      </p:pic>
      <p:sp>
        <p:nvSpPr>
          <p:cNvPr id="131" name="Google Shape;131;p16"/>
          <p:cNvSpPr txBox="1"/>
          <p:nvPr/>
        </p:nvSpPr>
        <p:spPr>
          <a:xfrm>
            <a:off x="871538" y="871538"/>
            <a:ext cx="17372171" cy="761747"/>
          </a:xfrm>
          <a:prstGeom prst="rect">
            <a:avLst/>
          </a:prstGeom>
          <a:noFill/>
          <a:ln>
            <a:noFill/>
          </a:ln>
        </p:spPr>
        <p:txBody>
          <a:bodyPr spcFirstLastPara="1" wrap="square" lIns="0" tIns="0" rIns="0" bIns="0" anchor="t" anchorCtr="0">
            <a:spAutoFit/>
          </a:bodyPr>
          <a:lstStyle/>
          <a:p>
            <a:r>
              <a:rPr lang="en-US" sz="4950" b="1">
                <a:solidFill>
                  <a:srgbClr val="22D3EE"/>
                </a:solidFill>
                <a:latin typeface="Urbanist"/>
                <a:ea typeface="Urbanist"/>
                <a:cs typeface="Urbanist"/>
                <a:sym typeface="Urbanist"/>
              </a:rPr>
              <a:t>Attack Surface Categories</a:t>
            </a:r>
            <a:endParaRPr sz="270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pic>
        <p:nvPicPr>
          <p:cNvPr id="136" name="Google Shape;136;p17" descr="image.png"/>
          <p:cNvPicPr preferRelativeResize="0"/>
          <p:nvPr/>
        </p:nvPicPr>
        <p:blipFill rotWithShape="1">
          <a:blip r:embed="rId3">
            <a:alphaModFix/>
          </a:blip>
          <a:srcRect/>
          <a:stretch/>
        </p:blipFill>
        <p:spPr>
          <a:xfrm>
            <a:off x="0" y="0"/>
            <a:ext cx="18288000" cy="10287000"/>
          </a:xfrm>
          <a:prstGeom prst="rect">
            <a:avLst/>
          </a:prstGeom>
          <a:noFill/>
          <a:ln>
            <a:noFill/>
          </a:ln>
        </p:spPr>
      </p:pic>
      <p:graphicFrame>
        <p:nvGraphicFramePr>
          <p:cNvPr id="137" name="Google Shape;137;p17"/>
          <p:cNvGraphicFramePr/>
          <p:nvPr/>
        </p:nvGraphicFramePr>
        <p:xfrm>
          <a:off x="871538" y="2764631"/>
          <a:ext cx="16544925" cy="6086478"/>
        </p:xfrm>
        <a:graphic>
          <a:graphicData uri="http://schemas.openxmlformats.org/drawingml/2006/table">
            <a:tbl>
              <a:tblPr firstRow="1" bandRow="1">
                <a:noFill/>
              </a:tblPr>
              <a:tblGrid>
                <a:gridCol w="5884425">
                  <a:extLst>
                    <a:ext uri="{9D8B030D-6E8A-4147-A177-3AD203B41FA5}">
                      <a16:colId xmlns:a16="http://schemas.microsoft.com/office/drawing/2014/main" val="20000"/>
                    </a:ext>
                  </a:extLst>
                </a:gridCol>
                <a:gridCol w="10660500">
                  <a:extLst>
                    <a:ext uri="{9D8B030D-6E8A-4147-A177-3AD203B41FA5}">
                      <a16:colId xmlns:a16="http://schemas.microsoft.com/office/drawing/2014/main" val="20001"/>
                    </a:ext>
                  </a:extLst>
                </a:gridCol>
              </a:tblGrid>
              <a:tr h="1014413">
                <a:tc>
                  <a:txBody>
                    <a:bodyPr/>
                    <a:lstStyle/>
                    <a:p>
                      <a:pPr marL="0" marR="0" lvl="0" indent="0" algn="l" rtl="0">
                        <a:spcBef>
                          <a:spcPts val="0"/>
                        </a:spcBef>
                        <a:spcAft>
                          <a:spcPts val="0"/>
                        </a:spcAft>
                        <a:buNone/>
                      </a:pPr>
                      <a:r>
                        <a:rPr lang="en-US" sz="2300" b="1" i="0" u="none" strike="noStrike" cap="none">
                          <a:solidFill>
                            <a:srgbClr val="22D3EE"/>
                          </a:solidFill>
                          <a:latin typeface="Urbanist"/>
                          <a:ea typeface="Urbanist"/>
                          <a:cs typeface="Urbanist"/>
                          <a:sym typeface="Urbanist"/>
                        </a:rPr>
                        <a:t>Component</a:t>
                      </a:r>
                      <a:endParaRPr sz="2700"/>
                    </a:p>
                  </a:txBody>
                  <a:tcPr marL="95250" marR="95250" marT="38100" marB="38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11827"/>
                    </a:solidFill>
                  </a:tcPr>
                </a:tc>
                <a:tc>
                  <a:txBody>
                    <a:bodyPr/>
                    <a:lstStyle/>
                    <a:p>
                      <a:pPr marL="0" marR="0" lvl="0" indent="0" algn="l" rtl="0">
                        <a:spcBef>
                          <a:spcPts val="0"/>
                        </a:spcBef>
                        <a:spcAft>
                          <a:spcPts val="0"/>
                        </a:spcAft>
                        <a:buNone/>
                      </a:pPr>
                      <a:r>
                        <a:rPr lang="en-US" sz="2300" b="1" i="0" u="none" strike="noStrike" cap="none">
                          <a:solidFill>
                            <a:srgbClr val="22D3EE"/>
                          </a:solidFill>
                          <a:latin typeface="Urbanist"/>
                          <a:ea typeface="Urbanist"/>
                          <a:cs typeface="Urbanist"/>
                          <a:sym typeface="Urbanist"/>
                        </a:rPr>
                        <a:t>Possible Attack Method</a:t>
                      </a:r>
                      <a:endParaRPr sz="2700"/>
                    </a:p>
                  </a:txBody>
                  <a:tcPr marL="95250" marR="95250" marT="38100" marB="38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11827"/>
                    </a:solidFill>
                  </a:tcPr>
                </a:tc>
                <a:extLst>
                  <a:ext uri="{0D108BD9-81ED-4DB2-BD59-A6C34878D82A}">
                    <a16:rowId xmlns:a16="http://schemas.microsoft.com/office/drawing/2014/main" val="10000"/>
                  </a:ext>
                </a:extLst>
              </a:tr>
              <a:tr h="1014413">
                <a:tc>
                  <a:txBody>
                    <a:bodyPr/>
                    <a:lstStyle/>
                    <a:p>
                      <a:pPr marL="0" marR="0" lvl="0" indent="0" algn="l" rtl="0">
                        <a:spcBef>
                          <a:spcPts val="0"/>
                        </a:spcBef>
                        <a:spcAft>
                          <a:spcPts val="0"/>
                        </a:spcAft>
                        <a:buNone/>
                      </a:pPr>
                      <a:r>
                        <a:rPr lang="en-US" sz="2300" b="0" i="0" u="none" strike="noStrike" cap="none" dirty="0">
                          <a:solidFill>
                            <a:schemeClr val="bg2">
                              <a:lumMod val="75000"/>
                            </a:schemeClr>
                          </a:solidFill>
                          <a:latin typeface="Urbanist"/>
                          <a:ea typeface="Urbanist"/>
                          <a:cs typeface="Urbanist"/>
                          <a:sym typeface="Urbanist"/>
                        </a:rPr>
                        <a:t>Web Server</a:t>
                      </a:r>
                      <a:endParaRPr sz="2700" dirty="0">
                        <a:solidFill>
                          <a:schemeClr val="bg2">
                            <a:lumMod val="75000"/>
                          </a:schemeClr>
                        </a:solidFill>
                      </a:endParaRPr>
                    </a:p>
                  </a:txBody>
                  <a:tcPr marL="95250" marR="95250" marT="38100" marB="38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2300" b="0" i="0" u="none" strike="noStrike" cap="none" dirty="0">
                          <a:solidFill>
                            <a:schemeClr val="bg2">
                              <a:lumMod val="75000"/>
                            </a:schemeClr>
                          </a:solidFill>
                          <a:latin typeface="Urbanist"/>
                          <a:ea typeface="Urbanist"/>
                          <a:cs typeface="Urbanist"/>
                          <a:sym typeface="Urbanist"/>
                        </a:rPr>
                        <a:t>SQL Injection / Cross-Site Scripting</a:t>
                      </a:r>
                      <a:endParaRPr sz="2700" dirty="0">
                        <a:solidFill>
                          <a:schemeClr val="bg2">
                            <a:lumMod val="75000"/>
                          </a:schemeClr>
                        </a:solidFill>
                      </a:endParaRPr>
                    </a:p>
                  </a:txBody>
                  <a:tcPr marL="95250" marR="95250" marT="38100" marB="38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1014413">
                <a:tc>
                  <a:txBody>
                    <a:bodyPr/>
                    <a:lstStyle/>
                    <a:p>
                      <a:pPr marL="0" marR="0" lvl="0" indent="0" algn="l" rtl="0">
                        <a:spcBef>
                          <a:spcPts val="0"/>
                        </a:spcBef>
                        <a:spcAft>
                          <a:spcPts val="0"/>
                        </a:spcAft>
                        <a:buNone/>
                      </a:pPr>
                      <a:r>
                        <a:rPr lang="en-US" sz="2300" b="0" i="0" u="none" strike="noStrike" cap="none">
                          <a:solidFill>
                            <a:schemeClr val="bg2">
                              <a:lumMod val="75000"/>
                            </a:schemeClr>
                          </a:solidFill>
                          <a:latin typeface="Urbanist"/>
                          <a:ea typeface="Urbanist"/>
                          <a:cs typeface="Urbanist"/>
                          <a:sym typeface="Urbanist"/>
                        </a:rPr>
                        <a:t>Email System</a:t>
                      </a:r>
                      <a:endParaRPr sz="2700">
                        <a:solidFill>
                          <a:schemeClr val="bg2">
                            <a:lumMod val="75000"/>
                          </a:schemeClr>
                        </a:solidFill>
                      </a:endParaRPr>
                    </a:p>
                  </a:txBody>
                  <a:tcPr marL="95250" marR="95250" marT="38100" marB="38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2300" b="0" i="0" u="none" strike="noStrike" cap="none" dirty="0">
                          <a:solidFill>
                            <a:schemeClr val="bg2">
                              <a:lumMod val="75000"/>
                            </a:schemeClr>
                          </a:solidFill>
                          <a:latin typeface="Urbanist"/>
                          <a:ea typeface="Urbanist"/>
                          <a:cs typeface="Urbanist"/>
                          <a:sym typeface="Urbanist"/>
                        </a:rPr>
                        <a:t>Phishing / Business Email Compromise</a:t>
                      </a:r>
                      <a:endParaRPr sz="2700" dirty="0">
                        <a:solidFill>
                          <a:schemeClr val="bg2">
                            <a:lumMod val="75000"/>
                          </a:schemeClr>
                        </a:solidFill>
                      </a:endParaRPr>
                    </a:p>
                  </a:txBody>
                  <a:tcPr marL="95250" marR="95250" marT="38100" marB="38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1014413">
                <a:tc>
                  <a:txBody>
                    <a:bodyPr/>
                    <a:lstStyle/>
                    <a:p>
                      <a:pPr marL="0" marR="0" lvl="0" indent="0" algn="l" rtl="0">
                        <a:spcBef>
                          <a:spcPts val="0"/>
                        </a:spcBef>
                        <a:spcAft>
                          <a:spcPts val="0"/>
                        </a:spcAft>
                        <a:buNone/>
                      </a:pPr>
                      <a:r>
                        <a:rPr lang="en-US" sz="2300" b="0" i="0" u="none" strike="noStrike" cap="none">
                          <a:solidFill>
                            <a:schemeClr val="bg2">
                              <a:lumMod val="75000"/>
                            </a:schemeClr>
                          </a:solidFill>
                          <a:latin typeface="Urbanist"/>
                          <a:ea typeface="Urbanist"/>
                          <a:cs typeface="Urbanist"/>
                          <a:sym typeface="Urbanist"/>
                        </a:rPr>
                        <a:t>Open Network Port</a:t>
                      </a:r>
                      <a:endParaRPr sz="2700">
                        <a:solidFill>
                          <a:schemeClr val="bg2">
                            <a:lumMod val="75000"/>
                          </a:schemeClr>
                        </a:solidFill>
                      </a:endParaRPr>
                    </a:p>
                  </a:txBody>
                  <a:tcPr marL="95250" marR="95250" marT="38100" marB="38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2300" b="0" i="0" u="none" strike="noStrike" cap="none" dirty="0">
                          <a:solidFill>
                            <a:schemeClr val="bg2">
                              <a:lumMod val="75000"/>
                            </a:schemeClr>
                          </a:solidFill>
                          <a:latin typeface="Urbanist"/>
                          <a:ea typeface="Urbanist"/>
                          <a:cs typeface="Urbanist"/>
                          <a:sym typeface="Urbanist"/>
                        </a:rPr>
                        <a:t>Unauthorized Access / Exploitation</a:t>
                      </a:r>
                      <a:endParaRPr sz="2700" dirty="0">
                        <a:solidFill>
                          <a:schemeClr val="bg2">
                            <a:lumMod val="75000"/>
                          </a:schemeClr>
                        </a:solidFill>
                      </a:endParaRPr>
                    </a:p>
                  </a:txBody>
                  <a:tcPr marL="95250" marR="95250" marT="38100" marB="38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1014413">
                <a:tc>
                  <a:txBody>
                    <a:bodyPr/>
                    <a:lstStyle/>
                    <a:p>
                      <a:pPr marL="0" marR="0" lvl="0" indent="0" algn="l" rtl="0">
                        <a:spcBef>
                          <a:spcPts val="0"/>
                        </a:spcBef>
                        <a:spcAft>
                          <a:spcPts val="0"/>
                        </a:spcAft>
                        <a:buNone/>
                      </a:pPr>
                      <a:r>
                        <a:rPr lang="en-US" sz="2300" b="0" i="0" u="none" strike="noStrike" cap="none">
                          <a:solidFill>
                            <a:schemeClr val="bg2">
                              <a:lumMod val="75000"/>
                            </a:schemeClr>
                          </a:solidFill>
                          <a:latin typeface="Urbanist"/>
                          <a:ea typeface="Urbanist"/>
                          <a:cs typeface="Urbanist"/>
                          <a:sym typeface="Urbanist"/>
                        </a:rPr>
                        <a:t>Wi-Fi Network</a:t>
                      </a:r>
                      <a:endParaRPr sz="2700">
                        <a:solidFill>
                          <a:schemeClr val="bg2">
                            <a:lumMod val="75000"/>
                          </a:schemeClr>
                        </a:solidFill>
                      </a:endParaRPr>
                    </a:p>
                  </a:txBody>
                  <a:tcPr marL="95250" marR="95250" marT="38100" marB="38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2300" b="0" i="0" u="none" strike="noStrike" cap="none" dirty="0">
                          <a:solidFill>
                            <a:schemeClr val="bg2">
                              <a:lumMod val="75000"/>
                            </a:schemeClr>
                          </a:solidFill>
                          <a:latin typeface="Urbanist"/>
                          <a:ea typeface="Urbanist"/>
                          <a:cs typeface="Urbanist"/>
                          <a:sym typeface="Urbanist"/>
                        </a:rPr>
                        <a:t>Eavesdropping / Packet Sniffing</a:t>
                      </a:r>
                      <a:endParaRPr sz="2700" dirty="0">
                        <a:solidFill>
                          <a:schemeClr val="bg2">
                            <a:lumMod val="75000"/>
                          </a:schemeClr>
                        </a:solidFill>
                      </a:endParaRPr>
                    </a:p>
                  </a:txBody>
                  <a:tcPr marL="95250" marR="95250" marT="38100" marB="38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1014413">
                <a:tc>
                  <a:txBody>
                    <a:bodyPr/>
                    <a:lstStyle/>
                    <a:p>
                      <a:pPr marL="0" marR="0" lvl="0" indent="0" algn="l" rtl="0">
                        <a:spcBef>
                          <a:spcPts val="0"/>
                        </a:spcBef>
                        <a:spcAft>
                          <a:spcPts val="0"/>
                        </a:spcAft>
                        <a:buNone/>
                      </a:pPr>
                      <a:r>
                        <a:rPr lang="en-US" sz="2300" b="0" i="0" u="none" strike="noStrike" cap="none">
                          <a:solidFill>
                            <a:schemeClr val="bg2">
                              <a:lumMod val="75000"/>
                            </a:schemeClr>
                          </a:solidFill>
                          <a:latin typeface="Urbanist"/>
                          <a:ea typeface="Urbanist"/>
                          <a:cs typeface="Urbanist"/>
                          <a:sym typeface="Urbanist"/>
                        </a:rPr>
                        <a:t>Employee Account</a:t>
                      </a:r>
                      <a:endParaRPr sz="2700">
                        <a:solidFill>
                          <a:schemeClr val="bg2">
                            <a:lumMod val="75000"/>
                          </a:schemeClr>
                        </a:solidFill>
                      </a:endParaRPr>
                    </a:p>
                  </a:txBody>
                  <a:tcPr marL="95250" marR="95250" marT="38100" marB="38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2300" b="0" i="0" u="none" strike="noStrike" cap="none" dirty="0">
                          <a:solidFill>
                            <a:schemeClr val="bg2">
                              <a:lumMod val="75000"/>
                            </a:schemeClr>
                          </a:solidFill>
                          <a:latin typeface="Urbanist"/>
                          <a:ea typeface="Urbanist"/>
                          <a:cs typeface="Urbanist"/>
                          <a:sym typeface="Urbanist"/>
                        </a:rPr>
                        <a:t>Password Theft / Social Engineering</a:t>
                      </a:r>
                      <a:endParaRPr sz="2700" dirty="0">
                        <a:solidFill>
                          <a:schemeClr val="bg2">
                            <a:lumMod val="75000"/>
                          </a:schemeClr>
                        </a:solidFill>
                      </a:endParaRPr>
                    </a:p>
                  </a:txBody>
                  <a:tcPr marL="95250" marR="95250" marT="38100" marB="38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138" name="Google Shape;138;p17"/>
          <p:cNvSpPr/>
          <p:nvPr/>
        </p:nvSpPr>
        <p:spPr>
          <a:xfrm>
            <a:off x="871538" y="3757613"/>
            <a:ext cx="5884440" cy="14288"/>
          </a:xfrm>
          <a:prstGeom prst="rect">
            <a:avLst/>
          </a:prstGeom>
          <a:solidFill>
            <a:srgbClr val="1E293B"/>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139" name="Google Shape;139;p17"/>
          <p:cNvSpPr/>
          <p:nvPr/>
        </p:nvSpPr>
        <p:spPr>
          <a:xfrm>
            <a:off x="6755978" y="3757613"/>
            <a:ext cx="10660484" cy="14288"/>
          </a:xfrm>
          <a:prstGeom prst="rect">
            <a:avLst/>
          </a:prstGeom>
          <a:solidFill>
            <a:srgbClr val="1E293B"/>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140" name="Google Shape;140;p17"/>
          <p:cNvSpPr/>
          <p:nvPr/>
        </p:nvSpPr>
        <p:spPr>
          <a:xfrm>
            <a:off x="871538" y="4772026"/>
            <a:ext cx="5884440" cy="14288"/>
          </a:xfrm>
          <a:prstGeom prst="rect">
            <a:avLst/>
          </a:prstGeom>
          <a:solidFill>
            <a:srgbClr val="1E293B"/>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141" name="Google Shape;141;p17"/>
          <p:cNvSpPr/>
          <p:nvPr/>
        </p:nvSpPr>
        <p:spPr>
          <a:xfrm>
            <a:off x="6755978" y="4772026"/>
            <a:ext cx="10660484" cy="14288"/>
          </a:xfrm>
          <a:prstGeom prst="rect">
            <a:avLst/>
          </a:prstGeom>
          <a:solidFill>
            <a:srgbClr val="1E293B"/>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142" name="Google Shape;142;p17"/>
          <p:cNvSpPr/>
          <p:nvPr/>
        </p:nvSpPr>
        <p:spPr>
          <a:xfrm>
            <a:off x="871538" y="5786438"/>
            <a:ext cx="5884440" cy="14288"/>
          </a:xfrm>
          <a:prstGeom prst="rect">
            <a:avLst/>
          </a:prstGeom>
          <a:solidFill>
            <a:srgbClr val="1E293B"/>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143" name="Google Shape;143;p17"/>
          <p:cNvSpPr/>
          <p:nvPr/>
        </p:nvSpPr>
        <p:spPr>
          <a:xfrm>
            <a:off x="6755978" y="5786438"/>
            <a:ext cx="10660484" cy="14288"/>
          </a:xfrm>
          <a:prstGeom prst="rect">
            <a:avLst/>
          </a:prstGeom>
          <a:solidFill>
            <a:srgbClr val="1E293B"/>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144" name="Google Shape;144;p17"/>
          <p:cNvSpPr/>
          <p:nvPr/>
        </p:nvSpPr>
        <p:spPr>
          <a:xfrm>
            <a:off x="871538" y="6800851"/>
            <a:ext cx="5884440" cy="14288"/>
          </a:xfrm>
          <a:prstGeom prst="rect">
            <a:avLst/>
          </a:prstGeom>
          <a:solidFill>
            <a:srgbClr val="1E293B"/>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145" name="Google Shape;145;p17"/>
          <p:cNvSpPr/>
          <p:nvPr/>
        </p:nvSpPr>
        <p:spPr>
          <a:xfrm>
            <a:off x="6755978" y="6800851"/>
            <a:ext cx="10660484" cy="14288"/>
          </a:xfrm>
          <a:prstGeom prst="rect">
            <a:avLst/>
          </a:prstGeom>
          <a:solidFill>
            <a:srgbClr val="1E293B"/>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146" name="Google Shape;146;p17"/>
          <p:cNvSpPr/>
          <p:nvPr/>
        </p:nvSpPr>
        <p:spPr>
          <a:xfrm>
            <a:off x="871538" y="7815263"/>
            <a:ext cx="5884440" cy="14288"/>
          </a:xfrm>
          <a:prstGeom prst="rect">
            <a:avLst/>
          </a:prstGeom>
          <a:solidFill>
            <a:srgbClr val="1E293B"/>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147" name="Google Shape;147;p17"/>
          <p:cNvSpPr/>
          <p:nvPr/>
        </p:nvSpPr>
        <p:spPr>
          <a:xfrm>
            <a:off x="6755978" y="7815263"/>
            <a:ext cx="10660484" cy="14288"/>
          </a:xfrm>
          <a:prstGeom prst="rect">
            <a:avLst/>
          </a:prstGeom>
          <a:solidFill>
            <a:srgbClr val="1E293B"/>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148" name="Google Shape;148;p17"/>
          <p:cNvSpPr/>
          <p:nvPr/>
        </p:nvSpPr>
        <p:spPr>
          <a:xfrm>
            <a:off x="871538" y="8829676"/>
            <a:ext cx="5884440" cy="14288"/>
          </a:xfrm>
          <a:prstGeom prst="rect">
            <a:avLst/>
          </a:prstGeom>
          <a:solidFill>
            <a:srgbClr val="1E293B"/>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149" name="Google Shape;149;p17"/>
          <p:cNvSpPr/>
          <p:nvPr/>
        </p:nvSpPr>
        <p:spPr>
          <a:xfrm>
            <a:off x="6755978" y="8829676"/>
            <a:ext cx="10660484" cy="14288"/>
          </a:xfrm>
          <a:prstGeom prst="rect">
            <a:avLst/>
          </a:prstGeom>
          <a:solidFill>
            <a:srgbClr val="1E293B"/>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150" name="Google Shape;150;p17"/>
          <p:cNvSpPr txBox="1"/>
          <p:nvPr/>
        </p:nvSpPr>
        <p:spPr>
          <a:xfrm>
            <a:off x="871538" y="871538"/>
            <a:ext cx="17372171" cy="761747"/>
          </a:xfrm>
          <a:prstGeom prst="rect">
            <a:avLst/>
          </a:prstGeom>
          <a:noFill/>
          <a:ln>
            <a:noFill/>
          </a:ln>
        </p:spPr>
        <p:txBody>
          <a:bodyPr spcFirstLastPara="1" wrap="square" lIns="0" tIns="0" rIns="0" bIns="0" anchor="t" anchorCtr="0">
            <a:spAutoFit/>
          </a:bodyPr>
          <a:lstStyle/>
          <a:p>
            <a:r>
              <a:rPr lang="en-US" sz="4950" b="1">
                <a:solidFill>
                  <a:srgbClr val="22D3EE"/>
                </a:solidFill>
                <a:latin typeface="Urbanist"/>
                <a:ea typeface="Urbanist"/>
                <a:cs typeface="Urbanist"/>
                <a:sym typeface="Urbanist"/>
              </a:rPr>
              <a:t>Asset Exposure Examples</a:t>
            </a:r>
            <a:endParaRPr sz="270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pic>
        <p:nvPicPr>
          <p:cNvPr id="155" name="Google Shape;155;p18" descr="image.png"/>
          <p:cNvPicPr preferRelativeResize="0"/>
          <p:nvPr/>
        </p:nvPicPr>
        <p:blipFill rotWithShape="1">
          <a:blip r:embed="rId3">
            <a:alphaModFix/>
          </a:blip>
          <a:srcRect/>
          <a:stretch/>
        </p:blipFill>
        <p:spPr>
          <a:xfrm>
            <a:off x="0" y="0"/>
            <a:ext cx="18288000" cy="10287000"/>
          </a:xfrm>
          <a:prstGeom prst="rect">
            <a:avLst/>
          </a:prstGeom>
          <a:noFill/>
          <a:ln>
            <a:noFill/>
          </a:ln>
        </p:spPr>
      </p:pic>
      <p:pic>
        <p:nvPicPr>
          <p:cNvPr id="156" name="Google Shape;156;p18" descr="image.png"/>
          <p:cNvPicPr preferRelativeResize="0"/>
          <p:nvPr/>
        </p:nvPicPr>
        <p:blipFill rotWithShape="1">
          <a:blip r:embed="rId4">
            <a:alphaModFix/>
          </a:blip>
          <a:srcRect/>
          <a:stretch/>
        </p:blipFill>
        <p:spPr>
          <a:xfrm>
            <a:off x="9501188" y="2950368"/>
            <a:ext cx="7915275" cy="5715000"/>
          </a:xfrm>
          <a:prstGeom prst="rect">
            <a:avLst/>
          </a:prstGeom>
          <a:noFill/>
          <a:ln>
            <a:noFill/>
          </a:ln>
        </p:spPr>
      </p:pic>
      <p:sp>
        <p:nvSpPr>
          <p:cNvPr id="157" name="Google Shape;157;p18"/>
          <p:cNvSpPr txBox="1"/>
          <p:nvPr/>
        </p:nvSpPr>
        <p:spPr>
          <a:xfrm>
            <a:off x="871538" y="6850856"/>
            <a:ext cx="7915275" cy="519373"/>
          </a:xfrm>
          <a:prstGeom prst="rect">
            <a:avLst/>
          </a:prstGeom>
          <a:noFill/>
          <a:ln>
            <a:noFill/>
          </a:ln>
        </p:spPr>
        <p:txBody>
          <a:bodyPr spcFirstLastPara="1" wrap="square" lIns="0" tIns="0" rIns="0" bIns="0" anchor="t" anchorCtr="0">
            <a:spAutoFit/>
          </a:bodyPr>
          <a:lstStyle/>
          <a:p>
            <a:pPr>
              <a:lnSpc>
                <a:spcPct val="150000"/>
              </a:lnSpc>
            </a:pPr>
            <a:r>
              <a:rPr lang="en-US" sz="2250" b="1">
                <a:solidFill>
                  <a:srgbClr val="22D3EE"/>
                </a:solidFill>
                <a:latin typeface="Urbanist"/>
                <a:ea typeface="Urbanist"/>
                <a:cs typeface="Urbanist"/>
                <a:sym typeface="Urbanist"/>
              </a:rPr>
              <a:t>Principle: Less Exposure = Lower Risk.</a:t>
            </a:r>
            <a:endParaRPr sz="2700"/>
          </a:p>
        </p:txBody>
      </p:sp>
      <p:pic>
        <p:nvPicPr>
          <p:cNvPr id="158" name="Google Shape;158;p18" descr="image.png"/>
          <p:cNvPicPr preferRelativeResize="0"/>
          <p:nvPr/>
        </p:nvPicPr>
        <p:blipFill rotWithShape="1">
          <a:blip r:embed="rId5">
            <a:alphaModFix/>
          </a:blip>
          <a:srcRect/>
          <a:stretch/>
        </p:blipFill>
        <p:spPr>
          <a:xfrm>
            <a:off x="9515475" y="2964656"/>
            <a:ext cx="7886700" cy="5686425"/>
          </a:xfrm>
          <a:prstGeom prst="rect">
            <a:avLst/>
          </a:prstGeom>
          <a:noFill/>
          <a:ln>
            <a:noFill/>
          </a:ln>
        </p:spPr>
      </p:pic>
      <p:sp>
        <p:nvSpPr>
          <p:cNvPr id="159" name="Google Shape;159;p18"/>
          <p:cNvSpPr txBox="1"/>
          <p:nvPr/>
        </p:nvSpPr>
        <p:spPr>
          <a:xfrm>
            <a:off x="1443038" y="3178968"/>
            <a:ext cx="7343775" cy="571310"/>
          </a:xfrm>
          <a:prstGeom prst="rect">
            <a:avLst/>
          </a:prstGeom>
          <a:noFill/>
          <a:ln>
            <a:noFill/>
          </a:ln>
        </p:spPr>
        <p:txBody>
          <a:bodyPr spcFirstLastPara="1" wrap="square" lIns="0" tIns="0" rIns="0" bIns="0" anchor="t" anchorCtr="0">
            <a:spAutoFit/>
          </a:bodyPr>
          <a:lstStyle/>
          <a:p>
            <a:pPr>
              <a:lnSpc>
                <a:spcPct val="150000"/>
              </a:lnSpc>
            </a:pPr>
            <a:r>
              <a:rPr lang="en-US" sz="2475">
                <a:solidFill>
                  <a:srgbClr val="94A3B8"/>
                </a:solidFill>
                <a:latin typeface="Urbanist"/>
                <a:ea typeface="Urbanist"/>
                <a:cs typeface="Urbanist"/>
                <a:sym typeface="Urbanist"/>
              </a:rPr>
              <a:t>Disable unnecessary services/ports.</a:t>
            </a:r>
            <a:endParaRPr sz="2700"/>
          </a:p>
        </p:txBody>
      </p:sp>
      <p:sp>
        <p:nvSpPr>
          <p:cNvPr id="160" name="Google Shape;160;p18"/>
          <p:cNvSpPr txBox="1"/>
          <p:nvPr/>
        </p:nvSpPr>
        <p:spPr>
          <a:xfrm>
            <a:off x="1443038" y="3907631"/>
            <a:ext cx="7343775" cy="571310"/>
          </a:xfrm>
          <a:prstGeom prst="rect">
            <a:avLst/>
          </a:prstGeom>
          <a:noFill/>
          <a:ln>
            <a:noFill/>
          </a:ln>
        </p:spPr>
        <p:txBody>
          <a:bodyPr spcFirstLastPara="1" wrap="square" lIns="0" tIns="0" rIns="0" bIns="0" anchor="t" anchorCtr="0">
            <a:spAutoFit/>
          </a:bodyPr>
          <a:lstStyle/>
          <a:p>
            <a:pPr>
              <a:lnSpc>
                <a:spcPct val="150000"/>
              </a:lnSpc>
            </a:pPr>
            <a:r>
              <a:rPr lang="en-US" sz="2475">
                <a:solidFill>
                  <a:srgbClr val="94A3B8"/>
                </a:solidFill>
                <a:latin typeface="Urbanist"/>
                <a:ea typeface="Urbanist"/>
                <a:cs typeface="Urbanist"/>
                <a:sym typeface="Urbanist"/>
              </a:rPr>
              <a:t>Apply consistent patches and updates.</a:t>
            </a:r>
            <a:endParaRPr sz="2700"/>
          </a:p>
        </p:txBody>
      </p:sp>
      <p:sp>
        <p:nvSpPr>
          <p:cNvPr id="161" name="Google Shape;161;p18"/>
          <p:cNvSpPr txBox="1"/>
          <p:nvPr/>
        </p:nvSpPr>
        <p:spPr>
          <a:xfrm>
            <a:off x="1443038" y="4636293"/>
            <a:ext cx="7343775" cy="571310"/>
          </a:xfrm>
          <a:prstGeom prst="rect">
            <a:avLst/>
          </a:prstGeom>
          <a:noFill/>
          <a:ln>
            <a:noFill/>
          </a:ln>
        </p:spPr>
        <p:txBody>
          <a:bodyPr spcFirstLastPara="1" wrap="square" lIns="0" tIns="0" rIns="0" bIns="0" anchor="t" anchorCtr="0">
            <a:spAutoFit/>
          </a:bodyPr>
          <a:lstStyle/>
          <a:p>
            <a:pPr>
              <a:lnSpc>
                <a:spcPct val="150000"/>
              </a:lnSpc>
            </a:pPr>
            <a:r>
              <a:rPr lang="en-US" sz="2475">
                <a:solidFill>
                  <a:srgbClr val="94A3B8"/>
                </a:solidFill>
                <a:latin typeface="Urbanist"/>
                <a:ea typeface="Urbanist"/>
                <a:cs typeface="Urbanist"/>
                <a:sym typeface="Urbanist"/>
              </a:rPr>
              <a:t>Enforce strong MFA authentication.</a:t>
            </a:r>
            <a:endParaRPr sz="2700"/>
          </a:p>
        </p:txBody>
      </p:sp>
      <p:sp>
        <p:nvSpPr>
          <p:cNvPr id="162" name="Google Shape;162;p18"/>
          <p:cNvSpPr txBox="1"/>
          <p:nvPr/>
        </p:nvSpPr>
        <p:spPr>
          <a:xfrm>
            <a:off x="1443038" y="5364956"/>
            <a:ext cx="7343775" cy="571310"/>
          </a:xfrm>
          <a:prstGeom prst="rect">
            <a:avLst/>
          </a:prstGeom>
          <a:noFill/>
          <a:ln>
            <a:noFill/>
          </a:ln>
        </p:spPr>
        <p:txBody>
          <a:bodyPr spcFirstLastPara="1" wrap="square" lIns="0" tIns="0" rIns="0" bIns="0" anchor="t" anchorCtr="0">
            <a:spAutoFit/>
          </a:bodyPr>
          <a:lstStyle/>
          <a:p>
            <a:pPr>
              <a:lnSpc>
                <a:spcPct val="150000"/>
              </a:lnSpc>
            </a:pPr>
            <a:r>
              <a:rPr lang="en-US" sz="2475">
                <a:solidFill>
                  <a:srgbClr val="94A3B8"/>
                </a:solidFill>
                <a:latin typeface="Urbanist"/>
                <a:ea typeface="Urbanist"/>
                <a:cs typeface="Urbanist"/>
                <a:sym typeface="Urbanist"/>
              </a:rPr>
              <a:t>Use firewalls &amp; network segmentation.</a:t>
            </a:r>
            <a:endParaRPr sz="2700"/>
          </a:p>
        </p:txBody>
      </p:sp>
      <p:sp>
        <p:nvSpPr>
          <p:cNvPr id="163" name="Google Shape;163;p18"/>
          <p:cNvSpPr txBox="1"/>
          <p:nvPr/>
        </p:nvSpPr>
        <p:spPr>
          <a:xfrm>
            <a:off x="1443038" y="6093618"/>
            <a:ext cx="7343775" cy="571310"/>
          </a:xfrm>
          <a:prstGeom prst="rect">
            <a:avLst/>
          </a:prstGeom>
          <a:noFill/>
          <a:ln>
            <a:noFill/>
          </a:ln>
        </p:spPr>
        <p:txBody>
          <a:bodyPr spcFirstLastPara="1" wrap="square" lIns="0" tIns="0" rIns="0" bIns="0" anchor="t" anchorCtr="0">
            <a:spAutoFit/>
          </a:bodyPr>
          <a:lstStyle/>
          <a:p>
            <a:pPr>
              <a:lnSpc>
                <a:spcPct val="150000"/>
              </a:lnSpc>
            </a:pPr>
            <a:r>
              <a:rPr lang="en-US" sz="2475">
                <a:solidFill>
                  <a:srgbClr val="94A3B8"/>
                </a:solidFill>
                <a:latin typeface="Urbanist"/>
                <a:ea typeface="Urbanist"/>
                <a:cs typeface="Urbanist"/>
                <a:sym typeface="Urbanist"/>
              </a:rPr>
              <a:t>Conduct awareness training.</a:t>
            </a:r>
            <a:endParaRPr sz="2700"/>
          </a:p>
        </p:txBody>
      </p:sp>
      <p:pic>
        <p:nvPicPr>
          <p:cNvPr id="164" name="Google Shape;164;p18" descr="image.png"/>
          <p:cNvPicPr preferRelativeResize="0"/>
          <p:nvPr/>
        </p:nvPicPr>
        <p:blipFill rotWithShape="1">
          <a:blip r:embed="rId6">
            <a:alphaModFix/>
          </a:blip>
          <a:srcRect/>
          <a:stretch/>
        </p:blipFill>
        <p:spPr>
          <a:xfrm>
            <a:off x="871538" y="3243263"/>
            <a:ext cx="314325" cy="328613"/>
          </a:xfrm>
          <a:prstGeom prst="rect">
            <a:avLst/>
          </a:prstGeom>
          <a:noFill/>
          <a:ln>
            <a:noFill/>
          </a:ln>
        </p:spPr>
      </p:pic>
      <p:pic>
        <p:nvPicPr>
          <p:cNvPr id="165" name="Google Shape;165;p18" descr="image.png"/>
          <p:cNvPicPr preferRelativeResize="0"/>
          <p:nvPr/>
        </p:nvPicPr>
        <p:blipFill rotWithShape="1">
          <a:blip r:embed="rId7">
            <a:alphaModFix/>
          </a:blip>
          <a:srcRect/>
          <a:stretch/>
        </p:blipFill>
        <p:spPr>
          <a:xfrm>
            <a:off x="871538" y="3971926"/>
            <a:ext cx="200025" cy="328613"/>
          </a:xfrm>
          <a:prstGeom prst="rect">
            <a:avLst/>
          </a:prstGeom>
          <a:noFill/>
          <a:ln>
            <a:noFill/>
          </a:ln>
        </p:spPr>
      </p:pic>
      <p:pic>
        <p:nvPicPr>
          <p:cNvPr id="166" name="Google Shape;166;p18" descr="image.png"/>
          <p:cNvPicPr preferRelativeResize="0"/>
          <p:nvPr/>
        </p:nvPicPr>
        <p:blipFill rotWithShape="1">
          <a:blip r:embed="rId8">
            <a:alphaModFix/>
          </a:blip>
          <a:srcRect/>
          <a:stretch/>
        </p:blipFill>
        <p:spPr>
          <a:xfrm>
            <a:off x="871538" y="4700588"/>
            <a:ext cx="314325" cy="328613"/>
          </a:xfrm>
          <a:prstGeom prst="rect">
            <a:avLst/>
          </a:prstGeom>
          <a:noFill/>
          <a:ln>
            <a:noFill/>
          </a:ln>
        </p:spPr>
      </p:pic>
      <p:pic>
        <p:nvPicPr>
          <p:cNvPr id="167" name="Google Shape;167;p18" descr="image.png"/>
          <p:cNvPicPr preferRelativeResize="0"/>
          <p:nvPr/>
        </p:nvPicPr>
        <p:blipFill rotWithShape="1">
          <a:blip r:embed="rId9">
            <a:alphaModFix/>
          </a:blip>
          <a:srcRect/>
          <a:stretch/>
        </p:blipFill>
        <p:spPr>
          <a:xfrm>
            <a:off x="871538" y="5429251"/>
            <a:ext cx="314325" cy="328613"/>
          </a:xfrm>
          <a:prstGeom prst="rect">
            <a:avLst/>
          </a:prstGeom>
          <a:noFill/>
          <a:ln>
            <a:noFill/>
          </a:ln>
        </p:spPr>
      </p:pic>
      <p:pic>
        <p:nvPicPr>
          <p:cNvPr id="168" name="Google Shape;168;p18" descr="image.png"/>
          <p:cNvPicPr preferRelativeResize="0"/>
          <p:nvPr/>
        </p:nvPicPr>
        <p:blipFill rotWithShape="1">
          <a:blip r:embed="rId10">
            <a:alphaModFix/>
          </a:blip>
          <a:srcRect/>
          <a:stretch/>
        </p:blipFill>
        <p:spPr>
          <a:xfrm>
            <a:off x="871538" y="6157913"/>
            <a:ext cx="400050" cy="328613"/>
          </a:xfrm>
          <a:prstGeom prst="rect">
            <a:avLst/>
          </a:prstGeom>
          <a:noFill/>
          <a:ln>
            <a:noFill/>
          </a:ln>
        </p:spPr>
      </p:pic>
      <p:sp>
        <p:nvSpPr>
          <p:cNvPr id="169" name="Google Shape;169;p18"/>
          <p:cNvSpPr txBox="1"/>
          <p:nvPr/>
        </p:nvSpPr>
        <p:spPr>
          <a:xfrm>
            <a:off x="871538" y="871538"/>
            <a:ext cx="17372171" cy="761747"/>
          </a:xfrm>
          <a:prstGeom prst="rect">
            <a:avLst/>
          </a:prstGeom>
          <a:noFill/>
          <a:ln>
            <a:noFill/>
          </a:ln>
        </p:spPr>
        <p:txBody>
          <a:bodyPr spcFirstLastPara="1" wrap="square" lIns="0" tIns="0" rIns="0" bIns="0" anchor="t" anchorCtr="0">
            <a:spAutoFit/>
          </a:bodyPr>
          <a:lstStyle/>
          <a:p>
            <a:r>
              <a:rPr lang="en-US" sz="4950" b="1">
                <a:solidFill>
                  <a:srgbClr val="22D3EE"/>
                </a:solidFill>
                <a:latin typeface="Urbanist"/>
                <a:ea typeface="Urbanist"/>
                <a:cs typeface="Urbanist"/>
                <a:sym typeface="Urbanist"/>
              </a:rPr>
              <a:t>Reducing the Attack Surface</a:t>
            </a:r>
            <a:endParaRPr sz="270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54">
          <a:extLst>
            <a:ext uri="{FF2B5EF4-FFF2-40B4-BE49-F238E27FC236}">
              <a16:creationId xmlns:a16="http://schemas.microsoft.com/office/drawing/2014/main" id="{0D00D72D-5935-3DCB-F911-2EB1DCDCF457}"/>
            </a:ext>
          </a:extLst>
        </p:cNvPr>
        <p:cNvGrpSpPr/>
        <p:nvPr/>
      </p:nvGrpSpPr>
      <p:grpSpPr>
        <a:xfrm>
          <a:off x="0" y="0"/>
          <a:ext cx="0" cy="0"/>
          <a:chOff x="0" y="0"/>
          <a:chExt cx="0" cy="0"/>
        </a:xfrm>
      </p:grpSpPr>
      <p:pic>
        <p:nvPicPr>
          <p:cNvPr id="155" name="Google Shape;155;p18" descr="image.png">
            <a:extLst>
              <a:ext uri="{FF2B5EF4-FFF2-40B4-BE49-F238E27FC236}">
                <a16:creationId xmlns:a16="http://schemas.microsoft.com/office/drawing/2014/main" id="{F50E55B2-B6F0-D119-3EC1-5B410F08CF9A}"/>
              </a:ext>
            </a:extLst>
          </p:cNvPr>
          <p:cNvPicPr preferRelativeResize="0"/>
          <p:nvPr/>
        </p:nvPicPr>
        <p:blipFill rotWithShape="1">
          <a:blip r:embed="rId3">
            <a:alphaModFix/>
          </a:blip>
          <a:srcRect/>
          <a:stretch/>
        </p:blipFill>
        <p:spPr>
          <a:xfrm>
            <a:off x="-72000" y="0"/>
            <a:ext cx="18512400" cy="10287000"/>
          </a:xfrm>
          <a:prstGeom prst="rect">
            <a:avLst/>
          </a:prstGeom>
          <a:noFill/>
          <a:ln>
            <a:noFill/>
          </a:ln>
        </p:spPr>
      </p:pic>
      <p:sp>
        <p:nvSpPr>
          <p:cNvPr id="169" name="Google Shape;169;p18">
            <a:extLst>
              <a:ext uri="{FF2B5EF4-FFF2-40B4-BE49-F238E27FC236}">
                <a16:creationId xmlns:a16="http://schemas.microsoft.com/office/drawing/2014/main" id="{3079407E-913C-97DA-2089-3D99029631EB}"/>
              </a:ext>
            </a:extLst>
          </p:cNvPr>
          <p:cNvSpPr txBox="1"/>
          <p:nvPr/>
        </p:nvSpPr>
        <p:spPr>
          <a:xfrm>
            <a:off x="871538" y="871538"/>
            <a:ext cx="17372171" cy="761747"/>
          </a:xfrm>
          <a:prstGeom prst="rect">
            <a:avLst/>
          </a:prstGeom>
          <a:noFill/>
          <a:ln>
            <a:noFill/>
          </a:ln>
        </p:spPr>
        <p:txBody>
          <a:bodyPr spcFirstLastPara="1" wrap="square" lIns="0" tIns="0" rIns="0" bIns="0" anchor="t" anchorCtr="0">
            <a:spAutoFit/>
          </a:bodyPr>
          <a:lstStyle/>
          <a:p>
            <a:r>
              <a:rPr lang="en-US" sz="4950" b="1" dirty="0">
                <a:solidFill>
                  <a:srgbClr val="22D3EE"/>
                </a:solidFill>
                <a:latin typeface="Urbanist"/>
                <a:ea typeface="Urbanist"/>
                <a:cs typeface="Urbanist"/>
                <a:sym typeface="Urbanist"/>
              </a:rPr>
              <a:t>Attack Surface and Layering</a:t>
            </a:r>
            <a:endParaRPr sz="2700" dirty="0"/>
          </a:p>
        </p:txBody>
      </p:sp>
      <p:pic>
        <p:nvPicPr>
          <p:cNvPr id="3" name="Picture 2">
            <a:extLst>
              <a:ext uri="{FF2B5EF4-FFF2-40B4-BE49-F238E27FC236}">
                <a16:creationId xmlns:a16="http://schemas.microsoft.com/office/drawing/2014/main" id="{1F5A0D7C-212E-12E0-82AD-33801CF7A539}"/>
              </a:ext>
            </a:extLst>
          </p:cNvPr>
          <p:cNvPicPr>
            <a:picLocks noChangeAspect="1"/>
          </p:cNvPicPr>
          <p:nvPr/>
        </p:nvPicPr>
        <p:blipFill>
          <a:blip r:embed="rId4"/>
          <a:stretch>
            <a:fillRect/>
          </a:stretch>
        </p:blipFill>
        <p:spPr>
          <a:xfrm>
            <a:off x="8839199" y="1866900"/>
            <a:ext cx="7322843" cy="7085927"/>
          </a:xfrm>
          <a:prstGeom prst="rect">
            <a:avLst/>
          </a:prstGeom>
        </p:spPr>
      </p:pic>
    </p:spTree>
    <p:extLst>
      <p:ext uri="{BB962C8B-B14F-4D97-AF65-F5344CB8AC3E}">
        <p14:creationId xmlns:p14="http://schemas.microsoft.com/office/powerpoint/2010/main" val="212743290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4" name="Google Shape;174;p19" descr="image.png"/>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175" name="Google Shape;175;p19"/>
          <p:cNvSpPr txBox="1"/>
          <p:nvPr/>
        </p:nvSpPr>
        <p:spPr>
          <a:xfrm>
            <a:off x="457915" y="5050631"/>
            <a:ext cx="17372171" cy="1107996"/>
          </a:xfrm>
          <a:prstGeom prst="rect">
            <a:avLst/>
          </a:prstGeom>
          <a:noFill/>
          <a:ln>
            <a:noFill/>
          </a:ln>
        </p:spPr>
        <p:txBody>
          <a:bodyPr spcFirstLastPara="1" wrap="square" lIns="0" tIns="0" rIns="0" bIns="0" anchor="t" anchorCtr="0">
            <a:spAutoFit/>
          </a:bodyPr>
          <a:lstStyle/>
          <a:p>
            <a:pPr algn="ctr"/>
            <a:r>
              <a:rPr lang="en-US" sz="7200" b="1">
                <a:solidFill>
                  <a:srgbClr val="F8FAFC"/>
                </a:solidFill>
                <a:latin typeface="Urbanist"/>
                <a:ea typeface="Urbanist"/>
                <a:cs typeface="Urbanist"/>
                <a:sym typeface="Urbanist"/>
              </a:rPr>
              <a:t>Attack Trees</a:t>
            </a:r>
            <a:endParaRPr sz="2700"/>
          </a:p>
        </p:txBody>
      </p:sp>
      <p:sp>
        <p:nvSpPr>
          <p:cNvPr id="176" name="Google Shape;176;p19"/>
          <p:cNvSpPr txBox="1"/>
          <p:nvPr/>
        </p:nvSpPr>
        <p:spPr>
          <a:xfrm>
            <a:off x="871538" y="6436518"/>
            <a:ext cx="16544925" cy="623248"/>
          </a:xfrm>
          <a:prstGeom prst="rect">
            <a:avLst/>
          </a:prstGeom>
          <a:noFill/>
          <a:ln>
            <a:noFill/>
          </a:ln>
        </p:spPr>
        <p:txBody>
          <a:bodyPr spcFirstLastPara="1" wrap="square" lIns="0" tIns="0" rIns="0" bIns="0" anchor="t" anchorCtr="0">
            <a:spAutoFit/>
          </a:bodyPr>
          <a:lstStyle/>
          <a:p>
            <a:pPr algn="ctr">
              <a:lnSpc>
                <a:spcPct val="150000"/>
              </a:lnSpc>
            </a:pPr>
            <a:r>
              <a:rPr lang="en-US" sz="2700">
                <a:solidFill>
                  <a:srgbClr val="64748B"/>
                </a:solidFill>
                <a:latin typeface="Urbanist"/>
                <a:ea typeface="Urbanist"/>
                <a:cs typeface="Urbanist"/>
                <a:sym typeface="Urbanist"/>
              </a:rPr>
              <a:t>Modeling Adversarial Strategies and Pathways</a:t>
            </a:r>
            <a:endParaRPr sz="2700"/>
          </a:p>
        </p:txBody>
      </p:sp>
      <p:pic>
        <p:nvPicPr>
          <p:cNvPr id="177" name="Google Shape;177;p19" descr="image.png"/>
          <p:cNvPicPr preferRelativeResize="0"/>
          <p:nvPr/>
        </p:nvPicPr>
        <p:blipFill rotWithShape="1">
          <a:blip r:embed="rId4">
            <a:alphaModFix/>
          </a:blip>
          <a:srcRect/>
          <a:stretch/>
        </p:blipFill>
        <p:spPr>
          <a:xfrm>
            <a:off x="8336756" y="3164681"/>
            <a:ext cx="1614488" cy="1428750"/>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pic>
        <p:nvPicPr>
          <p:cNvPr id="182" name="Google Shape;182;p20" descr="image.png"/>
          <p:cNvPicPr preferRelativeResize="0"/>
          <p:nvPr/>
        </p:nvPicPr>
        <p:blipFill rotWithShape="1">
          <a:blip r:embed="rId3">
            <a:alphaModFix/>
          </a:blip>
          <a:srcRect/>
          <a:stretch/>
        </p:blipFill>
        <p:spPr>
          <a:xfrm>
            <a:off x="0" y="0"/>
            <a:ext cx="18288000" cy="10287000"/>
          </a:xfrm>
          <a:prstGeom prst="rect">
            <a:avLst/>
          </a:prstGeom>
          <a:noFill/>
          <a:ln>
            <a:noFill/>
          </a:ln>
        </p:spPr>
      </p:pic>
      <p:pic>
        <p:nvPicPr>
          <p:cNvPr id="183" name="Google Shape;183;p20" descr="image.png"/>
          <p:cNvPicPr preferRelativeResize="0"/>
          <p:nvPr/>
        </p:nvPicPr>
        <p:blipFill rotWithShape="1">
          <a:blip r:embed="rId4">
            <a:alphaModFix/>
          </a:blip>
          <a:srcRect/>
          <a:stretch/>
        </p:blipFill>
        <p:spPr>
          <a:xfrm>
            <a:off x="871538" y="3486150"/>
            <a:ext cx="7415213" cy="2971800"/>
          </a:xfrm>
          <a:prstGeom prst="rect">
            <a:avLst/>
          </a:prstGeom>
          <a:noFill/>
          <a:ln>
            <a:noFill/>
          </a:ln>
        </p:spPr>
      </p:pic>
      <p:sp>
        <p:nvSpPr>
          <p:cNvPr id="184" name="Google Shape;184;p20"/>
          <p:cNvSpPr txBox="1"/>
          <p:nvPr/>
        </p:nvSpPr>
        <p:spPr>
          <a:xfrm>
            <a:off x="871538" y="871538"/>
            <a:ext cx="7785972" cy="761747"/>
          </a:xfrm>
          <a:prstGeom prst="rect">
            <a:avLst/>
          </a:prstGeom>
          <a:noFill/>
          <a:ln>
            <a:noFill/>
          </a:ln>
        </p:spPr>
        <p:txBody>
          <a:bodyPr spcFirstLastPara="1" wrap="square" lIns="0" tIns="0" rIns="0" bIns="0" anchor="t" anchorCtr="0">
            <a:spAutoFit/>
          </a:bodyPr>
          <a:lstStyle/>
          <a:p>
            <a:r>
              <a:rPr lang="en-US" sz="4950" b="1">
                <a:solidFill>
                  <a:srgbClr val="22D3EE"/>
                </a:solidFill>
                <a:latin typeface="Urbanist"/>
                <a:ea typeface="Urbanist"/>
                <a:cs typeface="Urbanist"/>
                <a:sym typeface="Urbanist"/>
              </a:rPr>
              <a:t>Concept: Attack Trees</a:t>
            </a:r>
            <a:endParaRPr sz="2700"/>
          </a:p>
        </p:txBody>
      </p:sp>
      <p:sp>
        <p:nvSpPr>
          <p:cNvPr id="185" name="Google Shape;185;p20"/>
          <p:cNvSpPr txBox="1"/>
          <p:nvPr/>
        </p:nvSpPr>
        <p:spPr>
          <a:xfrm>
            <a:off x="871538" y="2200276"/>
            <a:ext cx="7415213" cy="1038746"/>
          </a:xfrm>
          <a:prstGeom prst="rect">
            <a:avLst/>
          </a:prstGeom>
          <a:noFill/>
          <a:ln>
            <a:noFill/>
          </a:ln>
        </p:spPr>
        <p:txBody>
          <a:bodyPr spcFirstLastPara="1" wrap="square" lIns="0" tIns="0" rIns="0" bIns="0" anchor="t" anchorCtr="0">
            <a:spAutoFit/>
          </a:bodyPr>
          <a:lstStyle/>
          <a:p>
            <a:pPr>
              <a:lnSpc>
                <a:spcPct val="150000"/>
              </a:lnSpc>
            </a:pPr>
            <a:r>
              <a:rPr lang="en-US" sz="2250">
                <a:solidFill>
                  <a:srgbClr val="94A3B8"/>
                </a:solidFill>
                <a:latin typeface="Urbanist"/>
                <a:ea typeface="Urbanist"/>
                <a:cs typeface="Urbanist"/>
                <a:sym typeface="Urbanist"/>
              </a:rPr>
              <a:t>A hierarchical model that describes how an attacker can achieve a specific goal.</a:t>
            </a:r>
            <a:endParaRPr sz="2700"/>
          </a:p>
        </p:txBody>
      </p:sp>
      <p:pic>
        <p:nvPicPr>
          <p:cNvPr id="186" name="Google Shape;186;p20" descr="image.png"/>
          <p:cNvPicPr preferRelativeResize="0"/>
          <p:nvPr/>
        </p:nvPicPr>
        <p:blipFill rotWithShape="1">
          <a:blip r:embed="rId5">
            <a:alphaModFix/>
          </a:blip>
          <a:srcRect/>
          <a:stretch/>
        </p:blipFill>
        <p:spPr>
          <a:xfrm>
            <a:off x="9336526" y="701516"/>
            <a:ext cx="8272460" cy="8883968"/>
          </a:xfrm>
          <a:prstGeom prst="rect">
            <a:avLst/>
          </a:prstGeom>
          <a:noFill/>
          <a:ln>
            <a:noFill/>
          </a:ln>
        </p:spPr>
      </p:pic>
      <p:sp>
        <p:nvSpPr>
          <p:cNvPr id="187" name="Google Shape;187;p20"/>
          <p:cNvSpPr txBox="1"/>
          <p:nvPr/>
        </p:nvSpPr>
        <p:spPr>
          <a:xfrm>
            <a:off x="1314451" y="3929063"/>
            <a:ext cx="6855857" cy="415498"/>
          </a:xfrm>
          <a:prstGeom prst="rect">
            <a:avLst/>
          </a:prstGeom>
          <a:noFill/>
          <a:ln>
            <a:noFill/>
          </a:ln>
        </p:spPr>
        <p:txBody>
          <a:bodyPr spcFirstLastPara="1" wrap="square" lIns="0" tIns="0" rIns="0" bIns="0" anchor="t" anchorCtr="0">
            <a:spAutoFit/>
          </a:bodyPr>
          <a:lstStyle/>
          <a:p>
            <a:r>
              <a:rPr lang="en-US" sz="2700" b="1">
                <a:solidFill>
                  <a:srgbClr val="F1F5F9"/>
                </a:solidFill>
                <a:latin typeface="Urbanist"/>
                <a:ea typeface="Urbanist"/>
                <a:cs typeface="Urbanist"/>
                <a:sym typeface="Urbanist"/>
              </a:rPr>
              <a:t>Strategic Modeling</a:t>
            </a:r>
            <a:endParaRPr sz="2700"/>
          </a:p>
        </p:txBody>
      </p:sp>
      <p:sp>
        <p:nvSpPr>
          <p:cNvPr id="188" name="Google Shape;188;p20"/>
          <p:cNvSpPr txBox="1"/>
          <p:nvPr/>
        </p:nvSpPr>
        <p:spPr>
          <a:xfrm>
            <a:off x="1314451" y="4514850"/>
            <a:ext cx="6529388" cy="1558119"/>
          </a:xfrm>
          <a:prstGeom prst="rect">
            <a:avLst/>
          </a:prstGeom>
          <a:noFill/>
          <a:ln>
            <a:noFill/>
          </a:ln>
        </p:spPr>
        <p:txBody>
          <a:bodyPr spcFirstLastPara="1" wrap="square" lIns="0" tIns="0" rIns="0" bIns="0" anchor="t" anchorCtr="0">
            <a:spAutoFit/>
          </a:bodyPr>
          <a:lstStyle/>
          <a:p>
            <a:pPr>
              <a:lnSpc>
                <a:spcPct val="150000"/>
              </a:lnSpc>
            </a:pPr>
            <a:r>
              <a:rPr lang="en-US" sz="2250">
                <a:solidFill>
                  <a:srgbClr val="94A3B8"/>
                </a:solidFill>
                <a:latin typeface="Urbanist"/>
                <a:ea typeface="Urbanist"/>
                <a:cs typeface="Urbanist"/>
                <a:sym typeface="Urbanist"/>
              </a:rPr>
              <a:t>The root node represents the attacker's objective, while child nodes represent alternative attack paths.</a:t>
            </a:r>
            <a:endParaRPr sz="270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181">
          <a:extLst>
            <a:ext uri="{FF2B5EF4-FFF2-40B4-BE49-F238E27FC236}">
              <a16:creationId xmlns:a16="http://schemas.microsoft.com/office/drawing/2014/main" id="{59B90A89-18B7-C9B2-EB2E-1DE1BE947087}"/>
            </a:ext>
          </a:extLst>
        </p:cNvPr>
        <p:cNvGrpSpPr/>
        <p:nvPr/>
      </p:nvGrpSpPr>
      <p:grpSpPr>
        <a:xfrm>
          <a:off x="0" y="0"/>
          <a:ext cx="0" cy="0"/>
          <a:chOff x="0" y="0"/>
          <a:chExt cx="0" cy="0"/>
        </a:xfrm>
      </p:grpSpPr>
      <p:pic>
        <p:nvPicPr>
          <p:cNvPr id="182" name="Google Shape;182;p20" descr="image.png">
            <a:extLst>
              <a:ext uri="{FF2B5EF4-FFF2-40B4-BE49-F238E27FC236}">
                <a16:creationId xmlns:a16="http://schemas.microsoft.com/office/drawing/2014/main" id="{6C1A6308-E944-7CF5-DCE4-81ED304AE63C}"/>
              </a:ext>
            </a:extLst>
          </p:cNvPr>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184" name="Google Shape;184;p20">
            <a:extLst>
              <a:ext uri="{FF2B5EF4-FFF2-40B4-BE49-F238E27FC236}">
                <a16:creationId xmlns:a16="http://schemas.microsoft.com/office/drawing/2014/main" id="{EC05D336-0F41-084E-F0FC-6A31F8AA0879}"/>
              </a:ext>
            </a:extLst>
          </p:cNvPr>
          <p:cNvSpPr txBox="1"/>
          <p:nvPr/>
        </p:nvSpPr>
        <p:spPr>
          <a:xfrm>
            <a:off x="871538" y="871538"/>
            <a:ext cx="7785972" cy="1523494"/>
          </a:xfrm>
          <a:prstGeom prst="rect">
            <a:avLst/>
          </a:prstGeom>
          <a:noFill/>
          <a:ln>
            <a:noFill/>
          </a:ln>
        </p:spPr>
        <p:txBody>
          <a:bodyPr spcFirstLastPara="1" wrap="square" lIns="0" tIns="0" rIns="0" bIns="0" anchor="t" anchorCtr="0">
            <a:spAutoFit/>
          </a:bodyPr>
          <a:lstStyle/>
          <a:p>
            <a:r>
              <a:rPr lang="en-US" sz="4950" b="1" dirty="0">
                <a:solidFill>
                  <a:srgbClr val="22D3EE"/>
                </a:solidFill>
                <a:latin typeface="Urbanist"/>
                <a:ea typeface="Urbanist"/>
                <a:cs typeface="Urbanist"/>
                <a:sym typeface="Urbanist"/>
              </a:rPr>
              <a:t>Concept: </a:t>
            </a:r>
          </a:p>
          <a:p>
            <a:r>
              <a:rPr lang="en-US" sz="4950" b="1" dirty="0">
                <a:solidFill>
                  <a:srgbClr val="22D3EE"/>
                </a:solidFill>
                <a:latin typeface="Urbanist"/>
                <a:ea typeface="Urbanist"/>
                <a:cs typeface="Urbanist"/>
                <a:sym typeface="Urbanist"/>
              </a:rPr>
              <a:t>Attack Trees</a:t>
            </a:r>
            <a:endParaRPr sz="2700" dirty="0"/>
          </a:p>
        </p:txBody>
      </p:sp>
      <p:pic>
        <p:nvPicPr>
          <p:cNvPr id="2" name="Picture 1" descr="image.jpg">
            <a:extLst>
              <a:ext uri="{FF2B5EF4-FFF2-40B4-BE49-F238E27FC236}">
                <a16:creationId xmlns:a16="http://schemas.microsoft.com/office/drawing/2014/main" id="{C956426F-2BEA-758A-0346-CF1AD7CF047C}"/>
              </a:ext>
            </a:extLst>
          </p:cNvPr>
          <p:cNvPicPr>
            <a:picLocks noChangeAspect="1"/>
          </p:cNvPicPr>
          <p:nvPr/>
        </p:nvPicPr>
        <p:blipFill>
          <a:blip r:embed="rId4"/>
          <a:stretch>
            <a:fillRect/>
          </a:stretch>
        </p:blipFill>
        <p:spPr>
          <a:xfrm>
            <a:off x="4792233" y="0"/>
            <a:ext cx="12954000" cy="9715500"/>
          </a:xfrm>
          <a:prstGeom prst="rect">
            <a:avLst/>
          </a:prstGeom>
        </p:spPr>
      </p:pic>
      <p:sp>
        <p:nvSpPr>
          <p:cNvPr id="4" name="TextBox 3">
            <a:extLst>
              <a:ext uri="{FF2B5EF4-FFF2-40B4-BE49-F238E27FC236}">
                <a16:creationId xmlns:a16="http://schemas.microsoft.com/office/drawing/2014/main" id="{3AB51599-D977-51AC-491A-860518093A3F}"/>
              </a:ext>
            </a:extLst>
          </p:cNvPr>
          <p:cNvSpPr txBox="1"/>
          <p:nvPr/>
        </p:nvSpPr>
        <p:spPr>
          <a:xfrm>
            <a:off x="1676400" y="3695700"/>
            <a:ext cx="9310254" cy="2031325"/>
          </a:xfrm>
          <a:prstGeom prst="rect">
            <a:avLst/>
          </a:prstGeom>
          <a:noFill/>
        </p:spPr>
        <p:txBody>
          <a:bodyPr wrap="square">
            <a:spAutoFit/>
          </a:bodyPr>
          <a:lstStyle/>
          <a:p>
            <a:r>
              <a:rPr lang="en-US" dirty="0"/>
              <a:t>User terminal and user (UT/U): These attacks target the user equipment, </a:t>
            </a:r>
          </a:p>
          <a:p>
            <a:r>
              <a:rPr lang="en-US" dirty="0"/>
              <a:t>including the tokens that may be involved, such as smartcards or other password </a:t>
            </a:r>
          </a:p>
          <a:p>
            <a:r>
              <a:rPr lang="en-US" dirty="0"/>
              <a:t>generators, as well as the actions of the user.</a:t>
            </a:r>
          </a:p>
          <a:p>
            <a:r>
              <a:rPr lang="en-US" dirty="0"/>
              <a:t>• Communications channel (CC): This type of attack focuses on communication </a:t>
            </a:r>
          </a:p>
          <a:p>
            <a:r>
              <a:rPr lang="en-US" dirty="0"/>
              <a:t>links.</a:t>
            </a:r>
          </a:p>
          <a:p>
            <a:r>
              <a:rPr lang="en-US" dirty="0"/>
              <a:t>• Internet banking server (IBS): These types of attacks are offline attack against </a:t>
            </a:r>
          </a:p>
          <a:p>
            <a:r>
              <a:rPr lang="en-US" dirty="0"/>
              <a:t>the servers that host the Internet banking application.</a:t>
            </a:r>
          </a:p>
        </p:txBody>
      </p:sp>
    </p:spTree>
    <p:extLst>
      <p:ext uri="{BB962C8B-B14F-4D97-AF65-F5344CB8AC3E}">
        <p14:creationId xmlns:p14="http://schemas.microsoft.com/office/powerpoint/2010/main" val="160793082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pic>
        <p:nvPicPr>
          <p:cNvPr id="193" name="Google Shape;193;p21" descr="image.png"/>
          <p:cNvPicPr preferRelativeResize="0"/>
          <p:nvPr/>
        </p:nvPicPr>
        <p:blipFill rotWithShape="1">
          <a:blip r:embed="rId3">
            <a:alphaModFix/>
          </a:blip>
          <a:srcRect/>
          <a:stretch/>
        </p:blipFill>
        <p:spPr>
          <a:xfrm>
            <a:off x="0" y="0"/>
            <a:ext cx="18288000" cy="10287000"/>
          </a:xfrm>
          <a:prstGeom prst="rect">
            <a:avLst/>
          </a:prstGeom>
          <a:noFill/>
          <a:ln>
            <a:noFill/>
          </a:ln>
        </p:spPr>
      </p:pic>
      <p:pic>
        <p:nvPicPr>
          <p:cNvPr id="194" name="Google Shape;194;p21" descr="image.png"/>
          <p:cNvPicPr preferRelativeResize="0"/>
          <p:nvPr/>
        </p:nvPicPr>
        <p:blipFill rotWithShape="1">
          <a:blip r:embed="rId4">
            <a:alphaModFix/>
          </a:blip>
          <a:srcRect/>
          <a:stretch/>
        </p:blipFill>
        <p:spPr>
          <a:xfrm>
            <a:off x="871538" y="3836193"/>
            <a:ext cx="5229225" cy="3943350"/>
          </a:xfrm>
          <a:prstGeom prst="rect">
            <a:avLst/>
          </a:prstGeom>
          <a:noFill/>
          <a:ln>
            <a:noFill/>
          </a:ln>
        </p:spPr>
      </p:pic>
      <p:pic>
        <p:nvPicPr>
          <p:cNvPr id="195" name="Google Shape;195;p21" descr="image.png"/>
          <p:cNvPicPr preferRelativeResize="0"/>
          <p:nvPr/>
        </p:nvPicPr>
        <p:blipFill rotWithShape="1">
          <a:blip r:embed="rId5">
            <a:alphaModFix/>
          </a:blip>
          <a:srcRect/>
          <a:stretch/>
        </p:blipFill>
        <p:spPr>
          <a:xfrm>
            <a:off x="6529388" y="3836193"/>
            <a:ext cx="5229225" cy="3943350"/>
          </a:xfrm>
          <a:prstGeom prst="rect">
            <a:avLst/>
          </a:prstGeom>
          <a:noFill/>
          <a:ln>
            <a:noFill/>
          </a:ln>
        </p:spPr>
      </p:pic>
      <p:pic>
        <p:nvPicPr>
          <p:cNvPr id="196" name="Google Shape;196;p21" descr="image.png"/>
          <p:cNvPicPr preferRelativeResize="0"/>
          <p:nvPr/>
        </p:nvPicPr>
        <p:blipFill rotWithShape="1">
          <a:blip r:embed="rId6">
            <a:alphaModFix/>
          </a:blip>
          <a:srcRect/>
          <a:stretch/>
        </p:blipFill>
        <p:spPr>
          <a:xfrm>
            <a:off x="12187238" y="3836193"/>
            <a:ext cx="5229225" cy="3943350"/>
          </a:xfrm>
          <a:prstGeom prst="rect">
            <a:avLst/>
          </a:prstGeom>
          <a:noFill/>
          <a:ln>
            <a:noFill/>
          </a:ln>
        </p:spPr>
      </p:pic>
      <p:sp>
        <p:nvSpPr>
          <p:cNvPr id="197" name="Google Shape;197;p21"/>
          <p:cNvSpPr txBox="1"/>
          <p:nvPr/>
        </p:nvSpPr>
        <p:spPr>
          <a:xfrm>
            <a:off x="1314450" y="5250656"/>
            <a:ext cx="4560570" cy="415498"/>
          </a:xfrm>
          <a:prstGeom prst="rect">
            <a:avLst/>
          </a:prstGeom>
          <a:noFill/>
          <a:ln>
            <a:noFill/>
          </a:ln>
        </p:spPr>
        <p:txBody>
          <a:bodyPr spcFirstLastPara="1" wrap="square" lIns="0" tIns="0" rIns="0" bIns="0" anchor="t" anchorCtr="0">
            <a:spAutoFit/>
          </a:bodyPr>
          <a:lstStyle/>
          <a:p>
            <a:r>
              <a:rPr lang="en-US" sz="2700" b="1">
                <a:solidFill>
                  <a:srgbClr val="F1F5F9"/>
                </a:solidFill>
                <a:latin typeface="Urbanist"/>
                <a:ea typeface="Urbanist"/>
                <a:cs typeface="Urbanist"/>
                <a:sym typeface="Urbanist"/>
              </a:rPr>
              <a:t>Root Node</a:t>
            </a:r>
            <a:endParaRPr sz="2700"/>
          </a:p>
        </p:txBody>
      </p:sp>
      <p:sp>
        <p:nvSpPr>
          <p:cNvPr id="198" name="Google Shape;198;p21"/>
          <p:cNvSpPr txBox="1"/>
          <p:nvPr/>
        </p:nvSpPr>
        <p:spPr>
          <a:xfrm>
            <a:off x="1314450" y="5836443"/>
            <a:ext cx="4343400" cy="1558119"/>
          </a:xfrm>
          <a:prstGeom prst="rect">
            <a:avLst/>
          </a:prstGeom>
          <a:noFill/>
          <a:ln>
            <a:noFill/>
          </a:ln>
        </p:spPr>
        <p:txBody>
          <a:bodyPr spcFirstLastPara="1" wrap="square" lIns="0" tIns="0" rIns="0" bIns="0" anchor="t" anchorCtr="0">
            <a:spAutoFit/>
          </a:bodyPr>
          <a:lstStyle/>
          <a:p>
            <a:pPr>
              <a:lnSpc>
                <a:spcPct val="150000"/>
              </a:lnSpc>
            </a:pPr>
            <a:r>
              <a:rPr lang="en-US" sz="2250">
                <a:solidFill>
                  <a:srgbClr val="94A3B8"/>
                </a:solidFill>
                <a:latin typeface="Urbanist"/>
                <a:ea typeface="Urbanist"/>
                <a:cs typeface="Urbanist"/>
                <a:sym typeface="Urbanist"/>
              </a:rPr>
              <a:t>Represents the attacker's ultimate security objective (e.g., Steal Data).</a:t>
            </a:r>
            <a:endParaRPr sz="2700"/>
          </a:p>
        </p:txBody>
      </p:sp>
      <p:sp>
        <p:nvSpPr>
          <p:cNvPr id="199" name="Google Shape;199;p21"/>
          <p:cNvSpPr txBox="1"/>
          <p:nvPr/>
        </p:nvSpPr>
        <p:spPr>
          <a:xfrm>
            <a:off x="6972300" y="5250656"/>
            <a:ext cx="4560570" cy="415498"/>
          </a:xfrm>
          <a:prstGeom prst="rect">
            <a:avLst/>
          </a:prstGeom>
          <a:noFill/>
          <a:ln>
            <a:noFill/>
          </a:ln>
        </p:spPr>
        <p:txBody>
          <a:bodyPr spcFirstLastPara="1" wrap="square" lIns="0" tIns="0" rIns="0" bIns="0" anchor="t" anchorCtr="0">
            <a:spAutoFit/>
          </a:bodyPr>
          <a:lstStyle/>
          <a:p>
            <a:r>
              <a:rPr lang="en-US" sz="2700" b="1">
                <a:solidFill>
                  <a:srgbClr val="F1F5F9"/>
                </a:solidFill>
                <a:latin typeface="Urbanist"/>
                <a:ea typeface="Urbanist"/>
                <a:cs typeface="Urbanist"/>
                <a:sym typeface="Urbanist"/>
              </a:rPr>
              <a:t>Branches</a:t>
            </a:r>
            <a:endParaRPr sz="2700"/>
          </a:p>
        </p:txBody>
      </p:sp>
      <p:sp>
        <p:nvSpPr>
          <p:cNvPr id="200" name="Google Shape;200;p21"/>
          <p:cNvSpPr txBox="1"/>
          <p:nvPr/>
        </p:nvSpPr>
        <p:spPr>
          <a:xfrm>
            <a:off x="6972300" y="5836443"/>
            <a:ext cx="4343400" cy="1558119"/>
          </a:xfrm>
          <a:prstGeom prst="rect">
            <a:avLst/>
          </a:prstGeom>
          <a:noFill/>
          <a:ln>
            <a:noFill/>
          </a:ln>
        </p:spPr>
        <p:txBody>
          <a:bodyPr spcFirstLastPara="1" wrap="square" lIns="0" tIns="0" rIns="0" bIns="0" anchor="t" anchorCtr="0">
            <a:spAutoFit/>
          </a:bodyPr>
          <a:lstStyle/>
          <a:p>
            <a:pPr>
              <a:lnSpc>
                <a:spcPct val="150000"/>
              </a:lnSpc>
            </a:pPr>
            <a:r>
              <a:rPr lang="en-US" sz="2250">
                <a:solidFill>
                  <a:srgbClr val="94A3B8"/>
                </a:solidFill>
                <a:latin typeface="Urbanist"/>
                <a:ea typeface="Urbanist"/>
                <a:cs typeface="Urbanist"/>
                <a:sym typeface="Urbanist"/>
              </a:rPr>
              <a:t>Intermediate steps and general attack strategies to achieve the goal.</a:t>
            </a:r>
            <a:endParaRPr sz="2700"/>
          </a:p>
        </p:txBody>
      </p:sp>
      <p:sp>
        <p:nvSpPr>
          <p:cNvPr id="201" name="Google Shape;201;p21"/>
          <p:cNvSpPr txBox="1"/>
          <p:nvPr/>
        </p:nvSpPr>
        <p:spPr>
          <a:xfrm>
            <a:off x="12630150" y="5250656"/>
            <a:ext cx="4560570" cy="415498"/>
          </a:xfrm>
          <a:prstGeom prst="rect">
            <a:avLst/>
          </a:prstGeom>
          <a:noFill/>
          <a:ln>
            <a:noFill/>
          </a:ln>
        </p:spPr>
        <p:txBody>
          <a:bodyPr spcFirstLastPara="1" wrap="square" lIns="0" tIns="0" rIns="0" bIns="0" anchor="t" anchorCtr="0">
            <a:spAutoFit/>
          </a:bodyPr>
          <a:lstStyle/>
          <a:p>
            <a:r>
              <a:rPr lang="en-US" sz="2700" b="1">
                <a:solidFill>
                  <a:srgbClr val="F1F5F9"/>
                </a:solidFill>
                <a:latin typeface="Urbanist"/>
                <a:ea typeface="Urbanist"/>
                <a:cs typeface="Urbanist"/>
                <a:sym typeface="Urbanist"/>
              </a:rPr>
              <a:t>Leaves</a:t>
            </a:r>
            <a:endParaRPr sz="2700"/>
          </a:p>
        </p:txBody>
      </p:sp>
      <p:sp>
        <p:nvSpPr>
          <p:cNvPr id="202" name="Google Shape;202;p21"/>
          <p:cNvSpPr txBox="1"/>
          <p:nvPr/>
        </p:nvSpPr>
        <p:spPr>
          <a:xfrm>
            <a:off x="12630150" y="5836443"/>
            <a:ext cx="4343400" cy="1558119"/>
          </a:xfrm>
          <a:prstGeom prst="rect">
            <a:avLst/>
          </a:prstGeom>
          <a:noFill/>
          <a:ln>
            <a:noFill/>
          </a:ln>
        </p:spPr>
        <p:txBody>
          <a:bodyPr spcFirstLastPara="1" wrap="square" lIns="0" tIns="0" rIns="0" bIns="0" anchor="t" anchorCtr="0">
            <a:spAutoFit/>
          </a:bodyPr>
          <a:lstStyle/>
          <a:p>
            <a:pPr>
              <a:lnSpc>
                <a:spcPct val="150000"/>
              </a:lnSpc>
            </a:pPr>
            <a:r>
              <a:rPr lang="en-US" sz="2250">
                <a:solidFill>
                  <a:srgbClr val="94A3B8"/>
                </a:solidFill>
                <a:latin typeface="Urbanist"/>
                <a:ea typeface="Urbanist"/>
                <a:cs typeface="Urbanist"/>
                <a:sym typeface="Urbanist"/>
              </a:rPr>
              <a:t>Specific, actionable attack methods (e.g., Phishing or Password Guessing).</a:t>
            </a:r>
            <a:endParaRPr sz="2700"/>
          </a:p>
        </p:txBody>
      </p:sp>
      <p:pic>
        <p:nvPicPr>
          <p:cNvPr id="203" name="Google Shape;203;p21" descr="image.png"/>
          <p:cNvPicPr preferRelativeResize="0"/>
          <p:nvPr/>
        </p:nvPicPr>
        <p:blipFill rotWithShape="1">
          <a:blip r:embed="rId7">
            <a:alphaModFix/>
          </a:blip>
          <a:srcRect/>
          <a:stretch/>
        </p:blipFill>
        <p:spPr>
          <a:xfrm>
            <a:off x="1314450" y="4321968"/>
            <a:ext cx="571500" cy="571500"/>
          </a:xfrm>
          <a:prstGeom prst="rect">
            <a:avLst/>
          </a:prstGeom>
          <a:noFill/>
          <a:ln>
            <a:noFill/>
          </a:ln>
        </p:spPr>
      </p:pic>
      <p:pic>
        <p:nvPicPr>
          <p:cNvPr id="204" name="Google Shape;204;p21" descr="image.png"/>
          <p:cNvPicPr preferRelativeResize="0"/>
          <p:nvPr/>
        </p:nvPicPr>
        <p:blipFill rotWithShape="1">
          <a:blip r:embed="rId8">
            <a:alphaModFix/>
          </a:blip>
          <a:srcRect/>
          <a:stretch/>
        </p:blipFill>
        <p:spPr>
          <a:xfrm>
            <a:off x="6972301" y="4321968"/>
            <a:ext cx="500063" cy="571500"/>
          </a:xfrm>
          <a:prstGeom prst="rect">
            <a:avLst/>
          </a:prstGeom>
          <a:noFill/>
          <a:ln>
            <a:noFill/>
          </a:ln>
        </p:spPr>
      </p:pic>
      <p:pic>
        <p:nvPicPr>
          <p:cNvPr id="205" name="Google Shape;205;p21" descr="image.png"/>
          <p:cNvPicPr preferRelativeResize="0"/>
          <p:nvPr/>
        </p:nvPicPr>
        <p:blipFill rotWithShape="1">
          <a:blip r:embed="rId9">
            <a:alphaModFix/>
          </a:blip>
          <a:srcRect/>
          <a:stretch/>
        </p:blipFill>
        <p:spPr>
          <a:xfrm>
            <a:off x="12630150" y="4321968"/>
            <a:ext cx="571500" cy="571500"/>
          </a:xfrm>
          <a:prstGeom prst="rect">
            <a:avLst/>
          </a:prstGeom>
          <a:noFill/>
          <a:ln>
            <a:noFill/>
          </a:ln>
        </p:spPr>
      </p:pic>
      <p:sp>
        <p:nvSpPr>
          <p:cNvPr id="206" name="Google Shape;206;p21"/>
          <p:cNvSpPr txBox="1"/>
          <p:nvPr/>
        </p:nvSpPr>
        <p:spPr>
          <a:xfrm>
            <a:off x="871538" y="871538"/>
            <a:ext cx="17372171" cy="761747"/>
          </a:xfrm>
          <a:prstGeom prst="rect">
            <a:avLst/>
          </a:prstGeom>
          <a:noFill/>
          <a:ln>
            <a:noFill/>
          </a:ln>
        </p:spPr>
        <p:txBody>
          <a:bodyPr spcFirstLastPara="1" wrap="square" lIns="0" tIns="0" rIns="0" bIns="0" anchor="t" anchorCtr="0">
            <a:spAutoFit/>
          </a:bodyPr>
          <a:lstStyle/>
          <a:p>
            <a:r>
              <a:rPr lang="en-US" sz="4950" b="1">
                <a:solidFill>
                  <a:srgbClr val="22D3EE"/>
                </a:solidFill>
                <a:latin typeface="Urbanist"/>
                <a:ea typeface="Urbanist"/>
                <a:cs typeface="Urbanist"/>
                <a:sym typeface="Urbanist"/>
              </a:rPr>
              <a:t>Structure and Hierarchy</a:t>
            </a:r>
            <a:endParaRPr sz="270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pic>
        <p:nvPicPr>
          <p:cNvPr id="211" name="Google Shape;211;p22" descr="image.png"/>
          <p:cNvPicPr preferRelativeResize="0"/>
          <p:nvPr/>
        </p:nvPicPr>
        <p:blipFill rotWithShape="1">
          <a:blip r:embed="rId3">
            <a:alphaModFix/>
          </a:blip>
          <a:srcRect/>
          <a:stretch/>
        </p:blipFill>
        <p:spPr>
          <a:xfrm>
            <a:off x="0" y="0"/>
            <a:ext cx="18288000" cy="10287000"/>
          </a:xfrm>
          <a:prstGeom prst="rect">
            <a:avLst/>
          </a:prstGeom>
          <a:noFill/>
          <a:ln>
            <a:noFill/>
          </a:ln>
        </p:spPr>
      </p:pic>
      <p:pic>
        <p:nvPicPr>
          <p:cNvPr id="212" name="Google Shape;212;p22" descr="image.png"/>
          <p:cNvPicPr preferRelativeResize="0"/>
          <p:nvPr/>
        </p:nvPicPr>
        <p:blipFill rotWithShape="1">
          <a:blip r:embed="rId4">
            <a:alphaModFix/>
          </a:blip>
          <a:srcRect/>
          <a:stretch/>
        </p:blipFill>
        <p:spPr>
          <a:xfrm>
            <a:off x="871538" y="4471988"/>
            <a:ext cx="7915275" cy="2671763"/>
          </a:xfrm>
          <a:prstGeom prst="rect">
            <a:avLst/>
          </a:prstGeom>
          <a:noFill/>
          <a:ln>
            <a:noFill/>
          </a:ln>
        </p:spPr>
      </p:pic>
      <p:pic>
        <p:nvPicPr>
          <p:cNvPr id="213" name="Google Shape;213;p22" descr="image.png"/>
          <p:cNvPicPr preferRelativeResize="0"/>
          <p:nvPr/>
        </p:nvPicPr>
        <p:blipFill rotWithShape="1">
          <a:blip r:embed="rId4">
            <a:alphaModFix/>
          </a:blip>
          <a:srcRect/>
          <a:stretch/>
        </p:blipFill>
        <p:spPr>
          <a:xfrm>
            <a:off x="9501188" y="4471988"/>
            <a:ext cx="7915275" cy="2671763"/>
          </a:xfrm>
          <a:prstGeom prst="rect">
            <a:avLst/>
          </a:prstGeom>
          <a:noFill/>
          <a:ln>
            <a:noFill/>
          </a:ln>
        </p:spPr>
      </p:pic>
      <p:sp>
        <p:nvSpPr>
          <p:cNvPr id="214" name="Google Shape;214;p22"/>
          <p:cNvSpPr txBox="1"/>
          <p:nvPr/>
        </p:nvSpPr>
        <p:spPr>
          <a:xfrm>
            <a:off x="1314451" y="4914900"/>
            <a:ext cx="7380923" cy="415498"/>
          </a:xfrm>
          <a:prstGeom prst="rect">
            <a:avLst/>
          </a:prstGeom>
          <a:noFill/>
          <a:ln>
            <a:noFill/>
          </a:ln>
        </p:spPr>
        <p:txBody>
          <a:bodyPr spcFirstLastPara="1" wrap="square" lIns="0" tIns="0" rIns="0" bIns="0" anchor="t" anchorCtr="0">
            <a:spAutoFit/>
          </a:bodyPr>
          <a:lstStyle/>
          <a:p>
            <a:r>
              <a:rPr lang="en-US" sz="2700" b="1">
                <a:solidFill>
                  <a:srgbClr val="22D3EE"/>
                </a:solidFill>
                <a:latin typeface="Urbanist"/>
                <a:ea typeface="Urbanist"/>
                <a:cs typeface="Urbanist"/>
                <a:sym typeface="Urbanist"/>
              </a:rPr>
              <a:t>OR Nodes (Alternatives)</a:t>
            </a:r>
            <a:endParaRPr sz="2700"/>
          </a:p>
        </p:txBody>
      </p:sp>
      <p:sp>
        <p:nvSpPr>
          <p:cNvPr id="215" name="Google Shape;215;p22"/>
          <p:cNvSpPr txBox="1"/>
          <p:nvPr/>
        </p:nvSpPr>
        <p:spPr>
          <a:xfrm>
            <a:off x="1314450" y="5500688"/>
            <a:ext cx="7029450" cy="519373"/>
          </a:xfrm>
          <a:prstGeom prst="rect">
            <a:avLst/>
          </a:prstGeom>
          <a:noFill/>
          <a:ln>
            <a:noFill/>
          </a:ln>
        </p:spPr>
        <p:txBody>
          <a:bodyPr spcFirstLastPara="1" wrap="square" lIns="0" tIns="0" rIns="0" bIns="0" anchor="t" anchorCtr="0">
            <a:spAutoFit/>
          </a:bodyPr>
          <a:lstStyle/>
          <a:p>
            <a:pPr>
              <a:lnSpc>
                <a:spcPct val="150000"/>
              </a:lnSpc>
            </a:pPr>
            <a:r>
              <a:rPr lang="en-US" sz="2250">
                <a:solidFill>
                  <a:srgbClr val="94A3B8"/>
                </a:solidFill>
                <a:latin typeface="Urbanist"/>
                <a:ea typeface="Urbanist"/>
                <a:cs typeface="Urbanist"/>
                <a:sym typeface="Urbanist"/>
              </a:rPr>
              <a:t>Any one child attack can achieve the objective.</a:t>
            </a:r>
            <a:endParaRPr sz="2700"/>
          </a:p>
        </p:txBody>
      </p:sp>
      <p:sp>
        <p:nvSpPr>
          <p:cNvPr id="216" name="Google Shape;216;p22"/>
          <p:cNvSpPr txBox="1"/>
          <p:nvPr/>
        </p:nvSpPr>
        <p:spPr>
          <a:xfrm>
            <a:off x="1314450" y="6143625"/>
            <a:ext cx="7029450" cy="415498"/>
          </a:xfrm>
          <a:prstGeom prst="rect">
            <a:avLst/>
          </a:prstGeom>
          <a:noFill/>
          <a:ln>
            <a:noFill/>
          </a:ln>
        </p:spPr>
        <p:txBody>
          <a:bodyPr spcFirstLastPara="1" wrap="square" lIns="0" tIns="0" rIns="0" bIns="0" anchor="t" anchorCtr="0">
            <a:spAutoFit/>
          </a:bodyPr>
          <a:lstStyle/>
          <a:p>
            <a:pPr>
              <a:lnSpc>
                <a:spcPct val="150000"/>
              </a:lnSpc>
            </a:pPr>
            <a:r>
              <a:rPr lang="en-US">
                <a:solidFill>
                  <a:srgbClr val="94A3B8"/>
                </a:solidFill>
                <a:latin typeface="JetBrains Mono"/>
                <a:ea typeface="JetBrains Mono"/>
                <a:cs typeface="JetBrains Mono"/>
                <a:sym typeface="JetBrains Mono"/>
              </a:rPr>
              <a:t>EX: Phishing OR Brute Force</a:t>
            </a:r>
            <a:endParaRPr sz="2700"/>
          </a:p>
        </p:txBody>
      </p:sp>
      <p:sp>
        <p:nvSpPr>
          <p:cNvPr id="217" name="Google Shape;217;p22"/>
          <p:cNvSpPr txBox="1"/>
          <p:nvPr/>
        </p:nvSpPr>
        <p:spPr>
          <a:xfrm>
            <a:off x="9944101" y="4914900"/>
            <a:ext cx="7380923" cy="415498"/>
          </a:xfrm>
          <a:prstGeom prst="rect">
            <a:avLst/>
          </a:prstGeom>
          <a:noFill/>
          <a:ln>
            <a:noFill/>
          </a:ln>
        </p:spPr>
        <p:txBody>
          <a:bodyPr spcFirstLastPara="1" wrap="square" lIns="0" tIns="0" rIns="0" bIns="0" anchor="t" anchorCtr="0">
            <a:spAutoFit/>
          </a:bodyPr>
          <a:lstStyle/>
          <a:p>
            <a:r>
              <a:rPr lang="en-US" sz="2700" b="1">
                <a:solidFill>
                  <a:srgbClr val="22D3EE"/>
                </a:solidFill>
                <a:latin typeface="Urbanist"/>
                <a:ea typeface="Urbanist"/>
                <a:cs typeface="Urbanist"/>
                <a:sym typeface="Urbanist"/>
              </a:rPr>
              <a:t>AND Nodes (Requirements)</a:t>
            </a:r>
            <a:endParaRPr sz="2700"/>
          </a:p>
        </p:txBody>
      </p:sp>
      <p:sp>
        <p:nvSpPr>
          <p:cNvPr id="218" name="Google Shape;218;p22"/>
          <p:cNvSpPr txBox="1"/>
          <p:nvPr/>
        </p:nvSpPr>
        <p:spPr>
          <a:xfrm>
            <a:off x="9944100" y="5500688"/>
            <a:ext cx="7029450" cy="519373"/>
          </a:xfrm>
          <a:prstGeom prst="rect">
            <a:avLst/>
          </a:prstGeom>
          <a:noFill/>
          <a:ln>
            <a:noFill/>
          </a:ln>
        </p:spPr>
        <p:txBody>
          <a:bodyPr spcFirstLastPara="1" wrap="square" lIns="0" tIns="0" rIns="0" bIns="0" anchor="t" anchorCtr="0">
            <a:spAutoFit/>
          </a:bodyPr>
          <a:lstStyle/>
          <a:p>
            <a:pPr>
              <a:lnSpc>
                <a:spcPct val="150000"/>
              </a:lnSpc>
            </a:pPr>
            <a:r>
              <a:rPr lang="en-US" sz="2250">
                <a:solidFill>
                  <a:srgbClr val="94A3B8"/>
                </a:solidFill>
                <a:latin typeface="Urbanist"/>
                <a:ea typeface="Urbanist"/>
                <a:cs typeface="Urbanist"/>
                <a:sym typeface="Urbanist"/>
              </a:rPr>
              <a:t>All child actions must occur together to succeed.</a:t>
            </a:r>
            <a:endParaRPr sz="2700"/>
          </a:p>
        </p:txBody>
      </p:sp>
      <p:sp>
        <p:nvSpPr>
          <p:cNvPr id="219" name="Google Shape;219;p22"/>
          <p:cNvSpPr txBox="1"/>
          <p:nvPr/>
        </p:nvSpPr>
        <p:spPr>
          <a:xfrm>
            <a:off x="9944100" y="6143625"/>
            <a:ext cx="7029450" cy="415498"/>
          </a:xfrm>
          <a:prstGeom prst="rect">
            <a:avLst/>
          </a:prstGeom>
          <a:noFill/>
          <a:ln>
            <a:noFill/>
          </a:ln>
        </p:spPr>
        <p:txBody>
          <a:bodyPr spcFirstLastPara="1" wrap="square" lIns="0" tIns="0" rIns="0" bIns="0" anchor="t" anchorCtr="0">
            <a:spAutoFit/>
          </a:bodyPr>
          <a:lstStyle/>
          <a:p>
            <a:pPr>
              <a:lnSpc>
                <a:spcPct val="150000"/>
              </a:lnSpc>
            </a:pPr>
            <a:r>
              <a:rPr lang="en-US">
                <a:solidFill>
                  <a:srgbClr val="94A3B8"/>
                </a:solidFill>
                <a:latin typeface="JetBrains Mono"/>
                <a:ea typeface="JetBrains Mono"/>
                <a:cs typeface="JetBrains Mono"/>
                <a:sym typeface="JetBrains Mono"/>
              </a:rPr>
              <a:t>EX: Obtain Credentials AND Bypass MFA</a:t>
            </a:r>
            <a:endParaRPr sz="2700"/>
          </a:p>
        </p:txBody>
      </p:sp>
      <p:sp>
        <p:nvSpPr>
          <p:cNvPr id="220" name="Google Shape;220;p22"/>
          <p:cNvSpPr txBox="1"/>
          <p:nvPr/>
        </p:nvSpPr>
        <p:spPr>
          <a:xfrm>
            <a:off x="871538" y="871538"/>
            <a:ext cx="17372171" cy="761747"/>
          </a:xfrm>
          <a:prstGeom prst="rect">
            <a:avLst/>
          </a:prstGeom>
          <a:noFill/>
          <a:ln>
            <a:noFill/>
          </a:ln>
        </p:spPr>
        <p:txBody>
          <a:bodyPr spcFirstLastPara="1" wrap="square" lIns="0" tIns="0" rIns="0" bIns="0" anchor="t" anchorCtr="0">
            <a:spAutoFit/>
          </a:bodyPr>
          <a:lstStyle/>
          <a:p>
            <a:r>
              <a:rPr lang="en-US" sz="4950" b="1">
                <a:solidFill>
                  <a:srgbClr val="22D3EE"/>
                </a:solidFill>
                <a:latin typeface="Urbanist"/>
                <a:ea typeface="Urbanist"/>
                <a:cs typeface="Urbanist"/>
                <a:sym typeface="Urbanist"/>
              </a:rPr>
              <a:t>Logic: AND vs OR Nodes</a:t>
            </a:r>
            <a:endParaRPr sz="270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224"/>
        <p:cNvGrpSpPr/>
        <p:nvPr/>
      </p:nvGrpSpPr>
      <p:grpSpPr>
        <a:xfrm>
          <a:off x="0" y="0"/>
          <a:ext cx="0" cy="0"/>
          <a:chOff x="0" y="0"/>
          <a:chExt cx="0" cy="0"/>
        </a:xfrm>
      </p:grpSpPr>
      <p:graphicFrame>
        <p:nvGraphicFramePr>
          <p:cNvPr id="225" name="Google Shape;225;p23"/>
          <p:cNvGraphicFramePr/>
          <p:nvPr>
            <p:extLst>
              <p:ext uri="{D42A27DB-BD31-4B8C-83A1-F6EECF244321}">
                <p14:modId xmlns:p14="http://schemas.microsoft.com/office/powerpoint/2010/main" val="680909376"/>
              </p:ext>
            </p:extLst>
          </p:nvPr>
        </p:nvGraphicFramePr>
        <p:xfrm>
          <a:off x="871538" y="3271838"/>
          <a:ext cx="16544926" cy="5072065"/>
        </p:xfrm>
        <a:graphic>
          <a:graphicData uri="http://schemas.openxmlformats.org/drawingml/2006/table">
            <a:tbl>
              <a:tblPr firstRow="1" bandRow="1">
                <a:noFill/>
              </a:tblPr>
              <a:tblGrid>
                <a:gridCol w="3084300">
                  <a:extLst>
                    <a:ext uri="{9D8B030D-6E8A-4147-A177-3AD203B41FA5}">
                      <a16:colId xmlns:a16="http://schemas.microsoft.com/office/drawing/2014/main" val="20000"/>
                    </a:ext>
                  </a:extLst>
                </a:gridCol>
                <a:gridCol w="6568463">
                  <a:extLst>
                    <a:ext uri="{9D8B030D-6E8A-4147-A177-3AD203B41FA5}">
                      <a16:colId xmlns:a16="http://schemas.microsoft.com/office/drawing/2014/main" val="20001"/>
                    </a:ext>
                  </a:extLst>
                </a:gridCol>
                <a:gridCol w="6892163">
                  <a:extLst>
                    <a:ext uri="{9D8B030D-6E8A-4147-A177-3AD203B41FA5}">
                      <a16:colId xmlns:a16="http://schemas.microsoft.com/office/drawing/2014/main" val="20002"/>
                    </a:ext>
                  </a:extLst>
                </a:gridCol>
              </a:tblGrid>
              <a:tr h="1014413">
                <a:tc>
                  <a:txBody>
                    <a:bodyPr/>
                    <a:lstStyle/>
                    <a:p>
                      <a:pPr marL="0" marR="0" lvl="0" indent="0" algn="l" rtl="0">
                        <a:spcBef>
                          <a:spcPts val="0"/>
                        </a:spcBef>
                        <a:spcAft>
                          <a:spcPts val="0"/>
                        </a:spcAft>
                        <a:buNone/>
                      </a:pPr>
                      <a:r>
                        <a:rPr lang="en-US" sz="2300" b="1" i="0" u="none" strike="noStrike" cap="none">
                          <a:solidFill>
                            <a:srgbClr val="22D3EE"/>
                          </a:solidFill>
                          <a:latin typeface="Urbanist"/>
                          <a:ea typeface="Urbanist"/>
                          <a:cs typeface="Urbanist"/>
                          <a:sym typeface="Urbanist"/>
                        </a:rPr>
                        <a:t>Feature</a:t>
                      </a:r>
                      <a:endParaRPr sz="2700"/>
                    </a:p>
                  </a:txBody>
                  <a:tcPr marL="95250" marR="95250" marT="38100" marB="38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11827"/>
                    </a:solidFill>
                  </a:tcPr>
                </a:tc>
                <a:tc>
                  <a:txBody>
                    <a:bodyPr/>
                    <a:lstStyle/>
                    <a:p>
                      <a:pPr marL="0" marR="0" lvl="0" indent="0" algn="l" rtl="0">
                        <a:spcBef>
                          <a:spcPts val="0"/>
                        </a:spcBef>
                        <a:spcAft>
                          <a:spcPts val="0"/>
                        </a:spcAft>
                        <a:buNone/>
                      </a:pPr>
                      <a:r>
                        <a:rPr lang="en-US" sz="2300" b="1" i="0" u="none" strike="noStrike" cap="none">
                          <a:solidFill>
                            <a:srgbClr val="22D3EE"/>
                          </a:solidFill>
                          <a:latin typeface="Urbanist"/>
                          <a:ea typeface="Urbanist"/>
                          <a:cs typeface="Urbanist"/>
                          <a:sym typeface="Urbanist"/>
                        </a:rPr>
                        <a:t>Attack Surface</a:t>
                      </a:r>
                      <a:endParaRPr sz="2700"/>
                    </a:p>
                  </a:txBody>
                  <a:tcPr marL="95250" marR="95250" marT="38100" marB="38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11827"/>
                    </a:solidFill>
                  </a:tcPr>
                </a:tc>
                <a:tc>
                  <a:txBody>
                    <a:bodyPr/>
                    <a:lstStyle/>
                    <a:p>
                      <a:pPr marL="0" marR="0" lvl="0" indent="0" algn="l" rtl="0">
                        <a:spcBef>
                          <a:spcPts val="0"/>
                        </a:spcBef>
                        <a:spcAft>
                          <a:spcPts val="0"/>
                        </a:spcAft>
                        <a:buNone/>
                      </a:pPr>
                      <a:r>
                        <a:rPr lang="en-US" sz="2300" b="1" i="0" u="none" strike="noStrike" cap="none">
                          <a:solidFill>
                            <a:srgbClr val="22D3EE"/>
                          </a:solidFill>
                          <a:latin typeface="Urbanist"/>
                          <a:ea typeface="Urbanist"/>
                          <a:cs typeface="Urbanist"/>
                          <a:sym typeface="Urbanist"/>
                        </a:rPr>
                        <a:t>Attack Tree</a:t>
                      </a:r>
                      <a:endParaRPr sz="2700"/>
                    </a:p>
                  </a:txBody>
                  <a:tcPr marL="95250" marR="95250" marT="38100" marB="38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11827"/>
                    </a:solidFill>
                  </a:tcPr>
                </a:tc>
                <a:extLst>
                  <a:ext uri="{0D108BD9-81ED-4DB2-BD59-A6C34878D82A}">
                    <a16:rowId xmlns:a16="http://schemas.microsoft.com/office/drawing/2014/main" val="10000"/>
                  </a:ext>
                </a:extLst>
              </a:tr>
              <a:tr h="1014413">
                <a:tc>
                  <a:txBody>
                    <a:bodyPr/>
                    <a:lstStyle/>
                    <a:p>
                      <a:pPr marL="0" marR="0" lvl="0" indent="0" algn="l" rtl="0">
                        <a:spcBef>
                          <a:spcPts val="0"/>
                        </a:spcBef>
                        <a:spcAft>
                          <a:spcPts val="0"/>
                        </a:spcAft>
                        <a:buNone/>
                      </a:pPr>
                      <a:r>
                        <a:rPr lang="en-US" sz="2300" b="0" i="0" u="none" strike="noStrike" cap="none" dirty="0">
                          <a:solidFill>
                            <a:schemeClr val="accent6">
                              <a:lumMod val="75000"/>
                            </a:schemeClr>
                          </a:solidFill>
                          <a:latin typeface="Urbanist"/>
                          <a:ea typeface="Urbanist"/>
                          <a:cs typeface="Urbanist"/>
                          <a:sym typeface="Urbanist"/>
                        </a:rPr>
                        <a:t>Primary Focus</a:t>
                      </a:r>
                      <a:endParaRPr sz="2700" dirty="0">
                        <a:solidFill>
                          <a:schemeClr val="accent6">
                            <a:lumMod val="75000"/>
                          </a:schemeClr>
                        </a:solidFill>
                      </a:endParaRPr>
                    </a:p>
                  </a:txBody>
                  <a:tcPr marL="95250" marR="95250" marT="38100" marB="38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tx1">
                        <a:lumMod val="85000"/>
                        <a:lumOff val="15000"/>
                      </a:schemeClr>
                    </a:solidFill>
                  </a:tcPr>
                </a:tc>
                <a:tc>
                  <a:txBody>
                    <a:bodyPr/>
                    <a:lstStyle/>
                    <a:p>
                      <a:pPr marL="0" marR="0" lvl="0" indent="0" algn="l" rtl="0">
                        <a:spcBef>
                          <a:spcPts val="0"/>
                        </a:spcBef>
                        <a:spcAft>
                          <a:spcPts val="0"/>
                        </a:spcAft>
                        <a:buNone/>
                      </a:pPr>
                      <a:r>
                        <a:rPr lang="en-US" sz="2300" b="0" i="0" u="none" strike="noStrike" cap="none" dirty="0">
                          <a:solidFill>
                            <a:schemeClr val="accent6">
                              <a:lumMod val="75000"/>
                            </a:schemeClr>
                          </a:solidFill>
                          <a:latin typeface="Urbanist"/>
                          <a:ea typeface="Urbanist"/>
                          <a:cs typeface="Urbanist"/>
                          <a:sym typeface="Urbanist"/>
                        </a:rPr>
                        <a:t>Identifies </a:t>
                      </a:r>
                      <a:r>
                        <a:rPr lang="en-US" sz="2300" b="1" i="0" u="none" strike="noStrike" cap="none" dirty="0">
                          <a:solidFill>
                            <a:schemeClr val="accent6">
                              <a:lumMod val="75000"/>
                            </a:schemeClr>
                          </a:solidFill>
                          <a:latin typeface="Urbanist"/>
                          <a:ea typeface="Urbanist"/>
                          <a:cs typeface="Urbanist"/>
                          <a:sym typeface="Urbanist"/>
                        </a:rPr>
                        <a:t>where</a:t>
                      </a:r>
                      <a:r>
                        <a:rPr lang="en-US" sz="2300" b="0" i="0" u="none" strike="noStrike" cap="none" dirty="0">
                          <a:solidFill>
                            <a:schemeClr val="accent6">
                              <a:lumMod val="75000"/>
                            </a:schemeClr>
                          </a:solidFill>
                          <a:latin typeface="Urbanist"/>
                          <a:ea typeface="Urbanist"/>
                          <a:cs typeface="Urbanist"/>
                          <a:sym typeface="Urbanist"/>
                        </a:rPr>
                        <a:t> attacks can occur</a:t>
                      </a:r>
                      <a:endParaRPr sz="2700" dirty="0">
                        <a:solidFill>
                          <a:schemeClr val="accent6">
                            <a:lumMod val="75000"/>
                          </a:schemeClr>
                        </a:solidFill>
                      </a:endParaRPr>
                    </a:p>
                  </a:txBody>
                  <a:tcPr marL="95250" marR="95250" marT="38100" marB="38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tx1">
                        <a:lumMod val="85000"/>
                        <a:lumOff val="15000"/>
                      </a:schemeClr>
                    </a:solidFill>
                  </a:tcPr>
                </a:tc>
                <a:tc>
                  <a:txBody>
                    <a:bodyPr/>
                    <a:lstStyle/>
                    <a:p>
                      <a:pPr marL="0" marR="0" lvl="0" indent="0" algn="l" rtl="0">
                        <a:spcBef>
                          <a:spcPts val="0"/>
                        </a:spcBef>
                        <a:spcAft>
                          <a:spcPts val="0"/>
                        </a:spcAft>
                        <a:buNone/>
                      </a:pPr>
                      <a:r>
                        <a:rPr lang="en-US" sz="2300" b="0" i="0" u="none" strike="noStrike" cap="none" dirty="0">
                          <a:solidFill>
                            <a:schemeClr val="accent6">
                              <a:lumMod val="75000"/>
                            </a:schemeClr>
                          </a:solidFill>
                          <a:latin typeface="Urbanist"/>
                          <a:ea typeface="Urbanist"/>
                          <a:cs typeface="Urbanist"/>
                          <a:sym typeface="Urbanist"/>
                        </a:rPr>
                        <a:t>Identifies </a:t>
                      </a:r>
                      <a:r>
                        <a:rPr lang="en-US" sz="2300" b="1" i="0" u="none" strike="noStrike" cap="none" dirty="0">
                          <a:solidFill>
                            <a:schemeClr val="accent6">
                              <a:lumMod val="75000"/>
                            </a:schemeClr>
                          </a:solidFill>
                          <a:latin typeface="Urbanist"/>
                          <a:ea typeface="Urbanist"/>
                          <a:cs typeface="Urbanist"/>
                          <a:sym typeface="Urbanist"/>
                        </a:rPr>
                        <a:t>how</a:t>
                      </a:r>
                      <a:r>
                        <a:rPr lang="en-US" sz="2300" b="0" i="0" u="none" strike="noStrike" cap="none" dirty="0">
                          <a:solidFill>
                            <a:schemeClr val="accent6">
                              <a:lumMod val="75000"/>
                            </a:schemeClr>
                          </a:solidFill>
                          <a:latin typeface="Urbanist"/>
                          <a:ea typeface="Urbanist"/>
                          <a:cs typeface="Urbanist"/>
                          <a:sym typeface="Urbanist"/>
                        </a:rPr>
                        <a:t> attacks can occur</a:t>
                      </a:r>
                      <a:endParaRPr sz="2700" dirty="0">
                        <a:solidFill>
                          <a:schemeClr val="accent6">
                            <a:lumMod val="75000"/>
                          </a:schemeClr>
                        </a:solidFill>
                      </a:endParaRPr>
                    </a:p>
                  </a:txBody>
                  <a:tcPr marL="95250" marR="95250" marT="38100" marB="38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tx1">
                        <a:lumMod val="85000"/>
                        <a:lumOff val="15000"/>
                      </a:schemeClr>
                    </a:solidFill>
                  </a:tcPr>
                </a:tc>
                <a:extLst>
                  <a:ext uri="{0D108BD9-81ED-4DB2-BD59-A6C34878D82A}">
                    <a16:rowId xmlns:a16="http://schemas.microsoft.com/office/drawing/2014/main" val="10001"/>
                  </a:ext>
                </a:extLst>
              </a:tr>
              <a:tr h="1014413">
                <a:tc>
                  <a:txBody>
                    <a:bodyPr/>
                    <a:lstStyle/>
                    <a:p>
                      <a:pPr marL="0" marR="0" lvl="0" indent="0" algn="l" rtl="0">
                        <a:spcBef>
                          <a:spcPts val="0"/>
                        </a:spcBef>
                        <a:spcAft>
                          <a:spcPts val="0"/>
                        </a:spcAft>
                        <a:buNone/>
                      </a:pPr>
                      <a:r>
                        <a:rPr lang="en-US" sz="2300" b="0" i="0" u="none" strike="noStrike" cap="none">
                          <a:solidFill>
                            <a:schemeClr val="accent6">
                              <a:lumMod val="75000"/>
                            </a:schemeClr>
                          </a:solidFill>
                          <a:latin typeface="Urbanist"/>
                          <a:ea typeface="Urbanist"/>
                          <a:cs typeface="Urbanist"/>
                          <a:sym typeface="Urbanist"/>
                        </a:rPr>
                        <a:t>Metric</a:t>
                      </a:r>
                      <a:endParaRPr sz="2700">
                        <a:solidFill>
                          <a:schemeClr val="accent6">
                            <a:lumMod val="75000"/>
                          </a:schemeClr>
                        </a:solidFill>
                      </a:endParaRPr>
                    </a:p>
                  </a:txBody>
                  <a:tcPr marL="95250" marR="95250" marT="38100" marB="38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tx1">
                        <a:lumMod val="85000"/>
                        <a:lumOff val="15000"/>
                      </a:schemeClr>
                    </a:solidFill>
                  </a:tcPr>
                </a:tc>
                <a:tc>
                  <a:txBody>
                    <a:bodyPr/>
                    <a:lstStyle/>
                    <a:p>
                      <a:pPr marL="0" marR="0" lvl="0" indent="0" algn="l" rtl="0">
                        <a:spcBef>
                          <a:spcPts val="0"/>
                        </a:spcBef>
                        <a:spcAft>
                          <a:spcPts val="0"/>
                        </a:spcAft>
                        <a:buNone/>
                      </a:pPr>
                      <a:r>
                        <a:rPr lang="en-US" sz="2300" b="0" i="0" u="none" strike="noStrike" cap="none">
                          <a:solidFill>
                            <a:schemeClr val="accent6">
                              <a:lumMod val="75000"/>
                            </a:schemeClr>
                          </a:solidFill>
                          <a:latin typeface="Urbanist"/>
                          <a:ea typeface="Urbanist"/>
                          <a:cs typeface="Urbanist"/>
                          <a:sym typeface="Urbanist"/>
                        </a:rPr>
                        <a:t>Measures total system exposure</a:t>
                      </a:r>
                      <a:endParaRPr sz="2700">
                        <a:solidFill>
                          <a:schemeClr val="accent6">
                            <a:lumMod val="75000"/>
                          </a:schemeClr>
                        </a:solidFill>
                      </a:endParaRPr>
                    </a:p>
                  </a:txBody>
                  <a:tcPr marL="95250" marR="95250" marT="38100" marB="38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tx1">
                        <a:lumMod val="85000"/>
                        <a:lumOff val="15000"/>
                      </a:schemeClr>
                    </a:solidFill>
                  </a:tcPr>
                </a:tc>
                <a:tc>
                  <a:txBody>
                    <a:bodyPr/>
                    <a:lstStyle/>
                    <a:p>
                      <a:pPr marL="0" marR="0" lvl="0" indent="0" algn="l" rtl="0">
                        <a:spcBef>
                          <a:spcPts val="0"/>
                        </a:spcBef>
                        <a:spcAft>
                          <a:spcPts val="0"/>
                        </a:spcAft>
                        <a:buNone/>
                      </a:pPr>
                      <a:r>
                        <a:rPr lang="en-US" sz="2300" b="0" i="0" u="none" strike="noStrike" cap="none" dirty="0">
                          <a:solidFill>
                            <a:schemeClr val="accent6">
                              <a:lumMod val="75000"/>
                            </a:schemeClr>
                          </a:solidFill>
                          <a:latin typeface="Urbanist"/>
                          <a:ea typeface="Urbanist"/>
                          <a:cs typeface="Urbanist"/>
                          <a:sym typeface="Urbanist"/>
                        </a:rPr>
                        <a:t>Models specific attack paths</a:t>
                      </a:r>
                      <a:endParaRPr sz="2700" dirty="0">
                        <a:solidFill>
                          <a:schemeClr val="accent6">
                            <a:lumMod val="75000"/>
                          </a:schemeClr>
                        </a:solidFill>
                      </a:endParaRPr>
                    </a:p>
                  </a:txBody>
                  <a:tcPr marL="95250" marR="95250" marT="38100" marB="38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tx1">
                        <a:lumMod val="85000"/>
                        <a:lumOff val="15000"/>
                      </a:schemeClr>
                    </a:solidFill>
                  </a:tcPr>
                </a:tc>
                <a:extLst>
                  <a:ext uri="{0D108BD9-81ED-4DB2-BD59-A6C34878D82A}">
                    <a16:rowId xmlns:a16="http://schemas.microsoft.com/office/drawing/2014/main" val="10002"/>
                  </a:ext>
                </a:extLst>
              </a:tr>
              <a:tr h="1014413">
                <a:tc>
                  <a:txBody>
                    <a:bodyPr/>
                    <a:lstStyle/>
                    <a:p>
                      <a:pPr marL="0" marR="0" lvl="0" indent="0" algn="l" rtl="0">
                        <a:spcBef>
                          <a:spcPts val="0"/>
                        </a:spcBef>
                        <a:spcAft>
                          <a:spcPts val="0"/>
                        </a:spcAft>
                        <a:buNone/>
                      </a:pPr>
                      <a:r>
                        <a:rPr lang="en-US" sz="2300" b="0" i="0" u="none" strike="noStrike" cap="none">
                          <a:solidFill>
                            <a:schemeClr val="accent6">
                              <a:lumMod val="75000"/>
                            </a:schemeClr>
                          </a:solidFill>
                          <a:latin typeface="Urbanist"/>
                          <a:ea typeface="Urbanist"/>
                          <a:cs typeface="Urbanist"/>
                          <a:sym typeface="Urbanist"/>
                        </a:rPr>
                        <a:t>Core Element</a:t>
                      </a:r>
                      <a:endParaRPr sz="2700">
                        <a:solidFill>
                          <a:schemeClr val="accent6">
                            <a:lumMod val="75000"/>
                          </a:schemeClr>
                        </a:solidFill>
                      </a:endParaRPr>
                    </a:p>
                  </a:txBody>
                  <a:tcPr marL="95250" marR="95250" marT="38100" marB="38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tx1">
                        <a:lumMod val="85000"/>
                        <a:lumOff val="15000"/>
                      </a:schemeClr>
                    </a:solidFill>
                  </a:tcPr>
                </a:tc>
                <a:tc>
                  <a:txBody>
                    <a:bodyPr/>
                    <a:lstStyle/>
                    <a:p>
                      <a:pPr marL="0" marR="0" lvl="0" indent="0" algn="l" rtl="0">
                        <a:spcBef>
                          <a:spcPts val="0"/>
                        </a:spcBef>
                        <a:spcAft>
                          <a:spcPts val="0"/>
                        </a:spcAft>
                        <a:buNone/>
                      </a:pPr>
                      <a:r>
                        <a:rPr lang="en-US" sz="2300" b="0" i="0" u="none" strike="noStrike" cap="none">
                          <a:solidFill>
                            <a:schemeClr val="accent6">
                              <a:lumMod val="75000"/>
                            </a:schemeClr>
                          </a:solidFill>
                          <a:latin typeface="Urbanist"/>
                          <a:ea typeface="Urbanist"/>
                          <a:cs typeface="Urbanist"/>
                          <a:sym typeface="Urbanist"/>
                        </a:rPr>
                        <a:t>Focuses on vulnerabilities</a:t>
                      </a:r>
                      <a:endParaRPr sz="2700">
                        <a:solidFill>
                          <a:schemeClr val="accent6">
                            <a:lumMod val="75000"/>
                          </a:schemeClr>
                        </a:solidFill>
                      </a:endParaRPr>
                    </a:p>
                  </a:txBody>
                  <a:tcPr marL="95250" marR="95250" marT="38100" marB="38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tx1">
                        <a:lumMod val="85000"/>
                        <a:lumOff val="15000"/>
                      </a:schemeClr>
                    </a:solidFill>
                  </a:tcPr>
                </a:tc>
                <a:tc>
                  <a:txBody>
                    <a:bodyPr/>
                    <a:lstStyle/>
                    <a:p>
                      <a:pPr marL="0" marR="0" lvl="0" indent="0" algn="l" rtl="0">
                        <a:spcBef>
                          <a:spcPts val="0"/>
                        </a:spcBef>
                        <a:spcAft>
                          <a:spcPts val="0"/>
                        </a:spcAft>
                        <a:buNone/>
                      </a:pPr>
                      <a:r>
                        <a:rPr lang="en-US" sz="2300" b="0" i="0" u="none" strike="noStrike" cap="none" dirty="0">
                          <a:solidFill>
                            <a:schemeClr val="accent6">
                              <a:lumMod val="75000"/>
                            </a:schemeClr>
                          </a:solidFill>
                          <a:latin typeface="Urbanist"/>
                          <a:ea typeface="Urbanist"/>
                          <a:cs typeface="Urbanist"/>
                          <a:sym typeface="Urbanist"/>
                        </a:rPr>
                        <a:t>Focuses on adversarial strategy</a:t>
                      </a:r>
                      <a:endParaRPr sz="2700" dirty="0">
                        <a:solidFill>
                          <a:schemeClr val="accent6">
                            <a:lumMod val="75000"/>
                          </a:schemeClr>
                        </a:solidFill>
                      </a:endParaRPr>
                    </a:p>
                  </a:txBody>
                  <a:tcPr marL="95250" marR="95250" marT="38100" marB="38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tx1">
                        <a:lumMod val="85000"/>
                        <a:lumOff val="15000"/>
                      </a:schemeClr>
                    </a:solidFill>
                  </a:tcPr>
                </a:tc>
                <a:extLst>
                  <a:ext uri="{0D108BD9-81ED-4DB2-BD59-A6C34878D82A}">
                    <a16:rowId xmlns:a16="http://schemas.microsoft.com/office/drawing/2014/main" val="10003"/>
                  </a:ext>
                </a:extLst>
              </a:tr>
              <a:tr h="1014413">
                <a:tc>
                  <a:txBody>
                    <a:bodyPr/>
                    <a:lstStyle/>
                    <a:p>
                      <a:pPr marL="0" marR="0" lvl="0" indent="0" algn="l" rtl="0">
                        <a:spcBef>
                          <a:spcPts val="0"/>
                        </a:spcBef>
                        <a:spcAft>
                          <a:spcPts val="0"/>
                        </a:spcAft>
                        <a:buNone/>
                      </a:pPr>
                      <a:r>
                        <a:rPr lang="en-US" sz="2300" b="0" i="0" u="none" strike="noStrike" cap="none">
                          <a:solidFill>
                            <a:schemeClr val="accent6">
                              <a:lumMod val="75000"/>
                            </a:schemeClr>
                          </a:solidFill>
                          <a:latin typeface="Urbanist"/>
                          <a:ea typeface="Urbanist"/>
                          <a:cs typeface="Urbanist"/>
                          <a:sym typeface="Urbanist"/>
                        </a:rPr>
                        <a:t>Use Case</a:t>
                      </a:r>
                      <a:endParaRPr sz="2700">
                        <a:solidFill>
                          <a:schemeClr val="accent6">
                            <a:lumMod val="75000"/>
                          </a:schemeClr>
                        </a:solidFill>
                      </a:endParaRPr>
                    </a:p>
                  </a:txBody>
                  <a:tcPr marL="95250" marR="95250" marT="38100" marB="38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tx1">
                        <a:lumMod val="85000"/>
                        <a:lumOff val="15000"/>
                      </a:schemeClr>
                    </a:solidFill>
                  </a:tcPr>
                </a:tc>
                <a:tc>
                  <a:txBody>
                    <a:bodyPr/>
                    <a:lstStyle/>
                    <a:p>
                      <a:pPr marL="0" marR="0" lvl="0" indent="0" algn="l" rtl="0">
                        <a:spcBef>
                          <a:spcPts val="0"/>
                        </a:spcBef>
                        <a:spcAft>
                          <a:spcPts val="0"/>
                        </a:spcAft>
                        <a:buNone/>
                      </a:pPr>
                      <a:r>
                        <a:rPr lang="en-US" sz="2300" b="0" i="0" u="none" strike="noStrike" cap="none">
                          <a:solidFill>
                            <a:schemeClr val="accent6">
                              <a:lumMod val="75000"/>
                            </a:schemeClr>
                          </a:solidFill>
                          <a:latin typeface="Urbanist"/>
                          <a:ea typeface="Urbanist"/>
                          <a:cs typeface="Urbanist"/>
                          <a:sym typeface="Urbanist"/>
                        </a:rPr>
                        <a:t>Reducing entry points</a:t>
                      </a:r>
                      <a:endParaRPr sz="2700">
                        <a:solidFill>
                          <a:schemeClr val="accent6">
                            <a:lumMod val="75000"/>
                          </a:schemeClr>
                        </a:solidFill>
                      </a:endParaRPr>
                    </a:p>
                  </a:txBody>
                  <a:tcPr marL="95250" marR="95250" marT="38100" marB="38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tx1">
                        <a:lumMod val="85000"/>
                        <a:lumOff val="15000"/>
                      </a:schemeClr>
                    </a:solidFill>
                  </a:tcPr>
                </a:tc>
                <a:tc>
                  <a:txBody>
                    <a:bodyPr/>
                    <a:lstStyle/>
                    <a:p>
                      <a:pPr marL="0" marR="0" lvl="0" indent="0" algn="l" rtl="0">
                        <a:spcBef>
                          <a:spcPts val="0"/>
                        </a:spcBef>
                        <a:spcAft>
                          <a:spcPts val="0"/>
                        </a:spcAft>
                        <a:buNone/>
                      </a:pPr>
                      <a:r>
                        <a:rPr lang="en-US" sz="2300" b="0" i="0" u="none" strike="noStrike" cap="none" dirty="0">
                          <a:solidFill>
                            <a:schemeClr val="accent6">
                              <a:lumMod val="75000"/>
                            </a:schemeClr>
                          </a:solidFill>
                          <a:latin typeface="Urbanist"/>
                          <a:ea typeface="Urbanist"/>
                          <a:cs typeface="Urbanist"/>
                          <a:sym typeface="Urbanist"/>
                        </a:rPr>
                        <a:t>Threat analysis and risk assessment</a:t>
                      </a:r>
                      <a:endParaRPr sz="2700" dirty="0">
                        <a:solidFill>
                          <a:schemeClr val="accent6">
                            <a:lumMod val="75000"/>
                          </a:schemeClr>
                        </a:solidFill>
                      </a:endParaRPr>
                    </a:p>
                  </a:txBody>
                  <a:tcPr marL="95250" marR="95250" marT="38100" marB="38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tx1">
                        <a:lumMod val="85000"/>
                        <a:lumOff val="15000"/>
                      </a:schemeClr>
                    </a:solidFill>
                  </a:tcPr>
                </a:tc>
                <a:extLst>
                  <a:ext uri="{0D108BD9-81ED-4DB2-BD59-A6C34878D82A}">
                    <a16:rowId xmlns:a16="http://schemas.microsoft.com/office/drawing/2014/main" val="10004"/>
                  </a:ext>
                </a:extLst>
              </a:tr>
            </a:tbl>
          </a:graphicData>
        </a:graphic>
      </p:graphicFrame>
      <p:sp>
        <p:nvSpPr>
          <p:cNvPr id="226" name="Google Shape;226;p23"/>
          <p:cNvSpPr/>
          <p:nvPr/>
        </p:nvSpPr>
        <p:spPr>
          <a:xfrm>
            <a:off x="871538" y="4264819"/>
            <a:ext cx="3084314" cy="14288"/>
          </a:xfrm>
          <a:prstGeom prst="rect">
            <a:avLst/>
          </a:prstGeom>
          <a:solidFill>
            <a:srgbClr val="1E293B"/>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227" name="Google Shape;227;p23"/>
          <p:cNvSpPr/>
          <p:nvPr/>
        </p:nvSpPr>
        <p:spPr>
          <a:xfrm>
            <a:off x="3955852" y="4264819"/>
            <a:ext cx="6568454" cy="14288"/>
          </a:xfrm>
          <a:prstGeom prst="rect">
            <a:avLst/>
          </a:prstGeom>
          <a:solidFill>
            <a:srgbClr val="1E293B"/>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228" name="Google Shape;228;p23"/>
          <p:cNvSpPr/>
          <p:nvPr/>
        </p:nvSpPr>
        <p:spPr>
          <a:xfrm>
            <a:off x="10524306" y="4264819"/>
            <a:ext cx="6892155" cy="14288"/>
          </a:xfrm>
          <a:prstGeom prst="rect">
            <a:avLst/>
          </a:prstGeom>
          <a:solidFill>
            <a:srgbClr val="1E293B"/>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229" name="Google Shape;229;p23"/>
          <p:cNvSpPr/>
          <p:nvPr/>
        </p:nvSpPr>
        <p:spPr>
          <a:xfrm>
            <a:off x="871538" y="5279231"/>
            <a:ext cx="3084314" cy="14288"/>
          </a:xfrm>
          <a:prstGeom prst="rect">
            <a:avLst/>
          </a:prstGeom>
          <a:solidFill>
            <a:srgbClr val="1E293B"/>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230" name="Google Shape;230;p23"/>
          <p:cNvSpPr/>
          <p:nvPr/>
        </p:nvSpPr>
        <p:spPr>
          <a:xfrm>
            <a:off x="3955852" y="5279231"/>
            <a:ext cx="6568454" cy="14288"/>
          </a:xfrm>
          <a:prstGeom prst="rect">
            <a:avLst/>
          </a:prstGeom>
          <a:solidFill>
            <a:srgbClr val="1E293B"/>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231" name="Google Shape;231;p23"/>
          <p:cNvSpPr/>
          <p:nvPr/>
        </p:nvSpPr>
        <p:spPr>
          <a:xfrm>
            <a:off x="10524306" y="5279231"/>
            <a:ext cx="6892155" cy="14288"/>
          </a:xfrm>
          <a:prstGeom prst="rect">
            <a:avLst/>
          </a:prstGeom>
          <a:solidFill>
            <a:srgbClr val="1E293B"/>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232" name="Google Shape;232;p23"/>
          <p:cNvSpPr/>
          <p:nvPr/>
        </p:nvSpPr>
        <p:spPr>
          <a:xfrm>
            <a:off x="871538" y="6293644"/>
            <a:ext cx="3084314" cy="14288"/>
          </a:xfrm>
          <a:prstGeom prst="rect">
            <a:avLst/>
          </a:prstGeom>
          <a:solidFill>
            <a:srgbClr val="1E293B"/>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233" name="Google Shape;233;p23"/>
          <p:cNvSpPr/>
          <p:nvPr/>
        </p:nvSpPr>
        <p:spPr>
          <a:xfrm>
            <a:off x="3955852" y="6293644"/>
            <a:ext cx="6568454" cy="14288"/>
          </a:xfrm>
          <a:prstGeom prst="rect">
            <a:avLst/>
          </a:prstGeom>
          <a:solidFill>
            <a:srgbClr val="1E293B"/>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234" name="Google Shape;234;p23"/>
          <p:cNvSpPr/>
          <p:nvPr/>
        </p:nvSpPr>
        <p:spPr>
          <a:xfrm>
            <a:off x="10524306" y="6293644"/>
            <a:ext cx="6892155" cy="14288"/>
          </a:xfrm>
          <a:prstGeom prst="rect">
            <a:avLst/>
          </a:prstGeom>
          <a:solidFill>
            <a:srgbClr val="1E293B"/>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235" name="Google Shape;235;p23"/>
          <p:cNvSpPr/>
          <p:nvPr/>
        </p:nvSpPr>
        <p:spPr>
          <a:xfrm>
            <a:off x="871538" y="7308056"/>
            <a:ext cx="3084314" cy="14288"/>
          </a:xfrm>
          <a:prstGeom prst="rect">
            <a:avLst/>
          </a:prstGeom>
          <a:solidFill>
            <a:srgbClr val="1E293B"/>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236" name="Google Shape;236;p23"/>
          <p:cNvSpPr/>
          <p:nvPr/>
        </p:nvSpPr>
        <p:spPr>
          <a:xfrm>
            <a:off x="3955852" y="7308056"/>
            <a:ext cx="6568454" cy="14288"/>
          </a:xfrm>
          <a:prstGeom prst="rect">
            <a:avLst/>
          </a:prstGeom>
          <a:solidFill>
            <a:srgbClr val="1E293B"/>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237" name="Google Shape;237;p23"/>
          <p:cNvSpPr/>
          <p:nvPr/>
        </p:nvSpPr>
        <p:spPr>
          <a:xfrm>
            <a:off x="10524306" y="7308056"/>
            <a:ext cx="6892155" cy="14288"/>
          </a:xfrm>
          <a:prstGeom prst="rect">
            <a:avLst/>
          </a:prstGeom>
          <a:solidFill>
            <a:srgbClr val="1E293B"/>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238" name="Google Shape;238;p23"/>
          <p:cNvSpPr/>
          <p:nvPr/>
        </p:nvSpPr>
        <p:spPr>
          <a:xfrm>
            <a:off x="871538" y="8322469"/>
            <a:ext cx="3084314" cy="14288"/>
          </a:xfrm>
          <a:prstGeom prst="rect">
            <a:avLst/>
          </a:prstGeom>
          <a:solidFill>
            <a:srgbClr val="1E293B"/>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239" name="Google Shape;239;p23"/>
          <p:cNvSpPr/>
          <p:nvPr/>
        </p:nvSpPr>
        <p:spPr>
          <a:xfrm>
            <a:off x="3955852" y="8322469"/>
            <a:ext cx="6568454" cy="14288"/>
          </a:xfrm>
          <a:prstGeom prst="rect">
            <a:avLst/>
          </a:prstGeom>
          <a:solidFill>
            <a:srgbClr val="1E293B"/>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240" name="Google Shape;240;p23"/>
          <p:cNvSpPr/>
          <p:nvPr/>
        </p:nvSpPr>
        <p:spPr>
          <a:xfrm>
            <a:off x="10524306" y="8322469"/>
            <a:ext cx="6892155" cy="14288"/>
          </a:xfrm>
          <a:prstGeom prst="rect">
            <a:avLst/>
          </a:prstGeom>
          <a:solidFill>
            <a:srgbClr val="1E293B"/>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241" name="Google Shape;241;p23"/>
          <p:cNvSpPr txBox="1"/>
          <p:nvPr/>
        </p:nvSpPr>
        <p:spPr>
          <a:xfrm>
            <a:off x="871538" y="871538"/>
            <a:ext cx="17372171" cy="761747"/>
          </a:xfrm>
          <a:prstGeom prst="rect">
            <a:avLst/>
          </a:prstGeom>
          <a:noFill/>
          <a:ln>
            <a:noFill/>
          </a:ln>
        </p:spPr>
        <p:txBody>
          <a:bodyPr spcFirstLastPara="1" wrap="square" lIns="0" tIns="0" rIns="0" bIns="0" anchor="t" anchorCtr="0">
            <a:spAutoFit/>
          </a:bodyPr>
          <a:lstStyle/>
          <a:p>
            <a:r>
              <a:rPr lang="en-US" sz="4950" b="1">
                <a:solidFill>
                  <a:srgbClr val="22D3EE"/>
                </a:solidFill>
                <a:latin typeface="Urbanist"/>
                <a:ea typeface="Urbanist"/>
                <a:cs typeface="Urbanist"/>
                <a:sym typeface="Urbanist"/>
              </a:rPr>
              <a:t>Strategic Comparison</a:t>
            </a:r>
            <a:endParaRPr sz="270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85" name="Google Shape;85;p13"/>
          <p:cNvSpPr txBox="1"/>
          <p:nvPr/>
        </p:nvSpPr>
        <p:spPr>
          <a:xfrm>
            <a:off x="871538" y="3600450"/>
            <a:ext cx="15271908" cy="1523494"/>
          </a:xfrm>
          <a:prstGeom prst="rect">
            <a:avLst/>
          </a:prstGeom>
          <a:noFill/>
          <a:ln>
            <a:noFill/>
          </a:ln>
        </p:spPr>
        <p:txBody>
          <a:bodyPr spcFirstLastPara="1" wrap="square" lIns="0" tIns="0" rIns="0" bIns="0" anchor="t" anchorCtr="0">
            <a:spAutoFit/>
          </a:bodyPr>
          <a:lstStyle/>
          <a:p>
            <a:pPr>
              <a:lnSpc>
                <a:spcPct val="110000"/>
              </a:lnSpc>
            </a:pPr>
            <a:r>
              <a:rPr lang="en-US" sz="9000" b="1">
                <a:solidFill>
                  <a:srgbClr val="F8FAFC"/>
                </a:solidFill>
                <a:latin typeface="Urbanist"/>
                <a:ea typeface="Urbanist"/>
                <a:cs typeface="Urbanist"/>
                <a:sym typeface="Urbanist"/>
              </a:rPr>
              <a:t>Computer Security Strategy</a:t>
            </a:r>
            <a:endParaRPr sz="2700"/>
          </a:p>
        </p:txBody>
      </p:sp>
      <p:sp>
        <p:nvSpPr>
          <p:cNvPr id="87" name="Google Shape;87;p13"/>
          <p:cNvSpPr txBox="1"/>
          <p:nvPr/>
        </p:nvSpPr>
        <p:spPr>
          <a:xfrm>
            <a:off x="1285876" y="6086475"/>
            <a:ext cx="14130338" cy="519373"/>
          </a:xfrm>
          <a:prstGeom prst="rect">
            <a:avLst/>
          </a:prstGeom>
          <a:noFill/>
          <a:ln>
            <a:noFill/>
          </a:ln>
        </p:spPr>
        <p:txBody>
          <a:bodyPr spcFirstLastPara="1" wrap="square" lIns="0" tIns="0" rIns="0" bIns="0" anchor="t" anchorCtr="0">
            <a:spAutoFit/>
          </a:bodyPr>
          <a:lstStyle/>
          <a:p>
            <a:pPr>
              <a:lnSpc>
                <a:spcPct val="150000"/>
              </a:lnSpc>
            </a:pPr>
            <a:r>
              <a:rPr lang="en-US" sz="2250">
                <a:solidFill>
                  <a:srgbClr val="94A3B8"/>
                </a:solidFill>
                <a:latin typeface="Urbanist"/>
                <a:ea typeface="Urbanist"/>
                <a:cs typeface="Urbanist"/>
                <a:sym typeface="Urbanist"/>
              </a:rPr>
              <a:t>Defining the fundamental framework for organizational security management.</a:t>
            </a:r>
            <a:endParaRPr sz="270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92" name="Google Shape;92;p14" descr="image.png"/>
          <p:cNvPicPr preferRelativeResize="0"/>
          <p:nvPr/>
        </p:nvPicPr>
        <p:blipFill rotWithShape="1">
          <a:blip r:embed="rId3">
            <a:alphaModFix/>
          </a:blip>
          <a:srcRect/>
          <a:stretch/>
        </p:blipFill>
        <p:spPr>
          <a:xfrm>
            <a:off x="0" y="0"/>
            <a:ext cx="18288000" cy="10287000"/>
          </a:xfrm>
          <a:prstGeom prst="rect">
            <a:avLst/>
          </a:prstGeom>
          <a:noFill/>
          <a:ln>
            <a:noFill/>
          </a:ln>
        </p:spPr>
      </p:pic>
      <p:pic>
        <p:nvPicPr>
          <p:cNvPr id="93" name="Google Shape;93;p14" descr="image.png"/>
          <p:cNvPicPr preferRelativeResize="0"/>
          <p:nvPr/>
        </p:nvPicPr>
        <p:blipFill rotWithShape="1">
          <a:blip r:embed="rId4">
            <a:alphaModFix/>
          </a:blip>
          <a:srcRect/>
          <a:stretch/>
        </p:blipFill>
        <p:spPr>
          <a:xfrm>
            <a:off x="9501188" y="2986088"/>
            <a:ext cx="7915275" cy="5715000"/>
          </a:xfrm>
          <a:prstGeom prst="rect">
            <a:avLst/>
          </a:prstGeom>
          <a:noFill/>
          <a:ln>
            <a:noFill/>
          </a:ln>
        </p:spPr>
      </p:pic>
      <p:pic>
        <p:nvPicPr>
          <p:cNvPr id="94" name="Google Shape;94;p14" descr="image.png"/>
          <p:cNvPicPr preferRelativeResize="0"/>
          <p:nvPr/>
        </p:nvPicPr>
        <p:blipFill rotWithShape="1">
          <a:blip r:embed="rId5">
            <a:alphaModFix/>
          </a:blip>
          <a:srcRect/>
          <a:stretch/>
        </p:blipFill>
        <p:spPr>
          <a:xfrm>
            <a:off x="871538" y="4129088"/>
            <a:ext cx="7915275" cy="2543175"/>
          </a:xfrm>
          <a:prstGeom prst="rect">
            <a:avLst/>
          </a:prstGeom>
          <a:noFill/>
          <a:ln>
            <a:noFill/>
          </a:ln>
        </p:spPr>
      </p:pic>
      <p:sp>
        <p:nvSpPr>
          <p:cNvPr id="95" name="Google Shape;95;p14"/>
          <p:cNvSpPr txBox="1"/>
          <p:nvPr/>
        </p:nvSpPr>
        <p:spPr>
          <a:xfrm>
            <a:off x="871538" y="2986088"/>
            <a:ext cx="7915275" cy="1038746"/>
          </a:xfrm>
          <a:prstGeom prst="rect">
            <a:avLst/>
          </a:prstGeom>
          <a:noFill/>
          <a:ln>
            <a:noFill/>
          </a:ln>
        </p:spPr>
        <p:txBody>
          <a:bodyPr spcFirstLastPara="1" wrap="square" lIns="0" tIns="0" rIns="0" bIns="0" anchor="t" anchorCtr="0">
            <a:spAutoFit/>
          </a:bodyPr>
          <a:lstStyle/>
          <a:p>
            <a:pPr>
              <a:lnSpc>
                <a:spcPct val="150000"/>
              </a:lnSpc>
            </a:pPr>
            <a:r>
              <a:rPr lang="en-US" sz="2250">
                <a:solidFill>
                  <a:srgbClr val="94A3B8"/>
                </a:solidFill>
                <a:latin typeface="Urbanist"/>
                <a:ea typeface="Urbanist"/>
                <a:cs typeface="Urbanist"/>
                <a:sym typeface="Urbanist"/>
              </a:rPr>
              <a:t>Computer security is not merely a technical problem; it is a management and organizational challenge.</a:t>
            </a:r>
            <a:endParaRPr sz="2700"/>
          </a:p>
        </p:txBody>
      </p:sp>
      <p:pic>
        <p:nvPicPr>
          <p:cNvPr id="96" name="Google Shape;96;p14" descr="image.png"/>
          <p:cNvPicPr preferRelativeResize="0"/>
          <p:nvPr/>
        </p:nvPicPr>
        <p:blipFill rotWithShape="1">
          <a:blip r:embed="rId6">
            <a:alphaModFix/>
          </a:blip>
          <a:srcRect/>
          <a:stretch/>
        </p:blipFill>
        <p:spPr>
          <a:xfrm>
            <a:off x="9515475" y="3000375"/>
            <a:ext cx="7886700" cy="5686425"/>
          </a:xfrm>
          <a:prstGeom prst="rect">
            <a:avLst/>
          </a:prstGeom>
          <a:noFill/>
          <a:ln>
            <a:noFill/>
          </a:ln>
        </p:spPr>
      </p:pic>
      <p:sp>
        <p:nvSpPr>
          <p:cNvPr id="97" name="Google Shape;97;p14"/>
          <p:cNvSpPr txBox="1"/>
          <p:nvPr/>
        </p:nvSpPr>
        <p:spPr>
          <a:xfrm>
            <a:off x="1314451" y="4572001"/>
            <a:ext cx="7380923" cy="450123"/>
          </a:xfrm>
          <a:prstGeom prst="rect">
            <a:avLst/>
          </a:prstGeom>
          <a:noFill/>
          <a:ln>
            <a:noFill/>
          </a:ln>
        </p:spPr>
        <p:txBody>
          <a:bodyPr spcFirstLastPara="1" wrap="square" lIns="0" tIns="0" rIns="0" bIns="0" anchor="t" anchorCtr="0">
            <a:spAutoFit/>
          </a:bodyPr>
          <a:lstStyle/>
          <a:p>
            <a:r>
              <a:rPr lang="en-US" sz="2925" b="1">
                <a:solidFill>
                  <a:srgbClr val="F8FAFC"/>
                </a:solidFill>
                <a:latin typeface="Urbanist"/>
                <a:ea typeface="Urbanist"/>
                <a:cs typeface="Urbanist"/>
                <a:sym typeface="Urbanist"/>
              </a:rPr>
              <a:t>Holistic Security</a:t>
            </a:r>
            <a:endParaRPr sz="2700"/>
          </a:p>
        </p:txBody>
      </p:sp>
      <p:sp>
        <p:nvSpPr>
          <p:cNvPr id="98" name="Google Shape;98;p14"/>
          <p:cNvSpPr txBox="1"/>
          <p:nvPr/>
        </p:nvSpPr>
        <p:spPr>
          <a:xfrm>
            <a:off x="1314450" y="5200651"/>
            <a:ext cx="7029450" cy="1038746"/>
          </a:xfrm>
          <a:prstGeom prst="rect">
            <a:avLst/>
          </a:prstGeom>
          <a:noFill/>
          <a:ln>
            <a:noFill/>
          </a:ln>
        </p:spPr>
        <p:txBody>
          <a:bodyPr spcFirstLastPara="1" wrap="square" lIns="0" tIns="0" rIns="0" bIns="0" anchor="t" anchorCtr="0">
            <a:spAutoFit/>
          </a:bodyPr>
          <a:lstStyle/>
          <a:p>
            <a:pPr>
              <a:lnSpc>
                <a:spcPct val="150000"/>
              </a:lnSpc>
            </a:pPr>
            <a:r>
              <a:rPr lang="en-US" sz="2250">
                <a:solidFill>
                  <a:srgbClr val="94A3B8"/>
                </a:solidFill>
                <a:latin typeface="Urbanist"/>
                <a:ea typeface="Urbanist"/>
                <a:cs typeface="Urbanist"/>
                <a:sym typeface="Urbanist"/>
              </a:rPr>
              <a:t>A comprehensive strategy integrates policy, technical implementation, assurance, and constant evaluation.</a:t>
            </a:r>
            <a:endParaRPr sz="2700"/>
          </a:p>
        </p:txBody>
      </p:sp>
      <p:sp>
        <p:nvSpPr>
          <p:cNvPr id="99" name="Google Shape;99;p14"/>
          <p:cNvSpPr txBox="1"/>
          <p:nvPr/>
        </p:nvSpPr>
        <p:spPr>
          <a:xfrm>
            <a:off x="871538" y="871538"/>
            <a:ext cx="17372171" cy="830997"/>
          </a:xfrm>
          <a:prstGeom prst="rect">
            <a:avLst/>
          </a:prstGeom>
          <a:noFill/>
          <a:ln>
            <a:noFill/>
          </a:ln>
        </p:spPr>
        <p:txBody>
          <a:bodyPr spcFirstLastPara="1" wrap="square" lIns="0" tIns="0" rIns="0" bIns="0" anchor="t" anchorCtr="0">
            <a:spAutoFit/>
          </a:bodyPr>
          <a:lstStyle/>
          <a:p>
            <a:r>
              <a:rPr lang="en-US" sz="5400" b="1">
                <a:solidFill>
                  <a:srgbClr val="F8FAFC"/>
                </a:solidFill>
                <a:latin typeface="Urbanist"/>
                <a:ea typeface="Urbanist"/>
                <a:cs typeface="Urbanist"/>
                <a:sym typeface="Urbanist"/>
              </a:rPr>
              <a:t>The Strategic </a:t>
            </a:r>
            <a:r>
              <a:rPr lang="en-US" sz="5400" b="1">
                <a:solidFill>
                  <a:srgbClr val="DEFF9A"/>
                </a:solidFill>
                <a:latin typeface="Urbanist"/>
                <a:ea typeface="Urbanist"/>
                <a:cs typeface="Urbanist"/>
                <a:sym typeface="Urbanist"/>
              </a:rPr>
              <a:t>Framework</a:t>
            </a:r>
            <a:endParaRPr sz="270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pic>
        <p:nvPicPr>
          <p:cNvPr id="104" name="Google Shape;104;p15" descr="image.png"/>
          <p:cNvPicPr preferRelativeResize="0"/>
          <p:nvPr/>
        </p:nvPicPr>
        <p:blipFill rotWithShape="1">
          <a:blip r:embed="rId3">
            <a:alphaModFix/>
          </a:blip>
          <a:srcRect/>
          <a:stretch/>
        </p:blipFill>
        <p:spPr>
          <a:xfrm>
            <a:off x="0" y="0"/>
            <a:ext cx="18288000" cy="10287000"/>
          </a:xfrm>
          <a:prstGeom prst="rect">
            <a:avLst/>
          </a:prstGeom>
          <a:noFill/>
          <a:ln>
            <a:noFill/>
          </a:ln>
        </p:spPr>
      </p:pic>
      <p:pic>
        <p:nvPicPr>
          <p:cNvPr id="105" name="Google Shape;105;p15" descr="image.png"/>
          <p:cNvPicPr preferRelativeResize="0"/>
          <p:nvPr/>
        </p:nvPicPr>
        <p:blipFill rotWithShape="1">
          <a:blip r:embed="rId4">
            <a:alphaModFix/>
          </a:blip>
          <a:srcRect/>
          <a:stretch/>
        </p:blipFill>
        <p:spPr>
          <a:xfrm>
            <a:off x="871538" y="3657600"/>
            <a:ext cx="3868340" cy="4371975"/>
          </a:xfrm>
          <a:prstGeom prst="rect">
            <a:avLst/>
          </a:prstGeom>
          <a:noFill/>
          <a:ln>
            <a:noFill/>
          </a:ln>
        </p:spPr>
      </p:pic>
      <p:pic>
        <p:nvPicPr>
          <p:cNvPr id="106" name="Google Shape;106;p15" descr="image.png"/>
          <p:cNvPicPr preferRelativeResize="0"/>
          <p:nvPr/>
        </p:nvPicPr>
        <p:blipFill rotWithShape="1">
          <a:blip r:embed="rId5">
            <a:alphaModFix/>
          </a:blip>
          <a:srcRect/>
          <a:stretch/>
        </p:blipFill>
        <p:spPr>
          <a:xfrm>
            <a:off x="5097065" y="3657600"/>
            <a:ext cx="3868340" cy="4371975"/>
          </a:xfrm>
          <a:prstGeom prst="rect">
            <a:avLst/>
          </a:prstGeom>
          <a:noFill/>
          <a:ln>
            <a:noFill/>
          </a:ln>
        </p:spPr>
      </p:pic>
      <p:pic>
        <p:nvPicPr>
          <p:cNvPr id="107" name="Google Shape;107;p15" descr="image.png"/>
          <p:cNvPicPr preferRelativeResize="0"/>
          <p:nvPr/>
        </p:nvPicPr>
        <p:blipFill rotWithShape="1">
          <a:blip r:embed="rId6">
            <a:alphaModFix/>
          </a:blip>
          <a:srcRect/>
          <a:stretch/>
        </p:blipFill>
        <p:spPr>
          <a:xfrm>
            <a:off x="9322594" y="3657600"/>
            <a:ext cx="3868340" cy="4371975"/>
          </a:xfrm>
          <a:prstGeom prst="rect">
            <a:avLst/>
          </a:prstGeom>
          <a:noFill/>
          <a:ln>
            <a:noFill/>
          </a:ln>
        </p:spPr>
      </p:pic>
      <p:pic>
        <p:nvPicPr>
          <p:cNvPr id="108" name="Google Shape;108;p15" descr="image.png"/>
          <p:cNvPicPr preferRelativeResize="0"/>
          <p:nvPr/>
        </p:nvPicPr>
        <p:blipFill rotWithShape="1">
          <a:blip r:embed="rId7">
            <a:alphaModFix/>
          </a:blip>
          <a:srcRect/>
          <a:stretch/>
        </p:blipFill>
        <p:spPr>
          <a:xfrm>
            <a:off x="13548122" y="3657600"/>
            <a:ext cx="3868340" cy="4371975"/>
          </a:xfrm>
          <a:prstGeom prst="rect">
            <a:avLst/>
          </a:prstGeom>
          <a:noFill/>
          <a:ln>
            <a:noFill/>
          </a:ln>
        </p:spPr>
      </p:pic>
      <p:sp>
        <p:nvSpPr>
          <p:cNvPr id="109" name="Google Shape;109;p15"/>
          <p:cNvSpPr txBox="1"/>
          <p:nvPr/>
        </p:nvSpPr>
        <p:spPr>
          <a:xfrm>
            <a:off x="1314450" y="5072063"/>
            <a:ext cx="3131640" cy="450123"/>
          </a:xfrm>
          <a:prstGeom prst="rect">
            <a:avLst/>
          </a:prstGeom>
          <a:noFill/>
          <a:ln>
            <a:noFill/>
          </a:ln>
        </p:spPr>
        <p:txBody>
          <a:bodyPr spcFirstLastPara="1" wrap="square" lIns="0" tIns="0" rIns="0" bIns="0" anchor="t" anchorCtr="0">
            <a:spAutoFit/>
          </a:bodyPr>
          <a:lstStyle/>
          <a:p>
            <a:r>
              <a:rPr lang="en-US" sz="2925" b="1">
                <a:solidFill>
                  <a:srgbClr val="F8FAFC"/>
                </a:solidFill>
                <a:latin typeface="Urbanist"/>
                <a:ea typeface="Urbanist"/>
                <a:cs typeface="Urbanist"/>
                <a:sym typeface="Urbanist"/>
              </a:rPr>
              <a:t>Policy</a:t>
            </a:r>
            <a:endParaRPr sz="2700"/>
          </a:p>
        </p:txBody>
      </p:sp>
      <p:sp>
        <p:nvSpPr>
          <p:cNvPr id="110" name="Google Shape;110;p15"/>
          <p:cNvSpPr txBox="1"/>
          <p:nvPr/>
        </p:nvSpPr>
        <p:spPr>
          <a:xfrm>
            <a:off x="1314451" y="5700713"/>
            <a:ext cx="2982515" cy="1558119"/>
          </a:xfrm>
          <a:prstGeom prst="rect">
            <a:avLst/>
          </a:prstGeom>
          <a:noFill/>
          <a:ln>
            <a:noFill/>
          </a:ln>
        </p:spPr>
        <p:txBody>
          <a:bodyPr spcFirstLastPara="1" wrap="square" lIns="0" tIns="0" rIns="0" bIns="0" anchor="t" anchorCtr="0">
            <a:spAutoFit/>
          </a:bodyPr>
          <a:lstStyle/>
          <a:p>
            <a:pPr>
              <a:lnSpc>
                <a:spcPct val="150000"/>
              </a:lnSpc>
            </a:pPr>
            <a:r>
              <a:rPr lang="en-US" sz="2250">
                <a:solidFill>
                  <a:srgbClr val="94A3B8"/>
                </a:solidFill>
                <a:latin typeface="Urbanist"/>
                <a:ea typeface="Urbanist"/>
                <a:cs typeface="Urbanist"/>
                <a:sym typeface="Urbanist"/>
              </a:rPr>
              <a:t>A formal statement of rules and practices to be followed.</a:t>
            </a:r>
            <a:endParaRPr sz="2700"/>
          </a:p>
        </p:txBody>
      </p:sp>
      <p:sp>
        <p:nvSpPr>
          <p:cNvPr id="111" name="Google Shape;111;p15"/>
          <p:cNvSpPr txBox="1"/>
          <p:nvPr/>
        </p:nvSpPr>
        <p:spPr>
          <a:xfrm>
            <a:off x="5539977" y="5072063"/>
            <a:ext cx="3131640" cy="450123"/>
          </a:xfrm>
          <a:prstGeom prst="rect">
            <a:avLst/>
          </a:prstGeom>
          <a:noFill/>
          <a:ln>
            <a:noFill/>
          </a:ln>
        </p:spPr>
        <p:txBody>
          <a:bodyPr spcFirstLastPara="1" wrap="square" lIns="0" tIns="0" rIns="0" bIns="0" anchor="t" anchorCtr="0">
            <a:spAutoFit/>
          </a:bodyPr>
          <a:lstStyle/>
          <a:p>
            <a:r>
              <a:rPr lang="en-US" sz="2925" b="1">
                <a:solidFill>
                  <a:srgbClr val="F8FAFC"/>
                </a:solidFill>
                <a:latin typeface="Urbanist"/>
                <a:ea typeface="Urbanist"/>
                <a:cs typeface="Urbanist"/>
                <a:sym typeface="Urbanist"/>
              </a:rPr>
              <a:t>Implementation</a:t>
            </a:r>
            <a:endParaRPr sz="2700"/>
          </a:p>
        </p:txBody>
      </p:sp>
      <p:sp>
        <p:nvSpPr>
          <p:cNvPr id="112" name="Google Shape;112;p15"/>
          <p:cNvSpPr txBox="1"/>
          <p:nvPr/>
        </p:nvSpPr>
        <p:spPr>
          <a:xfrm>
            <a:off x="5539978" y="5700713"/>
            <a:ext cx="2982515" cy="2077492"/>
          </a:xfrm>
          <a:prstGeom prst="rect">
            <a:avLst/>
          </a:prstGeom>
          <a:noFill/>
          <a:ln>
            <a:noFill/>
          </a:ln>
        </p:spPr>
        <p:txBody>
          <a:bodyPr spcFirstLastPara="1" wrap="square" lIns="0" tIns="0" rIns="0" bIns="0" anchor="t" anchorCtr="0">
            <a:spAutoFit/>
          </a:bodyPr>
          <a:lstStyle/>
          <a:p>
            <a:pPr>
              <a:lnSpc>
                <a:spcPct val="150000"/>
              </a:lnSpc>
            </a:pPr>
            <a:r>
              <a:rPr lang="en-US" sz="2250">
                <a:solidFill>
                  <a:srgbClr val="94A3B8"/>
                </a:solidFill>
                <a:latin typeface="Urbanist"/>
                <a:ea typeface="Urbanist"/>
                <a:cs typeface="Urbanist"/>
                <a:sym typeface="Urbanist"/>
              </a:rPr>
              <a:t>Technical and organizational mechanisms used to enforce policy.</a:t>
            </a:r>
            <a:endParaRPr sz="2700"/>
          </a:p>
        </p:txBody>
      </p:sp>
      <p:sp>
        <p:nvSpPr>
          <p:cNvPr id="113" name="Google Shape;113;p15"/>
          <p:cNvSpPr txBox="1"/>
          <p:nvPr/>
        </p:nvSpPr>
        <p:spPr>
          <a:xfrm>
            <a:off x="9765506" y="5072063"/>
            <a:ext cx="3131640" cy="450123"/>
          </a:xfrm>
          <a:prstGeom prst="rect">
            <a:avLst/>
          </a:prstGeom>
          <a:noFill/>
          <a:ln>
            <a:noFill/>
          </a:ln>
        </p:spPr>
        <p:txBody>
          <a:bodyPr spcFirstLastPara="1" wrap="square" lIns="0" tIns="0" rIns="0" bIns="0" anchor="t" anchorCtr="0">
            <a:spAutoFit/>
          </a:bodyPr>
          <a:lstStyle/>
          <a:p>
            <a:r>
              <a:rPr lang="en-US" sz="2925" b="1">
                <a:solidFill>
                  <a:srgbClr val="F8FAFC"/>
                </a:solidFill>
                <a:latin typeface="Urbanist"/>
                <a:ea typeface="Urbanist"/>
                <a:cs typeface="Urbanist"/>
                <a:sym typeface="Urbanist"/>
              </a:rPr>
              <a:t>Assurance</a:t>
            </a:r>
            <a:endParaRPr sz="2700"/>
          </a:p>
        </p:txBody>
      </p:sp>
      <p:sp>
        <p:nvSpPr>
          <p:cNvPr id="114" name="Google Shape;114;p15"/>
          <p:cNvSpPr txBox="1"/>
          <p:nvPr/>
        </p:nvSpPr>
        <p:spPr>
          <a:xfrm>
            <a:off x="9765506" y="5700713"/>
            <a:ext cx="2982515" cy="1558119"/>
          </a:xfrm>
          <a:prstGeom prst="rect">
            <a:avLst/>
          </a:prstGeom>
          <a:noFill/>
          <a:ln>
            <a:noFill/>
          </a:ln>
        </p:spPr>
        <p:txBody>
          <a:bodyPr spcFirstLastPara="1" wrap="square" lIns="0" tIns="0" rIns="0" bIns="0" anchor="t" anchorCtr="0">
            <a:spAutoFit/>
          </a:bodyPr>
          <a:lstStyle/>
          <a:p>
            <a:pPr>
              <a:lnSpc>
                <a:spcPct val="150000"/>
              </a:lnSpc>
            </a:pPr>
            <a:r>
              <a:rPr lang="en-US" sz="2250">
                <a:solidFill>
                  <a:srgbClr val="94A3B8"/>
                </a:solidFill>
                <a:latin typeface="Urbanist"/>
                <a:ea typeface="Urbanist"/>
                <a:cs typeface="Urbanist"/>
                <a:sym typeface="Urbanist"/>
              </a:rPr>
              <a:t>Confidence that security measures work as intended.</a:t>
            </a:r>
            <a:endParaRPr sz="2700"/>
          </a:p>
        </p:txBody>
      </p:sp>
      <p:sp>
        <p:nvSpPr>
          <p:cNvPr id="115" name="Google Shape;115;p15"/>
          <p:cNvSpPr txBox="1"/>
          <p:nvPr/>
        </p:nvSpPr>
        <p:spPr>
          <a:xfrm>
            <a:off x="13991034" y="5072063"/>
            <a:ext cx="3131640" cy="450123"/>
          </a:xfrm>
          <a:prstGeom prst="rect">
            <a:avLst/>
          </a:prstGeom>
          <a:noFill/>
          <a:ln>
            <a:noFill/>
          </a:ln>
        </p:spPr>
        <p:txBody>
          <a:bodyPr spcFirstLastPara="1" wrap="square" lIns="0" tIns="0" rIns="0" bIns="0" anchor="t" anchorCtr="0">
            <a:spAutoFit/>
          </a:bodyPr>
          <a:lstStyle/>
          <a:p>
            <a:r>
              <a:rPr lang="en-US" sz="2925" b="1">
                <a:solidFill>
                  <a:srgbClr val="F8FAFC"/>
                </a:solidFill>
                <a:latin typeface="Urbanist"/>
                <a:ea typeface="Urbanist"/>
                <a:cs typeface="Urbanist"/>
                <a:sym typeface="Urbanist"/>
              </a:rPr>
              <a:t>Evaluation</a:t>
            </a:r>
            <a:endParaRPr sz="2700"/>
          </a:p>
        </p:txBody>
      </p:sp>
      <p:sp>
        <p:nvSpPr>
          <p:cNvPr id="116" name="Google Shape;116;p15"/>
          <p:cNvSpPr txBox="1"/>
          <p:nvPr/>
        </p:nvSpPr>
        <p:spPr>
          <a:xfrm>
            <a:off x="13991035" y="5700713"/>
            <a:ext cx="2982515" cy="1558119"/>
          </a:xfrm>
          <a:prstGeom prst="rect">
            <a:avLst/>
          </a:prstGeom>
          <a:noFill/>
          <a:ln>
            <a:noFill/>
          </a:ln>
        </p:spPr>
        <p:txBody>
          <a:bodyPr spcFirstLastPara="1" wrap="square" lIns="0" tIns="0" rIns="0" bIns="0" anchor="t" anchorCtr="0">
            <a:spAutoFit/>
          </a:bodyPr>
          <a:lstStyle/>
          <a:p>
            <a:pPr>
              <a:lnSpc>
                <a:spcPct val="150000"/>
              </a:lnSpc>
            </a:pPr>
            <a:r>
              <a:rPr lang="en-US" sz="2250">
                <a:solidFill>
                  <a:srgbClr val="94A3B8"/>
                </a:solidFill>
                <a:latin typeface="Urbanist"/>
                <a:ea typeface="Urbanist"/>
                <a:cs typeface="Urbanist"/>
                <a:sym typeface="Urbanist"/>
              </a:rPr>
              <a:t>Periodic review and testing of security effectiveness.</a:t>
            </a:r>
            <a:endParaRPr sz="2700"/>
          </a:p>
        </p:txBody>
      </p:sp>
      <p:pic>
        <p:nvPicPr>
          <p:cNvPr id="117" name="Google Shape;117;p15" descr="image.png"/>
          <p:cNvPicPr preferRelativeResize="0"/>
          <p:nvPr/>
        </p:nvPicPr>
        <p:blipFill rotWithShape="1">
          <a:blip r:embed="rId8">
            <a:alphaModFix/>
          </a:blip>
          <a:srcRect/>
          <a:stretch/>
        </p:blipFill>
        <p:spPr>
          <a:xfrm>
            <a:off x="1314450" y="4143375"/>
            <a:ext cx="428625" cy="571500"/>
          </a:xfrm>
          <a:prstGeom prst="rect">
            <a:avLst/>
          </a:prstGeom>
          <a:noFill/>
          <a:ln>
            <a:noFill/>
          </a:ln>
        </p:spPr>
      </p:pic>
      <p:pic>
        <p:nvPicPr>
          <p:cNvPr id="118" name="Google Shape;118;p15" descr="image.png"/>
          <p:cNvPicPr preferRelativeResize="0"/>
          <p:nvPr/>
        </p:nvPicPr>
        <p:blipFill rotWithShape="1">
          <a:blip r:embed="rId9">
            <a:alphaModFix/>
          </a:blip>
          <a:srcRect/>
          <a:stretch/>
        </p:blipFill>
        <p:spPr>
          <a:xfrm>
            <a:off x="5539977" y="4143375"/>
            <a:ext cx="571500" cy="571500"/>
          </a:xfrm>
          <a:prstGeom prst="rect">
            <a:avLst/>
          </a:prstGeom>
          <a:noFill/>
          <a:ln>
            <a:noFill/>
          </a:ln>
        </p:spPr>
      </p:pic>
      <p:pic>
        <p:nvPicPr>
          <p:cNvPr id="119" name="Google Shape;119;p15" descr="image.png"/>
          <p:cNvPicPr preferRelativeResize="0"/>
          <p:nvPr/>
        </p:nvPicPr>
        <p:blipFill rotWithShape="1">
          <a:blip r:embed="rId10">
            <a:alphaModFix/>
          </a:blip>
          <a:srcRect/>
          <a:stretch/>
        </p:blipFill>
        <p:spPr>
          <a:xfrm>
            <a:off x="13991034" y="4143375"/>
            <a:ext cx="571500" cy="571500"/>
          </a:xfrm>
          <a:prstGeom prst="rect">
            <a:avLst/>
          </a:prstGeom>
          <a:noFill/>
          <a:ln>
            <a:noFill/>
          </a:ln>
        </p:spPr>
      </p:pic>
      <p:sp>
        <p:nvSpPr>
          <p:cNvPr id="120" name="Google Shape;120;p15"/>
          <p:cNvSpPr txBox="1"/>
          <p:nvPr/>
        </p:nvSpPr>
        <p:spPr>
          <a:xfrm>
            <a:off x="871538" y="871538"/>
            <a:ext cx="17372171" cy="830997"/>
          </a:xfrm>
          <a:prstGeom prst="rect">
            <a:avLst/>
          </a:prstGeom>
          <a:noFill/>
          <a:ln>
            <a:noFill/>
          </a:ln>
        </p:spPr>
        <p:txBody>
          <a:bodyPr spcFirstLastPara="1" wrap="square" lIns="0" tIns="0" rIns="0" bIns="0" anchor="t" anchorCtr="0">
            <a:spAutoFit/>
          </a:bodyPr>
          <a:lstStyle/>
          <a:p>
            <a:r>
              <a:rPr lang="en-US" sz="5400" b="1">
                <a:solidFill>
                  <a:srgbClr val="F8FAFC"/>
                </a:solidFill>
                <a:latin typeface="Urbanist"/>
                <a:ea typeface="Urbanist"/>
                <a:cs typeface="Urbanist"/>
                <a:sym typeface="Urbanist"/>
              </a:rPr>
              <a:t>The Four </a:t>
            </a:r>
            <a:r>
              <a:rPr lang="en-US" sz="5400" b="1">
                <a:solidFill>
                  <a:srgbClr val="DEFF9A"/>
                </a:solidFill>
                <a:latin typeface="Urbanist"/>
                <a:ea typeface="Urbanist"/>
                <a:cs typeface="Urbanist"/>
                <a:sym typeface="Urbanist"/>
              </a:rPr>
              <a:t>Pillars</a:t>
            </a:r>
            <a:r>
              <a:rPr lang="en-US" sz="5400" b="1">
                <a:solidFill>
                  <a:srgbClr val="F8FAFC"/>
                </a:solidFill>
                <a:latin typeface="Urbanist"/>
                <a:ea typeface="Urbanist"/>
                <a:cs typeface="Urbanist"/>
                <a:sym typeface="Urbanist"/>
              </a:rPr>
              <a:t> of Strategy</a:t>
            </a:r>
            <a:endParaRPr sz="270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pic>
        <p:nvPicPr>
          <p:cNvPr id="125" name="Google Shape;125;p16" descr="image.png"/>
          <p:cNvPicPr preferRelativeResize="0"/>
          <p:nvPr/>
        </p:nvPicPr>
        <p:blipFill rotWithShape="1">
          <a:blip r:embed="rId3">
            <a:alphaModFix/>
          </a:blip>
          <a:srcRect/>
          <a:stretch/>
        </p:blipFill>
        <p:spPr>
          <a:xfrm>
            <a:off x="0" y="0"/>
            <a:ext cx="18288000" cy="10287000"/>
          </a:xfrm>
          <a:prstGeom prst="rect">
            <a:avLst/>
          </a:prstGeom>
          <a:noFill/>
          <a:ln>
            <a:noFill/>
          </a:ln>
        </p:spPr>
      </p:pic>
      <p:pic>
        <p:nvPicPr>
          <p:cNvPr id="126" name="Google Shape;126;p16" descr="image.png"/>
          <p:cNvPicPr preferRelativeResize="0"/>
          <p:nvPr/>
        </p:nvPicPr>
        <p:blipFill rotWithShape="1">
          <a:blip r:embed="rId4">
            <a:alphaModFix/>
          </a:blip>
          <a:srcRect/>
          <a:stretch/>
        </p:blipFill>
        <p:spPr>
          <a:xfrm>
            <a:off x="871538" y="2986088"/>
            <a:ext cx="7915275" cy="5715000"/>
          </a:xfrm>
          <a:prstGeom prst="rect">
            <a:avLst/>
          </a:prstGeom>
          <a:noFill/>
          <a:ln>
            <a:noFill/>
          </a:ln>
        </p:spPr>
      </p:pic>
      <p:pic>
        <p:nvPicPr>
          <p:cNvPr id="127" name="Google Shape;127;p16" descr="image.png"/>
          <p:cNvPicPr preferRelativeResize="0"/>
          <p:nvPr/>
        </p:nvPicPr>
        <p:blipFill rotWithShape="1">
          <a:blip r:embed="rId5">
            <a:alphaModFix/>
          </a:blip>
          <a:srcRect/>
          <a:stretch/>
        </p:blipFill>
        <p:spPr>
          <a:xfrm>
            <a:off x="885825" y="3000375"/>
            <a:ext cx="7886700" cy="5686425"/>
          </a:xfrm>
          <a:prstGeom prst="rect">
            <a:avLst/>
          </a:prstGeom>
          <a:noFill/>
          <a:ln>
            <a:noFill/>
          </a:ln>
        </p:spPr>
      </p:pic>
      <p:sp>
        <p:nvSpPr>
          <p:cNvPr id="128" name="Google Shape;128;p16"/>
          <p:cNvSpPr txBox="1"/>
          <p:nvPr/>
        </p:nvSpPr>
        <p:spPr>
          <a:xfrm>
            <a:off x="9501188" y="2986088"/>
            <a:ext cx="8311038" cy="324063"/>
          </a:xfrm>
          <a:prstGeom prst="rect">
            <a:avLst/>
          </a:prstGeom>
          <a:noFill/>
          <a:ln>
            <a:noFill/>
          </a:ln>
        </p:spPr>
        <p:txBody>
          <a:bodyPr spcFirstLastPara="1" wrap="square" lIns="0" tIns="0" rIns="0" bIns="0" anchor="t" anchorCtr="0">
            <a:spAutoFit/>
          </a:bodyPr>
          <a:lstStyle/>
          <a:p>
            <a:r>
              <a:rPr lang="en-US" sz="2106" b="1">
                <a:solidFill>
                  <a:srgbClr val="F8FAFC"/>
                </a:solidFill>
                <a:latin typeface="Urbanist"/>
                <a:ea typeface="Urbanist"/>
                <a:cs typeface="Urbanist"/>
                <a:sym typeface="Urbanist"/>
              </a:rPr>
              <a:t>What is Permitted?</a:t>
            </a:r>
            <a:endParaRPr sz="2700"/>
          </a:p>
        </p:txBody>
      </p:sp>
      <p:sp>
        <p:nvSpPr>
          <p:cNvPr id="129" name="Google Shape;129;p16"/>
          <p:cNvSpPr txBox="1"/>
          <p:nvPr/>
        </p:nvSpPr>
        <p:spPr>
          <a:xfrm>
            <a:off x="9501188" y="3314701"/>
            <a:ext cx="7915275" cy="1038746"/>
          </a:xfrm>
          <a:prstGeom prst="rect">
            <a:avLst/>
          </a:prstGeom>
          <a:noFill/>
          <a:ln>
            <a:noFill/>
          </a:ln>
        </p:spPr>
        <p:txBody>
          <a:bodyPr spcFirstLastPara="1" wrap="square" lIns="0" tIns="0" rIns="0" bIns="0" anchor="t" anchorCtr="0">
            <a:spAutoFit/>
          </a:bodyPr>
          <a:lstStyle/>
          <a:p>
            <a:pPr>
              <a:lnSpc>
                <a:spcPct val="150000"/>
              </a:lnSpc>
            </a:pPr>
            <a:r>
              <a:rPr lang="en-US" sz="2250">
                <a:solidFill>
                  <a:srgbClr val="94A3B8"/>
                </a:solidFill>
                <a:latin typeface="Urbanist"/>
                <a:ea typeface="Urbanist"/>
                <a:cs typeface="Urbanist"/>
                <a:sym typeface="Urbanist"/>
              </a:rPr>
              <a:t>Security policy is the "law" of the system. It defines what is allowed and what is disallowed.</a:t>
            </a:r>
            <a:endParaRPr sz="2700"/>
          </a:p>
        </p:txBody>
      </p:sp>
      <p:sp>
        <p:nvSpPr>
          <p:cNvPr id="130" name="Google Shape;130;p16"/>
          <p:cNvSpPr txBox="1"/>
          <p:nvPr/>
        </p:nvSpPr>
        <p:spPr>
          <a:xfrm>
            <a:off x="10072688" y="4400550"/>
            <a:ext cx="7343775" cy="519373"/>
          </a:xfrm>
          <a:prstGeom prst="rect">
            <a:avLst/>
          </a:prstGeom>
          <a:noFill/>
          <a:ln>
            <a:noFill/>
          </a:ln>
        </p:spPr>
        <p:txBody>
          <a:bodyPr spcFirstLastPara="1" wrap="square" lIns="0" tIns="0" rIns="0" bIns="0" anchor="t" anchorCtr="0">
            <a:spAutoFit/>
          </a:bodyPr>
          <a:lstStyle/>
          <a:p>
            <a:pPr>
              <a:lnSpc>
                <a:spcPct val="150000"/>
              </a:lnSpc>
            </a:pPr>
            <a:r>
              <a:rPr lang="en-US" sz="2250">
                <a:solidFill>
                  <a:srgbClr val="94A3B8"/>
                </a:solidFill>
                <a:latin typeface="Urbanist"/>
                <a:ea typeface="Urbanist"/>
                <a:cs typeface="Urbanist"/>
                <a:sym typeface="Urbanist"/>
              </a:rPr>
              <a:t>Asset Valuation: What needs protection?</a:t>
            </a:r>
            <a:endParaRPr sz="2700"/>
          </a:p>
        </p:txBody>
      </p:sp>
      <p:sp>
        <p:nvSpPr>
          <p:cNvPr id="131" name="Google Shape;131;p16"/>
          <p:cNvSpPr txBox="1"/>
          <p:nvPr/>
        </p:nvSpPr>
        <p:spPr>
          <a:xfrm>
            <a:off x="10072688" y="5043488"/>
            <a:ext cx="7343775" cy="519373"/>
          </a:xfrm>
          <a:prstGeom prst="rect">
            <a:avLst/>
          </a:prstGeom>
          <a:noFill/>
          <a:ln>
            <a:noFill/>
          </a:ln>
        </p:spPr>
        <p:txBody>
          <a:bodyPr spcFirstLastPara="1" wrap="square" lIns="0" tIns="0" rIns="0" bIns="0" anchor="t" anchorCtr="0">
            <a:spAutoFit/>
          </a:bodyPr>
          <a:lstStyle/>
          <a:p>
            <a:pPr>
              <a:lnSpc>
                <a:spcPct val="150000"/>
              </a:lnSpc>
            </a:pPr>
            <a:r>
              <a:rPr lang="en-US" sz="2250">
                <a:solidFill>
                  <a:srgbClr val="94A3B8"/>
                </a:solidFill>
                <a:latin typeface="Urbanist"/>
                <a:ea typeface="Urbanist"/>
                <a:cs typeface="Urbanist"/>
                <a:sym typeface="Urbanist"/>
              </a:rPr>
              <a:t>Threat Assessment: What are the risks?</a:t>
            </a:r>
            <a:endParaRPr sz="2700"/>
          </a:p>
        </p:txBody>
      </p:sp>
      <p:sp>
        <p:nvSpPr>
          <p:cNvPr id="132" name="Google Shape;132;p16"/>
          <p:cNvSpPr txBox="1"/>
          <p:nvPr/>
        </p:nvSpPr>
        <p:spPr>
          <a:xfrm>
            <a:off x="10072688" y="5686426"/>
            <a:ext cx="7343775" cy="519373"/>
          </a:xfrm>
          <a:prstGeom prst="rect">
            <a:avLst/>
          </a:prstGeom>
          <a:noFill/>
          <a:ln>
            <a:noFill/>
          </a:ln>
        </p:spPr>
        <p:txBody>
          <a:bodyPr spcFirstLastPara="1" wrap="square" lIns="0" tIns="0" rIns="0" bIns="0" anchor="t" anchorCtr="0">
            <a:spAutoFit/>
          </a:bodyPr>
          <a:lstStyle/>
          <a:p>
            <a:pPr>
              <a:lnSpc>
                <a:spcPct val="150000"/>
              </a:lnSpc>
            </a:pPr>
            <a:r>
              <a:rPr lang="en-US" sz="2250">
                <a:solidFill>
                  <a:srgbClr val="94A3B8"/>
                </a:solidFill>
                <a:latin typeface="Urbanist"/>
                <a:ea typeface="Urbanist"/>
                <a:cs typeface="Urbanist"/>
                <a:sym typeface="Urbanist"/>
              </a:rPr>
              <a:t>Cost-Benefit: Protection vs. Cost.</a:t>
            </a:r>
            <a:endParaRPr sz="2700"/>
          </a:p>
        </p:txBody>
      </p:sp>
      <p:pic>
        <p:nvPicPr>
          <p:cNvPr id="133" name="Google Shape;133;p16" descr="image.png"/>
          <p:cNvPicPr preferRelativeResize="0"/>
          <p:nvPr/>
        </p:nvPicPr>
        <p:blipFill rotWithShape="1">
          <a:blip r:embed="rId6">
            <a:alphaModFix/>
          </a:blip>
          <a:srcRect/>
          <a:stretch/>
        </p:blipFill>
        <p:spPr>
          <a:xfrm>
            <a:off x="9501188" y="4464844"/>
            <a:ext cx="257175" cy="300038"/>
          </a:xfrm>
          <a:prstGeom prst="rect">
            <a:avLst/>
          </a:prstGeom>
          <a:noFill/>
          <a:ln>
            <a:noFill/>
          </a:ln>
        </p:spPr>
      </p:pic>
      <p:pic>
        <p:nvPicPr>
          <p:cNvPr id="134" name="Google Shape;134;p16" descr="image.png"/>
          <p:cNvPicPr preferRelativeResize="0"/>
          <p:nvPr/>
        </p:nvPicPr>
        <p:blipFill rotWithShape="1">
          <a:blip r:embed="rId6">
            <a:alphaModFix/>
          </a:blip>
          <a:srcRect/>
          <a:stretch/>
        </p:blipFill>
        <p:spPr>
          <a:xfrm>
            <a:off x="9501188" y="5107781"/>
            <a:ext cx="257175" cy="300038"/>
          </a:xfrm>
          <a:prstGeom prst="rect">
            <a:avLst/>
          </a:prstGeom>
          <a:noFill/>
          <a:ln>
            <a:noFill/>
          </a:ln>
        </p:spPr>
      </p:pic>
      <p:pic>
        <p:nvPicPr>
          <p:cNvPr id="135" name="Google Shape;135;p16" descr="image.png"/>
          <p:cNvPicPr preferRelativeResize="0"/>
          <p:nvPr/>
        </p:nvPicPr>
        <p:blipFill rotWithShape="1">
          <a:blip r:embed="rId6">
            <a:alphaModFix/>
          </a:blip>
          <a:srcRect/>
          <a:stretch/>
        </p:blipFill>
        <p:spPr>
          <a:xfrm>
            <a:off x="9501188" y="5750719"/>
            <a:ext cx="257175" cy="300038"/>
          </a:xfrm>
          <a:prstGeom prst="rect">
            <a:avLst/>
          </a:prstGeom>
          <a:noFill/>
          <a:ln>
            <a:noFill/>
          </a:ln>
        </p:spPr>
      </p:pic>
      <p:sp>
        <p:nvSpPr>
          <p:cNvPr id="136" name="Google Shape;136;p16"/>
          <p:cNvSpPr txBox="1"/>
          <p:nvPr/>
        </p:nvSpPr>
        <p:spPr>
          <a:xfrm>
            <a:off x="871538" y="871538"/>
            <a:ext cx="17372171" cy="830997"/>
          </a:xfrm>
          <a:prstGeom prst="rect">
            <a:avLst/>
          </a:prstGeom>
          <a:noFill/>
          <a:ln>
            <a:noFill/>
          </a:ln>
        </p:spPr>
        <p:txBody>
          <a:bodyPr spcFirstLastPara="1" wrap="square" lIns="0" tIns="0" rIns="0" bIns="0" anchor="t" anchorCtr="0">
            <a:spAutoFit/>
          </a:bodyPr>
          <a:lstStyle/>
          <a:p>
            <a:r>
              <a:rPr lang="en-US" sz="5400" b="1">
                <a:solidFill>
                  <a:srgbClr val="F8FAFC"/>
                </a:solidFill>
                <a:latin typeface="Urbanist"/>
                <a:ea typeface="Urbanist"/>
                <a:cs typeface="Urbanist"/>
                <a:sym typeface="Urbanist"/>
              </a:rPr>
              <a:t>Establishing </a:t>
            </a:r>
            <a:r>
              <a:rPr lang="en-US" sz="5400" b="1">
                <a:solidFill>
                  <a:srgbClr val="DEFF9A"/>
                </a:solidFill>
                <a:latin typeface="Urbanist"/>
                <a:ea typeface="Urbanist"/>
                <a:cs typeface="Urbanist"/>
                <a:sym typeface="Urbanist"/>
              </a:rPr>
              <a:t>Policy</a:t>
            </a:r>
            <a:endParaRPr sz="270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pic>
        <p:nvPicPr>
          <p:cNvPr id="141" name="Google Shape;141;p17" descr="image.png"/>
          <p:cNvPicPr preferRelativeResize="0"/>
          <p:nvPr/>
        </p:nvPicPr>
        <p:blipFill rotWithShape="1">
          <a:blip r:embed="rId3">
            <a:alphaModFix/>
          </a:blip>
          <a:srcRect/>
          <a:stretch/>
        </p:blipFill>
        <p:spPr>
          <a:xfrm>
            <a:off x="0" y="0"/>
            <a:ext cx="18288000" cy="10287000"/>
          </a:xfrm>
          <a:prstGeom prst="rect">
            <a:avLst/>
          </a:prstGeom>
          <a:noFill/>
          <a:ln>
            <a:noFill/>
          </a:ln>
        </p:spPr>
      </p:pic>
      <p:pic>
        <p:nvPicPr>
          <p:cNvPr id="142" name="Google Shape;142;p17" descr="image.png"/>
          <p:cNvPicPr preferRelativeResize="0"/>
          <p:nvPr/>
        </p:nvPicPr>
        <p:blipFill rotWithShape="1">
          <a:blip r:embed="rId4">
            <a:alphaModFix/>
          </a:blip>
          <a:srcRect/>
          <a:stretch/>
        </p:blipFill>
        <p:spPr>
          <a:xfrm>
            <a:off x="9501188" y="2986088"/>
            <a:ext cx="7915275" cy="5715000"/>
          </a:xfrm>
          <a:prstGeom prst="rect">
            <a:avLst/>
          </a:prstGeom>
          <a:noFill/>
          <a:ln>
            <a:noFill/>
          </a:ln>
        </p:spPr>
      </p:pic>
      <p:sp>
        <p:nvSpPr>
          <p:cNvPr id="143" name="Google Shape;143;p17"/>
          <p:cNvSpPr txBox="1"/>
          <p:nvPr/>
        </p:nvSpPr>
        <p:spPr>
          <a:xfrm>
            <a:off x="871538" y="2986088"/>
            <a:ext cx="8311038" cy="324063"/>
          </a:xfrm>
          <a:prstGeom prst="rect">
            <a:avLst/>
          </a:prstGeom>
          <a:noFill/>
          <a:ln>
            <a:noFill/>
          </a:ln>
        </p:spPr>
        <p:txBody>
          <a:bodyPr spcFirstLastPara="1" wrap="square" lIns="0" tIns="0" rIns="0" bIns="0" anchor="t" anchorCtr="0">
            <a:spAutoFit/>
          </a:bodyPr>
          <a:lstStyle/>
          <a:p>
            <a:r>
              <a:rPr lang="en-US" sz="2106" b="1">
                <a:solidFill>
                  <a:srgbClr val="F8FAFC"/>
                </a:solidFill>
                <a:latin typeface="Urbanist"/>
                <a:ea typeface="Urbanist"/>
                <a:cs typeface="Urbanist"/>
                <a:sym typeface="Urbanist"/>
              </a:rPr>
              <a:t>Initial Defense</a:t>
            </a:r>
            <a:endParaRPr sz="2700"/>
          </a:p>
        </p:txBody>
      </p:sp>
      <p:sp>
        <p:nvSpPr>
          <p:cNvPr id="144" name="Google Shape;144;p17"/>
          <p:cNvSpPr txBox="1"/>
          <p:nvPr/>
        </p:nvSpPr>
        <p:spPr>
          <a:xfrm>
            <a:off x="871538" y="3314701"/>
            <a:ext cx="7915275" cy="1038746"/>
          </a:xfrm>
          <a:prstGeom prst="rect">
            <a:avLst/>
          </a:prstGeom>
          <a:noFill/>
          <a:ln>
            <a:noFill/>
          </a:ln>
        </p:spPr>
        <p:txBody>
          <a:bodyPr spcFirstLastPara="1" wrap="square" lIns="0" tIns="0" rIns="0" bIns="0" anchor="t" anchorCtr="0">
            <a:spAutoFit/>
          </a:bodyPr>
          <a:lstStyle/>
          <a:p>
            <a:pPr>
              <a:lnSpc>
                <a:spcPct val="150000"/>
              </a:lnSpc>
            </a:pPr>
            <a:r>
              <a:rPr lang="en-US" sz="2250">
                <a:solidFill>
                  <a:srgbClr val="94A3B8"/>
                </a:solidFill>
                <a:latin typeface="Urbanist"/>
                <a:ea typeface="Urbanist"/>
                <a:cs typeface="Urbanist"/>
                <a:sym typeface="Urbanist"/>
              </a:rPr>
              <a:t>Prevention is the first line of strategy. It aims to block unauthorized access before it happens.</a:t>
            </a:r>
            <a:endParaRPr sz="2700"/>
          </a:p>
        </p:txBody>
      </p:sp>
      <p:pic>
        <p:nvPicPr>
          <p:cNvPr id="145" name="Google Shape;145;p17" descr="image.png"/>
          <p:cNvPicPr preferRelativeResize="0"/>
          <p:nvPr/>
        </p:nvPicPr>
        <p:blipFill rotWithShape="1">
          <a:blip r:embed="rId5">
            <a:alphaModFix/>
          </a:blip>
          <a:srcRect/>
          <a:stretch/>
        </p:blipFill>
        <p:spPr>
          <a:xfrm>
            <a:off x="9515475" y="3000375"/>
            <a:ext cx="7886700" cy="5686425"/>
          </a:xfrm>
          <a:prstGeom prst="rect">
            <a:avLst/>
          </a:prstGeom>
          <a:noFill/>
          <a:ln>
            <a:noFill/>
          </a:ln>
        </p:spPr>
      </p:pic>
      <p:sp>
        <p:nvSpPr>
          <p:cNvPr id="146" name="Google Shape;146;p17"/>
          <p:cNvSpPr txBox="1"/>
          <p:nvPr/>
        </p:nvSpPr>
        <p:spPr>
          <a:xfrm>
            <a:off x="1443038" y="4400551"/>
            <a:ext cx="7343775" cy="519373"/>
          </a:xfrm>
          <a:prstGeom prst="rect">
            <a:avLst/>
          </a:prstGeom>
          <a:noFill/>
          <a:ln>
            <a:noFill/>
          </a:ln>
        </p:spPr>
        <p:txBody>
          <a:bodyPr spcFirstLastPara="1" wrap="square" lIns="0" tIns="0" rIns="0" bIns="0" anchor="t" anchorCtr="0">
            <a:spAutoFit/>
          </a:bodyPr>
          <a:lstStyle/>
          <a:p>
            <a:pPr>
              <a:lnSpc>
                <a:spcPct val="150000"/>
              </a:lnSpc>
            </a:pPr>
            <a:r>
              <a:rPr lang="en-US" sz="2250">
                <a:solidFill>
                  <a:srgbClr val="94A3B8"/>
                </a:solidFill>
                <a:latin typeface="Urbanist"/>
                <a:ea typeface="Urbanist"/>
                <a:cs typeface="Urbanist"/>
                <a:sym typeface="Urbanist"/>
              </a:rPr>
              <a:t>Authentication &amp; Access Control.</a:t>
            </a:r>
            <a:endParaRPr sz="2700"/>
          </a:p>
        </p:txBody>
      </p:sp>
      <p:sp>
        <p:nvSpPr>
          <p:cNvPr id="147" name="Google Shape;147;p17"/>
          <p:cNvSpPr txBox="1"/>
          <p:nvPr/>
        </p:nvSpPr>
        <p:spPr>
          <a:xfrm>
            <a:off x="1443038" y="5043488"/>
            <a:ext cx="7343775" cy="519373"/>
          </a:xfrm>
          <a:prstGeom prst="rect">
            <a:avLst/>
          </a:prstGeom>
          <a:noFill/>
          <a:ln>
            <a:noFill/>
          </a:ln>
        </p:spPr>
        <p:txBody>
          <a:bodyPr spcFirstLastPara="1" wrap="square" lIns="0" tIns="0" rIns="0" bIns="0" anchor="t" anchorCtr="0">
            <a:spAutoFit/>
          </a:bodyPr>
          <a:lstStyle/>
          <a:p>
            <a:pPr>
              <a:lnSpc>
                <a:spcPct val="150000"/>
              </a:lnSpc>
            </a:pPr>
            <a:r>
              <a:rPr lang="en-US" sz="2250">
                <a:solidFill>
                  <a:srgbClr val="94A3B8"/>
                </a:solidFill>
                <a:latin typeface="Urbanist"/>
                <a:ea typeface="Urbanist"/>
                <a:cs typeface="Urbanist"/>
                <a:sym typeface="Urbanist"/>
              </a:rPr>
              <a:t>Firewalls and Network Perimeter.</a:t>
            </a:r>
            <a:endParaRPr sz="2700"/>
          </a:p>
        </p:txBody>
      </p:sp>
      <p:sp>
        <p:nvSpPr>
          <p:cNvPr id="148" name="Google Shape;148;p17"/>
          <p:cNvSpPr txBox="1"/>
          <p:nvPr/>
        </p:nvSpPr>
        <p:spPr>
          <a:xfrm>
            <a:off x="1443038" y="5686426"/>
            <a:ext cx="7343775" cy="519373"/>
          </a:xfrm>
          <a:prstGeom prst="rect">
            <a:avLst/>
          </a:prstGeom>
          <a:noFill/>
          <a:ln>
            <a:noFill/>
          </a:ln>
        </p:spPr>
        <p:txBody>
          <a:bodyPr spcFirstLastPara="1" wrap="square" lIns="0" tIns="0" rIns="0" bIns="0" anchor="t" anchorCtr="0">
            <a:spAutoFit/>
          </a:bodyPr>
          <a:lstStyle/>
          <a:p>
            <a:pPr>
              <a:lnSpc>
                <a:spcPct val="150000"/>
              </a:lnSpc>
            </a:pPr>
            <a:r>
              <a:rPr lang="en-US" sz="2250">
                <a:solidFill>
                  <a:srgbClr val="94A3B8"/>
                </a:solidFill>
                <a:latin typeface="Urbanist"/>
                <a:ea typeface="Urbanist"/>
                <a:cs typeface="Urbanist"/>
                <a:sym typeface="Urbanist"/>
              </a:rPr>
              <a:t>Encryption of sensitive data.</a:t>
            </a:r>
            <a:endParaRPr sz="2700"/>
          </a:p>
        </p:txBody>
      </p:sp>
      <p:pic>
        <p:nvPicPr>
          <p:cNvPr id="149" name="Google Shape;149;p17" descr="image.png"/>
          <p:cNvPicPr preferRelativeResize="0"/>
          <p:nvPr/>
        </p:nvPicPr>
        <p:blipFill rotWithShape="1">
          <a:blip r:embed="rId6">
            <a:alphaModFix/>
          </a:blip>
          <a:srcRect/>
          <a:stretch/>
        </p:blipFill>
        <p:spPr>
          <a:xfrm>
            <a:off x="871538" y="4464844"/>
            <a:ext cx="257175" cy="300038"/>
          </a:xfrm>
          <a:prstGeom prst="rect">
            <a:avLst/>
          </a:prstGeom>
          <a:noFill/>
          <a:ln>
            <a:noFill/>
          </a:ln>
        </p:spPr>
      </p:pic>
      <p:pic>
        <p:nvPicPr>
          <p:cNvPr id="150" name="Google Shape;150;p17" descr="image.png"/>
          <p:cNvPicPr preferRelativeResize="0"/>
          <p:nvPr/>
        </p:nvPicPr>
        <p:blipFill rotWithShape="1">
          <a:blip r:embed="rId7">
            <a:alphaModFix/>
          </a:blip>
          <a:srcRect/>
          <a:stretch/>
        </p:blipFill>
        <p:spPr>
          <a:xfrm>
            <a:off x="871538" y="5107781"/>
            <a:ext cx="257175" cy="300038"/>
          </a:xfrm>
          <a:prstGeom prst="rect">
            <a:avLst/>
          </a:prstGeom>
          <a:noFill/>
          <a:ln>
            <a:noFill/>
          </a:ln>
        </p:spPr>
      </p:pic>
      <p:pic>
        <p:nvPicPr>
          <p:cNvPr id="151" name="Google Shape;151;p17" descr="image.png"/>
          <p:cNvPicPr preferRelativeResize="0"/>
          <p:nvPr/>
        </p:nvPicPr>
        <p:blipFill rotWithShape="1">
          <a:blip r:embed="rId8">
            <a:alphaModFix/>
          </a:blip>
          <a:srcRect/>
          <a:stretch/>
        </p:blipFill>
        <p:spPr>
          <a:xfrm>
            <a:off x="871538" y="5750719"/>
            <a:ext cx="285750" cy="300038"/>
          </a:xfrm>
          <a:prstGeom prst="rect">
            <a:avLst/>
          </a:prstGeom>
          <a:noFill/>
          <a:ln>
            <a:noFill/>
          </a:ln>
        </p:spPr>
      </p:pic>
      <p:sp>
        <p:nvSpPr>
          <p:cNvPr id="152" name="Google Shape;152;p17"/>
          <p:cNvSpPr txBox="1"/>
          <p:nvPr/>
        </p:nvSpPr>
        <p:spPr>
          <a:xfrm>
            <a:off x="871538" y="871538"/>
            <a:ext cx="17372171" cy="830997"/>
          </a:xfrm>
          <a:prstGeom prst="rect">
            <a:avLst/>
          </a:prstGeom>
          <a:noFill/>
          <a:ln>
            <a:noFill/>
          </a:ln>
        </p:spPr>
        <p:txBody>
          <a:bodyPr spcFirstLastPara="1" wrap="square" lIns="0" tIns="0" rIns="0" bIns="0" anchor="t" anchorCtr="0">
            <a:spAutoFit/>
          </a:bodyPr>
          <a:lstStyle/>
          <a:p>
            <a:r>
              <a:rPr lang="en-US" sz="5400" b="1">
                <a:solidFill>
                  <a:srgbClr val="F8FAFC"/>
                </a:solidFill>
                <a:latin typeface="Urbanist"/>
                <a:ea typeface="Urbanist"/>
                <a:cs typeface="Urbanist"/>
                <a:sym typeface="Urbanist"/>
              </a:rPr>
              <a:t>Prevention </a:t>
            </a:r>
            <a:r>
              <a:rPr lang="en-US" sz="5400" b="1">
                <a:solidFill>
                  <a:srgbClr val="DEFF9A"/>
                </a:solidFill>
                <a:latin typeface="Urbanist"/>
                <a:ea typeface="Urbanist"/>
                <a:cs typeface="Urbanist"/>
                <a:sym typeface="Urbanist"/>
              </a:rPr>
              <a:t>Mechanisms</a:t>
            </a:r>
            <a:endParaRPr sz="270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pic>
        <p:nvPicPr>
          <p:cNvPr id="157" name="Google Shape;157;p18" descr="image.png"/>
          <p:cNvPicPr preferRelativeResize="0"/>
          <p:nvPr/>
        </p:nvPicPr>
        <p:blipFill rotWithShape="1">
          <a:blip r:embed="rId3">
            <a:alphaModFix/>
          </a:blip>
          <a:srcRect/>
          <a:stretch/>
        </p:blipFill>
        <p:spPr>
          <a:xfrm>
            <a:off x="0" y="0"/>
            <a:ext cx="18288000" cy="10287000"/>
          </a:xfrm>
          <a:prstGeom prst="rect">
            <a:avLst/>
          </a:prstGeom>
          <a:noFill/>
          <a:ln>
            <a:noFill/>
          </a:ln>
        </p:spPr>
      </p:pic>
      <p:pic>
        <p:nvPicPr>
          <p:cNvPr id="158" name="Google Shape;158;p18" descr="image.png"/>
          <p:cNvPicPr preferRelativeResize="0"/>
          <p:nvPr/>
        </p:nvPicPr>
        <p:blipFill rotWithShape="1">
          <a:blip r:embed="rId4">
            <a:alphaModFix/>
          </a:blip>
          <a:srcRect/>
          <a:stretch/>
        </p:blipFill>
        <p:spPr>
          <a:xfrm>
            <a:off x="871538" y="3871913"/>
            <a:ext cx="8093868" cy="3943350"/>
          </a:xfrm>
          <a:prstGeom prst="rect">
            <a:avLst/>
          </a:prstGeom>
          <a:noFill/>
          <a:ln>
            <a:noFill/>
          </a:ln>
        </p:spPr>
      </p:pic>
      <p:pic>
        <p:nvPicPr>
          <p:cNvPr id="159" name="Google Shape;159;p18" descr="image.png"/>
          <p:cNvPicPr preferRelativeResize="0"/>
          <p:nvPr/>
        </p:nvPicPr>
        <p:blipFill rotWithShape="1">
          <a:blip r:embed="rId5">
            <a:alphaModFix/>
          </a:blip>
          <a:srcRect/>
          <a:stretch/>
        </p:blipFill>
        <p:spPr>
          <a:xfrm>
            <a:off x="9322593" y="3871913"/>
            <a:ext cx="8093868" cy="3943350"/>
          </a:xfrm>
          <a:prstGeom prst="rect">
            <a:avLst/>
          </a:prstGeom>
          <a:noFill/>
          <a:ln>
            <a:noFill/>
          </a:ln>
        </p:spPr>
      </p:pic>
      <p:sp>
        <p:nvSpPr>
          <p:cNvPr id="160" name="Google Shape;160;p18"/>
          <p:cNvSpPr txBox="1"/>
          <p:nvPr/>
        </p:nvSpPr>
        <p:spPr>
          <a:xfrm>
            <a:off x="1314450" y="5286376"/>
            <a:ext cx="7568445" cy="450123"/>
          </a:xfrm>
          <a:prstGeom prst="rect">
            <a:avLst/>
          </a:prstGeom>
          <a:noFill/>
          <a:ln>
            <a:noFill/>
          </a:ln>
        </p:spPr>
        <p:txBody>
          <a:bodyPr spcFirstLastPara="1" wrap="square" lIns="0" tIns="0" rIns="0" bIns="0" anchor="t" anchorCtr="0">
            <a:spAutoFit/>
          </a:bodyPr>
          <a:lstStyle/>
          <a:p>
            <a:r>
              <a:rPr lang="en-US" sz="2925" b="1">
                <a:solidFill>
                  <a:srgbClr val="F8FAFC"/>
                </a:solidFill>
                <a:latin typeface="Urbanist"/>
                <a:ea typeface="Urbanist"/>
                <a:cs typeface="Urbanist"/>
                <a:sym typeface="Urbanist"/>
              </a:rPr>
              <a:t>Detection</a:t>
            </a:r>
            <a:endParaRPr sz="2700"/>
          </a:p>
        </p:txBody>
      </p:sp>
      <p:sp>
        <p:nvSpPr>
          <p:cNvPr id="161" name="Google Shape;161;p18"/>
          <p:cNvSpPr txBox="1"/>
          <p:nvPr/>
        </p:nvSpPr>
        <p:spPr>
          <a:xfrm>
            <a:off x="1314450" y="5915025"/>
            <a:ext cx="7208043" cy="1558119"/>
          </a:xfrm>
          <a:prstGeom prst="rect">
            <a:avLst/>
          </a:prstGeom>
          <a:noFill/>
          <a:ln>
            <a:noFill/>
          </a:ln>
        </p:spPr>
        <p:txBody>
          <a:bodyPr spcFirstLastPara="1" wrap="square" lIns="0" tIns="0" rIns="0" bIns="0" anchor="t" anchorCtr="0">
            <a:spAutoFit/>
          </a:bodyPr>
          <a:lstStyle/>
          <a:p>
            <a:pPr>
              <a:lnSpc>
                <a:spcPct val="150000"/>
              </a:lnSpc>
            </a:pPr>
            <a:r>
              <a:rPr lang="en-US" sz="2250">
                <a:solidFill>
                  <a:srgbClr val="94A3B8"/>
                </a:solidFill>
                <a:latin typeface="Urbanist"/>
                <a:ea typeface="Urbanist"/>
                <a:cs typeface="Urbanist"/>
                <a:sym typeface="Urbanist"/>
              </a:rPr>
              <a:t>Mechanisms used to identify that a security violation has been attempted or is occurring. Includes audit logs and IDSs.</a:t>
            </a:r>
            <a:endParaRPr sz="2700"/>
          </a:p>
        </p:txBody>
      </p:sp>
      <p:sp>
        <p:nvSpPr>
          <p:cNvPr id="162" name="Google Shape;162;p18"/>
          <p:cNvSpPr txBox="1"/>
          <p:nvPr/>
        </p:nvSpPr>
        <p:spPr>
          <a:xfrm>
            <a:off x="9765506" y="5286376"/>
            <a:ext cx="7568445" cy="450123"/>
          </a:xfrm>
          <a:prstGeom prst="rect">
            <a:avLst/>
          </a:prstGeom>
          <a:noFill/>
          <a:ln>
            <a:noFill/>
          </a:ln>
        </p:spPr>
        <p:txBody>
          <a:bodyPr spcFirstLastPara="1" wrap="square" lIns="0" tIns="0" rIns="0" bIns="0" anchor="t" anchorCtr="0">
            <a:spAutoFit/>
          </a:bodyPr>
          <a:lstStyle/>
          <a:p>
            <a:r>
              <a:rPr lang="en-US" sz="2925" b="1">
                <a:solidFill>
                  <a:srgbClr val="F8FAFC"/>
                </a:solidFill>
                <a:latin typeface="Urbanist"/>
                <a:ea typeface="Urbanist"/>
                <a:cs typeface="Urbanist"/>
                <a:sym typeface="Urbanist"/>
              </a:rPr>
              <a:t>Response</a:t>
            </a:r>
            <a:endParaRPr sz="2700"/>
          </a:p>
        </p:txBody>
      </p:sp>
      <p:sp>
        <p:nvSpPr>
          <p:cNvPr id="163" name="Google Shape;163;p18"/>
          <p:cNvSpPr txBox="1"/>
          <p:nvPr/>
        </p:nvSpPr>
        <p:spPr>
          <a:xfrm>
            <a:off x="9765506" y="5915025"/>
            <a:ext cx="7208043" cy="1558119"/>
          </a:xfrm>
          <a:prstGeom prst="rect">
            <a:avLst/>
          </a:prstGeom>
          <a:noFill/>
          <a:ln>
            <a:noFill/>
          </a:ln>
        </p:spPr>
        <p:txBody>
          <a:bodyPr spcFirstLastPara="1" wrap="square" lIns="0" tIns="0" rIns="0" bIns="0" anchor="t" anchorCtr="0">
            <a:spAutoFit/>
          </a:bodyPr>
          <a:lstStyle/>
          <a:p>
            <a:pPr>
              <a:lnSpc>
                <a:spcPct val="150000"/>
              </a:lnSpc>
            </a:pPr>
            <a:r>
              <a:rPr lang="en-US" sz="2250">
                <a:solidFill>
                  <a:srgbClr val="94A3B8"/>
                </a:solidFill>
                <a:latin typeface="Urbanist"/>
                <a:ea typeface="Urbanist"/>
                <a:cs typeface="Urbanist"/>
                <a:sym typeface="Urbanist"/>
              </a:rPr>
              <a:t>Action taken once an attack is detected. Includes stopping the attack and limiting further damage to the system.</a:t>
            </a:r>
            <a:endParaRPr sz="2700"/>
          </a:p>
        </p:txBody>
      </p:sp>
      <p:pic>
        <p:nvPicPr>
          <p:cNvPr id="164" name="Google Shape;164;p18" descr="image.png"/>
          <p:cNvPicPr preferRelativeResize="0"/>
          <p:nvPr/>
        </p:nvPicPr>
        <p:blipFill rotWithShape="1">
          <a:blip r:embed="rId6">
            <a:alphaModFix/>
          </a:blip>
          <a:srcRect/>
          <a:stretch/>
        </p:blipFill>
        <p:spPr>
          <a:xfrm>
            <a:off x="1314451" y="4357688"/>
            <a:ext cx="500063" cy="571500"/>
          </a:xfrm>
          <a:prstGeom prst="rect">
            <a:avLst/>
          </a:prstGeom>
          <a:noFill/>
          <a:ln>
            <a:noFill/>
          </a:ln>
        </p:spPr>
      </p:pic>
      <p:pic>
        <p:nvPicPr>
          <p:cNvPr id="165" name="Google Shape;165;p18" descr="image.png"/>
          <p:cNvPicPr preferRelativeResize="0"/>
          <p:nvPr/>
        </p:nvPicPr>
        <p:blipFill rotWithShape="1">
          <a:blip r:embed="rId7">
            <a:alphaModFix/>
          </a:blip>
          <a:srcRect/>
          <a:stretch/>
        </p:blipFill>
        <p:spPr>
          <a:xfrm>
            <a:off x="9765506" y="4357688"/>
            <a:ext cx="714375" cy="571500"/>
          </a:xfrm>
          <a:prstGeom prst="rect">
            <a:avLst/>
          </a:prstGeom>
          <a:noFill/>
          <a:ln>
            <a:noFill/>
          </a:ln>
        </p:spPr>
      </p:pic>
      <p:sp>
        <p:nvSpPr>
          <p:cNvPr id="166" name="Google Shape;166;p18"/>
          <p:cNvSpPr txBox="1"/>
          <p:nvPr/>
        </p:nvSpPr>
        <p:spPr>
          <a:xfrm>
            <a:off x="871538" y="871538"/>
            <a:ext cx="17372171" cy="830997"/>
          </a:xfrm>
          <a:prstGeom prst="rect">
            <a:avLst/>
          </a:prstGeom>
          <a:noFill/>
          <a:ln>
            <a:noFill/>
          </a:ln>
        </p:spPr>
        <p:txBody>
          <a:bodyPr spcFirstLastPara="1" wrap="square" lIns="0" tIns="0" rIns="0" bIns="0" anchor="t" anchorCtr="0">
            <a:spAutoFit/>
          </a:bodyPr>
          <a:lstStyle/>
          <a:p>
            <a:r>
              <a:rPr lang="en-US" sz="5400" b="1">
                <a:solidFill>
                  <a:srgbClr val="F8FAFC"/>
                </a:solidFill>
                <a:latin typeface="Urbanist"/>
                <a:ea typeface="Urbanist"/>
                <a:cs typeface="Urbanist"/>
                <a:sym typeface="Urbanist"/>
              </a:rPr>
              <a:t>Active </a:t>
            </a:r>
            <a:r>
              <a:rPr lang="en-US" sz="5400" b="1">
                <a:solidFill>
                  <a:srgbClr val="DEFF9A"/>
                </a:solidFill>
                <a:latin typeface="Urbanist"/>
                <a:ea typeface="Urbanist"/>
                <a:cs typeface="Urbanist"/>
                <a:sym typeface="Urbanist"/>
              </a:rPr>
              <a:t>Monitoring</a:t>
            </a:r>
            <a:endParaRPr sz="270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pic>
        <p:nvPicPr>
          <p:cNvPr id="171" name="Google Shape;171;p19" descr="image.png"/>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172" name="Google Shape;172;p19"/>
          <p:cNvSpPr txBox="1"/>
          <p:nvPr/>
        </p:nvSpPr>
        <p:spPr>
          <a:xfrm>
            <a:off x="871538" y="871538"/>
            <a:ext cx="7785972" cy="830997"/>
          </a:xfrm>
          <a:prstGeom prst="rect">
            <a:avLst/>
          </a:prstGeom>
          <a:noFill/>
          <a:ln>
            <a:noFill/>
          </a:ln>
        </p:spPr>
        <p:txBody>
          <a:bodyPr spcFirstLastPara="1" wrap="square" lIns="0" tIns="0" rIns="0" bIns="0" anchor="t" anchorCtr="0">
            <a:spAutoFit/>
          </a:bodyPr>
          <a:lstStyle/>
          <a:p>
            <a:r>
              <a:rPr lang="en-US" sz="5400" b="1">
                <a:solidFill>
                  <a:srgbClr val="F8FAFC"/>
                </a:solidFill>
                <a:latin typeface="Urbanist"/>
                <a:ea typeface="Urbanist"/>
                <a:cs typeface="Urbanist"/>
                <a:sym typeface="Urbanist"/>
              </a:rPr>
              <a:t>Restoration &amp; </a:t>
            </a:r>
            <a:r>
              <a:rPr lang="en-US" sz="5400" b="1">
                <a:solidFill>
                  <a:srgbClr val="DEFF9A"/>
                </a:solidFill>
                <a:latin typeface="Urbanist"/>
                <a:ea typeface="Urbanist"/>
                <a:cs typeface="Urbanist"/>
                <a:sym typeface="Urbanist"/>
              </a:rPr>
              <a:t>Recovery</a:t>
            </a:r>
            <a:endParaRPr sz="2700"/>
          </a:p>
        </p:txBody>
      </p:sp>
      <p:sp>
        <p:nvSpPr>
          <p:cNvPr id="173" name="Google Shape;173;p19"/>
          <p:cNvSpPr txBox="1"/>
          <p:nvPr/>
        </p:nvSpPr>
        <p:spPr>
          <a:xfrm>
            <a:off x="871538" y="2271713"/>
            <a:ext cx="7415213" cy="1038746"/>
          </a:xfrm>
          <a:prstGeom prst="rect">
            <a:avLst/>
          </a:prstGeom>
          <a:noFill/>
          <a:ln>
            <a:noFill/>
          </a:ln>
        </p:spPr>
        <p:txBody>
          <a:bodyPr spcFirstLastPara="1" wrap="square" lIns="0" tIns="0" rIns="0" bIns="0" anchor="t" anchorCtr="0">
            <a:spAutoFit/>
          </a:bodyPr>
          <a:lstStyle/>
          <a:p>
            <a:pPr>
              <a:lnSpc>
                <a:spcPct val="150000"/>
              </a:lnSpc>
            </a:pPr>
            <a:r>
              <a:rPr lang="en-US" sz="2250">
                <a:solidFill>
                  <a:srgbClr val="94A3B8"/>
                </a:solidFill>
                <a:latin typeface="Urbanist"/>
                <a:ea typeface="Urbanist"/>
                <a:cs typeface="Urbanist"/>
                <a:sym typeface="Urbanist"/>
              </a:rPr>
              <a:t>A vital part of strategy is planning for the "after-effect" of a breach.</a:t>
            </a:r>
            <a:endParaRPr sz="2700"/>
          </a:p>
        </p:txBody>
      </p:sp>
      <p:sp>
        <p:nvSpPr>
          <p:cNvPr id="175" name="Google Shape;175;p19"/>
          <p:cNvSpPr txBox="1"/>
          <p:nvPr/>
        </p:nvSpPr>
        <p:spPr>
          <a:xfrm>
            <a:off x="1443038" y="3486151"/>
            <a:ext cx="6843713" cy="519373"/>
          </a:xfrm>
          <a:prstGeom prst="rect">
            <a:avLst/>
          </a:prstGeom>
          <a:noFill/>
          <a:ln>
            <a:noFill/>
          </a:ln>
        </p:spPr>
        <p:txBody>
          <a:bodyPr spcFirstLastPara="1" wrap="square" lIns="0" tIns="0" rIns="0" bIns="0" anchor="t" anchorCtr="0">
            <a:spAutoFit/>
          </a:bodyPr>
          <a:lstStyle/>
          <a:p>
            <a:pPr>
              <a:lnSpc>
                <a:spcPct val="150000"/>
              </a:lnSpc>
            </a:pPr>
            <a:r>
              <a:rPr lang="en-US" sz="2250">
                <a:solidFill>
                  <a:srgbClr val="94A3B8"/>
                </a:solidFill>
                <a:latin typeface="Urbanist"/>
                <a:ea typeface="Urbanist"/>
                <a:cs typeface="Urbanist"/>
                <a:sym typeface="Urbanist"/>
              </a:rPr>
              <a:t>Data Backups &amp; Redundancy.</a:t>
            </a:r>
            <a:endParaRPr sz="2700"/>
          </a:p>
        </p:txBody>
      </p:sp>
      <p:sp>
        <p:nvSpPr>
          <p:cNvPr id="176" name="Google Shape;176;p19"/>
          <p:cNvSpPr txBox="1"/>
          <p:nvPr/>
        </p:nvSpPr>
        <p:spPr>
          <a:xfrm>
            <a:off x="1443038" y="4129088"/>
            <a:ext cx="6843713" cy="519373"/>
          </a:xfrm>
          <a:prstGeom prst="rect">
            <a:avLst/>
          </a:prstGeom>
          <a:noFill/>
          <a:ln>
            <a:noFill/>
          </a:ln>
        </p:spPr>
        <p:txBody>
          <a:bodyPr spcFirstLastPara="1" wrap="square" lIns="0" tIns="0" rIns="0" bIns="0" anchor="t" anchorCtr="0">
            <a:spAutoFit/>
          </a:bodyPr>
          <a:lstStyle/>
          <a:p>
            <a:pPr>
              <a:lnSpc>
                <a:spcPct val="150000"/>
              </a:lnSpc>
            </a:pPr>
            <a:r>
              <a:rPr lang="en-US" sz="2250">
                <a:solidFill>
                  <a:srgbClr val="94A3B8"/>
                </a:solidFill>
                <a:latin typeface="Urbanist"/>
                <a:ea typeface="Urbanist"/>
                <a:cs typeface="Urbanist"/>
                <a:sym typeface="Urbanist"/>
              </a:rPr>
              <a:t>Business Continuity Planning.</a:t>
            </a:r>
            <a:endParaRPr sz="2700"/>
          </a:p>
        </p:txBody>
      </p:sp>
      <p:sp>
        <p:nvSpPr>
          <p:cNvPr id="177" name="Google Shape;177;p19"/>
          <p:cNvSpPr txBox="1"/>
          <p:nvPr/>
        </p:nvSpPr>
        <p:spPr>
          <a:xfrm>
            <a:off x="1443038" y="4772026"/>
            <a:ext cx="6843713" cy="519373"/>
          </a:xfrm>
          <a:prstGeom prst="rect">
            <a:avLst/>
          </a:prstGeom>
          <a:noFill/>
          <a:ln>
            <a:noFill/>
          </a:ln>
        </p:spPr>
        <p:txBody>
          <a:bodyPr spcFirstLastPara="1" wrap="square" lIns="0" tIns="0" rIns="0" bIns="0" anchor="t" anchorCtr="0">
            <a:spAutoFit/>
          </a:bodyPr>
          <a:lstStyle/>
          <a:p>
            <a:pPr>
              <a:lnSpc>
                <a:spcPct val="150000"/>
              </a:lnSpc>
            </a:pPr>
            <a:r>
              <a:rPr lang="en-US" sz="2250">
                <a:solidFill>
                  <a:srgbClr val="94A3B8"/>
                </a:solidFill>
                <a:latin typeface="Urbanist"/>
                <a:ea typeface="Urbanist"/>
                <a:cs typeface="Urbanist"/>
                <a:sym typeface="Urbanist"/>
              </a:rPr>
              <a:t>System Integrity Checks.</a:t>
            </a:r>
            <a:endParaRPr sz="2700"/>
          </a:p>
        </p:txBody>
      </p:sp>
      <p:pic>
        <p:nvPicPr>
          <p:cNvPr id="178" name="Google Shape;178;p19" descr="image.png"/>
          <p:cNvPicPr preferRelativeResize="0"/>
          <p:nvPr/>
        </p:nvPicPr>
        <p:blipFill rotWithShape="1">
          <a:blip r:embed="rId4">
            <a:alphaModFix/>
          </a:blip>
          <a:srcRect/>
          <a:stretch/>
        </p:blipFill>
        <p:spPr>
          <a:xfrm>
            <a:off x="871538" y="3550444"/>
            <a:ext cx="357188" cy="300038"/>
          </a:xfrm>
          <a:prstGeom prst="rect">
            <a:avLst/>
          </a:prstGeom>
          <a:noFill/>
          <a:ln>
            <a:noFill/>
          </a:ln>
        </p:spPr>
      </p:pic>
      <p:pic>
        <p:nvPicPr>
          <p:cNvPr id="179" name="Google Shape;179;p19" descr="image.png"/>
          <p:cNvPicPr preferRelativeResize="0"/>
          <p:nvPr/>
        </p:nvPicPr>
        <p:blipFill rotWithShape="1">
          <a:blip r:embed="rId5">
            <a:alphaModFix/>
          </a:blip>
          <a:srcRect/>
          <a:stretch/>
        </p:blipFill>
        <p:spPr>
          <a:xfrm>
            <a:off x="871538" y="4193381"/>
            <a:ext cx="285750" cy="300038"/>
          </a:xfrm>
          <a:prstGeom prst="rect">
            <a:avLst/>
          </a:prstGeom>
          <a:noFill/>
          <a:ln>
            <a:noFill/>
          </a:ln>
        </p:spPr>
      </p:pic>
      <p:pic>
        <p:nvPicPr>
          <p:cNvPr id="180" name="Google Shape;180;p19" descr="image.png"/>
          <p:cNvPicPr preferRelativeResize="0"/>
          <p:nvPr/>
        </p:nvPicPr>
        <p:blipFill rotWithShape="1">
          <a:blip r:embed="rId6">
            <a:alphaModFix/>
          </a:blip>
          <a:srcRect/>
          <a:stretch/>
        </p:blipFill>
        <p:spPr>
          <a:xfrm>
            <a:off x="871538" y="4836319"/>
            <a:ext cx="214313" cy="300038"/>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pic>
        <p:nvPicPr>
          <p:cNvPr id="185" name="Google Shape;185;p20" descr="image.png"/>
          <p:cNvPicPr preferRelativeResize="0"/>
          <p:nvPr/>
        </p:nvPicPr>
        <p:blipFill rotWithShape="1">
          <a:blip r:embed="rId3">
            <a:alphaModFix/>
          </a:blip>
          <a:srcRect/>
          <a:stretch/>
        </p:blipFill>
        <p:spPr>
          <a:xfrm>
            <a:off x="0" y="0"/>
            <a:ext cx="18288000" cy="10287000"/>
          </a:xfrm>
          <a:prstGeom prst="rect">
            <a:avLst/>
          </a:prstGeom>
          <a:noFill/>
          <a:ln>
            <a:noFill/>
          </a:ln>
        </p:spPr>
      </p:pic>
      <p:pic>
        <p:nvPicPr>
          <p:cNvPr id="186" name="Google Shape;186;p20" descr="image.png"/>
          <p:cNvPicPr preferRelativeResize="0"/>
          <p:nvPr/>
        </p:nvPicPr>
        <p:blipFill rotWithShape="1">
          <a:blip r:embed="rId4">
            <a:alphaModFix/>
          </a:blip>
          <a:srcRect/>
          <a:stretch/>
        </p:blipFill>
        <p:spPr>
          <a:xfrm>
            <a:off x="9501188" y="2986088"/>
            <a:ext cx="7915275" cy="5715000"/>
          </a:xfrm>
          <a:prstGeom prst="rect">
            <a:avLst/>
          </a:prstGeom>
          <a:noFill/>
          <a:ln>
            <a:noFill/>
          </a:ln>
        </p:spPr>
      </p:pic>
      <p:pic>
        <p:nvPicPr>
          <p:cNvPr id="187" name="Google Shape;187;p20" descr="image.png"/>
          <p:cNvPicPr preferRelativeResize="0"/>
          <p:nvPr/>
        </p:nvPicPr>
        <p:blipFill rotWithShape="1">
          <a:blip r:embed="rId5">
            <a:alphaModFix/>
          </a:blip>
          <a:srcRect/>
          <a:stretch/>
        </p:blipFill>
        <p:spPr>
          <a:xfrm>
            <a:off x="871538" y="4457700"/>
            <a:ext cx="7915275" cy="1914525"/>
          </a:xfrm>
          <a:prstGeom prst="rect">
            <a:avLst/>
          </a:prstGeom>
          <a:noFill/>
          <a:ln>
            <a:noFill/>
          </a:ln>
        </p:spPr>
      </p:pic>
      <p:sp>
        <p:nvSpPr>
          <p:cNvPr id="188" name="Google Shape;188;p20"/>
          <p:cNvSpPr txBox="1"/>
          <p:nvPr/>
        </p:nvSpPr>
        <p:spPr>
          <a:xfrm>
            <a:off x="871538" y="2986088"/>
            <a:ext cx="8311038" cy="324063"/>
          </a:xfrm>
          <a:prstGeom prst="rect">
            <a:avLst/>
          </a:prstGeom>
          <a:noFill/>
          <a:ln>
            <a:noFill/>
          </a:ln>
        </p:spPr>
        <p:txBody>
          <a:bodyPr spcFirstLastPara="1" wrap="square" lIns="0" tIns="0" rIns="0" bIns="0" anchor="t" anchorCtr="0">
            <a:spAutoFit/>
          </a:bodyPr>
          <a:lstStyle/>
          <a:p>
            <a:r>
              <a:rPr lang="en-US" sz="2106" b="1">
                <a:solidFill>
                  <a:srgbClr val="F8FAFC"/>
                </a:solidFill>
                <a:latin typeface="Urbanist"/>
                <a:ea typeface="Urbanist"/>
                <a:cs typeface="Urbanist"/>
                <a:sym typeface="Urbanist"/>
              </a:rPr>
              <a:t>Building Confidence</a:t>
            </a:r>
            <a:endParaRPr sz="2700"/>
          </a:p>
        </p:txBody>
      </p:sp>
      <p:sp>
        <p:nvSpPr>
          <p:cNvPr id="189" name="Google Shape;189;p20"/>
          <p:cNvSpPr txBox="1"/>
          <p:nvPr/>
        </p:nvSpPr>
        <p:spPr>
          <a:xfrm>
            <a:off x="871538" y="3314700"/>
            <a:ext cx="7915275" cy="1038746"/>
          </a:xfrm>
          <a:prstGeom prst="rect">
            <a:avLst/>
          </a:prstGeom>
          <a:noFill/>
          <a:ln>
            <a:noFill/>
          </a:ln>
        </p:spPr>
        <p:txBody>
          <a:bodyPr spcFirstLastPara="1" wrap="square" lIns="0" tIns="0" rIns="0" bIns="0" anchor="t" anchorCtr="0">
            <a:spAutoFit/>
          </a:bodyPr>
          <a:lstStyle/>
          <a:p>
            <a:pPr>
              <a:lnSpc>
                <a:spcPct val="150000"/>
              </a:lnSpc>
            </a:pPr>
            <a:r>
              <a:rPr lang="en-US" sz="2250">
                <a:solidFill>
                  <a:srgbClr val="94A3B8"/>
                </a:solidFill>
                <a:latin typeface="Urbanist"/>
                <a:ea typeface="Urbanist"/>
                <a:cs typeface="Urbanist"/>
                <a:sym typeface="Urbanist"/>
              </a:rPr>
              <a:t>Assurance is the ground for believing that a system meets its security requirements.</a:t>
            </a:r>
            <a:endParaRPr sz="2700"/>
          </a:p>
        </p:txBody>
      </p:sp>
      <p:pic>
        <p:nvPicPr>
          <p:cNvPr id="190" name="Google Shape;190;p20" descr="image.png"/>
          <p:cNvPicPr preferRelativeResize="0"/>
          <p:nvPr/>
        </p:nvPicPr>
        <p:blipFill rotWithShape="1">
          <a:blip r:embed="rId6">
            <a:alphaModFix/>
          </a:blip>
          <a:srcRect/>
          <a:stretch/>
        </p:blipFill>
        <p:spPr>
          <a:xfrm>
            <a:off x="9515475" y="3000375"/>
            <a:ext cx="7886700" cy="5686425"/>
          </a:xfrm>
          <a:prstGeom prst="rect">
            <a:avLst/>
          </a:prstGeom>
          <a:noFill/>
          <a:ln>
            <a:noFill/>
          </a:ln>
        </p:spPr>
      </p:pic>
      <p:sp>
        <p:nvSpPr>
          <p:cNvPr id="191" name="Google Shape;191;p20"/>
          <p:cNvSpPr txBox="1"/>
          <p:nvPr/>
        </p:nvSpPr>
        <p:spPr>
          <a:xfrm>
            <a:off x="1314450" y="4900613"/>
            <a:ext cx="7029450" cy="1558119"/>
          </a:xfrm>
          <a:prstGeom prst="rect">
            <a:avLst/>
          </a:prstGeom>
          <a:noFill/>
          <a:ln>
            <a:noFill/>
          </a:ln>
        </p:spPr>
        <p:txBody>
          <a:bodyPr spcFirstLastPara="1" wrap="square" lIns="0" tIns="0" rIns="0" bIns="0" anchor="t" anchorCtr="0">
            <a:spAutoFit/>
          </a:bodyPr>
          <a:lstStyle/>
          <a:p>
            <a:pPr>
              <a:lnSpc>
                <a:spcPct val="150000"/>
              </a:lnSpc>
            </a:pPr>
            <a:r>
              <a:rPr lang="en-US" sz="2250">
                <a:solidFill>
                  <a:srgbClr val="94A3B8"/>
                </a:solidFill>
                <a:latin typeface="Urbanist"/>
                <a:ea typeface="Urbanist"/>
                <a:cs typeface="Urbanist"/>
                <a:sym typeface="Urbanist"/>
              </a:rPr>
              <a:t>It encompasses </a:t>
            </a:r>
            <a:r>
              <a:rPr lang="en-US" sz="2250" b="1">
                <a:solidFill>
                  <a:srgbClr val="94A3B8"/>
                </a:solidFill>
                <a:latin typeface="Urbanist"/>
                <a:ea typeface="Urbanist"/>
                <a:cs typeface="Urbanist"/>
                <a:sym typeface="Urbanist"/>
              </a:rPr>
              <a:t>Design Assurance</a:t>
            </a:r>
            <a:r>
              <a:rPr lang="en-US" sz="2250">
                <a:solidFill>
                  <a:srgbClr val="94A3B8"/>
                </a:solidFill>
                <a:latin typeface="Urbanist"/>
                <a:ea typeface="Urbanist"/>
                <a:cs typeface="Urbanist"/>
                <a:sym typeface="Urbanist"/>
              </a:rPr>
              <a:t> (sound architecture) and </a:t>
            </a:r>
            <a:r>
              <a:rPr lang="en-US" sz="2250" b="1">
                <a:solidFill>
                  <a:srgbClr val="94A3B8"/>
                </a:solidFill>
                <a:latin typeface="Urbanist"/>
                <a:ea typeface="Urbanist"/>
                <a:cs typeface="Urbanist"/>
                <a:sym typeface="Urbanist"/>
              </a:rPr>
              <a:t>Operational Assurance</a:t>
            </a:r>
            <a:r>
              <a:rPr lang="en-US" sz="2250">
                <a:solidFill>
                  <a:srgbClr val="94A3B8"/>
                </a:solidFill>
                <a:latin typeface="Urbanist"/>
                <a:ea typeface="Urbanist"/>
                <a:cs typeface="Urbanist"/>
                <a:sym typeface="Urbanist"/>
              </a:rPr>
              <a:t> (secure day-to-day use).</a:t>
            </a:r>
            <a:endParaRPr sz="2700"/>
          </a:p>
        </p:txBody>
      </p:sp>
      <p:sp>
        <p:nvSpPr>
          <p:cNvPr id="192" name="Google Shape;192;p20"/>
          <p:cNvSpPr txBox="1"/>
          <p:nvPr/>
        </p:nvSpPr>
        <p:spPr>
          <a:xfrm>
            <a:off x="871538" y="871538"/>
            <a:ext cx="17372171" cy="830997"/>
          </a:xfrm>
          <a:prstGeom prst="rect">
            <a:avLst/>
          </a:prstGeom>
          <a:noFill/>
          <a:ln>
            <a:noFill/>
          </a:ln>
        </p:spPr>
        <p:txBody>
          <a:bodyPr spcFirstLastPara="1" wrap="square" lIns="0" tIns="0" rIns="0" bIns="0" anchor="t" anchorCtr="0">
            <a:spAutoFit/>
          </a:bodyPr>
          <a:lstStyle/>
          <a:p>
            <a:r>
              <a:rPr lang="en-US" sz="5400" b="1">
                <a:solidFill>
                  <a:srgbClr val="F8FAFC"/>
                </a:solidFill>
                <a:latin typeface="Urbanist"/>
                <a:ea typeface="Urbanist"/>
                <a:cs typeface="Urbanist"/>
                <a:sym typeface="Urbanist"/>
              </a:rPr>
              <a:t>System </a:t>
            </a:r>
            <a:r>
              <a:rPr lang="en-US" sz="5400" b="1">
                <a:solidFill>
                  <a:srgbClr val="DEFF9A"/>
                </a:solidFill>
                <a:latin typeface="Urbanist"/>
                <a:ea typeface="Urbanist"/>
                <a:cs typeface="Urbanist"/>
                <a:sym typeface="Urbanist"/>
              </a:rPr>
              <a:t>Assurance</a:t>
            </a:r>
            <a:endParaRPr sz="270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pic>
        <p:nvPicPr>
          <p:cNvPr id="197" name="Google Shape;197;p21" descr="image.png"/>
          <p:cNvPicPr preferRelativeResize="0"/>
          <p:nvPr/>
        </p:nvPicPr>
        <p:blipFill rotWithShape="1">
          <a:blip r:embed="rId3">
            <a:alphaModFix/>
          </a:blip>
          <a:srcRect/>
          <a:stretch/>
        </p:blipFill>
        <p:spPr>
          <a:xfrm>
            <a:off x="0" y="0"/>
            <a:ext cx="18288000" cy="10287000"/>
          </a:xfrm>
          <a:prstGeom prst="rect">
            <a:avLst/>
          </a:prstGeom>
          <a:noFill/>
          <a:ln>
            <a:noFill/>
          </a:ln>
        </p:spPr>
      </p:pic>
      <p:graphicFrame>
        <p:nvGraphicFramePr>
          <p:cNvPr id="198" name="Google Shape;198;p21"/>
          <p:cNvGraphicFramePr/>
          <p:nvPr/>
        </p:nvGraphicFramePr>
        <p:xfrm>
          <a:off x="871538" y="3307556"/>
          <a:ext cx="16544925" cy="5072065"/>
        </p:xfrm>
        <a:graphic>
          <a:graphicData uri="http://schemas.openxmlformats.org/drawingml/2006/table">
            <a:tbl>
              <a:tblPr firstRow="1" bandRow="1">
                <a:noFill/>
              </a:tblPr>
              <a:tblGrid>
                <a:gridCol w="5476125">
                  <a:extLst>
                    <a:ext uri="{9D8B030D-6E8A-4147-A177-3AD203B41FA5}">
                      <a16:colId xmlns:a16="http://schemas.microsoft.com/office/drawing/2014/main" val="20000"/>
                    </a:ext>
                  </a:extLst>
                </a:gridCol>
                <a:gridCol w="11068800">
                  <a:extLst>
                    <a:ext uri="{9D8B030D-6E8A-4147-A177-3AD203B41FA5}">
                      <a16:colId xmlns:a16="http://schemas.microsoft.com/office/drawing/2014/main" val="20001"/>
                    </a:ext>
                  </a:extLst>
                </a:gridCol>
              </a:tblGrid>
              <a:tr h="1014413">
                <a:tc>
                  <a:txBody>
                    <a:bodyPr/>
                    <a:lstStyle/>
                    <a:p>
                      <a:pPr marL="0" marR="0" lvl="0" indent="0" algn="l" rtl="0">
                        <a:spcBef>
                          <a:spcPts val="0"/>
                        </a:spcBef>
                        <a:spcAft>
                          <a:spcPts val="0"/>
                        </a:spcAft>
                        <a:buNone/>
                      </a:pPr>
                      <a:r>
                        <a:rPr lang="en-US" sz="2300" b="1" i="0" u="none" strike="noStrike" cap="none">
                          <a:solidFill>
                            <a:srgbClr val="DEFF9A"/>
                          </a:solidFill>
                          <a:latin typeface="Urbanist"/>
                          <a:ea typeface="Urbanist"/>
                          <a:cs typeface="Urbanist"/>
                          <a:sym typeface="Urbanist"/>
                        </a:rPr>
                        <a:t>Evaluation Method</a:t>
                      </a:r>
                      <a:endParaRPr sz="2700"/>
                    </a:p>
                  </a:txBody>
                  <a:tcPr marL="95250" marR="95250" marT="38100" marB="38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11827"/>
                    </a:solidFill>
                  </a:tcPr>
                </a:tc>
                <a:tc>
                  <a:txBody>
                    <a:bodyPr/>
                    <a:lstStyle/>
                    <a:p>
                      <a:pPr marL="0" marR="0" lvl="0" indent="0" algn="l" rtl="0">
                        <a:spcBef>
                          <a:spcPts val="0"/>
                        </a:spcBef>
                        <a:spcAft>
                          <a:spcPts val="0"/>
                        </a:spcAft>
                        <a:buNone/>
                      </a:pPr>
                      <a:r>
                        <a:rPr lang="en-US" sz="2300" b="1" i="0" u="none" strike="noStrike" cap="none">
                          <a:solidFill>
                            <a:srgbClr val="DEFF9A"/>
                          </a:solidFill>
                          <a:latin typeface="Urbanist"/>
                          <a:ea typeface="Urbanist"/>
                          <a:cs typeface="Urbanist"/>
                          <a:sym typeface="Urbanist"/>
                        </a:rPr>
                        <a:t>Strategic Focus</a:t>
                      </a:r>
                      <a:endParaRPr sz="2700"/>
                    </a:p>
                  </a:txBody>
                  <a:tcPr marL="95250" marR="95250" marT="38100" marB="38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11827"/>
                    </a:solidFill>
                  </a:tcPr>
                </a:tc>
                <a:extLst>
                  <a:ext uri="{0D108BD9-81ED-4DB2-BD59-A6C34878D82A}">
                    <a16:rowId xmlns:a16="http://schemas.microsoft.com/office/drawing/2014/main" val="10000"/>
                  </a:ext>
                </a:extLst>
              </a:tr>
              <a:tr h="1014413">
                <a:tc>
                  <a:txBody>
                    <a:bodyPr/>
                    <a:lstStyle/>
                    <a:p>
                      <a:pPr marL="0" marR="0" lvl="0" indent="0" algn="l" rtl="0">
                        <a:spcBef>
                          <a:spcPts val="0"/>
                        </a:spcBef>
                        <a:spcAft>
                          <a:spcPts val="0"/>
                        </a:spcAft>
                        <a:buNone/>
                      </a:pPr>
                      <a:r>
                        <a:rPr lang="en-US" sz="2300" b="0" i="0" u="none" strike="noStrike" cap="none" dirty="0">
                          <a:solidFill>
                            <a:schemeClr val="accent6">
                              <a:lumMod val="75000"/>
                            </a:schemeClr>
                          </a:solidFill>
                          <a:latin typeface="Urbanist"/>
                          <a:ea typeface="Urbanist"/>
                          <a:cs typeface="Urbanist"/>
                          <a:sym typeface="Urbanist"/>
                        </a:rPr>
                        <a:t>Internal Auditing</a:t>
                      </a:r>
                      <a:endParaRPr sz="2700" dirty="0">
                        <a:solidFill>
                          <a:schemeClr val="accent6">
                            <a:lumMod val="75000"/>
                          </a:schemeClr>
                        </a:solidFill>
                      </a:endParaRPr>
                    </a:p>
                  </a:txBody>
                  <a:tcPr marL="95250" marR="95250" marT="38100" marB="38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2300" b="0" i="0" u="none" strike="noStrike" cap="none" dirty="0">
                          <a:solidFill>
                            <a:schemeClr val="accent6">
                              <a:lumMod val="75000"/>
                            </a:schemeClr>
                          </a:solidFill>
                          <a:latin typeface="Urbanist"/>
                          <a:ea typeface="Urbanist"/>
                          <a:cs typeface="Urbanist"/>
                          <a:sym typeface="Urbanist"/>
                        </a:rPr>
                        <a:t>Routine check of policy compliance.</a:t>
                      </a:r>
                      <a:endParaRPr sz="2700" dirty="0">
                        <a:solidFill>
                          <a:schemeClr val="accent6">
                            <a:lumMod val="75000"/>
                          </a:schemeClr>
                        </a:solidFill>
                      </a:endParaRPr>
                    </a:p>
                  </a:txBody>
                  <a:tcPr marL="95250" marR="95250" marT="38100" marB="38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1014413">
                <a:tc>
                  <a:txBody>
                    <a:bodyPr/>
                    <a:lstStyle/>
                    <a:p>
                      <a:pPr marL="0" marR="0" lvl="0" indent="0" algn="l" rtl="0">
                        <a:spcBef>
                          <a:spcPts val="0"/>
                        </a:spcBef>
                        <a:spcAft>
                          <a:spcPts val="0"/>
                        </a:spcAft>
                        <a:buNone/>
                      </a:pPr>
                      <a:r>
                        <a:rPr lang="en-US" sz="2300" b="0" i="0" u="none" strike="noStrike" cap="none">
                          <a:solidFill>
                            <a:schemeClr val="accent6">
                              <a:lumMod val="75000"/>
                            </a:schemeClr>
                          </a:solidFill>
                          <a:latin typeface="Urbanist"/>
                          <a:ea typeface="Urbanist"/>
                          <a:cs typeface="Urbanist"/>
                          <a:sym typeface="Urbanist"/>
                        </a:rPr>
                        <a:t>Vulnerability Scanning</a:t>
                      </a:r>
                      <a:endParaRPr sz="2700">
                        <a:solidFill>
                          <a:schemeClr val="accent6">
                            <a:lumMod val="75000"/>
                          </a:schemeClr>
                        </a:solidFill>
                      </a:endParaRPr>
                    </a:p>
                  </a:txBody>
                  <a:tcPr marL="95250" marR="95250" marT="38100" marB="38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2300" b="0" i="0" u="none" strike="noStrike" cap="none" dirty="0">
                          <a:solidFill>
                            <a:schemeClr val="accent6">
                              <a:lumMod val="75000"/>
                            </a:schemeClr>
                          </a:solidFill>
                          <a:latin typeface="Urbanist"/>
                          <a:ea typeface="Urbanist"/>
                          <a:cs typeface="Urbanist"/>
                          <a:sym typeface="Urbanist"/>
                        </a:rPr>
                        <a:t>Technical discovery of known weaknesses.</a:t>
                      </a:r>
                      <a:endParaRPr sz="2700" dirty="0">
                        <a:solidFill>
                          <a:schemeClr val="accent6">
                            <a:lumMod val="75000"/>
                          </a:schemeClr>
                        </a:solidFill>
                      </a:endParaRPr>
                    </a:p>
                  </a:txBody>
                  <a:tcPr marL="95250" marR="95250" marT="38100" marB="38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1014413">
                <a:tc>
                  <a:txBody>
                    <a:bodyPr/>
                    <a:lstStyle/>
                    <a:p>
                      <a:pPr marL="0" marR="0" lvl="0" indent="0" algn="l" rtl="0">
                        <a:spcBef>
                          <a:spcPts val="0"/>
                        </a:spcBef>
                        <a:spcAft>
                          <a:spcPts val="0"/>
                        </a:spcAft>
                        <a:buNone/>
                      </a:pPr>
                      <a:r>
                        <a:rPr lang="en-US" sz="2300" b="0" i="0" u="none" strike="noStrike" cap="none">
                          <a:solidFill>
                            <a:schemeClr val="accent6">
                              <a:lumMod val="75000"/>
                            </a:schemeClr>
                          </a:solidFill>
                          <a:latin typeface="Urbanist"/>
                          <a:ea typeface="Urbanist"/>
                          <a:cs typeface="Urbanist"/>
                          <a:sym typeface="Urbanist"/>
                        </a:rPr>
                        <a:t>Penetration Testing</a:t>
                      </a:r>
                      <a:endParaRPr sz="2700">
                        <a:solidFill>
                          <a:schemeClr val="accent6">
                            <a:lumMod val="75000"/>
                          </a:schemeClr>
                        </a:solidFill>
                      </a:endParaRPr>
                    </a:p>
                  </a:txBody>
                  <a:tcPr marL="95250" marR="95250" marT="38100" marB="38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2300" b="0" i="0" u="none" strike="noStrike" cap="none" dirty="0">
                          <a:solidFill>
                            <a:schemeClr val="accent6">
                              <a:lumMod val="75000"/>
                            </a:schemeClr>
                          </a:solidFill>
                          <a:latin typeface="Urbanist"/>
                          <a:ea typeface="Urbanist"/>
                          <a:cs typeface="Urbanist"/>
                          <a:sym typeface="Urbanist"/>
                        </a:rPr>
                        <a:t>Simulated attacks to test response effectiveness.</a:t>
                      </a:r>
                      <a:endParaRPr sz="2700" dirty="0">
                        <a:solidFill>
                          <a:schemeClr val="accent6">
                            <a:lumMod val="75000"/>
                          </a:schemeClr>
                        </a:solidFill>
                      </a:endParaRPr>
                    </a:p>
                  </a:txBody>
                  <a:tcPr marL="95250" marR="95250" marT="38100" marB="38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1014413">
                <a:tc>
                  <a:txBody>
                    <a:bodyPr/>
                    <a:lstStyle/>
                    <a:p>
                      <a:pPr marL="0" marR="0" lvl="0" indent="0" algn="l" rtl="0">
                        <a:spcBef>
                          <a:spcPts val="0"/>
                        </a:spcBef>
                        <a:spcAft>
                          <a:spcPts val="0"/>
                        </a:spcAft>
                        <a:buNone/>
                      </a:pPr>
                      <a:r>
                        <a:rPr lang="en-US" sz="2300" b="0" i="0" u="none" strike="noStrike" cap="none">
                          <a:solidFill>
                            <a:schemeClr val="accent6">
                              <a:lumMod val="75000"/>
                            </a:schemeClr>
                          </a:solidFill>
                          <a:latin typeface="Urbanist"/>
                          <a:ea typeface="Urbanist"/>
                          <a:cs typeface="Urbanist"/>
                          <a:sym typeface="Urbanist"/>
                        </a:rPr>
                        <a:t>Certification</a:t>
                      </a:r>
                      <a:endParaRPr sz="2700">
                        <a:solidFill>
                          <a:schemeClr val="accent6">
                            <a:lumMod val="75000"/>
                          </a:schemeClr>
                        </a:solidFill>
                      </a:endParaRPr>
                    </a:p>
                  </a:txBody>
                  <a:tcPr marL="95250" marR="95250" marT="38100" marB="38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2300" b="0" i="0" u="none" strike="noStrike" cap="none" dirty="0">
                          <a:solidFill>
                            <a:schemeClr val="accent6">
                              <a:lumMod val="75000"/>
                            </a:schemeClr>
                          </a:solidFill>
                          <a:latin typeface="Urbanist"/>
                          <a:ea typeface="Urbanist"/>
                          <a:cs typeface="Urbanist"/>
                          <a:sym typeface="Urbanist"/>
                        </a:rPr>
                        <a:t>Formal review against standardized criteria.</a:t>
                      </a:r>
                      <a:endParaRPr sz="2700" dirty="0">
                        <a:solidFill>
                          <a:schemeClr val="accent6">
                            <a:lumMod val="75000"/>
                          </a:schemeClr>
                        </a:solidFill>
                      </a:endParaRPr>
                    </a:p>
                  </a:txBody>
                  <a:tcPr marL="95250" marR="95250" marT="38100" marB="38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199" name="Google Shape;199;p21"/>
          <p:cNvSpPr/>
          <p:nvPr/>
        </p:nvSpPr>
        <p:spPr>
          <a:xfrm>
            <a:off x="871538" y="4300538"/>
            <a:ext cx="5476130" cy="14288"/>
          </a:xfrm>
          <a:prstGeom prst="rect">
            <a:avLst/>
          </a:prstGeom>
          <a:solidFill>
            <a:srgbClr val="1E293B"/>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200" name="Google Shape;200;p21"/>
          <p:cNvSpPr/>
          <p:nvPr/>
        </p:nvSpPr>
        <p:spPr>
          <a:xfrm>
            <a:off x="6347667" y="4300538"/>
            <a:ext cx="11068794" cy="14288"/>
          </a:xfrm>
          <a:prstGeom prst="rect">
            <a:avLst/>
          </a:prstGeom>
          <a:solidFill>
            <a:srgbClr val="1E293B"/>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201" name="Google Shape;201;p21"/>
          <p:cNvSpPr/>
          <p:nvPr/>
        </p:nvSpPr>
        <p:spPr>
          <a:xfrm>
            <a:off x="871538" y="5314951"/>
            <a:ext cx="5476130" cy="14288"/>
          </a:xfrm>
          <a:prstGeom prst="rect">
            <a:avLst/>
          </a:prstGeom>
          <a:solidFill>
            <a:srgbClr val="1E293B"/>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202" name="Google Shape;202;p21"/>
          <p:cNvSpPr/>
          <p:nvPr/>
        </p:nvSpPr>
        <p:spPr>
          <a:xfrm>
            <a:off x="6347667" y="5314951"/>
            <a:ext cx="11068794" cy="14288"/>
          </a:xfrm>
          <a:prstGeom prst="rect">
            <a:avLst/>
          </a:prstGeom>
          <a:solidFill>
            <a:srgbClr val="1E293B"/>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203" name="Google Shape;203;p21"/>
          <p:cNvSpPr/>
          <p:nvPr/>
        </p:nvSpPr>
        <p:spPr>
          <a:xfrm>
            <a:off x="871538" y="6329363"/>
            <a:ext cx="5476130" cy="14288"/>
          </a:xfrm>
          <a:prstGeom prst="rect">
            <a:avLst/>
          </a:prstGeom>
          <a:solidFill>
            <a:srgbClr val="1E293B"/>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204" name="Google Shape;204;p21"/>
          <p:cNvSpPr/>
          <p:nvPr/>
        </p:nvSpPr>
        <p:spPr>
          <a:xfrm>
            <a:off x="6347667" y="6329363"/>
            <a:ext cx="11068794" cy="14288"/>
          </a:xfrm>
          <a:prstGeom prst="rect">
            <a:avLst/>
          </a:prstGeom>
          <a:solidFill>
            <a:srgbClr val="1E293B"/>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205" name="Google Shape;205;p21"/>
          <p:cNvSpPr/>
          <p:nvPr/>
        </p:nvSpPr>
        <p:spPr>
          <a:xfrm>
            <a:off x="871538" y="7343776"/>
            <a:ext cx="5476130" cy="14288"/>
          </a:xfrm>
          <a:prstGeom prst="rect">
            <a:avLst/>
          </a:prstGeom>
          <a:solidFill>
            <a:srgbClr val="1E293B"/>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206" name="Google Shape;206;p21"/>
          <p:cNvSpPr/>
          <p:nvPr/>
        </p:nvSpPr>
        <p:spPr>
          <a:xfrm>
            <a:off x="6347667" y="7343776"/>
            <a:ext cx="11068794" cy="14288"/>
          </a:xfrm>
          <a:prstGeom prst="rect">
            <a:avLst/>
          </a:prstGeom>
          <a:solidFill>
            <a:srgbClr val="1E293B"/>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207" name="Google Shape;207;p21"/>
          <p:cNvSpPr/>
          <p:nvPr/>
        </p:nvSpPr>
        <p:spPr>
          <a:xfrm>
            <a:off x="871538" y="8358188"/>
            <a:ext cx="5476130" cy="14288"/>
          </a:xfrm>
          <a:prstGeom prst="rect">
            <a:avLst/>
          </a:prstGeom>
          <a:solidFill>
            <a:srgbClr val="1E293B"/>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208" name="Google Shape;208;p21"/>
          <p:cNvSpPr/>
          <p:nvPr/>
        </p:nvSpPr>
        <p:spPr>
          <a:xfrm>
            <a:off x="6347667" y="8358188"/>
            <a:ext cx="11068794" cy="14288"/>
          </a:xfrm>
          <a:prstGeom prst="rect">
            <a:avLst/>
          </a:prstGeom>
          <a:solidFill>
            <a:srgbClr val="1E293B"/>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209" name="Google Shape;209;p21"/>
          <p:cNvSpPr txBox="1"/>
          <p:nvPr/>
        </p:nvSpPr>
        <p:spPr>
          <a:xfrm>
            <a:off x="871538" y="871538"/>
            <a:ext cx="17372171" cy="830997"/>
          </a:xfrm>
          <a:prstGeom prst="rect">
            <a:avLst/>
          </a:prstGeom>
          <a:noFill/>
          <a:ln>
            <a:noFill/>
          </a:ln>
        </p:spPr>
        <p:txBody>
          <a:bodyPr spcFirstLastPara="1" wrap="square" lIns="0" tIns="0" rIns="0" bIns="0" anchor="t" anchorCtr="0">
            <a:spAutoFit/>
          </a:bodyPr>
          <a:lstStyle/>
          <a:p>
            <a:r>
              <a:rPr lang="en-US" sz="5400" b="1">
                <a:solidFill>
                  <a:srgbClr val="F8FAFC"/>
                </a:solidFill>
                <a:latin typeface="Urbanist"/>
                <a:ea typeface="Urbanist"/>
                <a:cs typeface="Urbanist"/>
                <a:sym typeface="Urbanist"/>
              </a:rPr>
              <a:t>Measuring </a:t>
            </a:r>
            <a:r>
              <a:rPr lang="en-US" sz="5400" b="1">
                <a:solidFill>
                  <a:srgbClr val="DEFF9A"/>
                </a:solidFill>
                <a:latin typeface="Urbanist"/>
                <a:ea typeface="Urbanist"/>
                <a:cs typeface="Urbanist"/>
                <a:sym typeface="Urbanist"/>
              </a:rPr>
              <a:t>Success</a:t>
            </a:r>
            <a:endParaRPr sz="270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pic>
        <p:nvPicPr>
          <p:cNvPr id="214" name="Google Shape;214;p22" descr="image.png"/>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215" name="Google Shape;215;p22"/>
          <p:cNvSpPr txBox="1"/>
          <p:nvPr/>
        </p:nvSpPr>
        <p:spPr>
          <a:xfrm>
            <a:off x="871538" y="4564856"/>
            <a:ext cx="7915275" cy="2423740"/>
          </a:xfrm>
          <a:prstGeom prst="rect">
            <a:avLst/>
          </a:prstGeom>
          <a:noFill/>
          <a:ln>
            <a:noFill/>
          </a:ln>
        </p:spPr>
        <p:txBody>
          <a:bodyPr spcFirstLastPara="1" wrap="square" lIns="0" tIns="0" rIns="0" bIns="0" anchor="t" anchorCtr="0">
            <a:spAutoFit/>
          </a:bodyPr>
          <a:lstStyle/>
          <a:p>
            <a:r>
              <a:rPr lang="en-US" sz="15750" b="1">
                <a:solidFill>
                  <a:srgbClr val="DEFF9A"/>
                </a:solidFill>
                <a:latin typeface="Urbanist"/>
                <a:ea typeface="Urbanist"/>
                <a:cs typeface="Urbanist"/>
                <a:sym typeface="Urbanist"/>
              </a:rPr>
              <a:t>0%</a:t>
            </a:r>
            <a:endParaRPr sz="2700"/>
          </a:p>
        </p:txBody>
      </p:sp>
      <p:sp>
        <p:nvSpPr>
          <p:cNvPr id="216" name="Google Shape;216;p22"/>
          <p:cNvSpPr txBox="1"/>
          <p:nvPr/>
        </p:nvSpPr>
        <p:spPr>
          <a:xfrm>
            <a:off x="871538" y="6707981"/>
            <a:ext cx="7915275" cy="415498"/>
          </a:xfrm>
          <a:prstGeom prst="rect">
            <a:avLst/>
          </a:prstGeom>
          <a:noFill/>
          <a:ln>
            <a:noFill/>
          </a:ln>
        </p:spPr>
        <p:txBody>
          <a:bodyPr spcFirstLastPara="1" wrap="square" lIns="0" tIns="0" rIns="0" bIns="0" anchor="t" anchorCtr="0">
            <a:spAutoFit/>
          </a:bodyPr>
          <a:lstStyle/>
          <a:p>
            <a:pPr algn="ctr"/>
            <a:r>
              <a:rPr lang="en-US" sz="2700">
                <a:solidFill>
                  <a:srgbClr val="94A3B8"/>
                </a:solidFill>
                <a:latin typeface="Urbanist"/>
                <a:ea typeface="Urbanist"/>
                <a:cs typeface="Urbanist"/>
                <a:sym typeface="Urbanist"/>
              </a:rPr>
              <a:t>Total Security Guarantee</a:t>
            </a:r>
            <a:endParaRPr sz="2700"/>
          </a:p>
        </p:txBody>
      </p:sp>
      <p:sp>
        <p:nvSpPr>
          <p:cNvPr id="217" name="Google Shape;217;p22"/>
          <p:cNvSpPr txBox="1"/>
          <p:nvPr/>
        </p:nvSpPr>
        <p:spPr>
          <a:xfrm>
            <a:off x="9501188" y="4736306"/>
            <a:ext cx="8311038" cy="553998"/>
          </a:xfrm>
          <a:prstGeom prst="rect">
            <a:avLst/>
          </a:prstGeom>
          <a:noFill/>
          <a:ln>
            <a:noFill/>
          </a:ln>
        </p:spPr>
        <p:txBody>
          <a:bodyPr spcFirstLastPara="1" wrap="square" lIns="0" tIns="0" rIns="0" bIns="0" anchor="t" anchorCtr="0">
            <a:spAutoFit/>
          </a:bodyPr>
          <a:lstStyle/>
          <a:p>
            <a:r>
              <a:rPr lang="en-US" sz="3600" b="1">
                <a:solidFill>
                  <a:srgbClr val="F8FAFC"/>
                </a:solidFill>
                <a:latin typeface="Urbanist"/>
                <a:ea typeface="Urbanist"/>
                <a:cs typeface="Urbanist"/>
                <a:sym typeface="Urbanist"/>
              </a:rPr>
              <a:t>Managing the Unavoidable</a:t>
            </a:r>
            <a:endParaRPr sz="2700"/>
          </a:p>
        </p:txBody>
      </p:sp>
      <p:sp>
        <p:nvSpPr>
          <p:cNvPr id="218" name="Google Shape;218;p22"/>
          <p:cNvSpPr txBox="1"/>
          <p:nvPr/>
        </p:nvSpPr>
        <p:spPr>
          <a:xfrm>
            <a:off x="9501188" y="5493543"/>
            <a:ext cx="7915275" cy="1558119"/>
          </a:xfrm>
          <a:prstGeom prst="rect">
            <a:avLst/>
          </a:prstGeom>
          <a:noFill/>
          <a:ln>
            <a:noFill/>
          </a:ln>
        </p:spPr>
        <p:txBody>
          <a:bodyPr spcFirstLastPara="1" wrap="square" lIns="0" tIns="0" rIns="0" bIns="0" anchor="t" anchorCtr="0">
            <a:spAutoFit/>
          </a:bodyPr>
          <a:lstStyle/>
          <a:p>
            <a:pPr>
              <a:lnSpc>
                <a:spcPct val="150000"/>
              </a:lnSpc>
            </a:pPr>
            <a:r>
              <a:rPr lang="en-US" sz="2250">
                <a:solidFill>
                  <a:srgbClr val="94A3B8"/>
                </a:solidFill>
                <a:latin typeface="Urbanist"/>
                <a:ea typeface="Urbanist"/>
                <a:cs typeface="Urbanist"/>
                <a:sym typeface="Urbanist"/>
              </a:rPr>
              <a:t>Strategy assumes that some security failure will occur. The goal is to manage risk to an acceptable level, not to reach an impossible 100% security state.</a:t>
            </a:r>
            <a:endParaRPr sz="2700"/>
          </a:p>
        </p:txBody>
      </p:sp>
      <p:sp>
        <p:nvSpPr>
          <p:cNvPr id="219" name="Google Shape;219;p22"/>
          <p:cNvSpPr txBox="1"/>
          <p:nvPr/>
        </p:nvSpPr>
        <p:spPr>
          <a:xfrm>
            <a:off x="871538" y="871538"/>
            <a:ext cx="17372171" cy="830997"/>
          </a:xfrm>
          <a:prstGeom prst="rect">
            <a:avLst/>
          </a:prstGeom>
          <a:noFill/>
          <a:ln>
            <a:noFill/>
          </a:ln>
        </p:spPr>
        <p:txBody>
          <a:bodyPr spcFirstLastPara="1" wrap="square" lIns="0" tIns="0" rIns="0" bIns="0" anchor="t" anchorCtr="0">
            <a:spAutoFit/>
          </a:bodyPr>
          <a:lstStyle/>
          <a:p>
            <a:r>
              <a:rPr lang="en-US" sz="5400" b="1">
                <a:solidFill>
                  <a:srgbClr val="F8FAFC"/>
                </a:solidFill>
                <a:latin typeface="Urbanist"/>
                <a:ea typeface="Urbanist"/>
                <a:cs typeface="Urbanist"/>
                <a:sym typeface="Urbanist"/>
              </a:rPr>
              <a:t>The Reality of </a:t>
            </a:r>
            <a:r>
              <a:rPr lang="en-US" sz="5400" b="1">
                <a:solidFill>
                  <a:srgbClr val="DEFF9A"/>
                </a:solidFill>
                <a:latin typeface="Urbanist"/>
                <a:ea typeface="Urbanist"/>
                <a:cs typeface="Urbanist"/>
                <a:sym typeface="Urbanist"/>
              </a:rPr>
              <a:t>Risk</a:t>
            </a:r>
            <a:endParaRPr sz="270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pic>
        <p:nvPicPr>
          <p:cNvPr id="224" name="Google Shape;224;p23" descr="image.png"/>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225" name="Google Shape;225;p23"/>
          <p:cNvSpPr txBox="1"/>
          <p:nvPr/>
        </p:nvSpPr>
        <p:spPr>
          <a:xfrm>
            <a:off x="1443038" y="4664869"/>
            <a:ext cx="15973425" cy="519373"/>
          </a:xfrm>
          <a:prstGeom prst="rect">
            <a:avLst/>
          </a:prstGeom>
          <a:noFill/>
          <a:ln>
            <a:noFill/>
          </a:ln>
        </p:spPr>
        <p:txBody>
          <a:bodyPr spcFirstLastPara="1" wrap="square" lIns="0" tIns="0" rIns="0" bIns="0" anchor="t" anchorCtr="0">
            <a:spAutoFit/>
          </a:bodyPr>
          <a:lstStyle/>
          <a:p>
            <a:pPr>
              <a:lnSpc>
                <a:spcPct val="150000"/>
              </a:lnSpc>
            </a:pPr>
            <a:r>
              <a:rPr lang="en-US" sz="2250" b="1">
                <a:solidFill>
                  <a:srgbClr val="94A3B8"/>
                </a:solidFill>
                <a:latin typeface="Urbanist"/>
                <a:ea typeface="Urbanist"/>
                <a:cs typeface="Urbanist"/>
                <a:sym typeface="Urbanist"/>
              </a:rPr>
              <a:t>User Resistance:</a:t>
            </a:r>
            <a:r>
              <a:rPr lang="en-US" sz="2250">
                <a:solidFill>
                  <a:srgbClr val="94A3B8"/>
                </a:solidFill>
                <a:latin typeface="Urbanist"/>
                <a:ea typeface="Urbanist"/>
                <a:cs typeface="Urbanist"/>
                <a:sym typeface="Urbanist"/>
              </a:rPr>
              <a:t> Security measures that hinder productivity are often bypassed.</a:t>
            </a:r>
            <a:endParaRPr sz="2700"/>
          </a:p>
        </p:txBody>
      </p:sp>
      <p:sp>
        <p:nvSpPr>
          <p:cNvPr id="226" name="Google Shape;226;p23"/>
          <p:cNvSpPr txBox="1"/>
          <p:nvPr/>
        </p:nvSpPr>
        <p:spPr>
          <a:xfrm>
            <a:off x="1443038" y="5307806"/>
            <a:ext cx="15973425" cy="519373"/>
          </a:xfrm>
          <a:prstGeom prst="rect">
            <a:avLst/>
          </a:prstGeom>
          <a:noFill/>
          <a:ln>
            <a:noFill/>
          </a:ln>
        </p:spPr>
        <p:txBody>
          <a:bodyPr spcFirstLastPara="1" wrap="square" lIns="0" tIns="0" rIns="0" bIns="0" anchor="t" anchorCtr="0">
            <a:spAutoFit/>
          </a:bodyPr>
          <a:lstStyle/>
          <a:p>
            <a:pPr>
              <a:lnSpc>
                <a:spcPct val="150000"/>
              </a:lnSpc>
            </a:pPr>
            <a:r>
              <a:rPr lang="en-US" sz="2250" b="1">
                <a:solidFill>
                  <a:srgbClr val="94A3B8"/>
                </a:solidFill>
                <a:latin typeface="Urbanist"/>
                <a:ea typeface="Urbanist"/>
                <a:cs typeface="Urbanist"/>
                <a:sym typeface="Urbanist"/>
              </a:rPr>
              <a:t>Dynamic Threats:</a:t>
            </a:r>
            <a:r>
              <a:rPr lang="en-US" sz="2250">
                <a:solidFill>
                  <a:srgbClr val="94A3B8"/>
                </a:solidFill>
                <a:latin typeface="Urbanist"/>
                <a:ea typeface="Urbanist"/>
                <a:cs typeface="Urbanist"/>
                <a:sym typeface="Urbanist"/>
              </a:rPr>
              <a:t> Attackers constantly evolve their techniques.</a:t>
            </a:r>
            <a:endParaRPr sz="2700"/>
          </a:p>
        </p:txBody>
      </p:sp>
      <p:sp>
        <p:nvSpPr>
          <p:cNvPr id="227" name="Google Shape;227;p23"/>
          <p:cNvSpPr txBox="1"/>
          <p:nvPr/>
        </p:nvSpPr>
        <p:spPr>
          <a:xfrm>
            <a:off x="1443038" y="5950744"/>
            <a:ext cx="15973425" cy="519373"/>
          </a:xfrm>
          <a:prstGeom prst="rect">
            <a:avLst/>
          </a:prstGeom>
          <a:noFill/>
          <a:ln>
            <a:noFill/>
          </a:ln>
        </p:spPr>
        <p:txBody>
          <a:bodyPr spcFirstLastPara="1" wrap="square" lIns="0" tIns="0" rIns="0" bIns="0" anchor="t" anchorCtr="0">
            <a:spAutoFit/>
          </a:bodyPr>
          <a:lstStyle/>
          <a:p>
            <a:pPr>
              <a:lnSpc>
                <a:spcPct val="150000"/>
              </a:lnSpc>
            </a:pPr>
            <a:r>
              <a:rPr lang="en-US" sz="2250" b="1">
                <a:solidFill>
                  <a:srgbClr val="94A3B8"/>
                </a:solidFill>
                <a:latin typeface="Urbanist"/>
                <a:ea typeface="Urbanist"/>
                <a:cs typeface="Urbanist"/>
                <a:sym typeface="Urbanist"/>
              </a:rPr>
              <a:t>Legacy Systems:</a:t>
            </a:r>
            <a:r>
              <a:rPr lang="en-US" sz="2250">
                <a:solidFill>
                  <a:srgbClr val="94A3B8"/>
                </a:solidFill>
                <a:latin typeface="Urbanist"/>
                <a:ea typeface="Urbanist"/>
                <a:cs typeface="Urbanist"/>
                <a:sym typeface="Urbanist"/>
              </a:rPr>
              <a:t> Old hardware/software lacking modern security hooks.</a:t>
            </a:r>
            <a:endParaRPr sz="2700"/>
          </a:p>
        </p:txBody>
      </p:sp>
      <p:sp>
        <p:nvSpPr>
          <p:cNvPr id="228" name="Google Shape;228;p23"/>
          <p:cNvSpPr txBox="1"/>
          <p:nvPr/>
        </p:nvSpPr>
        <p:spPr>
          <a:xfrm>
            <a:off x="1443038" y="6593681"/>
            <a:ext cx="15973425" cy="519373"/>
          </a:xfrm>
          <a:prstGeom prst="rect">
            <a:avLst/>
          </a:prstGeom>
          <a:noFill/>
          <a:ln>
            <a:noFill/>
          </a:ln>
        </p:spPr>
        <p:txBody>
          <a:bodyPr spcFirstLastPara="1" wrap="square" lIns="0" tIns="0" rIns="0" bIns="0" anchor="t" anchorCtr="0">
            <a:spAutoFit/>
          </a:bodyPr>
          <a:lstStyle/>
          <a:p>
            <a:pPr>
              <a:lnSpc>
                <a:spcPct val="150000"/>
              </a:lnSpc>
            </a:pPr>
            <a:r>
              <a:rPr lang="en-US" sz="2250" b="1">
                <a:solidFill>
                  <a:srgbClr val="94A3B8"/>
                </a:solidFill>
                <a:latin typeface="Urbanist"/>
                <a:ea typeface="Urbanist"/>
                <a:cs typeface="Urbanist"/>
                <a:sym typeface="Urbanist"/>
              </a:rPr>
              <a:t>Resource Constraints:</a:t>
            </a:r>
            <a:r>
              <a:rPr lang="en-US" sz="2250">
                <a:solidFill>
                  <a:srgbClr val="94A3B8"/>
                </a:solidFill>
                <a:latin typeface="Urbanist"/>
                <a:ea typeface="Urbanist"/>
                <a:cs typeface="Urbanist"/>
                <a:sym typeface="Urbanist"/>
              </a:rPr>
              <a:t> Balancing limited budget with maximum protection.</a:t>
            </a:r>
            <a:endParaRPr sz="2700"/>
          </a:p>
        </p:txBody>
      </p:sp>
      <p:pic>
        <p:nvPicPr>
          <p:cNvPr id="229" name="Google Shape;229;p23" descr="image.png"/>
          <p:cNvPicPr preferRelativeResize="0"/>
          <p:nvPr/>
        </p:nvPicPr>
        <p:blipFill rotWithShape="1">
          <a:blip r:embed="rId4">
            <a:alphaModFix/>
          </a:blip>
          <a:srcRect/>
          <a:stretch/>
        </p:blipFill>
        <p:spPr>
          <a:xfrm>
            <a:off x="871538" y="4729163"/>
            <a:ext cx="285750" cy="300038"/>
          </a:xfrm>
          <a:prstGeom prst="rect">
            <a:avLst/>
          </a:prstGeom>
          <a:noFill/>
          <a:ln>
            <a:noFill/>
          </a:ln>
        </p:spPr>
      </p:pic>
      <p:pic>
        <p:nvPicPr>
          <p:cNvPr id="230" name="Google Shape;230;p23" descr="image.png"/>
          <p:cNvPicPr preferRelativeResize="0"/>
          <p:nvPr/>
        </p:nvPicPr>
        <p:blipFill rotWithShape="1">
          <a:blip r:embed="rId4">
            <a:alphaModFix/>
          </a:blip>
          <a:srcRect/>
          <a:stretch/>
        </p:blipFill>
        <p:spPr>
          <a:xfrm>
            <a:off x="871538" y="5372101"/>
            <a:ext cx="285750" cy="300038"/>
          </a:xfrm>
          <a:prstGeom prst="rect">
            <a:avLst/>
          </a:prstGeom>
          <a:noFill/>
          <a:ln>
            <a:noFill/>
          </a:ln>
        </p:spPr>
      </p:pic>
      <p:pic>
        <p:nvPicPr>
          <p:cNvPr id="231" name="Google Shape;231;p23" descr="image.png"/>
          <p:cNvPicPr preferRelativeResize="0"/>
          <p:nvPr/>
        </p:nvPicPr>
        <p:blipFill rotWithShape="1">
          <a:blip r:embed="rId4">
            <a:alphaModFix/>
          </a:blip>
          <a:srcRect/>
          <a:stretch/>
        </p:blipFill>
        <p:spPr>
          <a:xfrm>
            <a:off x="871538" y="6015038"/>
            <a:ext cx="285750" cy="300038"/>
          </a:xfrm>
          <a:prstGeom prst="rect">
            <a:avLst/>
          </a:prstGeom>
          <a:noFill/>
          <a:ln>
            <a:noFill/>
          </a:ln>
        </p:spPr>
      </p:pic>
      <p:pic>
        <p:nvPicPr>
          <p:cNvPr id="232" name="Google Shape;232;p23" descr="image.png"/>
          <p:cNvPicPr preferRelativeResize="0"/>
          <p:nvPr/>
        </p:nvPicPr>
        <p:blipFill rotWithShape="1">
          <a:blip r:embed="rId4">
            <a:alphaModFix/>
          </a:blip>
          <a:srcRect/>
          <a:stretch/>
        </p:blipFill>
        <p:spPr>
          <a:xfrm>
            <a:off x="871538" y="6657976"/>
            <a:ext cx="285750" cy="300038"/>
          </a:xfrm>
          <a:prstGeom prst="rect">
            <a:avLst/>
          </a:prstGeom>
          <a:noFill/>
          <a:ln>
            <a:noFill/>
          </a:ln>
        </p:spPr>
      </p:pic>
      <p:sp>
        <p:nvSpPr>
          <p:cNvPr id="233" name="Google Shape;233;p23"/>
          <p:cNvSpPr txBox="1"/>
          <p:nvPr/>
        </p:nvSpPr>
        <p:spPr>
          <a:xfrm>
            <a:off x="871538" y="871538"/>
            <a:ext cx="17372171" cy="830997"/>
          </a:xfrm>
          <a:prstGeom prst="rect">
            <a:avLst/>
          </a:prstGeom>
          <a:noFill/>
          <a:ln>
            <a:noFill/>
          </a:ln>
        </p:spPr>
        <p:txBody>
          <a:bodyPr spcFirstLastPara="1" wrap="square" lIns="0" tIns="0" rIns="0" bIns="0" anchor="t" anchorCtr="0">
            <a:spAutoFit/>
          </a:bodyPr>
          <a:lstStyle/>
          <a:p>
            <a:r>
              <a:rPr lang="en-US" sz="5400" b="1">
                <a:solidFill>
                  <a:srgbClr val="F8FAFC"/>
                </a:solidFill>
                <a:latin typeface="Urbanist"/>
                <a:ea typeface="Urbanist"/>
                <a:cs typeface="Urbanist"/>
                <a:sym typeface="Urbanist"/>
              </a:rPr>
              <a:t>Ongoing </a:t>
            </a:r>
            <a:r>
              <a:rPr lang="en-US" sz="5400" b="1">
                <a:solidFill>
                  <a:srgbClr val="DEFF9A"/>
                </a:solidFill>
                <a:latin typeface="Urbanist"/>
                <a:ea typeface="Urbanist"/>
                <a:cs typeface="Urbanist"/>
                <a:sym typeface="Urbanist"/>
              </a:rPr>
              <a:t>Challenges</a:t>
            </a:r>
            <a:endParaRPr sz="270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10391"/>
            <a:ext cx="18288000" cy="10287000"/>
          </a:xfrm>
          <a:prstGeom prst="rect">
            <a:avLst/>
          </a:prstGeom>
          <a:noFill/>
          <a:ln>
            <a:noFill/>
          </a:ln>
        </p:spPr>
      </p:pic>
      <p:sp>
        <p:nvSpPr>
          <p:cNvPr id="86" name="Google Shape;86;p13"/>
          <p:cNvSpPr txBox="1"/>
          <p:nvPr/>
        </p:nvSpPr>
        <p:spPr>
          <a:xfrm>
            <a:off x="1530548" y="4364831"/>
            <a:ext cx="15226902" cy="1211870"/>
          </a:xfrm>
          <a:prstGeom prst="rect">
            <a:avLst/>
          </a:prstGeom>
          <a:noFill/>
          <a:ln>
            <a:noFill/>
          </a:ln>
        </p:spPr>
        <p:txBody>
          <a:bodyPr spcFirstLastPara="1" wrap="square" lIns="0" tIns="0" rIns="0" bIns="0" anchor="t" anchorCtr="0">
            <a:spAutoFit/>
          </a:bodyPr>
          <a:lstStyle/>
          <a:p>
            <a:pPr algn="ctr"/>
            <a:r>
              <a:rPr lang="en-US" sz="7875" b="1">
                <a:solidFill>
                  <a:srgbClr val="005088"/>
                </a:solidFill>
                <a:latin typeface="Merriweather"/>
                <a:ea typeface="Merriweather"/>
                <a:cs typeface="Merriweather"/>
                <a:sym typeface="Merriweather"/>
              </a:rPr>
              <a:t>Computer Security Standards</a:t>
            </a:r>
            <a:endParaRPr sz="270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92" name="Google Shape;92;p14" descr="image.png"/>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93" name="Google Shape;93;p14"/>
          <p:cNvSpPr/>
          <p:nvPr/>
        </p:nvSpPr>
        <p:spPr>
          <a:xfrm>
            <a:off x="8429625" y="3057526"/>
            <a:ext cx="1428750" cy="71438"/>
          </a:xfrm>
          <a:prstGeom prst="rect">
            <a:avLst/>
          </a:prstGeom>
          <a:solidFill>
            <a:srgbClr val="11CAA0"/>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94" name="Google Shape;94;p14"/>
          <p:cNvSpPr txBox="1"/>
          <p:nvPr/>
        </p:nvSpPr>
        <p:spPr>
          <a:xfrm>
            <a:off x="5679281" y="3414713"/>
            <a:ext cx="7275909" cy="2077492"/>
          </a:xfrm>
          <a:prstGeom prst="rect">
            <a:avLst/>
          </a:prstGeom>
          <a:noFill/>
          <a:ln>
            <a:noFill/>
          </a:ln>
        </p:spPr>
        <p:txBody>
          <a:bodyPr spcFirstLastPara="1" wrap="square" lIns="0" tIns="0" rIns="0" bIns="0" anchor="t" anchorCtr="0">
            <a:spAutoFit/>
          </a:bodyPr>
          <a:lstStyle/>
          <a:p>
            <a:r>
              <a:rPr lang="en-US" sz="6750" b="1">
                <a:solidFill>
                  <a:srgbClr val="005088"/>
                </a:solidFill>
                <a:latin typeface="Merriweather"/>
                <a:ea typeface="Merriweather"/>
                <a:cs typeface="Merriweather"/>
                <a:sym typeface="Merriweather"/>
              </a:rPr>
              <a:t>The Crucial Role</a:t>
            </a:r>
            <a:br>
              <a:rPr lang="en-US" sz="2700">
                <a:solidFill>
                  <a:schemeClr val="dk1"/>
                </a:solidFill>
                <a:latin typeface="Calibri"/>
                <a:ea typeface="Calibri"/>
                <a:cs typeface="Calibri"/>
                <a:sym typeface="Calibri"/>
              </a:rPr>
            </a:br>
            <a:r>
              <a:rPr lang="en-US" sz="6750" b="1">
                <a:solidFill>
                  <a:srgbClr val="005088"/>
                </a:solidFill>
                <a:latin typeface="Merriweather"/>
                <a:ea typeface="Merriweather"/>
                <a:cs typeface="Merriweather"/>
                <a:sym typeface="Merriweather"/>
              </a:rPr>
              <a:t> of Standards</a:t>
            </a:r>
            <a:endParaRPr sz="2700"/>
          </a:p>
        </p:txBody>
      </p:sp>
      <p:sp>
        <p:nvSpPr>
          <p:cNvPr id="95" name="Google Shape;95;p14"/>
          <p:cNvSpPr txBox="1"/>
          <p:nvPr/>
        </p:nvSpPr>
        <p:spPr>
          <a:xfrm>
            <a:off x="3429000" y="5986463"/>
            <a:ext cx="11430000" cy="1246495"/>
          </a:xfrm>
          <a:prstGeom prst="rect">
            <a:avLst/>
          </a:prstGeom>
          <a:noFill/>
          <a:ln>
            <a:noFill/>
          </a:ln>
        </p:spPr>
        <p:txBody>
          <a:bodyPr spcFirstLastPara="1" wrap="square" lIns="0" tIns="0" rIns="0" bIns="0" anchor="t" anchorCtr="0">
            <a:spAutoFit/>
          </a:bodyPr>
          <a:lstStyle/>
          <a:p>
            <a:pPr algn="ctr">
              <a:lnSpc>
                <a:spcPct val="150000"/>
              </a:lnSpc>
            </a:pPr>
            <a:r>
              <a:rPr lang="en-US" sz="2700">
                <a:solidFill>
                  <a:srgbClr val="334155"/>
                </a:solidFill>
                <a:latin typeface="DM Sans"/>
                <a:ea typeface="DM Sans"/>
                <a:cs typeface="DM Sans"/>
                <a:sym typeface="DM Sans"/>
              </a:rPr>
              <a:t>Standards are essential for interoperability and for ensuring a consistent level of security across different systems and organizations.</a:t>
            </a:r>
            <a:endParaRPr sz="270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pic>
        <p:nvPicPr>
          <p:cNvPr id="100" name="Google Shape;100;p15" descr="image.png"/>
          <p:cNvPicPr preferRelativeResize="0"/>
          <p:nvPr/>
        </p:nvPicPr>
        <p:blipFill rotWithShape="1">
          <a:blip r:embed="rId3">
            <a:alphaModFix/>
          </a:blip>
          <a:srcRect/>
          <a:stretch/>
        </p:blipFill>
        <p:spPr>
          <a:xfrm>
            <a:off x="0" y="0"/>
            <a:ext cx="18288000" cy="10287000"/>
          </a:xfrm>
          <a:prstGeom prst="rect">
            <a:avLst/>
          </a:prstGeom>
          <a:noFill/>
          <a:ln>
            <a:noFill/>
          </a:ln>
        </p:spPr>
      </p:pic>
      <p:pic>
        <p:nvPicPr>
          <p:cNvPr id="101" name="Google Shape;101;p15" descr="image.png"/>
          <p:cNvPicPr preferRelativeResize="0"/>
          <p:nvPr/>
        </p:nvPicPr>
        <p:blipFill rotWithShape="1">
          <a:blip r:embed="rId4">
            <a:alphaModFix/>
          </a:blip>
          <a:srcRect/>
          <a:stretch/>
        </p:blipFill>
        <p:spPr>
          <a:xfrm>
            <a:off x="857251" y="4207669"/>
            <a:ext cx="7929563" cy="3328988"/>
          </a:xfrm>
          <a:prstGeom prst="rect">
            <a:avLst/>
          </a:prstGeom>
          <a:noFill/>
          <a:ln>
            <a:noFill/>
          </a:ln>
        </p:spPr>
      </p:pic>
      <p:pic>
        <p:nvPicPr>
          <p:cNvPr id="102" name="Google Shape;102;p15" descr="image.png"/>
          <p:cNvPicPr preferRelativeResize="0"/>
          <p:nvPr/>
        </p:nvPicPr>
        <p:blipFill rotWithShape="1">
          <a:blip r:embed="rId5">
            <a:alphaModFix/>
          </a:blip>
          <a:srcRect/>
          <a:stretch/>
        </p:blipFill>
        <p:spPr>
          <a:xfrm>
            <a:off x="9501188" y="4207669"/>
            <a:ext cx="7929563" cy="3328988"/>
          </a:xfrm>
          <a:prstGeom prst="rect">
            <a:avLst/>
          </a:prstGeom>
          <a:noFill/>
          <a:ln>
            <a:noFill/>
          </a:ln>
        </p:spPr>
      </p:pic>
      <p:sp>
        <p:nvSpPr>
          <p:cNvPr id="103" name="Google Shape;103;p15"/>
          <p:cNvSpPr txBox="1"/>
          <p:nvPr/>
        </p:nvSpPr>
        <p:spPr>
          <a:xfrm>
            <a:off x="1274087" y="4793456"/>
            <a:ext cx="7095887" cy="553998"/>
          </a:xfrm>
          <a:prstGeom prst="rect">
            <a:avLst/>
          </a:prstGeom>
          <a:noFill/>
          <a:ln>
            <a:noFill/>
          </a:ln>
        </p:spPr>
        <p:txBody>
          <a:bodyPr spcFirstLastPara="1" wrap="square" lIns="0" tIns="0" rIns="0" bIns="0" anchor="t" anchorCtr="0">
            <a:spAutoFit/>
          </a:bodyPr>
          <a:lstStyle/>
          <a:p>
            <a:pPr algn="ctr"/>
            <a:r>
              <a:rPr lang="en-US" sz="3600">
                <a:solidFill>
                  <a:srgbClr val="005088"/>
                </a:solidFill>
                <a:latin typeface="Merriweather"/>
                <a:ea typeface="Merriweather"/>
                <a:cs typeface="Merriweather"/>
                <a:sym typeface="Merriweather"/>
              </a:rPr>
              <a:t>Technical Precision</a:t>
            </a:r>
            <a:endParaRPr sz="2700"/>
          </a:p>
        </p:txBody>
      </p:sp>
      <p:sp>
        <p:nvSpPr>
          <p:cNvPr id="104" name="Google Shape;104;p15"/>
          <p:cNvSpPr txBox="1"/>
          <p:nvPr/>
        </p:nvSpPr>
        <p:spPr>
          <a:xfrm>
            <a:off x="1443038" y="5579268"/>
            <a:ext cx="6757988" cy="1402307"/>
          </a:xfrm>
          <a:prstGeom prst="rect">
            <a:avLst/>
          </a:prstGeom>
          <a:noFill/>
          <a:ln>
            <a:noFill/>
          </a:ln>
        </p:spPr>
        <p:txBody>
          <a:bodyPr spcFirstLastPara="1" wrap="square" lIns="0" tIns="0" rIns="0" bIns="0" anchor="t" anchorCtr="0">
            <a:spAutoFit/>
          </a:bodyPr>
          <a:lstStyle/>
          <a:p>
            <a:pPr algn="ctr">
              <a:lnSpc>
                <a:spcPct val="150000"/>
              </a:lnSpc>
            </a:pPr>
            <a:r>
              <a:rPr lang="en-US" sz="2025">
                <a:solidFill>
                  <a:srgbClr val="334155"/>
                </a:solidFill>
                <a:latin typeface="DM Sans"/>
                <a:ea typeface="DM Sans"/>
                <a:cs typeface="DM Sans"/>
                <a:sym typeface="DM Sans"/>
              </a:rPr>
              <a:t>Standards contain technical specifications or other precise criteria designed to be used consistently as a rule, guideline, or definition.</a:t>
            </a:r>
            <a:endParaRPr sz="2700"/>
          </a:p>
        </p:txBody>
      </p:sp>
      <p:sp>
        <p:nvSpPr>
          <p:cNvPr id="105" name="Google Shape;105;p15"/>
          <p:cNvSpPr txBox="1"/>
          <p:nvPr/>
        </p:nvSpPr>
        <p:spPr>
          <a:xfrm>
            <a:off x="9918025" y="4793456"/>
            <a:ext cx="7095887" cy="553998"/>
          </a:xfrm>
          <a:prstGeom prst="rect">
            <a:avLst/>
          </a:prstGeom>
          <a:noFill/>
          <a:ln>
            <a:noFill/>
          </a:ln>
        </p:spPr>
        <p:txBody>
          <a:bodyPr spcFirstLastPara="1" wrap="square" lIns="0" tIns="0" rIns="0" bIns="0" anchor="t" anchorCtr="0">
            <a:spAutoFit/>
          </a:bodyPr>
          <a:lstStyle/>
          <a:p>
            <a:pPr algn="ctr"/>
            <a:r>
              <a:rPr lang="en-US" sz="3600">
                <a:solidFill>
                  <a:srgbClr val="005088"/>
                </a:solidFill>
                <a:latin typeface="Merriweather"/>
                <a:ea typeface="Merriweather"/>
                <a:cs typeface="Merriweather"/>
                <a:sym typeface="Merriweather"/>
              </a:rPr>
              <a:t>Global Consistency</a:t>
            </a:r>
            <a:endParaRPr sz="2700"/>
          </a:p>
        </p:txBody>
      </p:sp>
      <p:sp>
        <p:nvSpPr>
          <p:cNvPr id="106" name="Google Shape;106;p15"/>
          <p:cNvSpPr txBox="1"/>
          <p:nvPr/>
        </p:nvSpPr>
        <p:spPr>
          <a:xfrm>
            <a:off x="10086976" y="5579269"/>
            <a:ext cx="6757988" cy="1402307"/>
          </a:xfrm>
          <a:prstGeom prst="rect">
            <a:avLst/>
          </a:prstGeom>
          <a:noFill/>
          <a:ln>
            <a:noFill/>
          </a:ln>
        </p:spPr>
        <p:txBody>
          <a:bodyPr spcFirstLastPara="1" wrap="square" lIns="0" tIns="0" rIns="0" bIns="0" anchor="t" anchorCtr="0">
            <a:spAutoFit/>
          </a:bodyPr>
          <a:lstStyle/>
          <a:p>
            <a:pPr algn="ctr">
              <a:lnSpc>
                <a:spcPct val="150000"/>
              </a:lnSpc>
            </a:pPr>
            <a:r>
              <a:rPr lang="en-US" sz="2025">
                <a:solidFill>
                  <a:srgbClr val="334155"/>
                </a:solidFill>
                <a:latin typeface="DM Sans"/>
                <a:ea typeface="DM Sans"/>
                <a:cs typeface="DM Sans"/>
                <a:sym typeface="DM Sans"/>
              </a:rPr>
              <a:t>They ensure that different products and systems from different vendors can work together seamlessly while maintaining security integrity.</a:t>
            </a:r>
            <a:endParaRPr sz="2700"/>
          </a:p>
        </p:txBody>
      </p:sp>
      <p:sp>
        <p:nvSpPr>
          <p:cNvPr id="107" name="Google Shape;107;p15"/>
          <p:cNvSpPr txBox="1"/>
          <p:nvPr/>
        </p:nvSpPr>
        <p:spPr>
          <a:xfrm>
            <a:off x="857250" y="857251"/>
            <a:ext cx="17402175" cy="692497"/>
          </a:xfrm>
          <a:prstGeom prst="rect">
            <a:avLst/>
          </a:prstGeom>
          <a:noFill/>
          <a:ln>
            <a:noFill/>
          </a:ln>
        </p:spPr>
        <p:txBody>
          <a:bodyPr spcFirstLastPara="1" wrap="square" lIns="0" tIns="0" rIns="0" bIns="0" anchor="t" anchorCtr="0">
            <a:spAutoFit/>
          </a:bodyPr>
          <a:lstStyle/>
          <a:p>
            <a:r>
              <a:rPr lang="en-US" sz="4500" b="1">
                <a:solidFill>
                  <a:srgbClr val="005088"/>
                </a:solidFill>
                <a:latin typeface="Merriweather"/>
                <a:ea typeface="Merriweather"/>
                <a:cs typeface="Merriweather"/>
                <a:sym typeface="Merriweather"/>
              </a:rPr>
              <a:t>Defining Standards</a:t>
            </a:r>
            <a:endParaRPr sz="2700"/>
          </a:p>
        </p:txBody>
      </p:sp>
      <p:sp>
        <p:nvSpPr>
          <p:cNvPr id="108" name="Google Shape;108;p15"/>
          <p:cNvSpPr/>
          <p:nvPr/>
        </p:nvSpPr>
        <p:spPr>
          <a:xfrm>
            <a:off x="857250" y="1714500"/>
            <a:ext cx="16573500" cy="28575"/>
          </a:xfrm>
          <a:prstGeom prst="rect">
            <a:avLst/>
          </a:prstGeom>
          <a:solidFill>
            <a:srgbClr val="11CAA0"/>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pic>
        <p:nvPicPr>
          <p:cNvPr id="113" name="Google Shape;113;p16" descr="image.png"/>
          <p:cNvPicPr preferRelativeResize="0"/>
          <p:nvPr/>
        </p:nvPicPr>
        <p:blipFill rotWithShape="1">
          <a:blip r:embed="rId3">
            <a:alphaModFix/>
          </a:blip>
          <a:srcRect/>
          <a:stretch/>
        </p:blipFill>
        <p:spPr>
          <a:xfrm>
            <a:off x="0" y="0"/>
            <a:ext cx="18288000" cy="10287000"/>
          </a:xfrm>
          <a:prstGeom prst="rect">
            <a:avLst/>
          </a:prstGeom>
          <a:noFill/>
          <a:ln>
            <a:noFill/>
          </a:ln>
        </p:spPr>
      </p:pic>
      <p:pic>
        <p:nvPicPr>
          <p:cNvPr id="114" name="Google Shape;114;p16" descr="image.png"/>
          <p:cNvPicPr preferRelativeResize="0"/>
          <p:nvPr/>
        </p:nvPicPr>
        <p:blipFill rotWithShape="1">
          <a:blip r:embed="rId4">
            <a:alphaModFix/>
          </a:blip>
          <a:srcRect/>
          <a:stretch/>
        </p:blipFill>
        <p:spPr>
          <a:xfrm>
            <a:off x="857251" y="3350419"/>
            <a:ext cx="3821906" cy="5043488"/>
          </a:xfrm>
          <a:prstGeom prst="rect">
            <a:avLst/>
          </a:prstGeom>
          <a:noFill/>
          <a:ln>
            <a:noFill/>
          </a:ln>
        </p:spPr>
      </p:pic>
      <p:pic>
        <p:nvPicPr>
          <p:cNvPr id="115" name="Google Shape;115;p16" descr="image.png"/>
          <p:cNvPicPr preferRelativeResize="0"/>
          <p:nvPr/>
        </p:nvPicPr>
        <p:blipFill rotWithShape="1">
          <a:blip r:embed="rId5">
            <a:alphaModFix/>
          </a:blip>
          <a:srcRect/>
          <a:stretch/>
        </p:blipFill>
        <p:spPr>
          <a:xfrm>
            <a:off x="5107781" y="3350419"/>
            <a:ext cx="3821906" cy="5043488"/>
          </a:xfrm>
          <a:prstGeom prst="rect">
            <a:avLst/>
          </a:prstGeom>
          <a:noFill/>
          <a:ln>
            <a:noFill/>
          </a:ln>
        </p:spPr>
      </p:pic>
      <p:pic>
        <p:nvPicPr>
          <p:cNvPr id="116" name="Google Shape;116;p16" descr="image.png"/>
          <p:cNvPicPr preferRelativeResize="0"/>
          <p:nvPr/>
        </p:nvPicPr>
        <p:blipFill rotWithShape="1">
          <a:blip r:embed="rId4">
            <a:alphaModFix/>
          </a:blip>
          <a:srcRect/>
          <a:stretch/>
        </p:blipFill>
        <p:spPr>
          <a:xfrm>
            <a:off x="9358313" y="3350419"/>
            <a:ext cx="3821906" cy="5043488"/>
          </a:xfrm>
          <a:prstGeom prst="rect">
            <a:avLst/>
          </a:prstGeom>
          <a:noFill/>
          <a:ln>
            <a:noFill/>
          </a:ln>
        </p:spPr>
      </p:pic>
      <p:pic>
        <p:nvPicPr>
          <p:cNvPr id="117" name="Google Shape;117;p16" descr="image.png"/>
          <p:cNvPicPr preferRelativeResize="0"/>
          <p:nvPr/>
        </p:nvPicPr>
        <p:blipFill rotWithShape="1">
          <a:blip r:embed="rId5">
            <a:alphaModFix/>
          </a:blip>
          <a:srcRect/>
          <a:stretch/>
        </p:blipFill>
        <p:spPr>
          <a:xfrm>
            <a:off x="13608844" y="3350419"/>
            <a:ext cx="3821906" cy="5043488"/>
          </a:xfrm>
          <a:prstGeom prst="rect">
            <a:avLst/>
          </a:prstGeom>
          <a:noFill/>
          <a:ln>
            <a:noFill/>
          </a:ln>
        </p:spPr>
      </p:pic>
      <p:sp>
        <p:nvSpPr>
          <p:cNvPr id="118" name="Google Shape;118;p16"/>
          <p:cNvSpPr txBox="1"/>
          <p:nvPr/>
        </p:nvSpPr>
        <p:spPr>
          <a:xfrm>
            <a:off x="1211759" y="5036343"/>
            <a:ext cx="3112889" cy="553998"/>
          </a:xfrm>
          <a:prstGeom prst="rect">
            <a:avLst/>
          </a:prstGeom>
          <a:noFill/>
          <a:ln>
            <a:noFill/>
          </a:ln>
        </p:spPr>
        <p:txBody>
          <a:bodyPr spcFirstLastPara="1" wrap="square" lIns="0" tIns="0" rIns="0" bIns="0" anchor="t" anchorCtr="0">
            <a:spAutoFit/>
          </a:bodyPr>
          <a:lstStyle/>
          <a:p>
            <a:pPr algn="ctr"/>
            <a:r>
              <a:rPr lang="en-US" sz="3600">
                <a:solidFill>
                  <a:srgbClr val="005088"/>
                </a:solidFill>
                <a:latin typeface="Merriweather"/>
                <a:ea typeface="Merriweather"/>
                <a:cs typeface="Merriweather"/>
                <a:sym typeface="Merriweather"/>
              </a:rPr>
              <a:t>NIST</a:t>
            </a:r>
            <a:endParaRPr sz="2700"/>
          </a:p>
        </p:txBody>
      </p:sp>
      <p:sp>
        <p:nvSpPr>
          <p:cNvPr id="119" name="Google Shape;119;p16"/>
          <p:cNvSpPr txBox="1"/>
          <p:nvPr/>
        </p:nvSpPr>
        <p:spPr>
          <a:xfrm>
            <a:off x="1285876" y="5822156"/>
            <a:ext cx="2964656" cy="2337178"/>
          </a:xfrm>
          <a:prstGeom prst="rect">
            <a:avLst/>
          </a:prstGeom>
          <a:noFill/>
          <a:ln>
            <a:noFill/>
          </a:ln>
        </p:spPr>
        <p:txBody>
          <a:bodyPr spcFirstLastPara="1" wrap="square" lIns="0" tIns="0" rIns="0" bIns="0" anchor="t" anchorCtr="0">
            <a:spAutoFit/>
          </a:bodyPr>
          <a:lstStyle/>
          <a:p>
            <a:pPr algn="ctr">
              <a:lnSpc>
                <a:spcPct val="150000"/>
              </a:lnSpc>
            </a:pPr>
            <a:r>
              <a:rPr lang="en-US" sz="2025">
                <a:solidFill>
                  <a:srgbClr val="334155"/>
                </a:solidFill>
                <a:latin typeface="DM Sans"/>
                <a:ea typeface="DM Sans"/>
                <a:cs typeface="DM Sans"/>
                <a:sym typeface="DM Sans"/>
              </a:rPr>
              <a:t>U.S. National Institute of Standards and Technology. Major influence on federal and global standards.</a:t>
            </a:r>
            <a:endParaRPr sz="2700"/>
          </a:p>
        </p:txBody>
      </p:sp>
      <p:sp>
        <p:nvSpPr>
          <p:cNvPr id="120" name="Google Shape;120;p16"/>
          <p:cNvSpPr txBox="1"/>
          <p:nvPr/>
        </p:nvSpPr>
        <p:spPr>
          <a:xfrm>
            <a:off x="5462290" y="5036343"/>
            <a:ext cx="3112889" cy="553998"/>
          </a:xfrm>
          <a:prstGeom prst="rect">
            <a:avLst/>
          </a:prstGeom>
          <a:noFill/>
          <a:ln>
            <a:noFill/>
          </a:ln>
        </p:spPr>
        <p:txBody>
          <a:bodyPr spcFirstLastPara="1" wrap="square" lIns="0" tIns="0" rIns="0" bIns="0" anchor="t" anchorCtr="0">
            <a:spAutoFit/>
          </a:bodyPr>
          <a:lstStyle/>
          <a:p>
            <a:pPr algn="ctr"/>
            <a:r>
              <a:rPr lang="en-US" sz="3600">
                <a:solidFill>
                  <a:srgbClr val="005088"/>
                </a:solidFill>
                <a:latin typeface="Merriweather"/>
                <a:ea typeface="Merriweather"/>
                <a:cs typeface="Merriweather"/>
                <a:sym typeface="Merriweather"/>
              </a:rPr>
              <a:t>ISOC</a:t>
            </a:r>
            <a:endParaRPr sz="2700"/>
          </a:p>
        </p:txBody>
      </p:sp>
      <p:sp>
        <p:nvSpPr>
          <p:cNvPr id="121" name="Google Shape;121;p16"/>
          <p:cNvSpPr txBox="1"/>
          <p:nvPr/>
        </p:nvSpPr>
        <p:spPr>
          <a:xfrm>
            <a:off x="5536406" y="5822156"/>
            <a:ext cx="2964656" cy="2337178"/>
          </a:xfrm>
          <a:prstGeom prst="rect">
            <a:avLst/>
          </a:prstGeom>
          <a:noFill/>
          <a:ln>
            <a:noFill/>
          </a:ln>
        </p:spPr>
        <p:txBody>
          <a:bodyPr spcFirstLastPara="1" wrap="square" lIns="0" tIns="0" rIns="0" bIns="0" anchor="t" anchorCtr="0">
            <a:spAutoFit/>
          </a:bodyPr>
          <a:lstStyle/>
          <a:p>
            <a:pPr algn="ctr">
              <a:lnSpc>
                <a:spcPct val="150000"/>
              </a:lnSpc>
            </a:pPr>
            <a:r>
              <a:rPr lang="en-US" sz="2025">
                <a:solidFill>
                  <a:srgbClr val="334155"/>
                </a:solidFill>
                <a:latin typeface="DM Sans"/>
                <a:ea typeface="DM Sans"/>
                <a:cs typeface="DM Sans"/>
                <a:sym typeface="DM Sans"/>
              </a:rPr>
              <a:t>Internet Society. Focuses on the evolution and growth of the Internet through bodies like IETF.</a:t>
            </a:r>
            <a:endParaRPr sz="2700"/>
          </a:p>
        </p:txBody>
      </p:sp>
      <p:sp>
        <p:nvSpPr>
          <p:cNvPr id="122" name="Google Shape;122;p16"/>
          <p:cNvSpPr txBox="1"/>
          <p:nvPr/>
        </p:nvSpPr>
        <p:spPr>
          <a:xfrm>
            <a:off x="9712822" y="5036343"/>
            <a:ext cx="3112889" cy="553998"/>
          </a:xfrm>
          <a:prstGeom prst="rect">
            <a:avLst/>
          </a:prstGeom>
          <a:noFill/>
          <a:ln>
            <a:noFill/>
          </a:ln>
        </p:spPr>
        <p:txBody>
          <a:bodyPr spcFirstLastPara="1" wrap="square" lIns="0" tIns="0" rIns="0" bIns="0" anchor="t" anchorCtr="0">
            <a:spAutoFit/>
          </a:bodyPr>
          <a:lstStyle/>
          <a:p>
            <a:pPr algn="ctr"/>
            <a:r>
              <a:rPr lang="en-US" sz="3600">
                <a:solidFill>
                  <a:srgbClr val="005088"/>
                </a:solidFill>
                <a:latin typeface="Merriweather"/>
                <a:ea typeface="Merriweather"/>
                <a:cs typeface="Merriweather"/>
                <a:sym typeface="Merriweather"/>
              </a:rPr>
              <a:t>ITU-T</a:t>
            </a:r>
            <a:endParaRPr sz="2700"/>
          </a:p>
        </p:txBody>
      </p:sp>
      <p:sp>
        <p:nvSpPr>
          <p:cNvPr id="123" name="Google Shape;123;p16"/>
          <p:cNvSpPr txBox="1"/>
          <p:nvPr/>
        </p:nvSpPr>
        <p:spPr>
          <a:xfrm>
            <a:off x="9786938" y="5822156"/>
            <a:ext cx="2964656" cy="2337178"/>
          </a:xfrm>
          <a:prstGeom prst="rect">
            <a:avLst/>
          </a:prstGeom>
          <a:noFill/>
          <a:ln>
            <a:noFill/>
          </a:ln>
        </p:spPr>
        <p:txBody>
          <a:bodyPr spcFirstLastPara="1" wrap="square" lIns="0" tIns="0" rIns="0" bIns="0" anchor="t" anchorCtr="0">
            <a:spAutoFit/>
          </a:bodyPr>
          <a:lstStyle/>
          <a:p>
            <a:pPr algn="ctr">
              <a:lnSpc>
                <a:spcPct val="150000"/>
              </a:lnSpc>
            </a:pPr>
            <a:r>
              <a:rPr lang="en-US" sz="2025">
                <a:solidFill>
                  <a:srgbClr val="334155"/>
                </a:solidFill>
                <a:latin typeface="DM Sans"/>
                <a:ea typeface="DM Sans"/>
                <a:cs typeface="DM Sans"/>
                <a:sym typeface="DM Sans"/>
              </a:rPr>
              <a:t>International Telecommunication Union. Specializing in international telecom standards.</a:t>
            </a:r>
            <a:endParaRPr sz="2700"/>
          </a:p>
        </p:txBody>
      </p:sp>
      <p:sp>
        <p:nvSpPr>
          <p:cNvPr id="124" name="Google Shape;124;p16"/>
          <p:cNvSpPr txBox="1"/>
          <p:nvPr/>
        </p:nvSpPr>
        <p:spPr>
          <a:xfrm>
            <a:off x="13963352" y="5036343"/>
            <a:ext cx="3112889" cy="553998"/>
          </a:xfrm>
          <a:prstGeom prst="rect">
            <a:avLst/>
          </a:prstGeom>
          <a:noFill/>
          <a:ln>
            <a:noFill/>
          </a:ln>
        </p:spPr>
        <p:txBody>
          <a:bodyPr spcFirstLastPara="1" wrap="square" lIns="0" tIns="0" rIns="0" bIns="0" anchor="t" anchorCtr="0">
            <a:spAutoFit/>
          </a:bodyPr>
          <a:lstStyle/>
          <a:p>
            <a:pPr algn="ctr"/>
            <a:r>
              <a:rPr lang="en-US" sz="3600">
                <a:solidFill>
                  <a:srgbClr val="005088"/>
                </a:solidFill>
                <a:latin typeface="Merriweather"/>
                <a:ea typeface="Merriweather"/>
                <a:cs typeface="Merriweather"/>
                <a:sym typeface="Merriweather"/>
              </a:rPr>
              <a:t>ISO</a:t>
            </a:r>
            <a:endParaRPr sz="2700"/>
          </a:p>
        </p:txBody>
      </p:sp>
      <p:sp>
        <p:nvSpPr>
          <p:cNvPr id="125" name="Google Shape;125;p16"/>
          <p:cNvSpPr txBox="1"/>
          <p:nvPr/>
        </p:nvSpPr>
        <p:spPr>
          <a:xfrm>
            <a:off x="14037469" y="5822156"/>
            <a:ext cx="2964656" cy="1869743"/>
          </a:xfrm>
          <a:prstGeom prst="rect">
            <a:avLst/>
          </a:prstGeom>
          <a:noFill/>
          <a:ln>
            <a:noFill/>
          </a:ln>
        </p:spPr>
        <p:txBody>
          <a:bodyPr spcFirstLastPara="1" wrap="square" lIns="0" tIns="0" rIns="0" bIns="0" anchor="t" anchorCtr="0">
            <a:spAutoFit/>
          </a:bodyPr>
          <a:lstStyle/>
          <a:p>
            <a:pPr algn="ctr">
              <a:lnSpc>
                <a:spcPct val="150000"/>
              </a:lnSpc>
            </a:pPr>
            <a:r>
              <a:rPr lang="en-US" sz="2025">
                <a:solidFill>
                  <a:srgbClr val="334155"/>
                </a:solidFill>
                <a:latin typeface="DM Sans"/>
                <a:ea typeface="DM Sans"/>
                <a:cs typeface="DM Sans"/>
                <a:sym typeface="DM Sans"/>
              </a:rPr>
              <a:t>International Organization for Standardization. A global non-governmental body.</a:t>
            </a:r>
            <a:endParaRPr sz="2700"/>
          </a:p>
        </p:txBody>
      </p:sp>
      <p:pic>
        <p:nvPicPr>
          <p:cNvPr id="126" name="Google Shape;126;p16" descr="image.png"/>
          <p:cNvPicPr preferRelativeResize="0"/>
          <p:nvPr/>
        </p:nvPicPr>
        <p:blipFill rotWithShape="1">
          <a:blip r:embed="rId6">
            <a:alphaModFix/>
          </a:blip>
          <a:srcRect/>
          <a:stretch/>
        </p:blipFill>
        <p:spPr>
          <a:xfrm>
            <a:off x="2425302" y="3936206"/>
            <a:ext cx="685800" cy="685800"/>
          </a:xfrm>
          <a:prstGeom prst="rect">
            <a:avLst/>
          </a:prstGeom>
          <a:noFill/>
          <a:ln>
            <a:noFill/>
          </a:ln>
        </p:spPr>
      </p:pic>
      <p:pic>
        <p:nvPicPr>
          <p:cNvPr id="127" name="Google Shape;127;p16" descr="image.png"/>
          <p:cNvPicPr preferRelativeResize="0"/>
          <p:nvPr/>
        </p:nvPicPr>
        <p:blipFill rotWithShape="1">
          <a:blip r:embed="rId7">
            <a:alphaModFix/>
          </a:blip>
          <a:srcRect/>
          <a:stretch/>
        </p:blipFill>
        <p:spPr>
          <a:xfrm>
            <a:off x="6675834" y="3936206"/>
            <a:ext cx="685800" cy="685800"/>
          </a:xfrm>
          <a:prstGeom prst="rect">
            <a:avLst/>
          </a:prstGeom>
          <a:noFill/>
          <a:ln>
            <a:noFill/>
          </a:ln>
        </p:spPr>
      </p:pic>
      <p:pic>
        <p:nvPicPr>
          <p:cNvPr id="128" name="Google Shape;128;p16" descr="image.png"/>
          <p:cNvPicPr preferRelativeResize="0"/>
          <p:nvPr/>
        </p:nvPicPr>
        <p:blipFill rotWithShape="1">
          <a:blip r:embed="rId8">
            <a:alphaModFix/>
          </a:blip>
          <a:srcRect/>
          <a:stretch/>
        </p:blipFill>
        <p:spPr>
          <a:xfrm>
            <a:off x="10883502" y="3936206"/>
            <a:ext cx="771525" cy="685800"/>
          </a:xfrm>
          <a:prstGeom prst="rect">
            <a:avLst/>
          </a:prstGeom>
          <a:noFill/>
          <a:ln>
            <a:noFill/>
          </a:ln>
        </p:spPr>
      </p:pic>
      <p:pic>
        <p:nvPicPr>
          <p:cNvPr id="129" name="Google Shape;129;p16" descr="image.png"/>
          <p:cNvPicPr preferRelativeResize="0"/>
          <p:nvPr/>
        </p:nvPicPr>
        <p:blipFill rotWithShape="1">
          <a:blip r:embed="rId9">
            <a:alphaModFix/>
          </a:blip>
          <a:srcRect/>
          <a:stretch/>
        </p:blipFill>
        <p:spPr>
          <a:xfrm>
            <a:off x="15091172" y="3936206"/>
            <a:ext cx="857250" cy="685800"/>
          </a:xfrm>
          <a:prstGeom prst="rect">
            <a:avLst/>
          </a:prstGeom>
          <a:noFill/>
          <a:ln>
            <a:noFill/>
          </a:ln>
        </p:spPr>
      </p:pic>
      <p:sp>
        <p:nvSpPr>
          <p:cNvPr id="130" name="Google Shape;130;p16"/>
          <p:cNvSpPr txBox="1"/>
          <p:nvPr/>
        </p:nvSpPr>
        <p:spPr>
          <a:xfrm>
            <a:off x="857250" y="857251"/>
            <a:ext cx="17402175" cy="692497"/>
          </a:xfrm>
          <a:prstGeom prst="rect">
            <a:avLst/>
          </a:prstGeom>
          <a:noFill/>
          <a:ln>
            <a:noFill/>
          </a:ln>
        </p:spPr>
        <p:txBody>
          <a:bodyPr spcFirstLastPara="1" wrap="square" lIns="0" tIns="0" rIns="0" bIns="0" anchor="t" anchorCtr="0">
            <a:spAutoFit/>
          </a:bodyPr>
          <a:lstStyle/>
          <a:p>
            <a:r>
              <a:rPr lang="en-US" sz="4500" b="1">
                <a:solidFill>
                  <a:srgbClr val="005088"/>
                </a:solidFill>
                <a:latin typeface="Merriweather"/>
                <a:ea typeface="Merriweather"/>
                <a:cs typeface="Merriweather"/>
                <a:sym typeface="Merriweather"/>
              </a:rPr>
              <a:t>Primary Standards Bodies</a:t>
            </a:r>
            <a:endParaRPr sz="2700"/>
          </a:p>
        </p:txBody>
      </p:sp>
      <p:sp>
        <p:nvSpPr>
          <p:cNvPr id="131" name="Google Shape;131;p16"/>
          <p:cNvSpPr/>
          <p:nvPr/>
        </p:nvSpPr>
        <p:spPr>
          <a:xfrm>
            <a:off x="857250" y="1714500"/>
            <a:ext cx="16573500" cy="28575"/>
          </a:xfrm>
          <a:prstGeom prst="rect">
            <a:avLst/>
          </a:prstGeom>
          <a:solidFill>
            <a:srgbClr val="11CAA0"/>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pic>
        <p:nvPicPr>
          <p:cNvPr id="136" name="Google Shape;136;p17" descr="image.png"/>
          <p:cNvPicPr preferRelativeResize="0"/>
          <p:nvPr/>
        </p:nvPicPr>
        <p:blipFill rotWithShape="1">
          <a:blip r:embed="rId3">
            <a:alphaModFix/>
          </a:blip>
          <a:srcRect/>
          <a:stretch/>
        </p:blipFill>
        <p:spPr>
          <a:xfrm>
            <a:off x="0" y="0"/>
            <a:ext cx="18288000" cy="10287000"/>
          </a:xfrm>
          <a:prstGeom prst="rect">
            <a:avLst/>
          </a:prstGeom>
          <a:noFill/>
          <a:ln>
            <a:noFill/>
          </a:ln>
        </p:spPr>
      </p:pic>
      <p:pic>
        <p:nvPicPr>
          <p:cNvPr id="137" name="Google Shape;137;p17" descr="image.png"/>
          <p:cNvPicPr preferRelativeResize="0"/>
          <p:nvPr/>
        </p:nvPicPr>
        <p:blipFill rotWithShape="1">
          <a:blip r:embed="rId4">
            <a:alphaModFix/>
          </a:blip>
          <a:srcRect/>
          <a:stretch/>
        </p:blipFill>
        <p:spPr>
          <a:xfrm>
            <a:off x="2321718" y="3371850"/>
            <a:ext cx="5000625" cy="5000625"/>
          </a:xfrm>
          <a:prstGeom prst="rect">
            <a:avLst/>
          </a:prstGeom>
          <a:noFill/>
          <a:ln>
            <a:noFill/>
          </a:ln>
        </p:spPr>
      </p:pic>
      <p:pic>
        <p:nvPicPr>
          <p:cNvPr id="138" name="Google Shape;138;p17" descr="image.png"/>
          <p:cNvPicPr preferRelativeResize="0"/>
          <p:nvPr/>
        </p:nvPicPr>
        <p:blipFill rotWithShape="1">
          <a:blip r:embed="rId5">
            <a:alphaModFix/>
          </a:blip>
          <a:srcRect/>
          <a:stretch/>
        </p:blipFill>
        <p:spPr>
          <a:xfrm>
            <a:off x="2436018" y="3486150"/>
            <a:ext cx="4772025" cy="4772025"/>
          </a:xfrm>
          <a:prstGeom prst="rect">
            <a:avLst/>
          </a:prstGeom>
          <a:noFill/>
          <a:ln>
            <a:noFill/>
          </a:ln>
        </p:spPr>
      </p:pic>
      <p:sp>
        <p:nvSpPr>
          <p:cNvPr id="139" name="Google Shape;139;p17"/>
          <p:cNvSpPr txBox="1"/>
          <p:nvPr/>
        </p:nvSpPr>
        <p:spPr>
          <a:xfrm>
            <a:off x="9501188" y="3971925"/>
            <a:ext cx="8326040" cy="553998"/>
          </a:xfrm>
          <a:prstGeom prst="rect">
            <a:avLst/>
          </a:prstGeom>
          <a:noFill/>
          <a:ln>
            <a:noFill/>
          </a:ln>
        </p:spPr>
        <p:txBody>
          <a:bodyPr spcFirstLastPara="1" wrap="square" lIns="0" tIns="0" rIns="0" bIns="0" anchor="t" anchorCtr="0">
            <a:spAutoFit/>
          </a:bodyPr>
          <a:lstStyle/>
          <a:p>
            <a:r>
              <a:rPr lang="en-US" sz="3600">
                <a:solidFill>
                  <a:srgbClr val="005088"/>
                </a:solidFill>
                <a:latin typeface="Merriweather"/>
                <a:ea typeface="Merriweather"/>
                <a:cs typeface="Merriweather"/>
                <a:sym typeface="Merriweather"/>
              </a:rPr>
              <a:t>The US Influence</a:t>
            </a:r>
            <a:endParaRPr sz="2700"/>
          </a:p>
        </p:txBody>
      </p:sp>
      <p:sp>
        <p:nvSpPr>
          <p:cNvPr id="140" name="Google Shape;140;p17"/>
          <p:cNvSpPr txBox="1"/>
          <p:nvPr/>
        </p:nvSpPr>
        <p:spPr>
          <a:xfrm>
            <a:off x="9501188" y="4757738"/>
            <a:ext cx="7929563" cy="1402307"/>
          </a:xfrm>
          <a:prstGeom prst="rect">
            <a:avLst/>
          </a:prstGeom>
          <a:noFill/>
          <a:ln>
            <a:noFill/>
          </a:ln>
        </p:spPr>
        <p:txBody>
          <a:bodyPr spcFirstLastPara="1" wrap="square" lIns="0" tIns="0" rIns="0" bIns="0" anchor="t" anchorCtr="0">
            <a:spAutoFit/>
          </a:bodyPr>
          <a:lstStyle/>
          <a:p>
            <a:pPr>
              <a:lnSpc>
                <a:spcPct val="150000"/>
              </a:lnSpc>
            </a:pPr>
            <a:r>
              <a:rPr lang="en-US" sz="2025">
                <a:solidFill>
                  <a:srgbClr val="334155"/>
                </a:solidFill>
                <a:latin typeface="DM Sans"/>
                <a:ea typeface="DM Sans"/>
                <a:cs typeface="DM Sans"/>
                <a:sym typeface="DM Sans"/>
              </a:rPr>
              <a:t>NIST is a non-regulatory agency of the U.S. Commerce Department. In the security domain, it is best known for producing:</a:t>
            </a:r>
            <a:endParaRPr sz="2700"/>
          </a:p>
        </p:txBody>
      </p:sp>
      <p:sp>
        <p:nvSpPr>
          <p:cNvPr id="141" name="Google Shape;141;p17"/>
          <p:cNvSpPr txBox="1"/>
          <p:nvPr/>
        </p:nvSpPr>
        <p:spPr>
          <a:xfrm>
            <a:off x="10144125" y="5757863"/>
            <a:ext cx="7286625" cy="467436"/>
          </a:xfrm>
          <a:prstGeom prst="rect">
            <a:avLst/>
          </a:prstGeom>
          <a:noFill/>
          <a:ln>
            <a:noFill/>
          </a:ln>
        </p:spPr>
        <p:txBody>
          <a:bodyPr spcFirstLastPara="1" wrap="square" lIns="0" tIns="0" rIns="0" bIns="0" anchor="t" anchorCtr="0">
            <a:spAutoFit/>
          </a:bodyPr>
          <a:lstStyle/>
          <a:p>
            <a:pPr>
              <a:lnSpc>
                <a:spcPct val="150000"/>
              </a:lnSpc>
            </a:pPr>
            <a:r>
              <a:rPr lang="en-US" sz="2025">
                <a:solidFill>
                  <a:srgbClr val="334155"/>
                </a:solidFill>
                <a:latin typeface="DM Sans"/>
                <a:ea typeface="DM Sans"/>
                <a:cs typeface="DM Sans"/>
                <a:sym typeface="DM Sans"/>
              </a:rPr>
              <a:t>FIPS (Federal Information Processing Standards)</a:t>
            </a:r>
            <a:endParaRPr sz="2700"/>
          </a:p>
        </p:txBody>
      </p:sp>
      <p:sp>
        <p:nvSpPr>
          <p:cNvPr id="142" name="Google Shape;142;p17"/>
          <p:cNvSpPr txBox="1"/>
          <p:nvPr/>
        </p:nvSpPr>
        <p:spPr>
          <a:xfrm>
            <a:off x="10144125" y="6429375"/>
            <a:ext cx="7286625" cy="467436"/>
          </a:xfrm>
          <a:prstGeom prst="rect">
            <a:avLst/>
          </a:prstGeom>
          <a:noFill/>
          <a:ln>
            <a:noFill/>
          </a:ln>
        </p:spPr>
        <p:txBody>
          <a:bodyPr spcFirstLastPara="1" wrap="square" lIns="0" tIns="0" rIns="0" bIns="0" anchor="t" anchorCtr="0">
            <a:spAutoFit/>
          </a:bodyPr>
          <a:lstStyle/>
          <a:p>
            <a:pPr>
              <a:lnSpc>
                <a:spcPct val="150000"/>
              </a:lnSpc>
            </a:pPr>
            <a:r>
              <a:rPr lang="en-US" sz="2025">
                <a:solidFill>
                  <a:srgbClr val="334155"/>
                </a:solidFill>
                <a:latin typeface="DM Sans"/>
                <a:ea typeface="DM Sans"/>
                <a:cs typeface="DM Sans"/>
                <a:sym typeface="DM Sans"/>
              </a:rPr>
              <a:t>SP 800 (Special Publications)</a:t>
            </a:r>
            <a:endParaRPr sz="2700"/>
          </a:p>
        </p:txBody>
      </p:sp>
      <p:sp>
        <p:nvSpPr>
          <p:cNvPr id="143" name="Google Shape;143;p17"/>
          <p:cNvSpPr txBox="1"/>
          <p:nvPr/>
        </p:nvSpPr>
        <p:spPr>
          <a:xfrm>
            <a:off x="10144125" y="7100888"/>
            <a:ext cx="7286625" cy="467436"/>
          </a:xfrm>
          <a:prstGeom prst="rect">
            <a:avLst/>
          </a:prstGeom>
          <a:noFill/>
          <a:ln>
            <a:noFill/>
          </a:ln>
        </p:spPr>
        <p:txBody>
          <a:bodyPr spcFirstLastPara="1" wrap="square" lIns="0" tIns="0" rIns="0" bIns="0" anchor="t" anchorCtr="0">
            <a:spAutoFit/>
          </a:bodyPr>
          <a:lstStyle/>
          <a:p>
            <a:pPr>
              <a:lnSpc>
                <a:spcPct val="150000"/>
              </a:lnSpc>
            </a:pPr>
            <a:r>
              <a:rPr lang="en-US" sz="2025">
                <a:solidFill>
                  <a:srgbClr val="334155"/>
                </a:solidFill>
                <a:latin typeface="DM Sans"/>
                <a:ea typeface="DM Sans"/>
                <a:cs typeface="DM Sans"/>
                <a:sym typeface="DM Sans"/>
              </a:rPr>
              <a:t>NISTIR (Interagency Reports)</a:t>
            </a:r>
            <a:endParaRPr sz="2700"/>
          </a:p>
        </p:txBody>
      </p:sp>
      <p:pic>
        <p:nvPicPr>
          <p:cNvPr id="144" name="Google Shape;144;p17" descr="image.png"/>
          <p:cNvPicPr preferRelativeResize="0"/>
          <p:nvPr/>
        </p:nvPicPr>
        <p:blipFill rotWithShape="1">
          <a:blip r:embed="rId6">
            <a:alphaModFix/>
          </a:blip>
          <a:srcRect/>
          <a:stretch/>
        </p:blipFill>
        <p:spPr>
          <a:xfrm>
            <a:off x="9501188" y="5786438"/>
            <a:ext cx="342900" cy="371475"/>
          </a:xfrm>
          <a:prstGeom prst="rect">
            <a:avLst/>
          </a:prstGeom>
          <a:noFill/>
          <a:ln>
            <a:noFill/>
          </a:ln>
        </p:spPr>
      </p:pic>
      <p:pic>
        <p:nvPicPr>
          <p:cNvPr id="145" name="Google Shape;145;p17" descr="image.png"/>
          <p:cNvPicPr preferRelativeResize="0"/>
          <p:nvPr/>
        </p:nvPicPr>
        <p:blipFill rotWithShape="1">
          <a:blip r:embed="rId6">
            <a:alphaModFix/>
          </a:blip>
          <a:srcRect/>
          <a:stretch/>
        </p:blipFill>
        <p:spPr>
          <a:xfrm>
            <a:off x="9501188" y="6457950"/>
            <a:ext cx="342900" cy="371475"/>
          </a:xfrm>
          <a:prstGeom prst="rect">
            <a:avLst/>
          </a:prstGeom>
          <a:noFill/>
          <a:ln>
            <a:noFill/>
          </a:ln>
        </p:spPr>
      </p:pic>
      <p:pic>
        <p:nvPicPr>
          <p:cNvPr id="146" name="Google Shape;146;p17" descr="image.png"/>
          <p:cNvPicPr preferRelativeResize="0"/>
          <p:nvPr/>
        </p:nvPicPr>
        <p:blipFill rotWithShape="1">
          <a:blip r:embed="rId6">
            <a:alphaModFix/>
          </a:blip>
          <a:srcRect/>
          <a:stretch/>
        </p:blipFill>
        <p:spPr>
          <a:xfrm>
            <a:off x="9501188" y="7129463"/>
            <a:ext cx="342900" cy="371475"/>
          </a:xfrm>
          <a:prstGeom prst="rect">
            <a:avLst/>
          </a:prstGeom>
          <a:noFill/>
          <a:ln>
            <a:noFill/>
          </a:ln>
        </p:spPr>
      </p:pic>
      <p:sp>
        <p:nvSpPr>
          <p:cNvPr id="147" name="Google Shape;147;p17"/>
          <p:cNvSpPr txBox="1"/>
          <p:nvPr/>
        </p:nvSpPr>
        <p:spPr>
          <a:xfrm>
            <a:off x="857250" y="857251"/>
            <a:ext cx="17402175" cy="692497"/>
          </a:xfrm>
          <a:prstGeom prst="rect">
            <a:avLst/>
          </a:prstGeom>
          <a:noFill/>
          <a:ln>
            <a:noFill/>
          </a:ln>
        </p:spPr>
        <p:txBody>
          <a:bodyPr spcFirstLastPara="1" wrap="square" lIns="0" tIns="0" rIns="0" bIns="0" anchor="t" anchorCtr="0">
            <a:spAutoFit/>
          </a:bodyPr>
          <a:lstStyle/>
          <a:p>
            <a:r>
              <a:rPr lang="en-US" sz="4500" b="1">
                <a:solidFill>
                  <a:srgbClr val="005088"/>
                </a:solidFill>
                <a:latin typeface="Merriweather"/>
                <a:ea typeface="Merriweather"/>
                <a:cs typeface="Merriweather"/>
                <a:sym typeface="Merriweather"/>
              </a:rPr>
              <a:t>NIST: Federal Excellence</a:t>
            </a:r>
            <a:endParaRPr sz="2700"/>
          </a:p>
        </p:txBody>
      </p:sp>
      <p:sp>
        <p:nvSpPr>
          <p:cNvPr id="148" name="Google Shape;148;p17"/>
          <p:cNvSpPr/>
          <p:nvPr/>
        </p:nvSpPr>
        <p:spPr>
          <a:xfrm>
            <a:off x="857250" y="1714500"/>
            <a:ext cx="16573500" cy="28575"/>
          </a:xfrm>
          <a:prstGeom prst="rect">
            <a:avLst/>
          </a:prstGeom>
          <a:solidFill>
            <a:srgbClr val="11CAA0"/>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pic>
        <p:nvPicPr>
          <p:cNvPr id="153" name="Google Shape;153;p18" descr="image.png"/>
          <p:cNvPicPr preferRelativeResize="0"/>
          <p:nvPr/>
        </p:nvPicPr>
        <p:blipFill rotWithShape="1">
          <a:blip r:embed="rId3">
            <a:alphaModFix/>
          </a:blip>
          <a:srcRect/>
          <a:stretch/>
        </p:blipFill>
        <p:spPr>
          <a:xfrm>
            <a:off x="0" y="0"/>
            <a:ext cx="18288000" cy="10287000"/>
          </a:xfrm>
          <a:prstGeom prst="rect">
            <a:avLst/>
          </a:prstGeom>
          <a:noFill/>
          <a:ln>
            <a:noFill/>
          </a:ln>
        </p:spPr>
      </p:pic>
      <p:pic>
        <p:nvPicPr>
          <p:cNvPr id="154" name="Google Shape;154;p18" descr="image.png"/>
          <p:cNvPicPr preferRelativeResize="0"/>
          <p:nvPr/>
        </p:nvPicPr>
        <p:blipFill rotWithShape="1">
          <a:blip r:embed="rId4">
            <a:alphaModFix/>
          </a:blip>
          <a:srcRect/>
          <a:stretch/>
        </p:blipFill>
        <p:spPr>
          <a:xfrm>
            <a:off x="9501188" y="3371850"/>
            <a:ext cx="7929563" cy="5000625"/>
          </a:xfrm>
          <a:prstGeom prst="rect">
            <a:avLst/>
          </a:prstGeom>
          <a:noFill/>
          <a:ln>
            <a:noFill/>
          </a:ln>
        </p:spPr>
      </p:pic>
      <p:sp>
        <p:nvSpPr>
          <p:cNvPr id="155" name="Google Shape;155;p18"/>
          <p:cNvSpPr txBox="1"/>
          <p:nvPr/>
        </p:nvSpPr>
        <p:spPr>
          <a:xfrm>
            <a:off x="857251" y="3371850"/>
            <a:ext cx="8326040" cy="553998"/>
          </a:xfrm>
          <a:prstGeom prst="rect">
            <a:avLst/>
          </a:prstGeom>
          <a:noFill/>
          <a:ln>
            <a:noFill/>
          </a:ln>
        </p:spPr>
        <p:txBody>
          <a:bodyPr spcFirstLastPara="1" wrap="square" lIns="0" tIns="0" rIns="0" bIns="0" anchor="t" anchorCtr="0">
            <a:spAutoFit/>
          </a:bodyPr>
          <a:lstStyle/>
          <a:p>
            <a:r>
              <a:rPr lang="en-US" sz="3600">
                <a:solidFill>
                  <a:srgbClr val="005088"/>
                </a:solidFill>
                <a:latin typeface="Merriweather"/>
                <a:ea typeface="Merriweather"/>
                <a:cs typeface="Merriweather"/>
                <a:sym typeface="Merriweather"/>
              </a:rPr>
              <a:t>The Voice of the Internet</a:t>
            </a:r>
            <a:endParaRPr sz="2700"/>
          </a:p>
        </p:txBody>
      </p:sp>
      <p:sp>
        <p:nvSpPr>
          <p:cNvPr id="156" name="Google Shape;156;p18"/>
          <p:cNvSpPr txBox="1"/>
          <p:nvPr/>
        </p:nvSpPr>
        <p:spPr>
          <a:xfrm>
            <a:off x="857251" y="4157663"/>
            <a:ext cx="7929563" cy="1402307"/>
          </a:xfrm>
          <a:prstGeom prst="rect">
            <a:avLst/>
          </a:prstGeom>
          <a:noFill/>
          <a:ln>
            <a:noFill/>
          </a:ln>
        </p:spPr>
        <p:txBody>
          <a:bodyPr spcFirstLastPara="1" wrap="square" lIns="0" tIns="0" rIns="0" bIns="0" anchor="t" anchorCtr="0">
            <a:spAutoFit/>
          </a:bodyPr>
          <a:lstStyle/>
          <a:p>
            <a:pPr>
              <a:lnSpc>
                <a:spcPct val="150000"/>
              </a:lnSpc>
            </a:pPr>
            <a:r>
              <a:rPr lang="en-US" sz="2025">
                <a:solidFill>
                  <a:srgbClr val="334155"/>
                </a:solidFill>
                <a:latin typeface="DM Sans"/>
                <a:ea typeface="DM Sans"/>
                <a:cs typeface="DM Sans"/>
                <a:sym typeface="DM Sans"/>
              </a:rPr>
              <a:t>The Internet Society (ISOC) oversees the Internet Engineering Task Force (IETF), which is responsible for the technical development of the Internet.</a:t>
            </a:r>
            <a:endParaRPr sz="2700"/>
          </a:p>
        </p:txBody>
      </p:sp>
      <p:sp>
        <p:nvSpPr>
          <p:cNvPr id="157" name="Google Shape;157;p18"/>
          <p:cNvSpPr txBox="1"/>
          <p:nvPr/>
        </p:nvSpPr>
        <p:spPr>
          <a:xfrm>
            <a:off x="857251" y="5529263"/>
            <a:ext cx="7929563" cy="1402307"/>
          </a:xfrm>
          <a:prstGeom prst="rect">
            <a:avLst/>
          </a:prstGeom>
          <a:noFill/>
          <a:ln>
            <a:noFill/>
          </a:ln>
        </p:spPr>
        <p:txBody>
          <a:bodyPr spcFirstLastPara="1" wrap="square" lIns="0" tIns="0" rIns="0" bIns="0" anchor="t" anchorCtr="0">
            <a:spAutoFit/>
          </a:bodyPr>
          <a:lstStyle/>
          <a:p>
            <a:pPr>
              <a:lnSpc>
                <a:spcPct val="150000"/>
              </a:lnSpc>
            </a:pPr>
            <a:r>
              <a:rPr lang="en-US" sz="2025" b="1">
                <a:solidFill>
                  <a:srgbClr val="334155"/>
                </a:solidFill>
                <a:latin typeface="DM Sans"/>
                <a:ea typeface="DM Sans"/>
                <a:cs typeface="DM Sans"/>
                <a:sym typeface="DM Sans"/>
              </a:rPr>
              <a:t>Request for Comments (RFC):</a:t>
            </a:r>
            <a:r>
              <a:rPr lang="en-US" sz="2025">
                <a:solidFill>
                  <a:srgbClr val="334155"/>
                </a:solidFill>
                <a:latin typeface="DM Sans"/>
                <a:ea typeface="DM Sans"/>
                <a:cs typeface="DM Sans"/>
                <a:sym typeface="DM Sans"/>
              </a:rPr>
              <a:t> The formal document series used for Internet standards, ranging from protocols to architectural guidelines.</a:t>
            </a:r>
            <a:endParaRPr sz="2700"/>
          </a:p>
        </p:txBody>
      </p:sp>
      <p:pic>
        <p:nvPicPr>
          <p:cNvPr id="158" name="Google Shape;158;p18" descr="image.png"/>
          <p:cNvPicPr preferRelativeResize="0"/>
          <p:nvPr/>
        </p:nvPicPr>
        <p:blipFill rotWithShape="1">
          <a:blip r:embed="rId5">
            <a:alphaModFix/>
          </a:blip>
          <a:srcRect/>
          <a:stretch/>
        </p:blipFill>
        <p:spPr>
          <a:xfrm>
            <a:off x="9515476" y="3386138"/>
            <a:ext cx="7900988" cy="4972050"/>
          </a:xfrm>
          <a:prstGeom prst="rect">
            <a:avLst/>
          </a:prstGeom>
          <a:noFill/>
          <a:ln>
            <a:noFill/>
          </a:ln>
        </p:spPr>
      </p:pic>
      <p:sp>
        <p:nvSpPr>
          <p:cNvPr id="159" name="Google Shape;159;p18"/>
          <p:cNvSpPr txBox="1"/>
          <p:nvPr/>
        </p:nvSpPr>
        <p:spPr>
          <a:xfrm>
            <a:off x="857250" y="857251"/>
            <a:ext cx="17402175" cy="692497"/>
          </a:xfrm>
          <a:prstGeom prst="rect">
            <a:avLst/>
          </a:prstGeom>
          <a:noFill/>
          <a:ln>
            <a:noFill/>
          </a:ln>
        </p:spPr>
        <p:txBody>
          <a:bodyPr spcFirstLastPara="1" wrap="square" lIns="0" tIns="0" rIns="0" bIns="0" anchor="t" anchorCtr="0">
            <a:spAutoFit/>
          </a:bodyPr>
          <a:lstStyle/>
          <a:p>
            <a:r>
              <a:rPr lang="en-US" sz="4500" b="1">
                <a:solidFill>
                  <a:srgbClr val="005088"/>
                </a:solidFill>
                <a:latin typeface="Merriweather"/>
                <a:ea typeface="Merriweather"/>
                <a:cs typeface="Merriweather"/>
                <a:sym typeface="Merriweather"/>
              </a:rPr>
              <a:t>ISOC &amp; IETF: Internet Standards</a:t>
            </a:r>
            <a:endParaRPr sz="2700"/>
          </a:p>
        </p:txBody>
      </p:sp>
      <p:sp>
        <p:nvSpPr>
          <p:cNvPr id="160" name="Google Shape;160;p18"/>
          <p:cNvSpPr/>
          <p:nvPr/>
        </p:nvSpPr>
        <p:spPr>
          <a:xfrm>
            <a:off x="857250" y="1714500"/>
            <a:ext cx="16573500" cy="28575"/>
          </a:xfrm>
          <a:prstGeom prst="rect">
            <a:avLst/>
          </a:prstGeom>
          <a:solidFill>
            <a:srgbClr val="11CAA0"/>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pic>
        <p:nvPicPr>
          <p:cNvPr id="165" name="Google Shape;165;p19" descr="image.png"/>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166" name="Google Shape;166;p19"/>
          <p:cNvSpPr txBox="1"/>
          <p:nvPr/>
        </p:nvSpPr>
        <p:spPr>
          <a:xfrm>
            <a:off x="857251" y="857251"/>
            <a:ext cx="8326040" cy="692497"/>
          </a:xfrm>
          <a:prstGeom prst="rect">
            <a:avLst/>
          </a:prstGeom>
          <a:noFill/>
          <a:ln>
            <a:noFill/>
          </a:ln>
        </p:spPr>
        <p:txBody>
          <a:bodyPr spcFirstLastPara="1" wrap="square" lIns="0" tIns="0" rIns="0" bIns="0" anchor="t" anchorCtr="0">
            <a:spAutoFit/>
          </a:bodyPr>
          <a:lstStyle/>
          <a:p>
            <a:r>
              <a:rPr lang="en-US" sz="4500" b="1">
                <a:solidFill>
                  <a:srgbClr val="005088"/>
                </a:solidFill>
                <a:latin typeface="Merriweather"/>
                <a:ea typeface="Merriweather"/>
                <a:cs typeface="Merriweather"/>
                <a:sym typeface="Merriweather"/>
              </a:rPr>
              <a:t>ITU-T: Telecommunications</a:t>
            </a:r>
            <a:endParaRPr sz="2700"/>
          </a:p>
        </p:txBody>
      </p:sp>
      <p:sp>
        <p:nvSpPr>
          <p:cNvPr id="167" name="Google Shape;167;p19"/>
          <p:cNvSpPr/>
          <p:nvPr/>
        </p:nvSpPr>
        <p:spPr>
          <a:xfrm>
            <a:off x="857251" y="2428875"/>
            <a:ext cx="7929563" cy="28575"/>
          </a:xfrm>
          <a:prstGeom prst="rect">
            <a:avLst/>
          </a:prstGeom>
          <a:solidFill>
            <a:srgbClr val="11CAA0"/>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169" name="Google Shape;169;p19"/>
          <p:cNvSpPr txBox="1"/>
          <p:nvPr/>
        </p:nvSpPr>
        <p:spPr>
          <a:xfrm>
            <a:off x="857251" y="3028950"/>
            <a:ext cx="8326040" cy="553998"/>
          </a:xfrm>
          <a:prstGeom prst="rect">
            <a:avLst/>
          </a:prstGeom>
          <a:noFill/>
          <a:ln>
            <a:noFill/>
          </a:ln>
        </p:spPr>
        <p:txBody>
          <a:bodyPr spcFirstLastPara="1" wrap="square" lIns="0" tIns="0" rIns="0" bIns="0" anchor="t" anchorCtr="0">
            <a:spAutoFit/>
          </a:bodyPr>
          <a:lstStyle/>
          <a:p>
            <a:r>
              <a:rPr lang="en-US" sz="3600">
                <a:solidFill>
                  <a:srgbClr val="005088"/>
                </a:solidFill>
                <a:latin typeface="Merriweather"/>
                <a:ea typeface="Merriweather"/>
                <a:cs typeface="Merriweather"/>
                <a:sym typeface="Merriweather"/>
              </a:rPr>
              <a:t>Global Connectivity</a:t>
            </a:r>
            <a:endParaRPr sz="2700"/>
          </a:p>
        </p:txBody>
      </p:sp>
      <p:sp>
        <p:nvSpPr>
          <p:cNvPr id="170" name="Google Shape;170;p19"/>
          <p:cNvSpPr txBox="1"/>
          <p:nvPr/>
        </p:nvSpPr>
        <p:spPr>
          <a:xfrm>
            <a:off x="857251" y="3814763"/>
            <a:ext cx="7929563" cy="934871"/>
          </a:xfrm>
          <a:prstGeom prst="rect">
            <a:avLst/>
          </a:prstGeom>
          <a:noFill/>
          <a:ln>
            <a:noFill/>
          </a:ln>
        </p:spPr>
        <p:txBody>
          <a:bodyPr spcFirstLastPara="1" wrap="square" lIns="0" tIns="0" rIns="0" bIns="0" anchor="t" anchorCtr="0">
            <a:spAutoFit/>
          </a:bodyPr>
          <a:lstStyle/>
          <a:p>
            <a:pPr>
              <a:lnSpc>
                <a:spcPct val="150000"/>
              </a:lnSpc>
            </a:pPr>
            <a:r>
              <a:rPr lang="en-US" sz="2025">
                <a:solidFill>
                  <a:srgbClr val="334155"/>
                </a:solidFill>
                <a:latin typeface="DM Sans"/>
                <a:ea typeface="DM Sans"/>
                <a:cs typeface="DM Sans"/>
                <a:sym typeface="DM Sans"/>
              </a:rPr>
              <a:t>The ITU-T is a United Nations specialized agency. It develops international standards for telecommunications.</a:t>
            </a:r>
            <a:endParaRPr sz="2700"/>
          </a:p>
        </p:txBody>
      </p:sp>
      <p:sp>
        <p:nvSpPr>
          <p:cNvPr id="171" name="Google Shape;171;p19"/>
          <p:cNvSpPr txBox="1"/>
          <p:nvPr/>
        </p:nvSpPr>
        <p:spPr>
          <a:xfrm>
            <a:off x="857251" y="4800601"/>
            <a:ext cx="7929563" cy="934871"/>
          </a:xfrm>
          <a:prstGeom prst="rect">
            <a:avLst/>
          </a:prstGeom>
          <a:noFill/>
          <a:ln>
            <a:noFill/>
          </a:ln>
        </p:spPr>
        <p:txBody>
          <a:bodyPr spcFirstLastPara="1" wrap="square" lIns="0" tIns="0" rIns="0" bIns="0" anchor="t" anchorCtr="0">
            <a:spAutoFit/>
          </a:bodyPr>
          <a:lstStyle/>
          <a:p>
            <a:pPr>
              <a:lnSpc>
                <a:spcPct val="150000"/>
              </a:lnSpc>
            </a:pPr>
            <a:r>
              <a:rPr lang="en-US" sz="2025" b="1">
                <a:solidFill>
                  <a:srgbClr val="334155"/>
                </a:solidFill>
                <a:latin typeface="DM Sans"/>
                <a:ea typeface="DM Sans"/>
                <a:cs typeface="DM Sans"/>
                <a:sym typeface="DM Sans"/>
              </a:rPr>
              <a:t>X.800 Architecture:</a:t>
            </a:r>
            <a:r>
              <a:rPr lang="en-US" sz="2025">
                <a:solidFill>
                  <a:srgbClr val="334155"/>
                </a:solidFill>
                <a:latin typeface="DM Sans"/>
                <a:ea typeface="DM Sans"/>
                <a:cs typeface="DM Sans"/>
                <a:sym typeface="DM Sans"/>
              </a:rPr>
              <a:t> Defines a systematic way of providing security requirements (Security Architecture for OSI).</a:t>
            </a:r>
            <a:endParaRPr sz="2700"/>
          </a:p>
        </p:txBody>
      </p:sp>
      <p:sp>
        <p:nvSpPr>
          <p:cNvPr id="172" name="Google Shape;172;p19"/>
          <p:cNvSpPr txBox="1"/>
          <p:nvPr/>
        </p:nvSpPr>
        <p:spPr>
          <a:xfrm>
            <a:off x="857251" y="5786438"/>
            <a:ext cx="7929563" cy="934871"/>
          </a:xfrm>
          <a:prstGeom prst="rect">
            <a:avLst/>
          </a:prstGeom>
          <a:noFill/>
          <a:ln>
            <a:noFill/>
          </a:ln>
        </p:spPr>
        <p:txBody>
          <a:bodyPr spcFirstLastPara="1" wrap="square" lIns="0" tIns="0" rIns="0" bIns="0" anchor="t" anchorCtr="0">
            <a:spAutoFit/>
          </a:bodyPr>
          <a:lstStyle/>
          <a:p>
            <a:pPr>
              <a:lnSpc>
                <a:spcPct val="150000"/>
              </a:lnSpc>
            </a:pPr>
            <a:r>
              <a:rPr lang="en-US" sz="2025" b="1">
                <a:solidFill>
                  <a:srgbClr val="334155"/>
                </a:solidFill>
                <a:latin typeface="DM Sans"/>
                <a:ea typeface="DM Sans"/>
                <a:cs typeface="DM Sans"/>
                <a:sym typeface="DM Sans"/>
              </a:rPr>
              <a:t>X.509 Standard:</a:t>
            </a:r>
            <a:r>
              <a:rPr lang="en-US" sz="2025">
                <a:solidFill>
                  <a:srgbClr val="334155"/>
                </a:solidFill>
                <a:latin typeface="DM Sans"/>
                <a:ea typeface="DM Sans"/>
                <a:cs typeface="DM Sans"/>
                <a:sym typeface="DM Sans"/>
              </a:rPr>
              <a:t> A key standard for public-key certificates and digital signatures used globally.</a:t>
            </a:r>
            <a:endParaRPr sz="270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pic>
        <p:nvPicPr>
          <p:cNvPr id="177" name="Google Shape;177;p20" descr="image.png"/>
          <p:cNvPicPr preferRelativeResize="0"/>
          <p:nvPr/>
        </p:nvPicPr>
        <p:blipFill rotWithShape="1">
          <a:blip r:embed="rId3">
            <a:alphaModFix/>
          </a:blip>
          <a:srcRect/>
          <a:stretch/>
        </p:blipFill>
        <p:spPr>
          <a:xfrm>
            <a:off x="0" y="0"/>
            <a:ext cx="18288000" cy="10287000"/>
          </a:xfrm>
          <a:prstGeom prst="rect">
            <a:avLst/>
          </a:prstGeom>
          <a:noFill/>
          <a:ln>
            <a:noFill/>
          </a:ln>
        </p:spPr>
      </p:pic>
      <p:pic>
        <p:nvPicPr>
          <p:cNvPr id="178" name="Google Shape;178;p20" descr="image.png"/>
          <p:cNvPicPr preferRelativeResize="0"/>
          <p:nvPr/>
        </p:nvPicPr>
        <p:blipFill rotWithShape="1">
          <a:blip r:embed="rId4">
            <a:alphaModFix/>
          </a:blip>
          <a:srcRect/>
          <a:stretch/>
        </p:blipFill>
        <p:spPr>
          <a:xfrm>
            <a:off x="857250" y="2686050"/>
            <a:ext cx="5243289" cy="5000625"/>
          </a:xfrm>
          <a:prstGeom prst="rect">
            <a:avLst/>
          </a:prstGeom>
          <a:noFill/>
          <a:ln>
            <a:noFill/>
          </a:ln>
        </p:spPr>
      </p:pic>
      <p:pic>
        <p:nvPicPr>
          <p:cNvPr id="179" name="Google Shape;179;p20" descr="image.png"/>
          <p:cNvPicPr preferRelativeResize="0"/>
          <p:nvPr/>
        </p:nvPicPr>
        <p:blipFill rotWithShape="1">
          <a:blip r:embed="rId5">
            <a:alphaModFix/>
          </a:blip>
          <a:srcRect/>
          <a:stretch/>
        </p:blipFill>
        <p:spPr>
          <a:xfrm>
            <a:off x="6529164" y="2686050"/>
            <a:ext cx="5382591" cy="5000625"/>
          </a:xfrm>
          <a:prstGeom prst="rect">
            <a:avLst/>
          </a:prstGeom>
          <a:noFill/>
          <a:ln>
            <a:noFill/>
          </a:ln>
        </p:spPr>
      </p:pic>
      <p:pic>
        <p:nvPicPr>
          <p:cNvPr id="180" name="Google Shape;180;p20" descr="image.png"/>
          <p:cNvPicPr preferRelativeResize="0"/>
          <p:nvPr/>
        </p:nvPicPr>
        <p:blipFill rotWithShape="1">
          <a:blip r:embed="rId6">
            <a:alphaModFix/>
          </a:blip>
          <a:srcRect/>
          <a:stretch/>
        </p:blipFill>
        <p:spPr>
          <a:xfrm>
            <a:off x="12340382" y="2686050"/>
            <a:ext cx="5090145" cy="5000625"/>
          </a:xfrm>
          <a:prstGeom prst="rect">
            <a:avLst/>
          </a:prstGeom>
          <a:noFill/>
          <a:ln>
            <a:noFill/>
          </a:ln>
        </p:spPr>
      </p:pic>
      <p:sp>
        <p:nvSpPr>
          <p:cNvPr id="181" name="Google Shape;181;p20"/>
          <p:cNvSpPr txBox="1"/>
          <p:nvPr/>
        </p:nvSpPr>
        <p:spPr>
          <a:xfrm>
            <a:off x="857250" y="7686676"/>
            <a:ext cx="5243289" cy="1402307"/>
          </a:xfrm>
          <a:prstGeom prst="rect">
            <a:avLst/>
          </a:prstGeom>
          <a:noFill/>
          <a:ln>
            <a:noFill/>
          </a:ln>
        </p:spPr>
        <p:txBody>
          <a:bodyPr spcFirstLastPara="1" wrap="square" lIns="0" tIns="0" rIns="0" bIns="0" anchor="t" anchorCtr="0">
            <a:spAutoFit/>
          </a:bodyPr>
          <a:lstStyle/>
          <a:p>
            <a:pPr>
              <a:lnSpc>
                <a:spcPct val="150000"/>
              </a:lnSpc>
            </a:pPr>
            <a:r>
              <a:rPr lang="en-US" sz="2025" b="1">
                <a:solidFill>
                  <a:srgbClr val="334155"/>
                </a:solidFill>
                <a:latin typeface="DM Sans"/>
                <a:ea typeface="DM Sans"/>
                <a:cs typeface="DM Sans"/>
                <a:sym typeface="DM Sans"/>
              </a:rPr>
              <a:t>Standardization:</a:t>
            </a:r>
            <a:r>
              <a:rPr lang="en-US" sz="2025">
                <a:solidFill>
                  <a:srgbClr val="334155"/>
                </a:solidFill>
                <a:latin typeface="DM Sans"/>
                <a:ea typeface="DM Sans"/>
                <a:cs typeface="DM Sans"/>
                <a:sym typeface="DM Sans"/>
              </a:rPr>
              <a:t> ISO is the world's largest developer of voluntary International Standards.</a:t>
            </a:r>
            <a:endParaRPr sz="2700"/>
          </a:p>
        </p:txBody>
      </p:sp>
      <p:sp>
        <p:nvSpPr>
          <p:cNvPr id="182" name="Google Shape;182;p20"/>
          <p:cNvSpPr txBox="1"/>
          <p:nvPr/>
        </p:nvSpPr>
        <p:spPr>
          <a:xfrm>
            <a:off x="6529164" y="7686676"/>
            <a:ext cx="5382591" cy="1402307"/>
          </a:xfrm>
          <a:prstGeom prst="rect">
            <a:avLst/>
          </a:prstGeom>
          <a:noFill/>
          <a:ln>
            <a:noFill/>
          </a:ln>
        </p:spPr>
        <p:txBody>
          <a:bodyPr spcFirstLastPara="1" wrap="square" lIns="0" tIns="0" rIns="0" bIns="0" anchor="t" anchorCtr="0">
            <a:spAutoFit/>
          </a:bodyPr>
          <a:lstStyle/>
          <a:p>
            <a:pPr>
              <a:lnSpc>
                <a:spcPct val="150000"/>
              </a:lnSpc>
            </a:pPr>
            <a:r>
              <a:rPr lang="en-US" sz="2025" b="1">
                <a:solidFill>
                  <a:srgbClr val="334155"/>
                </a:solidFill>
                <a:latin typeface="DM Sans"/>
                <a:ea typeface="DM Sans"/>
                <a:cs typeface="DM Sans"/>
                <a:sym typeface="DM Sans"/>
              </a:rPr>
              <a:t>Collaboration:</a:t>
            </a:r>
            <a:r>
              <a:rPr lang="en-US" sz="2025">
                <a:solidFill>
                  <a:srgbClr val="334155"/>
                </a:solidFill>
                <a:latin typeface="DM Sans"/>
                <a:ea typeface="DM Sans"/>
                <a:cs typeface="DM Sans"/>
                <a:sym typeface="DM Sans"/>
              </a:rPr>
              <a:t> Works with the IEC to form Joint Technical Committees (JTC 1) for IT security.</a:t>
            </a:r>
            <a:endParaRPr sz="2700"/>
          </a:p>
        </p:txBody>
      </p:sp>
      <p:sp>
        <p:nvSpPr>
          <p:cNvPr id="183" name="Google Shape;183;p20"/>
          <p:cNvSpPr txBox="1"/>
          <p:nvPr/>
        </p:nvSpPr>
        <p:spPr>
          <a:xfrm>
            <a:off x="12340382" y="7686676"/>
            <a:ext cx="5090145" cy="1402307"/>
          </a:xfrm>
          <a:prstGeom prst="rect">
            <a:avLst/>
          </a:prstGeom>
          <a:noFill/>
          <a:ln>
            <a:noFill/>
          </a:ln>
        </p:spPr>
        <p:txBody>
          <a:bodyPr spcFirstLastPara="1" wrap="square" lIns="0" tIns="0" rIns="0" bIns="0" anchor="t" anchorCtr="0">
            <a:spAutoFit/>
          </a:bodyPr>
          <a:lstStyle/>
          <a:p>
            <a:pPr>
              <a:lnSpc>
                <a:spcPct val="150000"/>
              </a:lnSpc>
            </a:pPr>
            <a:r>
              <a:rPr lang="en-US" sz="2025" b="1">
                <a:solidFill>
                  <a:srgbClr val="334155"/>
                </a:solidFill>
                <a:latin typeface="DM Sans"/>
                <a:ea typeface="DM Sans"/>
                <a:cs typeface="DM Sans"/>
                <a:sym typeface="DM Sans"/>
              </a:rPr>
              <a:t>27000 Series:</a:t>
            </a:r>
            <a:r>
              <a:rPr lang="en-US" sz="2025">
                <a:solidFill>
                  <a:srgbClr val="334155"/>
                </a:solidFill>
                <a:latin typeface="DM Sans"/>
                <a:ea typeface="DM Sans"/>
                <a:cs typeface="DM Sans"/>
                <a:sym typeface="DM Sans"/>
              </a:rPr>
              <a:t> The gold standard for information security management systems (ISMS).</a:t>
            </a:r>
            <a:endParaRPr sz="2700"/>
          </a:p>
        </p:txBody>
      </p:sp>
      <p:pic>
        <p:nvPicPr>
          <p:cNvPr id="184" name="Google Shape;184;p20" descr="image.png"/>
          <p:cNvPicPr preferRelativeResize="0"/>
          <p:nvPr/>
        </p:nvPicPr>
        <p:blipFill rotWithShape="1">
          <a:blip r:embed="rId7">
            <a:alphaModFix/>
          </a:blip>
          <a:srcRect/>
          <a:stretch/>
        </p:blipFill>
        <p:spPr>
          <a:xfrm>
            <a:off x="871538" y="2700338"/>
            <a:ext cx="5214714" cy="4972050"/>
          </a:xfrm>
          <a:prstGeom prst="rect">
            <a:avLst/>
          </a:prstGeom>
          <a:noFill/>
          <a:ln>
            <a:noFill/>
          </a:ln>
        </p:spPr>
      </p:pic>
      <p:pic>
        <p:nvPicPr>
          <p:cNvPr id="185" name="Google Shape;185;p20" descr="image.png"/>
          <p:cNvPicPr preferRelativeResize="0"/>
          <p:nvPr/>
        </p:nvPicPr>
        <p:blipFill rotWithShape="1">
          <a:blip r:embed="rId8">
            <a:alphaModFix/>
          </a:blip>
          <a:srcRect/>
          <a:stretch/>
        </p:blipFill>
        <p:spPr>
          <a:xfrm>
            <a:off x="6543452" y="2700338"/>
            <a:ext cx="5354016" cy="4972050"/>
          </a:xfrm>
          <a:prstGeom prst="rect">
            <a:avLst/>
          </a:prstGeom>
          <a:noFill/>
          <a:ln>
            <a:noFill/>
          </a:ln>
        </p:spPr>
      </p:pic>
      <p:pic>
        <p:nvPicPr>
          <p:cNvPr id="186" name="Google Shape;186;p20" descr="image.png"/>
          <p:cNvPicPr preferRelativeResize="0"/>
          <p:nvPr/>
        </p:nvPicPr>
        <p:blipFill rotWithShape="1">
          <a:blip r:embed="rId9">
            <a:alphaModFix/>
          </a:blip>
          <a:srcRect/>
          <a:stretch/>
        </p:blipFill>
        <p:spPr>
          <a:xfrm>
            <a:off x="12354669" y="2700338"/>
            <a:ext cx="5061570" cy="4972050"/>
          </a:xfrm>
          <a:prstGeom prst="rect">
            <a:avLst/>
          </a:prstGeom>
          <a:noFill/>
          <a:ln>
            <a:noFill/>
          </a:ln>
        </p:spPr>
      </p:pic>
      <p:sp>
        <p:nvSpPr>
          <p:cNvPr id="187" name="Google Shape;187;p20"/>
          <p:cNvSpPr txBox="1"/>
          <p:nvPr/>
        </p:nvSpPr>
        <p:spPr>
          <a:xfrm>
            <a:off x="857250" y="857251"/>
            <a:ext cx="17402175" cy="692497"/>
          </a:xfrm>
          <a:prstGeom prst="rect">
            <a:avLst/>
          </a:prstGeom>
          <a:noFill/>
          <a:ln>
            <a:noFill/>
          </a:ln>
        </p:spPr>
        <p:txBody>
          <a:bodyPr spcFirstLastPara="1" wrap="square" lIns="0" tIns="0" rIns="0" bIns="0" anchor="t" anchorCtr="0">
            <a:spAutoFit/>
          </a:bodyPr>
          <a:lstStyle/>
          <a:p>
            <a:r>
              <a:rPr lang="en-US" sz="4500" b="1">
                <a:solidFill>
                  <a:srgbClr val="005088"/>
                </a:solidFill>
                <a:latin typeface="Merriweather"/>
                <a:ea typeface="Merriweather"/>
                <a:cs typeface="Merriweather"/>
                <a:sym typeface="Merriweather"/>
              </a:rPr>
              <a:t>ISO &amp; IEC: Global Collaboration</a:t>
            </a:r>
            <a:endParaRPr sz="2700"/>
          </a:p>
        </p:txBody>
      </p:sp>
      <p:sp>
        <p:nvSpPr>
          <p:cNvPr id="188" name="Google Shape;188;p20"/>
          <p:cNvSpPr/>
          <p:nvPr/>
        </p:nvSpPr>
        <p:spPr>
          <a:xfrm>
            <a:off x="857250" y="1714500"/>
            <a:ext cx="16573500" cy="28575"/>
          </a:xfrm>
          <a:prstGeom prst="rect">
            <a:avLst/>
          </a:prstGeom>
          <a:solidFill>
            <a:srgbClr val="11CAA0"/>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pic>
        <p:nvPicPr>
          <p:cNvPr id="193" name="Google Shape;193;p21" descr="image.png"/>
          <p:cNvPicPr preferRelativeResize="0"/>
          <p:nvPr/>
        </p:nvPicPr>
        <p:blipFill rotWithShape="1">
          <a:blip r:embed="rId3">
            <a:alphaModFix/>
          </a:blip>
          <a:srcRect/>
          <a:stretch/>
        </p:blipFill>
        <p:spPr>
          <a:xfrm>
            <a:off x="0" y="0"/>
            <a:ext cx="18288000" cy="10287000"/>
          </a:xfrm>
          <a:prstGeom prst="rect">
            <a:avLst/>
          </a:prstGeom>
          <a:noFill/>
          <a:ln>
            <a:noFill/>
          </a:ln>
        </p:spPr>
      </p:pic>
      <p:graphicFrame>
        <p:nvGraphicFramePr>
          <p:cNvPr id="194" name="Google Shape;194;p21"/>
          <p:cNvGraphicFramePr/>
          <p:nvPr/>
        </p:nvGraphicFramePr>
        <p:xfrm>
          <a:off x="1771650" y="3929063"/>
          <a:ext cx="14744701" cy="3886200"/>
        </p:xfrm>
        <a:graphic>
          <a:graphicData uri="http://schemas.openxmlformats.org/drawingml/2006/table">
            <a:tbl>
              <a:tblPr firstRow="1" bandRow="1">
                <a:noFill/>
              </a:tblPr>
              <a:tblGrid>
                <a:gridCol w="4043363">
                  <a:extLst>
                    <a:ext uri="{9D8B030D-6E8A-4147-A177-3AD203B41FA5}">
                      <a16:colId xmlns:a16="http://schemas.microsoft.com/office/drawing/2014/main" val="20000"/>
                    </a:ext>
                  </a:extLst>
                </a:gridCol>
                <a:gridCol w="2228850">
                  <a:extLst>
                    <a:ext uri="{9D8B030D-6E8A-4147-A177-3AD203B41FA5}">
                      <a16:colId xmlns:a16="http://schemas.microsoft.com/office/drawing/2014/main" val="20001"/>
                    </a:ext>
                  </a:extLst>
                </a:gridCol>
                <a:gridCol w="8472488">
                  <a:extLst>
                    <a:ext uri="{9D8B030D-6E8A-4147-A177-3AD203B41FA5}">
                      <a16:colId xmlns:a16="http://schemas.microsoft.com/office/drawing/2014/main" val="20002"/>
                    </a:ext>
                  </a:extLst>
                </a:gridCol>
              </a:tblGrid>
              <a:tr h="971550">
                <a:tc>
                  <a:txBody>
                    <a:bodyPr/>
                    <a:lstStyle/>
                    <a:p>
                      <a:pPr marL="0" marR="0" lvl="0" indent="0" algn="l" rtl="0">
                        <a:spcBef>
                          <a:spcPts val="0"/>
                        </a:spcBef>
                        <a:spcAft>
                          <a:spcPts val="0"/>
                        </a:spcAft>
                        <a:buNone/>
                      </a:pPr>
                      <a:r>
                        <a:rPr lang="en-US" sz="2000" b="1" i="0" u="none" strike="noStrike" cap="none">
                          <a:solidFill>
                            <a:srgbClr val="005088"/>
                          </a:solidFill>
                          <a:latin typeface="DM Sans"/>
                          <a:ea typeface="DM Sans"/>
                          <a:cs typeface="DM Sans"/>
                          <a:sym typeface="DM Sans"/>
                        </a:rPr>
                        <a:t>Type</a:t>
                      </a:r>
                      <a:endParaRPr sz="2700"/>
                    </a:p>
                  </a:txBody>
                  <a:tcPr marL="95250" marR="95250" marT="38100" marB="38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5088"/>
                    </a:solidFill>
                  </a:tcPr>
                </a:tc>
                <a:tc>
                  <a:txBody>
                    <a:bodyPr/>
                    <a:lstStyle/>
                    <a:p>
                      <a:pPr marL="0" marR="0" lvl="0" indent="0" algn="l" rtl="0">
                        <a:spcBef>
                          <a:spcPts val="0"/>
                        </a:spcBef>
                        <a:spcAft>
                          <a:spcPts val="0"/>
                        </a:spcAft>
                        <a:buNone/>
                      </a:pPr>
                      <a:r>
                        <a:rPr lang="en-US" sz="2000" b="1" i="0" u="none" strike="noStrike" cap="none">
                          <a:solidFill>
                            <a:srgbClr val="005088"/>
                          </a:solidFill>
                          <a:latin typeface="DM Sans"/>
                          <a:ea typeface="DM Sans"/>
                          <a:cs typeface="DM Sans"/>
                          <a:sym typeface="DM Sans"/>
                        </a:rPr>
                        <a:t>Abbreviation</a:t>
                      </a:r>
                      <a:endParaRPr sz="2700"/>
                    </a:p>
                  </a:txBody>
                  <a:tcPr marL="95250" marR="95250" marT="38100" marB="38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5088"/>
                    </a:solidFill>
                  </a:tcPr>
                </a:tc>
                <a:tc>
                  <a:txBody>
                    <a:bodyPr/>
                    <a:lstStyle/>
                    <a:p>
                      <a:pPr marL="0" marR="0" lvl="0" indent="0" algn="l" rtl="0">
                        <a:spcBef>
                          <a:spcPts val="0"/>
                        </a:spcBef>
                        <a:spcAft>
                          <a:spcPts val="0"/>
                        </a:spcAft>
                        <a:buNone/>
                      </a:pPr>
                      <a:r>
                        <a:rPr lang="en-US" sz="2000" b="1" i="0" u="none" strike="noStrike" cap="none">
                          <a:solidFill>
                            <a:srgbClr val="005088"/>
                          </a:solidFill>
                          <a:latin typeface="DM Sans"/>
                          <a:ea typeface="DM Sans"/>
                          <a:cs typeface="DM Sans"/>
                          <a:sym typeface="DM Sans"/>
                        </a:rPr>
                        <a:t>Primary Purpose</a:t>
                      </a:r>
                      <a:endParaRPr sz="2700"/>
                    </a:p>
                  </a:txBody>
                  <a:tcPr marL="95250" marR="95250" marT="38100" marB="38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5088"/>
                    </a:solidFill>
                  </a:tcPr>
                </a:tc>
                <a:extLst>
                  <a:ext uri="{0D108BD9-81ED-4DB2-BD59-A6C34878D82A}">
                    <a16:rowId xmlns:a16="http://schemas.microsoft.com/office/drawing/2014/main" val="10000"/>
                  </a:ext>
                </a:extLst>
              </a:tr>
              <a:tr h="971550">
                <a:tc>
                  <a:txBody>
                    <a:bodyPr/>
                    <a:lstStyle/>
                    <a:p>
                      <a:pPr marL="0" marR="0" lvl="0" indent="0" algn="l" rtl="0">
                        <a:spcBef>
                          <a:spcPts val="0"/>
                        </a:spcBef>
                        <a:spcAft>
                          <a:spcPts val="0"/>
                        </a:spcAft>
                        <a:buNone/>
                      </a:pPr>
                      <a:r>
                        <a:rPr lang="en-US" sz="2000" b="0" i="0" u="none" strike="noStrike" cap="none">
                          <a:solidFill>
                            <a:srgbClr val="334155"/>
                          </a:solidFill>
                          <a:latin typeface="DM Sans"/>
                          <a:ea typeface="DM Sans"/>
                          <a:cs typeface="DM Sans"/>
                          <a:sym typeface="DM Sans"/>
                        </a:rPr>
                        <a:t>Federal Info. Processing Stds.</a:t>
                      </a:r>
                      <a:endParaRPr sz="2700"/>
                    </a:p>
                  </a:txBody>
                  <a:tcPr marL="95250" marR="95250" marT="38100" marB="38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2000" b="0" i="0" u="none" strike="noStrike" cap="none">
                          <a:solidFill>
                            <a:srgbClr val="334155"/>
                          </a:solidFill>
                          <a:latin typeface="DM Sans"/>
                          <a:ea typeface="DM Sans"/>
                          <a:cs typeface="DM Sans"/>
                          <a:sym typeface="DM Sans"/>
                        </a:rPr>
                        <a:t>FIPS</a:t>
                      </a:r>
                      <a:endParaRPr sz="2700"/>
                    </a:p>
                  </a:txBody>
                  <a:tcPr marL="95250" marR="95250" marT="38100" marB="38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2000" b="0" i="0" u="none" strike="noStrike" cap="none">
                          <a:solidFill>
                            <a:srgbClr val="334155"/>
                          </a:solidFill>
                          <a:latin typeface="DM Sans"/>
                          <a:ea typeface="DM Sans"/>
                          <a:cs typeface="DM Sans"/>
                          <a:sym typeface="DM Sans"/>
                        </a:rPr>
                        <a:t>Standards for federal systems where no voluntary standard exists.</a:t>
                      </a:r>
                      <a:endParaRPr sz="2700"/>
                    </a:p>
                  </a:txBody>
                  <a:tcPr marL="95250" marR="95250" marT="38100" marB="38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971550">
                <a:tc>
                  <a:txBody>
                    <a:bodyPr/>
                    <a:lstStyle/>
                    <a:p>
                      <a:pPr marL="0" marR="0" lvl="0" indent="0" algn="l" rtl="0">
                        <a:spcBef>
                          <a:spcPts val="0"/>
                        </a:spcBef>
                        <a:spcAft>
                          <a:spcPts val="0"/>
                        </a:spcAft>
                        <a:buNone/>
                      </a:pPr>
                      <a:r>
                        <a:rPr lang="en-US" sz="2000" b="0" i="0" u="none" strike="noStrike" cap="none">
                          <a:solidFill>
                            <a:srgbClr val="334155"/>
                          </a:solidFill>
                          <a:latin typeface="DM Sans"/>
                          <a:ea typeface="DM Sans"/>
                          <a:cs typeface="DM Sans"/>
                          <a:sym typeface="DM Sans"/>
                        </a:rPr>
                        <a:t>Special Publications</a:t>
                      </a:r>
                      <a:endParaRPr sz="2700"/>
                    </a:p>
                  </a:txBody>
                  <a:tcPr marL="95250" marR="95250" marT="38100" marB="38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2000" b="0" i="0" u="none" strike="noStrike" cap="none">
                          <a:solidFill>
                            <a:srgbClr val="334155"/>
                          </a:solidFill>
                          <a:latin typeface="DM Sans"/>
                          <a:ea typeface="DM Sans"/>
                          <a:cs typeface="DM Sans"/>
                          <a:sym typeface="DM Sans"/>
                        </a:rPr>
                        <a:t>SP 800</a:t>
                      </a:r>
                      <a:endParaRPr sz="2700"/>
                    </a:p>
                  </a:txBody>
                  <a:tcPr marL="95250" marR="95250" marT="38100" marB="38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2000" b="0" i="0" u="none" strike="noStrike" cap="none">
                          <a:solidFill>
                            <a:srgbClr val="334155"/>
                          </a:solidFill>
                          <a:latin typeface="DM Sans"/>
                          <a:ea typeface="DM Sans"/>
                          <a:cs typeface="DM Sans"/>
                          <a:sym typeface="DM Sans"/>
                        </a:rPr>
                        <a:t>Guidelines, recommendations, and reference data for IT security.</a:t>
                      </a:r>
                      <a:endParaRPr sz="2700"/>
                    </a:p>
                  </a:txBody>
                  <a:tcPr marL="95250" marR="95250" marT="38100" marB="38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971550">
                <a:tc>
                  <a:txBody>
                    <a:bodyPr/>
                    <a:lstStyle/>
                    <a:p>
                      <a:pPr marL="0" marR="0" lvl="0" indent="0" algn="l" rtl="0">
                        <a:spcBef>
                          <a:spcPts val="0"/>
                        </a:spcBef>
                        <a:spcAft>
                          <a:spcPts val="0"/>
                        </a:spcAft>
                        <a:buNone/>
                      </a:pPr>
                      <a:r>
                        <a:rPr lang="en-US" sz="2000" b="0" i="0" u="none" strike="noStrike" cap="none">
                          <a:solidFill>
                            <a:srgbClr val="334155"/>
                          </a:solidFill>
                          <a:latin typeface="DM Sans"/>
                          <a:ea typeface="DM Sans"/>
                          <a:cs typeface="DM Sans"/>
                          <a:sym typeface="DM Sans"/>
                        </a:rPr>
                        <a:t>NIST Interagency Reports</a:t>
                      </a:r>
                      <a:endParaRPr sz="2700"/>
                    </a:p>
                  </a:txBody>
                  <a:tcPr marL="95250" marR="95250" marT="38100" marB="38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2000" b="0" i="0" u="none" strike="noStrike" cap="none">
                          <a:solidFill>
                            <a:srgbClr val="334155"/>
                          </a:solidFill>
                          <a:latin typeface="DM Sans"/>
                          <a:ea typeface="DM Sans"/>
                          <a:cs typeface="DM Sans"/>
                          <a:sym typeface="DM Sans"/>
                        </a:rPr>
                        <a:t>NISTIR</a:t>
                      </a:r>
                      <a:endParaRPr sz="2700"/>
                    </a:p>
                  </a:txBody>
                  <a:tcPr marL="95250" marR="95250" marT="38100" marB="38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2000" b="0" i="0" u="none" strike="noStrike" cap="none">
                          <a:solidFill>
                            <a:srgbClr val="334155"/>
                          </a:solidFill>
                          <a:latin typeface="DM Sans"/>
                          <a:ea typeface="DM Sans"/>
                          <a:cs typeface="DM Sans"/>
                          <a:sym typeface="DM Sans"/>
                        </a:rPr>
                        <a:t>Technical research and reports on security-related topics.</a:t>
                      </a:r>
                      <a:endParaRPr sz="2700"/>
                    </a:p>
                  </a:txBody>
                  <a:tcPr marL="95250" marR="95250" marT="38100" marB="38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195" name="Google Shape;195;p21"/>
          <p:cNvSpPr/>
          <p:nvPr/>
        </p:nvSpPr>
        <p:spPr>
          <a:xfrm>
            <a:off x="1771651" y="4879181"/>
            <a:ext cx="4043363" cy="14288"/>
          </a:xfrm>
          <a:prstGeom prst="rect">
            <a:avLst/>
          </a:prstGeom>
          <a:solidFill>
            <a:srgbClr val="005088"/>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196" name="Google Shape;196;p21"/>
          <p:cNvSpPr/>
          <p:nvPr/>
        </p:nvSpPr>
        <p:spPr>
          <a:xfrm>
            <a:off x="5815013" y="4879181"/>
            <a:ext cx="2228850" cy="14288"/>
          </a:xfrm>
          <a:prstGeom prst="rect">
            <a:avLst/>
          </a:prstGeom>
          <a:solidFill>
            <a:srgbClr val="005088"/>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197" name="Google Shape;197;p21"/>
          <p:cNvSpPr/>
          <p:nvPr/>
        </p:nvSpPr>
        <p:spPr>
          <a:xfrm>
            <a:off x="8043863" y="4879181"/>
            <a:ext cx="8472488" cy="14288"/>
          </a:xfrm>
          <a:prstGeom prst="rect">
            <a:avLst/>
          </a:prstGeom>
          <a:solidFill>
            <a:srgbClr val="005088"/>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198" name="Google Shape;198;p21"/>
          <p:cNvSpPr/>
          <p:nvPr/>
        </p:nvSpPr>
        <p:spPr>
          <a:xfrm>
            <a:off x="1771651" y="5850731"/>
            <a:ext cx="4043363" cy="14288"/>
          </a:xfrm>
          <a:prstGeom prst="rect">
            <a:avLst/>
          </a:prstGeom>
          <a:solidFill>
            <a:srgbClr val="005088"/>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199" name="Google Shape;199;p21"/>
          <p:cNvSpPr/>
          <p:nvPr/>
        </p:nvSpPr>
        <p:spPr>
          <a:xfrm>
            <a:off x="5815013" y="5850731"/>
            <a:ext cx="2228850" cy="14288"/>
          </a:xfrm>
          <a:prstGeom prst="rect">
            <a:avLst/>
          </a:prstGeom>
          <a:solidFill>
            <a:srgbClr val="005088"/>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200" name="Google Shape;200;p21"/>
          <p:cNvSpPr/>
          <p:nvPr/>
        </p:nvSpPr>
        <p:spPr>
          <a:xfrm>
            <a:off x="8043863" y="5850731"/>
            <a:ext cx="8472488" cy="14288"/>
          </a:xfrm>
          <a:prstGeom prst="rect">
            <a:avLst/>
          </a:prstGeom>
          <a:solidFill>
            <a:srgbClr val="005088"/>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201" name="Google Shape;201;p21"/>
          <p:cNvSpPr/>
          <p:nvPr/>
        </p:nvSpPr>
        <p:spPr>
          <a:xfrm>
            <a:off x="1771651" y="6822281"/>
            <a:ext cx="4043363" cy="14288"/>
          </a:xfrm>
          <a:prstGeom prst="rect">
            <a:avLst/>
          </a:prstGeom>
          <a:solidFill>
            <a:srgbClr val="005088"/>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202" name="Google Shape;202;p21"/>
          <p:cNvSpPr/>
          <p:nvPr/>
        </p:nvSpPr>
        <p:spPr>
          <a:xfrm>
            <a:off x="5815013" y="6822281"/>
            <a:ext cx="2228850" cy="14288"/>
          </a:xfrm>
          <a:prstGeom prst="rect">
            <a:avLst/>
          </a:prstGeom>
          <a:solidFill>
            <a:srgbClr val="005088"/>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203" name="Google Shape;203;p21"/>
          <p:cNvSpPr/>
          <p:nvPr/>
        </p:nvSpPr>
        <p:spPr>
          <a:xfrm>
            <a:off x="8043863" y="6822281"/>
            <a:ext cx="8472488" cy="14288"/>
          </a:xfrm>
          <a:prstGeom prst="rect">
            <a:avLst/>
          </a:prstGeom>
          <a:solidFill>
            <a:srgbClr val="005088"/>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204" name="Google Shape;204;p21"/>
          <p:cNvSpPr/>
          <p:nvPr/>
        </p:nvSpPr>
        <p:spPr>
          <a:xfrm>
            <a:off x="1771651" y="7793831"/>
            <a:ext cx="4043363" cy="14288"/>
          </a:xfrm>
          <a:prstGeom prst="rect">
            <a:avLst/>
          </a:prstGeom>
          <a:solidFill>
            <a:srgbClr val="005088"/>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205" name="Google Shape;205;p21"/>
          <p:cNvSpPr/>
          <p:nvPr/>
        </p:nvSpPr>
        <p:spPr>
          <a:xfrm>
            <a:off x="5815013" y="7793831"/>
            <a:ext cx="2228850" cy="14288"/>
          </a:xfrm>
          <a:prstGeom prst="rect">
            <a:avLst/>
          </a:prstGeom>
          <a:solidFill>
            <a:srgbClr val="005088"/>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206" name="Google Shape;206;p21"/>
          <p:cNvSpPr/>
          <p:nvPr/>
        </p:nvSpPr>
        <p:spPr>
          <a:xfrm>
            <a:off x="8043863" y="7793831"/>
            <a:ext cx="8472488" cy="14288"/>
          </a:xfrm>
          <a:prstGeom prst="rect">
            <a:avLst/>
          </a:prstGeom>
          <a:solidFill>
            <a:srgbClr val="005088"/>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207" name="Google Shape;207;p21"/>
          <p:cNvSpPr txBox="1"/>
          <p:nvPr/>
        </p:nvSpPr>
        <p:spPr>
          <a:xfrm>
            <a:off x="857250" y="857251"/>
            <a:ext cx="17402175" cy="692497"/>
          </a:xfrm>
          <a:prstGeom prst="rect">
            <a:avLst/>
          </a:prstGeom>
          <a:noFill/>
          <a:ln>
            <a:noFill/>
          </a:ln>
        </p:spPr>
        <p:txBody>
          <a:bodyPr spcFirstLastPara="1" wrap="square" lIns="0" tIns="0" rIns="0" bIns="0" anchor="t" anchorCtr="0">
            <a:spAutoFit/>
          </a:bodyPr>
          <a:lstStyle/>
          <a:p>
            <a:r>
              <a:rPr lang="en-US" sz="4500" b="1">
                <a:solidFill>
                  <a:srgbClr val="005088"/>
                </a:solidFill>
                <a:latin typeface="Merriweather"/>
                <a:ea typeface="Merriweather"/>
                <a:cs typeface="Merriweather"/>
                <a:sym typeface="Merriweather"/>
              </a:rPr>
              <a:t>NIST Publication Types</a:t>
            </a:r>
            <a:endParaRPr sz="2700"/>
          </a:p>
        </p:txBody>
      </p:sp>
      <p:sp>
        <p:nvSpPr>
          <p:cNvPr id="208" name="Google Shape;208;p21"/>
          <p:cNvSpPr/>
          <p:nvPr/>
        </p:nvSpPr>
        <p:spPr>
          <a:xfrm>
            <a:off x="857250" y="1714500"/>
            <a:ext cx="16573500" cy="28575"/>
          </a:xfrm>
          <a:prstGeom prst="rect">
            <a:avLst/>
          </a:prstGeom>
          <a:solidFill>
            <a:srgbClr val="11CAA0"/>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pic>
        <p:nvPicPr>
          <p:cNvPr id="213" name="Google Shape;213;p22" descr="image.png"/>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214" name="Google Shape;214;p22"/>
          <p:cNvSpPr txBox="1"/>
          <p:nvPr/>
        </p:nvSpPr>
        <p:spPr>
          <a:xfrm>
            <a:off x="857251" y="4579144"/>
            <a:ext cx="7929563" cy="2596865"/>
          </a:xfrm>
          <a:prstGeom prst="rect">
            <a:avLst/>
          </a:prstGeom>
          <a:noFill/>
          <a:ln>
            <a:noFill/>
          </a:ln>
        </p:spPr>
        <p:txBody>
          <a:bodyPr spcFirstLastPara="1" wrap="square" lIns="0" tIns="0" rIns="0" bIns="0" anchor="t" anchorCtr="0">
            <a:spAutoFit/>
          </a:bodyPr>
          <a:lstStyle/>
          <a:p>
            <a:r>
              <a:rPr lang="en-US" sz="16875" b="1">
                <a:solidFill>
                  <a:srgbClr val="005088"/>
                </a:solidFill>
                <a:latin typeface="DM Sans"/>
                <a:ea typeface="DM Sans"/>
                <a:cs typeface="DM Sans"/>
                <a:sym typeface="DM Sans"/>
              </a:rPr>
              <a:t>27k</a:t>
            </a:r>
            <a:endParaRPr sz="2700"/>
          </a:p>
        </p:txBody>
      </p:sp>
      <p:sp>
        <p:nvSpPr>
          <p:cNvPr id="215" name="Google Shape;215;p22"/>
          <p:cNvSpPr txBox="1"/>
          <p:nvPr/>
        </p:nvSpPr>
        <p:spPr>
          <a:xfrm>
            <a:off x="857251" y="6722268"/>
            <a:ext cx="7929563" cy="415498"/>
          </a:xfrm>
          <a:prstGeom prst="rect">
            <a:avLst/>
          </a:prstGeom>
          <a:noFill/>
          <a:ln>
            <a:noFill/>
          </a:ln>
        </p:spPr>
        <p:txBody>
          <a:bodyPr spcFirstLastPara="1" wrap="square" lIns="0" tIns="0" rIns="0" bIns="0" anchor="t" anchorCtr="0">
            <a:spAutoFit/>
          </a:bodyPr>
          <a:lstStyle/>
          <a:p>
            <a:r>
              <a:rPr lang="en-US" sz="2700" b="1">
                <a:solidFill>
                  <a:srgbClr val="11CAA0"/>
                </a:solidFill>
                <a:latin typeface="DM Sans"/>
                <a:ea typeface="DM Sans"/>
                <a:cs typeface="DM Sans"/>
                <a:sym typeface="DM Sans"/>
              </a:rPr>
              <a:t>The Standard for Management</a:t>
            </a:r>
            <a:endParaRPr sz="2700"/>
          </a:p>
        </p:txBody>
      </p:sp>
      <p:sp>
        <p:nvSpPr>
          <p:cNvPr id="216" name="Google Shape;216;p22"/>
          <p:cNvSpPr txBox="1"/>
          <p:nvPr/>
        </p:nvSpPr>
        <p:spPr>
          <a:xfrm>
            <a:off x="9501188" y="4300538"/>
            <a:ext cx="8326040" cy="553998"/>
          </a:xfrm>
          <a:prstGeom prst="rect">
            <a:avLst/>
          </a:prstGeom>
          <a:noFill/>
          <a:ln>
            <a:noFill/>
          </a:ln>
        </p:spPr>
        <p:txBody>
          <a:bodyPr spcFirstLastPara="1" wrap="square" lIns="0" tIns="0" rIns="0" bIns="0" anchor="t" anchorCtr="0">
            <a:spAutoFit/>
          </a:bodyPr>
          <a:lstStyle/>
          <a:p>
            <a:r>
              <a:rPr lang="en-US" sz="3600">
                <a:solidFill>
                  <a:srgbClr val="005088"/>
                </a:solidFill>
                <a:latin typeface="Merriweather"/>
                <a:ea typeface="Merriweather"/>
                <a:cs typeface="Merriweather"/>
                <a:sym typeface="Merriweather"/>
              </a:rPr>
              <a:t>The 27000 Series</a:t>
            </a:r>
            <a:endParaRPr sz="2700"/>
          </a:p>
        </p:txBody>
      </p:sp>
      <p:sp>
        <p:nvSpPr>
          <p:cNvPr id="217" name="Google Shape;217;p22"/>
          <p:cNvSpPr txBox="1"/>
          <p:nvPr/>
        </p:nvSpPr>
        <p:spPr>
          <a:xfrm>
            <a:off x="9501188" y="5086350"/>
            <a:ext cx="7929563" cy="1402307"/>
          </a:xfrm>
          <a:prstGeom prst="rect">
            <a:avLst/>
          </a:prstGeom>
          <a:noFill/>
          <a:ln>
            <a:noFill/>
          </a:ln>
        </p:spPr>
        <p:txBody>
          <a:bodyPr spcFirstLastPara="1" wrap="square" lIns="0" tIns="0" rIns="0" bIns="0" anchor="t" anchorCtr="0">
            <a:spAutoFit/>
          </a:bodyPr>
          <a:lstStyle/>
          <a:p>
            <a:pPr>
              <a:lnSpc>
                <a:spcPct val="150000"/>
              </a:lnSpc>
            </a:pPr>
            <a:r>
              <a:rPr lang="en-US" sz="2025">
                <a:solidFill>
                  <a:srgbClr val="334155"/>
                </a:solidFill>
                <a:latin typeface="DM Sans"/>
                <a:ea typeface="DM Sans"/>
                <a:cs typeface="DM Sans"/>
                <a:sym typeface="DM Sans"/>
              </a:rPr>
              <a:t>The ISO/IEC 27000 series (also known as the 'ISMS Family of Standards') provides a comprehensive framework for managing sensitive company information so that it remains secure.</a:t>
            </a:r>
            <a:endParaRPr sz="2700"/>
          </a:p>
        </p:txBody>
      </p:sp>
      <p:sp>
        <p:nvSpPr>
          <p:cNvPr id="218" name="Google Shape;218;p22"/>
          <p:cNvSpPr txBox="1"/>
          <p:nvPr/>
        </p:nvSpPr>
        <p:spPr>
          <a:xfrm>
            <a:off x="9501188" y="6457951"/>
            <a:ext cx="7929563" cy="934871"/>
          </a:xfrm>
          <a:prstGeom prst="rect">
            <a:avLst/>
          </a:prstGeom>
          <a:noFill/>
          <a:ln>
            <a:noFill/>
          </a:ln>
        </p:spPr>
        <p:txBody>
          <a:bodyPr spcFirstLastPara="1" wrap="square" lIns="0" tIns="0" rIns="0" bIns="0" anchor="t" anchorCtr="0">
            <a:spAutoFit/>
          </a:bodyPr>
          <a:lstStyle/>
          <a:p>
            <a:pPr>
              <a:lnSpc>
                <a:spcPct val="150000"/>
              </a:lnSpc>
            </a:pPr>
            <a:r>
              <a:rPr lang="en-US" sz="2025">
                <a:solidFill>
                  <a:srgbClr val="334155"/>
                </a:solidFill>
                <a:latin typeface="DM Sans"/>
                <a:ea typeface="DM Sans"/>
                <a:cs typeface="DM Sans"/>
                <a:sym typeface="DM Sans"/>
              </a:rPr>
              <a:t>It is the most widely recognized international security management standard in the private sector.</a:t>
            </a:r>
            <a:endParaRPr sz="2700"/>
          </a:p>
        </p:txBody>
      </p:sp>
      <p:sp>
        <p:nvSpPr>
          <p:cNvPr id="219" name="Google Shape;219;p22"/>
          <p:cNvSpPr txBox="1"/>
          <p:nvPr/>
        </p:nvSpPr>
        <p:spPr>
          <a:xfrm>
            <a:off x="857250" y="857251"/>
            <a:ext cx="17402175" cy="692497"/>
          </a:xfrm>
          <a:prstGeom prst="rect">
            <a:avLst/>
          </a:prstGeom>
          <a:noFill/>
          <a:ln>
            <a:noFill/>
          </a:ln>
        </p:spPr>
        <p:txBody>
          <a:bodyPr spcFirstLastPara="1" wrap="square" lIns="0" tIns="0" rIns="0" bIns="0" anchor="t" anchorCtr="0">
            <a:spAutoFit/>
          </a:bodyPr>
          <a:lstStyle/>
          <a:p>
            <a:r>
              <a:rPr lang="en-US" sz="4500" b="1">
                <a:solidFill>
                  <a:srgbClr val="005088"/>
                </a:solidFill>
                <a:latin typeface="Merriweather"/>
                <a:ea typeface="Merriweather"/>
                <a:cs typeface="Merriweather"/>
                <a:sym typeface="Merriweather"/>
              </a:rPr>
              <a:t>ISO 27K Impact</a:t>
            </a:r>
            <a:endParaRPr sz="2700"/>
          </a:p>
        </p:txBody>
      </p:sp>
      <p:sp>
        <p:nvSpPr>
          <p:cNvPr id="220" name="Google Shape;220;p22"/>
          <p:cNvSpPr/>
          <p:nvPr/>
        </p:nvSpPr>
        <p:spPr>
          <a:xfrm>
            <a:off x="857250" y="1714500"/>
            <a:ext cx="16573500" cy="28575"/>
          </a:xfrm>
          <a:prstGeom prst="rect">
            <a:avLst/>
          </a:prstGeom>
          <a:solidFill>
            <a:srgbClr val="11CAA0"/>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pic>
        <p:nvPicPr>
          <p:cNvPr id="225" name="Google Shape;225;p23" descr="image.png"/>
          <p:cNvPicPr preferRelativeResize="0"/>
          <p:nvPr/>
        </p:nvPicPr>
        <p:blipFill rotWithShape="1">
          <a:blip r:embed="rId3">
            <a:alphaModFix/>
          </a:blip>
          <a:srcRect/>
          <a:stretch/>
        </p:blipFill>
        <p:spPr>
          <a:xfrm>
            <a:off x="0" y="0"/>
            <a:ext cx="18288000" cy="10287000"/>
          </a:xfrm>
          <a:prstGeom prst="rect">
            <a:avLst/>
          </a:prstGeom>
          <a:noFill/>
          <a:ln>
            <a:noFill/>
          </a:ln>
        </p:spPr>
      </p:pic>
      <p:pic>
        <p:nvPicPr>
          <p:cNvPr id="226" name="Google Shape;226;p23" descr="image.png"/>
          <p:cNvPicPr preferRelativeResize="0"/>
          <p:nvPr/>
        </p:nvPicPr>
        <p:blipFill rotWithShape="1">
          <a:blip r:embed="rId4">
            <a:alphaModFix/>
          </a:blip>
          <a:srcRect/>
          <a:stretch/>
        </p:blipFill>
        <p:spPr>
          <a:xfrm>
            <a:off x="857250" y="2314575"/>
            <a:ext cx="16573500" cy="7115175"/>
          </a:xfrm>
          <a:prstGeom prst="rect">
            <a:avLst/>
          </a:prstGeom>
          <a:noFill/>
          <a:ln>
            <a:noFill/>
          </a:ln>
        </p:spPr>
      </p:pic>
      <p:sp>
        <p:nvSpPr>
          <p:cNvPr id="227" name="Google Shape;227;p23"/>
          <p:cNvSpPr txBox="1"/>
          <p:nvPr/>
        </p:nvSpPr>
        <p:spPr>
          <a:xfrm>
            <a:off x="907256" y="7500938"/>
            <a:ext cx="16473488" cy="934871"/>
          </a:xfrm>
          <a:prstGeom prst="rect">
            <a:avLst/>
          </a:prstGeom>
          <a:noFill/>
          <a:ln>
            <a:noFill/>
          </a:ln>
        </p:spPr>
        <p:txBody>
          <a:bodyPr spcFirstLastPara="1" wrap="square" lIns="0" tIns="0" rIns="0" bIns="0" anchor="t" anchorCtr="0">
            <a:spAutoFit/>
          </a:bodyPr>
          <a:lstStyle/>
          <a:p>
            <a:pPr>
              <a:lnSpc>
                <a:spcPct val="150000"/>
              </a:lnSpc>
            </a:pPr>
            <a:r>
              <a:rPr lang="en-US" sz="2025">
                <a:solidFill>
                  <a:srgbClr val="334155"/>
                </a:solidFill>
                <a:latin typeface="DM Sans"/>
                <a:ea typeface="DM Sans"/>
                <a:cs typeface="DM Sans"/>
                <a:sym typeface="DM Sans"/>
              </a:rPr>
              <a:t>Usage trends indicate a heavy reliance on NIST and ISO/IEC frameworks as the primary benchmarks for organizational security governance.</a:t>
            </a:r>
            <a:endParaRPr sz="2700"/>
          </a:p>
        </p:txBody>
      </p:sp>
      <p:sp>
        <p:nvSpPr>
          <p:cNvPr id="228" name="Google Shape;228;p23"/>
          <p:cNvSpPr txBox="1"/>
          <p:nvPr/>
        </p:nvSpPr>
        <p:spPr>
          <a:xfrm>
            <a:off x="857250" y="857251"/>
            <a:ext cx="17402175" cy="692497"/>
          </a:xfrm>
          <a:prstGeom prst="rect">
            <a:avLst/>
          </a:prstGeom>
          <a:noFill/>
          <a:ln>
            <a:noFill/>
          </a:ln>
        </p:spPr>
        <p:txBody>
          <a:bodyPr spcFirstLastPara="1" wrap="square" lIns="0" tIns="0" rIns="0" bIns="0" anchor="t" anchorCtr="0">
            <a:spAutoFit/>
          </a:bodyPr>
          <a:lstStyle/>
          <a:p>
            <a:r>
              <a:rPr lang="en-US" sz="4500" b="1">
                <a:solidFill>
                  <a:srgbClr val="005088"/>
                </a:solidFill>
                <a:latin typeface="Merriweather"/>
                <a:ea typeface="Merriweather"/>
                <a:cs typeface="Merriweather"/>
                <a:sym typeface="Merriweather"/>
              </a:rPr>
              <a:t>Adoption of Frameworks</a:t>
            </a:r>
            <a:endParaRPr sz="2700"/>
          </a:p>
        </p:txBody>
      </p:sp>
      <p:sp>
        <p:nvSpPr>
          <p:cNvPr id="229" name="Google Shape;229;p23"/>
          <p:cNvSpPr/>
          <p:nvPr/>
        </p:nvSpPr>
        <p:spPr>
          <a:xfrm>
            <a:off x="857250" y="1714500"/>
            <a:ext cx="16573500" cy="28575"/>
          </a:xfrm>
          <a:prstGeom prst="rect">
            <a:avLst/>
          </a:prstGeom>
          <a:solidFill>
            <a:srgbClr val="11CAA0"/>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0" y="228600"/>
            <a:ext cx="11375232" cy="1162050"/>
          </a:xfrm>
        </p:spPr>
        <p:txBody>
          <a:bodyPr/>
          <a:lstStyle/>
          <a:p>
            <a:pPr>
              <a:defRPr/>
            </a:pPr>
            <a:r>
              <a:rPr lang="en-US" dirty="0"/>
              <a:t>ITU-T</a:t>
            </a:r>
          </a:p>
        </p:txBody>
      </p:sp>
      <p:sp>
        <p:nvSpPr>
          <p:cNvPr id="30723" name="Rectangle 2"/>
          <p:cNvSpPr>
            <a:spLocks noChangeArrowheads="1"/>
          </p:cNvSpPr>
          <p:nvPr/>
        </p:nvSpPr>
        <p:spPr bwMode="auto">
          <a:xfrm>
            <a:off x="3086100" y="1714500"/>
            <a:ext cx="12001500" cy="2308324"/>
          </a:xfrm>
          <a:prstGeom prst="rect">
            <a:avLst/>
          </a:prstGeom>
          <a:noFill/>
          <a:ln w="9525">
            <a:noFill/>
            <a:miter lim="800000"/>
            <a:headEnd/>
            <a:tailEnd/>
          </a:ln>
        </p:spPr>
        <p:txBody>
          <a:bodyPr>
            <a:spAutoFit/>
          </a:bodyPr>
          <a:lstStyle/>
          <a:p>
            <a:r>
              <a:rPr lang="en-US" sz="3600">
                <a:solidFill>
                  <a:srgbClr val="C00000"/>
                </a:solidFill>
              </a:rPr>
              <a:t>The </a:t>
            </a:r>
            <a:r>
              <a:rPr lang="en-US" sz="3600" b="1">
                <a:solidFill>
                  <a:srgbClr val="C00000"/>
                </a:solidFill>
              </a:rPr>
              <a:t>ITU Telecommunication Standardization Sector</a:t>
            </a:r>
            <a:r>
              <a:rPr lang="en-US" sz="3600">
                <a:solidFill>
                  <a:srgbClr val="C00000"/>
                </a:solidFill>
              </a:rPr>
              <a:t> (</a:t>
            </a:r>
            <a:r>
              <a:rPr lang="en-US" sz="3600" b="1">
                <a:solidFill>
                  <a:srgbClr val="C00000"/>
                </a:solidFill>
              </a:rPr>
              <a:t>ITU-T</a:t>
            </a:r>
            <a:r>
              <a:rPr lang="en-US" sz="3600">
                <a:solidFill>
                  <a:srgbClr val="C00000"/>
                </a:solidFill>
              </a:rPr>
              <a:t>) is one of the three sectors (divisions or units) of the </a:t>
            </a:r>
            <a:r>
              <a:rPr lang="en-US" sz="3600">
                <a:solidFill>
                  <a:srgbClr val="C00000"/>
                </a:solidFill>
                <a:hlinkClick r:id="rId2" tooltip="International Telecommunication Union"/>
              </a:rPr>
              <a:t>International Telecommunication Union</a:t>
            </a:r>
            <a:r>
              <a:rPr lang="en-US" sz="3600">
                <a:solidFill>
                  <a:srgbClr val="C00000"/>
                </a:solidFill>
              </a:rPr>
              <a:t> (ITU); it coordinates standards for </a:t>
            </a:r>
            <a:r>
              <a:rPr lang="en-US" sz="3600">
                <a:solidFill>
                  <a:srgbClr val="C00000"/>
                </a:solidFill>
                <a:hlinkClick r:id="rId3" tooltip="Telecommunications"/>
              </a:rPr>
              <a:t>telecommunications</a:t>
            </a:r>
            <a:r>
              <a:rPr lang="en-US" sz="3600">
                <a:solidFill>
                  <a:srgbClr val="C00000"/>
                </a:solidFill>
              </a:rPr>
              <a:t>.</a:t>
            </a:r>
          </a:p>
        </p:txBody>
      </p:sp>
      <p:sp>
        <p:nvSpPr>
          <p:cNvPr id="30724" name="Rectangle 3"/>
          <p:cNvSpPr>
            <a:spLocks noChangeArrowheads="1"/>
          </p:cNvSpPr>
          <p:nvPr/>
        </p:nvSpPr>
        <p:spPr bwMode="auto">
          <a:xfrm>
            <a:off x="3314700" y="5257800"/>
            <a:ext cx="11887200" cy="2862322"/>
          </a:xfrm>
          <a:prstGeom prst="rect">
            <a:avLst/>
          </a:prstGeom>
          <a:noFill/>
          <a:ln w="9525">
            <a:noFill/>
            <a:miter lim="800000"/>
            <a:headEnd/>
            <a:tailEnd/>
          </a:ln>
        </p:spPr>
        <p:txBody>
          <a:bodyPr>
            <a:spAutoFit/>
          </a:bodyPr>
          <a:lstStyle/>
          <a:p>
            <a:pPr algn="just"/>
            <a:r>
              <a:rPr lang="en-US" sz="3600">
                <a:solidFill>
                  <a:srgbClr val="C00000"/>
                </a:solidFill>
              </a:rPr>
              <a:t>The ITU-T mission is to ensure the efficient and timely production of </a:t>
            </a:r>
            <a:r>
              <a:rPr lang="en-US" sz="3600">
                <a:solidFill>
                  <a:srgbClr val="0000CC"/>
                </a:solidFill>
              </a:rPr>
              <a:t>standards</a:t>
            </a:r>
            <a:r>
              <a:rPr lang="en-US" sz="3600">
                <a:solidFill>
                  <a:srgbClr val="C00000"/>
                </a:solidFill>
              </a:rPr>
              <a:t> covering </a:t>
            </a:r>
            <a:r>
              <a:rPr lang="en-US" sz="3600">
                <a:solidFill>
                  <a:srgbClr val="0000CC"/>
                </a:solidFill>
              </a:rPr>
              <a:t>all fields of telecommunications</a:t>
            </a:r>
            <a:r>
              <a:rPr lang="en-US" sz="3600">
                <a:solidFill>
                  <a:srgbClr val="C00000"/>
                </a:solidFill>
              </a:rPr>
              <a:t> on a worldwide basis, as well as </a:t>
            </a:r>
            <a:r>
              <a:rPr lang="en-US" sz="3600">
                <a:solidFill>
                  <a:srgbClr val="0000CC"/>
                </a:solidFill>
              </a:rPr>
              <a:t>defining tariff and accounting </a:t>
            </a:r>
            <a:r>
              <a:rPr lang="en-US" sz="3600">
                <a:solidFill>
                  <a:srgbClr val="C00000"/>
                </a:solidFill>
              </a:rPr>
              <a:t>principles for international telecommunication services.</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0" y="342900"/>
            <a:ext cx="11375232" cy="1924050"/>
          </a:xfrm>
        </p:spPr>
        <p:txBody>
          <a:bodyPr/>
          <a:lstStyle/>
          <a:p>
            <a:pPr>
              <a:defRPr/>
            </a:pPr>
            <a:r>
              <a:rPr lang="en-US" dirty="0"/>
              <a:t>OSI </a:t>
            </a:r>
          </a:p>
        </p:txBody>
      </p:sp>
      <p:sp>
        <p:nvSpPr>
          <p:cNvPr id="31747" name="Rectangle 2"/>
          <p:cNvSpPr>
            <a:spLocks noChangeArrowheads="1"/>
          </p:cNvSpPr>
          <p:nvPr/>
        </p:nvSpPr>
        <p:spPr bwMode="auto">
          <a:xfrm>
            <a:off x="3200400" y="2628900"/>
            <a:ext cx="11772900" cy="2308324"/>
          </a:xfrm>
          <a:prstGeom prst="rect">
            <a:avLst/>
          </a:prstGeom>
          <a:noFill/>
          <a:ln w="9525">
            <a:noFill/>
            <a:miter lim="800000"/>
            <a:headEnd/>
            <a:tailEnd/>
          </a:ln>
        </p:spPr>
        <p:txBody>
          <a:bodyPr>
            <a:spAutoFit/>
          </a:bodyPr>
          <a:lstStyle/>
          <a:p>
            <a:pPr algn="just"/>
            <a:r>
              <a:rPr lang="en-US" sz="3600" b="1">
                <a:solidFill>
                  <a:srgbClr val="0000CC"/>
                </a:solidFill>
              </a:rPr>
              <a:t>ISO- The International Organization for Standardization (</a:t>
            </a:r>
            <a:r>
              <a:rPr lang="en-US" sz="3600" b="1">
                <a:solidFill>
                  <a:srgbClr val="0000CC"/>
                </a:solidFill>
                <a:hlinkClick r:id="rId2" tooltip="French language"/>
              </a:rPr>
              <a:t>French</a:t>
            </a:r>
            <a:r>
              <a:rPr lang="en-US" sz="3600" b="1">
                <a:solidFill>
                  <a:srgbClr val="0000CC"/>
                </a:solidFill>
              </a:rPr>
              <a:t>: </a:t>
            </a:r>
            <a:r>
              <a:rPr lang="en-US" sz="3600" b="1" i="1">
                <a:solidFill>
                  <a:srgbClr val="0000CC"/>
                </a:solidFill>
              </a:rPr>
              <a:t>Organisation internationale de normalisation</a:t>
            </a:r>
            <a:r>
              <a:rPr lang="en-US" sz="3600" b="1">
                <a:solidFill>
                  <a:srgbClr val="0000CC"/>
                </a:solidFill>
              </a:rPr>
              <a:t>;) produced OSI  (</a:t>
            </a:r>
            <a:r>
              <a:rPr lang="en-US" sz="3600">
                <a:solidFill>
                  <a:srgbClr val="C00000"/>
                </a:solidFill>
              </a:rPr>
              <a:t>Open Systems Interconnection Reference Model, the OSI Reference Model, or even just the OSI Model</a:t>
            </a:r>
            <a:r>
              <a:rPr lang="en-US" sz="3600" b="1">
                <a:solidFill>
                  <a:srgbClr val="0000CC"/>
                </a:solidFill>
              </a:rPr>
              <a:t>)</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0" y="342900"/>
            <a:ext cx="11375232" cy="1924050"/>
          </a:xfrm>
        </p:spPr>
        <p:txBody>
          <a:bodyPr/>
          <a:lstStyle/>
          <a:p>
            <a:pPr>
              <a:defRPr/>
            </a:pPr>
            <a:r>
              <a:rPr lang="en-US" dirty="0"/>
              <a:t>History of OSI</a:t>
            </a:r>
          </a:p>
        </p:txBody>
      </p:sp>
      <p:sp>
        <p:nvSpPr>
          <p:cNvPr id="32771" name="Rectangle 2"/>
          <p:cNvSpPr>
            <a:spLocks noChangeArrowheads="1"/>
          </p:cNvSpPr>
          <p:nvPr/>
        </p:nvSpPr>
        <p:spPr bwMode="auto">
          <a:xfrm>
            <a:off x="1981200" y="2166938"/>
            <a:ext cx="15316200" cy="6863417"/>
          </a:xfrm>
          <a:prstGeom prst="rect">
            <a:avLst/>
          </a:prstGeom>
          <a:noFill/>
          <a:ln w="9525">
            <a:noFill/>
            <a:miter lim="800000"/>
            <a:headEnd/>
            <a:tailEnd/>
          </a:ln>
        </p:spPr>
        <p:txBody>
          <a:bodyPr wrap="square">
            <a:spAutoFit/>
          </a:bodyPr>
          <a:lstStyle/>
          <a:p>
            <a:pPr algn="just"/>
            <a:r>
              <a:rPr lang="en-US" sz="4000" dirty="0">
                <a:solidFill>
                  <a:srgbClr val="0000CC"/>
                </a:solidFill>
              </a:rPr>
              <a:t>In the late 1970s, two projects began independently, with the same goal: to define a unifying standard for the architecture of networking systems. </a:t>
            </a:r>
          </a:p>
          <a:p>
            <a:pPr algn="just"/>
            <a:endParaRPr lang="en-US" sz="4000" dirty="0">
              <a:solidFill>
                <a:srgbClr val="0000CC"/>
              </a:solidFill>
            </a:endParaRPr>
          </a:p>
          <a:p>
            <a:pPr algn="just"/>
            <a:r>
              <a:rPr lang="en-US" sz="4000" dirty="0">
                <a:solidFill>
                  <a:srgbClr val="C00000"/>
                </a:solidFill>
              </a:rPr>
              <a:t>One was administered by the International Organization for Standardization (ISO), while the other was undertaken by the International Telegraph and Telephone Consultative Committee, or CCITT (the abbreviation is from the French version of the name). </a:t>
            </a:r>
          </a:p>
          <a:p>
            <a:pPr algn="just"/>
            <a:endParaRPr lang="en-US" sz="4000" dirty="0">
              <a:solidFill>
                <a:srgbClr val="0000CC"/>
              </a:solidFill>
            </a:endParaRPr>
          </a:p>
          <a:p>
            <a:pPr algn="just"/>
            <a:r>
              <a:rPr lang="en-US" sz="4000" dirty="0">
                <a:solidFill>
                  <a:srgbClr val="0000CC"/>
                </a:solidFill>
              </a:rPr>
              <a:t>These two international standards bodies each developed a document that defined similar networking models</a:t>
            </a:r>
            <a:r>
              <a:rPr lang="en-US" sz="4000" dirty="0">
                <a:solidFill>
                  <a:srgbClr val="C00000"/>
                </a:solidFill>
              </a:rPr>
              <a:t>. ISO 7498, ITU-T (formerly CCITT ) standard X.200 (1984)</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0" y="228600"/>
            <a:ext cx="11375232" cy="1162050"/>
          </a:xfrm>
        </p:spPr>
        <p:txBody>
          <a:bodyPr/>
          <a:lstStyle/>
          <a:p>
            <a:pPr>
              <a:defRPr/>
            </a:pPr>
            <a:r>
              <a:rPr lang="en-US" sz="4800" dirty="0"/>
              <a:t>X.800</a:t>
            </a:r>
          </a:p>
        </p:txBody>
      </p:sp>
      <p:sp>
        <p:nvSpPr>
          <p:cNvPr id="33795" name="Rectangle 2"/>
          <p:cNvSpPr>
            <a:spLocks noChangeArrowheads="1"/>
          </p:cNvSpPr>
          <p:nvPr/>
        </p:nvSpPr>
        <p:spPr bwMode="auto">
          <a:xfrm>
            <a:off x="2133600" y="1943101"/>
            <a:ext cx="14477999" cy="4401205"/>
          </a:xfrm>
          <a:prstGeom prst="rect">
            <a:avLst/>
          </a:prstGeom>
          <a:noFill/>
          <a:ln w="9525">
            <a:noFill/>
            <a:miter lim="800000"/>
            <a:headEnd/>
            <a:tailEnd/>
          </a:ln>
        </p:spPr>
        <p:txBody>
          <a:bodyPr wrap="square">
            <a:spAutoFit/>
          </a:bodyPr>
          <a:lstStyle/>
          <a:p>
            <a:pPr algn="just"/>
            <a:r>
              <a:rPr lang="en-US" sz="4000" dirty="0">
                <a:solidFill>
                  <a:srgbClr val="0000CC"/>
                </a:solidFill>
              </a:rPr>
              <a:t>X.800 Recommendation:</a:t>
            </a:r>
            <a:endParaRPr lang="en-US" sz="4000" baseline="30000" dirty="0">
              <a:solidFill>
                <a:srgbClr val="0000CC"/>
              </a:solidFill>
            </a:endParaRPr>
          </a:p>
          <a:p>
            <a:pPr algn="just"/>
            <a:endParaRPr lang="en-US" sz="4000" dirty="0">
              <a:solidFill>
                <a:srgbClr val="0000CC"/>
              </a:solidFill>
            </a:endParaRPr>
          </a:p>
          <a:p>
            <a:pPr algn="just"/>
            <a:r>
              <a:rPr lang="en-US" sz="4000" dirty="0">
                <a:solidFill>
                  <a:srgbClr val="0000CC"/>
                </a:solidFill>
              </a:rPr>
              <a:t>1. provides a general description of </a:t>
            </a:r>
            <a:r>
              <a:rPr lang="en-US" sz="4000" dirty="0">
                <a:solidFill>
                  <a:srgbClr val="C00000"/>
                </a:solidFill>
              </a:rPr>
              <a:t>security services and related mechanisms</a:t>
            </a:r>
            <a:r>
              <a:rPr lang="en-US" sz="4000" dirty="0">
                <a:solidFill>
                  <a:srgbClr val="0000CC"/>
                </a:solidFill>
              </a:rPr>
              <a:t>, which may be provided by the </a:t>
            </a:r>
            <a:r>
              <a:rPr lang="en-US" sz="4000" dirty="0">
                <a:solidFill>
                  <a:srgbClr val="0000CC"/>
                </a:solidFill>
                <a:hlinkClick r:id="rId2" tooltip="OSI model"/>
              </a:rPr>
              <a:t>Reference Model</a:t>
            </a:r>
            <a:r>
              <a:rPr lang="en-US" sz="4000" dirty="0">
                <a:solidFill>
                  <a:srgbClr val="0000CC"/>
                </a:solidFill>
              </a:rPr>
              <a:t>; and</a:t>
            </a:r>
          </a:p>
          <a:p>
            <a:pPr algn="just"/>
            <a:endParaRPr lang="en-US" sz="4000" dirty="0">
              <a:solidFill>
                <a:srgbClr val="0000CC"/>
              </a:solidFill>
            </a:endParaRPr>
          </a:p>
          <a:p>
            <a:pPr algn="just"/>
            <a:r>
              <a:rPr lang="en-US" sz="4000" dirty="0">
                <a:solidFill>
                  <a:srgbClr val="0000CC"/>
                </a:solidFill>
              </a:rPr>
              <a:t>2. defines the </a:t>
            </a:r>
            <a:r>
              <a:rPr lang="en-US" sz="4000" dirty="0">
                <a:solidFill>
                  <a:srgbClr val="C00000"/>
                </a:solidFill>
              </a:rPr>
              <a:t>positions</a:t>
            </a:r>
            <a:r>
              <a:rPr lang="en-US" sz="4000" dirty="0">
                <a:solidFill>
                  <a:srgbClr val="0000CC"/>
                </a:solidFill>
              </a:rPr>
              <a:t> within the Reference Model where the services and mechanisms may be provided.</a:t>
            </a:r>
          </a:p>
        </p:txBody>
      </p:sp>
      <p:sp>
        <p:nvSpPr>
          <p:cNvPr id="33796" name="Rectangle 3"/>
          <p:cNvSpPr>
            <a:spLocks noChangeArrowheads="1"/>
          </p:cNvSpPr>
          <p:nvPr/>
        </p:nvSpPr>
        <p:spPr bwMode="auto">
          <a:xfrm>
            <a:off x="2286000" y="6896757"/>
            <a:ext cx="14097000" cy="1938992"/>
          </a:xfrm>
          <a:prstGeom prst="rect">
            <a:avLst/>
          </a:prstGeom>
          <a:noFill/>
          <a:ln w="9525">
            <a:noFill/>
            <a:miter lim="800000"/>
            <a:headEnd/>
            <a:tailEnd/>
          </a:ln>
        </p:spPr>
        <p:txBody>
          <a:bodyPr wrap="square">
            <a:spAutoFit/>
          </a:bodyPr>
          <a:lstStyle/>
          <a:p>
            <a:pPr algn="just"/>
            <a:r>
              <a:rPr lang="en-US" sz="4000" dirty="0">
                <a:solidFill>
                  <a:srgbClr val="0000CC"/>
                </a:solidFill>
              </a:rPr>
              <a:t>This Recommendation extends the field of application of recommendation X.200, to cover </a:t>
            </a:r>
            <a:r>
              <a:rPr lang="en-US" sz="4000" dirty="0">
                <a:solidFill>
                  <a:srgbClr val="0000CC"/>
                </a:solidFill>
                <a:hlinkClick r:id="rId3" tooltip="Secure communication"/>
              </a:rPr>
              <a:t>secure communications</a:t>
            </a:r>
            <a:r>
              <a:rPr lang="en-US" sz="4000" dirty="0">
                <a:solidFill>
                  <a:srgbClr val="0000CC"/>
                </a:solidFill>
              </a:rPr>
              <a:t> between </a:t>
            </a:r>
            <a:r>
              <a:rPr lang="en-US" sz="4000" dirty="0">
                <a:solidFill>
                  <a:srgbClr val="0000CC"/>
                </a:solidFill>
                <a:hlinkClick r:id="rId4" tooltip="Open Systems Interconnection"/>
              </a:rPr>
              <a:t>open systems</a:t>
            </a:r>
            <a:r>
              <a:rPr lang="en-US" sz="4000" dirty="0">
                <a:solidFill>
                  <a:srgbClr val="0000CC"/>
                </a:solidFill>
              </a:rPr>
              <a:t>.</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idx="4294967295"/>
          </p:nvPr>
        </p:nvSpPr>
        <p:spPr>
          <a:xfrm>
            <a:off x="3455195" y="95250"/>
            <a:ext cx="11375231" cy="1276350"/>
          </a:xfrm>
          <a:prstGeom prst="rect">
            <a:avLst/>
          </a:prstGeom>
        </p:spPr>
        <p:txBody>
          <a:bodyPr/>
          <a:lstStyle/>
          <a:p>
            <a:pPr>
              <a:defRPr/>
            </a:pPr>
            <a:r>
              <a:rPr lang="en-AU" dirty="0"/>
              <a:t>OSI Security Architecture</a:t>
            </a:r>
          </a:p>
        </p:txBody>
      </p:sp>
      <p:sp>
        <p:nvSpPr>
          <p:cNvPr id="5" name="Content Placeholder 4"/>
          <p:cNvSpPr>
            <a:spLocks noGrp="1"/>
          </p:cNvSpPr>
          <p:nvPr>
            <p:ph idx="4294967295"/>
          </p:nvPr>
        </p:nvSpPr>
        <p:spPr>
          <a:xfrm>
            <a:off x="3456384" y="3467100"/>
            <a:ext cx="11375231" cy="6172199"/>
          </a:xfrm>
          <a:prstGeom prst="rect">
            <a:avLst/>
          </a:prstGeom>
        </p:spPr>
        <p:txBody>
          <a:bodyPr>
            <a:normAutofit/>
          </a:bodyPr>
          <a:lstStyle/>
          <a:p>
            <a:pPr>
              <a:defRPr/>
            </a:pPr>
            <a:r>
              <a:rPr lang="en-US" sz="3000" b="1" dirty="0">
                <a:solidFill>
                  <a:schemeClr val="accent6">
                    <a:lumMod val="75000"/>
                  </a:schemeClr>
                </a:solidFill>
              </a:rPr>
              <a:t>Security attack</a:t>
            </a:r>
          </a:p>
          <a:p>
            <a:pPr lvl="1">
              <a:buClr>
                <a:schemeClr val="bg1"/>
              </a:buClr>
              <a:defRPr/>
            </a:pPr>
            <a:r>
              <a:rPr lang="en-US" b="1" dirty="0">
                <a:solidFill>
                  <a:srgbClr val="C00000"/>
                </a:solidFill>
              </a:rPr>
              <a:t>Any action </a:t>
            </a:r>
            <a:r>
              <a:rPr lang="en-US" dirty="0">
                <a:solidFill>
                  <a:schemeClr val="tx2">
                    <a:lumMod val="10000"/>
                  </a:schemeClr>
                </a:solidFill>
              </a:rPr>
              <a:t>that </a:t>
            </a:r>
            <a:r>
              <a:rPr lang="en-US" b="1" dirty="0">
                <a:solidFill>
                  <a:srgbClr val="C00000"/>
                </a:solidFill>
              </a:rPr>
              <a:t>compromises</a:t>
            </a:r>
            <a:r>
              <a:rPr lang="en-US" dirty="0">
                <a:solidFill>
                  <a:schemeClr val="tx2">
                    <a:lumMod val="10000"/>
                  </a:schemeClr>
                </a:solidFill>
              </a:rPr>
              <a:t> the security of information owned by an organization</a:t>
            </a:r>
          </a:p>
          <a:p>
            <a:pPr>
              <a:defRPr/>
            </a:pPr>
            <a:r>
              <a:rPr lang="en-US" sz="3000" b="1" dirty="0">
                <a:solidFill>
                  <a:schemeClr val="accent6">
                    <a:lumMod val="75000"/>
                  </a:schemeClr>
                </a:solidFill>
              </a:rPr>
              <a:t>Security mechanism</a:t>
            </a:r>
          </a:p>
          <a:p>
            <a:pPr lvl="1">
              <a:buClr>
                <a:schemeClr val="bg1"/>
              </a:buClr>
              <a:defRPr/>
            </a:pPr>
            <a:r>
              <a:rPr lang="en-US" b="1" dirty="0">
                <a:solidFill>
                  <a:srgbClr val="C00000"/>
                </a:solidFill>
              </a:rPr>
              <a:t>A process </a:t>
            </a:r>
            <a:r>
              <a:rPr lang="en-US" dirty="0">
                <a:solidFill>
                  <a:schemeClr val="tx2">
                    <a:lumMod val="10000"/>
                  </a:schemeClr>
                </a:solidFill>
              </a:rPr>
              <a:t>(or a device incorporating such a process) that is designed </a:t>
            </a:r>
            <a:r>
              <a:rPr lang="en-US" b="1" dirty="0">
                <a:solidFill>
                  <a:srgbClr val="C00000"/>
                </a:solidFill>
              </a:rPr>
              <a:t>to detect, prevent, or recover </a:t>
            </a:r>
            <a:r>
              <a:rPr lang="en-US" dirty="0">
                <a:solidFill>
                  <a:schemeClr val="tx2">
                    <a:lumMod val="10000"/>
                  </a:schemeClr>
                </a:solidFill>
              </a:rPr>
              <a:t>from a security attack</a:t>
            </a:r>
          </a:p>
          <a:p>
            <a:pPr>
              <a:defRPr/>
            </a:pPr>
            <a:r>
              <a:rPr lang="en-US" sz="3000" b="1" dirty="0">
                <a:solidFill>
                  <a:schemeClr val="accent6">
                    <a:lumMod val="75000"/>
                  </a:schemeClr>
                </a:solidFill>
              </a:rPr>
              <a:t>Security service</a:t>
            </a:r>
          </a:p>
          <a:p>
            <a:pPr lvl="1">
              <a:buClr>
                <a:schemeClr val="bg1"/>
              </a:buClr>
              <a:defRPr/>
            </a:pPr>
            <a:r>
              <a:rPr lang="en-US" b="1" dirty="0">
                <a:solidFill>
                  <a:srgbClr val="C00000"/>
                </a:solidFill>
              </a:rPr>
              <a:t>A processing </a:t>
            </a:r>
            <a:r>
              <a:rPr lang="en-US" dirty="0">
                <a:solidFill>
                  <a:schemeClr val="tx2">
                    <a:lumMod val="10000"/>
                  </a:schemeClr>
                </a:solidFill>
              </a:rPr>
              <a:t>or </a:t>
            </a:r>
            <a:r>
              <a:rPr lang="en-US" b="1" dirty="0">
                <a:solidFill>
                  <a:srgbClr val="C00000"/>
                </a:solidFill>
              </a:rPr>
              <a:t>communication service </a:t>
            </a:r>
            <a:r>
              <a:rPr lang="en-US" dirty="0">
                <a:solidFill>
                  <a:schemeClr val="tx2">
                    <a:lumMod val="10000"/>
                  </a:schemeClr>
                </a:solidFill>
              </a:rPr>
              <a:t>that </a:t>
            </a:r>
            <a:r>
              <a:rPr lang="en-US" b="1" dirty="0">
                <a:solidFill>
                  <a:srgbClr val="C00000"/>
                </a:solidFill>
              </a:rPr>
              <a:t>enhances the security</a:t>
            </a:r>
            <a:r>
              <a:rPr lang="en-US" dirty="0">
                <a:solidFill>
                  <a:schemeClr val="tx2">
                    <a:lumMod val="10000"/>
                  </a:schemeClr>
                </a:solidFill>
              </a:rPr>
              <a:t> of the data processing systems and the </a:t>
            </a:r>
            <a:r>
              <a:rPr lang="en-US" b="1" dirty="0">
                <a:solidFill>
                  <a:srgbClr val="C00000"/>
                </a:solidFill>
              </a:rPr>
              <a:t>information transfers </a:t>
            </a:r>
            <a:r>
              <a:rPr lang="en-US" dirty="0">
                <a:solidFill>
                  <a:schemeClr val="tx2">
                    <a:lumMod val="10000"/>
                  </a:schemeClr>
                </a:solidFill>
              </a:rPr>
              <a:t>of an organization</a:t>
            </a:r>
          </a:p>
          <a:p>
            <a:pPr lvl="1">
              <a:buClr>
                <a:schemeClr val="bg1"/>
              </a:buClr>
              <a:defRPr/>
            </a:pPr>
            <a:r>
              <a:rPr lang="en-US" b="1" dirty="0">
                <a:solidFill>
                  <a:srgbClr val="C00000"/>
                </a:solidFill>
              </a:rPr>
              <a:t>Intended</a:t>
            </a:r>
            <a:r>
              <a:rPr lang="en-US" dirty="0">
                <a:solidFill>
                  <a:schemeClr val="tx2">
                    <a:lumMod val="10000"/>
                  </a:schemeClr>
                </a:solidFill>
              </a:rPr>
              <a:t> to </a:t>
            </a:r>
            <a:r>
              <a:rPr lang="en-US" b="1" dirty="0">
                <a:solidFill>
                  <a:srgbClr val="C00000"/>
                </a:solidFill>
              </a:rPr>
              <a:t>counter security attacks</a:t>
            </a:r>
            <a:r>
              <a:rPr lang="en-US" dirty="0">
                <a:solidFill>
                  <a:schemeClr val="tx2">
                    <a:lumMod val="10000"/>
                  </a:schemeClr>
                </a:solidFill>
              </a:rPr>
              <a:t>, and they make use of one or more security mechanisms to provide the service</a:t>
            </a:r>
          </a:p>
        </p:txBody>
      </p:sp>
      <p:sp>
        <p:nvSpPr>
          <p:cNvPr id="34820" name="Rectangle 3"/>
          <p:cNvSpPr>
            <a:spLocks noChangeArrowheads="1"/>
          </p:cNvSpPr>
          <p:nvPr/>
        </p:nvSpPr>
        <p:spPr bwMode="auto">
          <a:xfrm>
            <a:off x="3455195" y="1485900"/>
            <a:ext cx="11772900" cy="1477328"/>
          </a:xfrm>
          <a:prstGeom prst="rect">
            <a:avLst/>
          </a:prstGeom>
          <a:noFill/>
          <a:ln w="9525">
            <a:noFill/>
            <a:miter lim="800000"/>
            <a:headEnd/>
            <a:tailEnd/>
          </a:ln>
        </p:spPr>
        <p:txBody>
          <a:bodyPr>
            <a:spAutoFit/>
          </a:bodyPr>
          <a:lstStyle/>
          <a:p>
            <a:pPr algn="just"/>
            <a:r>
              <a:rPr lang="en-US" sz="3000" dirty="0">
                <a:solidFill>
                  <a:srgbClr val="002060"/>
                </a:solidFill>
              </a:rPr>
              <a:t>ITU-T Recommendation X.800, </a:t>
            </a:r>
            <a:r>
              <a:rPr lang="en-US" sz="3000" i="1" dirty="0">
                <a:solidFill>
                  <a:srgbClr val="002060"/>
                </a:solidFill>
              </a:rPr>
              <a:t>Security Architecture for OSI </a:t>
            </a:r>
            <a:r>
              <a:rPr lang="en-US" sz="3000" dirty="0">
                <a:solidFill>
                  <a:srgbClr val="002060"/>
                </a:solidFill>
              </a:rPr>
              <a:t>describes</a:t>
            </a:r>
            <a:r>
              <a:rPr lang="en-US" sz="3000" i="1" dirty="0">
                <a:solidFill>
                  <a:srgbClr val="002060"/>
                </a:solidFill>
              </a:rPr>
              <a:t> a</a:t>
            </a:r>
            <a:r>
              <a:rPr lang="en-US" sz="3000" dirty="0">
                <a:solidFill>
                  <a:srgbClr val="002060"/>
                </a:solidFill>
              </a:rPr>
              <a:t> </a:t>
            </a:r>
            <a:r>
              <a:rPr lang="en-US" sz="3000" dirty="0">
                <a:solidFill>
                  <a:srgbClr val="C00000"/>
                </a:solidFill>
              </a:rPr>
              <a:t>systematic way </a:t>
            </a:r>
            <a:r>
              <a:rPr lang="en-US" sz="3000" dirty="0">
                <a:solidFill>
                  <a:srgbClr val="002060"/>
                </a:solidFill>
              </a:rPr>
              <a:t>of defining </a:t>
            </a:r>
            <a:r>
              <a:rPr lang="en-US" sz="3000" dirty="0">
                <a:solidFill>
                  <a:srgbClr val="C00000"/>
                </a:solidFill>
              </a:rPr>
              <a:t>the requirements for security </a:t>
            </a:r>
            <a:r>
              <a:rPr lang="en-US" sz="3000" dirty="0">
                <a:solidFill>
                  <a:srgbClr val="002060"/>
                </a:solidFill>
              </a:rPr>
              <a:t>and characterizing the approaches to satisfying those requirements. </a:t>
            </a:r>
            <a:r>
              <a:rPr lang="en-US" sz="3000" b="1" dirty="0">
                <a:solidFill>
                  <a:srgbClr val="0000CC"/>
                </a:solidFill>
              </a:rPr>
              <a:t>Focus</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0" y="342900"/>
            <a:ext cx="11375232" cy="1924050"/>
          </a:xfrm>
        </p:spPr>
        <p:txBody>
          <a:bodyPr/>
          <a:lstStyle/>
          <a:p>
            <a:pPr>
              <a:defRPr/>
            </a:pPr>
            <a:r>
              <a:rPr lang="en-US" dirty="0"/>
              <a:t>IETF and RFC</a:t>
            </a:r>
          </a:p>
        </p:txBody>
      </p:sp>
      <p:sp>
        <p:nvSpPr>
          <p:cNvPr id="35843" name="Rectangle 2"/>
          <p:cNvSpPr>
            <a:spLocks noChangeArrowheads="1"/>
          </p:cNvSpPr>
          <p:nvPr/>
        </p:nvSpPr>
        <p:spPr bwMode="auto">
          <a:xfrm>
            <a:off x="3429000" y="2400300"/>
            <a:ext cx="11887200" cy="5170646"/>
          </a:xfrm>
          <a:prstGeom prst="rect">
            <a:avLst/>
          </a:prstGeom>
          <a:noFill/>
          <a:ln w="9525">
            <a:noFill/>
            <a:miter lim="800000"/>
            <a:headEnd/>
            <a:tailEnd/>
          </a:ln>
        </p:spPr>
        <p:txBody>
          <a:bodyPr>
            <a:spAutoFit/>
          </a:bodyPr>
          <a:lstStyle/>
          <a:p>
            <a:pPr algn="just"/>
            <a:r>
              <a:rPr lang="en-US" sz="3000">
                <a:solidFill>
                  <a:srgbClr val="0000CC"/>
                </a:solidFill>
              </a:rPr>
              <a:t>The </a:t>
            </a:r>
            <a:r>
              <a:rPr lang="en-US" sz="3000" b="1">
                <a:solidFill>
                  <a:srgbClr val="0000CC"/>
                </a:solidFill>
              </a:rPr>
              <a:t>Internet Engineering Task Force</a:t>
            </a:r>
            <a:r>
              <a:rPr lang="en-US" sz="3000">
                <a:solidFill>
                  <a:srgbClr val="0000CC"/>
                </a:solidFill>
              </a:rPr>
              <a:t> (</a:t>
            </a:r>
            <a:r>
              <a:rPr lang="en-US" sz="3000" b="1">
                <a:solidFill>
                  <a:srgbClr val="0000CC"/>
                </a:solidFill>
              </a:rPr>
              <a:t>IETF</a:t>
            </a:r>
            <a:r>
              <a:rPr lang="en-US" sz="3000">
                <a:solidFill>
                  <a:srgbClr val="0000CC"/>
                </a:solidFill>
              </a:rPr>
              <a:t>) (1986) develops and promotes voluntary </a:t>
            </a:r>
            <a:r>
              <a:rPr lang="en-US" sz="3000">
                <a:solidFill>
                  <a:srgbClr val="0000CC"/>
                </a:solidFill>
                <a:hlinkClick r:id="rId2" tooltip="Internet standard"/>
              </a:rPr>
              <a:t>Internet standards</a:t>
            </a:r>
            <a:r>
              <a:rPr lang="en-US" sz="3000">
                <a:solidFill>
                  <a:srgbClr val="0000CC"/>
                </a:solidFill>
              </a:rPr>
              <a:t>, in particular the standards that comprise the</a:t>
            </a:r>
            <a:r>
              <a:rPr lang="en-US" sz="3000"/>
              <a:t> </a:t>
            </a:r>
            <a:r>
              <a:rPr lang="en-US" sz="3000">
                <a:hlinkClick r:id="rId3" tooltip="Internet protocol suite"/>
              </a:rPr>
              <a:t>Internet protocol suite</a:t>
            </a:r>
            <a:r>
              <a:rPr lang="en-US" sz="3000"/>
              <a:t> </a:t>
            </a:r>
            <a:r>
              <a:rPr lang="en-US" sz="3000">
                <a:solidFill>
                  <a:srgbClr val="0000CC"/>
                </a:solidFill>
              </a:rPr>
              <a:t>(TCP/IP).</a:t>
            </a:r>
          </a:p>
          <a:p>
            <a:pPr algn="just"/>
            <a:endParaRPr lang="en-US" sz="3000">
              <a:solidFill>
                <a:srgbClr val="0000CC"/>
              </a:solidFill>
            </a:endParaRPr>
          </a:p>
          <a:p>
            <a:pPr algn="just"/>
            <a:r>
              <a:rPr lang="en-US" sz="3000">
                <a:solidFill>
                  <a:srgbClr val="0000CC"/>
                </a:solidFill>
              </a:rPr>
              <a:t>A </a:t>
            </a:r>
            <a:r>
              <a:rPr lang="en-US" sz="3000" b="1">
                <a:solidFill>
                  <a:srgbClr val="0000CC"/>
                </a:solidFill>
              </a:rPr>
              <a:t>Request for Comments</a:t>
            </a:r>
            <a:r>
              <a:rPr lang="en-US" sz="3000">
                <a:solidFill>
                  <a:srgbClr val="0000CC"/>
                </a:solidFill>
              </a:rPr>
              <a:t> (</a:t>
            </a:r>
            <a:r>
              <a:rPr lang="en-US" sz="3000" b="1">
                <a:solidFill>
                  <a:srgbClr val="0000CC"/>
                </a:solidFill>
              </a:rPr>
              <a:t>RFC</a:t>
            </a:r>
            <a:r>
              <a:rPr lang="en-US" sz="3000">
                <a:solidFill>
                  <a:srgbClr val="0000CC"/>
                </a:solidFill>
              </a:rPr>
              <a:t>) is a </a:t>
            </a:r>
            <a:r>
              <a:rPr lang="en-US" sz="3000">
                <a:solidFill>
                  <a:srgbClr val="FF0000"/>
                </a:solidFill>
              </a:rPr>
              <a:t>publication</a:t>
            </a:r>
            <a:r>
              <a:rPr lang="en-US" sz="3000">
                <a:solidFill>
                  <a:srgbClr val="0000CC"/>
                </a:solidFill>
              </a:rPr>
              <a:t> of the </a:t>
            </a:r>
            <a:r>
              <a:rPr lang="en-US" sz="3000">
                <a:solidFill>
                  <a:srgbClr val="0000CC"/>
                </a:solidFill>
                <a:hlinkClick r:id="rId4" tooltip="Internet Engineering Task Force"/>
              </a:rPr>
              <a:t>Internet Engineering Task Force</a:t>
            </a:r>
            <a:r>
              <a:rPr lang="en-US" sz="3000">
                <a:solidFill>
                  <a:srgbClr val="0000CC"/>
                </a:solidFill>
              </a:rPr>
              <a:t> (IETF) and the </a:t>
            </a:r>
            <a:r>
              <a:rPr lang="en-US" sz="3000">
                <a:solidFill>
                  <a:srgbClr val="0000CC"/>
                </a:solidFill>
                <a:hlinkClick r:id="rId5" tooltip="Internet Society"/>
              </a:rPr>
              <a:t>Internet Society</a:t>
            </a:r>
            <a:r>
              <a:rPr lang="en-US" sz="3000">
                <a:solidFill>
                  <a:srgbClr val="0000CC"/>
                </a:solidFill>
              </a:rPr>
              <a:t>, the principal technical development and standards-setting bodies for the </a:t>
            </a:r>
            <a:r>
              <a:rPr lang="en-US" sz="3000">
                <a:solidFill>
                  <a:srgbClr val="0000CC"/>
                </a:solidFill>
                <a:hlinkClick r:id="rId6" tooltip="Internet"/>
              </a:rPr>
              <a:t>Internet</a:t>
            </a:r>
            <a:r>
              <a:rPr lang="en-US" sz="3000">
                <a:solidFill>
                  <a:srgbClr val="0000CC"/>
                </a:solidFill>
              </a:rPr>
              <a:t>.</a:t>
            </a:r>
          </a:p>
          <a:p>
            <a:pPr algn="just"/>
            <a:endParaRPr lang="en-US" sz="3000">
              <a:solidFill>
                <a:srgbClr val="0000CC"/>
              </a:solidFill>
            </a:endParaRPr>
          </a:p>
          <a:p>
            <a:pPr algn="just"/>
            <a:r>
              <a:rPr lang="en-US" sz="3000">
                <a:solidFill>
                  <a:srgbClr val="0000CC"/>
                </a:solidFill>
              </a:rPr>
              <a:t>The </a:t>
            </a:r>
            <a:r>
              <a:rPr lang="en-US" sz="3000" b="1">
                <a:solidFill>
                  <a:srgbClr val="0000CC"/>
                </a:solidFill>
              </a:rPr>
              <a:t>Internet Society</a:t>
            </a:r>
            <a:r>
              <a:rPr lang="en-US" sz="3000">
                <a:solidFill>
                  <a:srgbClr val="0000CC"/>
                </a:solidFill>
              </a:rPr>
              <a:t> (</a:t>
            </a:r>
            <a:r>
              <a:rPr lang="en-US" sz="3000" b="1">
                <a:solidFill>
                  <a:srgbClr val="0000CC"/>
                </a:solidFill>
              </a:rPr>
              <a:t>ISoc</a:t>
            </a:r>
            <a:r>
              <a:rPr lang="en-US" sz="3000">
                <a:solidFill>
                  <a:srgbClr val="0000CC"/>
                </a:solidFill>
              </a:rPr>
              <a:t>) is an international, non-profit organization founded in 1992 to provide leadership in </a:t>
            </a:r>
            <a:r>
              <a:rPr lang="en-US" sz="3000">
                <a:solidFill>
                  <a:srgbClr val="0000CC"/>
                </a:solidFill>
                <a:hlinkClick r:id="rId6" tooltip="Internet"/>
              </a:rPr>
              <a:t>Internet</a:t>
            </a:r>
            <a:r>
              <a:rPr lang="en-US" sz="3000">
                <a:solidFill>
                  <a:srgbClr val="0000CC"/>
                </a:solidFill>
              </a:rPr>
              <a:t> related standards, education, and policy.</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0" y="228600"/>
            <a:ext cx="11375232" cy="914400"/>
          </a:xfrm>
        </p:spPr>
        <p:txBody>
          <a:bodyPr/>
          <a:lstStyle/>
          <a:p>
            <a:pPr>
              <a:defRPr/>
            </a:pPr>
            <a:r>
              <a:rPr lang="en-US" sz="4800" dirty="0">
                <a:effectLst>
                  <a:outerShdw blurRad="38100" dist="38100" dir="2700000" algn="tl">
                    <a:srgbClr val="C0C0C0"/>
                  </a:outerShdw>
                </a:effectLst>
                <a:latin typeface="+mn-lt"/>
              </a:rPr>
              <a:t>ATTACKS</a:t>
            </a:r>
            <a:endParaRPr lang="en-US" sz="4800" dirty="0">
              <a:latin typeface="+mn-lt"/>
            </a:endParaRPr>
          </a:p>
        </p:txBody>
      </p:sp>
      <p:sp>
        <p:nvSpPr>
          <p:cNvPr id="3" name="Rectangle 2"/>
          <p:cNvSpPr/>
          <p:nvPr/>
        </p:nvSpPr>
        <p:spPr>
          <a:xfrm>
            <a:off x="3543300" y="2057400"/>
            <a:ext cx="11430000" cy="1015663"/>
          </a:xfrm>
          <a:prstGeom prst="rect">
            <a:avLst/>
          </a:prstGeom>
        </p:spPr>
        <p:txBody>
          <a:bodyPr>
            <a:spAutoFit/>
          </a:bodyPr>
          <a:lstStyle/>
          <a:p>
            <a:pPr algn="just">
              <a:defRPr/>
            </a:pPr>
            <a:r>
              <a:rPr lang="en-US" sz="3000" dirty="0">
                <a:solidFill>
                  <a:srgbClr val="000000"/>
                </a:solidFill>
                <a:effectLst>
                  <a:outerShdw blurRad="38100" dist="38100" dir="2700000" algn="tl">
                    <a:srgbClr val="C0C0C0"/>
                  </a:outerShdw>
                </a:effectLst>
              </a:rPr>
              <a:t>The three goals of security, confidentiality, integrity and availability can be threatened by security attacks. </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54"/>
          <p:cNvSpPr>
            <a:spLocks noGrp="1"/>
          </p:cNvSpPr>
          <p:nvPr>
            <p:ph type="title"/>
          </p:nvPr>
        </p:nvSpPr>
        <p:spPr>
          <a:xfrm>
            <a:off x="2286000" y="0"/>
            <a:ext cx="13716000" cy="1485900"/>
          </a:xfrm>
        </p:spPr>
        <p:txBody>
          <a:bodyPr/>
          <a:lstStyle/>
          <a:p>
            <a:pPr>
              <a:defRPr/>
            </a:pPr>
            <a:br>
              <a:rPr lang="en-US" sz="3000" dirty="0"/>
            </a:br>
            <a:r>
              <a:rPr lang="en-US" sz="3000" dirty="0"/>
              <a:t>Threats and Attacks (RFC 4949)</a:t>
            </a:r>
            <a:br>
              <a:rPr lang="en-US" sz="3000" dirty="0"/>
            </a:br>
            <a:endParaRPr lang="en-US" sz="3000" dirty="0"/>
          </a:p>
        </p:txBody>
      </p:sp>
      <p:pic>
        <p:nvPicPr>
          <p:cNvPr id="47" name="Picture 46"/>
          <p:cNvPicPr>
            <a:picLocks noChangeAspect="1"/>
          </p:cNvPicPr>
          <p:nvPr/>
        </p:nvPicPr>
        <p:blipFill>
          <a:blip r:embed="rId3">
            <a:alphaModFix/>
            <a:duotone>
              <a:prstClr val="black"/>
              <a:schemeClr val="accent1">
                <a:tint val="45000"/>
                <a:satMod val="400000"/>
              </a:schemeClr>
            </a:duotone>
            <a:lum contrast="50000"/>
          </a:blip>
          <a:srcRect/>
          <a:stretch>
            <a:fillRect/>
          </a:stretch>
        </p:blipFill>
        <p:spPr>
          <a:xfrm>
            <a:off x="2628900" y="4457700"/>
            <a:ext cx="13031046" cy="3914763"/>
          </a:xfrm>
          <a:prstGeom prst="rect">
            <a:avLst/>
          </a:prstGeom>
          <a:solidFill>
            <a:schemeClr val="tx2">
              <a:lumMod val="75000"/>
            </a:schemeClr>
          </a:solidFill>
        </p:spPr>
      </p:pic>
      <p:pic>
        <p:nvPicPr>
          <p:cNvPr id="37892" name="Picture 56"/>
          <p:cNvPicPr>
            <a:picLocks noChangeAspect="1"/>
          </p:cNvPicPr>
          <p:nvPr/>
        </p:nvPicPr>
        <p:blipFill>
          <a:blip r:embed="rId4"/>
          <a:srcRect/>
          <a:stretch>
            <a:fillRect/>
          </a:stretch>
        </p:blipFill>
        <p:spPr bwMode="auto">
          <a:xfrm>
            <a:off x="13737432" y="1714500"/>
            <a:ext cx="2264568" cy="2362200"/>
          </a:xfrm>
          <a:prstGeom prst="rect">
            <a:avLst/>
          </a:prstGeom>
          <a:noFill/>
          <a:ln w="9525">
            <a:noFill/>
            <a:miter lim="800000"/>
            <a:headEnd/>
            <a:tailEnd/>
          </a:ln>
        </p:spPr>
      </p:pic>
      <p:sp>
        <p:nvSpPr>
          <p:cNvPr id="37893" name="Rectangle 6"/>
          <p:cNvSpPr>
            <a:spLocks noChangeArrowheads="1"/>
          </p:cNvSpPr>
          <p:nvPr/>
        </p:nvSpPr>
        <p:spPr bwMode="auto">
          <a:xfrm>
            <a:off x="2857500" y="1508507"/>
            <a:ext cx="4572000" cy="1431161"/>
          </a:xfrm>
          <a:prstGeom prst="rect">
            <a:avLst/>
          </a:prstGeom>
          <a:noFill/>
          <a:ln w="9525">
            <a:noFill/>
            <a:miter lim="800000"/>
            <a:headEnd/>
            <a:tailEnd/>
          </a:ln>
        </p:spPr>
        <p:txBody>
          <a:bodyPr anchor="ctr">
            <a:spAutoFit/>
          </a:bodyPr>
          <a:lstStyle/>
          <a:p>
            <a:pPr eaLnBrk="0" hangingPunct="0"/>
            <a:r>
              <a:rPr lang="en-AU" sz="3000" b="1">
                <a:solidFill>
                  <a:srgbClr val="0000CC"/>
                </a:solidFill>
                <a:latin typeface="Arial Unicode MS" pitchFamily="34" charset="-128"/>
              </a:rPr>
              <a:t>Internet Security Glossary, Version 2</a:t>
            </a:r>
          </a:p>
          <a:p>
            <a:pPr eaLnBrk="0" hangingPunct="0"/>
            <a:endParaRPr lang="en-AU" sz="2700"/>
          </a:p>
        </p:txBody>
      </p:sp>
      <p:sp>
        <p:nvSpPr>
          <p:cNvPr id="37894" name="Rectangle 7"/>
          <p:cNvSpPr>
            <a:spLocks noChangeArrowheads="1"/>
          </p:cNvSpPr>
          <p:nvPr/>
        </p:nvSpPr>
        <p:spPr bwMode="auto">
          <a:xfrm>
            <a:off x="2743200" y="2766388"/>
            <a:ext cx="10515600" cy="1015663"/>
          </a:xfrm>
          <a:prstGeom prst="rect">
            <a:avLst/>
          </a:prstGeom>
          <a:noFill/>
          <a:ln w="9525">
            <a:noFill/>
            <a:miter lim="800000"/>
            <a:headEnd/>
            <a:tailEnd/>
          </a:ln>
        </p:spPr>
        <p:txBody>
          <a:bodyPr anchor="ctr">
            <a:spAutoFit/>
          </a:bodyPr>
          <a:lstStyle/>
          <a:p>
            <a:pPr algn="just" eaLnBrk="0" hangingPunct="0"/>
            <a:r>
              <a:rPr lang="en-AU" sz="3000">
                <a:solidFill>
                  <a:srgbClr val="0000CC"/>
                </a:solidFill>
                <a:latin typeface="Arial Unicode MS" pitchFamily="34" charset="-128"/>
              </a:rPr>
              <a:t>This Glossary provides definitions, abbreviations, and explanations of terminology for information system security.</a:t>
            </a:r>
            <a:r>
              <a:rPr lang="en-AU" sz="3000">
                <a:solidFill>
                  <a:srgbClr val="0000CC"/>
                </a:solidFill>
              </a:rPr>
              <a:t> </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0" y="228600"/>
            <a:ext cx="11375232" cy="1162050"/>
          </a:xfrm>
        </p:spPr>
        <p:txBody>
          <a:bodyPr/>
          <a:lstStyle/>
          <a:p>
            <a:pPr>
              <a:defRPr/>
            </a:pPr>
            <a:endParaRPr lang="en-US"/>
          </a:p>
        </p:txBody>
      </p:sp>
      <p:pic>
        <p:nvPicPr>
          <p:cNvPr id="38915" name="Picture 9"/>
          <p:cNvPicPr>
            <a:picLocks noChangeAspect="1" noChangeArrowheads="1"/>
          </p:cNvPicPr>
          <p:nvPr/>
        </p:nvPicPr>
        <p:blipFill>
          <a:blip r:embed="rId2"/>
          <a:srcRect/>
          <a:stretch>
            <a:fillRect/>
          </a:stretch>
        </p:blipFill>
        <p:spPr bwMode="auto">
          <a:xfrm>
            <a:off x="3657601" y="2171700"/>
            <a:ext cx="10036970" cy="6650832"/>
          </a:xfrm>
          <a:prstGeom prst="rect">
            <a:avLst/>
          </a:prstGeom>
          <a:noFill/>
          <a:ln w="9525">
            <a:noFill/>
            <a:miter lim="800000"/>
            <a:headEnd/>
            <a:tailEnd/>
          </a:ln>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Title 10"/>
          <p:cNvSpPr>
            <a:spLocks noGrp="1"/>
          </p:cNvSpPr>
          <p:nvPr>
            <p:ph type="title" idx="4294967295"/>
          </p:nvPr>
        </p:nvSpPr>
        <p:spPr>
          <a:xfrm>
            <a:off x="5829301" y="342900"/>
            <a:ext cx="5938838" cy="1073943"/>
          </a:xfrm>
          <a:prstGeom prst="rect">
            <a:avLst/>
          </a:prstGeom>
        </p:spPr>
        <p:txBody>
          <a:bodyPr/>
          <a:lstStyle/>
          <a:p>
            <a:pPr>
              <a:defRPr/>
            </a:pPr>
            <a:r>
              <a:rPr lang="en-US" dirty="0"/>
              <a:t>Security Attacks</a:t>
            </a:r>
          </a:p>
        </p:txBody>
      </p:sp>
      <p:sp>
        <p:nvSpPr>
          <p:cNvPr id="15" name="Text Placeholder 14"/>
          <p:cNvSpPr>
            <a:spLocks noGrp="1"/>
          </p:cNvSpPr>
          <p:nvPr>
            <p:ph type="body" sz="half" idx="4294967295"/>
          </p:nvPr>
        </p:nvSpPr>
        <p:spPr>
          <a:xfrm>
            <a:off x="2971800" y="3086100"/>
            <a:ext cx="12344400" cy="4000500"/>
          </a:xfrm>
          <a:prstGeom prst="rect">
            <a:avLst/>
          </a:prstGeom>
        </p:spPr>
        <p:txBody>
          <a:bodyPr/>
          <a:lstStyle/>
          <a:p>
            <a:pPr>
              <a:buClr>
                <a:schemeClr val="tx2">
                  <a:lumMod val="75000"/>
                </a:schemeClr>
              </a:buClr>
              <a:buSzPct val="135000"/>
              <a:buFont typeface="Arial"/>
              <a:buChar char="•"/>
              <a:defRPr/>
            </a:pPr>
            <a:r>
              <a:rPr lang="en-US" sz="3000" b="1" dirty="0">
                <a:solidFill>
                  <a:srgbClr val="C00000"/>
                </a:solidFill>
              </a:rPr>
              <a:t>A means</a:t>
            </a:r>
            <a:r>
              <a:rPr lang="en-US" sz="3000" dirty="0"/>
              <a:t> </a:t>
            </a:r>
            <a:r>
              <a:rPr lang="en-US" sz="3000" b="1" dirty="0">
                <a:solidFill>
                  <a:srgbClr val="C00000"/>
                </a:solidFill>
              </a:rPr>
              <a:t>of classifying </a:t>
            </a:r>
            <a:r>
              <a:rPr lang="en-US" sz="3000" dirty="0"/>
              <a:t>security attacks, used both in X.800 and RFC 4949, is in terms of </a:t>
            </a:r>
            <a:r>
              <a:rPr lang="en-US" sz="3000" b="1" dirty="0">
                <a:solidFill>
                  <a:srgbClr val="0070C0"/>
                </a:solidFill>
              </a:rPr>
              <a:t>passive attacks</a:t>
            </a:r>
            <a:r>
              <a:rPr lang="en-US" sz="3000" b="1" dirty="0">
                <a:solidFill>
                  <a:srgbClr val="0099FF"/>
                </a:solidFill>
              </a:rPr>
              <a:t> </a:t>
            </a:r>
            <a:r>
              <a:rPr lang="en-US" sz="3000" dirty="0"/>
              <a:t>and </a:t>
            </a:r>
            <a:r>
              <a:rPr lang="en-US" sz="3000" b="1" dirty="0">
                <a:solidFill>
                  <a:srgbClr val="0070C0"/>
                </a:solidFill>
              </a:rPr>
              <a:t>active attacks</a:t>
            </a:r>
          </a:p>
          <a:p>
            <a:pPr>
              <a:buClr>
                <a:schemeClr val="tx2">
                  <a:lumMod val="75000"/>
                </a:schemeClr>
              </a:buClr>
              <a:buSzPct val="135000"/>
              <a:buFont typeface="Arial"/>
              <a:buChar char="•"/>
              <a:defRPr/>
            </a:pPr>
            <a:r>
              <a:rPr lang="en-US" sz="3000" b="1" dirty="0">
                <a:solidFill>
                  <a:srgbClr val="0070C0"/>
                </a:solidFill>
              </a:rPr>
              <a:t>A passive attack </a:t>
            </a:r>
            <a:r>
              <a:rPr lang="en-US" sz="3000" dirty="0"/>
              <a:t>attempts to learn or </a:t>
            </a:r>
            <a:r>
              <a:rPr lang="en-US" sz="3000" b="1" dirty="0">
                <a:solidFill>
                  <a:srgbClr val="C00000"/>
                </a:solidFill>
              </a:rPr>
              <a:t>make use of information</a:t>
            </a:r>
            <a:r>
              <a:rPr lang="en-US" sz="3000" dirty="0"/>
              <a:t> from the system but </a:t>
            </a:r>
            <a:r>
              <a:rPr lang="en-US" sz="3000" b="1" dirty="0">
                <a:solidFill>
                  <a:srgbClr val="C00000"/>
                </a:solidFill>
              </a:rPr>
              <a:t>does not affect system resources</a:t>
            </a:r>
          </a:p>
          <a:p>
            <a:pPr>
              <a:buClr>
                <a:schemeClr val="tx2">
                  <a:lumMod val="75000"/>
                </a:schemeClr>
              </a:buClr>
              <a:buSzPct val="135000"/>
              <a:buFont typeface="Arial"/>
              <a:buChar char="•"/>
              <a:defRPr/>
            </a:pPr>
            <a:r>
              <a:rPr lang="en-US" sz="3000" b="1" dirty="0">
                <a:solidFill>
                  <a:srgbClr val="0070C0"/>
                </a:solidFill>
              </a:rPr>
              <a:t>An active attack </a:t>
            </a:r>
            <a:r>
              <a:rPr lang="en-US" sz="3000" dirty="0"/>
              <a:t>attempts to </a:t>
            </a:r>
            <a:r>
              <a:rPr lang="en-US" sz="3000" b="1" dirty="0">
                <a:solidFill>
                  <a:srgbClr val="C00000"/>
                </a:solidFill>
              </a:rPr>
              <a:t>alter</a:t>
            </a:r>
            <a:r>
              <a:rPr lang="en-US" sz="3000" dirty="0"/>
              <a:t> system resources or </a:t>
            </a:r>
            <a:r>
              <a:rPr lang="en-US" sz="3000" b="1" dirty="0">
                <a:solidFill>
                  <a:srgbClr val="C00000"/>
                </a:solidFill>
              </a:rPr>
              <a:t>affect their operation</a:t>
            </a:r>
          </a:p>
        </p:txBody>
      </p:sp>
    </p:spTree>
  </p:cSld>
  <p:clrMapOvr>
    <a:masterClrMapping/>
  </p:clrMapOvr>
  <p:transition>
    <p:dissolve/>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7"/>
          <p:cNvSpPr>
            <a:spLocks noGrp="1"/>
          </p:cNvSpPr>
          <p:nvPr>
            <p:ph type="title" idx="4294967295"/>
          </p:nvPr>
        </p:nvSpPr>
        <p:spPr>
          <a:xfrm>
            <a:off x="2971800" y="571500"/>
            <a:ext cx="5419725" cy="1943100"/>
          </a:xfrm>
          <a:prstGeom prst="rect">
            <a:avLst/>
          </a:prstGeom>
        </p:spPr>
        <p:txBody>
          <a:bodyPr/>
          <a:lstStyle/>
          <a:p>
            <a:pPr>
              <a:defRPr/>
            </a:pPr>
            <a:r>
              <a:rPr lang="en-US" dirty="0"/>
              <a:t>Passive Attacks</a:t>
            </a:r>
            <a:br>
              <a:rPr lang="en-US" dirty="0"/>
            </a:br>
            <a:r>
              <a:rPr lang="en-US" dirty="0">
                <a:solidFill>
                  <a:srgbClr val="C00000"/>
                </a:solidFill>
              </a:rPr>
              <a:t> (</a:t>
            </a:r>
            <a:r>
              <a:rPr lang="en-US" sz="3600" dirty="0">
                <a:solidFill>
                  <a:srgbClr val="C00000"/>
                </a:solidFill>
              </a:rPr>
              <a:t>Two types) </a:t>
            </a:r>
            <a:endParaRPr lang="en-US" sz="3600" dirty="0"/>
          </a:p>
        </p:txBody>
      </p:sp>
      <p:sp>
        <p:nvSpPr>
          <p:cNvPr id="46083" name="Content Placeholder 8"/>
          <p:cNvSpPr>
            <a:spLocks noGrp="1"/>
          </p:cNvSpPr>
          <p:nvPr>
            <p:ph idx="4294967295"/>
          </p:nvPr>
        </p:nvSpPr>
        <p:spPr>
          <a:xfrm>
            <a:off x="9601201" y="5372100"/>
            <a:ext cx="5719763" cy="3429000"/>
          </a:xfrm>
          <a:prstGeom prst="rect">
            <a:avLst/>
          </a:prstGeom>
        </p:spPr>
        <p:txBody>
          <a:bodyPr/>
          <a:lstStyle/>
          <a:p>
            <a:pPr>
              <a:defRPr/>
            </a:pPr>
            <a:r>
              <a:rPr lang="en-US" sz="3000" b="1" dirty="0">
                <a:solidFill>
                  <a:srgbClr val="C00000"/>
                </a:solidFill>
              </a:rPr>
              <a:t>Two types </a:t>
            </a:r>
            <a:r>
              <a:rPr lang="en-US" sz="3000" dirty="0">
                <a:solidFill>
                  <a:schemeClr val="tx2">
                    <a:lumMod val="10000"/>
                  </a:schemeClr>
                </a:solidFill>
              </a:rPr>
              <a:t>of passive attacks are:</a:t>
            </a:r>
          </a:p>
          <a:p>
            <a:pPr lvl="1">
              <a:buClr>
                <a:srgbClr val="FF0000"/>
              </a:buClr>
              <a:buFont typeface="Wingdings" pitchFamily="2" charset="2"/>
              <a:buChar char="q"/>
              <a:defRPr/>
            </a:pPr>
            <a:r>
              <a:rPr lang="en-US" dirty="0">
                <a:solidFill>
                  <a:srgbClr val="0000CC"/>
                </a:solidFill>
              </a:rPr>
              <a:t>The release of message contents</a:t>
            </a:r>
          </a:p>
          <a:p>
            <a:pPr lvl="1">
              <a:buClr>
                <a:srgbClr val="FF0000"/>
              </a:buClr>
              <a:buFont typeface="Wingdings" pitchFamily="2" charset="2"/>
              <a:buChar char="q"/>
              <a:defRPr/>
            </a:pPr>
            <a:r>
              <a:rPr lang="en-US" dirty="0">
                <a:solidFill>
                  <a:srgbClr val="0000CC"/>
                </a:solidFill>
              </a:rPr>
              <a:t>Traffic analysis</a:t>
            </a:r>
          </a:p>
        </p:txBody>
      </p:sp>
      <p:sp>
        <p:nvSpPr>
          <p:cNvPr id="10" name="Text Placeholder 9"/>
          <p:cNvSpPr>
            <a:spLocks noGrp="1"/>
          </p:cNvSpPr>
          <p:nvPr>
            <p:ph type="body" sz="half" idx="4294967295"/>
          </p:nvPr>
        </p:nvSpPr>
        <p:spPr>
          <a:xfrm>
            <a:off x="2857500" y="3657600"/>
            <a:ext cx="5419725" cy="5600700"/>
          </a:xfrm>
          <a:prstGeom prst="rect">
            <a:avLst/>
          </a:prstGeom>
        </p:spPr>
        <p:txBody>
          <a:bodyPr/>
          <a:lstStyle/>
          <a:p>
            <a:pPr>
              <a:buClr>
                <a:schemeClr val="tx2">
                  <a:lumMod val="75000"/>
                </a:schemeClr>
              </a:buClr>
              <a:buSzPct val="135000"/>
              <a:buFont typeface="Arial"/>
              <a:buChar char="•"/>
              <a:defRPr/>
            </a:pPr>
            <a:r>
              <a:rPr lang="en-US" sz="3000" dirty="0"/>
              <a:t> Are in the nature of </a:t>
            </a:r>
            <a:r>
              <a:rPr lang="en-US" sz="3000" b="1" dirty="0">
                <a:solidFill>
                  <a:srgbClr val="C00000"/>
                </a:solidFill>
              </a:rPr>
              <a:t>eavesdropping on</a:t>
            </a:r>
            <a:r>
              <a:rPr lang="en-US" sz="3000" dirty="0"/>
              <a:t>, or </a:t>
            </a:r>
            <a:r>
              <a:rPr lang="en-US" sz="3000" b="1" dirty="0">
                <a:solidFill>
                  <a:srgbClr val="C00000"/>
                </a:solidFill>
              </a:rPr>
              <a:t>monitoring of</a:t>
            </a:r>
            <a:r>
              <a:rPr lang="en-US" sz="3000" dirty="0"/>
              <a:t>, transmissions</a:t>
            </a:r>
          </a:p>
          <a:p>
            <a:pPr>
              <a:buClr>
                <a:schemeClr val="tx2">
                  <a:lumMod val="75000"/>
                </a:schemeClr>
              </a:buClr>
              <a:buSzPct val="135000"/>
              <a:buFont typeface="Arial"/>
              <a:buChar char="•"/>
              <a:defRPr/>
            </a:pPr>
            <a:r>
              <a:rPr lang="en-US" sz="3000" dirty="0"/>
              <a:t> </a:t>
            </a:r>
            <a:r>
              <a:rPr lang="en-US" sz="3000" dirty="0">
                <a:solidFill>
                  <a:srgbClr val="0000CC"/>
                </a:solidFill>
              </a:rPr>
              <a:t>Goal</a:t>
            </a:r>
            <a:r>
              <a:rPr lang="en-US" sz="3000" dirty="0"/>
              <a:t> of the opponent is to </a:t>
            </a:r>
            <a:r>
              <a:rPr lang="en-US" sz="3000" b="1" dirty="0">
                <a:solidFill>
                  <a:srgbClr val="C00000"/>
                </a:solidFill>
              </a:rPr>
              <a:t>obtain information </a:t>
            </a:r>
            <a:r>
              <a:rPr lang="en-US" sz="3000" dirty="0"/>
              <a:t>that is being transmitted</a:t>
            </a:r>
          </a:p>
          <a:p>
            <a:pPr>
              <a:defRPr/>
            </a:pPr>
            <a:endParaRPr lang="en-US" sz="3000" dirty="0"/>
          </a:p>
        </p:txBody>
      </p:sp>
      <p:pic>
        <p:nvPicPr>
          <p:cNvPr id="40965" name="Picture 11"/>
          <p:cNvPicPr>
            <a:picLocks noChangeAspect="1"/>
          </p:cNvPicPr>
          <p:nvPr/>
        </p:nvPicPr>
        <p:blipFill>
          <a:blip r:embed="rId3"/>
          <a:srcRect/>
          <a:stretch>
            <a:fillRect/>
          </a:stretch>
        </p:blipFill>
        <p:spPr bwMode="auto">
          <a:xfrm>
            <a:off x="11201401" y="800101"/>
            <a:ext cx="2871788" cy="4455320"/>
          </a:xfrm>
          <a:prstGeom prst="rect">
            <a:avLst/>
          </a:prstGeom>
          <a:noFill/>
          <a:ln w="9525">
            <a:noFill/>
            <a:miter lim="800000"/>
            <a:headEnd/>
            <a:tailEnd/>
          </a:ln>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4B4E60"/>
        </a:solidFill>
        <a:effectLst/>
      </p:bgPr>
    </p:bg>
    <p:spTree>
      <p:nvGrpSpPr>
        <p:cNvPr id="1" name="">
          <a:extLst>
            <a:ext uri="{FF2B5EF4-FFF2-40B4-BE49-F238E27FC236}">
              <a16:creationId xmlns:a16="http://schemas.microsoft.com/office/drawing/2014/main" id="{70BD4F4C-FCFA-3F68-1423-D0CC3547DDB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18BB87F-3096-43E0-95F2-8B4A1DA33DA8}"/>
              </a:ext>
            </a:extLst>
          </p:cNvPr>
          <p:cNvPicPr>
            <a:picLocks noChangeAspect="1"/>
          </p:cNvPicPr>
          <p:nvPr/>
        </p:nvPicPr>
        <p:blipFill>
          <a:blip r:embed="rId3"/>
          <a:stretch>
            <a:fillRect/>
          </a:stretch>
        </p:blipFill>
        <p:spPr>
          <a:xfrm>
            <a:off x="2456089" y="1485900"/>
            <a:ext cx="13375822" cy="8249405"/>
          </a:xfrm>
          <a:prstGeom prst="rect">
            <a:avLst/>
          </a:prstGeom>
        </p:spPr>
      </p:pic>
    </p:spTree>
    <p:extLst>
      <p:ext uri="{BB962C8B-B14F-4D97-AF65-F5344CB8AC3E}">
        <p14:creationId xmlns:p14="http://schemas.microsoft.com/office/powerpoint/2010/main" val="9472997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p:cNvPicPr>
            <a:picLocks noChangeAspect="1" noChangeArrowheads="1"/>
          </p:cNvPicPr>
          <p:nvPr/>
        </p:nvPicPr>
        <p:blipFill>
          <a:blip r:embed="rId2"/>
          <a:srcRect/>
          <a:stretch>
            <a:fillRect/>
          </a:stretch>
        </p:blipFill>
        <p:spPr bwMode="auto">
          <a:xfrm>
            <a:off x="5029201" y="3543300"/>
            <a:ext cx="7786688" cy="4914900"/>
          </a:xfrm>
          <a:prstGeom prst="rect">
            <a:avLst/>
          </a:prstGeom>
          <a:noFill/>
          <a:ln w="9525">
            <a:noFill/>
            <a:miter lim="800000"/>
            <a:headEnd/>
            <a:tailEnd/>
          </a:ln>
        </p:spPr>
      </p:pic>
      <p:sp>
        <p:nvSpPr>
          <p:cNvPr id="41987" name="Rectangle 11"/>
          <p:cNvSpPr>
            <a:spLocks noChangeArrowheads="1"/>
          </p:cNvSpPr>
          <p:nvPr/>
        </p:nvSpPr>
        <p:spPr bwMode="auto">
          <a:xfrm>
            <a:off x="3429000" y="1828801"/>
            <a:ext cx="11087100" cy="1384995"/>
          </a:xfrm>
          <a:prstGeom prst="rect">
            <a:avLst/>
          </a:prstGeom>
          <a:noFill/>
          <a:ln w="38100">
            <a:solidFill>
              <a:schemeClr val="hlink"/>
            </a:solidFill>
            <a:miter lim="800000"/>
            <a:headEnd/>
            <a:tailEnd/>
          </a:ln>
        </p:spPr>
        <p:txBody>
          <a:bodyPr wrap="square">
            <a:spAutoFit/>
          </a:bodyPr>
          <a:lstStyle/>
          <a:p>
            <a:pPr algn="just"/>
            <a:r>
              <a:rPr lang="en-US" sz="4200" dirty="0">
                <a:solidFill>
                  <a:srgbClr val="FF0000"/>
                </a:solidFill>
                <a:latin typeface="Times New Roman" pitchFamily="18" charset="0"/>
              </a:rPr>
              <a:t>Snooping</a:t>
            </a:r>
            <a:r>
              <a:rPr lang="en-US" sz="4200" dirty="0">
                <a:solidFill>
                  <a:srgbClr val="002060"/>
                </a:solidFill>
                <a:latin typeface="Times New Roman" pitchFamily="18" charset="0"/>
              </a:rPr>
              <a:t> refers to unauthorized access to or interception of data.</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p:cNvPicPr>
            <a:picLocks noChangeAspect="1" noChangeArrowheads="1"/>
          </p:cNvPicPr>
          <p:nvPr/>
        </p:nvPicPr>
        <p:blipFill>
          <a:blip r:embed="rId2"/>
          <a:srcRect/>
          <a:stretch>
            <a:fillRect/>
          </a:stretch>
        </p:blipFill>
        <p:spPr bwMode="auto">
          <a:xfrm>
            <a:off x="5486400" y="3886200"/>
            <a:ext cx="9086850" cy="4686300"/>
          </a:xfrm>
          <a:prstGeom prst="rect">
            <a:avLst/>
          </a:prstGeom>
          <a:noFill/>
          <a:ln w="9525">
            <a:noFill/>
            <a:miter lim="800000"/>
            <a:headEnd/>
            <a:tailEnd/>
          </a:ln>
        </p:spPr>
      </p:pic>
      <p:sp>
        <p:nvSpPr>
          <p:cNvPr id="43011" name="Rectangle 13"/>
          <p:cNvSpPr>
            <a:spLocks noChangeArrowheads="1"/>
          </p:cNvSpPr>
          <p:nvPr/>
        </p:nvSpPr>
        <p:spPr bwMode="auto">
          <a:xfrm>
            <a:off x="3086100" y="1828801"/>
            <a:ext cx="12115800" cy="1384995"/>
          </a:xfrm>
          <a:prstGeom prst="rect">
            <a:avLst/>
          </a:prstGeom>
          <a:noFill/>
          <a:ln w="38100">
            <a:solidFill>
              <a:schemeClr val="hlink"/>
            </a:solidFill>
            <a:miter lim="800000"/>
            <a:headEnd/>
            <a:tailEnd/>
          </a:ln>
        </p:spPr>
        <p:txBody>
          <a:bodyPr wrap="square">
            <a:spAutoFit/>
          </a:bodyPr>
          <a:lstStyle/>
          <a:p>
            <a:pPr algn="just"/>
            <a:r>
              <a:rPr lang="en-US" sz="4200" dirty="0">
                <a:solidFill>
                  <a:srgbClr val="002060"/>
                </a:solidFill>
                <a:latin typeface="Times New Roman" pitchFamily="18" charset="0"/>
              </a:rPr>
              <a:t>Traffic analysis  refers to obtaining some other type of information by monitoring online traffic. </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026"/>
          <p:cNvSpPr>
            <a:spLocks noGrp="1" noChangeArrowheads="1"/>
          </p:cNvSpPr>
          <p:nvPr>
            <p:ph type="title"/>
          </p:nvPr>
        </p:nvSpPr>
        <p:spPr>
          <a:xfrm>
            <a:off x="3455195" y="95250"/>
            <a:ext cx="11375231" cy="1504950"/>
          </a:xfrm>
        </p:spPr>
        <p:txBody>
          <a:bodyPr/>
          <a:lstStyle/>
          <a:p>
            <a:pPr>
              <a:defRPr/>
            </a:pPr>
            <a:r>
              <a:rPr lang="en-AU" sz="4800" dirty="0"/>
              <a:t>Active Attacks (4 types)</a:t>
            </a:r>
          </a:p>
        </p:txBody>
      </p:sp>
      <p:sp>
        <p:nvSpPr>
          <p:cNvPr id="10" name="Content Placeholder 9"/>
          <p:cNvSpPr>
            <a:spLocks noGrp="1"/>
          </p:cNvSpPr>
          <p:nvPr>
            <p:ph sz="half" idx="4294967295"/>
          </p:nvPr>
        </p:nvSpPr>
        <p:spPr>
          <a:xfrm>
            <a:off x="2628900" y="1943102"/>
            <a:ext cx="12687300" cy="4686300"/>
          </a:xfrm>
          <a:prstGeom prst="rect">
            <a:avLst/>
          </a:prstGeom>
        </p:spPr>
        <p:txBody>
          <a:bodyPr/>
          <a:lstStyle/>
          <a:p>
            <a:pPr>
              <a:defRPr/>
            </a:pPr>
            <a:r>
              <a:rPr lang="en-US" sz="3000" b="1" dirty="0">
                <a:solidFill>
                  <a:srgbClr val="C00000"/>
                </a:solidFill>
              </a:rPr>
              <a:t>Involve some modification </a:t>
            </a:r>
            <a:r>
              <a:rPr lang="en-US" sz="3000" dirty="0">
                <a:solidFill>
                  <a:schemeClr val="tx2">
                    <a:lumMod val="10000"/>
                  </a:schemeClr>
                </a:solidFill>
              </a:rPr>
              <a:t>of the data stream or the creation of a false stream</a:t>
            </a:r>
          </a:p>
          <a:p>
            <a:pPr>
              <a:defRPr/>
            </a:pPr>
            <a:r>
              <a:rPr lang="en-US" sz="3000" b="1" dirty="0">
                <a:solidFill>
                  <a:srgbClr val="C00000"/>
                </a:solidFill>
              </a:rPr>
              <a:t>Difficult to prevent </a:t>
            </a:r>
            <a:r>
              <a:rPr lang="en-US" sz="3000" dirty="0">
                <a:solidFill>
                  <a:schemeClr val="tx2">
                    <a:lumMod val="10000"/>
                  </a:schemeClr>
                </a:solidFill>
              </a:rPr>
              <a:t>because of the wide variety of potential physical, software, and network vulnerabilities</a:t>
            </a:r>
          </a:p>
          <a:p>
            <a:pPr>
              <a:defRPr/>
            </a:pPr>
            <a:r>
              <a:rPr lang="en-US" sz="3000" b="1" dirty="0">
                <a:solidFill>
                  <a:srgbClr val="C00000"/>
                </a:solidFill>
              </a:rPr>
              <a:t>Goal</a:t>
            </a:r>
            <a:r>
              <a:rPr lang="en-US" sz="3000" dirty="0">
                <a:solidFill>
                  <a:schemeClr val="tx2">
                    <a:lumMod val="10000"/>
                  </a:schemeClr>
                </a:solidFill>
              </a:rPr>
              <a:t> is to </a:t>
            </a:r>
            <a:r>
              <a:rPr lang="en-US" sz="3000" b="1" dirty="0">
                <a:solidFill>
                  <a:srgbClr val="C00000"/>
                </a:solidFill>
              </a:rPr>
              <a:t>detect attacks </a:t>
            </a:r>
            <a:r>
              <a:rPr lang="en-US" sz="3000" dirty="0">
                <a:solidFill>
                  <a:schemeClr val="tx2">
                    <a:lumMod val="10000"/>
                  </a:schemeClr>
                </a:solidFill>
              </a:rPr>
              <a:t>and </a:t>
            </a:r>
            <a:r>
              <a:rPr lang="en-US" sz="3000" b="1" dirty="0">
                <a:solidFill>
                  <a:srgbClr val="C00000"/>
                </a:solidFill>
              </a:rPr>
              <a:t>to recover </a:t>
            </a:r>
            <a:r>
              <a:rPr lang="en-US" sz="3000" dirty="0">
                <a:solidFill>
                  <a:schemeClr val="tx2">
                    <a:lumMod val="10000"/>
                  </a:schemeClr>
                </a:solidFill>
              </a:rPr>
              <a:t>from any disruption or delays caused by them</a:t>
            </a:r>
          </a:p>
        </p:txBody>
      </p:sp>
      <p:pic>
        <p:nvPicPr>
          <p:cNvPr id="44036" name="Picture 12"/>
          <p:cNvPicPr>
            <a:picLocks noChangeAspect="1"/>
          </p:cNvPicPr>
          <p:nvPr/>
        </p:nvPicPr>
        <p:blipFill>
          <a:blip r:embed="rId3"/>
          <a:srcRect/>
          <a:stretch>
            <a:fillRect/>
          </a:stretch>
        </p:blipFill>
        <p:spPr bwMode="auto">
          <a:xfrm>
            <a:off x="9601200" y="6743701"/>
            <a:ext cx="2057400" cy="2369345"/>
          </a:xfrm>
          <a:prstGeom prst="rect">
            <a:avLst/>
          </a:prstGeom>
          <a:noFill/>
          <a:ln w="9525">
            <a:noFill/>
            <a:miter lim="800000"/>
            <a:headEnd/>
            <a:tailEnd/>
          </a:ln>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0" y="228600"/>
            <a:ext cx="11375232" cy="1162050"/>
          </a:xfrm>
        </p:spPr>
        <p:txBody>
          <a:bodyPr/>
          <a:lstStyle/>
          <a:p>
            <a:pPr>
              <a:defRPr/>
            </a:pPr>
            <a:endParaRPr lang="en-US" dirty="0"/>
          </a:p>
        </p:txBody>
      </p:sp>
      <p:sp>
        <p:nvSpPr>
          <p:cNvPr id="45059" name="Rectangle 11"/>
          <p:cNvSpPr>
            <a:spLocks noChangeArrowheads="1"/>
          </p:cNvSpPr>
          <p:nvPr/>
        </p:nvSpPr>
        <p:spPr bwMode="auto">
          <a:xfrm>
            <a:off x="3200400" y="2057401"/>
            <a:ext cx="12001500" cy="1200329"/>
          </a:xfrm>
          <a:prstGeom prst="rect">
            <a:avLst/>
          </a:prstGeom>
          <a:noFill/>
          <a:ln w="28575">
            <a:solidFill>
              <a:schemeClr val="hlink"/>
            </a:solidFill>
            <a:miter lim="800000"/>
            <a:headEnd/>
            <a:tailEnd/>
          </a:ln>
        </p:spPr>
        <p:txBody>
          <a:bodyPr wrap="square">
            <a:spAutoFit/>
          </a:bodyPr>
          <a:lstStyle/>
          <a:p>
            <a:pPr algn="just"/>
            <a:r>
              <a:rPr lang="en-US" sz="3600" b="1" dirty="0">
                <a:solidFill>
                  <a:srgbClr val="FF0000"/>
                </a:solidFill>
                <a:latin typeface="Times New Roman" pitchFamily="18" charset="0"/>
              </a:rPr>
              <a:t>Modification</a:t>
            </a:r>
            <a:r>
              <a:rPr lang="en-US" sz="3600" dirty="0">
                <a:solidFill>
                  <a:srgbClr val="002060"/>
                </a:solidFill>
                <a:latin typeface="Times New Roman" pitchFamily="18" charset="0"/>
              </a:rPr>
              <a:t> means that the attacker intercepts the message and changes it.</a:t>
            </a:r>
          </a:p>
        </p:txBody>
      </p:sp>
      <p:sp>
        <p:nvSpPr>
          <p:cNvPr id="45060" name="Rectangle 12"/>
          <p:cNvSpPr>
            <a:spLocks noChangeArrowheads="1"/>
          </p:cNvSpPr>
          <p:nvPr/>
        </p:nvSpPr>
        <p:spPr bwMode="auto">
          <a:xfrm>
            <a:off x="3200400" y="3771901"/>
            <a:ext cx="12001500" cy="1200329"/>
          </a:xfrm>
          <a:prstGeom prst="rect">
            <a:avLst/>
          </a:prstGeom>
          <a:noFill/>
          <a:ln w="28575">
            <a:solidFill>
              <a:schemeClr val="hlink"/>
            </a:solidFill>
            <a:miter lim="800000"/>
            <a:headEnd/>
            <a:tailEnd/>
          </a:ln>
        </p:spPr>
        <p:txBody>
          <a:bodyPr wrap="square">
            <a:spAutoFit/>
          </a:bodyPr>
          <a:lstStyle/>
          <a:p>
            <a:pPr algn="just"/>
            <a:r>
              <a:rPr lang="en-US" sz="3600" b="1" dirty="0">
                <a:solidFill>
                  <a:srgbClr val="FF0000"/>
                </a:solidFill>
                <a:latin typeface="Times New Roman" pitchFamily="18" charset="0"/>
              </a:rPr>
              <a:t>Masquerading</a:t>
            </a:r>
            <a:r>
              <a:rPr lang="en-US" sz="3600" dirty="0">
                <a:solidFill>
                  <a:srgbClr val="002060"/>
                </a:solidFill>
                <a:latin typeface="Times New Roman" pitchFamily="18" charset="0"/>
              </a:rPr>
              <a:t> or spoofing happens when the attacker impersonates somebody else.</a:t>
            </a:r>
          </a:p>
        </p:txBody>
      </p:sp>
      <p:sp>
        <p:nvSpPr>
          <p:cNvPr id="45061" name="Rectangle 14"/>
          <p:cNvSpPr>
            <a:spLocks noChangeArrowheads="1"/>
          </p:cNvSpPr>
          <p:nvPr/>
        </p:nvSpPr>
        <p:spPr bwMode="auto">
          <a:xfrm>
            <a:off x="3200400" y="5576888"/>
            <a:ext cx="12001500" cy="1200329"/>
          </a:xfrm>
          <a:prstGeom prst="rect">
            <a:avLst/>
          </a:prstGeom>
          <a:noFill/>
          <a:ln w="28575">
            <a:solidFill>
              <a:schemeClr val="hlink"/>
            </a:solidFill>
            <a:miter lim="800000"/>
            <a:headEnd/>
            <a:tailEnd/>
          </a:ln>
        </p:spPr>
        <p:txBody>
          <a:bodyPr wrap="square">
            <a:spAutoFit/>
          </a:bodyPr>
          <a:lstStyle/>
          <a:p>
            <a:pPr algn="just"/>
            <a:r>
              <a:rPr lang="en-US" sz="3600" b="1" dirty="0">
                <a:solidFill>
                  <a:srgbClr val="FF0000"/>
                </a:solidFill>
                <a:latin typeface="Times New Roman" pitchFamily="18" charset="0"/>
              </a:rPr>
              <a:t>Replaying</a:t>
            </a:r>
            <a:r>
              <a:rPr lang="en-US" sz="3600" dirty="0">
                <a:solidFill>
                  <a:srgbClr val="002060"/>
                </a:solidFill>
                <a:latin typeface="Times New Roman" pitchFamily="18" charset="0"/>
              </a:rPr>
              <a:t> means the attacker obtains a copy </a:t>
            </a:r>
            <a:br>
              <a:rPr lang="en-US" sz="3600" dirty="0">
                <a:solidFill>
                  <a:srgbClr val="002060"/>
                </a:solidFill>
                <a:latin typeface="Times New Roman" pitchFamily="18" charset="0"/>
              </a:rPr>
            </a:br>
            <a:r>
              <a:rPr lang="en-US" sz="3600" dirty="0">
                <a:solidFill>
                  <a:srgbClr val="002060"/>
                </a:solidFill>
                <a:latin typeface="Times New Roman" pitchFamily="18" charset="0"/>
              </a:rPr>
              <a:t>of a message sent by a user and later tries to replay it. </a:t>
            </a:r>
          </a:p>
        </p:txBody>
      </p:sp>
      <p:sp>
        <p:nvSpPr>
          <p:cNvPr id="45062" name="Rectangle 16"/>
          <p:cNvSpPr>
            <a:spLocks noChangeArrowheads="1"/>
          </p:cNvSpPr>
          <p:nvPr/>
        </p:nvSpPr>
        <p:spPr bwMode="auto">
          <a:xfrm>
            <a:off x="3200400" y="7291388"/>
            <a:ext cx="12001500" cy="1754326"/>
          </a:xfrm>
          <a:prstGeom prst="rect">
            <a:avLst/>
          </a:prstGeom>
          <a:noFill/>
          <a:ln w="28575">
            <a:solidFill>
              <a:schemeClr val="hlink"/>
            </a:solidFill>
            <a:miter lim="800000"/>
            <a:headEnd/>
            <a:tailEnd/>
          </a:ln>
        </p:spPr>
        <p:txBody>
          <a:bodyPr wrap="square">
            <a:spAutoFit/>
          </a:bodyPr>
          <a:lstStyle/>
          <a:p>
            <a:pPr algn="just"/>
            <a:r>
              <a:rPr lang="en-US" sz="3600" b="1" dirty="0">
                <a:solidFill>
                  <a:srgbClr val="FF0000"/>
                </a:solidFill>
                <a:latin typeface="Times New Roman" pitchFamily="18" charset="0"/>
              </a:rPr>
              <a:t>Repudiation</a:t>
            </a:r>
            <a:r>
              <a:rPr lang="en-US" sz="3600" dirty="0">
                <a:solidFill>
                  <a:srgbClr val="002060"/>
                </a:solidFill>
                <a:latin typeface="Times New Roman" pitchFamily="18" charset="0"/>
              </a:rPr>
              <a:t> means that  sender of the message might later deny that she has sent the message; the receiver of the message might later deny that he has received the message.</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0" y="228600"/>
            <a:ext cx="11375232" cy="1162050"/>
          </a:xfrm>
        </p:spPr>
        <p:txBody>
          <a:bodyPr/>
          <a:lstStyle/>
          <a:p>
            <a:pPr>
              <a:defRPr/>
            </a:pPr>
            <a:endParaRPr lang="en-US"/>
          </a:p>
        </p:txBody>
      </p:sp>
      <p:sp>
        <p:nvSpPr>
          <p:cNvPr id="46083" name="Rectangle 11"/>
          <p:cNvSpPr>
            <a:spLocks noChangeArrowheads="1"/>
          </p:cNvSpPr>
          <p:nvPr/>
        </p:nvSpPr>
        <p:spPr bwMode="auto">
          <a:xfrm>
            <a:off x="3314700" y="2400300"/>
            <a:ext cx="12230100" cy="1015663"/>
          </a:xfrm>
          <a:prstGeom prst="rect">
            <a:avLst/>
          </a:prstGeom>
          <a:noFill/>
          <a:ln w="28575">
            <a:solidFill>
              <a:schemeClr val="hlink"/>
            </a:solidFill>
            <a:miter lim="800000"/>
            <a:headEnd/>
            <a:tailEnd/>
          </a:ln>
        </p:spPr>
        <p:txBody>
          <a:bodyPr wrap="square">
            <a:spAutoFit/>
          </a:bodyPr>
          <a:lstStyle/>
          <a:p>
            <a:pPr algn="just"/>
            <a:r>
              <a:rPr lang="en-US" sz="3000" b="1" dirty="0">
                <a:solidFill>
                  <a:srgbClr val="002060"/>
                </a:solidFill>
                <a:latin typeface="Times New Roman" pitchFamily="18" charset="0"/>
              </a:rPr>
              <a:t>Denial of service (</a:t>
            </a:r>
            <a:r>
              <a:rPr lang="en-US" sz="3000" b="1" dirty="0" err="1">
                <a:solidFill>
                  <a:srgbClr val="002060"/>
                </a:solidFill>
                <a:latin typeface="Times New Roman" pitchFamily="18" charset="0"/>
              </a:rPr>
              <a:t>DoS</a:t>
            </a:r>
            <a:r>
              <a:rPr lang="en-US" sz="3000" b="1" dirty="0">
                <a:solidFill>
                  <a:srgbClr val="002060"/>
                </a:solidFill>
                <a:latin typeface="Times New Roman" pitchFamily="18" charset="0"/>
              </a:rPr>
              <a:t>) </a:t>
            </a:r>
            <a:r>
              <a:rPr lang="en-US" sz="3000" dirty="0">
                <a:solidFill>
                  <a:srgbClr val="002060"/>
                </a:solidFill>
                <a:latin typeface="Times New Roman" pitchFamily="18" charset="0"/>
              </a:rPr>
              <a:t>is a very common attack. It may slow down or totally interrupt the service of a system. </a:t>
            </a:r>
          </a:p>
        </p:txBody>
      </p:sp>
      <p:pic>
        <p:nvPicPr>
          <p:cNvPr id="46084" name="Picture 12"/>
          <p:cNvPicPr>
            <a:picLocks noChangeAspect="1" noChangeArrowheads="1"/>
          </p:cNvPicPr>
          <p:nvPr/>
        </p:nvPicPr>
        <p:blipFill>
          <a:blip r:embed="rId2"/>
          <a:srcRect/>
          <a:stretch>
            <a:fillRect/>
          </a:stretch>
        </p:blipFill>
        <p:spPr bwMode="auto">
          <a:xfrm>
            <a:off x="3514418" y="4572000"/>
            <a:ext cx="11788605" cy="3933825"/>
          </a:xfrm>
          <a:prstGeom prst="rect">
            <a:avLst/>
          </a:prstGeom>
          <a:noFill/>
          <a:ln w="9525">
            <a:noFill/>
            <a:miter lim="800000"/>
            <a:headEnd/>
            <a:tailEnd/>
          </a:ln>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2"/>
          <p:cNvGraphicFramePr>
            <a:graphicFrameLocks/>
          </p:cNvGraphicFramePr>
          <p:nvPr/>
        </p:nvGraphicFramePr>
        <p:xfrm>
          <a:off x="9144001" y="2057400"/>
          <a:ext cx="5943599" cy="6515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Content Placeholder 12"/>
          <p:cNvGraphicFramePr>
            <a:graphicFrameLocks/>
          </p:cNvGraphicFramePr>
          <p:nvPr/>
        </p:nvGraphicFramePr>
        <p:xfrm>
          <a:off x="2857501" y="1943100"/>
          <a:ext cx="5829299" cy="67437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47108" name="Rectangle 4"/>
          <p:cNvSpPr>
            <a:spLocks noChangeArrowheads="1"/>
          </p:cNvSpPr>
          <p:nvPr/>
        </p:nvSpPr>
        <p:spPr bwMode="auto">
          <a:xfrm>
            <a:off x="5486401" y="457201"/>
            <a:ext cx="6146491" cy="830997"/>
          </a:xfrm>
          <a:prstGeom prst="rect">
            <a:avLst/>
          </a:prstGeom>
          <a:noFill/>
          <a:ln w="9525">
            <a:noFill/>
            <a:miter lim="800000"/>
            <a:headEnd/>
            <a:tailEnd/>
          </a:ln>
        </p:spPr>
        <p:txBody>
          <a:bodyPr wrap="none">
            <a:spAutoFit/>
          </a:bodyPr>
          <a:lstStyle/>
          <a:p>
            <a:r>
              <a:rPr lang="en-AU" sz="4800" b="1" dirty="0">
                <a:solidFill>
                  <a:srgbClr val="C00000"/>
                </a:solidFill>
              </a:rPr>
              <a:t>Active Attacks (4 types)</a:t>
            </a:r>
            <a:endParaRPr lang="en-US" sz="4800" b="1" dirty="0">
              <a:solidFill>
                <a:srgbClr val="C00000"/>
              </a:solidFill>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0" y="228600"/>
            <a:ext cx="11375232" cy="1162050"/>
          </a:xfrm>
        </p:spPr>
        <p:txBody>
          <a:bodyPr/>
          <a:lstStyle/>
          <a:p>
            <a:pPr>
              <a:defRPr/>
            </a:pPr>
            <a:endParaRPr lang="en-US"/>
          </a:p>
        </p:txBody>
      </p:sp>
      <p:pic>
        <p:nvPicPr>
          <p:cNvPr id="48131" name="Picture 2"/>
          <p:cNvPicPr>
            <a:picLocks noChangeAspect="1" noChangeArrowheads="1"/>
          </p:cNvPicPr>
          <p:nvPr/>
        </p:nvPicPr>
        <p:blipFill>
          <a:blip r:embed="rId2"/>
          <a:srcRect/>
          <a:stretch>
            <a:fillRect/>
          </a:stretch>
        </p:blipFill>
        <p:spPr bwMode="auto">
          <a:xfrm>
            <a:off x="6172201" y="1485901"/>
            <a:ext cx="6300788" cy="3871913"/>
          </a:xfrm>
          <a:prstGeom prst="rect">
            <a:avLst/>
          </a:prstGeom>
          <a:noFill/>
          <a:ln w="9525">
            <a:noFill/>
            <a:miter lim="800000"/>
            <a:headEnd/>
            <a:tailEnd/>
          </a:ln>
        </p:spPr>
      </p:pic>
      <p:pic>
        <p:nvPicPr>
          <p:cNvPr id="48132" name="Picture 3"/>
          <p:cNvPicPr>
            <a:picLocks noChangeAspect="1" noChangeArrowheads="1"/>
          </p:cNvPicPr>
          <p:nvPr/>
        </p:nvPicPr>
        <p:blipFill>
          <a:blip r:embed="rId3"/>
          <a:srcRect/>
          <a:stretch>
            <a:fillRect/>
          </a:stretch>
        </p:blipFill>
        <p:spPr bwMode="auto">
          <a:xfrm>
            <a:off x="6286501" y="5600700"/>
            <a:ext cx="6157913" cy="3886200"/>
          </a:xfrm>
          <a:prstGeom prst="rect">
            <a:avLst/>
          </a:prstGeom>
          <a:noFill/>
          <a:ln w="9525">
            <a:noFill/>
            <a:miter lim="800000"/>
            <a:headEnd/>
            <a:tailEnd/>
          </a:ln>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0" y="342900"/>
            <a:ext cx="11375232" cy="1924050"/>
          </a:xfrm>
        </p:spPr>
        <p:txBody>
          <a:bodyPr/>
          <a:lstStyle/>
          <a:p>
            <a:pPr>
              <a:defRPr/>
            </a:pPr>
            <a:endParaRPr lang="en-US"/>
          </a:p>
        </p:txBody>
      </p:sp>
      <p:pic>
        <p:nvPicPr>
          <p:cNvPr id="49155" name="Picture 3"/>
          <p:cNvPicPr>
            <a:picLocks noChangeAspect="1" noChangeArrowheads="1"/>
          </p:cNvPicPr>
          <p:nvPr/>
        </p:nvPicPr>
        <p:blipFill>
          <a:blip r:embed="rId2"/>
          <a:srcRect/>
          <a:stretch>
            <a:fillRect/>
          </a:stretch>
        </p:blipFill>
        <p:spPr bwMode="auto">
          <a:xfrm>
            <a:off x="6057900" y="6057900"/>
            <a:ext cx="5943600" cy="3629025"/>
          </a:xfrm>
          <a:prstGeom prst="rect">
            <a:avLst/>
          </a:prstGeom>
          <a:noFill/>
          <a:ln w="9525">
            <a:noFill/>
            <a:miter lim="800000"/>
            <a:headEnd/>
            <a:tailEnd/>
          </a:ln>
        </p:spPr>
      </p:pic>
      <p:pic>
        <p:nvPicPr>
          <p:cNvPr id="49156" name="Picture 4"/>
          <p:cNvPicPr>
            <a:picLocks noChangeAspect="1" noChangeArrowheads="1"/>
          </p:cNvPicPr>
          <p:nvPr/>
        </p:nvPicPr>
        <p:blipFill>
          <a:blip r:embed="rId3"/>
          <a:srcRect/>
          <a:stretch>
            <a:fillRect/>
          </a:stretch>
        </p:blipFill>
        <p:spPr bwMode="auto">
          <a:xfrm>
            <a:off x="5943600" y="1828800"/>
            <a:ext cx="6143625" cy="3800475"/>
          </a:xfrm>
          <a:prstGeom prst="rect">
            <a:avLst/>
          </a:prstGeom>
          <a:noFill/>
          <a:ln w="9525">
            <a:noFill/>
            <a:miter lim="800000"/>
            <a:headEnd/>
            <a:tailEnd/>
          </a:ln>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800">
                <a:solidFill>
                  <a:schemeClr val="tx1"/>
                </a:solidFill>
                <a:latin typeface="Arial" pitchFamily="34" charset="0"/>
              </a:defRPr>
            </a:lvl1pPr>
            <a:lvl2pPr>
              <a:defRPr sz="4200">
                <a:solidFill>
                  <a:schemeClr val="tx1"/>
                </a:solidFill>
                <a:latin typeface="Arial" pitchFamily="34" charset="0"/>
              </a:defRPr>
            </a:lvl2pPr>
            <a:lvl3pPr>
              <a:defRPr sz="3600">
                <a:solidFill>
                  <a:schemeClr val="tx1"/>
                </a:solidFill>
                <a:latin typeface="Arial" pitchFamily="34" charset="0"/>
              </a:defRPr>
            </a:lvl3pPr>
            <a:lvl4pPr>
              <a:defRPr sz="3000">
                <a:solidFill>
                  <a:schemeClr val="tx1"/>
                </a:solidFill>
                <a:latin typeface="Arial" pitchFamily="34" charset="0"/>
              </a:defRPr>
            </a:lvl4pPr>
            <a:lvl5pPr>
              <a:defRPr sz="3000">
                <a:solidFill>
                  <a:schemeClr val="tx1"/>
                </a:solidFill>
                <a:latin typeface="Arial" pitchFamily="34" charset="0"/>
              </a:defRPr>
            </a:lvl5pPr>
            <a:lvl6pPr eaLnBrk="0" hangingPunct="0">
              <a:defRPr sz="3000">
                <a:solidFill>
                  <a:schemeClr val="tx1"/>
                </a:solidFill>
                <a:latin typeface="Arial" pitchFamily="34" charset="0"/>
              </a:defRPr>
            </a:lvl6pPr>
            <a:lvl7pPr eaLnBrk="0" hangingPunct="0">
              <a:defRPr sz="3000">
                <a:solidFill>
                  <a:schemeClr val="tx1"/>
                </a:solidFill>
                <a:latin typeface="Arial" pitchFamily="34" charset="0"/>
              </a:defRPr>
            </a:lvl7pPr>
            <a:lvl8pPr eaLnBrk="0" hangingPunct="0">
              <a:defRPr sz="3000">
                <a:solidFill>
                  <a:schemeClr val="tx1"/>
                </a:solidFill>
                <a:latin typeface="Arial" pitchFamily="34" charset="0"/>
              </a:defRPr>
            </a:lvl8pPr>
            <a:lvl9pPr eaLnBrk="0" hangingPunct="0">
              <a:defRPr sz="3000">
                <a:solidFill>
                  <a:schemeClr val="tx1"/>
                </a:solidFill>
                <a:latin typeface="Arial" pitchFamily="34" charset="0"/>
              </a:defRPr>
            </a:lvl9pPr>
          </a:lstStyle>
          <a:p>
            <a:fld id="{AD256926-5E61-49C2-B98D-68B68CFE9E0B}" type="slidenum">
              <a:rPr lang="en-US" altLang="tr-TR" sz="2100"/>
              <a:pPr/>
              <a:t>129</a:t>
            </a:fld>
            <a:endParaRPr lang="en-US" altLang="tr-TR" sz="2100"/>
          </a:p>
        </p:txBody>
      </p:sp>
      <p:sp>
        <p:nvSpPr>
          <p:cNvPr id="61443" name="Rectangle 2"/>
          <p:cNvSpPr>
            <a:spLocks noGrp="1" noChangeArrowheads="1"/>
          </p:cNvSpPr>
          <p:nvPr>
            <p:ph type="title"/>
          </p:nvPr>
        </p:nvSpPr>
        <p:spPr/>
        <p:txBody>
          <a:bodyPr/>
          <a:lstStyle/>
          <a:p>
            <a:pPr eaLnBrk="1" hangingPunct="1"/>
            <a:r>
              <a:rPr lang="en-US" altLang="tr-TR"/>
              <a:t>Security Services</a:t>
            </a:r>
          </a:p>
        </p:txBody>
      </p:sp>
      <p:sp>
        <p:nvSpPr>
          <p:cNvPr id="61444" name="Rectangle 3"/>
          <p:cNvSpPr>
            <a:spLocks noGrp="1" noChangeArrowheads="1"/>
          </p:cNvSpPr>
          <p:nvPr>
            <p:ph type="body" idx="1"/>
          </p:nvPr>
        </p:nvSpPr>
        <p:spPr>
          <a:xfrm>
            <a:off x="3314700" y="2628900"/>
            <a:ext cx="11658600" cy="6743700"/>
          </a:xfrm>
        </p:spPr>
        <p:txBody>
          <a:bodyPr/>
          <a:lstStyle/>
          <a:p>
            <a:pPr eaLnBrk="1" hangingPunct="1">
              <a:lnSpc>
                <a:spcPct val="90000"/>
              </a:lnSpc>
            </a:pPr>
            <a:r>
              <a:rPr lang="en-US" altLang="tr-TR"/>
              <a:t>to prevent or detect attacks</a:t>
            </a:r>
          </a:p>
          <a:p>
            <a:pPr eaLnBrk="1" hangingPunct="1">
              <a:lnSpc>
                <a:spcPct val="90000"/>
              </a:lnSpc>
            </a:pPr>
            <a:r>
              <a:rPr lang="en-US" altLang="tr-TR"/>
              <a:t>to enhance the security </a:t>
            </a:r>
          </a:p>
          <a:p>
            <a:pPr eaLnBrk="1" hangingPunct="1">
              <a:lnSpc>
                <a:spcPct val="90000"/>
              </a:lnSpc>
            </a:pPr>
            <a:r>
              <a:rPr lang="en-US" altLang="tr-TR"/>
              <a:t>replicate functions of physical documents</a:t>
            </a:r>
          </a:p>
          <a:p>
            <a:pPr lvl="1" eaLnBrk="1" hangingPunct="1">
              <a:lnSpc>
                <a:spcPct val="90000"/>
              </a:lnSpc>
            </a:pPr>
            <a:r>
              <a:rPr lang="en-US" altLang="tr-TR"/>
              <a:t>e.g.</a:t>
            </a:r>
          </a:p>
          <a:p>
            <a:pPr lvl="2" eaLnBrk="1" hangingPunct="1">
              <a:lnSpc>
                <a:spcPct val="90000"/>
              </a:lnSpc>
            </a:pPr>
            <a:r>
              <a:rPr lang="en-US" altLang="tr-TR"/>
              <a:t>have signatures, dates</a:t>
            </a:r>
          </a:p>
          <a:p>
            <a:pPr lvl="2" eaLnBrk="1" hangingPunct="1">
              <a:lnSpc>
                <a:spcPct val="90000"/>
              </a:lnSpc>
            </a:pPr>
            <a:r>
              <a:rPr lang="en-US" altLang="tr-TR"/>
              <a:t>need protection from disclosure, tampering, or destruction</a:t>
            </a:r>
          </a:p>
          <a:p>
            <a:pPr lvl="2" eaLnBrk="1" hangingPunct="1">
              <a:lnSpc>
                <a:spcPct val="90000"/>
              </a:lnSpc>
            </a:pPr>
            <a:r>
              <a:rPr lang="en-US" altLang="tr-TR"/>
              <a:t>notarize</a:t>
            </a:r>
          </a:p>
          <a:p>
            <a:pPr lvl="2" eaLnBrk="1" hangingPunct="1">
              <a:lnSpc>
                <a:spcPct val="90000"/>
              </a:lnSpc>
            </a:pPr>
            <a:r>
              <a:rPr lang="en-US" altLang="tr-TR"/>
              <a:t>record</a:t>
            </a:r>
          </a:p>
        </p:txBody>
      </p:sp>
    </p:spTree>
    <p:extLst>
      <p:ext uri="{BB962C8B-B14F-4D97-AF65-F5344CB8AC3E}">
        <p14:creationId xmlns:p14="http://schemas.microsoft.com/office/powerpoint/2010/main" val="56978980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800">
                <a:solidFill>
                  <a:schemeClr val="tx1"/>
                </a:solidFill>
                <a:latin typeface="Arial" pitchFamily="34" charset="0"/>
              </a:defRPr>
            </a:lvl1pPr>
            <a:lvl2pPr>
              <a:defRPr sz="4200">
                <a:solidFill>
                  <a:schemeClr val="tx1"/>
                </a:solidFill>
                <a:latin typeface="Arial" pitchFamily="34" charset="0"/>
              </a:defRPr>
            </a:lvl2pPr>
            <a:lvl3pPr>
              <a:defRPr sz="3600">
                <a:solidFill>
                  <a:schemeClr val="tx1"/>
                </a:solidFill>
                <a:latin typeface="Arial" pitchFamily="34" charset="0"/>
              </a:defRPr>
            </a:lvl3pPr>
            <a:lvl4pPr>
              <a:defRPr sz="3000">
                <a:solidFill>
                  <a:schemeClr val="tx1"/>
                </a:solidFill>
                <a:latin typeface="Arial" pitchFamily="34" charset="0"/>
              </a:defRPr>
            </a:lvl4pPr>
            <a:lvl5pPr>
              <a:defRPr sz="3000">
                <a:solidFill>
                  <a:schemeClr val="tx1"/>
                </a:solidFill>
                <a:latin typeface="Arial" pitchFamily="34" charset="0"/>
              </a:defRPr>
            </a:lvl5pPr>
            <a:lvl6pPr eaLnBrk="0" hangingPunct="0">
              <a:defRPr sz="3000">
                <a:solidFill>
                  <a:schemeClr val="tx1"/>
                </a:solidFill>
                <a:latin typeface="Arial" pitchFamily="34" charset="0"/>
              </a:defRPr>
            </a:lvl6pPr>
            <a:lvl7pPr eaLnBrk="0" hangingPunct="0">
              <a:defRPr sz="3000">
                <a:solidFill>
                  <a:schemeClr val="tx1"/>
                </a:solidFill>
                <a:latin typeface="Arial" pitchFamily="34" charset="0"/>
              </a:defRPr>
            </a:lvl7pPr>
            <a:lvl8pPr eaLnBrk="0" hangingPunct="0">
              <a:defRPr sz="3000">
                <a:solidFill>
                  <a:schemeClr val="tx1"/>
                </a:solidFill>
                <a:latin typeface="Arial" pitchFamily="34" charset="0"/>
              </a:defRPr>
            </a:lvl8pPr>
            <a:lvl9pPr eaLnBrk="0" hangingPunct="0">
              <a:defRPr sz="3000">
                <a:solidFill>
                  <a:schemeClr val="tx1"/>
                </a:solidFill>
                <a:latin typeface="Arial" pitchFamily="34" charset="0"/>
              </a:defRPr>
            </a:lvl9pPr>
          </a:lstStyle>
          <a:p>
            <a:fld id="{B36453AB-0FBB-47AC-BF99-280039EFE313}" type="slidenum">
              <a:rPr lang="en-US" altLang="tr-TR" sz="2100"/>
              <a:pPr/>
              <a:t>130</a:t>
            </a:fld>
            <a:endParaRPr lang="en-US" altLang="tr-TR" sz="2100"/>
          </a:p>
        </p:txBody>
      </p:sp>
      <p:sp>
        <p:nvSpPr>
          <p:cNvPr id="63491" name="Rectangle 2"/>
          <p:cNvSpPr>
            <a:spLocks noGrp="1" noChangeArrowheads="1"/>
          </p:cNvSpPr>
          <p:nvPr>
            <p:ph type="title"/>
          </p:nvPr>
        </p:nvSpPr>
        <p:spPr>
          <a:xfrm>
            <a:off x="2857500" y="342900"/>
            <a:ext cx="11658600" cy="1485900"/>
          </a:xfrm>
        </p:spPr>
        <p:txBody>
          <a:bodyPr/>
          <a:lstStyle/>
          <a:p>
            <a:pPr eaLnBrk="1" hangingPunct="1"/>
            <a:r>
              <a:rPr lang="en-US" altLang="tr-TR" dirty="0"/>
              <a:t>Basic Security Services</a:t>
            </a:r>
          </a:p>
        </p:txBody>
      </p:sp>
      <p:sp>
        <p:nvSpPr>
          <p:cNvPr id="25604" name="Rectangle 3"/>
          <p:cNvSpPr>
            <a:spLocks noGrp="1" noChangeArrowheads="1"/>
          </p:cNvSpPr>
          <p:nvPr>
            <p:ph type="body" idx="1"/>
          </p:nvPr>
        </p:nvSpPr>
        <p:spPr>
          <a:xfrm>
            <a:off x="2857500" y="1600200"/>
            <a:ext cx="11658600" cy="8229600"/>
          </a:xfrm>
        </p:spPr>
        <p:txBody>
          <a:bodyPr/>
          <a:lstStyle/>
          <a:p>
            <a:pPr eaLnBrk="1" hangingPunct="1">
              <a:defRPr/>
            </a:pPr>
            <a:r>
              <a:rPr lang="en-US" altLang="tr-TR" sz="4200" dirty="0"/>
              <a:t>Authentication</a:t>
            </a:r>
          </a:p>
          <a:p>
            <a:pPr lvl="1" eaLnBrk="1" hangingPunct="1">
              <a:defRPr/>
            </a:pPr>
            <a:r>
              <a:rPr lang="en-US" altLang="tr-TR" sz="3600" dirty="0"/>
              <a:t>assurance that the communicating entity is the one it claims to be</a:t>
            </a:r>
          </a:p>
          <a:p>
            <a:pPr lvl="1" eaLnBrk="1" hangingPunct="1">
              <a:defRPr/>
            </a:pPr>
            <a:r>
              <a:rPr lang="en-US" altLang="tr-TR" sz="3600" dirty="0"/>
              <a:t>peer entity authentication </a:t>
            </a:r>
          </a:p>
          <a:p>
            <a:pPr lvl="2" eaLnBrk="1" hangingPunct="1">
              <a:defRPr/>
            </a:pPr>
            <a:r>
              <a:rPr lang="en-US" altLang="tr-TR" sz="3000" dirty="0"/>
              <a:t>mutual confidence in the identities of the parties involved in a connection</a:t>
            </a:r>
          </a:p>
          <a:p>
            <a:pPr lvl="1" eaLnBrk="1" hangingPunct="1">
              <a:defRPr/>
            </a:pPr>
            <a:r>
              <a:rPr lang="en-US" altLang="tr-TR" sz="3600" dirty="0"/>
              <a:t>Data-origin authentication</a:t>
            </a:r>
          </a:p>
          <a:p>
            <a:pPr lvl="2" eaLnBrk="1" hangingPunct="1">
              <a:defRPr/>
            </a:pPr>
            <a:r>
              <a:rPr lang="en-US" altLang="tr-TR" sz="3000" dirty="0"/>
              <a:t>assurance about the source of the received data</a:t>
            </a:r>
          </a:p>
          <a:p>
            <a:pPr eaLnBrk="1" hangingPunct="1">
              <a:defRPr/>
            </a:pPr>
            <a:r>
              <a:rPr lang="en-US" altLang="tr-TR" sz="4200" dirty="0"/>
              <a:t>Access Control</a:t>
            </a:r>
          </a:p>
          <a:p>
            <a:pPr lvl="1" eaLnBrk="1" hangingPunct="1">
              <a:defRPr/>
            </a:pPr>
            <a:r>
              <a:rPr lang="en-US" altLang="tr-TR" sz="3600" dirty="0"/>
              <a:t>prevention of the unauthorized use of a resource</a:t>
            </a:r>
            <a:endParaRPr lang="tr-TR" altLang="tr-TR" sz="3600" dirty="0"/>
          </a:p>
          <a:p>
            <a:pPr lvl="1" eaLnBrk="1" hangingPunct="1">
              <a:defRPr/>
            </a:pPr>
            <a:r>
              <a:rPr lang="tr-TR" altLang="tr-TR" sz="3600" dirty="0"/>
              <a:t>t</a:t>
            </a:r>
            <a:r>
              <a:rPr lang="en-US" altLang="tr-TR" sz="3600" dirty="0"/>
              <a:t>o achieve this, each entity trying to gain access must first be identified</a:t>
            </a:r>
            <a:r>
              <a:rPr lang="tr-TR" altLang="tr-TR" sz="3600" dirty="0"/>
              <a:t> </a:t>
            </a:r>
            <a:r>
              <a:rPr lang="tr-TR" altLang="tr-TR" sz="3600" dirty="0" err="1"/>
              <a:t>and</a:t>
            </a:r>
            <a:r>
              <a:rPr lang="tr-TR" altLang="tr-TR" sz="3600" dirty="0"/>
              <a:t> </a:t>
            </a:r>
            <a:r>
              <a:rPr lang="en-US" altLang="tr-TR" sz="3600" dirty="0"/>
              <a:t>authenticated, so that access rights can be tailored to the individual</a:t>
            </a:r>
          </a:p>
          <a:p>
            <a:pPr eaLnBrk="1" hangingPunct="1">
              <a:defRPr/>
            </a:pPr>
            <a:endParaRPr lang="en-US" altLang="tr-TR" sz="4200" dirty="0"/>
          </a:p>
        </p:txBody>
      </p:sp>
    </p:spTree>
    <p:extLst>
      <p:ext uri="{BB962C8B-B14F-4D97-AF65-F5344CB8AC3E}">
        <p14:creationId xmlns:p14="http://schemas.microsoft.com/office/powerpoint/2010/main" val="383651218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800">
                <a:solidFill>
                  <a:schemeClr val="tx1"/>
                </a:solidFill>
                <a:latin typeface="Arial" pitchFamily="34" charset="0"/>
              </a:defRPr>
            </a:lvl1pPr>
            <a:lvl2pPr>
              <a:defRPr sz="4200">
                <a:solidFill>
                  <a:schemeClr val="tx1"/>
                </a:solidFill>
                <a:latin typeface="Arial" pitchFamily="34" charset="0"/>
              </a:defRPr>
            </a:lvl2pPr>
            <a:lvl3pPr>
              <a:defRPr sz="3600">
                <a:solidFill>
                  <a:schemeClr val="tx1"/>
                </a:solidFill>
                <a:latin typeface="Arial" pitchFamily="34" charset="0"/>
              </a:defRPr>
            </a:lvl3pPr>
            <a:lvl4pPr>
              <a:defRPr sz="3000">
                <a:solidFill>
                  <a:schemeClr val="tx1"/>
                </a:solidFill>
                <a:latin typeface="Arial" pitchFamily="34" charset="0"/>
              </a:defRPr>
            </a:lvl4pPr>
            <a:lvl5pPr>
              <a:defRPr sz="3000">
                <a:solidFill>
                  <a:schemeClr val="tx1"/>
                </a:solidFill>
                <a:latin typeface="Arial" pitchFamily="34" charset="0"/>
              </a:defRPr>
            </a:lvl5pPr>
            <a:lvl6pPr eaLnBrk="0" hangingPunct="0">
              <a:defRPr sz="3000">
                <a:solidFill>
                  <a:schemeClr val="tx1"/>
                </a:solidFill>
                <a:latin typeface="Arial" pitchFamily="34" charset="0"/>
              </a:defRPr>
            </a:lvl6pPr>
            <a:lvl7pPr eaLnBrk="0" hangingPunct="0">
              <a:defRPr sz="3000">
                <a:solidFill>
                  <a:schemeClr val="tx1"/>
                </a:solidFill>
                <a:latin typeface="Arial" pitchFamily="34" charset="0"/>
              </a:defRPr>
            </a:lvl7pPr>
            <a:lvl8pPr eaLnBrk="0" hangingPunct="0">
              <a:defRPr sz="3000">
                <a:solidFill>
                  <a:schemeClr val="tx1"/>
                </a:solidFill>
                <a:latin typeface="Arial" pitchFamily="34" charset="0"/>
              </a:defRPr>
            </a:lvl8pPr>
            <a:lvl9pPr eaLnBrk="0" hangingPunct="0">
              <a:defRPr sz="3000">
                <a:solidFill>
                  <a:schemeClr val="tx1"/>
                </a:solidFill>
                <a:latin typeface="Arial" pitchFamily="34" charset="0"/>
              </a:defRPr>
            </a:lvl9pPr>
          </a:lstStyle>
          <a:p>
            <a:fld id="{7F0F5A4C-9BAD-4E33-9171-8F5F1625510C}" type="slidenum">
              <a:rPr lang="en-US" altLang="tr-TR" sz="2100"/>
              <a:pPr/>
              <a:t>131</a:t>
            </a:fld>
            <a:endParaRPr lang="en-US" altLang="tr-TR" sz="2100"/>
          </a:p>
        </p:txBody>
      </p:sp>
      <p:sp>
        <p:nvSpPr>
          <p:cNvPr id="67587" name="Rectangle 2"/>
          <p:cNvSpPr>
            <a:spLocks noGrp="1" noChangeArrowheads="1"/>
          </p:cNvSpPr>
          <p:nvPr>
            <p:ph type="title"/>
          </p:nvPr>
        </p:nvSpPr>
        <p:spPr/>
        <p:txBody>
          <a:bodyPr/>
          <a:lstStyle/>
          <a:p>
            <a:pPr eaLnBrk="1" hangingPunct="1"/>
            <a:r>
              <a:rPr lang="en-US" altLang="tr-TR"/>
              <a:t>Basic Security Services</a:t>
            </a:r>
          </a:p>
        </p:txBody>
      </p:sp>
      <p:sp>
        <p:nvSpPr>
          <p:cNvPr id="67588" name="Rectangle 3"/>
          <p:cNvSpPr>
            <a:spLocks noGrp="1" noChangeArrowheads="1"/>
          </p:cNvSpPr>
          <p:nvPr>
            <p:ph type="body" idx="1"/>
          </p:nvPr>
        </p:nvSpPr>
        <p:spPr>
          <a:xfrm>
            <a:off x="3200400" y="2286000"/>
            <a:ext cx="11658600" cy="6172200"/>
          </a:xfrm>
        </p:spPr>
        <p:txBody>
          <a:bodyPr/>
          <a:lstStyle/>
          <a:p>
            <a:pPr eaLnBrk="1" hangingPunct="1">
              <a:lnSpc>
                <a:spcPct val="90000"/>
              </a:lnSpc>
            </a:pPr>
            <a:r>
              <a:rPr lang="en-US" altLang="tr-TR" dirty="0"/>
              <a:t>Non-Repudiation</a:t>
            </a:r>
          </a:p>
          <a:p>
            <a:pPr lvl="1" eaLnBrk="1" hangingPunct="1">
              <a:lnSpc>
                <a:spcPct val="90000"/>
              </a:lnSpc>
            </a:pPr>
            <a:r>
              <a:rPr lang="en-US" altLang="tr-TR" dirty="0"/>
              <a:t>protection against denial by one of the parties in a communication</a:t>
            </a:r>
          </a:p>
          <a:p>
            <a:pPr lvl="1" eaLnBrk="1" hangingPunct="1">
              <a:lnSpc>
                <a:spcPct val="90000"/>
              </a:lnSpc>
            </a:pPr>
            <a:r>
              <a:rPr lang="en-US" altLang="tr-TR" dirty="0"/>
              <a:t>Origin non-repudiation</a:t>
            </a:r>
          </a:p>
          <a:p>
            <a:pPr lvl="2" eaLnBrk="1" hangingPunct="1">
              <a:lnSpc>
                <a:spcPct val="90000"/>
              </a:lnSpc>
            </a:pPr>
            <a:r>
              <a:rPr lang="en-US" altLang="tr-TR" dirty="0"/>
              <a:t>proof that the message was sent by the specified party</a:t>
            </a:r>
          </a:p>
          <a:p>
            <a:pPr lvl="1" eaLnBrk="1" hangingPunct="1">
              <a:lnSpc>
                <a:spcPct val="90000"/>
              </a:lnSpc>
            </a:pPr>
            <a:r>
              <a:rPr lang="en-US" altLang="tr-TR" dirty="0"/>
              <a:t>Destination non-repudiation</a:t>
            </a:r>
          </a:p>
          <a:p>
            <a:pPr lvl="2" eaLnBrk="1" hangingPunct="1">
              <a:lnSpc>
                <a:spcPct val="90000"/>
              </a:lnSpc>
            </a:pPr>
            <a:r>
              <a:rPr lang="en-US" altLang="tr-TR" dirty="0"/>
              <a:t>proof that the message was received by the specified party</a:t>
            </a:r>
          </a:p>
        </p:txBody>
      </p:sp>
    </p:spTree>
    <p:extLst>
      <p:ext uri="{BB962C8B-B14F-4D97-AF65-F5344CB8AC3E}">
        <p14:creationId xmlns:p14="http://schemas.microsoft.com/office/powerpoint/2010/main" val="245586297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800">
                <a:solidFill>
                  <a:schemeClr val="tx1"/>
                </a:solidFill>
                <a:latin typeface="Arial" pitchFamily="34" charset="0"/>
              </a:defRPr>
            </a:lvl1pPr>
            <a:lvl2pPr>
              <a:defRPr sz="4200">
                <a:solidFill>
                  <a:schemeClr val="tx1"/>
                </a:solidFill>
                <a:latin typeface="Arial" pitchFamily="34" charset="0"/>
              </a:defRPr>
            </a:lvl2pPr>
            <a:lvl3pPr>
              <a:defRPr sz="3600">
                <a:solidFill>
                  <a:schemeClr val="tx1"/>
                </a:solidFill>
                <a:latin typeface="Arial" pitchFamily="34" charset="0"/>
              </a:defRPr>
            </a:lvl3pPr>
            <a:lvl4pPr>
              <a:defRPr sz="3000">
                <a:solidFill>
                  <a:schemeClr val="tx1"/>
                </a:solidFill>
                <a:latin typeface="Arial" pitchFamily="34" charset="0"/>
              </a:defRPr>
            </a:lvl4pPr>
            <a:lvl5pPr>
              <a:defRPr sz="3000">
                <a:solidFill>
                  <a:schemeClr val="tx1"/>
                </a:solidFill>
                <a:latin typeface="Arial" pitchFamily="34" charset="0"/>
              </a:defRPr>
            </a:lvl5pPr>
            <a:lvl6pPr eaLnBrk="0" hangingPunct="0">
              <a:defRPr sz="3000">
                <a:solidFill>
                  <a:schemeClr val="tx1"/>
                </a:solidFill>
                <a:latin typeface="Arial" pitchFamily="34" charset="0"/>
              </a:defRPr>
            </a:lvl6pPr>
            <a:lvl7pPr eaLnBrk="0" hangingPunct="0">
              <a:defRPr sz="3000">
                <a:solidFill>
                  <a:schemeClr val="tx1"/>
                </a:solidFill>
                <a:latin typeface="Arial" pitchFamily="34" charset="0"/>
              </a:defRPr>
            </a:lvl7pPr>
            <a:lvl8pPr eaLnBrk="0" hangingPunct="0">
              <a:defRPr sz="3000">
                <a:solidFill>
                  <a:schemeClr val="tx1"/>
                </a:solidFill>
                <a:latin typeface="Arial" pitchFamily="34" charset="0"/>
              </a:defRPr>
            </a:lvl8pPr>
            <a:lvl9pPr eaLnBrk="0" hangingPunct="0">
              <a:defRPr sz="3000">
                <a:solidFill>
                  <a:schemeClr val="tx1"/>
                </a:solidFill>
                <a:latin typeface="Arial" pitchFamily="34" charset="0"/>
              </a:defRPr>
            </a:lvl9pPr>
          </a:lstStyle>
          <a:p>
            <a:fld id="{B13873E4-D58B-41E2-B9E7-F5DF3446C3EC}" type="slidenum">
              <a:rPr lang="en-US" altLang="tr-TR" sz="2100"/>
              <a:pPr/>
              <a:t>132</a:t>
            </a:fld>
            <a:endParaRPr lang="en-US" altLang="tr-TR" sz="2100"/>
          </a:p>
        </p:txBody>
      </p:sp>
      <p:sp>
        <p:nvSpPr>
          <p:cNvPr id="69635" name="Rectangle 2"/>
          <p:cNvSpPr>
            <a:spLocks noGrp="1" noChangeArrowheads="1"/>
          </p:cNvSpPr>
          <p:nvPr>
            <p:ph type="title"/>
          </p:nvPr>
        </p:nvSpPr>
        <p:spPr/>
        <p:txBody>
          <a:bodyPr/>
          <a:lstStyle/>
          <a:p>
            <a:pPr eaLnBrk="1" hangingPunct="1"/>
            <a:r>
              <a:rPr lang="en-US" altLang="tr-TR"/>
              <a:t>Relationships</a:t>
            </a:r>
          </a:p>
        </p:txBody>
      </p:sp>
      <p:sp>
        <p:nvSpPr>
          <p:cNvPr id="69636" name="Rectangle 3"/>
          <p:cNvSpPr>
            <a:spLocks noGrp="1" noChangeArrowheads="1"/>
          </p:cNvSpPr>
          <p:nvPr>
            <p:ph type="body" idx="1"/>
          </p:nvPr>
        </p:nvSpPr>
        <p:spPr>
          <a:xfrm>
            <a:off x="3543300" y="2400300"/>
            <a:ext cx="11658600" cy="6172200"/>
          </a:xfrm>
        </p:spPr>
        <p:txBody>
          <a:bodyPr/>
          <a:lstStyle/>
          <a:p>
            <a:pPr eaLnBrk="1" hangingPunct="1"/>
            <a:r>
              <a:rPr lang="en-US" altLang="tr-TR"/>
              <a:t>among integrity, data-origin authentication and non-repudiation</a:t>
            </a:r>
          </a:p>
        </p:txBody>
      </p:sp>
      <p:grpSp>
        <p:nvGrpSpPr>
          <p:cNvPr id="2" name="Group 12"/>
          <p:cNvGrpSpPr>
            <a:grpSpLocks/>
          </p:cNvGrpSpPr>
          <p:nvPr/>
        </p:nvGrpSpPr>
        <p:grpSpPr bwMode="auto">
          <a:xfrm>
            <a:off x="4572000" y="4229100"/>
            <a:ext cx="7772400" cy="5029200"/>
            <a:chOff x="1056" y="1920"/>
            <a:chExt cx="3264" cy="2112"/>
          </a:xfrm>
        </p:grpSpPr>
        <p:sp>
          <p:nvSpPr>
            <p:cNvPr id="27654" name="Oval 10"/>
            <p:cNvSpPr>
              <a:spLocks noChangeArrowheads="1"/>
            </p:cNvSpPr>
            <p:nvPr/>
          </p:nvSpPr>
          <p:spPr bwMode="auto">
            <a:xfrm>
              <a:off x="1056" y="1920"/>
              <a:ext cx="3264" cy="2112"/>
            </a:xfrm>
            <a:prstGeom prst="ellipse">
              <a:avLst/>
            </a:prstGeom>
            <a:solidFill>
              <a:schemeClr val="accent5"/>
            </a:solidFill>
            <a:ln w="9525">
              <a:solidFill>
                <a:schemeClr val="tx1"/>
              </a:solidFill>
              <a:round/>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defRPr/>
              </a:pPr>
              <a:endParaRPr lang="tr-TR" altLang="tr-TR" sz="3600"/>
            </a:p>
          </p:txBody>
        </p:sp>
        <p:sp>
          <p:nvSpPr>
            <p:cNvPr id="69639" name="Oval 6"/>
            <p:cNvSpPr>
              <a:spLocks noChangeArrowheads="1"/>
            </p:cNvSpPr>
            <p:nvPr/>
          </p:nvSpPr>
          <p:spPr bwMode="auto">
            <a:xfrm>
              <a:off x="1680" y="2352"/>
              <a:ext cx="2064" cy="1344"/>
            </a:xfrm>
            <a:prstGeom prst="ellipse">
              <a:avLst/>
            </a:prstGeom>
            <a:solidFill>
              <a:srgbClr val="92D050"/>
            </a:solidFill>
            <a:ln w="9525">
              <a:solidFill>
                <a:schemeClr val="tx1"/>
              </a:solidFill>
              <a:round/>
              <a:headEnd/>
              <a:tailEnd/>
            </a:ln>
          </p:spPr>
          <p:txBody>
            <a:bodyPr wrap="none" anchor="ctr"/>
            <a:lstStyle/>
            <a:p>
              <a:pPr algn="ctr" eaLnBrk="1" hangingPunct="1"/>
              <a:endParaRPr lang="en-US" altLang="tr-TR" sz="2700"/>
            </a:p>
          </p:txBody>
        </p:sp>
        <p:sp>
          <p:nvSpPr>
            <p:cNvPr id="27656" name="Oval 4"/>
            <p:cNvSpPr>
              <a:spLocks noChangeArrowheads="1"/>
            </p:cNvSpPr>
            <p:nvPr/>
          </p:nvSpPr>
          <p:spPr bwMode="auto">
            <a:xfrm>
              <a:off x="2112" y="2754"/>
              <a:ext cx="1152" cy="654"/>
            </a:xfrm>
            <a:prstGeom prst="ellipse">
              <a:avLst/>
            </a:prstGeom>
            <a:solidFill>
              <a:srgbClr val="FFC000"/>
            </a:solidFill>
            <a:ln w="9525">
              <a:solidFill>
                <a:schemeClr val="tx1"/>
              </a:solidFill>
              <a:round/>
              <a:headEnd/>
              <a:tailEnd/>
            </a:ln>
          </p:spPr>
          <p:txBody>
            <a:bodyPr wrap="none" anchor="ctr"/>
            <a:lstStyle/>
            <a:p>
              <a:pPr algn="ctr" eaLnBrk="1" hangingPunct="1">
                <a:defRPr/>
              </a:pPr>
              <a:r>
                <a:rPr lang="en-US" sz="2700" dirty="0"/>
                <a:t>Integrity</a:t>
              </a:r>
            </a:p>
          </p:txBody>
        </p:sp>
        <p:sp>
          <p:nvSpPr>
            <p:cNvPr id="69641" name="Text Box 8"/>
            <p:cNvSpPr txBox="1">
              <a:spLocks noChangeArrowheads="1"/>
            </p:cNvSpPr>
            <p:nvPr/>
          </p:nvSpPr>
          <p:spPr bwMode="auto">
            <a:xfrm>
              <a:off x="2544" y="2400"/>
              <a:ext cx="7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eaLnBrk="1" hangingPunct="1"/>
              <a:endParaRPr lang="en-US" altLang="tr-TR" sz="3600">
                <a:latin typeface="Times New Roman" pitchFamily="18" charset="0"/>
              </a:endParaRPr>
            </a:p>
          </p:txBody>
        </p:sp>
        <p:sp>
          <p:nvSpPr>
            <p:cNvPr id="27658" name="Text Box 9"/>
            <p:cNvSpPr txBox="1">
              <a:spLocks noChangeArrowheads="1"/>
            </p:cNvSpPr>
            <p:nvPr/>
          </p:nvSpPr>
          <p:spPr bwMode="auto">
            <a:xfrm>
              <a:off x="2112" y="2448"/>
              <a:ext cx="954" cy="213"/>
            </a:xfrm>
            <a:prstGeom prst="rect">
              <a:avLst/>
            </a:prstGeom>
            <a:noFill/>
            <a:ln w="9525">
              <a:noFill/>
              <a:miter lim="800000"/>
              <a:headEnd/>
              <a:tailEnd/>
            </a:ln>
          </p:spPr>
          <p:txBody>
            <a:bodyPr wrap="none">
              <a:spAutoFit/>
            </a:bodyPr>
            <a:lstStyle/>
            <a:p>
              <a:pPr eaLnBrk="1" hangingPunct="1">
                <a:defRPr/>
              </a:pPr>
              <a:r>
                <a:rPr lang="en-US" sz="2700" dirty="0"/>
                <a:t>Authentication</a:t>
              </a:r>
            </a:p>
          </p:txBody>
        </p:sp>
        <p:sp>
          <p:nvSpPr>
            <p:cNvPr id="27659" name="Text Box 11"/>
            <p:cNvSpPr txBox="1">
              <a:spLocks noChangeArrowheads="1"/>
            </p:cNvSpPr>
            <p:nvPr/>
          </p:nvSpPr>
          <p:spPr bwMode="auto">
            <a:xfrm>
              <a:off x="2016" y="2016"/>
              <a:ext cx="1054" cy="213"/>
            </a:xfrm>
            <a:prstGeom prst="rect">
              <a:avLst/>
            </a:prstGeom>
            <a:noFill/>
            <a:ln w="9525">
              <a:noFill/>
              <a:miter lim="800000"/>
              <a:headEnd/>
              <a:tailEnd/>
            </a:ln>
          </p:spPr>
          <p:txBody>
            <a:bodyPr wrap="none">
              <a:spAutoFit/>
            </a:bodyPr>
            <a:lstStyle/>
            <a:p>
              <a:pPr eaLnBrk="1" hangingPunct="1">
                <a:defRPr/>
              </a:pPr>
              <a:r>
                <a:rPr lang="en-US" sz="2700" dirty="0"/>
                <a:t>Non-repudiation</a:t>
              </a:r>
            </a:p>
          </p:txBody>
        </p:sp>
      </p:grpSp>
    </p:spTree>
    <p:extLst>
      <p:ext uri="{BB962C8B-B14F-4D97-AF65-F5344CB8AC3E}">
        <p14:creationId xmlns:p14="http://schemas.microsoft.com/office/powerpoint/2010/main" val="19525538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0" y="228600"/>
            <a:ext cx="11375232" cy="1162050"/>
          </a:xfrm>
        </p:spPr>
        <p:txBody>
          <a:bodyPr/>
          <a:lstStyle/>
          <a:p>
            <a:pPr>
              <a:defRPr/>
            </a:pPr>
            <a:r>
              <a:rPr lang="en-US" sz="4800" dirty="0">
                <a:effectLst>
                  <a:outerShdw blurRad="38100" dist="38100" dir="2700000" algn="tl">
                    <a:srgbClr val="C0C0C0"/>
                  </a:outerShdw>
                </a:effectLst>
                <a:latin typeface="+mn-lt"/>
              </a:rPr>
              <a:t>Services  and Mechanisms</a:t>
            </a:r>
            <a:endParaRPr lang="en-US" sz="4800" dirty="0">
              <a:latin typeface="+mn-lt"/>
            </a:endParaRPr>
          </a:p>
        </p:txBody>
      </p:sp>
      <p:sp>
        <p:nvSpPr>
          <p:cNvPr id="3" name="Rectangle 5"/>
          <p:cNvSpPr>
            <a:spLocks noChangeArrowheads="1"/>
          </p:cNvSpPr>
          <p:nvPr/>
        </p:nvSpPr>
        <p:spPr bwMode="auto">
          <a:xfrm>
            <a:off x="3429000" y="3447619"/>
            <a:ext cx="10972800" cy="2862322"/>
          </a:xfrm>
          <a:prstGeom prst="rect">
            <a:avLst/>
          </a:prstGeom>
          <a:noFill/>
          <a:ln w="9525">
            <a:noFill/>
            <a:miter lim="800000"/>
            <a:headEnd/>
            <a:tailEnd/>
          </a:ln>
          <a:effectLst/>
        </p:spPr>
        <p:txBody>
          <a:bodyPr wrap="square" anchor="ctr">
            <a:spAutoFit/>
          </a:bodyPr>
          <a:lstStyle/>
          <a:p>
            <a:pPr algn="just">
              <a:defRPr/>
            </a:pPr>
            <a:r>
              <a:rPr lang="en-US" sz="3600" b="1" dirty="0"/>
              <a:t>ITU-T</a:t>
            </a:r>
            <a:r>
              <a:rPr lang="en-US" sz="3600" dirty="0"/>
              <a:t> provides some security services and some mechanisms to implement those services. Security services and mechanisms are closely related because a mechanism or combination of mechanisms are used to provide a service.</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1026"/>
          <p:cNvSpPr>
            <a:spLocks noGrp="1" noChangeArrowheads="1"/>
          </p:cNvSpPr>
          <p:nvPr>
            <p:ph type="title"/>
          </p:nvPr>
        </p:nvSpPr>
        <p:spPr>
          <a:xfrm>
            <a:off x="3429000" y="342900"/>
            <a:ext cx="11375232" cy="1924050"/>
          </a:xfrm>
        </p:spPr>
        <p:txBody>
          <a:bodyPr/>
          <a:lstStyle/>
          <a:p>
            <a:pPr>
              <a:defRPr/>
            </a:pPr>
            <a:r>
              <a:rPr lang="en-US" dirty="0"/>
              <a:t>Security Services</a:t>
            </a:r>
            <a:endParaRPr lang="en-AU" dirty="0"/>
          </a:p>
        </p:txBody>
      </p:sp>
      <p:sp>
        <p:nvSpPr>
          <p:cNvPr id="48131" name="Rectangle 1027"/>
          <p:cNvSpPr>
            <a:spLocks noGrp="1" noChangeArrowheads="1"/>
          </p:cNvSpPr>
          <p:nvPr>
            <p:ph idx="4294967295"/>
          </p:nvPr>
        </p:nvSpPr>
        <p:spPr>
          <a:xfrm>
            <a:off x="3086100" y="2057400"/>
            <a:ext cx="12344400" cy="5143500"/>
          </a:xfrm>
          <a:prstGeom prst="rect">
            <a:avLst/>
          </a:prstGeom>
        </p:spPr>
        <p:txBody>
          <a:bodyPr/>
          <a:lstStyle/>
          <a:p>
            <a:pPr marL="0" indent="0">
              <a:lnSpc>
                <a:spcPct val="90000"/>
              </a:lnSpc>
              <a:buClr>
                <a:schemeClr val="bg2"/>
              </a:buClr>
              <a:buSzPct val="135000"/>
              <a:buFont typeface="Arial"/>
              <a:buChar char="•"/>
              <a:defRPr/>
            </a:pPr>
            <a:r>
              <a:rPr lang="en-AU" sz="3000" dirty="0">
                <a:solidFill>
                  <a:schemeClr val="tx2">
                    <a:lumMod val="10000"/>
                  </a:schemeClr>
                </a:solidFill>
              </a:rPr>
              <a:t> </a:t>
            </a:r>
            <a:r>
              <a:rPr lang="en-AU" sz="3000" dirty="0"/>
              <a:t>Security service defined by X.800 as</a:t>
            </a:r>
            <a:r>
              <a:rPr lang="en-AU" sz="3000" dirty="0">
                <a:solidFill>
                  <a:srgbClr val="C00000"/>
                </a:solidFill>
              </a:rPr>
              <a:t>:</a:t>
            </a:r>
          </a:p>
          <a:p>
            <a:pPr marL="514350" lvl="1" indent="0">
              <a:lnSpc>
                <a:spcPct val="90000"/>
              </a:lnSpc>
              <a:buClr>
                <a:schemeClr val="bg1"/>
              </a:buClr>
              <a:buSzPct val="135000"/>
              <a:buFont typeface="Arial"/>
              <a:buChar char="•"/>
              <a:defRPr/>
            </a:pPr>
            <a:r>
              <a:rPr lang="en-AU" dirty="0">
                <a:solidFill>
                  <a:schemeClr val="tx2">
                    <a:lumMod val="10000"/>
                  </a:schemeClr>
                </a:solidFill>
                <a:cs typeface="ＭＳ Ｐゴシック" pitchFamily="-1" charset="-128"/>
              </a:rPr>
              <a:t> A service provided by a protocol layer of communicating open systems and </a:t>
            </a:r>
            <a:r>
              <a:rPr lang="en-AU" dirty="0">
                <a:solidFill>
                  <a:srgbClr val="FF0000"/>
                </a:solidFill>
                <a:cs typeface="ＭＳ Ｐゴシック" pitchFamily="-1" charset="-128"/>
              </a:rPr>
              <a:t>that ensures adequate security </a:t>
            </a:r>
            <a:r>
              <a:rPr lang="en-AU" dirty="0">
                <a:solidFill>
                  <a:schemeClr val="tx2">
                    <a:lumMod val="10000"/>
                  </a:schemeClr>
                </a:solidFill>
                <a:cs typeface="ＭＳ Ｐゴシック" pitchFamily="-1" charset="-128"/>
              </a:rPr>
              <a:t>of the systems or of data transfers</a:t>
            </a:r>
          </a:p>
          <a:p>
            <a:pPr marL="514350" lvl="1" indent="0">
              <a:lnSpc>
                <a:spcPct val="90000"/>
              </a:lnSpc>
              <a:buClr>
                <a:schemeClr val="accent1">
                  <a:lumMod val="50000"/>
                </a:schemeClr>
              </a:buClr>
              <a:buSzPct val="135000"/>
              <a:buNone/>
              <a:defRPr/>
            </a:pPr>
            <a:endParaRPr lang="en-AU" dirty="0">
              <a:solidFill>
                <a:schemeClr val="tx2">
                  <a:lumMod val="10000"/>
                </a:schemeClr>
              </a:solidFill>
              <a:cs typeface="ＭＳ Ｐゴシック" pitchFamily="-1" charset="-128"/>
            </a:endParaRPr>
          </a:p>
          <a:p>
            <a:pPr marL="0" lvl="1" indent="0">
              <a:lnSpc>
                <a:spcPct val="90000"/>
              </a:lnSpc>
              <a:spcBef>
                <a:spcPts val="3600"/>
              </a:spcBef>
              <a:buClr>
                <a:schemeClr val="bg2"/>
              </a:buClr>
              <a:buSzPct val="135000"/>
              <a:buFont typeface="Arial"/>
              <a:buChar char="•"/>
              <a:defRPr/>
            </a:pPr>
            <a:r>
              <a:rPr lang="en-AU" dirty="0">
                <a:solidFill>
                  <a:schemeClr val="tx2">
                    <a:lumMod val="10000"/>
                  </a:schemeClr>
                </a:solidFill>
                <a:cs typeface="ＭＳ Ｐゴシック" pitchFamily="-1" charset="-128"/>
              </a:rPr>
              <a:t> </a:t>
            </a:r>
            <a:r>
              <a:rPr lang="en-AU" dirty="0">
                <a:solidFill>
                  <a:srgbClr val="0000FF"/>
                </a:solidFill>
                <a:cs typeface="ＭＳ Ｐゴシック" pitchFamily="-1" charset="-128"/>
              </a:rPr>
              <a:t>Defined by RFC 4949 as:</a:t>
            </a:r>
            <a:endParaRPr lang="en-AU" dirty="0">
              <a:solidFill>
                <a:srgbClr val="0000FF"/>
              </a:solidFill>
            </a:endParaRPr>
          </a:p>
          <a:p>
            <a:pPr marL="514350" lvl="1" indent="0">
              <a:lnSpc>
                <a:spcPct val="90000"/>
              </a:lnSpc>
              <a:buClr>
                <a:schemeClr val="bg1"/>
              </a:buClr>
              <a:buSzPct val="135000"/>
              <a:buFont typeface="Arial"/>
              <a:buChar char="•"/>
              <a:defRPr/>
            </a:pPr>
            <a:r>
              <a:rPr lang="en-AU" dirty="0">
                <a:solidFill>
                  <a:schemeClr val="tx2">
                    <a:lumMod val="10000"/>
                  </a:schemeClr>
                </a:solidFill>
                <a:cs typeface="ＭＳ Ｐゴシック" pitchFamily="-1" charset="-128"/>
              </a:rPr>
              <a:t> A </a:t>
            </a:r>
            <a:r>
              <a:rPr lang="en-AU" dirty="0">
                <a:solidFill>
                  <a:srgbClr val="FF0000"/>
                </a:solidFill>
                <a:cs typeface="ＭＳ Ｐゴシック" pitchFamily="-1" charset="-128"/>
              </a:rPr>
              <a:t>processing or communication service </a:t>
            </a:r>
            <a:r>
              <a:rPr lang="en-AU" dirty="0">
                <a:solidFill>
                  <a:schemeClr val="tx2">
                    <a:lumMod val="10000"/>
                  </a:schemeClr>
                </a:solidFill>
                <a:cs typeface="ＭＳ Ｐゴシック" pitchFamily="-1" charset="-128"/>
              </a:rPr>
              <a:t>provided by a system to give </a:t>
            </a:r>
            <a:r>
              <a:rPr lang="en-AU" dirty="0">
                <a:solidFill>
                  <a:srgbClr val="FF0000"/>
                </a:solidFill>
                <a:cs typeface="ＭＳ Ｐゴシック" pitchFamily="-1" charset="-128"/>
              </a:rPr>
              <a:t>a specific kind of protection </a:t>
            </a:r>
            <a:r>
              <a:rPr lang="en-AU" dirty="0">
                <a:solidFill>
                  <a:schemeClr val="tx2">
                    <a:lumMod val="10000"/>
                  </a:schemeClr>
                </a:solidFill>
                <a:cs typeface="ＭＳ Ｐゴシック" pitchFamily="-1" charset="-128"/>
              </a:rPr>
              <a:t>to system resources</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idx="4294967295"/>
          </p:nvPr>
        </p:nvSpPr>
        <p:spPr>
          <a:xfrm>
            <a:off x="2286000" y="95250"/>
            <a:ext cx="13716000" cy="1924050"/>
          </a:xfrm>
          <a:prstGeom prst="rect">
            <a:avLst/>
          </a:prstGeom>
        </p:spPr>
        <p:txBody>
          <a:bodyPr/>
          <a:lstStyle/>
          <a:p>
            <a:pPr>
              <a:defRPr/>
            </a:pPr>
            <a:r>
              <a:rPr lang="en-US" dirty="0"/>
              <a:t>X.800 Service Categories</a:t>
            </a:r>
          </a:p>
        </p:txBody>
      </p:sp>
      <p:sp>
        <p:nvSpPr>
          <p:cNvPr id="52227" name="Content Placeholder 2"/>
          <p:cNvSpPr>
            <a:spLocks noGrp="1"/>
          </p:cNvSpPr>
          <p:nvPr>
            <p:ph idx="4294967295"/>
          </p:nvPr>
        </p:nvSpPr>
        <p:spPr>
          <a:xfrm>
            <a:off x="3429001" y="3771900"/>
            <a:ext cx="11375231" cy="3771900"/>
          </a:xfrm>
          <a:prstGeom prst="rect">
            <a:avLst/>
          </a:prstGeom>
        </p:spPr>
        <p:txBody>
          <a:bodyPr/>
          <a:lstStyle/>
          <a:p>
            <a:pPr>
              <a:buClr>
                <a:schemeClr val="bg2"/>
              </a:buClr>
              <a:defRPr/>
            </a:pPr>
            <a:r>
              <a:rPr lang="en-US" sz="3000" dirty="0">
                <a:solidFill>
                  <a:schemeClr val="tx2">
                    <a:lumMod val="10000"/>
                  </a:schemeClr>
                </a:solidFill>
              </a:rPr>
              <a:t>Authentication</a:t>
            </a:r>
          </a:p>
          <a:p>
            <a:pPr>
              <a:buClr>
                <a:schemeClr val="bg2"/>
              </a:buClr>
              <a:defRPr/>
            </a:pPr>
            <a:r>
              <a:rPr lang="en-US" sz="3000" dirty="0">
                <a:solidFill>
                  <a:schemeClr val="tx2">
                    <a:lumMod val="10000"/>
                  </a:schemeClr>
                </a:solidFill>
              </a:rPr>
              <a:t>Access control</a:t>
            </a:r>
          </a:p>
          <a:p>
            <a:pPr>
              <a:buClr>
                <a:schemeClr val="bg2"/>
              </a:buClr>
              <a:defRPr/>
            </a:pPr>
            <a:r>
              <a:rPr lang="en-US" sz="3000" dirty="0">
                <a:solidFill>
                  <a:schemeClr val="tx2">
                    <a:lumMod val="10000"/>
                  </a:schemeClr>
                </a:solidFill>
              </a:rPr>
              <a:t>Data confidentiality</a:t>
            </a:r>
          </a:p>
          <a:p>
            <a:pPr>
              <a:buClr>
                <a:schemeClr val="bg2"/>
              </a:buClr>
              <a:defRPr/>
            </a:pPr>
            <a:r>
              <a:rPr lang="en-US" sz="3000" dirty="0">
                <a:solidFill>
                  <a:schemeClr val="tx2">
                    <a:lumMod val="10000"/>
                  </a:schemeClr>
                </a:solidFill>
              </a:rPr>
              <a:t>Data integrity</a:t>
            </a:r>
          </a:p>
          <a:p>
            <a:pPr>
              <a:buClr>
                <a:schemeClr val="bg2"/>
              </a:buClr>
              <a:defRPr/>
            </a:pPr>
            <a:r>
              <a:rPr lang="en-US" sz="3000" dirty="0">
                <a:solidFill>
                  <a:schemeClr val="tx2">
                    <a:lumMod val="10000"/>
                  </a:schemeClr>
                </a:solidFill>
              </a:rPr>
              <a:t>Nonrepudiation </a:t>
            </a:r>
          </a:p>
        </p:txBody>
      </p:sp>
      <p:pic>
        <p:nvPicPr>
          <p:cNvPr id="52228" name="Picture 4"/>
          <p:cNvPicPr>
            <a:picLocks noChangeAspect="1"/>
          </p:cNvPicPr>
          <p:nvPr/>
        </p:nvPicPr>
        <p:blipFill>
          <a:blip r:embed="rId3"/>
          <a:srcRect/>
          <a:stretch>
            <a:fillRect/>
          </a:stretch>
        </p:blipFill>
        <p:spPr bwMode="auto">
          <a:xfrm>
            <a:off x="10858500" y="5257800"/>
            <a:ext cx="3183732" cy="3543300"/>
          </a:xfrm>
          <a:prstGeom prst="rect">
            <a:avLst/>
          </a:prstGeom>
          <a:noFill/>
          <a:ln w="9525">
            <a:noFill/>
            <a:miter lim="800000"/>
            <a:headEnd/>
            <a:tailEnd/>
          </a:ln>
        </p:spPr>
      </p:pic>
      <p:sp>
        <p:nvSpPr>
          <p:cNvPr id="52229" name="Rectangle 4"/>
          <p:cNvSpPr>
            <a:spLocks noChangeArrowheads="1"/>
          </p:cNvSpPr>
          <p:nvPr/>
        </p:nvSpPr>
        <p:spPr bwMode="auto">
          <a:xfrm>
            <a:off x="3429000" y="1943101"/>
            <a:ext cx="11315700" cy="1015663"/>
          </a:xfrm>
          <a:prstGeom prst="rect">
            <a:avLst/>
          </a:prstGeom>
          <a:noFill/>
          <a:ln w="9525">
            <a:noFill/>
            <a:miter lim="800000"/>
            <a:headEnd/>
            <a:tailEnd/>
          </a:ln>
        </p:spPr>
        <p:txBody>
          <a:bodyPr>
            <a:spAutoFit/>
          </a:bodyPr>
          <a:lstStyle/>
          <a:p>
            <a:r>
              <a:rPr lang="en-US" sz="3000" dirty="0">
                <a:solidFill>
                  <a:srgbClr val="C00000"/>
                </a:solidFill>
              </a:rPr>
              <a:t>X.800 divides these </a:t>
            </a:r>
            <a:r>
              <a:rPr lang="en-US" sz="3000" b="1" dirty="0"/>
              <a:t>services</a:t>
            </a:r>
            <a:r>
              <a:rPr lang="en-US" sz="3000" dirty="0">
                <a:solidFill>
                  <a:srgbClr val="C00000"/>
                </a:solidFill>
              </a:rPr>
              <a:t> into </a:t>
            </a:r>
            <a:r>
              <a:rPr lang="en-US" sz="3000" dirty="0">
                <a:solidFill>
                  <a:srgbClr val="0070C0"/>
                </a:solidFill>
              </a:rPr>
              <a:t>five</a:t>
            </a:r>
            <a:r>
              <a:rPr lang="en-US" sz="3000" dirty="0">
                <a:solidFill>
                  <a:srgbClr val="C00000"/>
                </a:solidFill>
              </a:rPr>
              <a:t> categories and fourteen specific services</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0" y="228600"/>
            <a:ext cx="11375232" cy="1162050"/>
          </a:xfrm>
        </p:spPr>
        <p:txBody>
          <a:bodyPr/>
          <a:lstStyle/>
          <a:p>
            <a:pPr>
              <a:defRPr/>
            </a:pPr>
            <a:endParaRPr lang="en-US"/>
          </a:p>
        </p:txBody>
      </p:sp>
      <p:pic>
        <p:nvPicPr>
          <p:cNvPr id="53251" name="Picture 13"/>
          <p:cNvPicPr>
            <a:picLocks noChangeAspect="1" noChangeArrowheads="1"/>
          </p:cNvPicPr>
          <p:nvPr/>
        </p:nvPicPr>
        <p:blipFill>
          <a:blip r:embed="rId2"/>
          <a:srcRect/>
          <a:stretch>
            <a:fillRect/>
          </a:stretch>
        </p:blipFill>
        <p:spPr bwMode="auto">
          <a:xfrm>
            <a:off x="2764632" y="3645695"/>
            <a:ext cx="12780168" cy="3269456"/>
          </a:xfrm>
          <a:prstGeom prst="rect">
            <a:avLst/>
          </a:prstGeom>
          <a:noFill/>
          <a:ln w="9525">
            <a:noFill/>
            <a:miter lim="800000"/>
            <a:headEnd/>
            <a:tailEnd/>
          </a:ln>
        </p:spPr>
      </p:pic>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3"/>
          <p:cNvPicPr>
            <a:picLocks noChangeAspect="1"/>
          </p:cNvPicPr>
          <p:nvPr/>
        </p:nvPicPr>
        <p:blipFill>
          <a:blip r:embed="rId3"/>
          <a:srcRect b="1259"/>
          <a:stretch>
            <a:fillRect/>
          </a:stretch>
        </p:blipFill>
        <p:spPr bwMode="auto">
          <a:xfrm>
            <a:off x="2286000" y="0"/>
            <a:ext cx="8724900" cy="10287000"/>
          </a:xfrm>
          <a:prstGeom prst="rect">
            <a:avLst/>
          </a:prstGeom>
          <a:solidFill>
            <a:schemeClr val="tx1"/>
          </a:solidFill>
          <a:ln w="9525">
            <a:noFill/>
            <a:miter lim="800000"/>
            <a:headEnd/>
            <a:tailEnd/>
          </a:ln>
        </p:spPr>
      </p:pic>
      <p:sp>
        <p:nvSpPr>
          <p:cNvPr id="8" name="Rectangle 7"/>
          <p:cNvSpPr/>
          <p:nvPr/>
        </p:nvSpPr>
        <p:spPr>
          <a:xfrm>
            <a:off x="11087100" y="1485900"/>
            <a:ext cx="4686300" cy="6093976"/>
          </a:xfrm>
          <a:prstGeom prst="rect">
            <a:avLst/>
          </a:prstGeom>
        </p:spPr>
        <p:txBody>
          <a:bodyPr>
            <a:spAutoFit/>
          </a:bodyPr>
          <a:lstStyle/>
          <a:p>
            <a:pPr algn="ctr">
              <a:defRPr/>
            </a:pPr>
            <a:r>
              <a:rPr lang="en-US" sz="6000" dirty="0">
                <a:solidFill>
                  <a:schemeClr val="tx2"/>
                </a:solidFill>
                <a:ea typeface="ＭＳ Ｐゴシック" pitchFamily="-1" charset="-128"/>
                <a:cs typeface="ＭＳ Ｐゴシック" pitchFamily="-1" charset="-128"/>
              </a:rPr>
              <a:t>   </a:t>
            </a:r>
          </a:p>
          <a:p>
            <a:pPr algn="ctr">
              <a:defRPr/>
            </a:pPr>
            <a:r>
              <a:rPr lang="en-US" sz="5400" dirty="0">
                <a:solidFill>
                  <a:schemeClr val="tx2"/>
                </a:solidFill>
                <a:ea typeface="ＭＳ Ｐゴシック" pitchFamily="-1" charset="-128"/>
                <a:cs typeface="ＭＳ Ｐゴシック" pitchFamily="-1" charset="-128"/>
              </a:rPr>
              <a:t>Security Services </a:t>
            </a:r>
          </a:p>
          <a:p>
            <a:pPr algn="ctr">
              <a:defRPr/>
            </a:pPr>
            <a:r>
              <a:rPr lang="en-US" sz="5400" dirty="0">
                <a:solidFill>
                  <a:schemeClr val="tx2"/>
                </a:solidFill>
                <a:ea typeface="ＭＳ Ｐゴシック" pitchFamily="-1" charset="-128"/>
                <a:cs typeface="ＭＳ Ｐゴシック" pitchFamily="-1" charset="-128"/>
              </a:rPr>
              <a:t>(X.800) </a:t>
            </a:r>
          </a:p>
          <a:p>
            <a:pPr algn="ctr">
              <a:defRPr/>
            </a:pPr>
            <a:endParaRPr lang="en-US" sz="5400" dirty="0">
              <a:solidFill>
                <a:schemeClr val="tx2"/>
              </a:solidFill>
              <a:ea typeface="ＭＳ Ｐゴシック" pitchFamily="-1" charset="-128"/>
              <a:cs typeface="ＭＳ Ｐゴシック" pitchFamily="-1" charset="-128"/>
            </a:endParaRPr>
          </a:p>
          <a:p>
            <a:pPr algn="ctr">
              <a:defRPr/>
            </a:pPr>
            <a:endParaRPr lang="en-US" sz="5400" dirty="0">
              <a:solidFill>
                <a:schemeClr val="tx2"/>
              </a:solidFill>
              <a:ea typeface="ＭＳ Ｐゴシック" pitchFamily="-1" charset="-128"/>
              <a:cs typeface="ＭＳ Ｐゴシック" pitchFamily="-1" charset="-128"/>
            </a:endParaRPr>
          </a:p>
          <a:p>
            <a:pPr algn="ctr">
              <a:defRPr/>
            </a:pPr>
            <a:endParaRPr lang="en-US" sz="3000" dirty="0">
              <a:solidFill>
                <a:schemeClr val="tx2"/>
              </a:solidFill>
              <a:ea typeface="ＭＳ Ｐゴシック" pitchFamily="-1" charset="-128"/>
              <a:cs typeface="ＭＳ Ｐゴシック" pitchFamily="-1" charset="-128"/>
            </a:endParaRPr>
          </a:p>
          <a:p>
            <a:pPr algn="ctr">
              <a:defRPr/>
            </a:pPr>
            <a:endParaRPr lang="en-US" sz="3000" dirty="0">
              <a:solidFill>
                <a:schemeClr val="tx2"/>
              </a:solidFill>
              <a:ea typeface="ＭＳ Ｐゴシック" pitchFamily="-1" charset="-128"/>
              <a:cs typeface="ＭＳ Ｐゴシック" pitchFamily="-1" charset="-128"/>
            </a:endParaRPr>
          </a:p>
        </p:txBody>
      </p:sp>
    </p:spTree>
  </p:cSld>
  <p:clrMapOvr>
    <a:masterClrMapping/>
  </p:clrMapOvr>
  <p:transition spd="med">
    <p:dissolve/>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idx="4294967295"/>
          </p:nvPr>
        </p:nvSpPr>
        <p:spPr>
          <a:xfrm>
            <a:off x="3455195" y="95250"/>
            <a:ext cx="11375231" cy="1924050"/>
          </a:xfrm>
          <a:prstGeom prst="rect">
            <a:avLst/>
          </a:prstGeom>
        </p:spPr>
        <p:txBody>
          <a:bodyPr/>
          <a:lstStyle/>
          <a:p>
            <a:pPr>
              <a:defRPr/>
            </a:pPr>
            <a:r>
              <a:rPr lang="en-US" dirty="0"/>
              <a:t>Authentication</a:t>
            </a:r>
            <a:endParaRPr lang="en-AU" dirty="0"/>
          </a:p>
        </p:txBody>
      </p:sp>
      <p:sp>
        <p:nvSpPr>
          <p:cNvPr id="4" name="Content Placeholder 3"/>
          <p:cNvSpPr>
            <a:spLocks noGrp="1"/>
          </p:cNvSpPr>
          <p:nvPr>
            <p:ph idx="4294967295"/>
          </p:nvPr>
        </p:nvSpPr>
        <p:spPr>
          <a:xfrm>
            <a:off x="3543300" y="1600201"/>
            <a:ext cx="11375232" cy="6446045"/>
          </a:xfrm>
          <a:prstGeom prst="rect">
            <a:avLst/>
          </a:prstGeom>
        </p:spPr>
        <p:txBody>
          <a:bodyPr/>
          <a:lstStyle/>
          <a:p>
            <a:pPr>
              <a:defRPr/>
            </a:pPr>
            <a:r>
              <a:rPr lang="en-US" dirty="0">
                <a:solidFill>
                  <a:schemeClr val="tx2">
                    <a:lumMod val="10000"/>
                  </a:schemeClr>
                </a:solidFill>
              </a:rPr>
              <a:t>Concerned with assuring that a </a:t>
            </a:r>
            <a:r>
              <a:rPr lang="en-US" dirty="0">
                <a:solidFill>
                  <a:schemeClr val="bg1"/>
                </a:solidFill>
              </a:rPr>
              <a:t>communication is authentic</a:t>
            </a:r>
          </a:p>
          <a:p>
            <a:pPr lvl="1" algn="just">
              <a:buClr>
                <a:schemeClr val="bg1"/>
              </a:buClr>
              <a:defRPr/>
            </a:pPr>
            <a:r>
              <a:rPr lang="en-US" dirty="0">
                <a:solidFill>
                  <a:schemeClr val="tx2">
                    <a:lumMod val="10000"/>
                  </a:schemeClr>
                </a:solidFill>
              </a:rPr>
              <a:t>In the case of a </a:t>
            </a:r>
            <a:r>
              <a:rPr lang="en-US" b="1" dirty="0">
                <a:solidFill>
                  <a:srgbClr val="FF0000"/>
                </a:solidFill>
              </a:rPr>
              <a:t>single message</a:t>
            </a:r>
            <a:r>
              <a:rPr lang="en-US" dirty="0">
                <a:solidFill>
                  <a:schemeClr val="tx2">
                    <a:lumMod val="10000"/>
                  </a:schemeClr>
                </a:solidFill>
              </a:rPr>
              <a:t>, assures the recipient that the message is from the source that it claims to be from.</a:t>
            </a:r>
            <a:endParaRPr lang="en-US" dirty="0">
              <a:solidFill>
                <a:srgbClr val="FF0000"/>
              </a:solidFill>
            </a:endParaRPr>
          </a:p>
          <a:p>
            <a:pPr lvl="1" algn="just">
              <a:buClr>
                <a:schemeClr val="bg1"/>
              </a:buClr>
              <a:defRPr/>
            </a:pPr>
            <a:r>
              <a:rPr lang="en-US" dirty="0">
                <a:solidFill>
                  <a:schemeClr val="tx2">
                    <a:lumMod val="10000"/>
                  </a:schemeClr>
                </a:solidFill>
              </a:rPr>
              <a:t>In the case of ongoing interaction, assures the</a:t>
            </a:r>
            <a:r>
              <a:rPr lang="en-US" b="1" dirty="0">
                <a:solidFill>
                  <a:schemeClr val="bg1"/>
                </a:solidFill>
              </a:rPr>
              <a:t> </a:t>
            </a:r>
            <a:r>
              <a:rPr lang="en-US" b="1" dirty="0">
                <a:solidFill>
                  <a:srgbClr val="FF0000"/>
                </a:solidFill>
              </a:rPr>
              <a:t>are authentic</a:t>
            </a:r>
            <a:r>
              <a:rPr lang="en-US" dirty="0">
                <a:solidFill>
                  <a:srgbClr val="FF0000"/>
                </a:solidFill>
              </a:rPr>
              <a:t> </a:t>
            </a:r>
            <a:r>
              <a:rPr lang="en-US" dirty="0">
                <a:solidFill>
                  <a:schemeClr val="tx2">
                    <a:lumMod val="10000"/>
                  </a:schemeClr>
                </a:solidFill>
              </a:rPr>
              <a:t>and that the connection is not interfered with in such a way that a third party can masquerade as one of the two legitimate parties</a:t>
            </a:r>
          </a:p>
        </p:txBody>
      </p:sp>
      <p:graphicFrame>
        <p:nvGraphicFramePr>
          <p:cNvPr id="5" name="Diagram 4"/>
          <p:cNvGraphicFramePr/>
          <p:nvPr/>
        </p:nvGraphicFramePr>
        <p:xfrm>
          <a:off x="4572000" y="6400800"/>
          <a:ext cx="8801100" cy="1905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5301" name="Rectangle 5"/>
          <p:cNvSpPr>
            <a:spLocks noChangeArrowheads="1"/>
          </p:cNvSpPr>
          <p:nvPr/>
        </p:nvSpPr>
        <p:spPr bwMode="auto">
          <a:xfrm>
            <a:off x="3429000" y="8343900"/>
            <a:ext cx="12230100" cy="923330"/>
          </a:xfrm>
          <a:prstGeom prst="rect">
            <a:avLst/>
          </a:prstGeom>
          <a:noFill/>
          <a:ln w="9525">
            <a:noFill/>
            <a:miter lim="800000"/>
            <a:headEnd/>
            <a:tailEnd/>
          </a:ln>
        </p:spPr>
        <p:txBody>
          <a:bodyPr>
            <a:spAutoFit/>
          </a:bodyPr>
          <a:lstStyle/>
          <a:p>
            <a:pPr algn="just"/>
            <a:r>
              <a:rPr lang="en-US" sz="2700" dirty="0">
                <a:solidFill>
                  <a:srgbClr val="C00000"/>
                </a:solidFill>
              </a:rPr>
              <a:t>Two entities are considered peers if they implement </a:t>
            </a:r>
            <a:r>
              <a:rPr lang="en-US" sz="2700" dirty="0">
                <a:solidFill>
                  <a:srgbClr val="0000CC"/>
                </a:solidFill>
              </a:rPr>
              <a:t>the same protocol in different systems </a:t>
            </a:r>
            <a:r>
              <a:rPr lang="en-US" sz="2700" dirty="0">
                <a:solidFill>
                  <a:srgbClr val="C00000"/>
                </a:solidFill>
              </a:rPr>
              <a:t>(e.g., two TCP modules in two communicating systems).</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idx="4294967295"/>
          </p:nvPr>
        </p:nvSpPr>
        <p:spPr>
          <a:xfrm>
            <a:off x="3429000" y="457200"/>
            <a:ext cx="11375232" cy="1162050"/>
          </a:xfrm>
          <a:prstGeom prst="rect">
            <a:avLst/>
          </a:prstGeom>
        </p:spPr>
        <p:txBody>
          <a:bodyPr/>
          <a:lstStyle/>
          <a:p>
            <a:pPr>
              <a:defRPr/>
            </a:pPr>
            <a:r>
              <a:rPr lang="en-US" dirty="0"/>
              <a:t>Access Control</a:t>
            </a:r>
          </a:p>
        </p:txBody>
      </p:sp>
      <p:sp>
        <p:nvSpPr>
          <p:cNvPr id="56323" name="Content Placeholder 2"/>
          <p:cNvSpPr>
            <a:spLocks noGrp="1"/>
          </p:cNvSpPr>
          <p:nvPr>
            <p:ph idx="4294967295"/>
          </p:nvPr>
        </p:nvSpPr>
        <p:spPr>
          <a:xfrm>
            <a:off x="3657600" y="1943100"/>
            <a:ext cx="11375232" cy="5715000"/>
          </a:xfrm>
          <a:prstGeom prst="rect">
            <a:avLst/>
          </a:prstGeom>
        </p:spPr>
        <p:txBody>
          <a:bodyPr/>
          <a:lstStyle/>
          <a:p>
            <a:pPr>
              <a:defRPr/>
            </a:pPr>
            <a:r>
              <a:rPr lang="en-US" sz="3000" dirty="0">
                <a:solidFill>
                  <a:schemeClr val="tx2">
                    <a:lumMod val="10000"/>
                  </a:schemeClr>
                </a:solidFill>
              </a:rPr>
              <a:t>The ability </a:t>
            </a:r>
            <a:r>
              <a:rPr lang="en-US" sz="3000" b="1" dirty="0">
                <a:solidFill>
                  <a:srgbClr val="FF0000"/>
                </a:solidFill>
              </a:rPr>
              <a:t>to limit and control the access</a:t>
            </a:r>
            <a:r>
              <a:rPr lang="en-US" sz="3000" b="1" dirty="0">
                <a:solidFill>
                  <a:srgbClr val="FFFF00"/>
                </a:solidFill>
              </a:rPr>
              <a:t> </a:t>
            </a:r>
            <a:r>
              <a:rPr lang="en-US" sz="3000" dirty="0">
                <a:solidFill>
                  <a:schemeClr val="tx2">
                    <a:lumMod val="10000"/>
                  </a:schemeClr>
                </a:solidFill>
              </a:rPr>
              <a:t>to host systems and applications via communications links</a:t>
            </a:r>
          </a:p>
          <a:p>
            <a:pPr>
              <a:defRPr/>
            </a:pPr>
            <a:r>
              <a:rPr lang="en-US" sz="3000" dirty="0">
                <a:solidFill>
                  <a:schemeClr val="tx2">
                    <a:lumMod val="10000"/>
                  </a:schemeClr>
                </a:solidFill>
              </a:rPr>
              <a:t>To achieve this, each entity trying to gain access must first be </a:t>
            </a:r>
            <a:r>
              <a:rPr lang="en-US" sz="3000" b="1" dirty="0">
                <a:solidFill>
                  <a:srgbClr val="FF0000"/>
                </a:solidFill>
              </a:rPr>
              <a:t>identified</a:t>
            </a:r>
            <a:r>
              <a:rPr lang="en-US" sz="3000" dirty="0">
                <a:solidFill>
                  <a:schemeClr val="tx2">
                    <a:lumMod val="10000"/>
                  </a:schemeClr>
                </a:solidFill>
              </a:rPr>
              <a:t>, or </a:t>
            </a:r>
            <a:r>
              <a:rPr lang="en-US" sz="3000" b="1" dirty="0">
                <a:solidFill>
                  <a:srgbClr val="FF0000"/>
                </a:solidFill>
              </a:rPr>
              <a:t>authenticated,</a:t>
            </a:r>
            <a:r>
              <a:rPr lang="en-US" sz="3000" dirty="0">
                <a:solidFill>
                  <a:schemeClr val="tx2">
                    <a:lumMod val="10000"/>
                  </a:schemeClr>
                </a:solidFill>
              </a:rPr>
              <a:t> so that access rights can be tailored to the individual</a:t>
            </a:r>
          </a:p>
        </p:txBody>
      </p:sp>
      <p:pic>
        <p:nvPicPr>
          <p:cNvPr id="56324" name="Picture 3"/>
          <p:cNvPicPr>
            <a:picLocks noChangeAspect="1"/>
          </p:cNvPicPr>
          <p:nvPr/>
        </p:nvPicPr>
        <p:blipFill>
          <a:blip r:embed="rId3"/>
          <a:srcRect/>
          <a:stretch>
            <a:fillRect/>
          </a:stretch>
        </p:blipFill>
        <p:spPr bwMode="auto">
          <a:xfrm>
            <a:off x="12230100" y="7086600"/>
            <a:ext cx="2667000" cy="2628900"/>
          </a:xfrm>
          <a:prstGeom prst="rect">
            <a:avLst/>
          </a:prstGeom>
          <a:noFill/>
          <a:ln w="9525">
            <a:noFill/>
            <a:miter lim="800000"/>
            <a:headEnd/>
            <a:tailEnd/>
          </a:ln>
        </p:spPr>
      </p:pic>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idx="4294967295"/>
          </p:nvPr>
        </p:nvSpPr>
        <p:spPr>
          <a:xfrm>
            <a:off x="3429000" y="457200"/>
            <a:ext cx="11375232" cy="1276350"/>
          </a:xfrm>
          <a:prstGeom prst="rect">
            <a:avLst/>
          </a:prstGeom>
        </p:spPr>
        <p:txBody>
          <a:bodyPr/>
          <a:lstStyle/>
          <a:p>
            <a:pPr>
              <a:defRPr/>
            </a:pPr>
            <a:r>
              <a:rPr lang="en-US" dirty="0"/>
              <a:t>Data Confidentiality</a:t>
            </a:r>
          </a:p>
        </p:txBody>
      </p:sp>
      <p:sp>
        <p:nvSpPr>
          <p:cNvPr id="3" name="Content Placeholder 2"/>
          <p:cNvSpPr>
            <a:spLocks noGrp="1"/>
          </p:cNvSpPr>
          <p:nvPr>
            <p:ph idx="4294967295"/>
          </p:nvPr>
        </p:nvSpPr>
        <p:spPr>
          <a:xfrm>
            <a:off x="3200400" y="1943100"/>
            <a:ext cx="12230100" cy="6972300"/>
          </a:xfrm>
          <a:prstGeom prst="rect">
            <a:avLst/>
          </a:prstGeom>
        </p:spPr>
        <p:txBody>
          <a:bodyPr/>
          <a:lstStyle/>
          <a:p>
            <a:pPr>
              <a:defRPr/>
            </a:pPr>
            <a:r>
              <a:rPr lang="en-US" dirty="0">
                <a:solidFill>
                  <a:schemeClr val="tx1"/>
                </a:solidFill>
              </a:rPr>
              <a:t>The protection of transmitted data </a:t>
            </a:r>
            <a:r>
              <a:rPr lang="en-US" b="1" dirty="0">
                <a:solidFill>
                  <a:schemeClr val="tx1"/>
                </a:solidFill>
              </a:rPr>
              <a:t>from passive attacks</a:t>
            </a:r>
          </a:p>
          <a:p>
            <a:pPr lvl="1">
              <a:buClr>
                <a:schemeClr val="bg1"/>
              </a:buClr>
              <a:defRPr/>
            </a:pPr>
            <a:r>
              <a:rPr lang="en-US" b="1" dirty="0"/>
              <a:t>Broadest service </a:t>
            </a:r>
            <a:r>
              <a:rPr lang="en-US" dirty="0"/>
              <a:t>protects </a:t>
            </a:r>
            <a:r>
              <a:rPr lang="en-US" b="1" dirty="0"/>
              <a:t>all user data </a:t>
            </a:r>
            <a:r>
              <a:rPr lang="en-US" dirty="0"/>
              <a:t>transmitted between two users over a period of time</a:t>
            </a:r>
          </a:p>
          <a:p>
            <a:pPr lvl="1">
              <a:buClr>
                <a:schemeClr val="bg1"/>
              </a:buClr>
              <a:defRPr/>
            </a:pPr>
            <a:r>
              <a:rPr lang="en-US" b="1" dirty="0"/>
              <a:t>Narrower forms of service </a:t>
            </a:r>
            <a:r>
              <a:rPr lang="en-US" dirty="0"/>
              <a:t>include the </a:t>
            </a:r>
            <a:r>
              <a:rPr lang="en-US" b="1" dirty="0"/>
              <a:t>protection of a single message</a:t>
            </a:r>
            <a:r>
              <a:rPr lang="en-US" dirty="0"/>
              <a:t> or even specific fields within a message</a:t>
            </a:r>
          </a:p>
          <a:p>
            <a:pPr>
              <a:defRPr/>
            </a:pPr>
            <a:r>
              <a:rPr lang="en-US" dirty="0">
                <a:solidFill>
                  <a:schemeClr val="tx1"/>
                </a:solidFill>
              </a:rPr>
              <a:t>The </a:t>
            </a:r>
            <a:r>
              <a:rPr lang="en-US" b="1" dirty="0">
                <a:solidFill>
                  <a:schemeClr val="tx1"/>
                </a:solidFill>
              </a:rPr>
              <a:t>protection of traffic flow </a:t>
            </a:r>
            <a:r>
              <a:rPr lang="en-US" dirty="0">
                <a:solidFill>
                  <a:schemeClr val="tx1"/>
                </a:solidFill>
              </a:rPr>
              <a:t>from analysis</a:t>
            </a:r>
          </a:p>
          <a:p>
            <a:pPr lvl="1">
              <a:buClr>
                <a:schemeClr val="bg1"/>
              </a:buClr>
              <a:defRPr/>
            </a:pPr>
            <a:r>
              <a:rPr lang="en-US" dirty="0"/>
              <a:t>This requires that </a:t>
            </a:r>
            <a:r>
              <a:rPr lang="en-US" b="1" dirty="0"/>
              <a:t>an attacker not be able to observe </a:t>
            </a:r>
            <a:r>
              <a:rPr lang="en-US" dirty="0"/>
              <a:t>the </a:t>
            </a:r>
            <a:r>
              <a:rPr lang="en-US" b="1" dirty="0"/>
              <a:t>source and destination,</a:t>
            </a:r>
            <a:r>
              <a:rPr lang="en-US" dirty="0"/>
              <a:t> </a:t>
            </a:r>
            <a:r>
              <a:rPr lang="en-US" b="1" dirty="0"/>
              <a:t>frequency,</a:t>
            </a:r>
            <a:r>
              <a:rPr lang="en-US" dirty="0"/>
              <a:t> </a:t>
            </a:r>
            <a:r>
              <a:rPr lang="en-US" b="1" dirty="0"/>
              <a:t>length,</a:t>
            </a:r>
            <a:r>
              <a:rPr lang="en-US" dirty="0"/>
              <a:t> or other characteristics of the traffic on a communications facility</a:t>
            </a:r>
          </a:p>
        </p:txBody>
      </p:sp>
      <p:pic>
        <p:nvPicPr>
          <p:cNvPr id="57348" name="Picture 3"/>
          <p:cNvPicPr>
            <a:picLocks noChangeAspect="1"/>
          </p:cNvPicPr>
          <p:nvPr/>
        </p:nvPicPr>
        <p:blipFill>
          <a:blip r:embed="rId3" cstate="print"/>
          <a:srcRect/>
          <a:stretch>
            <a:fillRect/>
          </a:stretch>
        </p:blipFill>
        <p:spPr bwMode="auto">
          <a:xfrm rot="1787509">
            <a:off x="13768388" y="6962776"/>
            <a:ext cx="1400175" cy="1959770"/>
          </a:xfrm>
          <a:prstGeom prst="rect">
            <a:avLst/>
          </a:prstGeom>
          <a:noFill/>
          <a:ln w="9525">
            <a:noFill/>
            <a:miter lim="800000"/>
            <a:headEnd/>
            <a:tailEnd/>
          </a:ln>
        </p:spPr>
      </p:pic>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idx="4294967295"/>
          </p:nvPr>
        </p:nvSpPr>
        <p:spPr>
          <a:xfrm>
            <a:off x="3455195" y="95250"/>
            <a:ext cx="11375231" cy="1924050"/>
          </a:xfrm>
          <a:prstGeom prst="rect">
            <a:avLst/>
          </a:prstGeom>
        </p:spPr>
        <p:txBody>
          <a:bodyPr/>
          <a:lstStyle/>
          <a:p>
            <a:pPr>
              <a:defRPr/>
            </a:pPr>
            <a:r>
              <a:rPr lang="en-US" dirty="0"/>
              <a:t>Data Integrity</a:t>
            </a:r>
          </a:p>
        </p:txBody>
      </p:sp>
      <p:graphicFrame>
        <p:nvGraphicFramePr>
          <p:cNvPr id="8" name="Content Placeholder 7"/>
          <p:cNvGraphicFramePr>
            <a:graphicFrameLocks noGrp="1"/>
          </p:cNvGraphicFramePr>
          <p:nvPr>
            <p:ph idx="4294967295"/>
          </p:nvPr>
        </p:nvGraphicFramePr>
        <p:xfrm>
          <a:off x="2971800" y="1485901"/>
          <a:ext cx="12230100" cy="71866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p:cNvSpPr>
          <p:nvPr>
            <p:ph type="title" idx="4294967295"/>
          </p:nvPr>
        </p:nvSpPr>
        <p:spPr>
          <a:xfrm>
            <a:off x="3455195" y="95250"/>
            <a:ext cx="11375231" cy="1924050"/>
          </a:xfrm>
          <a:prstGeom prst="rect">
            <a:avLst/>
          </a:prstGeom>
        </p:spPr>
        <p:txBody>
          <a:bodyPr/>
          <a:lstStyle/>
          <a:p>
            <a:pPr>
              <a:defRPr/>
            </a:pPr>
            <a:r>
              <a:rPr lang="en-US" dirty="0"/>
              <a:t>Nonrepudiation </a:t>
            </a:r>
          </a:p>
        </p:txBody>
      </p:sp>
      <p:sp>
        <p:nvSpPr>
          <p:cNvPr id="62467" name="Content Placeholder 2"/>
          <p:cNvSpPr>
            <a:spLocks noGrp="1"/>
          </p:cNvSpPr>
          <p:nvPr>
            <p:ph idx="4294967295"/>
          </p:nvPr>
        </p:nvSpPr>
        <p:spPr>
          <a:xfrm>
            <a:off x="3657600" y="2286002"/>
            <a:ext cx="11375232" cy="4114800"/>
          </a:xfrm>
          <a:prstGeom prst="rect">
            <a:avLst/>
          </a:prstGeom>
        </p:spPr>
        <p:txBody>
          <a:bodyPr/>
          <a:lstStyle/>
          <a:p>
            <a:pPr>
              <a:defRPr/>
            </a:pPr>
            <a:r>
              <a:rPr lang="en-US" sz="3000" dirty="0">
                <a:solidFill>
                  <a:schemeClr val="tx2">
                    <a:lumMod val="10000"/>
                  </a:schemeClr>
                </a:solidFill>
              </a:rPr>
              <a:t>Prevents either sender or receiver from </a:t>
            </a:r>
            <a:r>
              <a:rPr lang="en-US" sz="3000" b="1" dirty="0">
                <a:solidFill>
                  <a:srgbClr val="C00000"/>
                </a:solidFill>
              </a:rPr>
              <a:t>denying a transmitted message</a:t>
            </a:r>
          </a:p>
          <a:p>
            <a:pPr>
              <a:defRPr/>
            </a:pPr>
            <a:r>
              <a:rPr lang="en-US" sz="3000" dirty="0">
                <a:solidFill>
                  <a:schemeClr val="tx2">
                    <a:lumMod val="10000"/>
                  </a:schemeClr>
                </a:solidFill>
              </a:rPr>
              <a:t>When a message is sent, </a:t>
            </a:r>
            <a:r>
              <a:rPr lang="en-US" sz="3000" b="1" dirty="0">
                <a:solidFill>
                  <a:srgbClr val="C00000"/>
                </a:solidFill>
              </a:rPr>
              <a:t>the receiver can prove </a:t>
            </a:r>
            <a:r>
              <a:rPr lang="en-US" sz="3000" dirty="0">
                <a:solidFill>
                  <a:schemeClr val="tx2">
                    <a:lumMod val="10000"/>
                  </a:schemeClr>
                </a:solidFill>
              </a:rPr>
              <a:t>that the alleged sender in fact sent the message</a:t>
            </a:r>
          </a:p>
          <a:p>
            <a:pPr>
              <a:defRPr/>
            </a:pPr>
            <a:r>
              <a:rPr lang="en-US" sz="3000" dirty="0">
                <a:solidFill>
                  <a:schemeClr val="tx2">
                    <a:lumMod val="10000"/>
                  </a:schemeClr>
                </a:solidFill>
              </a:rPr>
              <a:t>When a message is received, </a:t>
            </a:r>
            <a:r>
              <a:rPr lang="en-US" sz="3000" b="1" dirty="0">
                <a:solidFill>
                  <a:srgbClr val="C00000"/>
                </a:solidFill>
              </a:rPr>
              <a:t>the sender can prove </a:t>
            </a:r>
            <a:r>
              <a:rPr lang="en-US" sz="3000" dirty="0">
                <a:solidFill>
                  <a:schemeClr val="tx2">
                    <a:lumMod val="10000"/>
                  </a:schemeClr>
                </a:solidFill>
              </a:rPr>
              <a:t>that the alleged receiver in fact received the message</a:t>
            </a:r>
          </a:p>
        </p:txBody>
      </p:sp>
      <p:pic>
        <p:nvPicPr>
          <p:cNvPr id="4" name="Picture 3"/>
          <p:cNvPicPr>
            <a:picLocks noChangeAspect="1"/>
          </p:cNvPicPr>
          <p:nvPr/>
        </p:nvPicPr>
        <p:blipFill>
          <a:blip r:embed="rId3" cstate="print">
            <a:duotone>
              <a:prstClr val="black"/>
              <a:schemeClr val="accent3">
                <a:tint val="45000"/>
                <a:satMod val="400000"/>
              </a:schemeClr>
            </a:duotone>
            <a:lum/>
            <a:alphaModFix/>
          </a:blip>
          <a:stretch>
            <a:fillRect/>
          </a:stretch>
        </p:blipFill>
        <p:spPr>
          <a:xfrm>
            <a:off x="8001000" y="6400800"/>
            <a:ext cx="2514600" cy="2514600"/>
          </a:xfrm>
          <a:prstGeom prst="rect">
            <a:avLst/>
          </a:prstGeom>
          <a:solidFill>
            <a:schemeClr val="tx2"/>
          </a:solidFill>
        </p:spPr>
      </p:pic>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455195" y="95250"/>
            <a:ext cx="11375231" cy="1924050"/>
          </a:xfrm>
          <a:prstGeom prst="rect">
            <a:avLst/>
          </a:prstGeom>
        </p:spPr>
        <p:txBody>
          <a:bodyPr/>
          <a:lstStyle/>
          <a:p>
            <a:pPr>
              <a:defRPr/>
            </a:pPr>
            <a:r>
              <a:rPr lang="en-US" dirty="0"/>
              <a:t>Availability service</a:t>
            </a:r>
          </a:p>
        </p:txBody>
      </p:sp>
      <p:sp>
        <p:nvSpPr>
          <p:cNvPr id="3" name="Content Placeholder 2"/>
          <p:cNvSpPr>
            <a:spLocks noGrp="1"/>
          </p:cNvSpPr>
          <p:nvPr>
            <p:ph idx="4294967295"/>
          </p:nvPr>
        </p:nvSpPr>
        <p:spPr>
          <a:xfrm>
            <a:off x="3543300" y="2057401"/>
            <a:ext cx="11375232" cy="6446045"/>
          </a:xfrm>
          <a:prstGeom prst="rect">
            <a:avLst/>
          </a:prstGeom>
        </p:spPr>
        <p:txBody>
          <a:bodyPr>
            <a:normAutofit/>
          </a:bodyPr>
          <a:lstStyle/>
          <a:p>
            <a:pPr>
              <a:defRPr/>
            </a:pPr>
            <a:r>
              <a:rPr lang="en-US" dirty="0">
                <a:solidFill>
                  <a:schemeClr val="tx2">
                    <a:lumMod val="10000"/>
                  </a:schemeClr>
                </a:solidFill>
              </a:rPr>
              <a:t>Availability </a:t>
            </a:r>
          </a:p>
          <a:p>
            <a:pPr lvl="1">
              <a:buClr>
                <a:schemeClr val="bg1"/>
              </a:buClr>
              <a:defRPr/>
            </a:pPr>
            <a:r>
              <a:rPr lang="en-US" dirty="0">
                <a:solidFill>
                  <a:schemeClr val="tx2">
                    <a:lumMod val="10000"/>
                  </a:schemeClr>
                </a:solidFill>
              </a:rPr>
              <a:t>The property of a system or a system resource being </a:t>
            </a:r>
            <a:r>
              <a:rPr lang="en-US" b="1" dirty="0">
                <a:solidFill>
                  <a:srgbClr val="C00000"/>
                </a:solidFill>
              </a:rPr>
              <a:t>accessible and usable upon demand by an authorized system entity</a:t>
            </a:r>
            <a:r>
              <a:rPr lang="en-US" dirty="0">
                <a:solidFill>
                  <a:srgbClr val="C00000"/>
                </a:solidFill>
              </a:rPr>
              <a:t>,</a:t>
            </a:r>
            <a:r>
              <a:rPr lang="en-US" dirty="0">
                <a:solidFill>
                  <a:schemeClr val="tx2">
                    <a:lumMod val="10000"/>
                  </a:schemeClr>
                </a:solidFill>
              </a:rPr>
              <a:t> according to performance specifications for the system</a:t>
            </a:r>
          </a:p>
          <a:p>
            <a:pPr>
              <a:defRPr/>
            </a:pPr>
            <a:r>
              <a:rPr lang="en-US" dirty="0">
                <a:solidFill>
                  <a:schemeClr val="tx2">
                    <a:lumMod val="10000"/>
                  </a:schemeClr>
                </a:solidFill>
              </a:rPr>
              <a:t>Availability service</a:t>
            </a:r>
          </a:p>
          <a:p>
            <a:pPr lvl="1">
              <a:buClr>
                <a:schemeClr val="bg1"/>
              </a:buClr>
              <a:defRPr/>
            </a:pPr>
            <a:r>
              <a:rPr lang="en-US" dirty="0">
                <a:solidFill>
                  <a:schemeClr val="tx2">
                    <a:lumMod val="10000"/>
                  </a:schemeClr>
                </a:solidFill>
              </a:rPr>
              <a:t>One that protects a system to </a:t>
            </a:r>
            <a:r>
              <a:rPr lang="en-US" b="1" dirty="0">
                <a:solidFill>
                  <a:srgbClr val="C00000"/>
                </a:solidFill>
              </a:rPr>
              <a:t>ensure its availability</a:t>
            </a:r>
          </a:p>
          <a:p>
            <a:pPr lvl="1">
              <a:buClr>
                <a:schemeClr val="bg1"/>
              </a:buClr>
              <a:defRPr/>
            </a:pPr>
            <a:r>
              <a:rPr lang="en-US" b="1" dirty="0">
                <a:solidFill>
                  <a:srgbClr val="C00000"/>
                </a:solidFill>
              </a:rPr>
              <a:t>Addresses the security </a:t>
            </a:r>
            <a:r>
              <a:rPr lang="en-US" dirty="0">
                <a:solidFill>
                  <a:schemeClr val="tx2">
                    <a:lumMod val="10000"/>
                  </a:schemeClr>
                </a:solidFill>
              </a:rPr>
              <a:t>concerns raised by </a:t>
            </a:r>
            <a:r>
              <a:rPr lang="en-US" b="1" dirty="0">
                <a:solidFill>
                  <a:srgbClr val="C00000"/>
                </a:solidFill>
              </a:rPr>
              <a:t>denial-of-service attacks</a:t>
            </a:r>
          </a:p>
          <a:p>
            <a:pPr lvl="1">
              <a:buClr>
                <a:schemeClr val="bg1"/>
              </a:buClr>
              <a:defRPr/>
            </a:pPr>
            <a:r>
              <a:rPr lang="en-US" dirty="0">
                <a:solidFill>
                  <a:schemeClr val="tx2">
                    <a:lumMod val="10000"/>
                  </a:schemeClr>
                </a:solidFill>
              </a:rPr>
              <a:t>Depends on proper management and control of system resources</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2857500" y="342901"/>
            <a:ext cx="11658600" cy="1350170"/>
          </a:xfrm>
        </p:spPr>
        <p:txBody>
          <a:bodyPr/>
          <a:lstStyle/>
          <a:p>
            <a:pPr eaLnBrk="1" hangingPunct="1"/>
            <a:r>
              <a:rPr lang="en-US" altLang="tr-TR" dirty="0"/>
              <a:t>Security Mechanisms</a:t>
            </a:r>
          </a:p>
        </p:txBody>
      </p:sp>
      <p:sp>
        <p:nvSpPr>
          <p:cNvPr id="71683" name="Rectangle 3"/>
          <p:cNvSpPr>
            <a:spLocks noGrp="1" noChangeArrowheads="1"/>
          </p:cNvSpPr>
          <p:nvPr>
            <p:ph type="body" idx="1"/>
          </p:nvPr>
        </p:nvSpPr>
        <p:spPr>
          <a:xfrm>
            <a:off x="2857501" y="2057400"/>
            <a:ext cx="12215813" cy="6858000"/>
          </a:xfrm>
        </p:spPr>
        <p:txBody>
          <a:bodyPr/>
          <a:lstStyle/>
          <a:p>
            <a:pPr eaLnBrk="1" hangingPunct="1">
              <a:lnSpc>
                <a:spcPct val="80000"/>
              </a:lnSpc>
            </a:pPr>
            <a:r>
              <a:rPr lang="en-US" altLang="tr-TR" sz="3000" dirty="0"/>
              <a:t>Cryptographic Techniques</a:t>
            </a:r>
          </a:p>
          <a:p>
            <a:pPr lvl="1" eaLnBrk="1" hangingPunct="1">
              <a:lnSpc>
                <a:spcPct val="80000"/>
              </a:lnSpc>
            </a:pPr>
            <a:r>
              <a:rPr lang="en-US" altLang="tr-TR" dirty="0"/>
              <a:t>will see next</a:t>
            </a:r>
          </a:p>
          <a:p>
            <a:pPr eaLnBrk="1" hangingPunct="1">
              <a:lnSpc>
                <a:spcPct val="80000"/>
              </a:lnSpc>
            </a:pPr>
            <a:r>
              <a:rPr lang="en-US" altLang="tr-TR" sz="3000" dirty="0"/>
              <a:t>Software and hardware for access limitations</a:t>
            </a:r>
          </a:p>
          <a:p>
            <a:pPr lvl="1" eaLnBrk="1" hangingPunct="1">
              <a:lnSpc>
                <a:spcPct val="80000"/>
              </a:lnSpc>
            </a:pPr>
            <a:r>
              <a:rPr lang="en-US" altLang="tr-TR" dirty="0"/>
              <a:t>Firewalls</a:t>
            </a:r>
          </a:p>
          <a:p>
            <a:pPr eaLnBrk="1" hangingPunct="1">
              <a:lnSpc>
                <a:spcPct val="80000"/>
              </a:lnSpc>
            </a:pPr>
            <a:r>
              <a:rPr lang="en-US" altLang="tr-TR" sz="3000" dirty="0"/>
              <a:t>Intrusion Detection</a:t>
            </a:r>
            <a:r>
              <a:rPr lang="tr-TR" altLang="tr-TR" sz="3000" dirty="0"/>
              <a:t> and Prevention</a:t>
            </a:r>
            <a:r>
              <a:rPr lang="en-US" altLang="tr-TR" sz="3000" dirty="0"/>
              <a:t> Systems</a:t>
            </a:r>
          </a:p>
          <a:p>
            <a:pPr eaLnBrk="1" hangingPunct="1">
              <a:lnSpc>
                <a:spcPct val="80000"/>
              </a:lnSpc>
            </a:pPr>
            <a:r>
              <a:rPr lang="en-US" altLang="tr-TR" sz="3000" dirty="0"/>
              <a:t>Traffic Padding</a:t>
            </a:r>
          </a:p>
          <a:p>
            <a:pPr lvl="1" eaLnBrk="1" hangingPunct="1">
              <a:lnSpc>
                <a:spcPct val="80000"/>
              </a:lnSpc>
            </a:pPr>
            <a:r>
              <a:rPr lang="en-US" altLang="tr-TR" dirty="0"/>
              <a:t>against traffic analysis</a:t>
            </a:r>
          </a:p>
          <a:p>
            <a:pPr eaLnBrk="1" hangingPunct="1">
              <a:lnSpc>
                <a:spcPct val="80000"/>
              </a:lnSpc>
            </a:pPr>
            <a:r>
              <a:rPr lang="en-US" altLang="tr-TR" sz="3000" dirty="0"/>
              <a:t>Hardware</a:t>
            </a:r>
            <a:r>
              <a:rPr lang="en-US" altLang="tr-TR" sz="3000" b="1" dirty="0"/>
              <a:t> </a:t>
            </a:r>
            <a:r>
              <a:rPr lang="en-US" altLang="tr-TR" sz="3000" dirty="0"/>
              <a:t>for authentication</a:t>
            </a:r>
          </a:p>
          <a:p>
            <a:pPr lvl="1" eaLnBrk="1" hangingPunct="1">
              <a:lnSpc>
                <a:spcPct val="80000"/>
              </a:lnSpc>
            </a:pPr>
            <a:r>
              <a:rPr lang="en-US" altLang="tr-TR" dirty="0"/>
              <a:t>Smartcards</a:t>
            </a:r>
            <a:r>
              <a:rPr lang="tr-TR" altLang="tr-TR" dirty="0"/>
              <a:t>, security tokens</a:t>
            </a:r>
            <a:endParaRPr lang="en-US" altLang="tr-TR" dirty="0"/>
          </a:p>
          <a:p>
            <a:pPr eaLnBrk="1" hangingPunct="1">
              <a:lnSpc>
                <a:spcPct val="80000"/>
              </a:lnSpc>
            </a:pPr>
            <a:r>
              <a:rPr lang="en-US" altLang="tr-TR" sz="3000" dirty="0"/>
              <a:t>Security Policies / Access Control</a:t>
            </a:r>
          </a:p>
          <a:p>
            <a:pPr lvl="1" eaLnBrk="1" hangingPunct="1">
              <a:lnSpc>
                <a:spcPct val="80000"/>
              </a:lnSpc>
            </a:pPr>
            <a:r>
              <a:rPr lang="en-US" altLang="tr-TR" dirty="0"/>
              <a:t>define who has access to which resources.</a:t>
            </a:r>
          </a:p>
          <a:p>
            <a:pPr eaLnBrk="1" hangingPunct="1">
              <a:lnSpc>
                <a:spcPct val="80000"/>
              </a:lnSpc>
            </a:pPr>
            <a:r>
              <a:rPr lang="en-US" altLang="tr-TR" sz="3000" dirty="0"/>
              <a:t>Physical security</a:t>
            </a:r>
          </a:p>
          <a:p>
            <a:pPr lvl="1" eaLnBrk="1" hangingPunct="1">
              <a:lnSpc>
                <a:spcPct val="80000"/>
              </a:lnSpc>
            </a:pPr>
            <a:r>
              <a:rPr lang="en-US" altLang="tr-TR" dirty="0"/>
              <a:t>Keep it in a safe place with limited and authorized physical access</a:t>
            </a:r>
          </a:p>
        </p:txBody>
      </p:sp>
      <p:sp>
        <p:nvSpPr>
          <p:cNvPr id="7168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800">
                <a:solidFill>
                  <a:schemeClr val="tx1"/>
                </a:solidFill>
                <a:latin typeface="Arial" pitchFamily="34" charset="0"/>
              </a:defRPr>
            </a:lvl1pPr>
            <a:lvl2pPr>
              <a:defRPr sz="4200">
                <a:solidFill>
                  <a:schemeClr val="tx1"/>
                </a:solidFill>
                <a:latin typeface="Arial" pitchFamily="34" charset="0"/>
              </a:defRPr>
            </a:lvl2pPr>
            <a:lvl3pPr>
              <a:defRPr sz="3600">
                <a:solidFill>
                  <a:schemeClr val="tx1"/>
                </a:solidFill>
                <a:latin typeface="Arial" pitchFamily="34" charset="0"/>
              </a:defRPr>
            </a:lvl3pPr>
            <a:lvl4pPr>
              <a:defRPr sz="3000">
                <a:solidFill>
                  <a:schemeClr val="tx1"/>
                </a:solidFill>
                <a:latin typeface="Arial" pitchFamily="34" charset="0"/>
              </a:defRPr>
            </a:lvl4pPr>
            <a:lvl5pPr>
              <a:defRPr sz="3000">
                <a:solidFill>
                  <a:schemeClr val="tx1"/>
                </a:solidFill>
                <a:latin typeface="Arial" pitchFamily="34" charset="0"/>
              </a:defRPr>
            </a:lvl5pPr>
            <a:lvl6pPr eaLnBrk="0" hangingPunct="0">
              <a:defRPr sz="3000">
                <a:solidFill>
                  <a:schemeClr val="tx1"/>
                </a:solidFill>
                <a:latin typeface="Arial" pitchFamily="34" charset="0"/>
              </a:defRPr>
            </a:lvl6pPr>
            <a:lvl7pPr eaLnBrk="0" hangingPunct="0">
              <a:defRPr sz="3000">
                <a:solidFill>
                  <a:schemeClr val="tx1"/>
                </a:solidFill>
                <a:latin typeface="Arial" pitchFamily="34" charset="0"/>
              </a:defRPr>
            </a:lvl7pPr>
            <a:lvl8pPr eaLnBrk="0" hangingPunct="0">
              <a:defRPr sz="3000">
                <a:solidFill>
                  <a:schemeClr val="tx1"/>
                </a:solidFill>
                <a:latin typeface="Arial" pitchFamily="34" charset="0"/>
              </a:defRPr>
            </a:lvl8pPr>
            <a:lvl9pPr eaLnBrk="0" hangingPunct="0">
              <a:defRPr sz="3000">
                <a:solidFill>
                  <a:schemeClr val="tx1"/>
                </a:solidFill>
                <a:latin typeface="Arial" pitchFamily="34" charset="0"/>
              </a:defRPr>
            </a:lvl9pPr>
          </a:lstStyle>
          <a:p>
            <a:fld id="{22212A50-4CBD-4592-AD84-35725EDDA75D}" type="slidenum">
              <a:rPr lang="en-US" altLang="tr-TR" sz="2100"/>
              <a:pPr/>
              <a:t>144</a:t>
            </a:fld>
            <a:endParaRPr lang="en-US" altLang="tr-TR" sz="2100"/>
          </a:p>
        </p:txBody>
      </p:sp>
    </p:spTree>
    <p:extLst>
      <p:ext uri="{BB962C8B-B14F-4D97-AF65-F5344CB8AC3E}">
        <p14:creationId xmlns:p14="http://schemas.microsoft.com/office/powerpoint/2010/main" val="74515039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800">
                <a:solidFill>
                  <a:schemeClr val="tx1"/>
                </a:solidFill>
                <a:latin typeface="Arial" pitchFamily="34" charset="0"/>
              </a:defRPr>
            </a:lvl1pPr>
            <a:lvl2pPr>
              <a:defRPr sz="4200">
                <a:solidFill>
                  <a:schemeClr val="tx1"/>
                </a:solidFill>
                <a:latin typeface="Arial" pitchFamily="34" charset="0"/>
              </a:defRPr>
            </a:lvl2pPr>
            <a:lvl3pPr>
              <a:defRPr sz="3600">
                <a:solidFill>
                  <a:schemeClr val="tx1"/>
                </a:solidFill>
                <a:latin typeface="Arial" pitchFamily="34" charset="0"/>
              </a:defRPr>
            </a:lvl3pPr>
            <a:lvl4pPr>
              <a:defRPr sz="3000">
                <a:solidFill>
                  <a:schemeClr val="tx1"/>
                </a:solidFill>
                <a:latin typeface="Arial" pitchFamily="34" charset="0"/>
              </a:defRPr>
            </a:lvl4pPr>
            <a:lvl5pPr>
              <a:defRPr sz="3000">
                <a:solidFill>
                  <a:schemeClr val="tx1"/>
                </a:solidFill>
                <a:latin typeface="Arial" pitchFamily="34" charset="0"/>
              </a:defRPr>
            </a:lvl5pPr>
            <a:lvl6pPr eaLnBrk="0" hangingPunct="0">
              <a:defRPr sz="3000">
                <a:solidFill>
                  <a:schemeClr val="tx1"/>
                </a:solidFill>
                <a:latin typeface="Arial" pitchFamily="34" charset="0"/>
              </a:defRPr>
            </a:lvl6pPr>
            <a:lvl7pPr eaLnBrk="0" hangingPunct="0">
              <a:defRPr sz="3000">
                <a:solidFill>
                  <a:schemeClr val="tx1"/>
                </a:solidFill>
                <a:latin typeface="Arial" pitchFamily="34" charset="0"/>
              </a:defRPr>
            </a:lvl7pPr>
            <a:lvl8pPr eaLnBrk="0" hangingPunct="0">
              <a:defRPr sz="3000">
                <a:solidFill>
                  <a:schemeClr val="tx1"/>
                </a:solidFill>
                <a:latin typeface="Arial" pitchFamily="34" charset="0"/>
              </a:defRPr>
            </a:lvl8pPr>
            <a:lvl9pPr eaLnBrk="0" hangingPunct="0">
              <a:defRPr sz="3000">
                <a:solidFill>
                  <a:schemeClr val="tx1"/>
                </a:solidFill>
                <a:latin typeface="Arial" pitchFamily="34" charset="0"/>
              </a:defRPr>
            </a:lvl9pPr>
          </a:lstStyle>
          <a:p>
            <a:fld id="{1837515F-0751-480C-A686-2F935AF2896E}" type="slidenum">
              <a:rPr lang="en-US" altLang="tr-TR" sz="2100"/>
              <a:pPr/>
              <a:t>145</a:t>
            </a:fld>
            <a:endParaRPr lang="en-US" altLang="tr-TR" sz="2100"/>
          </a:p>
        </p:txBody>
      </p:sp>
      <p:sp>
        <p:nvSpPr>
          <p:cNvPr id="73731" name="Rectangle 2"/>
          <p:cNvSpPr>
            <a:spLocks noGrp="1" noChangeArrowheads="1"/>
          </p:cNvSpPr>
          <p:nvPr>
            <p:ph type="title"/>
          </p:nvPr>
        </p:nvSpPr>
        <p:spPr>
          <a:xfrm>
            <a:off x="2971800" y="685800"/>
            <a:ext cx="12775407" cy="1714500"/>
          </a:xfrm>
        </p:spPr>
        <p:txBody>
          <a:bodyPr/>
          <a:lstStyle/>
          <a:p>
            <a:pPr eaLnBrk="1" hangingPunct="1"/>
            <a:r>
              <a:rPr lang="en-US" altLang="tr-TR" dirty="0"/>
              <a:t>Cryptographic Security Mechanisms</a:t>
            </a:r>
          </a:p>
        </p:txBody>
      </p:sp>
      <p:sp>
        <p:nvSpPr>
          <p:cNvPr id="73732" name="Rectangle 3"/>
          <p:cNvSpPr>
            <a:spLocks noGrp="1" noChangeArrowheads="1"/>
          </p:cNvSpPr>
          <p:nvPr>
            <p:ph type="body" idx="1"/>
          </p:nvPr>
        </p:nvSpPr>
        <p:spPr>
          <a:xfrm>
            <a:off x="3200400" y="2286000"/>
            <a:ext cx="11658600" cy="6172200"/>
          </a:xfrm>
        </p:spPr>
        <p:txBody>
          <a:bodyPr/>
          <a:lstStyle/>
          <a:p>
            <a:pPr eaLnBrk="1" hangingPunct="1">
              <a:lnSpc>
                <a:spcPct val="90000"/>
              </a:lnSpc>
            </a:pPr>
            <a:endParaRPr lang="en-US" altLang="tr-TR" dirty="0"/>
          </a:p>
          <a:p>
            <a:pPr eaLnBrk="1" hangingPunct="1">
              <a:lnSpc>
                <a:spcPct val="90000"/>
              </a:lnSpc>
            </a:pPr>
            <a:r>
              <a:rPr lang="en-US" altLang="tr-TR" dirty="0"/>
              <a:t>Encryption (a.k.a. </a:t>
            </a:r>
            <a:r>
              <a:rPr lang="en-US" altLang="tr-TR" dirty="0" err="1"/>
              <a:t>Encipherment</a:t>
            </a:r>
            <a:r>
              <a:rPr lang="en-US" altLang="tr-TR" dirty="0"/>
              <a:t>)</a:t>
            </a:r>
          </a:p>
          <a:p>
            <a:pPr lvl="1" eaLnBrk="1" hangingPunct="1">
              <a:lnSpc>
                <a:spcPct val="90000"/>
              </a:lnSpc>
            </a:pPr>
            <a:r>
              <a:rPr lang="en-US" altLang="tr-TR" dirty="0"/>
              <a:t>use of mathematical algorithms to transform data into a form that is not readily intelligible</a:t>
            </a:r>
          </a:p>
          <a:p>
            <a:pPr lvl="2" eaLnBrk="1" hangingPunct="1">
              <a:lnSpc>
                <a:spcPct val="90000"/>
              </a:lnSpc>
            </a:pPr>
            <a:r>
              <a:rPr lang="en-US" altLang="tr-TR" dirty="0"/>
              <a:t>keys are involved</a:t>
            </a:r>
          </a:p>
          <a:p>
            <a:pPr eaLnBrk="1" hangingPunct="1">
              <a:lnSpc>
                <a:spcPct val="90000"/>
              </a:lnSpc>
            </a:pPr>
            <a:endParaRPr lang="en-US" altLang="tr-TR" dirty="0"/>
          </a:p>
        </p:txBody>
      </p:sp>
    </p:spTree>
    <p:extLst>
      <p:ext uri="{BB962C8B-B14F-4D97-AF65-F5344CB8AC3E}">
        <p14:creationId xmlns:p14="http://schemas.microsoft.com/office/powerpoint/2010/main" val="1213544640"/>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800">
                <a:solidFill>
                  <a:schemeClr val="tx1"/>
                </a:solidFill>
                <a:latin typeface="Arial" pitchFamily="34" charset="0"/>
              </a:defRPr>
            </a:lvl1pPr>
            <a:lvl2pPr>
              <a:defRPr sz="4200">
                <a:solidFill>
                  <a:schemeClr val="tx1"/>
                </a:solidFill>
                <a:latin typeface="Arial" pitchFamily="34" charset="0"/>
              </a:defRPr>
            </a:lvl2pPr>
            <a:lvl3pPr>
              <a:defRPr sz="3600">
                <a:solidFill>
                  <a:schemeClr val="tx1"/>
                </a:solidFill>
                <a:latin typeface="Arial" pitchFamily="34" charset="0"/>
              </a:defRPr>
            </a:lvl3pPr>
            <a:lvl4pPr>
              <a:defRPr sz="3000">
                <a:solidFill>
                  <a:schemeClr val="tx1"/>
                </a:solidFill>
                <a:latin typeface="Arial" pitchFamily="34" charset="0"/>
              </a:defRPr>
            </a:lvl4pPr>
            <a:lvl5pPr>
              <a:defRPr sz="3000">
                <a:solidFill>
                  <a:schemeClr val="tx1"/>
                </a:solidFill>
                <a:latin typeface="Arial" pitchFamily="34" charset="0"/>
              </a:defRPr>
            </a:lvl5pPr>
            <a:lvl6pPr eaLnBrk="0" hangingPunct="0">
              <a:defRPr sz="3000">
                <a:solidFill>
                  <a:schemeClr val="tx1"/>
                </a:solidFill>
                <a:latin typeface="Arial" pitchFamily="34" charset="0"/>
              </a:defRPr>
            </a:lvl6pPr>
            <a:lvl7pPr eaLnBrk="0" hangingPunct="0">
              <a:defRPr sz="3000">
                <a:solidFill>
                  <a:schemeClr val="tx1"/>
                </a:solidFill>
                <a:latin typeface="Arial" pitchFamily="34" charset="0"/>
              </a:defRPr>
            </a:lvl7pPr>
            <a:lvl8pPr eaLnBrk="0" hangingPunct="0">
              <a:defRPr sz="3000">
                <a:solidFill>
                  <a:schemeClr val="tx1"/>
                </a:solidFill>
                <a:latin typeface="Arial" pitchFamily="34" charset="0"/>
              </a:defRPr>
            </a:lvl8pPr>
            <a:lvl9pPr eaLnBrk="0" hangingPunct="0">
              <a:defRPr sz="3000">
                <a:solidFill>
                  <a:schemeClr val="tx1"/>
                </a:solidFill>
                <a:latin typeface="Arial" pitchFamily="34" charset="0"/>
              </a:defRPr>
            </a:lvl9pPr>
          </a:lstStyle>
          <a:p>
            <a:fld id="{B9875E16-616D-43A0-92D3-79B6E47A6E9A}" type="slidenum">
              <a:rPr lang="en-US" altLang="tr-TR" sz="2100"/>
              <a:pPr/>
              <a:t>146</a:t>
            </a:fld>
            <a:endParaRPr lang="en-US" altLang="tr-TR" sz="2100"/>
          </a:p>
        </p:txBody>
      </p:sp>
      <p:sp>
        <p:nvSpPr>
          <p:cNvPr id="75779" name="Rectangle 1026"/>
          <p:cNvSpPr>
            <a:spLocks noGrp="1" noChangeArrowheads="1"/>
          </p:cNvSpPr>
          <p:nvPr>
            <p:ph type="title"/>
          </p:nvPr>
        </p:nvSpPr>
        <p:spPr>
          <a:xfrm>
            <a:off x="3036095" y="571500"/>
            <a:ext cx="12644438" cy="1485900"/>
          </a:xfrm>
        </p:spPr>
        <p:txBody>
          <a:bodyPr/>
          <a:lstStyle/>
          <a:p>
            <a:pPr eaLnBrk="1" hangingPunct="1"/>
            <a:r>
              <a:rPr lang="en-US" altLang="tr-TR"/>
              <a:t>Cryptographic Security Mechanisms</a:t>
            </a:r>
          </a:p>
        </p:txBody>
      </p:sp>
      <p:sp>
        <p:nvSpPr>
          <p:cNvPr id="75780" name="Rectangle 1027"/>
          <p:cNvSpPr>
            <a:spLocks noGrp="1" noChangeArrowheads="1"/>
          </p:cNvSpPr>
          <p:nvPr>
            <p:ph type="body" idx="1"/>
          </p:nvPr>
        </p:nvSpPr>
        <p:spPr>
          <a:xfrm>
            <a:off x="2857500" y="1943100"/>
            <a:ext cx="12687300" cy="7315200"/>
          </a:xfrm>
        </p:spPr>
        <p:txBody>
          <a:bodyPr/>
          <a:lstStyle/>
          <a:p>
            <a:pPr eaLnBrk="1" hangingPunct="1">
              <a:lnSpc>
                <a:spcPct val="90000"/>
              </a:lnSpc>
            </a:pPr>
            <a:r>
              <a:rPr lang="en-US" altLang="tr-TR" sz="4200" dirty="0"/>
              <a:t>Message Digest</a:t>
            </a:r>
          </a:p>
          <a:p>
            <a:pPr lvl="1" eaLnBrk="1" hangingPunct="1">
              <a:lnSpc>
                <a:spcPct val="90000"/>
              </a:lnSpc>
            </a:pPr>
            <a:r>
              <a:rPr lang="en-US" altLang="tr-TR" sz="3600" dirty="0"/>
              <a:t>similar to encryption, but one-way (recovery not possible)</a:t>
            </a:r>
          </a:p>
          <a:p>
            <a:pPr lvl="1" eaLnBrk="1" hangingPunct="1">
              <a:lnSpc>
                <a:spcPct val="90000"/>
              </a:lnSpc>
            </a:pPr>
            <a:r>
              <a:rPr lang="en-US" altLang="tr-TR" sz="3600" dirty="0"/>
              <a:t>generally no keys are used</a:t>
            </a:r>
          </a:p>
          <a:p>
            <a:pPr eaLnBrk="1" hangingPunct="1">
              <a:lnSpc>
                <a:spcPct val="90000"/>
              </a:lnSpc>
            </a:pPr>
            <a:r>
              <a:rPr lang="en-US" altLang="tr-TR" sz="4200" dirty="0"/>
              <a:t>Digital Signatures and Message Authentication Codes</a:t>
            </a:r>
          </a:p>
          <a:p>
            <a:pPr lvl="1" eaLnBrk="1" hangingPunct="1">
              <a:lnSpc>
                <a:spcPct val="90000"/>
              </a:lnSpc>
            </a:pPr>
            <a:r>
              <a:rPr lang="en-US" altLang="tr-TR" sz="3600" dirty="0"/>
              <a:t>Data appended to, or a cryptographic transformation of, a data unit to prove the source and the integrity of the data</a:t>
            </a:r>
          </a:p>
          <a:p>
            <a:pPr eaLnBrk="1" hangingPunct="1">
              <a:lnSpc>
                <a:spcPct val="90000"/>
              </a:lnSpc>
            </a:pPr>
            <a:r>
              <a:rPr lang="en-US" altLang="tr-TR" sz="4200" dirty="0"/>
              <a:t>Authentication Exchange</a:t>
            </a:r>
          </a:p>
          <a:p>
            <a:pPr lvl="1" eaLnBrk="1" hangingPunct="1">
              <a:lnSpc>
                <a:spcPct val="90000"/>
              </a:lnSpc>
            </a:pPr>
            <a:r>
              <a:rPr lang="en-US" altLang="tr-TR" sz="3600" dirty="0"/>
              <a:t>ensure the identity of an entity by exchanging some information</a:t>
            </a:r>
          </a:p>
        </p:txBody>
      </p:sp>
    </p:spTree>
    <p:extLst>
      <p:ext uri="{BB962C8B-B14F-4D97-AF65-F5344CB8AC3E}">
        <p14:creationId xmlns:p14="http://schemas.microsoft.com/office/powerpoint/2010/main" val="2237560023"/>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800">
                <a:solidFill>
                  <a:schemeClr val="tx1"/>
                </a:solidFill>
                <a:latin typeface="Arial" pitchFamily="34" charset="0"/>
              </a:defRPr>
            </a:lvl1pPr>
            <a:lvl2pPr>
              <a:defRPr sz="4200">
                <a:solidFill>
                  <a:schemeClr val="tx1"/>
                </a:solidFill>
                <a:latin typeface="Arial" pitchFamily="34" charset="0"/>
              </a:defRPr>
            </a:lvl2pPr>
            <a:lvl3pPr>
              <a:defRPr sz="3600">
                <a:solidFill>
                  <a:schemeClr val="tx1"/>
                </a:solidFill>
                <a:latin typeface="Arial" pitchFamily="34" charset="0"/>
              </a:defRPr>
            </a:lvl3pPr>
            <a:lvl4pPr>
              <a:defRPr sz="3000">
                <a:solidFill>
                  <a:schemeClr val="tx1"/>
                </a:solidFill>
                <a:latin typeface="Arial" pitchFamily="34" charset="0"/>
              </a:defRPr>
            </a:lvl4pPr>
            <a:lvl5pPr>
              <a:defRPr sz="3000">
                <a:solidFill>
                  <a:schemeClr val="tx1"/>
                </a:solidFill>
                <a:latin typeface="Arial" pitchFamily="34" charset="0"/>
              </a:defRPr>
            </a:lvl5pPr>
            <a:lvl6pPr eaLnBrk="0" hangingPunct="0">
              <a:defRPr sz="3000">
                <a:solidFill>
                  <a:schemeClr val="tx1"/>
                </a:solidFill>
                <a:latin typeface="Arial" pitchFamily="34" charset="0"/>
              </a:defRPr>
            </a:lvl6pPr>
            <a:lvl7pPr eaLnBrk="0" hangingPunct="0">
              <a:defRPr sz="3000">
                <a:solidFill>
                  <a:schemeClr val="tx1"/>
                </a:solidFill>
                <a:latin typeface="Arial" pitchFamily="34" charset="0"/>
              </a:defRPr>
            </a:lvl7pPr>
            <a:lvl8pPr eaLnBrk="0" hangingPunct="0">
              <a:defRPr sz="3000">
                <a:solidFill>
                  <a:schemeClr val="tx1"/>
                </a:solidFill>
                <a:latin typeface="Arial" pitchFamily="34" charset="0"/>
              </a:defRPr>
            </a:lvl8pPr>
            <a:lvl9pPr eaLnBrk="0" hangingPunct="0">
              <a:defRPr sz="3000">
                <a:solidFill>
                  <a:schemeClr val="tx1"/>
                </a:solidFill>
                <a:latin typeface="Arial" pitchFamily="34" charset="0"/>
              </a:defRPr>
            </a:lvl9pPr>
          </a:lstStyle>
          <a:p>
            <a:fld id="{19C8C32C-6892-4DCB-81CD-7593D68E3C84}" type="slidenum">
              <a:rPr lang="en-US" altLang="tr-TR" sz="2100"/>
              <a:pPr/>
              <a:t>147</a:t>
            </a:fld>
            <a:endParaRPr lang="en-US" altLang="tr-TR" sz="2100"/>
          </a:p>
        </p:txBody>
      </p:sp>
      <p:sp>
        <p:nvSpPr>
          <p:cNvPr id="77827" name="Rectangle 2"/>
          <p:cNvSpPr>
            <a:spLocks noGrp="1" noChangeArrowheads="1"/>
          </p:cNvSpPr>
          <p:nvPr>
            <p:ph type="title"/>
          </p:nvPr>
        </p:nvSpPr>
        <p:spPr>
          <a:xfrm>
            <a:off x="2743200" y="457200"/>
            <a:ext cx="12344400" cy="1714500"/>
          </a:xfrm>
        </p:spPr>
        <p:txBody>
          <a:bodyPr/>
          <a:lstStyle/>
          <a:p>
            <a:pPr eaLnBrk="1" hangingPunct="1"/>
            <a:r>
              <a:rPr lang="en-US" altLang="tr-TR" dirty="0"/>
              <a:t>Security Mechanisms</a:t>
            </a:r>
          </a:p>
        </p:txBody>
      </p:sp>
      <p:sp>
        <p:nvSpPr>
          <p:cNvPr id="77828" name="Rectangle 3"/>
          <p:cNvSpPr>
            <a:spLocks noGrp="1" noChangeArrowheads="1"/>
          </p:cNvSpPr>
          <p:nvPr>
            <p:ph type="body" idx="1"/>
          </p:nvPr>
        </p:nvSpPr>
        <p:spPr>
          <a:xfrm>
            <a:off x="3200400" y="2514600"/>
            <a:ext cx="11658600" cy="6172200"/>
          </a:xfrm>
        </p:spPr>
        <p:txBody>
          <a:bodyPr/>
          <a:lstStyle/>
          <a:p>
            <a:pPr eaLnBrk="1" hangingPunct="1"/>
            <a:r>
              <a:rPr lang="en-US" altLang="tr-TR" sz="4200" dirty="0"/>
              <a:t>Notarization</a:t>
            </a:r>
          </a:p>
          <a:p>
            <a:pPr lvl="1" eaLnBrk="1" hangingPunct="1"/>
            <a:r>
              <a:rPr lang="en-US" altLang="tr-TR" sz="3600" dirty="0"/>
              <a:t>use of a trusted third party to assure certain properties of a data exchange</a:t>
            </a:r>
          </a:p>
          <a:p>
            <a:pPr eaLnBrk="1" hangingPunct="1"/>
            <a:r>
              <a:rPr lang="en-US" altLang="tr-TR" sz="4200" dirty="0" err="1"/>
              <a:t>Timestamping</a:t>
            </a:r>
            <a:endParaRPr lang="en-US" altLang="tr-TR" sz="4200" dirty="0"/>
          </a:p>
          <a:p>
            <a:pPr lvl="1" eaLnBrk="1" hangingPunct="1"/>
            <a:r>
              <a:rPr lang="en-US" altLang="tr-TR" sz="3600" dirty="0"/>
              <a:t>inclusion of correct date and time within messages</a:t>
            </a:r>
          </a:p>
        </p:txBody>
      </p:sp>
    </p:spTree>
    <p:extLst>
      <p:ext uri="{BB962C8B-B14F-4D97-AF65-F5344CB8AC3E}">
        <p14:creationId xmlns:p14="http://schemas.microsoft.com/office/powerpoint/2010/main" val="358098618"/>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0" y="228600"/>
            <a:ext cx="11375232" cy="1257300"/>
          </a:xfrm>
        </p:spPr>
        <p:txBody>
          <a:bodyPr/>
          <a:lstStyle/>
          <a:p>
            <a:pPr>
              <a:defRPr/>
            </a:pPr>
            <a:r>
              <a:rPr lang="en-US" sz="4800" dirty="0"/>
              <a:t>Security Mechanisms (X.800)</a:t>
            </a:r>
          </a:p>
        </p:txBody>
      </p:sp>
      <p:sp>
        <p:nvSpPr>
          <p:cNvPr id="4" name="Rectangle 3"/>
          <p:cNvSpPr txBox="1">
            <a:spLocks noChangeArrowheads="1"/>
          </p:cNvSpPr>
          <p:nvPr/>
        </p:nvSpPr>
        <p:spPr>
          <a:xfrm>
            <a:off x="3200400" y="1828800"/>
            <a:ext cx="11430000" cy="7315200"/>
          </a:xfrm>
          <a:prstGeom prst="rect">
            <a:avLst/>
          </a:prstGeom>
        </p:spPr>
        <p:txBody>
          <a:bodyPr/>
          <a:lstStyle/>
          <a:p>
            <a:pPr marL="423863" indent="-423863" eaLnBrk="0" hangingPunct="0">
              <a:spcBef>
                <a:spcPts val="3000"/>
              </a:spcBef>
              <a:buFont typeface="Calisto MT" pitchFamily="18" charset="0"/>
              <a:buChar char="•"/>
              <a:defRPr/>
            </a:pPr>
            <a:r>
              <a:rPr lang="en-AU" sz="3600" dirty="0"/>
              <a:t>Specific security mechanisms: </a:t>
            </a:r>
            <a:r>
              <a:rPr lang="en-CA" sz="3600" dirty="0"/>
              <a:t>incorporated into the appropriate protocol layer in order to provide some of the OSI security services</a:t>
            </a:r>
          </a:p>
          <a:p>
            <a:pPr marL="866775" lvl="1" indent="-442913" eaLnBrk="0" hangingPunct="0">
              <a:spcBef>
                <a:spcPts val="900"/>
              </a:spcBef>
              <a:buClr>
                <a:srgbClr val="858585"/>
              </a:buClr>
              <a:buFont typeface="Calisto MT" pitchFamily="18" charset="0"/>
              <a:buChar char="•"/>
              <a:defRPr/>
            </a:pPr>
            <a:r>
              <a:rPr lang="en-US" sz="3300" dirty="0" err="1"/>
              <a:t>Encipherment</a:t>
            </a:r>
            <a:endParaRPr lang="en-US" sz="3300" dirty="0"/>
          </a:p>
          <a:p>
            <a:pPr marL="866775" lvl="1" indent="-442913" eaLnBrk="0" hangingPunct="0">
              <a:spcBef>
                <a:spcPts val="900"/>
              </a:spcBef>
              <a:buClr>
                <a:srgbClr val="858585"/>
              </a:buClr>
              <a:buFont typeface="Calisto MT" pitchFamily="18" charset="0"/>
              <a:buChar char="•"/>
              <a:defRPr/>
            </a:pPr>
            <a:r>
              <a:rPr lang="en-US" sz="3300" dirty="0"/>
              <a:t>digital signatures</a:t>
            </a:r>
          </a:p>
          <a:p>
            <a:pPr marL="866775" lvl="1" indent="-442913" eaLnBrk="0" hangingPunct="0">
              <a:spcBef>
                <a:spcPts val="900"/>
              </a:spcBef>
              <a:buClr>
                <a:srgbClr val="858585"/>
              </a:buClr>
              <a:buFont typeface="Calisto MT" pitchFamily="18" charset="0"/>
              <a:buChar char="•"/>
              <a:defRPr/>
            </a:pPr>
            <a:r>
              <a:rPr lang="en-US" sz="3300" dirty="0"/>
              <a:t>access controls</a:t>
            </a:r>
          </a:p>
          <a:p>
            <a:pPr marL="866775" lvl="1" indent="-442913" eaLnBrk="0" hangingPunct="0">
              <a:spcBef>
                <a:spcPts val="900"/>
              </a:spcBef>
              <a:buClr>
                <a:srgbClr val="858585"/>
              </a:buClr>
              <a:buFont typeface="Calisto MT" pitchFamily="18" charset="0"/>
              <a:buChar char="•"/>
              <a:defRPr/>
            </a:pPr>
            <a:r>
              <a:rPr lang="en-US" sz="3300" dirty="0"/>
              <a:t>data integrity</a:t>
            </a:r>
          </a:p>
          <a:p>
            <a:pPr marL="866775" lvl="1" indent="-442913" eaLnBrk="0" hangingPunct="0">
              <a:spcBef>
                <a:spcPts val="900"/>
              </a:spcBef>
              <a:buClr>
                <a:srgbClr val="858585"/>
              </a:buClr>
              <a:buFont typeface="Calisto MT" pitchFamily="18" charset="0"/>
              <a:buChar char="•"/>
              <a:defRPr/>
            </a:pPr>
            <a:r>
              <a:rPr lang="en-US" sz="3300" dirty="0"/>
              <a:t>authentication exchange</a:t>
            </a:r>
          </a:p>
          <a:p>
            <a:pPr marL="866775" lvl="1" indent="-442913" eaLnBrk="0" hangingPunct="0">
              <a:spcBef>
                <a:spcPts val="900"/>
              </a:spcBef>
              <a:buClr>
                <a:srgbClr val="858585"/>
              </a:buClr>
              <a:buFont typeface="Calisto MT" pitchFamily="18" charset="0"/>
              <a:buChar char="•"/>
              <a:defRPr/>
            </a:pPr>
            <a:r>
              <a:rPr lang="en-US" sz="3300" dirty="0"/>
              <a:t>traffic padding</a:t>
            </a:r>
          </a:p>
          <a:p>
            <a:pPr marL="866775" lvl="1" indent="-442913" eaLnBrk="0" hangingPunct="0">
              <a:spcBef>
                <a:spcPts val="900"/>
              </a:spcBef>
              <a:buClr>
                <a:srgbClr val="858585"/>
              </a:buClr>
              <a:buFont typeface="Calisto MT" pitchFamily="18" charset="0"/>
              <a:buChar char="•"/>
              <a:defRPr/>
            </a:pPr>
            <a:r>
              <a:rPr lang="en-US" sz="3300" dirty="0"/>
              <a:t>routing control</a:t>
            </a:r>
          </a:p>
          <a:p>
            <a:pPr marL="866775" lvl="1" indent="-442913" eaLnBrk="0" hangingPunct="0">
              <a:spcBef>
                <a:spcPts val="900"/>
              </a:spcBef>
              <a:buClr>
                <a:srgbClr val="858585"/>
              </a:buClr>
              <a:buFont typeface="Calisto MT" pitchFamily="18" charset="0"/>
              <a:buChar char="•"/>
              <a:defRPr/>
            </a:pPr>
            <a:r>
              <a:rPr lang="en-US" sz="3300" dirty="0"/>
              <a:t>notarization</a:t>
            </a:r>
            <a:endParaRPr lang="en-AU" sz="3300" dirty="0"/>
          </a:p>
          <a:p>
            <a:pPr marL="423863" indent="-423863">
              <a:lnSpc>
                <a:spcPct val="90000"/>
              </a:lnSpc>
              <a:spcBef>
                <a:spcPts val="3000"/>
              </a:spcBef>
              <a:defRPr/>
            </a:pPr>
            <a:endParaRPr lang="en-AU" sz="3000" dirty="0">
              <a:effectLst>
                <a:outerShdw blurRad="38100" dist="38100" dir="2700000" algn="tl">
                  <a:srgbClr val="000000">
                    <a:alpha val="43137"/>
                  </a:srgbClr>
                </a:outerShdw>
              </a:effectLst>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0" y="228600"/>
            <a:ext cx="11375232" cy="1162050"/>
          </a:xfrm>
        </p:spPr>
        <p:txBody>
          <a:bodyPr/>
          <a:lstStyle/>
          <a:p>
            <a:pPr>
              <a:defRPr/>
            </a:pPr>
            <a:endParaRPr lang="en-US"/>
          </a:p>
        </p:txBody>
      </p:sp>
      <p:pic>
        <p:nvPicPr>
          <p:cNvPr id="62467" name="Picture 12"/>
          <p:cNvPicPr>
            <a:picLocks noChangeAspect="1" noChangeArrowheads="1"/>
          </p:cNvPicPr>
          <p:nvPr/>
        </p:nvPicPr>
        <p:blipFill>
          <a:blip r:embed="rId2"/>
          <a:srcRect/>
          <a:stretch>
            <a:fillRect/>
          </a:stretch>
        </p:blipFill>
        <p:spPr bwMode="auto">
          <a:xfrm>
            <a:off x="4457701" y="1600201"/>
            <a:ext cx="8008145" cy="8158163"/>
          </a:xfrm>
          <a:prstGeom prst="rect">
            <a:avLst/>
          </a:prstGeom>
          <a:noFill/>
          <a:ln w="9525">
            <a:noFill/>
            <a:miter lim="800000"/>
            <a:headEnd/>
            <a:tailEnd/>
          </a:ln>
        </p:spPr>
      </p:pic>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0" name="Picture 4"/>
          <p:cNvPicPr>
            <a:picLocks noChangeAspect="1"/>
          </p:cNvPicPr>
          <p:nvPr/>
        </p:nvPicPr>
        <p:blipFill>
          <a:blip r:embed="rId3" cstate="print"/>
          <a:srcRect t="-1222" b="1222"/>
          <a:stretch>
            <a:fillRect/>
          </a:stretch>
        </p:blipFill>
        <p:spPr bwMode="auto">
          <a:xfrm>
            <a:off x="2286001" y="-200025"/>
            <a:ext cx="8529638" cy="10487025"/>
          </a:xfrm>
          <a:prstGeom prst="rect">
            <a:avLst/>
          </a:prstGeom>
          <a:noFill/>
          <a:ln w="9525">
            <a:noFill/>
            <a:miter lim="800000"/>
            <a:headEnd/>
            <a:tailEnd/>
          </a:ln>
        </p:spPr>
      </p:pic>
      <p:sp>
        <p:nvSpPr>
          <p:cNvPr id="7" name="Rectangle 6"/>
          <p:cNvSpPr/>
          <p:nvPr/>
        </p:nvSpPr>
        <p:spPr>
          <a:xfrm>
            <a:off x="11087100" y="1485901"/>
            <a:ext cx="4686300" cy="6093976"/>
          </a:xfrm>
          <a:prstGeom prst="rect">
            <a:avLst/>
          </a:prstGeom>
        </p:spPr>
        <p:txBody>
          <a:bodyPr>
            <a:spAutoFit/>
          </a:bodyPr>
          <a:lstStyle/>
          <a:p>
            <a:pPr algn="ctr">
              <a:defRPr/>
            </a:pPr>
            <a:r>
              <a:rPr lang="en-US" sz="6000" dirty="0">
                <a:solidFill>
                  <a:schemeClr val="tx2"/>
                </a:solidFill>
                <a:ea typeface="ＭＳ Ｐゴシック" pitchFamily="-1" charset="-128"/>
                <a:cs typeface="ＭＳ Ｐゴシック" pitchFamily="-1" charset="-128"/>
              </a:rPr>
              <a:t>   </a:t>
            </a:r>
          </a:p>
          <a:p>
            <a:pPr algn="ctr">
              <a:defRPr/>
            </a:pPr>
            <a:r>
              <a:rPr lang="en-US" sz="5400" dirty="0">
                <a:solidFill>
                  <a:schemeClr val="tx2"/>
                </a:solidFill>
                <a:ea typeface="ＭＳ Ｐゴシック" pitchFamily="-1" charset="-128"/>
                <a:cs typeface="ＭＳ Ｐゴシック" pitchFamily="-1" charset="-128"/>
              </a:rPr>
              <a:t>Security Mechanisms </a:t>
            </a:r>
          </a:p>
          <a:p>
            <a:pPr algn="ctr">
              <a:defRPr/>
            </a:pPr>
            <a:r>
              <a:rPr lang="en-US" sz="5400" dirty="0">
                <a:solidFill>
                  <a:schemeClr val="tx2"/>
                </a:solidFill>
                <a:ea typeface="ＭＳ Ｐゴシック" pitchFamily="-1" charset="-128"/>
                <a:cs typeface="ＭＳ Ｐゴシック" pitchFamily="-1" charset="-128"/>
              </a:rPr>
              <a:t>(X.800) </a:t>
            </a:r>
          </a:p>
          <a:p>
            <a:pPr algn="ctr">
              <a:defRPr/>
            </a:pPr>
            <a:endParaRPr lang="en-US" sz="5400" dirty="0">
              <a:solidFill>
                <a:schemeClr val="tx2"/>
              </a:solidFill>
              <a:ea typeface="ＭＳ Ｐゴシック" pitchFamily="-1" charset="-128"/>
              <a:cs typeface="ＭＳ Ｐゴシック" pitchFamily="-1" charset="-128"/>
            </a:endParaRPr>
          </a:p>
          <a:p>
            <a:pPr algn="ctr">
              <a:defRPr/>
            </a:pPr>
            <a:endParaRPr lang="en-US" sz="5400" dirty="0">
              <a:solidFill>
                <a:schemeClr val="tx2"/>
              </a:solidFill>
              <a:ea typeface="ＭＳ Ｐゴシック" pitchFamily="-1" charset="-128"/>
              <a:cs typeface="ＭＳ Ｐゴシック" pitchFamily="-1" charset="-128"/>
            </a:endParaRPr>
          </a:p>
          <a:p>
            <a:pPr algn="ctr">
              <a:defRPr/>
            </a:pPr>
            <a:endParaRPr lang="en-US" sz="3000" dirty="0">
              <a:solidFill>
                <a:schemeClr val="tx2"/>
              </a:solidFill>
              <a:ea typeface="ＭＳ Ｐゴシック" pitchFamily="-1" charset="-128"/>
              <a:cs typeface="ＭＳ Ｐゴシック" pitchFamily="-1" charset="-128"/>
            </a:endParaRPr>
          </a:p>
          <a:p>
            <a:pPr algn="ctr">
              <a:defRPr/>
            </a:pPr>
            <a:endParaRPr lang="en-US" sz="3000" dirty="0">
              <a:solidFill>
                <a:schemeClr val="tx2"/>
              </a:solidFill>
              <a:ea typeface="ＭＳ Ｐゴシック" pitchFamily="-1" charset="-128"/>
              <a:cs typeface="ＭＳ Ｐゴシック" pitchFamily="-1" charset="-128"/>
            </a:endParaRPr>
          </a:p>
        </p:txBody>
      </p:sp>
    </p:spTree>
  </p:cSld>
  <p:clrMapOvr>
    <a:masterClrMapping/>
  </p:clrMapOvr>
  <p:transition spd="med">
    <p:wipe/>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0" y="228600"/>
            <a:ext cx="11375232" cy="1619250"/>
          </a:xfrm>
        </p:spPr>
        <p:txBody>
          <a:bodyPr/>
          <a:lstStyle/>
          <a:p>
            <a:pPr>
              <a:defRPr/>
            </a:pPr>
            <a:r>
              <a:rPr lang="en-CA" sz="3000" dirty="0"/>
              <a:t>Relationship Between Security Services and Mechanisms</a:t>
            </a:r>
            <a:endParaRPr lang="en-US" sz="3000" dirty="0"/>
          </a:p>
        </p:txBody>
      </p:sp>
      <p:pic>
        <p:nvPicPr>
          <p:cNvPr id="64515" name="Picture 2"/>
          <p:cNvPicPr>
            <a:picLocks noChangeAspect="1" noChangeArrowheads="1"/>
          </p:cNvPicPr>
          <p:nvPr/>
        </p:nvPicPr>
        <p:blipFill>
          <a:blip r:embed="rId2"/>
          <a:srcRect/>
          <a:stretch>
            <a:fillRect/>
          </a:stretch>
        </p:blipFill>
        <p:spPr bwMode="auto">
          <a:xfrm>
            <a:off x="2628900" y="2514600"/>
            <a:ext cx="12899232" cy="5143500"/>
          </a:xfrm>
          <a:prstGeom prst="rect">
            <a:avLst/>
          </a:prstGeom>
          <a:noFill/>
          <a:ln w="9525">
            <a:noFill/>
            <a:miter lim="800000"/>
            <a:headEnd/>
            <a:tailEnd/>
          </a:ln>
        </p:spPr>
      </p:pic>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0" y="228600"/>
            <a:ext cx="11375232" cy="1162050"/>
          </a:xfrm>
        </p:spPr>
        <p:txBody>
          <a:bodyPr/>
          <a:lstStyle/>
          <a:p>
            <a:pPr>
              <a:defRPr/>
            </a:pPr>
            <a:r>
              <a:rPr lang="en-CA" dirty="0"/>
              <a:t>Relationship Between Security Services and Mechanisms</a:t>
            </a:r>
            <a:endParaRPr lang="en-US" dirty="0"/>
          </a:p>
        </p:txBody>
      </p:sp>
      <p:pic>
        <p:nvPicPr>
          <p:cNvPr id="65539" name="Picture 12"/>
          <p:cNvPicPr>
            <a:picLocks noChangeAspect="1" noChangeArrowheads="1"/>
          </p:cNvPicPr>
          <p:nvPr/>
        </p:nvPicPr>
        <p:blipFill>
          <a:blip r:embed="rId2"/>
          <a:srcRect/>
          <a:stretch>
            <a:fillRect/>
          </a:stretch>
        </p:blipFill>
        <p:spPr bwMode="auto">
          <a:xfrm>
            <a:off x="2628900" y="3314701"/>
            <a:ext cx="13080207" cy="3500438"/>
          </a:xfrm>
          <a:prstGeom prst="rect">
            <a:avLst/>
          </a:prstGeom>
          <a:noFill/>
          <a:ln w="9525">
            <a:noFill/>
            <a:miter lim="800000"/>
            <a:headEnd/>
            <a:tailEnd/>
          </a:ln>
        </p:spPr>
      </p:pic>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800">
                <a:solidFill>
                  <a:schemeClr val="tx1"/>
                </a:solidFill>
                <a:latin typeface="Arial" pitchFamily="34" charset="0"/>
              </a:defRPr>
            </a:lvl1pPr>
            <a:lvl2pPr>
              <a:defRPr sz="4200">
                <a:solidFill>
                  <a:schemeClr val="tx1"/>
                </a:solidFill>
                <a:latin typeface="Arial" pitchFamily="34" charset="0"/>
              </a:defRPr>
            </a:lvl2pPr>
            <a:lvl3pPr>
              <a:defRPr sz="3600">
                <a:solidFill>
                  <a:schemeClr val="tx1"/>
                </a:solidFill>
                <a:latin typeface="Arial" pitchFamily="34" charset="0"/>
              </a:defRPr>
            </a:lvl3pPr>
            <a:lvl4pPr>
              <a:defRPr sz="3000">
                <a:solidFill>
                  <a:schemeClr val="tx1"/>
                </a:solidFill>
                <a:latin typeface="Arial" pitchFamily="34" charset="0"/>
              </a:defRPr>
            </a:lvl4pPr>
            <a:lvl5pPr>
              <a:defRPr sz="3000">
                <a:solidFill>
                  <a:schemeClr val="tx1"/>
                </a:solidFill>
                <a:latin typeface="Arial" pitchFamily="34" charset="0"/>
              </a:defRPr>
            </a:lvl5pPr>
            <a:lvl6pPr eaLnBrk="0" hangingPunct="0">
              <a:defRPr sz="3000">
                <a:solidFill>
                  <a:schemeClr val="tx1"/>
                </a:solidFill>
                <a:latin typeface="Arial" pitchFamily="34" charset="0"/>
              </a:defRPr>
            </a:lvl6pPr>
            <a:lvl7pPr eaLnBrk="0" hangingPunct="0">
              <a:defRPr sz="3000">
                <a:solidFill>
                  <a:schemeClr val="tx1"/>
                </a:solidFill>
                <a:latin typeface="Arial" pitchFamily="34" charset="0"/>
              </a:defRPr>
            </a:lvl7pPr>
            <a:lvl8pPr eaLnBrk="0" hangingPunct="0">
              <a:defRPr sz="3000">
                <a:solidFill>
                  <a:schemeClr val="tx1"/>
                </a:solidFill>
                <a:latin typeface="Arial" pitchFamily="34" charset="0"/>
              </a:defRPr>
            </a:lvl8pPr>
            <a:lvl9pPr eaLnBrk="0" hangingPunct="0">
              <a:defRPr sz="3000">
                <a:solidFill>
                  <a:schemeClr val="tx1"/>
                </a:solidFill>
                <a:latin typeface="Arial" pitchFamily="34" charset="0"/>
              </a:defRPr>
            </a:lvl9pPr>
          </a:lstStyle>
          <a:p>
            <a:fld id="{ECACC184-E5B1-452D-828B-45C6BF9DC4D3}" type="slidenum">
              <a:rPr lang="en-US" altLang="tr-TR" sz="2100"/>
              <a:pPr/>
              <a:t>153</a:t>
            </a:fld>
            <a:endParaRPr lang="en-US" altLang="tr-TR" sz="2100" dirty="0"/>
          </a:p>
        </p:txBody>
      </p:sp>
      <p:sp>
        <p:nvSpPr>
          <p:cNvPr id="79875" name="Rectangle 2"/>
          <p:cNvSpPr>
            <a:spLocks noGrp="1" noChangeArrowheads="1"/>
          </p:cNvSpPr>
          <p:nvPr>
            <p:ph type="title"/>
          </p:nvPr>
        </p:nvSpPr>
        <p:spPr/>
        <p:txBody>
          <a:bodyPr/>
          <a:lstStyle/>
          <a:p>
            <a:r>
              <a:rPr lang="en-US" dirty="0"/>
              <a:t>Cryptography</a:t>
            </a:r>
            <a:endParaRPr lang="en-US" altLang="tr-TR" dirty="0"/>
          </a:p>
        </p:txBody>
      </p:sp>
      <p:sp>
        <p:nvSpPr>
          <p:cNvPr id="79876" name="Rectangle 3"/>
          <p:cNvSpPr>
            <a:spLocks noGrp="1" noChangeArrowheads="1"/>
          </p:cNvSpPr>
          <p:nvPr>
            <p:ph type="body" idx="1"/>
          </p:nvPr>
        </p:nvSpPr>
        <p:spPr>
          <a:xfrm>
            <a:off x="1371600" y="2019300"/>
            <a:ext cx="15240000" cy="7391400"/>
          </a:xfrm>
        </p:spPr>
        <p:txBody>
          <a:bodyPr/>
          <a:lstStyle/>
          <a:p>
            <a:pPr>
              <a:buFont typeface="Wingdings" panose="05000000000000000000" pitchFamily="2" charset="2"/>
              <a:buChar char="§"/>
            </a:pPr>
            <a:r>
              <a:rPr lang="en-US" dirty="0"/>
              <a:t>Cryptography is a branch of mathematics that deals with the transformation of data.</a:t>
            </a:r>
          </a:p>
          <a:p>
            <a:pPr>
              <a:buFont typeface="Wingdings" panose="05000000000000000000" pitchFamily="2" charset="2"/>
              <a:buChar char="§"/>
            </a:pPr>
            <a:endParaRPr lang="en-US" dirty="0"/>
          </a:p>
          <a:p>
            <a:pPr>
              <a:buFont typeface="Wingdings" panose="05000000000000000000" pitchFamily="2" charset="2"/>
              <a:buChar char="§"/>
            </a:pPr>
            <a:r>
              <a:rPr lang="en-US" dirty="0"/>
              <a:t> Cryptographic algorithms are used in many ways in information security and network security. </a:t>
            </a:r>
          </a:p>
          <a:p>
            <a:pPr>
              <a:buFont typeface="Wingdings" panose="05000000000000000000" pitchFamily="2" charset="2"/>
              <a:buChar char="§"/>
            </a:pPr>
            <a:endParaRPr lang="en-US" dirty="0"/>
          </a:p>
          <a:p>
            <a:pPr>
              <a:buFont typeface="Wingdings" panose="05000000000000000000" pitchFamily="2" charset="2"/>
              <a:buChar char="§"/>
            </a:pPr>
            <a:r>
              <a:rPr lang="en-US" dirty="0"/>
              <a:t>Cryptography is an essential component in the secure storage and transmission of data, and in the secure interaction between parties. </a:t>
            </a:r>
            <a:endParaRPr lang="en-US" altLang="tr-TR" dirty="0"/>
          </a:p>
        </p:txBody>
      </p:sp>
    </p:spTree>
    <p:extLst>
      <p:ext uri="{BB962C8B-B14F-4D97-AF65-F5344CB8AC3E}">
        <p14:creationId xmlns:p14="http://schemas.microsoft.com/office/powerpoint/2010/main" val="1954854828"/>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0E4B3-B34B-63F2-E138-036C4A71F4B7}"/>
            </a:ext>
          </a:extLst>
        </p:cNvPr>
        <p:cNvGrpSpPr/>
        <p:nvPr/>
      </p:nvGrpSpPr>
      <p:grpSpPr>
        <a:xfrm>
          <a:off x="0" y="0"/>
          <a:ext cx="0" cy="0"/>
          <a:chOff x="0" y="0"/>
          <a:chExt cx="0" cy="0"/>
        </a:xfrm>
      </p:grpSpPr>
      <p:sp>
        <p:nvSpPr>
          <p:cNvPr id="79874" name="Slide Number Placeholder 5">
            <a:extLst>
              <a:ext uri="{FF2B5EF4-FFF2-40B4-BE49-F238E27FC236}">
                <a16:creationId xmlns:a16="http://schemas.microsoft.com/office/drawing/2014/main" id="{2B0D0992-C91D-F846-5851-7AB125A6E6D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800">
                <a:solidFill>
                  <a:schemeClr val="tx1"/>
                </a:solidFill>
                <a:latin typeface="Arial" pitchFamily="34" charset="0"/>
              </a:defRPr>
            </a:lvl1pPr>
            <a:lvl2pPr>
              <a:defRPr sz="4200">
                <a:solidFill>
                  <a:schemeClr val="tx1"/>
                </a:solidFill>
                <a:latin typeface="Arial" pitchFamily="34" charset="0"/>
              </a:defRPr>
            </a:lvl2pPr>
            <a:lvl3pPr>
              <a:defRPr sz="3600">
                <a:solidFill>
                  <a:schemeClr val="tx1"/>
                </a:solidFill>
                <a:latin typeface="Arial" pitchFamily="34" charset="0"/>
              </a:defRPr>
            </a:lvl3pPr>
            <a:lvl4pPr>
              <a:defRPr sz="3000">
                <a:solidFill>
                  <a:schemeClr val="tx1"/>
                </a:solidFill>
                <a:latin typeface="Arial" pitchFamily="34" charset="0"/>
              </a:defRPr>
            </a:lvl4pPr>
            <a:lvl5pPr>
              <a:defRPr sz="3000">
                <a:solidFill>
                  <a:schemeClr val="tx1"/>
                </a:solidFill>
                <a:latin typeface="Arial" pitchFamily="34" charset="0"/>
              </a:defRPr>
            </a:lvl5pPr>
            <a:lvl6pPr eaLnBrk="0" hangingPunct="0">
              <a:defRPr sz="3000">
                <a:solidFill>
                  <a:schemeClr val="tx1"/>
                </a:solidFill>
                <a:latin typeface="Arial" pitchFamily="34" charset="0"/>
              </a:defRPr>
            </a:lvl6pPr>
            <a:lvl7pPr eaLnBrk="0" hangingPunct="0">
              <a:defRPr sz="3000">
                <a:solidFill>
                  <a:schemeClr val="tx1"/>
                </a:solidFill>
                <a:latin typeface="Arial" pitchFamily="34" charset="0"/>
              </a:defRPr>
            </a:lvl7pPr>
            <a:lvl8pPr eaLnBrk="0" hangingPunct="0">
              <a:defRPr sz="3000">
                <a:solidFill>
                  <a:schemeClr val="tx1"/>
                </a:solidFill>
                <a:latin typeface="Arial" pitchFamily="34" charset="0"/>
              </a:defRPr>
            </a:lvl8pPr>
            <a:lvl9pPr eaLnBrk="0" hangingPunct="0">
              <a:defRPr sz="3000">
                <a:solidFill>
                  <a:schemeClr val="tx1"/>
                </a:solidFill>
                <a:latin typeface="Arial" pitchFamily="34" charset="0"/>
              </a:defRPr>
            </a:lvl9pPr>
          </a:lstStyle>
          <a:p>
            <a:fld id="{ECACC184-E5B1-452D-828B-45C6BF9DC4D3}" type="slidenum">
              <a:rPr lang="en-US" altLang="tr-TR" sz="2100"/>
              <a:pPr/>
              <a:t>154</a:t>
            </a:fld>
            <a:endParaRPr lang="en-US" altLang="tr-TR" sz="2100" dirty="0"/>
          </a:p>
        </p:txBody>
      </p:sp>
      <p:sp>
        <p:nvSpPr>
          <p:cNvPr id="79875" name="Rectangle 2">
            <a:extLst>
              <a:ext uri="{FF2B5EF4-FFF2-40B4-BE49-F238E27FC236}">
                <a16:creationId xmlns:a16="http://schemas.microsoft.com/office/drawing/2014/main" id="{B959B0E8-DBAE-AA49-BF48-66AD293418EF}"/>
              </a:ext>
            </a:extLst>
          </p:cNvPr>
          <p:cNvSpPr>
            <a:spLocks noGrp="1" noChangeArrowheads="1"/>
          </p:cNvSpPr>
          <p:nvPr>
            <p:ph type="title"/>
          </p:nvPr>
        </p:nvSpPr>
        <p:spPr/>
        <p:txBody>
          <a:bodyPr/>
          <a:lstStyle/>
          <a:p>
            <a:r>
              <a:rPr lang="en-US" dirty="0"/>
              <a:t>Cryptographic Algorithms</a:t>
            </a:r>
            <a:endParaRPr lang="en-US" altLang="tr-TR" dirty="0"/>
          </a:p>
        </p:txBody>
      </p:sp>
      <p:pic>
        <p:nvPicPr>
          <p:cNvPr id="5" name="Picture 4">
            <a:extLst>
              <a:ext uri="{FF2B5EF4-FFF2-40B4-BE49-F238E27FC236}">
                <a16:creationId xmlns:a16="http://schemas.microsoft.com/office/drawing/2014/main" id="{BF27636C-ED29-D892-77BB-DB43222851DA}"/>
              </a:ext>
            </a:extLst>
          </p:cNvPr>
          <p:cNvPicPr>
            <a:picLocks noChangeAspect="1"/>
          </p:cNvPicPr>
          <p:nvPr/>
        </p:nvPicPr>
        <p:blipFill>
          <a:blip r:embed="rId3"/>
          <a:stretch>
            <a:fillRect/>
          </a:stretch>
        </p:blipFill>
        <p:spPr>
          <a:xfrm>
            <a:off x="2133600" y="1776693"/>
            <a:ext cx="12649200" cy="7698083"/>
          </a:xfrm>
          <a:prstGeom prst="rect">
            <a:avLst/>
          </a:prstGeom>
        </p:spPr>
      </p:pic>
    </p:spTree>
    <p:extLst>
      <p:ext uri="{BB962C8B-B14F-4D97-AF65-F5344CB8AC3E}">
        <p14:creationId xmlns:p14="http://schemas.microsoft.com/office/powerpoint/2010/main" val="2157388719"/>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082FB-F782-05EC-2F6A-F12AA19D2C99}"/>
            </a:ext>
          </a:extLst>
        </p:cNvPr>
        <p:cNvGrpSpPr/>
        <p:nvPr/>
      </p:nvGrpSpPr>
      <p:grpSpPr>
        <a:xfrm>
          <a:off x="0" y="0"/>
          <a:ext cx="0" cy="0"/>
          <a:chOff x="0" y="0"/>
          <a:chExt cx="0" cy="0"/>
        </a:xfrm>
      </p:grpSpPr>
      <p:sp>
        <p:nvSpPr>
          <p:cNvPr id="79874" name="Slide Number Placeholder 5">
            <a:extLst>
              <a:ext uri="{FF2B5EF4-FFF2-40B4-BE49-F238E27FC236}">
                <a16:creationId xmlns:a16="http://schemas.microsoft.com/office/drawing/2014/main" id="{76862DC4-89A2-5CB4-5A8F-FD9C0ACA5A0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800">
                <a:solidFill>
                  <a:schemeClr val="tx1"/>
                </a:solidFill>
                <a:latin typeface="Arial" pitchFamily="34" charset="0"/>
              </a:defRPr>
            </a:lvl1pPr>
            <a:lvl2pPr>
              <a:defRPr sz="4200">
                <a:solidFill>
                  <a:schemeClr val="tx1"/>
                </a:solidFill>
                <a:latin typeface="Arial" pitchFamily="34" charset="0"/>
              </a:defRPr>
            </a:lvl2pPr>
            <a:lvl3pPr>
              <a:defRPr sz="3600">
                <a:solidFill>
                  <a:schemeClr val="tx1"/>
                </a:solidFill>
                <a:latin typeface="Arial" pitchFamily="34" charset="0"/>
              </a:defRPr>
            </a:lvl3pPr>
            <a:lvl4pPr>
              <a:defRPr sz="3000">
                <a:solidFill>
                  <a:schemeClr val="tx1"/>
                </a:solidFill>
                <a:latin typeface="Arial" pitchFamily="34" charset="0"/>
              </a:defRPr>
            </a:lvl4pPr>
            <a:lvl5pPr>
              <a:defRPr sz="3000">
                <a:solidFill>
                  <a:schemeClr val="tx1"/>
                </a:solidFill>
                <a:latin typeface="Arial" pitchFamily="34" charset="0"/>
              </a:defRPr>
            </a:lvl5pPr>
            <a:lvl6pPr eaLnBrk="0" hangingPunct="0">
              <a:defRPr sz="3000">
                <a:solidFill>
                  <a:schemeClr val="tx1"/>
                </a:solidFill>
                <a:latin typeface="Arial" pitchFamily="34" charset="0"/>
              </a:defRPr>
            </a:lvl6pPr>
            <a:lvl7pPr eaLnBrk="0" hangingPunct="0">
              <a:defRPr sz="3000">
                <a:solidFill>
                  <a:schemeClr val="tx1"/>
                </a:solidFill>
                <a:latin typeface="Arial" pitchFamily="34" charset="0"/>
              </a:defRPr>
            </a:lvl7pPr>
            <a:lvl8pPr eaLnBrk="0" hangingPunct="0">
              <a:defRPr sz="3000">
                <a:solidFill>
                  <a:schemeClr val="tx1"/>
                </a:solidFill>
                <a:latin typeface="Arial" pitchFamily="34" charset="0"/>
              </a:defRPr>
            </a:lvl8pPr>
            <a:lvl9pPr eaLnBrk="0" hangingPunct="0">
              <a:defRPr sz="3000">
                <a:solidFill>
                  <a:schemeClr val="tx1"/>
                </a:solidFill>
                <a:latin typeface="Arial" pitchFamily="34" charset="0"/>
              </a:defRPr>
            </a:lvl9pPr>
          </a:lstStyle>
          <a:p>
            <a:fld id="{ECACC184-E5B1-452D-828B-45C6BF9DC4D3}" type="slidenum">
              <a:rPr lang="en-US" altLang="tr-TR" sz="2100"/>
              <a:pPr/>
              <a:t>155</a:t>
            </a:fld>
            <a:endParaRPr lang="en-US" altLang="tr-TR" sz="2100" dirty="0"/>
          </a:p>
        </p:txBody>
      </p:sp>
      <p:sp>
        <p:nvSpPr>
          <p:cNvPr id="79875" name="Rectangle 2">
            <a:extLst>
              <a:ext uri="{FF2B5EF4-FFF2-40B4-BE49-F238E27FC236}">
                <a16:creationId xmlns:a16="http://schemas.microsoft.com/office/drawing/2014/main" id="{9DB4FA2A-CA42-3A88-4E59-22B538A47B49}"/>
              </a:ext>
            </a:extLst>
          </p:cNvPr>
          <p:cNvSpPr>
            <a:spLocks noGrp="1" noChangeArrowheads="1"/>
          </p:cNvSpPr>
          <p:nvPr>
            <p:ph type="title"/>
          </p:nvPr>
        </p:nvSpPr>
        <p:spPr/>
        <p:txBody>
          <a:bodyPr/>
          <a:lstStyle/>
          <a:p>
            <a:r>
              <a:rPr lang="en-US" dirty="0"/>
              <a:t>Network Security</a:t>
            </a:r>
            <a:endParaRPr lang="en-US" altLang="tr-TR" dirty="0"/>
          </a:p>
        </p:txBody>
      </p:sp>
      <p:pic>
        <p:nvPicPr>
          <p:cNvPr id="3" name="Picture 2">
            <a:extLst>
              <a:ext uri="{FF2B5EF4-FFF2-40B4-BE49-F238E27FC236}">
                <a16:creationId xmlns:a16="http://schemas.microsoft.com/office/drawing/2014/main" id="{858CA595-F0D0-CD58-3602-3750908F06C4}"/>
              </a:ext>
            </a:extLst>
          </p:cNvPr>
          <p:cNvPicPr>
            <a:picLocks noChangeAspect="1"/>
          </p:cNvPicPr>
          <p:nvPr/>
        </p:nvPicPr>
        <p:blipFill>
          <a:blip r:embed="rId3"/>
          <a:stretch>
            <a:fillRect/>
          </a:stretch>
        </p:blipFill>
        <p:spPr>
          <a:xfrm>
            <a:off x="2971800" y="1767729"/>
            <a:ext cx="11887200" cy="7891741"/>
          </a:xfrm>
          <a:prstGeom prst="rect">
            <a:avLst/>
          </a:prstGeom>
        </p:spPr>
      </p:pic>
    </p:spTree>
    <p:extLst>
      <p:ext uri="{BB962C8B-B14F-4D97-AF65-F5344CB8AC3E}">
        <p14:creationId xmlns:p14="http://schemas.microsoft.com/office/powerpoint/2010/main" val="1310183374"/>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p:cNvSpPr>
            <a:spLocks noGrp="1"/>
          </p:cNvSpPr>
          <p:nvPr>
            <p:ph type="title"/>
          </p:nvPr>
        </p:nvSpPr>
        <p:spPr>
          <a:xfrm>
            <a:off x="3312320" y="500063"/>
            <a:ext cx="11663363" cy="1678782"/>
          </a:xfrm>
        </p:spPr>
        <p:txBody>
          <a:bodyPr/>
          <a:lstStyle/>
          <a:p>
            <a:r>
              <a:rPr lang="en-US" altLang="en-US"/>
              <a:t>Attack Surface Categories</a:t>
            </a:r>
          </a:p>
        </p:txBody>
      </p:sp>
      <p:sp>
        <p:nvSpPr>
          <p:cNvPr id="3" name="Content Placeholder 2"/>
          <p:cNvSpPr>
            <a:spLocks noGrp="1"/>
          </p:cNvSpPr>
          <p:nvPr>
            <p:ph idx="1"/>
          </p:nvPr>
        </p:nvSpPr>
        <p:spPr>
          <a:xfrm>
            <a:off x="3419475" y="2336008"/>
            <a:ext cx="11356182" cy="7127081"/>
          </a:xfrm>
        </p:spPr>
        <p:txBody>
          <a:bodyPr>
            <a:normAutofit/>
          </a:bodyPr>
          <a:lstStyle/>
          <a:p>
            <a:pPr>
              <a:defRPr/>
            </a:pPr>
            <a:r>
              <a:rPr lang="en-US" dirty="0"/>
              <a:t>Network attack surface</a:t>
            </a:r>
          </a:p>
          <a:p>
            <a:pPr lvl="1">
              <a:defRPr/>
            </a:pPr>
            <a:r>
              <a:rPr lang="en-US" dirty="0"/>
              <a:t>Refers to vulnerabilities over an enterprise network, wide-area network, or the Internet</a:t>
            </a:r>
          </a:p>
          <a:p>
            <a:pPr lvl="2">
              <a:defRPr/>
            </a:pPr>
            <a:r>
              <a:rPr lang="en-US" dirty="0"/>
              <a:t>E.g. </a:t>
            </a:r>
            <a:r>
              <a:rPr lang="en-US" dirty="0" err="1"/>
              <a:t>DoS</a:t>
            </a:r>
            <a:r>
              <a:rPr lang="en-US" dirty="0"/>
              <a:t>, intruders exploiting network protocol vulnerabilities</a:t>
            </a:r>
          </a:p>
          <a:p>
            <a:pPr>
              <a:defRPr/>
            </a:pPr>
            <a:r>
              <a:rPr lang="en-US" dirty="0"/>
              <a:t>Software attack surface</a:t>
            </a:r>
          </a:p>
          <a:p>
            <a:pPr lvl="1">
              <a:defRPr/>
            </a:pPr>
            <a:r>
              <a:rPr lang="en-US" dirty="0"/>
              <a:t>Refers to vulnerabilities in application, utility, or operating system code</a:t>
            </a:r>
          </a:p>
          <a:p>
            <a:pPr>
              <a:defRPr/>
            </a:pPr>
            <a:r>
              <a:rPr lang="en-US" dirty="0"/>
              <a:t>Human attack surface</a:t>
            </a:r>
          </a:p>
          <a:p>
            <a:pPr lvl="1">
              <a:defRPr/>
            </a:pPr>
            <a:r>
              <a:rPr lang="en-US" dirty="0"/>
              <a:t>Refers to vulnerabilities created by personnel or outsiders</a:t>
            </a:r>
          </a:p>
          <a:p>
            <a:pPr lvl="1">
              <a:defRPr/>
            </a:pPr>
            <a:r>
              <a:rPr lang="en-US" dirty="0"/>
              <a:t>E.g. social engineering, insider traitors</a:t>
            </a:r>
          </a:p>
        </p:txBody>
      </p:sp>
    </p:spTree>
    <p:extLst>
      <p:ext uri="{BB962C8B-B14F-4D97-AF65-F5344CB8AC3E}">
        <p14:creationId xmlns:p14="http://schemas.microsoft.com/office/powerpoint/2010/main" val="4225903597"/>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68CC5-E56C-D577-7DA2-802EA56336FA}"/>
            </a:ext>
          </a:extLst>
        </p:cNvPr>
        <p:cNvGrpSpPr/>
        <p:nvPr/>
      </p:nvGrpSpPr>
      <p:grpSpPr>
        <a:xfrm>
          <a:off x="0" y="0"/>
          <a:ext cx="0" cy="0"/>
          <a:chOff x="0" y="0"/>
          <a:chExt cx="0" cy="0"/>
        </a:xfrm>
      </p:grpSpPr>
      <p:sp>
        <p:nvSpPr>
          <p:cNvPr id="100354" name="Title 1">
            <a:extLst>
              <a:ext uri="{FF2B5EF4-FFF2-40B4-BE49-F238E27FC236}">
                <a16:creationId xmlns:a16="http://schemas.microsoft.com/office/drawing/2014/main" id="{7854F6F8-548A-0A76-5D57-985C2F610971}"/>
              </a:ext>
            </a:extLst>
          </p:cNvPr>
          <p:cNvSpPr>
            <a:spLocks noGrp="1"/>
          </p:cNvSpPr>
          <p:nvPr>
            <p:ph type="title"/>
          </p:nvPr>
        </p:nvSpPr>
        <p:spPr>
          <a:xfrm>
            <a:off x="3312320" y="500063"/>
            <a:ext cx="11663363" cy="1678782"/>
          </a:xfrm>
        </p:spPr>
        <p:txBody>
          <a:bodyPr>
            <a:normAutofit/>
          </a:bodyPr>
          <a:lstStyle/>
          <a:p>
            <a:r>
              <a:rPr lang="en-US" altLang="en-US" dirty="0" err="1"/>
              <a:t>Defence</a:t>
            </a:r>
            <a:r>
              <a:rPr lang="en-US" altLang="en-US" dirty="0"/>
              <a:t> in Depth and Attack Surface</a:t>
            </a:r>
          </a:p>
        </p:txBody>
      </p:sp>
      <p:pic>
        <p:nvPicPr>
          <p:cNvPr id="6" name="Picture 5">
            <a:extLst>
              <a:ext uri="{FF2B5EF4-FFF2-40B4-BE49-F238E27FC236}">
                <a16:creationId xmlns:a16="http://schemas.microsoft.com/office/drawing/2014/main" id="{5AC5D77D-CC42-AA3B-BE37-FA0B63E6329F}"/>
              </a:ext>
            </a:extLst>
          </p:cNvPr>
          <p:cNvPicPr>
            <a:picLocks noChangeAspect="1"/>
          </p:cNvPicPr>
          <p:nvPr/>
        </p:nvPicPr>
        <p:blipFill>
          <a:blip r:embed="rId3"/>
          <a:stretch>
            <a:fillRect/>
          </a:stretch>
        </p:blipFill>
        <p:spPr>
          <a:xfrm>
            <a:off x="5334000" y="2324100"/>
            <a:ext cx="7248525" cy="6943725"/>
          </a:xfrm>
          <a:prstGeom prst="rect">
            <a:avLst/>
          </a:prstGeom>
        </p:spPr>
      </p:pic>
    </p:spTree>
    <p:extLst>
      <p:ext uri="{BB962C8B-B14F-4D97-AF65-F5344CB8AC3E}">
        <p14:creationId xmlns:p14="http://schemas.microsoft.com/office/powerpoint/2010/main" val="2478635369"/>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D907B-2158-7070-4D2C-A1C407A9589A}"/>
            </a:ext>
          </a:extLst>
        </p:cNvPr>
        <p:cNvGrpSpPr/>
        <p:nvPr/>
      </p:nvGrpSpPr>
      <p:grpSpPr>
        <a:xfrm>
          <a:off x="0" y="0"/>
          <a:ext cx="0" cy="0"/>
          <a:chOff x="0" y="0"/>
          <a:chExt cx="0" cy="0"/>
        </a:xfrm>
      </p:grpSpPr>
      <p:sp>
        <p:nvSpPr>
          <p:cNvPr id="100354" name="Title 1">
            <a:extLst>
              <a:ext uri="{FF2B5EF4-FFF2-40B4-BE49-F238E27FC236}">
                <a16:creationId xmlns:a16="http://schemas.microsoft.com/office/drawing/2014/main" id="{FBDC37FD-F631-5BDB-50F4-88EB79110D2A}"/>
              </a:ext>
            </a:extLst>
          </p:cNvPr>
          <p:cNvSpPr>
            <a:spLocks noGrp="1"/>
          </p:cNvSpPr>
          <p:nvPr>
            <p:ph type="title"/>
          </p:nvPr>
        </p:nvSpPr>
        <p:spPr>
          <a:xfrm>
            <a:off x="3312320" y="500063"/>
            <a:ext cx="11663363" cy="1678782"/>
          </a:xfrm>
        </p:spPr>
        <p:txBody>
          <a:bodyPr/>
          <a:lstStyle/>
          <a:p>
            <a:r>
              <a:rPr lang="en-US" altLang="en-US" dirty="0"/>
              <a:t>Attack Tree</a:t>
            </a:r>
          </a:p>
        </p:txBody>
      </p:sp>
      <p:pic>
        <p:nvPicPr>
          <p:cNvPr id="6" name="Picture 5">
            <a:extLst>
              <a:ext uri="{FF2B5EF4-FFF2-40B4-BE49-F238E27FC236}">
                <a16:creationId xmlns:a16="http://schemas.microsoft.com/office/drawing/2014/main" id="{62499971-C53E-BB70-D412-B31247C00B5C}"/>
              </a:ext>
            </a:extLst>
          </p:cNvPr>
          <p:cNvPicPr>
            <a:picLocks noChangeAspect="1"/>
          </p:cNvPicPr>
          <p:nvPr/>
        </p:nvPicPr>
        <p:blipFill>
          <a:blip r:embed="rId3"/>
          <a:stretch>
            <a:fillRect/>
          </a:stretch>
        </p:blipFill>
        <p:spPr>
          <a:xfrm>
            <a:off x="4495800" y="1704974"/>
            <a:ext cx="10363200" cy="8740923"/>
          </a:xfrm>
          <a:prstGeom prst="rect">
            <a:avLst/>
          </a:prstGeom>
        </p:spPr>
      </p:pic>
    </p:spTree>
    <p:extLst>
      <p:ext uri="{BB962C8B-B14F-4D97-AF65-F5344CB8AC3E}">
        <p14:creationId xmlns:p14="http://schemas.microsoft.com/office/powerpoint/2010/main" val="550062162"/>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p:cNvSpPr>
            <a:spLocks noGrp="1"/>
          </p:cNvSpPr>
          <p:nvPr>
            <p:ph type="title" idx="4294967295"/>
          </p:nvPr>
        </p:nvSpPr>
        <p:spPr>
          <a:xfrm>
            <a:off x="3455195" y="95250"/>
            <a:ext cx="11375231" cy="1924050"/>
          </a:xfrm>
          <a:prstGeom prst="rect">
            <a:avLst/>
          </a:prstGeom>
        </p:spPr>
        <p:txBody>
          <a:bodyPr/>
          <a:lstStyle/>
          <a:p>
            <a:pPr>
              <a:defRPr/>
            </a:pPr>
            <a:r>
              <a:rPr lang="en-US" dirty="0"/>
              <a:t>Unwanted Access</a:t>
            </a:r>
          </a:p>
        </p:txBody>
      </p:sp>
      <p:sp>
        <p:nvSpPr>
          <p:cNvPr id="3" name="Content Placeholder 2"/>
          <p:cNvSpPr>
            <a:spLocks noGrp="1"/>
          </p:cNvSpPr>
          <p:nvPr>
            <p:ph idx="4294967295"/>
          </p:nvPr>
        </p:nvSpPr>
        <p:spPr>
          <a:xfrm>
            <a:off x="2628900" y="2286001"/>
            <a:ext cx="6400800" cy="7300913"/>
          </a:xfrm>
          <a:prstGeom prst="rect">
            <a:avLst/>
          </a:prstGeom>
        </p:spPr>
        <p:txBody>
          <a:bodyPr/>
          <a:lstStyle/>
          <a:p>
            <a:pPr>
              <a:defRPr/>
            </a:pPr>
            <a:r>
              <a:rPr lang="en-US" dirty="0">
                <a:solidFill>
                  <a:schemeClr val="tx2">
                    <a:lumMod val="10000"/>
                  </a:schemeClr>
                </a:solidFill>
              </a:rPr>
              <a:t>Placement in a computer system of logic that exploits vulnerabilities in the system and that can affect application programs as well as utility programs</a:t>
            </a:r>
          </a:p>
        </p:txBody>
      </p:sp>
      <p:pic>
        <p:nvPicPr>
          <p:cNvPr id="78852" name="Picture 3"/>
          <p:cNvPicPr>
            <a:picLocks noChangeAspect="1"/>
          </p:cNvPicPr>
          <p:nvPr/>
        </p:nvPicPr>
        <p:blipFill>
          <a:blip r:embed="rId3"/>
          <a:srcRect/>
          <a:stretch>
            <a:fillRect/>
          </a:stretch>
        </p:blipFill>
        <p:spPr bwMode="auto">
          <a:xfrm flipH="1">
            <a:off x="2743201" y="7429500"/>
            <a:ext cx="2786063" cy="2857500"/>
          </a:xfrm>
          <a:prstGeom prst="rect">
            <a:avLst/>
          </a:prstGeom>
          <a:noFill/>
          <a:ln w="9525">
            <a:noFill/>
            <a:miter lim="800000"/>
            <a:headEnd/>
            <a:tailEnd/>
          </a:ln>
        </p:spPr>
      </p:pic>
      <p:graphicFrame>
        <p:nvGraphicFramePr>
          <p:cNvPr id="5" name="Diagram 4"/>
          <p:cNvGraphicFramePr/>
          <p:nvPr/>
        </p:nvGraphicFramePr>
        <p:xfrm>
          <a:off x="8001000" y="2400300"/>
          <a:ext cx="9144000" cy="73152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E0DAA-5AE8-D22D-0E9E-54CA7049C62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D228B5A-273B-A410-231C-3B43CF0559DB}"/>
              </a:ext>
            </a:extLst>
          </p:cNvPr>
          <p:cNvSpPr>
            <a:spLocks noGrp="1"/>
          </p:cNvSpPr>
          <p:nvPr>
            <p:ph type="title"/>
          </p:nvPr>
        </p:nvSpPr>
        <p:spPr>
          <a:xfrm>
            <a:off x="3455195" y="95250"/>
            <a:ext cx="11375231" cy="1390650"/>
          </a:xfrm>
        </p:spPr>
        <p:txBody>
          <a:bodyPr/>
          <a:lstStyle/>
          <a:p>
            <a:pPr>
              <a:defRPr/>
            </a:pPr>
            <a:r>
              <a:rPr lang="en-US" sz="4800" dirty="0"/>
              <a:t>Standards</a:t>
            </a:r>
          </a:p>
        </p:txBody>
      </p:sp>
      <p:sp>
        <p:nvSpPr>
          <p:cNvPr id="5" name="Text Placeholder 4">
            <a:extLst>
              <a:ext uri="{FF2B5EF4-FFF2-40B4-BE49-F238E27FC236}">
                <a16:creationId xmlns:a16="http://schemas.microsoft.com/office/drawing/2014/main" id="{C8D0C2FD-53F5-10C1-A7C0-B945AE7E1414}"/>
              </a:ext>
            </a:extLst>
          </p:cNvPr>
          <p:cNvSpPr>
            <a:spLocks noGrp="1"/>
          </p:cNvSpPr>
          <p:nvPr>
            <p:ph type="body" idx="4294967295"/>
          </p:nvPr>
        </p:nvSpPr>
        <p:spPr>
          <a:xfrm>
            <a:off x="3543301" y="1600200"/>
            <a:ext cx="5348288" cy="1257300"/>
          </a:xfrm>
          <a:prstGeom prst="rect">
            <a:avLst/>
          </a:prstGeom>
        </p:spPr>
        <p:txBody>
          <a:bodyPr/>
          <a:lstStyle/>
          <a:p>
            <a:pPr>
              <a:defRPr/>
            </a:pPr>
            <a:r>
              <a:rPr lang="en-US" dirty="0">
                <a:solidFill>
                  <a:schemeClr val="tx2">
                    <a:lumMod val="10000"/>
                  </a:schemeClr>
                </a:solidFill>
              </a:rPr>
              <a:t>NIST</a:t>
            </a:r>
          </a:p>
        </p:txBody>
      </p:sp>
      <p:sp>
        <p:nvSpPr>
          <p:cNvPr id="6" name="Content Placeholder 5">
            <a:extLst>
              <a:ext uri="{FF2B5EF4-FFF2-40B4-BE49-F238E27FC236}">
                <a16:creationId xmlns:a16="http://schemas.microsoft.com/office/drawing/2014/main" id="{A2AD2892-AE2F-E7C6-4BAF-8249831D2C77}"/>
              </a:ext>
            </a:extLst>
          </p:cNvPr>
          <p:cNvSpPr>
            <a:spLocks noGrp="1"/>
          </p:cNvSpPr>
          <p:nvPr>
            <p:ph sz="half" idx="4294967295"/>
          </p:nvPr>
        </p:nvSpPr>
        <p:spPr>
          <a:xfrm>
            <a:off x="3429001" y="2743200"/>
            <a:ext cx="5348288" cy="6010275"/>
          </a:xfrm>
          <a:prstGeom prst="rect">
            <a:avLst/>
          </a:prstGeom>
        </p:spPr>
        <p:txBody>
          <a:bodyPr/>
          <a:lstStyle/>
          <a:p>
            <a:pPr>
              <a:defRPr/>
            </a:pPr>
            <a:r>
              <a:rPr lang="en-US" sz="3000" dirty="0">
                <a:solidFill>
                  <a:schemeClr val="tx2">
                    <a:lumMod val="10000"/>
                  </a:schemeClr>
                </a:solidFill>
              </a:rPr>
              <a:t>National Institute of Standards and Technology</a:t>
            </a:r>
          </a:p>
          <a:p>
            <a:pPr>
              <a:defRPr/>
            </a:pPr>
            <a:r>
              <a:rPr lang="en-US" sz="3000" dirty="0">
                <a:solidFill>
                  <a:schemeClr val="tx2">
                    <a:lumMod val="10000"/>
                  </a:schemeClr>
                </a:solidFill>
              </a:rPr>
              <a:t>U.S. federal agency that deals with measurement science, standards, and technology related to U.S. government use and to the promotion of U.S. private-sector innovation</a:t>
            </a:r>
          </a:p>
          <a:p>
            <a:pPr>
              <a:defRPr/>
            </a:pPr>
            <a:r>
              <a:rPr lang="en-US" sz="3000" dirty="0">
                <a:solidFill>
                  <a:schemeClr val="tx2">
                    <a:lumMod val="10000"/>
                  </a:schemeClr>
                </a:solidFill>
              </a:rPr>
              <a:t>NIST Federal Information Processing Standards (FIPS) and Special Publications (SP) have a worldwide impact</a:t>
            </a:r>
          </a:p>
        </p:txBody>
      </p:sp>
      <p:sp>
        <p:nvSpPr>
          <p:cNvPr id="7" name="Text Placeholder 6">
            <a:extLst>
              <a:ext uri="{FF2B5EF4-FFF2-40B4-BE49-F238E27FC236}">
                <a16:creationId xmlns:a16="http://schemas.microsoft.com/office/drawing/2014/main" id="{646271B3-1CFE-B3E5-A947-751F916AEAE8}"/>
              </a:ext>
            </a:extLst>
          </p:cNvPr>
          <p:cNvSpPr>
            <a:spLocks noGrp="1"/>
          </p:cNvSpPr>
          <p:nvPr>
            <p:ph type="body" sz="quarter" idx="4294967295"/>
          </p:nvPr>
        </p:nvSpPr>
        <p:spPr>
          <a:xfrm>
            <a:off x="9601201" y="1714500"/>
            <a:ext cx="5348288" cy="1257300"/>
          </a:xfrm>
          <a:prstGeom prst="rect">
            <a:avLst/>
          </a:prstGeom>
        </p:spPr>
        <p:txBody>
          <a:bodyPr/>
          <a:lstStyle/>
          <a:p>
            <a:pPr>
              <a:defRPr/>
            </a:pPr>
            <a:r>
              <a:rPr lang="en-US" dirty="0">
                <a:solidFill>
                  <a:schemeClr val="tx2">
                    <a:lumMod val="10000"/>
                  </a:schemeClr>
                </a:solidFill>
              </a:rPr>
              <a:t>ISOC</a:t>
            </a:r>
          </a:p>
        </p:txBody>
      </p:sp>
      <p:sp>
        <p:nvSpPr>
          <p:cNvPr id="8" name="Content Placeholder 7">
            <a:extLst>
              <a:ext uri="{FF2B5EF4-FFF2-40B4-BE49-F238E27FC236}">
                <a16:creationId xmlns:a16="http://schemas.microsoft.com/office/drawing/2014/main" id="{743F55B4-5856-E399-1949-F91AC11CFCED}"/>
              </a:ext>
            </a:extLst>
          </p:cNvPr>
          <p:cNvSpPr>
            <a:spLocks noGrp="1"/>
          </p:cNvSpPr>
          <p:nvPr>
            <p:ph sz="quarter" idx="4294967295"/>
          </p:nvPr>
        </p:nvSpPr>
        <p:spPr>
          <a:xfrm>
            <a:off x="9486901" y="2628900"/>
            <a:ext cx="5348288" cy="6696075"/>
          </a:xfrm>
          <a:prstGeom prst="rect">
            <a:avLst/>
          </a:prstGeom>
        </p:spPr>
        <p:txBody>
          <a:bodyPr/>
          <a:lstStyle/>
          <a:p>
            <a:pPr>
              <a:defRPr/>
            </a:pPr>
            <a:r>
              <a:rPr lang="en-US" sz="2400" dirty="0">
                <a:solidFill>
                  <a:schemeClr val="tx2">
                    <a:lumMod val="10000"/>
                  </a:schemeClr>
                </a:solidFill>
              </a:rPr>
              <a:t>Internet Society</a:t>
            </a:r>
          </a:p>
          <a:p>
            <a:pPr>
              <a:defRPr/>
            </a:pPr>
            <a:r>
              <a:rPr lang="en-US" sz="2400" dirty="0">
                <a:solidFill>
                  <a:schemeClr val="tx2">
                    <a:lumMod val="10000"/>
                  </a:schemeClr>
                </a:solidFill>
              </a:rPr>
              <a:t>Professional membership society with worldwide organizational and individual membership</a:t>
            </a:r>
          </a:p>
          <a:p>
            <a:pPr>
              <a:defRPr/>
            </a:pPr>
            <a:r>
              <a:rPr lang="en-US" sz="2400" dirty="0">
                <a:solidFill>
                  <a:schemeClr val="tx2">
                    <a:lumMod val="10000"/>
                  </a:schemeClr>
                </a:solidFill>
              </a:rPr>
              <a:t>Provides leadership in addressing issues that confront the future of the Internet</a:t>
            </a:r>
          </a:p>
          <a:p>
            <a:pPr>
              <a:defRPr/>
            </a:pPr>
            <a:r>
              <a:rPr lang="en-US" sz="2400" dirty="0">
                <a:solidFill>
                  <a:schemeClr val="tx2">
                    <a:lumMod val="10000"/>
                  </a:schemeClr>
                </a:solidFill>
              </a:rPr>
              <a:t>Is the organization home for the groups responsible for Internet infrastructure standards, including the Internet Engineering Task Force (IETF) and the Internet Architecture Board (IAB)</a:t>
            </a:r>
          </a:p>
          <a:p>
            <a:pPr>
              <a:defRPr/>
            </a:pPr>
            <a:r>
              <a:rPr lang="en-US" sz="2400" dirty="0">
                <a:solidFill>
                  <a:schemeClr val="tx2">
                    <a:lumMod val="10000"/>
                  </a:schemeClr>
                </a:solidFill>
              </a:rPr>
              <a:t>Internet standards and related specifications are published as Requests for Comments (RFCs)</a:t>
            </a:r>
          </a:p>
        </p:txBody>
      </p:sp>
    </p:spTree>
    <p:extLst>
      <p:ext uri="{BB962C8B-B14F-4D97-AF65-F5344CB8AC3E}">
        <p14:creationId xmlns:p14="http://schemas.microsoft.com/office/powerpoint/2010/main" val="1180589280"/>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17506" name="Rectangle 2"/>
          <p:cNvSpPr>
            <a:spLocks noChangeArrowheads="1"/>
          </p:cNvSpPr>
          <p:nvPr/>
        </p:nvSpPr>
        <p:spPr bwMode="auto">
          <a:xfrm>
            <a:off x="2286000" y="0"/>
            <a:ext cx="13716000" cy="2057400"/>
          </a:xfrm>
          <a:prstGeom prst="rect">
            <a:avLst/>
          </a:prstGeom>
          <a:noFill/>
          <a:ln w="9525">
            <a:noFill/>
            <a:miter lim="800000"/>
            <a:headEnd/>
            <a:tailEnd/>
          </a:ln>
          <a:effectLst/>
        </p:spPr>
        <p:txBody>
          <a:bodyPr wrap="none" anchor="ctr"/>
          <a:lstStyle/>
          <a:p>
            <a:pPr algn="ctr">
              <a:defRPr/>
            </a:pPr>
            <a:endParaRPr lang="en-US" sz="2700">
              <a:effectLst>
                <a:outerShdw blurRad="38100" dist="38100" dir="2700000" algn="tl">
                  <a:srgbClr val="FFFFFF"/>
                </a:outerShdw>
              </a:effectLst>
              <a:latin typeface="Times New Roman" pitchFamily="18" charset="0"/>
            </a:endParaRPr>
          </a:p>
        </p:txBody>
      </p:sp>
      <p:sp>
        <p:nvSpPr>
          <p:cNvPr id="917507" name="Text Box 3"/>
          <p:cNvSpPr txBox="1">
            <a:spLocks noChangeArrowheads="1"/>
          </p:cNvSpPr>
          <p:nvPr/>
        </p:nvSpPr>
        <p:spPr bwMode="auto">
          <a:xfrm>
            <a:off x="2628900" y="609600"/>
            <a:ext cx="4198778" cy="1107996"/>
          </a:xfrm>
          <a:prstGeom prst="rect">
            <a:avLst/>
          </a:prstGeom>
          <a:noFill/>
          <a:ln w="9525">
            <a:noFill/>
            <a:miter lim="800000"/>
            <a:headEnd/>
            <a:tailEnd/>
          </a:ln>
          <a:effectLst/>
        </p:spPr>
        <p:txBody>
          <a:bodyPr wrap="none">
            <a:spAutoFit/>
          </a:bodyPr>
          <a:lstStyle/>
          <a:p>
            <a:pPr>
              <a:defRPr/>
            </a:pPr>
            <a:r>
              <a:rPr lang="en-US" sz="2700" dirty="0">
                <a:effectLst>
                  <a:outerShdw blurRad="38100" dist="38100" dir="2700000" algn="tl">
                    <a:srgbClr val="C0C0C0"/>
                  </a:outerShdw>
                </a:effectLst>
                <a:latin typeface="Times" pitchFamily="18" charset="0"/>
              </a:rPr>
              <a:t>  </a:t>
            </a:r>
            <a:r>
              <a:rPr lang="en-US" sz="6600" dirty="0">
                <a:solidFill>
                  <a:srgbClr val="C00000"/>
                </a:solidFill>
                <a:latin typeface="Times" pitchFamily="18" charset="0"/>
              </a:rPr>
              <a:t>Techniques</a:t>
            </a:r>
          </a:p>
        </p:txBody>
      </p:sp>
      <p:sp>
        <p:nvSpPr>
          <p:cNvPr id="66565" name="Text Box 4"/>
          <p:cNvSpPr txBox="1">
            <a:spLocks noChangeArrowheads="1"/>
          </p:cNvSpPr>
          <p:nvPr/>
        </p:nvSpPr>
        <p:spPr bwMode="auto">
          <a:xfrm>
            <a:off x="14630401" y="9601201"/>
            <a:ext cx="184731" cy="507831"/>
          </a:xfrm>
          <a:prstGeom prst="rect">
            <a:avLst/>
          </a:prstGeom>
          <a:noFill/>
          <a:ln w="9525">
            <a:noFill/>
            <a:miter lim="800000"/>
            <a:headEnd/>
            <a:tailEnd/>
          </a:ln>
        </p:spPr>
        <p:txBody>
          <a:bodyPr wrap="none">
            <a:spAutoFit/>
          </a:bodyPr>
          <a:lstStyle/>
          <a:p>
            <a:endParaRPr lang="en-US" sz="2700">
              <a:latin typeface="Times New Roman" pitchFamily="18" charset="0"/>
            </a:endParaRPr>
          </a:p>
        </p:txBody>
      </p:sp>
      <p:sp>
        <p:nvSpPr>
          <p:cNvPr id="917509" name="Rectangle 5"/>
          <p:cNvSpPr>
            <a:spLocks noChangeArrowheads="1"/>
          </p:cNvSpPr>
          <p:nvPr/>
        </p:nvSpPr>
        <p:spPr bwMode="auto">
          <a:xfrm>
            <a:off x="2743200" y="2765942"/>
            <a:ext cx="12344400" cy="3323987"/>
          </a:xfrm>
          <a:prstGeom prst="rect">
            <a:avLst/>
          </a:prstGeom>
          <a:noFill/>
          <a:ln w="9525">
            <a:noFill/>
            <a:miter lim="800000"/>
            <a:headEnd/>
            <a:tailEnd/>
          </a:ln>
          <a:effectLst/>
        </p:spPr>
        <p:txBody>
          <a:bodyPr anchor="ctr">
            <a:spAutoFit/>
          </a:bodyPr>
          <a:lstStyle/>
          <a:p>
            <a:pPr algn="just">
              <a:defRPr/>
            </a:pPr>
            <a:r>
              <a:rPr lang="en-US" sz="4200" dirty="0">
                <a:solidFill>
                  <a:srgbClr val="002060"/>
                </a:solidFill>
                <a:latin typeface="Times New Roman" pitchFamily="18" charset="0"/>
              </a:rPr>
              <a:t>Mechanisms discussed already are only theoretical recipes to implement security. The actual implementation of security goals needs some techniques. Two techniques are prevalent today: </a:t>
            </a:r>
            <a:r>
              <a:rPr lang="en-US" sz="4200" b="1" dirty="0">
                <a:solidFill>
                  <a:srgbClr val="002060"/>
                </a:solidFill>
                <a:latin typeface="Times New Roman" pitchFamily="18" charset="0"/>
              </a:rPr>
              <a:t>cryptography </a:t>
            </a:r>
            <a:r>
              <a:rPr lang="en-US" sz="4200" b="1" dirty="0">
                <a:solidFill>
                  <a:srgbClr val="FF0000"/>
                </a:solidFill>
                <a:latin typeface="Times New Roman" pitchFamily="18" charset="0"/>
              </a:rPr>
              <a:t>and</a:t>
            </a:r>
            <a:r>
              <a:rPr lang="en-US" sz="4200" b="1" dirty="0">
                <a:solidFill>
                  <a:srgbClr val="002060"/>
                </a:solidFill>
                <a:latin typeface="Times New Roman" pitchFamily="18" charset="0"/>
              </a:rPr>
              <a:t> </a:t>
            </a:r>
            <a:r>
              <a:rPr lang="en-US" sz="4200" b="1" dirty="0" err="1">
                <a:solidFill>
                  <a:srgbClr val="002060"/>
                </a:solidFill>
                <a:latin typeface="Times New Roman" pitchFamily="18" charset="0"/>
              </a:rPr>
              <a:t>steganography</a:t>
            </a:r>
            <a:r>
              <a:rPr lang="en-US" sz="4200" b="1" dirty="0">
                <a:solidFill>
                  <a:srgbClr val="002060"/>
                </a:solidFill>
                <a:latin typeface="Times New Roman" pitchFamily="18" charset="0"/>
              </a:rPr>
              <a:t>. </a:t>
            </a:r>
          </a:p>
        </p:txBody>
      </p:sp>
    </p:spTree>
    <p:extLst>
      <p:ext uri="{BB962C8B-B14F-4D97-AF65-F5344CB8AC3E}">
        <p14:creationId xmlns:p14="http://schemas.microsoft.com/office/powerpoint/2010/main" val="3218236288"/>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Text Box 9"/>
          <p:cNvSpPr txBox="1">
            <a:spLocks noChangeArrowheads="1"/>
          </p:cNvSpPr>
          <p:nvPr/>
        </p:nvSpPr>
        <p:spPr bwMode="auto">
          <a:xfrm>
            <a:off x="6629400" y="1104900"/>
            <a:ext cx="4544834" cy="1015663"/>
          </a:xfrm>
          <a:prstGeom prst="rect">
            <a:avLst/>
          </a:prstGeom>
          <a:noFill/>
          <a:ln w="9525">
            <a:noFill/>
            <a:miter lim="800000"/>
            <a:headEnd/>
            <a:tailEnd/>
          </a:ln>
        </p:spPr>
        <p:txBody>
          <a:bodyPr wrap="none">
            <a:spAutoFit/>
          </a:bodyPr>
          <a:lstStyle/>
          <a:p>
            <a:r>
              <a:rPr lang="en-US" sz="2700" dirty="0">
                <a:solidFill>
                  <a:schemeClr val="hlink"/>
                </a:solidFill>
                <a:latin typeface="Times New Roman" pitchFamily="18" charset="0"/>
              </a:rPr>
              <a:t> </a:t>
            </a:r>
            <a:r>
              <a:rPr lang="en-US" sz="6000" dirty="0">
                <a:solidFill>
                  <a:srgbClr val="C00000"/>
                </a:solidFill>
                <a:latin typeface="Times New Roman" pitchFamily="18" charset="0"/>
              </a:rPr>
              <a:t>Cryptography</a:t>
            </a:r>
          </a:p>
        </p:txBody>
      </p:sp>
      <p:sp>
        <p:nvSpPr>
          <p:cNvPr id="67588" name="Rectangle 10"/>
          <p:cNvSpPr>
            <a:spLocks noChangeArrowheads="1"/>
          </p:cNvSpPr>
          <p:nvPr/>
        </p:nvSpPr>
        <p:spPr bwMode="auto">
          <a:xfrm>
            <a:off x="3314700" y="3429000"/>
            <a:ext cx="12001500" cy="2308324"/>
          </a:xfrm>
          <a:prstGeom prst="rect">
            <a:avLst/>
          </a:prstGeom>
          <a:noFill/>
          <a:ln w="9525">
            <a:noFill/>
            <a:miter lim="800000"/>
            <a:headEnd/>
            <a:tailEnd/>
          </a:ln>
        </p:spPr>
        <p:txBody>
          <a:bodyPr wrap="square">
            <a:spAutoFit/>
          </a:bodyPr>
          <a:lstStyle/>
          <a:p>
            <a:pPr algn="just"/>
            <a:r>
              <a:rPr lang="en-US" sz="3600" dirty="0">
                <a:solidFill>
                  <a:srgbClr val="002060"/>
                </a:solidFill>
                <a:latin typeface="Times New Roman" pitchFamily="18" charset="0"/>
              </a:rPr>
              <a:t>Cryptography, a word with Greek origins, means “secret writing.” However, we use the term to refer to the science and art of transforming messages to make them secure and immune to attacks. </a:t>
            </a:r>
          </a:p>
        </p:txBody>
      </p:sp>
    </p:spTree>
    <p:extLst>
      <p:ext uri="{BB962C8B-B14F-4D97-AF65-F5344CB8AC3E}">
        <p14:creationId xmlns:p14="http://schemas.microsoft.com/office/powerpoint/2010/main" val="4065431487"/>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8"/>
          <p:cNvSpPr>
            <a:spLocks noChangeArrowheads="1"/>
          </p:cNvSpPr>
          <p:nvPr/>
        </p:nvSpPr>
        <p:spPr bwMode="gray">
          <a:xfrm>
            <a:off x="2950370" y="800100"/>
            <a:ext cx="12339638" cy="47625"/>
          </a:xfrm>
          <a:prstGeom prst="rect">
            <a:avLst/>
          </a:prstGeom>
          <a:gradFill rotWithShape="0">
            <a:gsLst>
              <a:gs pos="0">
                <a:schemeClr val="bg2"/>
              </a:gs>
              <a:gs pos="100000">
                <a:schemeClr val="bg1"/>
              </a:gs>
            </a:gsLst>
            <a:lin ang="0" scaled="1"/>
          </a:gradFill>
          <a:ln w="9525">
            <a:noFill/>
            <a:miter lim="800000"/>
            <a:headEnd/>
            <a:tailEnd/>
          </a:ln>
        </p:spPr>
        <p:txBody>
          <a:bodyPr wrap="none" anchor="ctr"/>
          <a:lstStyle/>
          <a:p>
            <a:pPr algn="ctr"/>
            <a:endParaRPr kumimoji="1" lang="en-US" sz="3600">
              <a:latin typeface="Tahoma" pitchFamily="34" charset="0"/>
            </a:endParaRPr>
          </a:p>
        </p:txBody>
      </p:sp>
      <p:sp>
        <p:nvSpPr>
          <p:cNvPr id="68612" name="Text Box 9"/>
          <p:cNvSpPr txBox="1">
            <a:spLocks noChangeArrowheads="1"/>
          </p:cNvSpPr>
          <p:nvPr/>
        </p:nvSpPr>
        <p:spPr bwMode="auto">
          <a:xfrm>
            <a:off x="4000500" y="0"/>
            <a:ext cx="4339650" cy="1754326"/>
          </a:xfrm>
          <a:prstGeom prst="rect">
            <a:avLst/>
          </a:prstGeom>
          <a:noFill/>
          <a:ln w="9525">
            <a:noFill/>
            <a:miter lim="800000"/>
            <a:headEnd/>
            <a:tailEnd/>
          </a:ln>
        </p:spPr>
        <p:txBody>
          <a:bodyPr wrap="none">
            <a:spAutoFit/>
          </a:bodyPr>
          <a:lstStyle/>
          <a:p>
            <a:r>
              <a:rPr lang="en-US" sz="5400" dirty="0">
                <a:solidFill>
                  <a:srgbClr val="C00000"/>
                </a:solidFill>
                <a:latin typeface="Times New Roman" pitchFamily="18" charset="0"/>
              </a:rPr>
              <a:t>Steganography</a:t>
            </a:r>
          </a:p>
          <a:p>
            <a:endParaRPr lang="en-US" sz="5400" dirty="0">
              <a:solidFill>
                <a:schemeClr val="hlink"/>
              </a:solidFill>
              <a:latin typeface="Times New Roman" pitchFamily="18" charset="0"/>
            </a:endParaRPr>
          </a:p>
        </p:txBody>
      </p:sp>
      <p:sp>
        <p:nvSpPr>
          <p:cNvPr id="68613" name="Rectangle 10"/>
          <p:cNvSpPr>
            <a:spLocks noChangeArrowheads="1"/>
          </p:cNvSpPr>
          <p:nvPr/>
        </p:nvSpPr>
        <p:spPr bwMode="auto">
          <a:xfrm>
            <a:off x="2971800" y="1600200"/>
            <a:ext cx="12115800" cy="1015663"/>
          </a:xfrm>
          <a:prstGeom prst="rect">
            <a:avLst/>
          </a:prstGeom>
          <a:noFill/>
          <a:ln w="9525">
            <a:noFill/>
            <a:miter lim="800000"/>
            <a:headEnd/>
            <a:tailEnd/>
          </a:ln>
        </p:spPr>
        <p:txBody>
          <a:bodyPr wrap="square">
            <a:spAutoFit/>
          </a:bodyPr>
          <a:lstStyle/>
          <a:p>
            <a:pPr algn="just"/>
            <a:r>
              <a:rPr lang="en-US" sz="3000">
                <a:solidFill>
                  <a:srgbClr val="002060"/>
                </a:solidFill>
                <a:latin typeface="Times New Roman" pitchFamily="18" charset="0"/>
              </a:rPr>
              <a:t>The word steganography, with origin in Greek, means “covered writing,” in contrast with cryptography, which means “secret writing.”</a:t>
            </a:r>
          </a:p>
        </p:txBody>
      </p:sp>
      <p:pic>
        <p:nvPicPr>
          <p:cNvPr id="68614" name="Picture 11"/>
          <p:cNvPicPr>
            <a:picLocks noChangeAspect="1" noChangeArrowheads="1"/>
          </p:cNvPicPr>
          <p:nvPr/>
        </p:nvPicPr>
        <p:blipFill>
          <a:blip r:embed="rId3"/>
          <a:srcRect/>
          <a:stretch>
            <a:fillRect/>
          </a:stretch>
        </p:blipFill>
        <p:spPr bwMode="auto">
          <a:xfrm>
            <a:off x="3314701" y="5257800"/>
            <a:ext cx="10766036" cy="1897857"/>
          </a:xfrm>
          <a:prstGeom prst="rect">
            <a:avLst/>
          </a:prstGeom>
          <a:noFill/>
          <a:ln w="9525">
            <a:noFill/>
            <a:miter lim="800000"/>
            <a:headEnd/>
            <a:tailEnd/>
          </a:ln>
        </p:spPr>
      </p:pic>
      <p:sp>
        <p:nvSpPr>
          <p:cNvPr id="68615" name="Rectangle 13"/>
          <p:cNvSpPr>
            <a:spLocks noChangeArrowheads="1"/>
          </p:cNvSpPr>
          <p:nvPr/>
        </p:nvSpPr>
        <p:spPr bwMode="auto">
          <a:xfrm>
            <a:off x="4343400" y="3771900"/>
            <a:ext cx="8801100" cy="553998"/>
          </a:xfrm>
          <a:prstGeom prst="rect">
            <a:avLst/>
          </a:prstGeom>
          <a:noFill/>
          <a:ln w="9525">
            <a:noFill/>
            <a:miter lim="800000"/>
            <a:headEnd/>
            <a:tailEnd/>
          </a:ln>
        </p:spPr>
        <p:txBody>
          <a:bodyPr wrap="square">
            <a:spAutoFit/>
          </a:bodyPr>
          <a:lstStyle/>
          <a:p>
            <a:pPr algn="just"/>
            <a:r>
              <a:rPr lang="en-US" sz="3000" dirty="0">
                <a:solidFill>
                  <a:srgbClr val="002060"/>
                </a:solidFill>
                <a:latin typeface="Times New Roman" pitchFamily="18" charset="0"/>
              </a:rPr>
              <a:t>Example: covering data with text</a:t>
            </a:r>
          </a:p>
        </p:txBody>
      </p:sp>
    </p:spTree>
    <p:extLst>
      <p:ext uri="{BB962C8B-B14F-4D97-AF65-F5344CB8AC3E}">
        <p14:creationId xmlns:p14="http://schemas.microsoft.com/office/powerpoint/2010/main" val="2230895279"/>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5" name="Picture 13"/>
          <p:cNvPicPr>
            <a:picLocks noChangeAspect="1" noChangeArrowheads="1"/>
          </p:cNvPicPr>
          <p:nvPr/>
        </p:nvPicPr>
        <p:blipFill>
          <a:blip r:embed="rId3"/>
          <a:srcRect/>
          <a:stretch>
            <a:fillRect/>
          </a:stretch>
        </p:blipFill>
        <p:spPr bwMode="auto">
          <a:xfrm>
            <a:off x="5300663" y="3086101"/>
            <a:ext cx="8529638" cy="1435895"/>
          </a:xfrm>
          <a:prstGeom prst="rect">
            <a:avLst/>
          </a:prstGeom>
          <a:noFill/>
          <a:ln w="9525">
            <a:noFill/>
            <a:miter lim="800000"/>
            <a:headEnd/>
            <a:tailEnd/>
          </a:ln>
        </p:spPr>
      </p:pic>
      <p:pic>
        <p:nvPicPr>
          <p:cNvPr id="69636" name="Picture 14"/>
          <p:cNvPicPr>
            <a:picLocks noChangeAspect="1" noChangeArrowheads="1"/>
          </p:cNvPicPr>
          <p:nvPr/>
        </p:nvPicPr>
        <p:blipFill>
          <a:blip r:embed="rId4"/>
          <a:srcRect/>
          <a:stretch>
            <a:fillRect/>
          </a:stretch>
        </p:blipFill>
        <p:spPr bwMode="auto">
          <a:xfrm>
            <a:off x="3788570" y="6515101"/>
            <a:ext cx="11394281" cy="2614613"/>
          </a:xfrm>
          <a:prstGeom prst="rect">
            <a:avLst/>
          </a:prstGeom>
          <a:noFill/>
          <a:ln w="9525">
            <a:noFill/>
            <a:miter lim="800000"/>
            <a:headEnd/>
            <a:tailEnd/>
          </a:ln>
        </p:spPr>
      </p:pic>
      <p:sp>
        <p:nvSpPr>
          <p:cNvPr id="69637" name="Rectangle 14"/>
          <p:cNvSpPr>
            <a:spLocks noChangeArrowheads="1"/>
          </p:cNvSpPr>
          <p:nvPr/>
        </p:nvSpPr>
        <p:spPr bwMode="auto">
          <a:xfrm>
            <a:off x="5646853" y="1371600"/>
            <a:ext cx="7494359" cy="923330"/>
          </a:xfrm>
          <a:prstGeom prst="rect">
            <a:avLst/>
          </a:prstGeom>
          <a:noFill/>
          <a:ln w="9525">
            <a:noFill/>
            <a:miter lim="800000"/>
            <a:headEnd/>
            <a:tailEnd/>
          </a:ln>
        </p:spPr>
        <p:txBody>
          <a:bodyPr wrap="none">
            <a:spAutoFit/>
          </a:bodyPr>
          <a:lstStyle/>
          <a:p>
            <a:pPr algn="just"/>
            <a:r>
              <a:rPr lang="en-US" sz="5400">
                <a:solidFill>
                  <a:srgbClr val="002060"/>
                </a:solidFill>
                <a:latin typeface="Times New Roman" pitchFamily="18" charset="0"/>
              </a:rPr>
              <a:t>Example: using dictionary</a:t>
            </a:r>
          </a:p>
        </p:txBody>
      </p:sp>
      <p:sp>
        <p:nvSpPr>
          <p:cNvPr id="69638" name="Rectangle 15"/>
          <p:cNvSpPr>
            <a:spLocks noChangeArrowheads="1"/>
          </p:cNvSpPr>
          <p:nvPr/>
        </p:nvSpPr>
        <p:spPr bwMode="auto">
          <a:xfrm>
            <a:off x="4278199" y="4914901"/>
            <a:ext cx="10660291" cy="830997"/>
          </a:xfrm>
          <a:prstGeom prst="rect">
            <a:avLst/>
          </a:prstGeom>
          <a:noFill/>
          <a:ln w="9525">
            <a:noFill/>
            <a:miter lim="800000"/>
            <a:headEnd/>
            <a:tailEnd/>
          </a:ln>
        </p:spPr>
        <p:txBody>
          <a:bodyPr wrap="none">
            <a:spAutoFit/>
          </a:bodyPr>
          <a:lstStyle/>
          <a:p>
            <a:pPr algn="just"/>
            <a:r>
              <a:rPr lang="en-US" sz="4800">
                <a:solidFill>
                  <a:srgbClr val="002060"/>
                </a:solidFill>
                <a:latin typeface="Times New Roman" pitchFamily="18" charset="0"/>
              </a:rPr>
              <a:t>Example: covering data under color image</a:t>
            </a:r>
          </a:p>
        </p:txBody>
      </p:sp>
    </p:spTree>
    <p:extLst>
      <p:ext uri="{BB962C8B-B14F-4D97-AF65-F5344CB8AC3E}">
        <p14:creationId xmlns:p14="http://schemas.microsoft.com/office/powerpoint/2010/main" val="1017566476"/>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0" y="228600"/>
            <a:ext cx="11375232" cy="1485900"/>
          </a:xfrm>
        </p:spPr>
        <p:txBody>
          <a:bodyPr/>
          <a:lstStyle/>
          <a:p>
            <a:pPr>
              <a:defRPr/>
            </a:pPr>
            <a:r>
              <a:rPr lang="en-US" sz="4800" dirty="0"/>
              <a:t>Cryptographic Services</a:t>
            </a:r>
          </a:p>
        </p:txBody>
      </p:sp>
      <p:sp>
        <p:nvSpPr>
          <p:cNvPr id="3" name="Rectangle 2"/>
          <p:cNvSpPr/>
          <p:nvPr/>
        </p:nvSpPr>
        <p:spPr>
          <a:xfrm>
            <a:off x="3314700" y="1828801"/>
            <a:ext cx="12115800" cy="7478970"/>
          </a:xfrm>
          <a:prstGeom prst="rect">
            <a:avLst/>
          </a:prstGeom>
        </p:spPr>
        <p:txBody>
          <a:bodyPr wrap="square">
            <a:spAutoFit/>
          </a:bodyPr>
          <a:lstStyle/>
          <a:p>
            <a:pPr>
              <a:defRPr/>
            </a:pPr>
            <a:r>
              <a:rPr lang="en-US" sz="3000" dirty="0">
                <a:solidFill>
                  <a:srgbClr val="FF0000"/>
                </a:solidFill>
                <a:latin typeface="CMR17"/>
              </a:rPr>
              <a:t>Cryptography supports the following services:</a:t>
            </a:r>
          </a:p>
          <a:p>
            <a:pPr>
              <a:defRPr/>
            </a:pPr>
            <a:endParaRPr lang="en-US" sz="3000" dirty="0">
              <a:solidFill>
                <a:srgbClr val="FF0000"/>
              </a:solidFill>
              <a:latin typeface="CMR17"/>
            </a:endParaRPr>
          </a:p>
          <a:p>
            <a:pPr marL="514350" indent="-514350">
              <a:buFontTx/>
              <a:buAutoNum type="arabicPeriod"/>
              <a:defRPr/>
            </a:pPr>
            <a:r>
              <a:rPr lang="en-US" sz="3000" dirty="0">
                <a:solidFill>
                  <a:srgbClr val="000000"/>
                </a:solidFill>
                <a:latin typeface="CMR17"/>
              </a:rPr>
              <a:t>Confidentiality</a:t>
            </a:r>
          </a:p>
          <a:p>
            <a:pPr marL="514350" indent="-514350">
              <a:buFontTx/>
              <a:buAutoNum type="arabicPeriod"/>
              <a:defRPr/>
            </a:pPr>
            <a:endParaRPr lang="en-US" sz="3000" dirty="0">
              <a:solidFill>
                <a:srgbClr val="000000"/>
              </a:solidFill>
              <a:latin typeface="CMR17"/>
            </a:endParaRPr>
          </a:p>
          <a:p>
            <a:pPr>
              <a:defRPr/>
            </a:pPr>
            <a:r>
              <a:rPr lang="en-US" sz="3000" dirty="0">
                <a:solidFill>
                  <a:srgbClr val="FF0000"/>
                </a:solidFill>
                <a:latin typeface="CMR17"/>
              </a:rPr>
              <a:t>2. Integrity</a:t>
            </a:r>
          </a:p>
          <a:p>
            <a:pPr>
              <a:defRPr/>
            </a:pPr>
            <a:endParaRPr lang="en-US" sz="3000" dirty="0">
              <a:solidFill>
                <a:srgbClr val="FF0000"/>
              </a:solidFill>
              <a:latin typeface="CMR17"/>
            </a:endParaRPr>
          </a:p>
          <a:p>
            <a:pPr>
              <a:defRPr/>
            </a:pPr>
            <a:r>
              <a:rPr lang="en-US" sz="3000" dirty="0">
                <a:solidFill>
                  <a:srgbClr val="0000FF"/>
                </a:solidFill>
                <a:latin typeface="CMR17"/>
              </a:rPr>
              <a:t>3. Authentication</a:t>
            </a:r>
          </a:p>
          <a:p>
            <a:pPr>
              <a:defRPr/>
            </a:pPr>
            <a:endParaRPr lang="en-US" sz="3000" dirty="0">
              <a:solidFill>
                <a:srgbClr val="0000FF"/>
              </a:solidFill>
              <a:latin typeface="CMR17"/>
            </a:endParaRPr>
          </a:p>
          <a:p>
            <a:pPr>
              <a:defRPr/>
            </a:pPr>
            <a:r>
              <a:rPr lang="en-US" sz="3000" dirty="0">
                <a:solidFill>
                  <a:srgbClr val="FF0000"/>
                </a:solidFill>
                <a:latin typeface="CMR17"/>
              </a:rPr>
              <a:t>4. Identity</a:t>
            </a:r>
          </a:p>
          <a:p>
            <a:pPr>
              <a:defRPr/>
            </a:pPr>
            <a:endParaRPr lang="en-US" sz="3000" dirty="0">
              <a:solidFill>
                <a:srgbClr val="FF0000"/>
              </a:solidFill>
              <a:latin typeface="CMR17"/>
            </a:endParaRPr>
          </a:p>
          <a:p>
            <a:pPr>
              <a:defRPr/>
            </a:pPr>
            <a:r>
              <a:rPr lang="en-US" sz="3000" dirty="0">
                <a:solidFill>
                  <a:srgbClr val="0000FF"/>
                </a:solidFill>
                <a:latin typeface="CMR17"/>
              </a:rPr>
              <a:t>5. Timeliness</a:t>
            </a:r>
          </a:p>
          <a:p>
            <a:pPr>
              <a:defRPr/>
            </a:pPr>
            <a:endParaRPr lang="en-US" sz="3000" dirty="0">
              <a:solidFill>
                <a:srgbClr val="0000FF"/>
              </a:solidFill>
              <a:latin typeface="CMR17"/>
            </a:endParaRPr>
          </a:p>
          <a:p>
            <a:pPr>
              <a:defRPr/>
            </a:pPr>
            <a:r>
              <a:rPr lang="en-US" sz="3000" dirty="0">
                <a:solidFill>
                  <a:srgbClr val="000000"/>
                </a:solidFill>
                <a:latin typeface="CMR17"/>
              </a:rPr>
              <a:t>6. Proof of ownership</a:t>
            </a:r>
          </a:p>
          <a:p>
            <a:pPr>
              <a:defRPr/>
            </a:pPr>
            <a:endParaRPr lang="en-US" sz="3000" dirty="0">
              <a:solidFill>
                <a:srgbClr val="000000"/>
              </a:solidFill>
              <a:latin typeface="CMR17"/>
            </a:endParaRPr>
          </a:p>
          <a:p>
            <a:pPr>
              <a:defRPr/>
            </a:pPr>
            <a:r>
              <a:rPr lang="en-US" sz="3000" dirty="0">
                <a:solidFill>
                  <a:srgbClr val="FF0000"/>
                </a:solidFill>
                <a:latin typeface="CMR17"/>
              </a:rPr>
              <a:t>Each has various different requirements in different circumstances, and each </a:t>
            </a:r>
            <a:r>
              <a:rPr lang="en-US" sz="3000" dirty="0" err="1">
                <a:solidFill>
                  <a:srgbClr val="FF0000"/>
                </a:solidFill>
                <a:latin typeface="CMR17"/>
              </a:rPr>
              <a:t>issupported</a:t>
            </a:r>
            <a:r>
              <a:rPr lang="en-US" sz="3000" dirty="0">
                <a:solidFill>
                  <a:srgbClr val="FF0000"/>
                </a:solidFill>
                <a:latin typeface="CMR17"/>
              </a:rPr>
              <a:t> by a wide variety of schemes.</a:t>
            </a:r>
            <a:endParaRPr lang="en-US" sz="3000" dirty="0"/>
          </a:p>
        </p:txBody>
      </p:sp>
    </p:spTree>
    <p:extLst>
      <p:ext uri="{BB962C8B-B14F-4D97-AF65-F5344CB8AC3E}">
        <p14:creationId xmlns:p14="http://schemas.microsoft.com/office/powerpoint/2010/main" val="2177109116"/>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0" y="228600"/>
            <a:ext cx="11375232" cy="1257300"/>
          </a:xfrm>
        </p:spPr>
        <p:txBody>
          <a:bodyPr/>
          <a:lstStyle/>
          <a:p>
            <a:pPr>
              <a:defRPr/>
            </a:pPr>
            <a:r>
              <a:rPr lang="en-US" sz="4800" dirty="0"/>
              <a:t>Applications</a:t>
            </a:r>
          </a:p>
        </p:txBody>
      </p:sp>
      <p:sp>
        <p:nvSpPr>
          <p:cNvPr id="72707" name="Rectangle 2"/>
          <p:cNvSpPr>
            <a:spLocks noChangeArrowheads="1"/>
          </p:cNvSpPr>
          <p:nvPr/>
        </p:nvSpPr>
        <p:spPr bwMode="auto">
          <a:xfrm>
            <a:off x="3771900" y="1828801"/>
            <a:ext cx="8229600" cy="6800901"/>
          </a:xfrm>
          <a:prstGeom prst="rect">
            <a:avLst/>
          </a:prstGeom>
          <a:noFill/>
          <a:ln w="9525">
            <a:noFill/>
            <a:miter lim="800000"/>
            <a:headEnd/>
            <a:tailEnd/>
          </a:ln>
        </p:spPr>
        <p:txBody>
          <a:bodyPr>
            <a:spAutoFit/>
          </a:bodyPr>
          <a:lstStyle/>
          <a:p>
            <a:pPr>
              <a:lnSpc>
                <a:spcPts val="4800"/>
              </a:lnSpc>
            </a:pPr>
            <a:r>
              <a:rPr lang="en-US" sz="2700">
                <a:solidFill>
                  <a:srgbClr val="0000FF"/>
                </a:solidFill>
                <a:latin typeface="CMR17"/>
              </a:rPr>
              <a:t>1. Communications (encryption or authentication)</a:t>
            </a:r>
          </a:p>
          <a:p>
            <a:pPr>
              <a:lnSpc>
                <a:spcPts val="4800"/>
              </a:lnSpc>
            </a:pPr>
            <a:r>
              <a:rPr lang="en-US" sz="2700">
                <a:solidFill>
                  <a:srgbClr val="000000"/>
                </a:solidFill>
                <a:latin typeface="CMR17"/>
              </a:rPr>
              <a:t>2. File and data base security</a:t>
            </a:r>
          </a:p>
          <a:p>
            <a:pPr>
              <a:lnSpc>
                <a:spcPts val="4800"/>
              </a:lnSpc>
            </a:pPr>
            <a:r>
              <a:rPr lang="en-US" sz="2700">
                <a:solidFill>
                  <a:srgbClr val="FF0000"/>
                </a:solidFill>
                <a:latin typeface="CMR17"/>
              </a:rPr>
              <a:t>3. Electronic funds transfer</a:t>
            </a:r>
          </a:p>
          <a:p>
            <a:pPr>
              <a:lnSpc>
                <a:spcPts val="4800"/>
              </a:lnSpc>
            </a:pPr>
            <a:r>
              <a:rPr lang="en-US" sz="2700">
                <a:solidFill>
                  <a:srgbClr val="0000FF"/>
                </a:solidFill>
                <a:latin typeface="CMR17"/>
              </a:rPr>
              <a:t>4. Electronic Commerce</a:t>
            </a:r>
          </a:p>
          <a:p>
            <a:pPr>
              <a:lnSpc>
                <a:spcPts val="4800"/>
              </a:lnSpc>
            </a:pPr>
            <a:r>
              <a:rPr lang="en-US" sz="2700">
                <a:solidFill>
                  <a:srgbClr val="000000"/>
                </a:solidFill>
                <a:latin typeface="CMR17"/>
              </a:rPr>
              <a:t>5. Digital cash</a:t>
            </a:r>
          </a:p>
          <a:p>
            <a:pPr>
              <a:lnSpc>
                <a:spcPts val="4800"/>
              </a:lnSpc>
            </a:pPr>
            <a:r>
              <a:rPr lang="en-US" sz="2700">
                <a:solidFill>
                  <a:srgbClr val="FF0000"/>
                </a:solidFill>
                <a:latin typeface="CMR17"/>
              </a:rPr>
              <a:t>6. Contract signing</a:t>
            </a:r>
          </a:p>
          <a:p>
            <a:pPr>
              <a:lnSpc>
                <a:spcPts val="4800"/>
              </a:lnSpc>
            </a:pPr>
            <a:r>
              <a:rPr lang="en-US" sz="2700">
                <a:solidFill>
                  <a:srgbClr val="0000FF"/>
                </a:solidFill>
                <a:latin typeface="CMR17"/>
              </a:rPr>
              <a:t>7. Electronic mail</a:t>
            </a:r>
          </a:p>
          <a:p>
            <a:pPr>
              <a:lnSpc>
                <a:spcPts val="4800"/>
              </a:lnSpc>
            </a:pPr>
            <a:r>
              <a:rPr lang="en-US" sz="2700">
                <a:solidFill>
                  <a:srgbClr val="000000"/>
                </a:solidFill>
                <a:latin typeface="CMR17"/>
              </a:rPr>
              <a:t>8. Authentication: Passwords, PINs</a:t>
            </a:r>
          </a:p>
          <a:p>
            <a:pPr>
              <a:lnSpc>
                <a:spcPts val="4800"/>
              </a:lnSpc>
            </a:pPr>
            <a:r>
              <a:rPr lang="en-US" sz="2700">
                <a:solidFill>
                  <a:srgbClr val="FF0000"/>
                </a:solidFill>
                <a:latin typeface="CMR17"/>
              </a:rPr>
              <a:t>9. Secure identification, Access control</a:t>
            </a:r>
          </a:p>
          <a:p>
            <a:pPr>
              <a:lnSpc>
                <a:spcPts val="4800"/>
              </a:lnSpc>
            </a:pPr>
            <a:r>
              <a:rPr lang="en-US" sz="2700">
                <a:solidFill>
                  <a:srgbClr val="0000FF"/>
                </a:solidFill>
                <a:latin typeface="CMR17"/>
              </a:rPr>
              <a:t>10. Secure protocols</a:t>
            </a:r>
          </a:p>
          <a:p>
            <a:pPr>
              <a:lnSpc>
                <a:spcPts val="4800"/>
              </a:lnSpc>
            </a:pPr>
            <a:r>
              <a:rPr lang="en-US" sz="2700">
                <a:solidFill>
                  <a:srgbClr val="000000"/>
                </a:solidFill>
                <a:latin typeface="CMR17"/>
              </a:rPr>
              <a:t>11. Proof of knowledge</a:t>
            </a:r>
            <a:endParaRPr lang="en-US" sz="2700"/>
          </a:p>
        </p:txBody>
      </p:sp>
    </p:spTree>
    <p:extLst>
      <p:ext uri="{BB962C8B-B14F-4D97-AF65-F5344CB8AC3E}">
        <p14:creationId xmlns:p14="http://schemas.microsoft.com/office/powerpoint/2010/main" val="1997947510"/>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0" y="228600"/>
            <a:ext cx="11375232" cy="1371600"/>
          </a:xfrm>
        </p:spPr>
        <p:txBody>
          <a:bodyPr/>
          <a:lstStyle/>
          <a:p>
            <a:pPr>
              <a:defRPr/>
            </a:pPr>
            <a:r>
              <a:rPr lang="en-US" sz="4800" dirty="0"/>
              <a:t>Applications (cont.)</a:t>
            </a:r>
          </a:p>
        </p:txBody>
      </p:sp>
      <p:sp>
        <p:nvSpPr>
          <p:cNvPr id="73731" name="Rectangle 2"/>
          <p:cNvSpPr>
            <a:spLocks noChangeArrowheads="1"/>
          </p:cNvSpPr>
          <p:nvPr/>
        </p:nvSpPr>
        <p:spPr bwMode="auto">
          <a:xfrm>
            <a:off x="3543300" y="1828801"/>
            <a:ext cx="10858500" cy="1886670"/>
          </a:xfrm>
          <a:prstGeom prst="rect">
            <a:avLst/>
          </a:prstGeom>
          <a:noFill/>
          <a:ln w="9525">
            <a:noFill/>
            <a:miter lim="800000"/>
            <a:headEnd/>
            <a:tailEnd/>
          </a:ln>
        </p:spPr>
        <p:txBody>
          <a:bodyPr>
            <a:spAutoFit/>
          </a:bodyPr>
          <a:lstStyle/>
          <a:p>
            <a:pPr>
              <a:lnSpc>
                <a:spcPts val="4800"/>
              </a:lnSpc>
            </a:pPr>
            <a:r>
              <a:rPr lang="en-US" sz="3000" dirty="0">
                <a:solidFill>
                  <a:srgbClr val="FF0000"/>
                </a:solidFill>
                <a:latin typeface="CMR17"/>
              </a:rPr>
              <a:t>12. Construction by collaborating parties (secret sharing)</a:t>
            </a:r>
          </a:p>
          <a:p>
            <a:pPr>
              <a:lnSpc>
                <a:spcPts val="4800"/>
              </a:lnSpc>
            </a:pPr>
            <a:r>
              <a:rPr lang="en-US" sz="3000" dirty="0">
                <a:solidFill>
                  <a:srgbClr val="0000FF"/>
                </a:solidFill>
                <a:latin typeface="CMR17"/>
              </a:rPr>
              <a:t>13. Copyright protection</a:t>
            </a:r>
          </a:p>
          <a:p>
            <a:pPr>
              <a:lnSpc>
                <a:spcPts val="4800"/>
              </a:lnSpc>
            </a:pPr>
            <a:r>
              <a:rPr lang="en-US" sz="3000" dirty="0">
                <a:solidFill>
                  <a:srgbClr val="000000"/>
                </a:solidFill>
                <a:latin typeface="CMR17"/>
              </a:rPr>
              <a:t>14. etc.</a:t>
            </a:r>
            <a:endParaRPr lang="en-US" sz="3000" dirty="0"/>
          </a:p>
        </p:txBody>
      </p:sp>
    </p:spTree>
    <p:extLst>
      <p:ext uri="{BB962C8B-B14F-4D97-AF65-F5344CB8AC3E}">
        <p14:creationId xmlns:p14="http://schemas.microsoft.com/office/powerpoint/2010/main" val="1847080684"/>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800">
                <a:solidFill>
                  <a:schemeClr val="tx1"/>
                </a:solidFill>
                <a:latin typeface="Arial" pitchFamily="34" charset="0"/>
              </a:defRPr>
            </a:lvl1pPr>
            <a:lvl2pPr>
              <a:defRPr sz="4200">
                <a:solidFill>
                  <a:schemeClr val="tx1"/>
                </a:solidFill>
                <a:latin typeface="Arial" pitchFamily="34" charset="0"/>
              </a:defRPr>
            </a:lvl2pPr>
            <a:lvl3pPr>
              <a:defRPr sz="3600">
                <a:solidFill>
                  <a:schemeClr val="tx1"/>
                </a:solidFill>
                <a:latin typeface="Arial" pitchFamily="34" charset="0"/>
              </a:defRPr>
            </a:lvl3pPr>
            <a:lvl4pPr>
              <a:defRPr sz="3000">
                <a:solidFill>
                  <a:schemeClr val="tx1"/>
                </a:solidFill>
                <a:latin typeface="Arial" pitchFamily="34" charset="0"/>
              </a:defRPr>
            </a:lvl4pPr>
            <a:lvl5pPr>
              <a:defRPr sz="3000">
                <a:solidFill>
                  <a:schemeClr val="tx1"/>
                </a:solidFill>
                <a:latin typeface="Arial" pitchFamily="34" charset="0"/>
              </a:defRPr>
            </a:lvl5pPr>
            <a:lvl6pPr eaLnBrk="0" hangingPunct="0">
              <a:defRPr sz="3000">
                <a:solidFill>
                  <a:schemeClr val="tx1"/>
                </a:solidFill>
                <a:latin typeface="Arial" pitchFamily="34" charset="0"/>
              </a:defRPr>
            </a:lvl6pPr>
            <a:lvl7pPr eaLnBrk="0" hangingPunct="0">
              <a:defRPr sz="3000">
                <a:solidFill>
                  <a:schemeClr val="tx1"/>
                </a:solidFill>
                <a:latin typeface="Arial" pitchFamily="34" charset="0"/>
              </a:defRPr>
            </a:lvl7pPr>
            <a:lvl8pPr eaLnBrk="0" hangingPunct="0">
              <a:defRPr sz="3000">
                <a:solidFill>
                  <a:schemeClr val="tx1"/>
                </a:solidFill>
                <a:latin typeface="Arial" pitchFamily="34" charset="0"/>
              </a:defRPr>
            </a:lvl8pPr>
            <a:lvl9pPr eaLnBrk="0" hangingPunct="0">
              <a:defRPr sz="3000">
                <a:solidFill>
                  <a:schemeClr val="tx1"/>
                </a:solidFill>
                <a:latin typeface="Arial" pitchFamily="34" charset="0"/>
              </a:defRPr>
            </a:lvl9pPr>
          </a:lstStyle>
          <a:p>
            <a:fld id="{8B0E9DF1-0E9D-4A99-A3B5-DC949912A6C9}" type="slidenum">
              <a:rPr lang="en-US" altLang="tr-TR" sz="2100"/>
              <a:pPr/>
              <a:t>168</a:t>
            </a:fld>
            <a:endParaRPr lang="en-US" altLang="tr-TR" sz="2100"/>
          </a:p>
        </p:txBody>
      </p:sp>
      <p:sp>
        <p:nvSpPr>
          <p:cNvPr id="108547" name="Rectangle 2"/>
          <p:cNvSpPr>
            <a:spLocks noGrp="1" noChangeArrowheads="1"/>
          </p:cNvSpPr>
          <p:nvPr>
            <p:ph type="title"/>
          </p:nvPr>
        </p:nvSpPr>
        <p:spPr>
          <a:xfrm>
            <a:off x="3312320" y="390526"/>
            <a:ext cx="11584781" cy="1709738"/>
          </a:xfrm>
        </p:spPr>
        <p:txBody>
          <a:bodyPr/>
          <a:lstStyle/>
          <a:p>
            <a:pPr eaLnBrk="1" hangingPunct="1"/>
            <a:r>
              <a:rPr lang="en-US" altLang="tr-TR"/>
              <a:t>Some Other Security Facts</a:t>
            </a:r>
          </a:p>
        </p:txBody>
      </p:sp>
      <p:sp>
        <p:nvSpPr>
          <p:cNvPr id="108548" name="Rectangle 3"/>
          <p:cNvSpPr>
            <a:spLocks noGrp="1" noChangeArrowheads="1"/>
          </p:cNvSpPr>
          <p:nvPr>
            <p:ph type="body" idx="1"/>
          </p:nvPr>
        </p:nvSpPr>
        <p:spPr>
          <a:xfrm>
            <a:off x="3143251" y="2035970"/>
            <a:ext cx="12322970" cy="7200900"/>
          </a:xfrm>
        </p:spPr>
        <p:txBody>
          <a:bodyPr/>
          <a:lstStyle/>
          <a:p>
            <a:pPr eaLnBrk="1" hangingPunct="1">
              <a:lnSpc>
                <a:spcPct val="90000"/>
              </a:lnSpc>
              <a:buFont typeface="Wingdings" pitchFamily="2" charset="2"/>
              <a:buChar char="§"/>
            </a:pPr>
            <a:r>
              <a:rPr lang="en-US" altLang="tr-TR" sz="3600"/>
              <a:t>Not as simple as it might first appear to the novice</a:t>
            </a:r>
          </a:p>
          <a:p>
            <a:pPr eaLnBrk="1" hangingPunct="1">
              <a:lnSpc>
                <a:spcPct val="90000"/>
              </a:lnSpc>
              <a:buFont typeface="Wingdings" pitchFamily="2" charset="2"/>
              <a:buChar char="§"/>
            </a:pPr>
            <a:r>
              <a:rPr lang="en-US" altLang="tr-TR" sz="3600"/>
              <a:t>Must consider all potential attacks when designing a system</a:t>
            </a:r>
          </a:p>
          <a:p>
            <a:pPr eaLnBrk="1" hangingPunct="1">
              <a:lnSpc>
                <a:spcPct val="90000"/>
              </a:lnSpc>
              <a:buFont typeface="Wingdings" pitchFamily="2" charset="2"/>
              <a:buChar char="§"/>
            </a:pPr>
            <a:r>
              <a:rPr lang="en-US" altLang="tr-TR" sz="3600"/>
              <a:t>Generally yields complex and counterintuitive systems</a:t>
            </a:r>
          </a:p>
          <a:p>
            <a:pPr eaLnBrk="1" hangingPunct="1">
              <a:lnSpc>
                <a:spcPct val="90000"/>
              </a:lnSpc>
              <a:buFont typeface="Wingdings" pitchFamily="2" charset="2"/>
              <a:buChar char="§"/>
            </a:pPr>
            <a:r>
              <a:rPr lang="en-US" altLang="tr-TR" sz="3600"/>
              <a:t>Battle of intelligent strategies between attacker and admin</a:t>
            </a:r>
          </a:p>
          <a:p>
            <a:pPr eaLnBrk="1" hangingPunct="1">
              <a:lnSpc>
                <a:spcPct val="90000"/>
              </a:lnSpc>
              <a:buFont typeface="Wingdings" pitchFamily="2" charset="2"/>
              <a:buChar char="§"/>
            </a:pPr>
            <a:r>
              <a:rPr lang="en-US" altLang="tr-TR" sz="3600"/>
              <a:t>Requires regular monitoring</a:t>
            </a:r>
          </a:p>
          <a:p>
            <a:pPr eaLnBrk="1" hangingPunct="1">
              <a:lnSpc>
                <a:spcPct val="90000"/>
              </a:lnSpc>
              <a:buFont typeface="Wingdings" pitchFamily="2" charset="2"/>
              <a:buChar char="§"/>
            </a:pPr>
            <a:r>
              <a:rPr lang="en-US" altLang="tr-TR" sz="3600"/>
              <a:t>Not considered as a beneficial investment until a security failure occurs</a:t>
            </a:r>
          </a:p>
          <a:p>
            <a:pPr lvl="1" eaLnBrk="1" hangingPunct="1">
              <a:lnSpc>
                <a:spcPct val="90000"/>
              </a:lnSpc>
              <a:buClr>
                <a:schemeClr val="hlink"/>
              </a:buClr>
              <a:buFont typeface="Wingdings" pitchFamily="2" charset="2"/>
              <a:buChar char="§"/>
            </a:pPr>
            <a:r>
              <a:rPr lang="en-US" altLang="tr-TR" sz="3000"/>
              <a:t>Actually security investments must be considered as insurance against attacks</a:t>
            </a:r>
          </a:p>
          <a:p>
            <a:pPr eaLnBrk="1" hangingPunct="1">
              <a:lnSpc>
                <a:spcPct val="90000"/>
              </a:lnSpc>
              <a:buFont typeface="Wingdings" pitchFamily="2" charset="2"/>
              <a:buChar char="§"/>
            </a:pPr>
            <a:r>
              <a:rPr lang="en-US" altLang="tr-TR" sz="3600"/>
              <a:t>too often an afterthought</a:t>
            </a:r>
          </a:p>
          <a:p>
            <a:pPr lvl="1" eaLnBrk="1" hangingPunct="1">
              <a:lnSpc>
                <a:spcPct val="90000"/>
              </a:lnSpc>
              <a:buClr>
                <a:schemeClr val="hlink"/>
              </a:buClr>
              <a:buFont typeface="Wingdings" pitchFamily="2" charset="2"/>
              <a:buChar char="§"/>
            </a:pPr>
            <a:r>
              <a:rPr lang="en-US" altLang="tr-TR" sz="3000"/>
              <a:t>Not only from investment point of view, but also from design point of view</a:t>
            </a:r>
          </a:p>
        </p:txBody>
      </p:sp>
    </p:spTree>
    <p:extLst>
      <p:ext uri="{BB962C8B-B14F-4D97-AF65-F5344CB8AC3E}">
        <p14:creationId xmlns:p14="http://schemas.microsoft.com/office/powerpoint/2010/main" val="2669731360"/>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3455195" y="95250"/>
            <a:ext cx="11375231" cy="1504950"/>
          </a:xfrm>
        </p:spPr>
        <p:txBody>
          <a:bodyPr/>
          <a:lstStyle/>
          <a:p>
            <a:pPr>
              <a:defRPr/>
            </a:pPr>
            <a:r>
              <a:rPr lang="en-US" sz="4800" dirty="0"/>
              <a:t>Summary</a:t>
            </a:r>
            <a:endParaRPr lang="en-AU" sz="4800" dirty="0"/>
          </a:p>
        </p:txBody>
      </p:sp>
      <p:sp>
        <p:nvSpPr>
          <p:cNvPr id="76803" name="Rectangle 3"/>
          <p:cNvSpPr>
            <a:spLocks noGrp="1" noChangeArrowheads="1"/>
          </p:cNvSpPr>
          <p:nvPr>
            <p:ph sz="half" idx="4294967295"/>
          </p:nvPr>
        </p:nvSpPr>
        <p:spPr>
          <a:xfrm>
            <a:off x="3543301" y="1714500"/>
            <a:ext cx="5348288" cy="6858000"/>
          </a:xfrm>
          <a:prstGeom prst="rect">
            <a:avLst/>
          </a:prstGeom>
        </p:spPr>
        <p:txBody>
          <a:bodyPr/>
          <a:lstStyle/>
          <a:p>
            <a:pPr>
              <a:defRPr/>
            </a:pPr>
            <a:r>
              <a:rPr lang="en-US" dirty="0">
                <a:solidFill>
                  <a:schemeClr val="tx2">
                    <a:lumMod val="10000"/>
                  </a:schemeClr>
                </a:solidFill>
              </a:rPr>
              <a:t>Computer security concepts</a:t>
            </a:r>
          </a:p>
          <a:p>
            <a:pPr lvl="1">
              <a:buClr>
                <a:schemeClr val="bg1"/>
              </a:buClr>
              <a:defRPr/>
            </a:pPr>
            <a:r>
              <a:rPr lang="en-US" dirty="0">
                <a:solidFill>
                  <a:schemeClr val="tx2">
                    <a:lumMod val="10000"/>
                  </a:schemeClr>
                </a:solidFill>
              </a:rPr>
              <a:t>Definition</a:t>
            </a:r>
          </a:p>
          <a:p>
            <a:pPr lvl="1">
              <a:buClr>
                <a:schemeClr val="bg1"/>
              </a:buClr>
              <a:defRPr/>
            </a:pPr>
            <a:r>
              <a:rPr lang="en-US" dirty="0">
                <a:solidFill>
                  <a:schemeClr val="tx2">
                    <a:lumMod val="10000"/>
                  </a:schemeClr>
                </a:solidFill>
              </a:rPr>
              <a:t>Examples</a:t>
            </a:r>
          </a:p>
          <a:p>
            <a:pPr lvl="1">
              <a:buClr>
                <a:schemeClr val="bg1"/>
              </a:buClr>
              <a:defRPr/>
            </a:pPr>
            <a:r>
              <a:rPr lang="en-US" dirty="0">
                <a:solidFill>
                  <a:schemeClr val="tx2">
                    <a:lumMod val="10000"/>
                  </a:schemeClr>
                </a:solidFill>
              </a:rPr>
              <a:t>Challenges </a:t>
            </a:r>
          </a:p>
          <a:p>
            <a:pPr>
              <a:defRPr/>
            </a:pPr>
            <a:r>
              <a:rPr lang="en-US" dirty="0">
                <a:solidFill>
                  <a:schemeClr val="tx2">
                    <a:lumMod val="10000"/>
                  </a:schemeClr>
                </a:solidFill>
              </a:rPr>
              <a:t>The OSI security architecture</a:t>
            </a:r>
          </a:p>
          <a:p>
            <a:pPr>
              <a:defRPr/>
            </a:pPr>
            <a:r>
              <a:rPr lang="en-US" dirty="0">
                <a:solidFill>
                  <a:schemeClr val="tx2">
                    <a:lumMod val="10000"/>
                  </a:schemeClr>
                </a:solidFill>
              </a:rPr>
              <a:t>Security attacks</a:t>
            </a:r>
          </a:p>
          <a:p>
            <a:pPr lvl="1">
              <a:buClr>
                <a:schemeClr val="bg1"/>
              </a:buClr>
              <a:defRPr/>
            </a:pPr>
            <a:r>
              <a:rPr lang="en-US" dirty="0">
                <a:solidFill>
                  <a:schemeClr val="tx2">
                    <a:lumMod val="10000"/>
                  </a:schemeClr>
                </a:solidFill>
              </a:rPr>
              <a:t>Passive attacks</a:t>
            </a:r>
          </a:p>
          <a:p>
            <a:pPr lvl="1">
              <a:buClr>
                <a:schemeClr val="bg1"/>
              </a:buClr>
              <a:defRPr/>
            </a:pPr>
            <a:r>
              <a:rPr lang="en-US" dirty="0">
                <a:solidFill>
                  <a:schemeClr val="tx2">
                    <a:lumMod val="10000"/>
                  </a:schemeClr>
                </a:solidFill>
              </a:rPr>
              <a:t>Active attacks</a:t>
            </a:r>
            <a:endParaRPr lang="en-AU" dirty="0">
              <a:solidFill>
                <a:schemeClr val="tx2">
                  <a:lumMod val="10000"/>
                </a:schemeClr>
              </a:solidFill>
            </a:endParaRPr>
          </a:p>
        </p:txBody>
      </p:sp>
      <p:sp>
        <p:nvSpPr>
          <p:cNvPr id="76804" name="Content Placeholder 11"/>
          <p:cNvSpPr>
            <a:spLocks noGrp="1"/>
          </p:cNvSpPr>
          <p:nvPr>
            <p:ph sz="half" idx="4294967295"/>
          </p:nvPr>
        </p:nvSpPr>
        <p:spPr>
          <a:xfrm>
            <a:off x="9372601" y="1828800"/>
            <a:ext cx="5348288" cy="7086600"/>
          </a:xfrm>
          <a:prstGeom prst="rect">
            <a:avLst/>
          </a:prstGeom>
        </p:spPr>
        <p:txBody>
          <a:bodyPr/>
          <a:lstStyle/>
          <a:p>
            <a:pPr>
              <a:defRPr/>
            </a:pPr>
            <a:r>
              <a:rPr lang="en-US" dirty="0">
                <a:solidFill>
                  <a:schemeClr val="tx2">
                    <a:lumMod val="10000"/>
                  </a:schemeClr>
                </a:solidFill>
              </a:rPr>
              <a:t>Security services</a:t>
            </a:r>
          </a:p>
          <a:p>
            <a:pPr lvl="1">
              <a:buClr>
                <a:schemeClr val="bg1"/>
              </a:buClr>
              <a:defRPr/>
            </a:pPr>
            <a:r>
              <a:rPr lang="en-US" dirty="0">
                <a:solidFill>
                  <a:schemeClr val="tx2">
                    <a:lumMod val="10000"/>
                  </a:schemeClr>
                </a:solidFill>
              </a:rPr>
              <a:t>Authentication</a:t>
            </a:r>
          </a:p>
          <a:p>
            <a:pPr lvl="1">
              <a:buClr>
                <a:schemeClr val="bg1"/>
              </a:buClr>
              <a:defRPr/>
            </a:pPr>
            <a:r>
              <a:rPr lang="en-US" dirty="0">
                <a:solidFill>
                  <a:schemeClr val="tx2">
                    <a:lumMod val="10000"/>
                  </a:schemeClr>
                </a:solidFill>
              </a:rPr>
              <a:t>Access control</a:t>
            </a:r>
          </a:p>
          <a:p>
            <a:pPr lvl="1">
              <a:buClr>
                <a:schemeClr val="bg1"/>
              </a:buClr>
              <a:defRPr/>
            </a:pPr>
            <a:r>
              <a:rPr lang="en-US" dirty="0">
                <a:solidFill>
                  <a:schemeClr val="tx2">
                    <a:lumMod val="10000"/>
                  </a:schemeClr>
                </a:solidFill>
              </a:rPr>
              <a:t>Data confidentiality</a:t>
            </a:r>
          </a:p>
          <a:p>
            <a:pPr lvl="1">
              <a:buClr>
                <a:schemeClr val="bg1"/>
              </a:buClr>
              <a:defRPr/>
            </a:pPr>
            <a:r>
              <a:rPr lang="en-US" dirty="0">
                <a:solidFill>
                  <a:schemeClr val="tx2">
                    <a:lumMod val="10000"/>
                  </a:schemeClr>
                </a:solidFill>
              </a:rPr>
              <a:t>Data integrity</a:t>
            </a:r>
          </a:p>
          <a:p>
            <a:pPr lvl="1">
              <a:buClr>
                <a:schemeClr val="bg1"/>
              </a:buClr>
              <a:defRPr/>
            </a:pPr>
            <a:r>
              <a:rPr lang="en-US" dirty="0">
                <a:solidFill>
                  <a:schemeClr val="tx2">
                    <a:lumMod val="10000"/>
                  </a:schemeClr>
                </a:solidFill>
              </a:rPr>
              <a:t>Nonrepudiation</a:t>
            </a:r>
          </a:p>
          <a:p>
            <a:pPr lvl="1">
              <a:buClr>
                <a:schemeClr val="bg1"/>
              </a:buClr>
              <a:defRPr/>
            </a:pPr>
            <a:r>
              <a:rPr lang="en-US" dirty="0">
                <a:solidFill>
                  <a:schemeClr val="tx2">
                    <a:lumMod val="10000"/>
                  </a:schemeClr>
                </a:solidFill>
              </a:rPr>
              <a:t>Availability service</a:t>
            </a:r>
          </a:p>
          <a:p>
            <a:pPr>
              <a:defRPr/>
            </a:pPr>
            <a:r>
              <a:rPr lang="en-US" dirty="0">
                <a:solidFill>
                  <a:schemeClr val="tx2">
                    <a:lumMod val="10000"/>
                  </a:schemeClr>
                </a:solidFill>
              </a:rPr>
              <a:t>Security mechanisms</a:t>
            </a:r>
          </a:p>
          <a:p>
            <a:pPr>
              <a:defRPr/>
            </a:pPr>
            <a:r>
              <a:rPr lang="en-US" dirty="0">
                <a:solidFill>
                  <a:schemeClr val="tx2">
                    <a:lumMod val="10000"/>
                  </a:schemeClr>
                </a:solidFill>
              </a:rPr>
              <a:t>Model for network security</a:t>
            </a:r>
          </a:p>
          <a:p>
            <a:pPr>
              <a:defRPr/>
            </a:pPr>
            <a:r>
              <a:rPr lang="en-US" dirty="0">
                <a:solidFill>
                  <a:schemeClr val="tx2">
                    <a:lumMod val="10000"/>
                  </a:schemeClr>
                </a:solidFill>
              </a:rPr>
              <a:t>Standards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2918</TotalTime>
  <Words>12451</Words>
  <Application>Microsoft Office PowerPoint</Application>
  <PresentationFormat>Custom</PresentationFormat>
  <Paragraphs>1509</Paragraphs>
  <Slides>169</Slides>
  <Notes>118</Notes>
  <HiddenSlides>0</HiddenSlides>
  <MMClips>0</MMClips>
  <ScaleCrop>false</ScaleCrop>
  <HeadingPairs>
    <vt:vector size="6" baseType="variant">
      <vt:variant>
        <vt:lpstr>Fonts Used</vt:lpstr>
      </vt:variant>
      <vt:variant>
        <vt:i4>18</vt:i4>
      </vt:variant>
      <vt:variant>
        <vt:lpstr>Theme</vt:lpstr>
      </vt:variant>
      <vt:variant>
        <vt:i4>1</vt:i4>
      </vt:variant>
      <vt:variant>
        <vt:lpstr>Slide Titles</vt:lpstr>
      </vt:variant>
      <vt:variant>
        <vt:i4>169</vt:i4>
      </vt:variant>
    </vt:vector>
  </HeadingPairs>
  <TitlesOfParts>
    <vt:vector size="188" baseType="lpstr">
      <vt:lpstr>Calisto MT</vt:lpstr>
      <vt:lpstr>Arial</vt:lpstr>
      <vt:lpstr>Wingdings</vt:lpstr>
      <vt:lpstr>Times New Roman</vt:lpstr>
      <vt:lpstr>Lucida Sans</vt:lpstr>
      <vt:lpstr>MS PGothic</vt:lpstr>
      <vt:lpstr>Outfit</vt:lpstr>
      <vt:lpstr>JetBrains Mono</vt:lpstr>
      <vt:lpstr>Arial Unicode MS</vt:lpstr>
      <vt:lpstr>Tahoma</vt:lpstr>
      <vt:lpstr>Calibri</vt:lpstr>
      <vt:lpstr>Urbanist</vt:lpstr>
      <vt:lpstr>CMR17</vt:lpstr>
      <vt:lpstr>DM Sans</vt:lpstr>
      <vt:lpstr>Graphik-Black</vt:lpstr>
      <vt:lpstr>Times</vt:lpstr>
      <vt:lpstr>Inter</vt:lpstr>
      <vt:lpstr>Merriweather</vt:lpstr>
      <vt:lpstr>Office Theme</vt:lpstr>
      <vt:lpstr>PowerPoint Presentation</vt:lpstr>
      <vt:lpstr>Text Book</vt:lpstr>
      <vt:lpstr>Learning Objectives</vt:lpstr>
      <vt:lpstr>Introduction</vt:lpstr>
      <vt:lpstr>History – Pre-Renaissance</vt:lpstr>
      <vt:lpstr>History – Pre-Renaissance</vt:lpstr>
      <vt:lpstr>History – Pre-Renaissance</vt:lpstr>
      <vt:lpstr>History – Renaissance to World War I</vt:lpstr>
      <vt:lpstr>History –World War II</vt:lpstr>
      <vt:lpstr>History –Cold War</vt:lpstr>
      <vt:lpstr>History –Cold War</vt:lpstr>
      <vt:lpstr>History – The Modern Era</vt:lpstr>
      <vt:lpstr>Organized Crime and Botnets</vt:lpstr>
      <vt:lpstr>What is Security?</vt:lpstr>
      <vt:lpstr>What is Security?</vt:lpstr>
      <vt:lpstr>What is Security?</vt:lpstr>
      <vt:lpstr>What is Security?</vt:lpstr>
      <vt:lpstr>Computer Security Concepts</vt:lpstr>
      <vt:lpstr>Computer and Internet Security </vt:lpstr>
      <vt:lpstr>What security is about in general?</vt:lpstr>
      <vt:lpstr>Information security in past &amp; present</vt:lpstr>
      <vt:lpstr>Real world example</vt:lpstr>
      <vt:lpstr>Definition</vt:lpstr>
      <vt:lpstr>Cybersecurity: Categories</vt:lpstr>
      <vt:lpstr>Domains of Cybersecurity</vt:lpstr>
      <vt:lpstr>Security Trends</vt:lpstr>
      <vt:lpstr>The global average cost of cyber crime/attacks</vt:lpstr>
      <vt:lpstr>Types of cyber attacks experienced</vt:lpstr>
      <vt:lpstr>Computer Security</vt:lpstr>
      <vt:lpstr>Computer Security </vt:lpstr>
      <vt:lpstr>Computer Security Objectives</vt:lpstr>
      <vt:lpstr>PowerPoint Presentation</vt:lpstr>
      <vt:lpstr>CIA Triad</vt:lpstr>
      <vt:lpstr>NSTISSC Security Model</vt:lpstr>
      <vt:lpstr>NSTISSC Security Model</vt:lpstr>
      <vt:lpstr>NSTISSC Security Model</vt:lpstr>
      <vt:lpstr>PowerPoint Presentation</vt:lpstr>
      <vt:lpstr>PowerPoint Presentation</vt:lpstr>
      <vt:lpstr>Possible additional concepts:</vt:lpstr>
      <vt:lpstr>Possible additional concepts:</vt:lpstr>
      <vt:lpstr>Possible additional concepts:</vt:lpstr>
      <vt:lpstr>Possible additional concepts:</vt:lpstr>
      <vt:lpstr>FIPS 199 Impact Levels  of Breach</vt:lpstr>
      <vt:lpstr>Breach of Security : 3 Levels of Impact</vt:lpstr>
      <vt:lpstr>Examples of Security Requirements</vt:lpstr>
      <vt:lpstr>Computer Security Challenges</vt:lpstr>
      <vt:lpstr>A Model for Computer Security</vt:lpstr>
      <vt:lpstr>Vulnerabilities, Threats, and Attacks</vt:lpstr>
      <vt:lpstr>A Model for Computer Security</vt:lpstr>
      <vt:lpstr>A Model for Computer Security</vt:lpstr>
      <vt:lpstr>Computer Security Terminologies</vt:lpstr>
      <vt:lpstr>Relationships among the security Concepts</vt:lpstr>
      <vt:lpstr>Threat Consequences</vt:lpstr>
      <vt:lpstr>Threat Consequences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Fundamental Security Design Principles</vt:lpstr>
      <vt:lpstr>Fundamental Security Design Principles</vt:lpstr>
      <vt:lpstr>Fundamental Security design Principals</vt:lpstr>
      <vt:lpstr>Fundamental Security design Principals</vt:lpstr>
      <vt:lpstr>Fundamental Security Design Principals</vt:lpstr>
      <vt:lpstr>Fundamental Security Design Principals</vt:lpstr>
      <vt:lpstr>Fundamental Security Design Principals</vt:lpstr>
      <vt:lpstr>Fundamental Security Design Principals</vt:lpstr>
      <vt:lpstr>Fundamental Security Design Principals</vt:lpstr>
      <vt:lpstr>Attack Surface and Attack Tress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ITU-T</vt:lpstr>
      <vt:lpstr>OSI </vt:lpstr>
      <vt:lpstr>History of OSI</vt:lpstr>
      <vt:lpstr>X.800</vt:lpstr>
      <vt:lpstr>OSI Security Architecture</vt:lpstr>
      <vt:lpstr>IETF and RFC</vt:lpstr>
      <vt:lpstr>ATTACKS</vt:lpstr>
      <vt:lpstr> Threats and Attacks (RFC 4949) </vt:lpstr>
      <vt:lpstr>PowerPoint Presentation</vt:lpstr>
      <vt:lpstr>Security Attacks</vt:lpstr>
      <vt:lpstr>Passive Attacks  (Two types) </vt:lpstr>
      <vt:lpstr>PowerPoint Presentation</vt:lpstr>
      <vt:lpstr>PowerPoint Presentation</vt:lpstr>
      <vt:lpstr>PowerPoint Presentation</vt:lpstr>
      <vt:lpstr>Active Attacks (4 types)</vt:lpstr>
      <vt:lpstr>PowerPoint Presentation</vt:lpstr>
      <vt:lpstr>PowerPoint Presentation</vt:lpstr>
      <vt:lpstr>PowerPoint Presentation</vt:lpstr>
      <vt:lpstr>PowerPoint Presentation</vt:lpstr>
      <vt:lpstr>PowerPoint Presentation</vt:lpstr>
      <vt:lpstr>Security Services</vt:lpstr>
      <vt:lpstr>Basic Security Services</vt:lpstr>
      <vt:lpstr>Basic Security Services</vt:lpstr>
      <vt:lpstr>Relationships</vt:lpstr>
      <vt:lpstr>Services  and Mechanisms</vt:lpstr>
      <vt:lpstr>Security Services</vt:lpstr>
      <vt:lpstr>X.800 Service Categories</vt:lpstr>
      <vt:lpstr>PowerPoint Presentation</vt:lpstr>
      <vt:lpstr>PowerPoint Presentation</vt:lpstr>
      <vt:lpstr>Authentication</vt:lpstr>
      <vt:lpstr>Access Control</vt:lpstr>
      <vt:lpstr>Data Confidentiality</vt:lpstr>
      <vt:lpstr>Data Integrity</vt:lpstr>
      <vt:lpstr>Nonrepudiation </vt:lpstr>
      <vt:lpstr>Availability service</vt:lpstr>
      <vt:lpstr>Security Mechanisms</vt:lpstr>
      <vt:lpstr>Cryptographic Security Mechanisms</vt:lpstr>
      <vt:lpstr>Cryptographic Security Mechanisms</vt:lpstr>
      <vt:lpstr>Security Mechanisms</vt:lpstr>
      <vt:lpstr>Security Mechanisms (X.800)</vt:lpstr>
      <vt:lpstr>PowerPoint Presentation</vt:lpstr>
      <vt:lpstr>PowerPoint Presentation</vt:lpstr>
      <vt:lpstr>Relationship Between Security Services and Mechanisms</vt:lpstr>
      <vt:lpstr>Relationship Between Security Services and Mechanisms</vt:lpstr>
      <vt:lpstr>Cryptography</vt:lpstr>
      <vt:lpstr>Cryptographic Algorithms</vt:lpstr>
      <vt:lpstr>Network Security</vt:lpstr>
      <vt:lpstr>Attack Surface Categories</vt:lpstr>
      <vt:lpstr>Defence in Depth and Attack Surface</vt:lpstr>
      <vt:lpstr>Attack Tree</vt:lpstr>
      <vt:lpstr>Unwanted Access</vt:lpstr>
      <vt:lpstr>Standards</vt:lpstr>
      <vt:lpstr>PowerPoint Presentation</vt:lpstr>
      <vt:lpstr>PowerPoint Presentation</vt:lpstr>
      <vt:lpstr>PowerPoint Presentation</vt:lpstr>
      <vt:lpstr>PowerPoint Presentation</vt:lpstr>
      <vt:lpstr>Cryptographic Services</vt:lpstr>
      <vt:lpstr>Applications</vt:lpstr>
      <vt:lpstr>Applications (cont.)</vt:lpstr>
      <vt:lpstr>Some Other Security Facts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Thank You or Closing Slide Presentation in Bright Orange Orange Light Orange Style</dc:title>
  <dc:creator>Dell</dc:creator>
  <cp:lastModifiedBy>cbrange01@outlook.com</cp:lastModifiedBy>
  <cp:revision>42</cp:revision>
  <dcterms:created xsi:type="dcterms:W3CDTF">2006-08-16T00:00:00Z</dcterms:created>
  <dcterms:modified xsi:type="dcterms:W3CDTF">2026-06-20T17:33:43Z</dcterms:modified>
  <dc:identifier>DAG7ASATu_w</dc:identifier>
</cp:coreProperties>
</file>