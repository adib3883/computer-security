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1"/>
  </p:notesMasterIdLst>
  <p:sldIdLst>
    <p:sldId id="685" r:id="rId2"/>
    <p:sldId id="686" r:id="rId3"/>
    <p:sldId id="642" r:id="rId4"/>
    <p:sldId id="688" r:id="rId5"/>
    <p:sldId id="689" r:id="rId6"/>
    <p:sldId id="691" r:id="rId7"/>
    <p:sldId id="693" r:id="rId8"/>
    <p:sldId id="647" r:id="rId9"/>
    <p:sldId id="695" r:id="rId10"/>
    <p:sldId id="696" r:id="rId11"/>
    <p:sldId id="697" r:id="rId12"/>
    <p:sldId id="698" r:id="rId13"/>
    <p:sldId id="699" r:id="rId14"/>
    <p:sldId id="702" r:id="rId15"/>
    <p:sldId id="700" r:id="rId16"/>
    <p:sldId id="701" r:id="rId17"/>
    <p:sldId id="703" r:id="rId18"/>
    <p:sldId id="704" r:id="rId19"/>
    <p:sldId id="705" r:id="rId20"/>
    <p:sldId id="706" r:id="rId21"/>
    <p:sldId id="707" r:id="rId22"/>
    <p:sldId id="708" r:id="rId23"/>
    <p:sldId id="709" r:id="rId24"/>
    <p:sldId id="710" r:id="rId25"/>
    <p:sldId id="711" r:id="rId26"/>
    <p:sldId id="712" r:id="rId27"/>
    <p:sldId id="713" r:id="rId28"/>
    <p:sldId id="714" r:id="rId29"/>
    <p:sldId id="715" r:id="rId30"/>
    <p:sldId id="643" r:id="rId31"/>
    <p:sldId id="720" r:id="rId32"/>
    <p:sldId id="721" r:id="rId33"/>
    <p:sldId id="722" r:id="rId34"/>
    <p:sldId id="724" r:id="rId35"/>
    <p:sldId id="725" r:id="rId36"/>
    <p:sldId id="726" r:id="rId37"/>
    <p:sldId id="727" r:id="rId38"/>
    <p:sldId id="728" r:id="rId39"/>
    <p:sldId id="729" r:id="rId40"/>
    <p:sldId id="730" r:id="rId41"/>
    <p:sldId id="731" r:id="rId42"/>
    <p:sldId id="732" r:id="rId43"/>
    <p:sldId id="733" r:id="rId44"/>
    <p:sldId id="734" r:id="rId45"/>
    <p:sldId id="735" r:id="rId46"/>
    <p:sldId id="736" r:id="rId47"/>
    <p:sldId id="737" r:id="rId48"/>
    <p:sldId id="738" r:id="rId49"/>
    <p:sldId id="739" r:id="rId50"/>
    <p:sldId id="740" r:id="rId51"/>
    <p:sldId id="741" r:id="rId52"/>
    <p:sldId id="743" r:id="rId53"/>
    <p:sldId id="747" r:id="rId54"/>
    <p:sldId id="744" r:id="rId55"/>
    <p:sldId id="781" r:id="rId56"/>
    <p:sldId id="780" r:id="rId57"/>
    <p:sldId id="782" r:id="rId58"/>
    <p:sldId id="783" r:id="rId59"/>
    <p:sldId id="779" r:id="rId60"/>
    <p:sldId id="748" r:id="rId61"/>
    <p:sldId id="749" r:id="rId62"/>
    <p:sldId id="750" r:id="rId63"/>
    <p:sldId id="751" r:id="rId64"/>
    <p:sldId id="752" r:id="rId65"/>
    <p:sldId id="753" r:id="rId66"/>
    <p:sldId id="784" r:id="rId67"/>
    <p:sldId id="644" r:id="rId68"/>
    <p:sldId id="754" r:id="rId69"/>
    <p:sldId id="755" r:id="rId70"/>
    <p:sldId id="756" r:id="rId71"/>
    <p:sldId id="757" r:id="rId72"/>
    <p:sldId id="758" r:id="rId73"/>
    <p:sldId id="759" r:id="rId74"/>
    <p:sldId id="760" r:id="rId75"/>
    <p:sldId id="761" r:id="rId76"/>
    <p:sldId id="762" r:id="rId77"/>
    <p:sldId id="763" r:id="rId78"/>
    <p:sldId id="764" r:id="rId79"/>
    <p:sldId id="687" r:id="rId80"/>
    <p:sldId id="766" r:id="rId81"/>
    <p:sldId id="768" r:id="rId82"/>
    <p:sldId id="770" r:id="rId83"/>
    <p:sldId id="771" r:id="rId84"/>
    <p:sldId id="773" r:id="rId85"/>
    <p:sldId id="774" r:id="rId86"/>
    <p:sldId id="775" r:id="rId87"/>
    <p:sldId id="776" r:id="rId88"/>
    <p:sldId id="777" r:id="rId89"/>
    <p:sldId id="778" r:id="rId9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00"/>
    <a:srgbClr val="660066"/>
    <a:srgbClr val="00CC00"/>
    <a:srgbClr val="D9ECFF"/>
    <a:srgbClr val="99CCFF"/>
    <a:srgbClr val="FFFF00"/>
    <a:srgbClr val="F2F3B7"/>
    <a:srgbClr val="EAE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17" autoAdjust="0"/>
    <p:restoredTop sz="94712" autoAdjust="0"/>
  </p:normalViewPr>
  <p:slideViewPr>
    <p:cSldViewPr>
      <p:cViewPr varScale="1">
        <p:scale>
          <a:sx n="78" d="100"/>
          <a:sy n="78" d="100"/>
        </p:scale>
        <p:origin x="133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9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8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i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smtClean="0"/>
            </a:lvl1pPr>
          </a:lstStyle>
          <a:p>
            <a:pPr>
              <a:defRPr/>
            </a:pPr>
            <a:fld id="{E0A1CFCD-6F4B-4402-AF7C-FC9780911C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9205FF-0F12-4620-970F-C79978AF7D62}" type="slidenum">
              <a:rPr lang="en-US" b="0" i="0"/>
              <a:pPr/>
              <a:t>1</a:t>
            </a:fld>
            <a:endParaRPr lang="en-US" b="0" i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45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562122-2430-4C49-80F1-2850FBAC916D}" type="slidenum">
              <a:rPr lang="en-US" b="0" i="0"/>
              <a:pPr/>
              <a:t>2</a:t>
            </a:fld>
            <a:endParaRPr lang="en-US" b="0" i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45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96EDBD-27AC-47F7-A231-D2CA76BE73D6}" type="slidenum">
              <a:rPr lang="en-US" b="0" i="0"/>
              <a:pPr/>
              <a:t>3</a:t>
            </a:fld>
            <a:endParaRPr lang="en-US" b="0" i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05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1426F5-D807-4F8E-979B-186A822D7C5C}" type="slidenum">
              <a:rPr lang="en-US" b="0" i="0"/>
              <a:pPr/>
              <a:t>4</a:t>
            </a:fld>
            <a:endParaRPr lang="en-US" b="0" i="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96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FE1123E-06E1-4975-B0A5-368B54511A4C}" type="slidenum">
              <a:rPr lang="en-US" b="0" i="0"/>
              <a:pPr/>
              <a:t>5</a:t>
            </a:fld>
            <a:endParaRPr lang="en-US" b="0" i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08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7F17C85-C9CF-4F5D-B147-C484FAB3666F}" type="slidenum">
              <a:rPr lang="en-US" b="0" i="0"/>
              <a:pPr/>
              <a:t>6</a:t>
            </a:fld>
            <a:endParaRPr lang="en-US" b="0" i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81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43DF2DB-6D2F-4F34-B0AF-31F4E1CB4E0B}" type="slidenum">
              <a:rPr lang="en-US" b="0" i="0"/>
              <a:pPr/>
              <a:t>7</a:t>
            </a:fld>
            <a:endParaRPr lang="en-US" b="0" i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24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AE5133-484F-4217-B112-BA5E69E0782E}" type="slidenum">
              <a:rPr lang="en-US" b="0" i="0"/>
              <a:pPr/>
              <a:t>8</a:t>
            </a:fld>
            <a:endParaRPr lang="en-US" b="0" i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42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82EC47-7AD4-46A4-A175-DD6EB9C733EE}" type="slidenum">
              <a:rPr lang="en-US" b="0" i="0"/>
              <a:pPr/>
              <a:t>9</a:t>
            </a:fld>
            <a:endParaRPr lang="en-US" b="0" i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8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4A47ED-982E-4A99-9E1F-32622D88CA83}" type="slidenum">
              <a:rPr lang="en-US" b="0" i="0"/>
              <a:pPr/>
              <a:t>10</a:t>
            </a:fld>
            <a:endParaRPr lang="en-US" b="0" i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42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97CEAA-2CF9-4711-B224-AF0B04F72A06}" type="slidenum">
              <a:rPr lang="en-US" b="0" i="0"/>
              <a:pPr/>
              <a:t>11</a:t>
            </a:fld>
            <a:endParaRPr lang="en-US" b="0" i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67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D67836-1CED-4872-833C-FF660F78E99E}" type="slidenum">
              <a:rPr lang="en-US" b="0" i="0"/>
              <a:pPr/>
              <a:t>12</a:t>
            </a:fld>
            <a:endParaRPr lang="en-US" b="0" i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30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F850BB9-BFE9-4B1F-9849-6769F78A506D}" type="slidenum">
              <a:rPr lang="en-US" b="0" i="0"/>
              <a:pPr/>
              <a:t>13</a:t>
            </a:fld>
            <a:endParaRPr lang="en-US" b="0" i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17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9533FB-5C00-4BF3-987B-AACF887879DC}" type="slidenum">
              <a:rPr lang="en-US" b="0" i="0"/>
              <a:pPr/>
              <a:t>14</a:t>
            </a:fld>
            <a:endParaRPr lang="en-US" b="0" i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54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AD5419-0F46-4478-83AB-B2F3435BAEFA}" type="slidenum">
              <a:rPr lang="en-US" b="0" i="0"/>
              <a:pPr/>
              <a:t>15</a:t>
            </a:fld>
            <a:endParaRPr lang="en-US" b="0" i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87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65F11DE-B76A-4E00-A2F0-E73A4071D280}" type="slidenum">
              <a:rPr lang="en-US" b="0" i="0"/>
              <a:pPr/>
              <a:t>16</a:t>
            </a:fld>
            <a:endParaRPr lang="en-US" b="0" i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496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50A517-5E80-4435-B068-E8406BD34D81}" type="slidenum">
              <a:rPr lang="en-US" b="0" i="0"/>
              <a:pPr/>
              <a:t>17</a:t>
            </a:fld>
            <a:endParaRPr lang="en-US" b="0" i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46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727D94-39C2-4C76-9CA9-C50FCE12749B}" type="slidenum">
              <a:rPr lang="en-US" b="0" i="0"/>
              <a:pPr/>
              <a:t>18</a:t>
            </a:fld>
            <a:endParaRPr lang="en-US" b="0" i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70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24057F-7AA5-4220-9869-EF3B26DE4495}" type="slidenum">
              <a:rPr lang="en-US" b="0" i="0"/>
              <a:pPr/>
              <a:t>19</a:t>
            </a:fld>
            <a:endParaRPr lang="en-US" b="0" i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448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BAC62A3-ECD4-4664-9749-F79E653456AC}" type="slidenum">
              <a:rPr lang="en-US" b="0" i="0"/>
              <a:pPr/>
              <a:t>20</a:t>
            </a:fld>
            <a:endParaRPr lang="en-US" b="0" i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432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74450E-D0A6-405F-94C5-A1159D56F11D}" type="slidenum">
              <a:rPr lang="en-US" b="0" i="0"/>
              <a:pPr/>
              <a:t>21</a:t>
            </a:fld>
            <a:endParaRPr lang="en-US" b="0" i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334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716F1F-26CB-4519-AA1F-1536C0D4EC95}" type="slidenum">
              <a:rPr lang="en-US" b="0" i="0"/>
              <a:pPr/>
              <a:t>22</a:t>
            </a:fld>
            <a:endParaRPr lang="en-US" b="0" i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9772C2-51AB-4B1B-AC82-D5CF153BAEA6}" type="slidenum">
              <a:rPr lang="en-US" b="0" i="0"/>
              <a:pPr/>
              <a:t>23</a:t>
            </a:fld>
            <a:endParaRPr lang="en-US" b="0" i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18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77CA60-2FE6-4476-8348-B3B5EA1C39C2}" type="slidenum">
              <a:rPr lang="en-US" b="0" i="0"/>
              <a:pPr/>
              <a:t>24</a:t>
            </a:fld>
            <a:endParaRPr lang="en-US" b="0" i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2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B747DE-E0D0-4A06-846A-14FB92240F65}" type="slidenum">
              <a:rPr lang="en-US" b="0" i="0"/>
              <a:pPr/>
              <a:t>25</a:t>
            </a:fld>
            <a:endParaRPr lang="en-US" b="0" i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624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3B23C75-9E23-4FFD-858B-44022E398C0B}" type="slidenum">
              <a:rPr lang="en-US" b="0" i="0"/>
              <a:pPr/>
              <a:t>26</a:t>
            </a:fld>
            <a:endParaRPr lang="en-US" b="0" i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987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47B201-50F1-45FB-A5CA-F4A57E71B560}" type="slidenum">
              <a:rPr lang="en-US" b="0" i="0"/>
              <a:pPr/>
              <a:t>27</a:t>
            </a:fld>
            <a:endParaRPr lang="en-US" b="0" i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79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003727-7CA6-4F64-B539-8B07C5BC2199}" type="slidenum">
              <a:rPr lang="en-US" b="0" i="0"/>
              <a:pPr/>
              <a:t>28</a:t>
            </a:fld>
            <a:endParaRPr lang="en-US" b="0" i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720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7ED1FD-48AF-457E-A9A8-786402013581}" type="slidenum">
              <a:rPr lang="en-US" b="0" i="0"/>
              <a:pPr/>
              <a:t>29</a:t>
            </a:fld>
            <a:endParaRPr lang="en-US" b="0" i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637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98BAB7-E1AF-4FD4-9552-3EFF4C00871A}" type="slidenum">
              <a:rPr lang="en-US" b="0" i="0"/>
              <a:pPr/>
              <a:t>30</a:t>
            </a:fld>
            <a:endParaRPr lang="en-US" b="0" i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483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ECC575-3487-4A04-A026-F1D73820008E}" type="slidenum">
              <a:rPr lang="en-US" b="0" i="0"/>
              <a:pPr/>
              <a:t>31</a:t>
            </a:fld>
            <a:endParaRPr lang="en-US" b="0" i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756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48841A-E389-4FF4-AA90-4091067572EF}" type="slidenum">
              <a:rPr lang="en-US" b="0" i="0"/>
              <a:pPr/>
              <a:t>32</a:t>
            </a:fld>
            <a:endParaRPr lang="en-US" b="0" i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462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6335BA-1EE1-4EFE-B2EE-65EC923B0143}" type="slidenum">
              <a:rPr lang="en-US" b="0" i="0"/>
              <a:pPr/>
              <a:t>33</a:t>
            </a:fld>
            <a:endParaRPr lang="en-US" b="0" i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461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3BC076B-AD75-4091-A6C0-B89C26469D44}" type="slidenum">
              <a:rPr lang="en-US" b="0" i="0"/>
              <a:pPr/>
              <a:t>34</a:t>
            </a:fld>
            <a:endParaRPr lang="en-US" b="0" i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792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FF9325-D4A5-4210-8DA8-B3FC4AD2898D}" type="slidenum">
              <a:rPr lang="en-US" b="0" i="0"/>
              <a:pPr/>
              <a:t>35</a:t>
            </a:fld>
            <a:endParaRPr lang="en-US" b="0" i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903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632ECC-E616-4546-B0E9-CC4B558C0553}" type="slidenum">
              <a:rPr lang="en-US" b="0" i="0"/>
              <a:pPr/>
              <a:t>36</a:t>
            </a:fld>
            <a:endParaRPr lang="en-US" b="0" i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799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2CDEA5-DA00-4D5D-8DB1-3622203C01BC}" type="slidenum">
              <a:rPr lang="en-US" b="0" i="0"/>
              <a:pPr/>
              <a:t>37</a:t>
            </a:fld>
            <a:endParaRPr lang="en-US" b="0" i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43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A22B2E-B456-4631-ADA1-FCA4B2B03726}" type="slidenum">
              <a:rPr lang="en-US" b="0" i="0"/>
              <a:pPr/>
              <a:t>38</a:t>
            </a:fld>
            <a:endParaRPr lang="en-US" b="0" i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252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91E63C-1F51-472A-91EF-F2901C622698}" type="slidenum">
              <a:rPr lang="en-US" b="0" i="0"/>
              <a:pPr/>
              <a:t>39</a:t>
            </a:fld>
            <a:endParaRPr lang="en-US" b="0" i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925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98646D-DC23-4C81-925F-39AEF20CE645}" type="slidenum">
              <a:rPr lang="en-US" b="0" i="0"/>
              <a:pPr/>
              <a:t>40</a:t>
            </a:fld>
            <a:endParaRPr lang="en-US" b="0" i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37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0358F6-711D-40AE-A7A3-A135B1C6016E}" type="slidenum">
              <a:rPr lang="en-US" b="0" i="0"/>
              <a:pPr/>
              <a:t>41</a:t>
            </a:fld>
            <a:endParaRPr lang="en-US" b="0" i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201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48926E4-D627-4A44-BE1A-2B703948A7A1}" type="slidenum">
              <a:rPr lang="en-US" b="0" i="0"/>
              <a:pPr/>
              <a:t>42</a:t>
            </a:fld>
            <a:endParaRPr lang="en-US" b="0" i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355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319016-EBBD-4182-9D23-4E189BF83B15}" type="slidenum">
              <a:rPr lang="en-US" b="0" i="0"/>
              <a:pPr/>
              <a:t>43</a:t>
            </a:fld>
            <a:endParaRPr lang="en-US" b="0" i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476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DBCED1-01A9-4901-B4F2-D937D9E92123}" type="slidenum">
              <a:rPr lang="en-US" b="0" i="0"/>
              <a:pPr/>
              <a:t>44</a:t>
            </a:fld>
            <a:endParaRPr lang="en-US" b="0" i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831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9977CEC-4C96-440B-ACC1-DC361BE69BE2}" type="slidenum">
              <a:rPr lang="en-US" b="0" i="0"/>
              <a:pPr/>
              <a:t>45</a:t>
            </a:fld>
            <a:endParaRPr lang="en-US" b="0" i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527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0A8336-29FA-4956-A768-1ACB5CFAB778}" type="slidenum">
              <a:rPr lang="en-US" b="0" i="0"/>
              <a:pPr/>
              <a:t>46</a:t>
            </a:fld>
            <a:endParaRPr lang="en-US" b="0" i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115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9464D4-E683-4D70-ACEC-C88EA4EB3DD8}" type="slidenum">
              <a:rPr lang="en-US" b="0" i="0"/>
              <a:pPr/>
              <a:t>47</a:t>
            </a:fld>
            <a:endParaRPr lang="en-US" b="0" i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400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9D679BD-5398-4B1F-A303-9C1DB3F1A5C7}" type="slidenum">
              <a:rPr lang="en-US" b="0" i="0"/>
              <a:pPr/>
              <a:t>48</a:t>
            </a:fld>
            <a:endParaRPr lang="en-US" b="0" i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356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21C9A6-E0F5-465E-882D-9ACD45FF4B88}" type="slidenum">
              <a:rPr lang="en-US" b="0" i="0"/>
              <a:pPr/>
              <a:t>49</a:t>
            </a:fld>
            <a:endParaRPr lang="en-US" b="0" i="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8880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AC466FE-423E-4646-A898-35B17F6DC047}" type="slidenum">
              <a:rPr lang="en-US" b="0" i="0"/>
              <a:pPr/>
              <a:t>50</a:t>
            </a:fld>
            <a:endParaRPr lang="en-US" b="0" i="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25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F2927F-54B3-4D30-A54C-1A3B2DF6C677}" type="slidenum">
              <a:rPr lang="en-US" b="0" i="0"/>
              <a:pPr/>
              <a:t>51</a:t>
            </a:fld>
            <a:endParaRPr lang="en-US" b="0" i="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1148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551EC10-6811-428F-8227-CD14C4329277}" type="slidenum">
              <a:rPr lang="en-US" b="0" i="0"/>
              <a:pPr/>
              <a:t>52</a:t>
            </a:fld>
            <a:endParaRPr lang="en-US" b="0" i="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425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27FAEA4-9616-4E9E-B17D-0F7390001FC7}" type="slidenum">
              <a:rPr lang="en-US" b="0" i="0"/>
              <a:pPr/>
              <a:t>53</a:t>
            </a:fld>
            <a:endParaRPr lang="en-US" b="0" i="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235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12F110B-6B0E-4FDA-972B-E81CF59C6401}" type="slidenum">
              <a:rPr lang="en-US" b="0" i="0"/>
              <a:pPr/>
              <a:t>54</a:t>
            </a:fld>
            <a:endParaRPr lang="en-US" b="0" i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628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4C5C-2189-DDB5-2024-FB518C1E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B8F22E37-5B96-032B-DC12-186445E8A6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47B201-50F1-45FB-A5CA-F4A57E71B560}" type="slidenum">
              <a:rPr lang="en-US" b="0" i="0"/>
              <a:pPr/>
              <a:t>55</a:t>
            </a:fld>
            <a:endParaRPr lang="en-US" b="0" i="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823D4B2C-FD42-5BCD-A760-43EE60AE66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8B503963-B5B2-8029-32A9-3EF001D30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926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149FF-E1A4-59CE-55A7-2E63285A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A85554A-7AE3-53D1-1CE5-3CB000B6F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12F110B-6B0E-4FDA-972B-E81CF59C6401}" type="slidenum">
              <a:rPr lang="en-US" b="0" i="0"/>
              <a:pPr/>
              <a:t>56</a:t>
            </a:fld>
            <a:endParaRPr lang="en-US" b="0" i="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5A262C77-5583-A61E-1EF1-0C7EB30724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C373EE18-DEFE-DE5D-6938-36A2FE618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8374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185AB-9086-3EBE-AD4E-A82C5DDE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42869E2-4312-E24B-0FA5-C3F8975E5E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12F110B-6B0E-4FDA-972B-E81CF59C6401}" type="slidenum">
              <a:rPr lang="en-US" b="0" i="0"/>
              <a:pPr/>
              <a:t>57</a:t>
            </a:fld>
            <a:endParaRPr lang="en-US" b="0" i="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1A78558-B9E9-F6A4-19F7-7B2F65196E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1099C6F2-6996-B28E-DFCE-5C7B759C8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085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3079-37D4-AB91-F6AA-A8567A15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BFBBFA15-0A2C-B80A-64F9-633CC5EF69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C43081-3404-46B1-B9DC-18E775118549}" type="slidenum">
              <a:rPr lang="en-US" b="0" i="0"/>
              <a:pPr/>
              <a:t>58</a:t>
            </a:fld>
            <a:endParaRPr lang="en-US" b="0" i="0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09729443-6C9F-61AC-CD5F-F14C0C528C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3E05A1C7-27E7-538D-55F5-10E8D60C2F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3745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12F110B-6B0E-4FDA-972B-E81CF59C6401}" type="slidenum">
              <a:rPr lang="en-US" b="0" i="0"/>
              <a:pPr/>
              <a:t>59</a:t>
            </a:fld>
            <a:endParaRPr lang="en-US" b="0" i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621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D329E7D-A16B-4202-85B6-979ACB8DBC2B}" type="slidenum">
              <a:rPr lang="en-US" b="0" i="0"/>
              <a:pPr/>
              <a:t>60</a:t>
            </a:fld>
            <a:endParaRPr lang="en-US" b="0" i="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343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C43081-3404-46B1-B9DC-18E775118549}" type="slidenum">
              <a:rPr lang="en-US" b="0" i="0"/>
              <a:pPr/>
              <a:t>61</a:t>
            </a:fld>
            <a:endParaRPr lang="en-US" b="0" i="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3554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F1D2EB-E21C-492D-8515-27E9C039BBFC}" type="slidenum">
              <a:rPr lang="en-US" b="0" i="0"/>
              <a:pPr/>
              <a:t>62</a:t>
            </a:fld>
            <a:endParaRPr lang="en-US" b="0" i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2891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03E70A-BFC6-4A7E-9C5E-B213D81FC45B}" type="slidenum">
              <a:rPr lang="en-US" b="0" i="0"/>
              <a:pPr/>
              <a:t>63</a:t>
            </a:fld>
            <a:endParaRPr lang="en-US" b="0" i="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241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B388C6-5B7D-4652-8834-D294CAE51792}" type="slidenum">
              <a:rPr lang="en-US" b="0" i="0"/>
              <a:pPr/>
              <a:t>64</a:t>
            </a:fld>
            <a:endParaRPr lang="en-US" b="0" i="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832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2274D5-B1B1-4C3C-9F59-5FBA87CBA71A}" type="slidenum">
              <a:rPr lang="en-US" b="0" i="0"/>
              <a:pPr/>
              <a:t>65</a:t>
            </a:fld>
            <a:endParaRPr lang="en-US" b="0" i="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5164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9B63EC-1058-45EB-A5F4-03F990B7F38D}" type="slidenum">
              <a:rPr lang="en-US" b="0" i="0"/>
              <a:pPr/>
              <a:t>67</a:t>
            </a:fld>
            <a:endParaRPr lang="en-US" b="0" i="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7926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168BF2-DEFA-4E4E-93E3-4B2304D1A960}" type="slidenum">
              <a:rPr lang="en-US" b="0" i="0"/>
              <a:pPr/>
              <a:t>68</a:t>
            </a:fld>
            <a:endParaRPr lang="en-US" b="0" i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2434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4F4CDC9-6D9B-4F58-AC22-E59016A3E914}" type="slidenum">
              <a:rPr lang="en-US" b="0" i="0"/>
              <a:pPr/>
              <a:t>69</a:t>
            </a:fld>
            <a:endParaRPr lang="en-US" b="0" i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2677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307A88-C521-49FF-BD48-7B8ED62D7B01}" type="slidenum">
              <a:rPr lang="en-US" b="0" i="0"/>
              <a:pPr/>
              <a:t>70</a:t>
            </a:fld>
            <a:endParaRPr lang="en-US" b="0" i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9264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AD7587C-F59E-4210-BCDC-C622F5E2349E}" type="slidenum">
              <a:rPr lang="en-US" b="0" i="0"/>
              <a:pPr/>
              <a:t>71</a:t>
            </a:fld>
            <a:endParaRPr lang="en-US" b="0" i="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1833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1B4DE0-7626-44FE-8C25-89C6CDE76473}" type="slidenum">
              <a:rPr lang="en-US" b="0" i="0"/>
              <a:pPr/>
              <a:t>72</a:t>
            </a:fld>
            <a:endParaRPr lang="en-US" b="0" i="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4273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046438-25C3-4B0B-8659-A6DD82E8E915}" type="slidenum">
              <a:rPr lang="en-US" b="0" i="0"/>
              <a:pPr/>
              <a:t>73</a:t>
            </a:fld>
            <a:endParaRPr lang="en-US" b="0" i="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2393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A05810-4A3D-4DE0-B41D-C8FA0BCA2859}" type="slidenum">
              <a:rPr lang="en-US" b="0" i="0"/>
              <a:pPr/>
              <a:t>74</a:t>
            </a:fld>
            <a:endParaRPr lang="en-US" b="0" i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5639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99225F6-712D-44FA-9AA6-FD29FB47CD1C}" type="slidenum">
              <a:rPr lang="en-US" b="0" i="0"/>
              <a:pPr/>
              <a:t>75</a:t>
            </a:fld>
            <a:endParaRPr lang="en-US" b="0" i="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6769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9CE27F-4305-4F5A-A7DA-90FC37E14E4D}" type="slidenum">
              <a:rPr lang="en-US" b="0" i="0"/>
              <a:pPr/>
              <a:t>76</a:t>
            </a:fld>
            <a:endParaRPr lang="en-US" b="0" i="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387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D668F9-CCD2-4630-A8B0-7A7378FF3C00}" type="slidenum">
              <a:rPr lang="en-US" b="0" i="0"/>
              <a:pPr/>
              <a:t>77</a:t>
            </a:fld>
            <a:endParaRPr lang="en-US" b="0" i="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1562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961BA6-218A-47D0-99D6-E2908655CC72}" type="slidenum">
              <a:rPr lang="en-US" b="0" i="0"/>
              <a:pPr/>
              <a:t>78</a:t>
            </a:fld>
            <a:endParaRPr lang="en-US" b="0" i="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2145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6F222BE-DC70-443C-9A2B-7882A270919B}" type="slidenum">
              <a:rPr lang="en-US" b="0" i="0"/>
              <a:pPr/>
              <a:t>79</a:t>
            </a:fld>
            <a:endParaRPr lang="en-US" b="0" i="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8889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B1304A-D238-4C1F-BAEC-93FC1BEF98E6}" type="slidenum">
              <a:rPr lang="en-US" b="0" i="0"/>
              <a:pPr/>
              <a:t>80</a:t>
            </a:fld>
            <a:endParaRPr lang="en-US" b="0" i="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2217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C2616F-7215-4478-B6F5-FB4EDCA197DA}" type="slidenum">
              <a:rPr lang="en-US" b="0" i="0"/>
              <a:pPr/>
              <a:t>81</a:t>
            </a:fld>
            <a:endParaRPr lang="en-US" b="0" i="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0724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55FD87-7188-4905-AFE2-93AF3C17856E}" type="slidenum">
              <a:rPr lang="en-US" b="0" i="0"/>
              <a:pPr/>
              <a:t>82</a:t>
            </a:fld>
            <a:endParaRPr lang="en-US" b="0" i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0202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FEA85A-8071-4A8A-A647-300B869AAB62}" type="slidenum">
              <a:rPr lang="en-US" b="0" i="0"/>
              <a:pPr/>
              <a:t>83</a:t>
            </a:fld>
            <a:endParaRPr lang="en-US" b="0" i="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8350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B95AC5D-8063-46DA-A3DF-FAA847BB5480}" type="slidenum">
              <a:rPr lang="en-US" b="0" i="0"/>
              <a:pPr/>
              <a:t>84</a:t>
            </a:fld>
            <a:endParaRPr lang="en-US" b="0" i="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465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62030D-6675-46FC-AE50-2E8E9B2DD022}" type="slidenum">
              <a:rPr lang="en-US" b="0" i="0"/>
              <a:pPr/>
              <a:t>86</a:t>
            </a:fld>
            <a:endParaRPr lang="en-US" b="0" i="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4470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210F4E7-F47B-43DB-82F2-ECA850F5698F}" type="slidenum">
              <a:rPr lang="en-US" b="0" i="0"/>
              <a:pPr/>
              <a:t>87</a:t>
            </a:fld>
            <a:endParaRPr lang="en-US" b="0" i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6377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FAA8E0-0D15-4508-B178-FEEC777EDC0E}" type="slidenum">
              <a:rPr lang="en-US" b="0" i="0"/>
              <a:pPr/>
              <a:t>88</a:t>
            </a:fld>
            <a:endParaRPr lang="en-US" b="0" i="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2014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4D0BD9-E2C9-49F0-AF04-E9794727D143}" type="slidenum">
              <a:rPr lang="en-US" b="0" i="0"/>
              <a:pPr/>
              <a:t>89</a:t>
            </a:fld>
            <a:endParaRPr lang="en-US" b="0" i="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33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GB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GB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/>
            </a:p>
          </p:txBody>
        </p:sp>
      </p:grp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 dirty="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#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E61E2459-68EE-4938-A9E3-F5D4FEDFC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6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  <a:lvl2pPr>
              <a:defRPr>
                <a:latin typeface="Tw Cen MT" panose="020B0602020104020603" pitchFamily="34" charset="0"/>
              </a:defRPr>
            </a:lvl2pPr>
            <a:lvl3pPr>
              <a:defRPr>
                <a:latin typeface="Tw Cen MT" panose="020B0602020104020603" pitchFamily="34" charset="0"/>
              </a:defRPr>
            </a:lvl3pPr>
            <a:lvl4pPr>
              <a:defRPr>
                <a:latin typeface="Tw Cen MT" panose="020B0602020104020603" pitchFamily="34" charset="0"/>
              </a:defRPr>
            </a:lvl4pPr>
            <a:lvl5pPr>
              <a:defRPr>
                <a:latin typeface="Tw Cen MT" panose="020B06020201040206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E8ADD-3668-47B3-8303-A80C1651A0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12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608F4-2156-4051-B492-1902E45C28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10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43A26-1352-470D-B74F-8A74032908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65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795AE-9611-4099-9BA5-B8139C9DB0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20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3D101-D339-4039-8A23-4FA5E74154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26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40735F-1BA7-4411-BA03-952E2D8E08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8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22AC0-55FB-4E8B-B598-281D0B9A45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77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3F189-FCFE-402B-A36A-C295645785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823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08D3E-D46F-4AC0-9A67-C289BA9E03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75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BB961D-0B20-4274-B432-BD2E2B852A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034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4A5A3DD-D195-4386-87BF-1D6E43A3D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BB4F0A-F978-4ACE-9CBF-7FF57C7D9377}" type="slidenum">
              <a:rPr lang="en-US" i="0">
                <a:latin typeface="Arial" panose="020B0604020202020204" pitchFamily="34" charset="0"/>
              </a:rPr>
              <a:pPr/>
              <a:t>1</a:t>
            </a:fld>
            <a:endParaRPr lang="en-US" i="0">
              <a:latin typeface="Arial" panose="020B0604020202020204" pitchFamily="34" charset="0"/>
            </a:endParaRPr>
          </a:p>
        </p:txBody>
      </p:sp>
      <p:pic>
        <p:nvPicPr>
          <p:cNvPr id="4099" name="Picture 19" descr="The Mathematics of Cryptography - YouT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-152400"/>
            <a:ext cx="9256713" cy="701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2"/>
          <p:cNvSpPr>
            <a:spLocks noChangeArrowheads="1"/>
          </p:cNvSpPr>
          <p:nvPr/>
        </p:nvSpPr>
        <p:spPr bwMode="auto">
          <a:xfrm>
            <a:off x="152400" y="2209800"/>
            <a:ext cx="8305800" cy="2431435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 i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r>
              <a:rPr lang="en-US" sz="3600" i="0" dirty="0">
                <a:solidFill>
                  <a:srgbClr val="808000"/>
                </a:solidFill>
                <a:latin typeface="Arial" panose="020B0604020202020204" pitchFamily="34" charset="0"/>
              </a:rPr>
              <a:t>Mathematics of Cryptography</a:t>
            </a:r>
          </a:p>
          <a:p>
            <a:r>
              <a:rPr lang="en-GB" sz="3200" dirty="0">
                <a:solidFill>
                  <a:schemeClr val="bg1"/>
                </a:solidFill>
              </a:rPr>
              <a:t>Modular Arithmetic, Congruence,</a:t>
            </a:r>
          </a:p>
          <a:p>
            <a:r>
              <a:rPr lang="en-GB" sz="3200" dirty="0">
                <a:solidFill>
                  <a:schemeClr val="bg1"/>
                </a:solidFill>
              </a:rPr>
              <a:t>and Matrices</a:t>
            </a:r>
          </a:p>
          <a:p>
            <a:pPr algn="ctr"/>
            <a:endParaRPr lang="en-US" sz="3200" i="0" dirty="0">
              <a:solidFill>
                <a:srgbClr val="808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EE8695-B2B6-48B7-9135-B0AA8300C181}" type="slidenum">
              <a:rPr lang="en-US" i="0">
                <a:latin typeface="Arial" panose="020B0604020202020204" pitchFamily="34" charset="0"/>
              </a:rPr>
              <a:pPr/>
              <a:t>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304800" y="1143000"/>
            <a:ext cx="8534400" cy="541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i="0">
                <a:latin typeface="Tw Cen MT" panose="020B0602020104020603" pitchFamily="34" charset="0"/>
              </a:rPr>
              <a:t>  </a:t>
            </a:r>
            <a:r>
              <a:rPr lang="en-US" sz="2400" b="0" i="0">
                <a:latin typeface="Tw Cen MT" panose="020B0602020104020603" pitchFamily="34" charset="0"/>
              </a:rPr>
              <a:t>To review integer arithmetic, concentrating on divisibility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and finding the greatest common divisor using the Euclidean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algorithm</a:t>
            </a:r>
          </a:p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b="0" i="0">
                <a:latin typeface="Tw Cen MT" panose="020B0602020104020603" pitchFamily="34" charset="0"/>
              </a:rPr>
              <a:t>  To understand how the extended Euclidean algorithm can be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used to solve linear Diophantine equations, to solve linear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congruent equations, and to find the multiplicative inverses</a:t>
            </a:r>
          </a:p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b="0" i="0">
                <a:latin typeface="Tw Cen MT" panose="020B0602020104020603" pitchFamily="34" charset="0"/>
              </a:rPr>
              <a:t> To emphasize the importance of modular arithmetic and 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the modulo operator, because they are extensively used in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cryptography</a:t>
            </a:r>
          </a:p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b="0" i="0">
                <a:latin typeface="Tw Cen MT" panose="020B0602020104020603" pitchFamily="34" charset="0"/>
              </a:rPr>
              <a:t> To emphasize and review matrices and operations on residue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matrices that are extensively used in cryptography</a:t>
            </a:r>
          </a:p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b="0" i="0">
                <a:latin typeface="Tw Cen MT" panose="020B0602020104020603" pitchFamily="34" charset="0"/>
              </a:rPr>
              <a:t> To solve a set of congruent equations using residue matrices</a:t>
            </a: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5" name="Rectangle 10"/>
          <p:cNvSpPr>
            <a:spLocks noChangeArrowheads="1"/>
          </p:cNvSpPr>
          <p:nvPr/>
        </p:nvSpPr>
        <p:spPr bwMode="auto">
          <a:xfrm>
            <a:off x="914400" y="1270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800" i="0">
                <a:solidFill>
                  <a:schemeClr val="hlink"/>
                </a:solidFill>
              </a:rPr>
              <a:t>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86C489-A794-45D4-A1C9-4742A80AD99D}" type="slidenum">
              <a:rPr lang="en-US" i="0">
                <a:latin typeface="Arial" panose="020B0604020202020204" pitchFamily="34" charset="0"/>
              </a:rPr>
              <a:pPr/>
              <a:t>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49570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3200" i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49571" name="Text Box 3"/>
          <p:cNvSpPr txBox="1">
            <a:spLocks noChangeArrowheads="1"/>
          </p:cNvSpPr>
          <p:nvPr/>
        </p:nvSpPr>
        <p:spPr bwMode="auto">
          <a:xfrm>
            <a:off x="609600" y="457200"/>
            <a:ext cx="48990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INTEGER ARITHMETIC</a:t>
            </a:r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i="0"/>
          </a:p>
        </p:txBody>
      </p:sp>
      <p:sp>
        <p:nvSpPr>
          <p:cNvPr id="749573" name="Rectangle 5"/>
          <p:cNvSpPr>
            <a:spLocks noChangeArrowheads="1"/>
          </p:cNvSpPr>
          <p:nvPr/>
        </p:nvSpPr>
        <p:spPr bwMode="auto">
          <a:xfrm>
            <a:off x="304800" y="1808163"/>
            <a:ext cx="82296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integer arithmetic, we use a set and a few operations. They are reviewed here to create a background for modular arithmetic.</a:t>
            </a:r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auto">
          <a:xfrm>
            <a:off x="381000" y="4114800"/>
            <a:ext cx="67056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1</a:t>
            </a:r>
            <a:r>
              <a:rPr lang="en-US" sz="2400" i="0">
                <a:solidFill>
                  <a:srgbClr val="0033CC"/>
                </a:solidFill>
              </a:rPr>
              <a:t>	Set of Integers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2</a:t>
            </a:r>
            <a:r>
              <a:rPr lang="fr-FR" sz="2400" i="0">
                <a:solidFill>
                  <a:srgbClr val="0033CC"/>
                </a:solidFill>
              </a:rPr>
              <a:t>	Binary Operations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3</a:t>
            </a:r>
            <a:r>
              <a:rPr lang="fr-FR" sz="2400" i="0">
                <a:solidFill>
                  <a:srgbClr val="0033CC"/>
                </a:solidFill>
              </a:rPr>
              <a:t>	Integer Division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sz="2400" i="0">
                <a:solidFill>
                  <a:schemeClr val="hlink"/>
                </a:solidFill>
              </a:rPr>
              <a:t>4</a:t>
            </a:r>
            <a:r>
              <a:rPr lang="fr-FR" sz="2400" i="0">
                <a:solidFill>
                  <a:srgbClr val="0033CC"/>
                </a:solidFill>
              </a:rPr>
              <a:t>	Divisibility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sz="2400" i="0">
                <a:solidFill>
                  <a:schemeClr val="hlink"/>
                </a:solidFill>
              </a:rPr>
              <a:t>5</a:t>
            </a:r>
            <a:r>
              <a:rPr lang="fr-FR" sz="2400" i="0">
                <a:solidFill>
                  <a:srgbClr val="0033CC"/>
                </a:solidFill>
              </a:rPr>
              <a:t>	Linear Diophantine Equations</a:t>
            </a:r>
            <a:endParaRPr lang="en-US" sz="2400" i="0">
              <a:solidFill>
                <a:srgbClr val="0033CC"/>
              </a:solidFill>
            </a:endParaRPr>
          </a:p>
        </p:txBody>
      </p:sp>
      <p:sp>
        <p:nvSpPr>
          <p:cNvPr id="749575" name="Text Box 7"/>
          <p:cNvSpPr txBox="1">
            <a:spLocks noChangeArrowheads="1"/>
          </p:cNvSpPr>
          <p:nvPr/>
        </p:nvSpPr>
        <p:spPr bwMode="auto">
          <a:xfrm>
            <a:off x="304800" y="3505200"/>
            <a:ext cx="11287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28CCDC-3AD7-483A-9CAA-06227243878A}" type="slidenum">
              <a:rPr lang="en-US" i="0">
                <a:latin typeface="Arial" panose="020B0604020202020204" pitchFamily="34" charset="0"/>
              </a:rPr>
              <a:pPr/>
              <a:t>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50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The set of integers, denoted by Z, contains all integral numbers (with no fraction) from negative infinity to positive infinity (Figure 2.1). </a:t>
            </a:r>
          </a:p>
        </p:txBody>
      </p:sp>
      <p:sp>
        <p:nvSpPr>
          <p:cNvPr id="1025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6479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Set of Integers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2859088" y="3200400"/>
            <a:ext cx="31845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1  </a:t>
            </a:r>
            <a:r>
              <a:rPr lang="en-US"/>
              <a:t>The set of integers</a:t>
            </a:r>
            <a:endParaRPr lang="en-US" sz="2000"/>
          </a:p>
        </p:txBody>
      </p:sp>
      <p:pic>
        <p:nvPicPr>
          <p:cNvPr id="1025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3789363"/>
            <a:ext cx="5256213" cy="78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E65805A-6826-46F3-AD54-23A2D8B2E54A}" type="slidenum">
              <a:rPr lang="en-US" i="0">
                <a:latin typeface="Arial" panose="020B0604020202020204" pitchFamily="34" charset="0"/>
              </a:rPr>
              <a:pPr/>
              <a:t>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8" name="Rectangle 9"/>
          <p:cNvSpPr>
            <a:spLocks noChangeArrowheads="1"/>
          </p:cNvSpPr>
          <p:nvPr/>
        </p:nvSpPr>
        <p:spPr bwMode="auto">
          <a:xfrm>
            <a:off x="228600" y="8382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In cryptography, we are interested in three binary operations applied to the set of integers. A binary operation takes two inputs and creates one output. </a:t>
            </a:r>
          </a:p>
        </p:txBody>
      </p:sp>
      <p:sp>
        <p:nvSpPr>
          <p:cNvPr id="12299" name="Text Box 10"/>
          <p:cNvSpPr txBox="1">
            <a:spLocks noChangeArrowheads="1"/>
          </p:cNvSpPr>
          <p:nvPr/>
        </p:nvSpPr>
        <p:spPr bwMode="auto">
          <a:xfrm>
            <a:off x="1143000" y="0"/>
            <a:ext cx="34242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Binary Operations</a:t>
            </a:r>
          </a:p>
        </p:txBody>
      </p:sp>
      <p:pic>
        <p:nvPicPr>
          <p:cNvPr id="12300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763" y="3113088"/>
            <a:ext cx="3830637" cy="328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01" name="Text Box 14"/>
          <p:cNvSpPr txBox="1">
            <a:spLocks noChangeArrowheads="1"/>
          </p:cNvSpPr>
          <p:nvPr/>
        </p:nvSpPr>
        <p:spPr bwMode="auto">
          <a:xfrm>
            <a:off x="1143000" y="2514600"/>
            <a:ext cx="61229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Three binary operations for the set of integers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092550D-7C0A-4DB4-8FEE-AB3C1D345876}" type="slidenum">
              <a:rPr lang="en-US" i="0">
                <a:latin typeface="Arial" panose="020B0604020202020204" pitchFamily="34" charset="0"/>
              </a:rPr>
              <a:pPr/>
              <a:t>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</a:t>
            </a:r>
            <a:r>
              <a:rPr lang="en-US" sz="3200"/>
              <a:t>Continued</a:t>
            </a:r>
          </a:p>
        </p:txBody>
      </p:sp>
      <p:sp>
        <p:nvSpPr>
          <p:cNvPr id="856075" name="Rectangle 11"/>
          <p:cNvSpPr>
            <a:spLocks noChangeArrowheads="1"/>
          </p:cNvSpPr>
          <p:nvPr/>
        </p:nvSpPr>
        <p:spPr bwMode="auto">
          <a:xfrm>
            <a:off x="152400" y="1219200"/>
            <a:ext cx="8229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The following shows the results of the three binary operations on two integers. Because each input can be either positive or negative, we can have four cases for each operation.</a:t>
            </a:r>
          </a:p>
        </p:txBody>
      </p:sp>
      <p:pic>
        <p:nvPicPr>
          <p:cNvPr id="1434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109913"/>
            <a:ext cx="80899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7974F3-C99D-49F0-A9C4-3DD4254FD3B0}" type="slidenum">
              <a:rPr lang="en-US" i="0">
                <a:latin typeface="Arial" panose="020B0604020202020204" pitchFamily="34" charset="0"/>
              </a:rPr>
              <a:pPr/>
              <a:t>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4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In integer arithmetic, if we divide a by n, we can get q</a:t>
            </a:r>
          </a:p>
          <a:p>
            <a:pPr algn="just"/>
            <a:r>
              <a:rPr lang="en-US" sz="2800"/>
              <a:t>And r . The relationship between these four integers can be shown as</a:t>
            </a:r>
          </a:p>
        </p:txBody>
      </p:sp>
      <p:sp>
        <p:nvSpPr>
          <p:cNvPr id="1639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9337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Integer Division</a:t>
            </a:r>
          </a:p>
        </p:txBody>
      </p:sp>
      <p:sp>
        <p:nvSpPr>
          <p:cNvPr id="16396" name="Line 11"/>
          <p:cNvSpPr>
            <a:spLocks noChangeShapeType="1"/>
          </p:cNvSpPr>
          <p:nvPr/>
        </p:nvSpPr>
        <p:spPr bwMode="auto">
          <a:xfrm>
            <a:off x="457200" y="3200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397" name="Line 12"/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398" name="Rectangle 13"/>
          <p:cNvSpPr>
            <a:spLocks noChangeArrowheads="1"/>
          </p:cNvSpPr>
          <p:nvPr/>
        </p:nvSpPr>
        <p:spPr bwMode="auto">
          <a:xfrm>
            <a:off x="495300" y="3292475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a</a:t>
            </a:r>
            <a:r>
              <a:rPr lang="en-US" sz="3200" i="0">
                <a:latin typeface="Arial" panose="020B0604020202020204" pitchFamily="34" charset="0"/>
              </a:rPr>
              <a:t> = </a:t>
            </a:r>
            <a:r>
              <a:rPr lang="en-US" sz="3200">
                <a:latin typeface="Arial" panose="020B0604020202020204" pitchFamily="34" charset="0"/>
              </a:rPr>
              <a:t>q</a:t>
            </a:r>
            <a:r>
              <a:rPr lang="en-US" sz="3200" i="0">
                <a:latin typeface="Arial" panose="020B0604020202020204" pitchFamily="34" charset="0"/>
              </a:rPr>
              <a:t> × </a:t>
            </a:r>
            <a:r>
              <a:rPr lang="en-US" sz="3200">
                <a:latin typeface="Arial" panose="020B0604020202020204" pitchFamily="34" charset="0"/>
              </a:rPr>
              <a:t>n</a:t>
            </a:r>
            <a:r>
              <a:rPr lang="en-US" sz="3200" i="0">
                <a:latin typeface="Arial" panose="020B0604020202020204" pitchFamily="34" charset="0"/>
              </a:rPr>
              <a:t> + </a:t>
            </a:r>
            <a:r>
              <a:rPr lang="en-US" sz="3200">
                <a:latin typeface="Arial" panose="020B0604020202020204" pitchFamily="34" charset="0"/>
              </a:rPr>
              <a:t>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43A83A-A802-459E-8AD0-07F9C6A4023D}" type="slidenum">
              <a:rPr lang="en-US" i="0">
                <a:latin typeface="Arial" panose="020B0604020202020204" pitchFamily="34" charset="0"/>
              </a:rPr>
              <a:pPr/>
              <a:t>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3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4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4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42" name="Rectangle 9"/>
          <p:cNvSpPr>
            <a:spLocks noChangeArrowheads="1"/>
          </p:cNvSpPr>
          <p:nvPr/>
        </p:nvSpPr>
        <p:spPr bwMode="auto">
          <a:xfrm>
            <a:off x="228600" y="1065213"/>
            <a:ext cx="8686800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400"/>
              <a:t>Assume that a = 255 and n = 11. We can find q = 23 and R = 2 using the division algorithm.</a:t>
            </a:r>
          </a:p>
        </p:txBody>
      </p:sp>
      <p:sp>
        <p:nvSpPr>
          <p:cNvPr id="18443" name="Text Box 10"/>
          <p:cNvSpPr txBox="1">
            <a:spLocks noChangeArrowheads="1"/>
          </p:cNvSpPr>
          <p:nvPr/>
        </p:nvSpPr>
        <p:spPr bwMode="auto">
          <a:xfrm>
            <a:off x="1143000" y="74613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1844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079750"/>
            <a:ext cx="5073650" cy="309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45" name="Text Box 12"/>
          <p:cNvSpPr txBox="1">
            <a:spLocks noChangeArrowheads="1"/>
          </p:cNvSpPr>
          <p:nvPr/>
        </p:nvSpPr>
        <p:spPr bwMode="auto">
          <a:xfrm>
            <a:off x="1143000" y="2209800"/>
            <a:ext cx="65151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Example  finding the quotient and the remainder</a:t>
            </a:r>
          </a:p>
        </p:txBody>
      </p:sp>
      <p:sp>
        <p:nvSpPr>
          <p:cNvPr id="18446" name="Text Box 13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A2D30E-FA42-43E4-B362-6E9526A90FB0}" type="slidenum">
              <a:rPr lang="en-US" i="0">
                <a:latin typeface="Arial" panose="020B0604020202020204" pitchFamily="34" charset="0"/>
              </a:rPr>
              <a:pPr/>
              <a:t>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1143000" y="74613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20491" name="Text Box 12"/>
          <p:cNvSpPr txBox="1">
            <a:spLocks noChangeArrowheads="1"/>
          </p:cNvSpPr>
          <p:nvPr/>
        </p:nvSpPr>
        <p:spPr bwMode="auto">
          <a:xfrm>
            <a:off x="1143000" y="609600"/>
            <a:ext cx="43005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/>
              <a:t>Division algorithm for integers</a:t>
            </a:r>
          </a:p>
        </p:txBody>
      </p:sp>
      <p:pic>
        <p:nvPicPr>
          <p:cNvPr id="20492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2362200"/>
            <a:ext cx="6362700" cy="317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F4B991-45CF-4E3D-A508-4824D10E0BBA}" type="slidenum">
              <a:rPr lang="en-US" i="0">
                <a:latin typeface="Arial" panose="020B0604020202020204" pitchFamily="34" charset="0"/>
              </a:rPr>
              <a:pPr/>
              <a:t>10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9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868363" name="Rectangle 11"/>
          <p:cNvSpPr>
            <a:spLocks noChangeArrowheads="1"/>
          </p:cNvSpPr>
          <p:nvPr/>
        </p:nvSpPr>
        <p:spPr bwMode="auto">
          <a:xfrm>
            <a:off x="152400" y="1130300"/>
            <a:ext cx="8229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When we use a computer or a calculator,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and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are negative when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is negative. How can we apply the restriction that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 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needs to be positive? The solution is simple, we decrement the value of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by 1 and we add the value of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to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to make it positive.</a:t>
            </a:r>
          </a:p>
        </p:txBody>
      </p:sp>
      <p:pic>
        <p:nvPicPr>
          <p:cNvPr id="22541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3986213"/>
            <a:ext cx="8675687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7CDE53-6C49-43A6-B453-93BF3765FA77}" type="slidenum">
              <a:rPr lang="en-US" i="0">
                <a:latin typeface="Arial" panose="020B0604020202020204" pitchFamily="34" charset="0"/>
              </a:rPr>
              <a:pPr/>
              <a:t>11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24587" name="Text Box 14"/>
          <p:cNvSpPr txBox="1">
            <a:spLocks noChangeArrowheads="1"/>
          </p:cNvSpPr>
          <p:nvPr/>
        </p:nvSpPr>
        <p:spPr bwMode="auto">
          <a:xfrm>
            <a:off x="1143000" y="533400"/>
            <a:ext cx="45132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Graph of division alogorithm</a:t>
            </a:r>
          </a:p>
        </p:txBody>
      </p:sp>
      <p:pic>
        <p:nvPicPr>
          <p:cNvPr id="24588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2268538"/>
            <a:ext cx="6956425" cy="276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07D8DA-95DC-4B6F-89EF-888B31CADD30}" type="slidenum">
              <a:rPr lang="en-US" i="0">
                <a:latin typeface="Arial" panose="020B0604020202020204" pitchFamily="34" charset="0"/>
              </a:rPr>
              <a:pPr/>
              <a:t>12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4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If a is not zero and we let  r = 0 in the division relation, we get</a:t>
            </a:r>
          </a:p>
        </p:txBody>
      </p:sp>
      <p:sp>
        <p:nvSpPr>
          <p:cNvPr id="26635" name="Text Box 10"/>
          <p:cNvSpPr txBox="1">
            <a:spLocks noChangeArrowheads="1"/>
          </p:cNvSpPr>
          <p:nvPr/>
        </p:nvSpPr>
        <p:spPr bwMode="auto">
          <a:xfrm>
            <a:off x="1143000" y="0"/>
            <a:ext cx="18954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Divisbility</a:t>
            </a:r>
          </a:p>
        </p:txBody>
      </p:sp>
      <p:sp>
        <p:nvSpPr>
          <p:cNvPr id="26636" name="Line 11"/>
          <p:cNvSpPr>
            <a:spLocks noChangeShapeType="1"/>
          </p:cNvSpPr>
          <p:nvPr/>
        </p:nvSpPr>
        <p:spPr bwMode="auto">
          <a:xfrm>
            <a:off x="457200" y="2651125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7" name="Line 12"/>
          <p:cNvSpPr>
            <a:spLocks noChangeShapeType="1"/>
          </p:cNvSpPr>
          <p:nvPr/>
        </p:nvSpPr>
        <p:spPr bwMode="auto">
          <a:xfrm>
            <a:off x="458788" y="3413125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8" name="Rectangle 13"/>
          <p:cNvSpPr>
            <a:spLocks noChangeArrowheads="1"/>
          </p:cNvSpPr>
          <p:nvPr/>
        </p:nvSpPr>
        <p:spPr bwMode="auto">
          <a:xfrm>
            <a:off x="495300" y="2743200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a = q × n</a:t>
            </a:r>
          </a:p>
        </p:txBody>
      </p:sp>
      <p:sp>
        <p:nvSpPr>
          <p:cNvPr id="26639" name="Rectangle 14"/>
          <p:cNvSpPr>
            <a:spLocks noChangeArrowheads="1"/>
          </p:cNvSpPr>
          <p:nvPr/>
        </p:nvSpPr>
        <p:spPr bwMode="auto">
          <a:xfrm>
            <a:off x="381000" y="3762375"/>
            <a:ext cx="38100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If the remainder is zero, </a:t>
            </a:r>
          </a:p>
        </p:txBody>
      </p:sp>
      <p:pic>
        <p:nvPicPr>
          <p:cNvPr id="26640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4676775"/>
            <a:ext cx="968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41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450" y="3886200"/>
            <a:ext cx="76835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42" name="Rectangle 17"/>
          <p:cNvSpPr>
            <a:spLocks noChangeArrowheads="1"/>
          </p:cNvSpPr>
          <p:nvPr/>
        </p:nvSpPr>
        <p:spPr bwMode="auto">
          <a:xfrm>
            <a:off x="381000" y="4572000"/>
            <a:ext cx="44196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If the remainder is not zero,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7E0F36-BB4F-445E-A33B-B6CDB3229455}" type="slidenum">
              <a:rPr lang="en-US" i="0">
                <a:latin typeface="Arial" panose="020B0604020202020204" pitchFamily="34" charset="0"/>
              </a:rPr>
              <a:pPr/>
              <a:t>13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8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8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8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83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874507" name="Rectangle 11"/>
          <p:cNvSpPr>
            <a:spLocks noChangeArrowheads="1"/>
          </p:cNvSpPr>
          <p:nvPr/>
        </p:nvSpPr>
        <p:spPr bwMode="auto">
          <a:xfrm>
            <a:off x="304800" y="1219200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buFontTx/>
              <a:buAutoNum type="alphaLcPeriod"/>
              <a:defRPr/>
            </a:pPr>
            <a:r>
              <a:rPr lang="en-US" i="0">
                <a:effectLst>
                  <a:outerShdw blurRad="38100" dist="38100" dir="2700000" algn="tl">
                    <a:srgbClr val="C0C0C0"/>
                  </a:outerShdw>
                </a:effectLst>
              </a:rPr>
              <a:t>The integer 4 divides the integer 32 because 32 = 8 × 4. We show this as</a:t>
            </a:r>
          </a:p>
        </p:txBody>
      </p:sp>
      <p:sp>
        <p:nvSpPr>
          <p:cNvPr id="874510" name="Rectangle 14"/>
          <p:cNvSpPr>
            <a:spLocks noChangeArrowheads="1"/>
          </p:cNvSpPr>
          <p:nvPr/>
        </p:nvSpPr>
        <p:spPr bwMode="auto">
          <a:xfrm>
            <a:off x="304800" y="3384550"/>
            <a:ext cx="8229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defRPr/>
            </a:pPr>
            <a:r>
              <a:rPr lang="en-US" i="0">
                <a:effectLst>
                  <a:outerShdw blurRad="38100" dist="38100" dir="2700000" algn="tl">
                    <a:srgbClr val="C0C0C0"/>
                  </a:outerShdw>
                </a:effectLst>
              </a:rPr>
              <a:t>b. The number 8 does not divide the number 42 because </a:t>
            </a:r>
          </a:p>
          <a:p>
            <a:pPr algn="just" eaLnBrk="1" hangingPunct="1">
              <a:defRPr/>
            </a:pPr>
            <a:r>
              <a:rPr lang="en-US" i="0">
                <a:effectLst>
                  <a:outerShdw blurRad="38100" dist="38100" dir="2700000" algn="tl">
                    <a:srgbClr val="C0C0C0"/>
                  </a:outerShdw>
                </a:effectLst>
              </a:rPr>
              <a:t>    42 = 5 × 8 + 2. There is a remainder, the number 2, in the equation. We show this as </a:t>
            </a:r>
          </a:p>
        </p:txBody>
      </p:sp>
      <p:pic>
        <p:nvPicPr>
          <p:cNvPr id="28686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98675"/>
            <a:ext cx="998538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7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878388"/>
            <a:ext cx="1395413" cy="68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B2B065-5DA4-4F12-95A6-46EA1C788F83}" type="slidenum">
              <a:rPr lang="en-US" i="0">
                <a:latin typeface="Arial" panose="020B0604020202020204" pitchFamily="34" charset="0"/>
              </a:rPr>
              <a:pPr/>
              <a:t>14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536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Properties</a:t>
            </a:r>
            <a:endParaRPr lang="en-US" sz="2000"/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3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31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30732" name="Line 16"/>
          <p:cNvSpPr>
            <a:spLocks noChangeShapeType="1"/>
          </p:cNvSpPr>
          <p:nvPr/>
        </p:nvSpPr>
        <p:spPr bwMode="auto">
          <a:xfrm>
            <a:off x="457200" y="1295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33" name="Line 17"/>
          <p:cNvSpPr>
            <a:spLocks noChangeShapeType="1"/>
          </p:cNvSpPr>
          <p:nvPr/>
        </p:nvSpPr>
        <p:spPr bwMode="auto">
          <a:xfrm>
            <a:off x="458788" y="5943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34" name="Rectangle 18"/>
          <p:cNvSpPr>
            <a:spLocks noChangeArrowheads="1"/>
          </p:cNvSpPr>
          <p:nvPr/>
        </p:nvSpPr>
        <p:spPr bwMode="auto">
          <a:xfrm>
            <a:off x="495300" y="1387475"/>
            <a:ext cx="8077200" cy="44783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Property 1: if a|1, then a = ±1.</a:t>
            </a:r>
            <a:br>
              <a:rPr lang="en-US" sz="3200">
                <a:latin typeface="Arial" panose="020B0604020202020204" pitchFamily="34" charset="0"/>
              </a:rPr>
            </a:b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Property 2: if a|b and b|a, then a = ±b.</a:t>
            </a:r>
            <a:br>
              <a:rPr lang="en-US" sz="3200">
                <a:latin typeface="Arial" panose="020B0604020202020204" pitchFamily="34" charset="0"/>
              </a:rPr>
            </a:b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Property 3: if a|b and b|c, then a|c.</a:t>
            </a:r>
            <a:br>
              <a:rPr lang="en-US" sz="3200">
                <a:latin typeface="Arial" panose="020B0604020202020204" pitchFamily="34" charset="0"/>
              </a:rPr>
            </a:b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Property 4: if a|b and a|c, then 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                    a|(m × b + n × c), where m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                    and n are arbitrary integers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98F9020-54E2-424F-89A2-55EE0C9EE56A}" type="slidenum">
              <a:rPr lang="en-US" i="0">
                <a:latin typeface="Arial" panose="020B0604020202020204" pitchFamily="34" charset="0"/>
              </a:rPr>
              <a:pPr/>
              <a:t>15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9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32780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1965325"/>
            <a:ext cx="8262938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81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186113"/>
            <a:ext cx="899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92FA74A-4731-432D-AE78-C393841799BF}" type="slidenum">
              <a:rPr lang="en-US" i="0">
                <a:latin typeface="Arial" panose="020B0604020202020204" pitchFamily="34" charset="0"/>
              </a:rPr>
              <a:pPr/>
              <a:t>16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482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7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3482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7467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E581E91-A06E-4F18-ACAD-E25765ECE0E6}" type="slidenum">
              <a:rPr lang="en-US" i="0">
                <a:latin typeface="Arial" panose="020B0604020202020204" pitchFamily="34" charset="0"/>
              </a:rPr>
              <a:pPr/>
              <a:t>17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1143000" y="582613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sz="2000"/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36876" name="Line 14"/>
          <p:cNvSpPr>
            <a:spLocks noChangeShapeType="1"/>
          </p:cNvSpPr>
          <p:nvPr/>
        </p:nvSpPr>
        <p:spPr bwMode="auto">
          <a:xfrm>
            <a:off x="457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77" name="Line 15"/>
          <p:cNvSpPr>
            <a:spLocks noChangeShapeType="1"/>
          </p:cNvSpPr>
          <p:nvPr/>
        </p:nvSpPr>
        <p:spPr bwMode="auto">
          <a:xfrm>
            <a:off x="457200" y="556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78" name="Rectangle 16"/>
          <p:cNvSpPr>
            <a:spLocks noChangeArrowheads="1"/>
          </p:cNvSpPr>
          <p:nvPr/>
        </p:nvSpPr>
        <p:spPr bwMode="auto">
          <a:xfrm>
            <a:off x="495300" y="2454275"/>
            <a:ext cx="8077200" cy="301625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Fact 1: The integer 1 has only one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             divisor, itself.</a:t>
            </a:r>
          </a:p>
          <a:p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Fact 2: Any positive integer has at least </a:t>
            </a:r>
          </a:p>
          <a:p>
            <a:r>
              <a:rPr lang="en-US" sz="3200">
                <a:latin typeface="Arial" panose="020B0604020202020204" pitchFamily="34" charset="0"/>
              </a:rPr>
              <a:t>             two divisors, 1 and itself (but it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             can have more).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C29C69-078E-411E-9892-B573917BDDD8}" type="slidenum">
              <a:rPr lang="en-US" i="0">
                <a:latin typeface="Arial" panose="020B0604020202020204" pitchFamily="34" charset="0"/>
              </a:rPr>
              <a:pPr/>
              <a:t>18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38923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057400"/>
            <a:ext cx="8620125" cy="341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24" name="Text Box 17"/>
          <p:cNvSpPr txBox="1">
            <a:spLocks noChangeArrowheads="1"/>
          </p:cNvSpPr>
          <p:nvPr/>
        </p:nvSpPr>
        <p:spPr bwMode="auto">
          <a:xfrm>
            <a:off x="1143000" y="533400"/>
            <a:ext cx="45831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</a:t>
            </a:r>
            <a:r>
              <a:rPr lang="en-US" sz="2000"/>
              <a:t>Common divisors of two integers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6F41DE-A6FD-4019-8FFF-DD2AF946F37F}" type="slidenum">
              <a:rPr lang="en-US" i="0">
                <a:latin typeface="Arial" panose="020B0604020202020204" pitchFamily="34" charset="0"/>
              </a:rPr>
              <a:pPr/>
              <a:t>19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1981200" y="3962400"/>
            <a:ext cx="60346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 dirty="0">
                <a:solidFill>
                  <a:schemeClr val="folHlink"/>
                </a:solidFill>
              </a:rPr>
              <a:t>Euclidean Algorithm  ex. </a:t>
            </a:r>
            <a:r>
              <a:rPr lang="en-US" sz="2400" i="0" dirty="0" err="1">
                <a:solidFill>
                  <a:schemeClr val="folHlink"/>
                </a:solidFill>
              </a:rPr>
              <a:t>gcd</a:t>
            </a:r>
            <a:r>
              <a:rPr lang="en-US" sz="2400" i="0" dirty="0">
                <a:solidFill>
                  <a:schemeClr val="folHlink"/>
                </a:solidFill>
              </a:rPr>
              <a:t> (35,5)=</a:t>
            </a:r>
            <a:r>
              <a:rPr lang="en-US" sz="2400" i="0" dirty="0" err="1">
                <a:solidFill>
                  <a:schemeClr val="folHlink"/>
                </a:solidFill>
              </a:rPr>
              <a:t>gcd</a:t>
            </a:r>
            <a:r>
              <a:rPr lang="en-US" sz="2400" i="0" dirty="0">
                <a:solidFill>
                  <a:schemeClr val="folHlink"/>
                </a:solidFill>
              </a:rPr>
              <a:t>(5,0)</a:t>
            </a:r>
            <a:endParaRPr lang="en-US" sz="2000" dirty="0"/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7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40972" name="Line 11"/>
          <p:cNvSpPr>
            <a:spLocks noChangeShapeType="1"/>
          </p:cNvSpPr>
          <p:nvPr/>
        </p:nvSpPr>
        <p:spPr bwMode="auto">
          <a:xfrm>
            <a:off x="609600" y="4572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3" name="Line 12"/>
          <p:cNvSpPr>
            <a:spLocks noChangeShapeType="1"/>
          </p:cNvSpPr>
          <p:nvPr/>
        </p:nvSpPr>
        <p:spPr bwMode="auto">
          <a:xfrm>
            <a:off x="609600" y="6324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4" name="Rectangle 13"/>
          <p:cNvSpPr>
            <a:spLocks noChangeArrowheads="1"/>
          </p:cNvSpPr>
          <p:nvPr/>
        </p:nvSpPr>
        <p:spPr bwMode="auto">
          <a:xfrm>
            <a:off x="647700" y="4664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 dirty="0">
                <a:latin typeface="Arial" panose="020B0604020202020204" pitchFamily="34" charset="0"/>
              </a:rPr>
              <a:t>Fact 1: </a:t>
            </a:r>
            <a:r>
              <a:rPr lang="en-US" sz="3200" dirty="0" err="1">
                <a:latin typeface="Arial" panose="020B0604020202020204" pitchFamily="34" charset="0"/>
              </a:rPr>
              <a:t>gcd</a:t>
            </a:r>
            <a:r>
              <a:rPr lang="en-US" sz="3200" dirty="0">
                <a:latin typeface="Arial" panose="020B0604020202020204" pitchFamily="34" charset="0"/>
              </a:rPr>
              <a:t> (a, 0) = a</a:t>
            </a:r>
            <a:br>
              <a:rPr lang="en-US" sz="3200" dirty="0">
                <a:latin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</a:rPr>
              <a:t>Fact 2: </a:t>
            </a:r>
            <a:r>
              <a:rPr lang="en-US" sz="3200" dirty="0" err="1">
                <a:latin typeface="Arial" panose="020B0604020202020204" pitchFamily="34" charset="0"/>
              </a:rPr>
              <a:t>gcd</a:t>
            </a:r>
            <a:r>
              <a:rPr lang="en-US" sz="3200" dirty="0">
                <a:latin typeface="Arial" panose="020B0604020202020204" pitchFamily="34" charset="0"/>
              </a:rPr>
              <a:t> (a, b) = </a:t>
            </a:r>
            <a:r>
              <a:rPr lang="en-US" sz="3200" dirty="0" err="1">
                <a:latin typeface="Arial" panose="020B0604020202020204" pitchFamily="34" charset="0"/>
              </a:rPr>
              <a:t>gcd</a:t>
            </a:r>
            <a:r>
              <a:rPr lang="en-US" sz="3200" dirty="0">
                <a:latin typeface="Arial" panose="020B0604020202020204" pitchFamily="34" charset="0"/>
              </a:rPr>
              <a:t> (b, r), where r is</a:t>
            </a:r>
            <a:br>
              <a:rPr lang="en-US" sz="3200" dirty="0">
                <a:latin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</a:rPr>
              <a:t>             the remainder of dividing a by b</a:t>
            </a:r>
          </a:p>
        </p:txBody>
      </p:sp>
      <p:sp>
        <p:nvSpPr>
          <p:cNvPr id="40975" name="Line 14"/>
          <p:cNvSpPr>
            <a:spLocks noChangeShapeType="1"/>
          </p:cNvSpPr>
          <p:nvPr/>
        </p:nvSpPr>
        <p:spPr bwMode="auto">
          <a:xfrm>
            <a:off x="609600" y="175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6" name="Line 15"/>
          <p:cNvSpPr>
            <a:spLocks noChangeShapeType="1"/>
          </p:cNvSpPr>
          <p:nvPr/>
        </p:nvSpPr>
        <p:spPr bwMode="auto">
          <a:xfrm>
            <a:off x="609600" y="3505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7" name="Rectangle 16"/>
          <p:cNvSpPr>
            <a:spLocks noChangeArrowheads="1"/>
          </p:cNvSpPr>
          <p:nvPr/>
        </p:nvSpPr>
        <p:spPr bwMode="auto">
          <a:xfrm>
            <a:off x="647700" y="18446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The greatest common divisor of two positive integers is the largest integer that can divide both integers.</a:t>
            </a:r>
          </a:p>
        </p:txBody>
      </p:sp>
      <p:sp>
        <p:nvSpPr>
          <p:cNvPr id="40978" name="Text Box 17"/>
          <p:cNvSpPr txBox="1">
            <a:spLocks noChangeArrowheads="1"/>
          </p:cNvSpPr>
          <p:nvPr/>
        </p:nvSpPr>
        <p:spPr bwMode="auto">
          <a:xfrm>
            <a:off x="1905000" y="1219200"/>
            <a:ext cx="3603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Greatest Common Divisor</a:t>
            </a:r>
            <a:endParaRPr 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F0CDCD-0D2D-4D1A-9687-6E89B44E558B}" type="slidenum">
              <a:rPr lang="en-US" i="0">
                <a:latin typeface="Arial" panose="020B0604020202020204" pitchFamily="34" charset="0"/>
              </a:rPr>
              <a:pPr/>
              <a:t>20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43019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1066800"/>
            <a:ext cx="7002462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20" name="Text Box 25"/>
          <p:cNvSpPr txBox="1">
            <a:spLocks noChangeArrowheads="1"/>
          </p:cNvSpPr>
          <p:nvPr/>
        </p:nvSpPr>
        <p:spPr bwMode="auto">
          <a:xfrm>
            <a:off x="1219200" y="533400"/>
            <a:ext cx="34972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Euclidean Algorithm</a:t>
            </a:r>
          </a:p>
        </p:txBody>
      </p:sp>
      <p:sp>
        <p:nvSpPr>
          <p:cNvPr id="43021" name="Line 27"/>
          <p:cNvSpPr>
            <a:spLocks noChangeShapeType="1"/>
          </p:cNvSpPr>
          <p:nvPr/>
        </p:nvSpPr>
        <p:spPr bwMode="auto">
          <a:xfrm>
            <a:off x="609600" y="5334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2" name="Line 28"/>
          <p:cNvSpPr>
            <a:spLocks noChangeShapeType="1"/>
          </p:cNvSpPr>
          <p:nvPr/>
        </p:nvSpPr>
        <p:spPr bwMode="auto">
          <a:xfrm>
            <a:off x="609600" y="6553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3" name="Rectangle 29"/>
          <p:cNvSpPr>
            <a:spLocks noChangeArrowheads="1"/>
          </p:cNvSpPr>
          <p:nvPr/>
        </p:nvSpPr>
        <p:spPr bwMode="auto">
          <a:xfrm>
            <a:off x="647700" y="5426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When gcd (a, b) = 1, we say that a and b are relatively prime.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749968-6D7A-4BD8-A081-1F97ECC1B0E3}" type="slidenum">
              <a:rPr lang="en-US" i="0">
                <a:latin typeface="Arial" panose="020B0604020202020204" pitchFamily="34" charset="0"/>
              </a:rPr>
              <a:pPr/>
              <a:t>21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6" name="Text Box 9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45067" name="Line 12"/>
          <p:cNvSpPr>
            <a:spLocks noChangeShapeType="1"/>
          </p:cNvSpPr>
          <p:nvPr/>
        </p:nvSpPr>
        <p:spPr bwMode="auto">
          <a:xfrm>
            <a:off x="609600" y="3124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8" name="Line 13"/>
          <p:cNvSpPr>
            <a:spLocks noChangeShapeType="1"/>
          </p:cNvSpPr>
          <p:nvPr/>
        </p:nvSpPr>
        <p:spPr bwMode="auto">
          <a:xfrm>
            <a:off x="609600" y="4343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9" name="Rectangle 14"/>
          <p:cNvSpPr>
            <a:spLocks noChangeArrowheads="1"/>
          </p:cNvSpPr>
          <p:nvPr/>
        </p:nvSpPr>
        <p:spPr bwMode="auto">
          <a:xfrm>
            <a:off x="647700" y="32162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When gcd (a, b) = 1, we say that a and b are relatively prime.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47A42F1-0CA6-47FE-9141-7B51706A2B47}" type="slidenum">
              <a:rPr lang="en-US" i="0">
                <a:latin typeface="Arial" panose="020B0604020202020204" pitchFamily="34" charset="0"/>
              </a:rPr>
              <a:pPr/>
              <a:t>22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710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5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894987" name="Rectangle 11"/>
          <p:cNvSpPr>
            <a:spLocks noChangeArrowheads="1"/>
          </p:cNvSpPr>
          <p:nvPr/>
        </p:nvSpPr>
        <p:spPr bwMode="auto">
          <a:xfrm>
            <a:off x="304800" y="1065213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Find the greatest common divisor of 2740 and 1760.</a:t>
            </a:r>
          </a:p>
        </p:txBody>
      </p:sp>
      <p:sp>
        <p:nvSpPr>
          <p:cNvPr id="894988" name="Rectangle 12"/>
          <p:cNvSpPr>
            <a:spLocks noChangeArrowheads="1"/>
          </p:cNvSpPr>
          <p:nvPr/>
        </p:nvSpPr>
        <p:spPr bwMode="auto">
          <a:xfrm>
            <a:off x="228600" y="2057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We have gcd (2740, 1760) = 20.</a:t>
            </a:r>
          </a:p>
        </p:txBody>
      </p:sp>
      <p:sp>
        <p:nvSpPr>
          <p:cNvPr id="894989" name="Rectangle 13"/>
          <p:cNvSpPr>
            <a:spLocks noChangeArrowheads="1"/>
          </p:cNvSpPr>
          <p:nvPr/>
        </p:nvSpPr>
        <p:spPr bwMode="auto">
          <a:xfrm>
            <a:off x="2286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Solution</a:t>
            </a:r>
          </a:p>
        </p:txBody>
      </p:sp>
      <p:pic>
        <p:nvPicPr>
          <p:cNvPr id="4711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5267325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97354D-6794-4B88-A23A-F5D5B93D3235}" type="slidenum">
              <a:rPr lang="en-US" i="0">
                <a:latin typeface="Arial" panose="020B0604020202020204" pitchFamily="34" charset="0"/>
              </a:rPr>
              <a:pPr/>
              <a:t>23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915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5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5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6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6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6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63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897035" name="Rectangle 11"/>
          <p:cNvSpPr>
            <a:spLocks noChangeArrowheads="1"/>
          </p:cNvSpPr>
          <p:nvPr/>
        </p:nvSpPr>
        <p:spPr bwMode="auto">
          <a:xfrm>
            <a:off x="304800" y="1065213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Find the greatest common divisor of 25 and 60.</a:t>
            </a:r>
          </a:p>
        </p:txBody>
      </p:sp>
      <p:sp>
        <p:nvSpPr>
          <p:cNvPr id="897036" name="Rectangle 12"/>
          <p:cNvSpPr>
            <a:spLocks noChangeArrowheads="1"/>
          </p:cNvSpPr>
          <p:nvPr/>
        </p:nvSpPr>
        <p:spPr bwMode="auto">
          <a:xfrm>
            <a:off x="228600" y="2057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We have </a:t>
            </a:r>
            <a:r>
              <a:rPr lang="en-US" sz="2400" i="0" dirty="0" err="1"/>
              <a:t>gcd</a:t>
            </a:r>
            <a:r>
              <a:rPr lang="en-US" sz="2400" i="0" dirty="0"/>
              <a:t> (25, 65) = 5.</a:t>
            </a:r>
          </a:p>
        </p:txBody>
      </p:sp>
      <p:sp>
        <p:nvSpPr>
          <p:cNvPr id="897037" name="Rectangle 13"/>
          <p:cNvSpPr>
            <a:spLocks noChangeArrowheads="1"/>
          </p:cNvSpPr>
          <p:nvPr/>
        </p:nvSpPr>
        <p:spPr bwMode="auto">
          <a:xfrm>
            <a:off x="228600" y="1676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Solution</a:t>
            </a:r>
          </a:p>
        </p:txBody>
      </p:sp>
      <p:pic>
        <p:nvPicPr>
          <p:cNvPr id="4916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525" y="2735263"/>
            <a:ext cx="5146675" cy="282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A87D483-D023-4748-A0B3-E34664A5CC1E}" type="slidenum">
              <a:rPr lang="en-US" i="0">
                <a:latin typeface="Arial" panose="020B0604020202020204" pitchFamily="34" charset="0"/>
              </a:rPr>
              <a:pPr/>
              <a:t>24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423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Extended Euclidean Algorithm</a:t>
            </a:r>
            <a:endParaRPr lang="en-US" sz="2000"/>
          </a:p>
        </p:txBody>
      </p:sp>
      <p:sp>
        <p:nvSpPr>
          <p:cNvPr id="5120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1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1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899083" name="Rectangle 11"/>
          <p:cNvSpPr>
            <a:spLocks noChangeArrowheads="1"/>
          </p:cNvSpPr>
          <p:nvPr/>
        </p:nvSpPr>
        <p:spPr bwMode="auto">
          <a:xfrm>
            <a:off x="304800" y="10783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Given two integers </a:t>
            </a:r>
            <a:r>
              <a:rPr lang="en-US" sz="2400"/>
              <a:t>a</a:t>
            </a:r>
            <a:r>
              <a:rPr lang="en-US" sz="2400" i="0"/>
              <a:t> and </a:t>
            </a:r>
            <a:r>
              <a:rPr lang="en-US" sz="2400"/>
              <a:t>b</a:t>
            </a:r>
            <a:r>
              <a:rPr lang="en-US" sz="2400" i="0"/>
              <a:t>, we often need to find other two integers, </a:t>
            </a:r>
            <a:r>
              <a:rPr lang="en-US" sz="2400"/>
              <a:t>s</a:t>
            </a:r>
            <a:r>
              <a:rPr lang="en-US" sz="2400" i="0"/>
              <a:t> and </a:t>
            </a:r>
            <a:r>
              <a:rPr lang="en-US" sz="2400"/>
              <a:t>t</a:t>
            </a:r>
            <a:r>
              <a:rPr lang="en-US" sz="2400" i="0"/>
              <a:t>, such that</a:t>
            </a:r>
          </a:p>
        </p:txBody>
      </p:sp>
      <p:pic>
        <p:nvPicPr>
          <p:cNvPr id="5121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2438400"/>
            <a:ext cx="5462587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99088" name="Rectangle 16"/>
          <p:cNvSpPr>
            <a:spLocks noChangeArrowheads="1"/>
          </p:cNvSpPr>
          <p:nvPr/>
        </p:nvSpPr>
        <p:spPr bwMode="auto">
          <a:xfrm>
            <a:off x="381000" y="39739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extended Euclidean algorithm can calculate the gcd (</a:t>
            </a:r>
            <a:r>
              <a:rPr lang="en-US" sz="2400"/>
              <a:t>a</a:t>
            </a:r>
            <a:r>
              <a:rPr lang="en-US" sz="2400" i="0"/>
              <a:t>, </a:t>
            </a:r>
            <a:r>
              <a:rPr lang="en-US" sz="2400"/>
              <a:t>b</a:t>
            </a:r>
            <a:r>
              <a:rPr lang="en-US" sz="2400" i="0"/>
              <a:t>) and at the same time calculate the value of </a:t>
            </a:r>
            <a:r>
              <a:rPr lang="en-US" sz="2400"/>
              <a:t>s</a:t>
            </a:r>
            <a:r>
              <a:rPr lang="en-US" sz="2400" i="0"/>
              <a:t> and </a:t>
            </a:r>
            <a:r>
              <a:rPr lang="en-US" sz="2400"/>
              <a:t>t</a:t>
            </a:r>
            <a:r>
              <a:rPr lang="en-US" sz="2400" i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43A017-A9CA-435E-ACBF-6703659C8241}" type="slidenum">
              <a:rPr lang="en-US" i="0">
                <a:latin typeface="Arial" panose="020B0604020202020204" pitchFamily="34" charset="0"/>
              </a:rPr>
              <a:pPr/>
              <a:t>25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53259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676400"/>
            <a:ext cx="8593137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260" name="Text Box 16"/>
          <p:cNvSpPr txBox="1">
            <a:spLocks noChangeArrowheads="1"/>
          </p:cNvSpPr>
          <p:nvPr/>
        </p:nvSpPr>
        <p:spPr bwMode="auto">
          <a:xfrm>
            <a:off x="1066800" y="533400"/>
            <a:ext cx="52720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 dirty="0">
                <a:solidFill>
                  <a:schemeClr val="folHlink"/>
                </a:solidFill>
              </a:rPr>
              <a:t>Figure   </a:t>
            </a:r>
            <a:r>
              <a:rPr lang="en-US" sz="2000" dirty="0"/>
              <a:t>Extended Euclidean algorithm, part 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BA5FB0-685A-4E87-8DED-FF0E6C72B3D2}" type="slidenum">
              <a:rPr lang="en-US" i="0">
                <a:latin typeface="Arial" panose="020B0604020202020204" pitchFamily="34" charset="0"/>
              </a:rPr>
              <a:pPr/>
              <a:t>26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55307" name="Text Box 14"/>
          <p:cNvSpPr txBox="1">
            <a:spLocks noChangeArrowheads="1"/>
          </p:cNvSpPr>
          <p:nvPr/>
        </p:nvSpPr>
        <p:spPr bwMode="auto">
          <a:xfrm>
            <a:off x="1155700" y="533400"/>
            <a:ext cx="53482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Extended Euclidean algorithm, part b</a:t>
            </a:r>
          </a:p>
        </p:txBody>
      </p:sp>
      <p:pic>
        <p:nvPicPr>
          <p:cNvPr id="5530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143000"/>
            <a:ext cx="7497763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300832-73B0-4A5F-B26E-BBAD7A21B524}" type="slidenum">
              <a:rPr lang="en-US" i="0">
                <a:latin typeface="Arial" panose="020B0604020202020204" pitchFamily="34" charset="0"/>
              </a:rPr>
              <a:pPr/>
              <a:t>27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5734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905227" name="Rectangle 11"/>
          <p:cNvSpPr>
            <a:spLocks noChangeArrowheads="1"/>
          </p:cNvSpPr>
          <p:nvPr/>
        </p:nvSpPr>
        <p:spPr bwMode="auto">
          <a:xfrm>
            <a:off x="304800" y="11545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Given </a:t>
            </a:r>
            <a:r>
              <a:rPr lang="en-US" sz="2400"/>
              <a:t>a</a:t>
            </a:r>
            <a:r>
              <a:rPr lang="en-US" sz="2400" i="0"/>
              <a:t> = 161 and </a:t>
            </a:r>
            <a:r>
              <a:rPr lang="en-US" sz="2400"/>
              <a:t>b</a:t>
            </a:r>
            <a:r>
              <a:rPr lang="en-US" sz="2400" i="0"/>
              <a:t> = 28, find gcd (</a:t>
            </a:r>
            <a:r>
              <a:rPr lang="en-US" sz="2400"/>
              <a:t>a</a:t>
            </a:r>
            <a:r>
              <a:rPr lang="en-US" sz="2400" i="0"/>
              <a:t>, </a:t>
            </a:r>
            <a:r>
              <a:rPr lang="en-US" sz="2400"/>
              <a:t>b</a:t>
            </a:r>
            <a:r>
              <a:rPr lang="en-US" sz="2400" i="0"/>
              <a:t>) and the values of </a:t>
            </a:r>
            <a:r>
              <a:rPr lang="en-US" sz="2400"/>
              <a:t>s</a:t>
            </a:r>
            <a:r>
              <a:rPr lang="en-US" sz="2400" i="0"/>
              <a:t> and </a:t>
            </a:r>
            <a:r>
              <a:rPr lang="en-US" sz="2400"/>
              <a:t>t</a:t>
            </a:r>
            <a:r>
              <a:rPr lang="en-US" sz="2400" i="0"/>
              <a:t>.</a:t>
            </a:r>
          </a:p>
        </p:txBody>
      </p:sp>
      <p:sp>
        <p:nvSpPr>
          <p:cNvPr id="905228" name="Rectangle 12"/>
          <p:cNvSpPr>
            <a:spLocks noChangeArrowheads="1"/>
          </p:cNvSpPr>
          <p:nvPr/>
        </p:nvSpPr>
        <p:spPr bwMode="auto">
          <a:xfrm>
            <a:off x="381000" y="2590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get gcd (161, 28) = 7, </a:t>
            </a:r>
            <a:r>
              <a:rPr lang="en-US" sz="2400"/>
              <a:t>s</a:t>
            </a:r>
            <a:r>
              <a:rPr lang="en-US" sz="2400" i="0"/>
              <a:t> = −1 and </a:t>
            </a:r>
            <a:r>
              <a:rPr lang="en-US" sz="2400"/>
              <a:t>t</a:t>
            </a:r>
            <a:r>
              <a:rPr lang="en-US" sz="2400" i="0"/>
              <a:t> = 6.</a:t>
            </a:r>
          </a:p>
        </p:txBody>
      </p:sp>
      <p:sp>
        <p:nvSpPr>
          <p:cNvPr id="905229" name="Rectangle 13"/>
          <p:cNvSpPr>
            <a:spLocks noChangeArrowheads="1"/>
          </p:cNvSpPr>
          <p:nvPr/>
        </p:nvSpPr>
        <p:spPr bwMode="auto">
          <a:xfrm>
            <a:off x="381000" y="2209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5735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762952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2A68C2-1371-44D4-840B-5A2369A51085}" type="slidenum">
              <a:rPr lang="en-US" i="0">
                <a:latin typeface="Arial" panose="020B0604020202020204" pitchFamily="34" charset="0"/>
              </a:rPr>
              <a:pPr/>
              <a:t>28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40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40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40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403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907275" name="Rectangle 11"/>
          <p:cNvSpPr>
            <a:spLocks noChangeArrowheads="1"/>
          </p:cNvSpPr>
          <p:nvPr/>
        </p:nvSpPr>
        <p:spPr bwMode="auto">
          <a:xfrm>
            <a:off x="304800" y="10783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Given </a:t>
            </a:r>
            <a:r>
              <a:rPr lang="en-US" sz="2400"/>
              <a:t>a</a:t>
            </a:r>
            <a:r>
              <a:rPr lang="en-US" sz="2400" i="0"/>
              <a:t> = 17 and </a:t>
            </a:r>
            <a:r>
              <a:rPr lang="en-US" sz="2400"/>
              <a:t>b</a:t>
            </a:r>
            <a:r>
              <a:rPr lang="en-US" sz="2400" i="0"/>
              <a:t> = 0, find gcd (</a:t>
            </a:r>
            <a:r>
              <a:rPr lang="en-US" sz="2400"/>
              <a:t>a</a:t>
            </a:r>
            <a:r>
              <a:rPr lang="en-US" sz="2400" i="0"/>
              <a:t>, </a:t>
            </a:r>
            <a:r>
              <a:rPr lang="en-US" sz="2400"/>
              <a:t>b</a:t>
            </a:r>
            <a:r>
              <a:rPr lang="en-US" sz="2400" i="0"/>
              <a:t>) and the values of </a:t>
            </a:r>
            <a:r>
              <a:rPr lang="en-US" sz="2400"/>
              <a:t>s</a:t>
            </a:r>
            <a:r>
              <a:rPr lang="en-US" sz="2400" i="0"/>
              <a:t> </a:t>
            </a:r>
            <a:br>
              <a:rPr lang="en-US" sz="2400" i="0"/>
            </a:br>
            <a:r>
              <a:rPr lang="en-US" sz="2400" i="0"/>
              <a:t>and </a:t>
            </a:r>
            <a:r>
              <a:rPr lang="en-US" sz="2400"/>
              <a:t>t</a:t>
            </a:r>
            <a:r>
              <a:rPr lang="en-US" sz="2400" i="0"/>
              <a:t>.</a:t>
            </a:r>
          </a:p>
        </p:txBody>
      </p:sp>
      <p:sp>
        <p:nvSpPr>
          <p:cNvPr id="907276" name="Rectangle 12"/>
          <p:cNvSpPr>
            <a:spLocks noChangeArrowheads="1"/>
          </p:cNvSpPr>
          <p:nvPr/>
        </p:nvSpPr>
        <p:spPr bwMode="auto">
          <a:xfrm>
            <a:off x="304800" y="2819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get gcd (17, 0) = 17, </a:t>
            </a:r>
            <a:r>
              <a:rPr lang="en-US" sz="2400"/>
              <a:t>s</a:t>
            </a:r>
            <a:r>
              <a:rPr lang="en-US" sz="2400" i="0"/>
              <a:t> = 1, and </a:t>
            </a:r>
            <a:r>
              <a:rPr lang="en-US" sz="2400"/>
              <a:t>t</a:t>
            </a:r>
            <a:r>
              <a:rPr lang="en-US" sz="2400" i="0"/>
              <a:t> = 0</a:t>
            </a:r>
            <a:r>
              <a:rPr lang="en-US" sz="2400" i="0">
                <a:solidFill>
                  <a:schemeClr val="folHlink"/>
                </a:solidFill>
              </a:rPr>
              <a:t>.</a:t>
            </a:r>
          </a:p>
        </p:txBody>
      </p:sp>
      <p:sp>
        <p:nvSpPr>
          <p:cNvPr id="907277" name="Rectangle 13"/>
          <p:cNvSpPr>
            <a:spLocks noChangeArrowheads="1"/>
          </p:cNvSpPr>
          <p:nvPr/>
        </p:nvSpPr>
        <p:spPr bwMode="auto">
          <a:xfrm>
            <a:off x="228600" y="2362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5940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29000"/>
            <a:ext cx="84867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38E1DD-7AD0-457F-9951-47C301466FCA}" type="slidenum">
              <a:rPr lang="en-US" i="0">
                <a:latin typeface="Arial" panose="020B0604020202020204" pitchFamily="34" charset="0"/>
              </a:rPr>
              <a:pPr/>
              <a:t>29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5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51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909323" name="Rectangle 11"/>
          <p:cNvSpPr>
            <a:spLocks noChangeArrowheads="1"/>
          </p:cNvSpPr>
          <p:nvPr/>
        </p:nvSpPr>
        <p:spPr bwMode="auto">
          <a:xfrm>
            <a:off x="304800" y="11545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Given </a:t>
            </a:r>
            <a:r>
              <a:rPr lang="en-US" sz="2400"/>
              <a:t>a</a:t>
            </a:r>
            <a:r>
              <a:rPr lang="en-US" sz="2400" i="0"/>
              <a:t> = 0 and </a:t>
            </a:r>
            <a:r>
              <a:rPr lang="en-US" sz="2400"/>
              <a:t>b</a:t>
            </a:r>
            <a:r>
              <a:rPr lang="en-US" sz="2400" i="0"/>
              <a:t> = 45, find gcd (</a:t>
            </a:r>
            <a:r>
              <a:rPr lang="en-US" sz="2400"/>
              <a:t>a</a:t>
            </a:r>
            <a:r>
              <a:rPr lang="en-US" sz="2400" i="0"/>
              <a:t>, </a:t>
            </a:r>
            <a:r>
              <a:rPr lang="en-US" sz="2400"/>
              <a:t>b</a:t>
            </a:r>
            <a:r>
              <a:rPr lang="en-US" sz="2400" i="0"/>
              <a:t>) and the values of </a:t>
            </a:r>
            <a:r>
              <a:rPr lang="en-US" sz="2400"/>
              <a:t>s</a:t>
            </a:r>
            <a:r>
              <a:rPr lang="en-US" sz="2400" i="0"/>
              <a:t> </a:t>
            </a:r>
            <a:br>
              <a:rPr lang="en-US" sz="2400" i="0"/>
            </a:br>
            <a:r>
              <a:rPr lang="en-US" sz="2400" i="0"/>
              <a:t>and </a:t>
            </a:r>
            <a:r>
              <a:rPr lang="en-US" sz="2400"/>
              <a:t>t</a:t>
            </a:r>
            <a:r>
              <a:rPr lang="en-US" sz="2400" i="0"/>
              <a:t>.</a:t>
            </a:r>
          </a:p>
        </p:txBody>
      </p:sp>
      <p:sp>
        <p:nvSpPr>
          <p:cNvPr id="909324" name="Rectangle 12"/>
          <p:cNvSpPr>
            <a:spLocks noChangeArrowheads="1"/>
          </p:cNvSpPr>
          <p:nvPr/>
        </p:nvSpPr>
        <p:spPr bwMode="auto">
          <a:xfrm>
            <a:off x="228600" y="2590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get gcd (0, 45) = 45, </a:t>
            </a:r>
            <a:r>
              <a:rPr lang="en-US" sz="2400"/>
              <a:t>s</a:t>
            </a:r>
            <a:r>
              <a:rPr lang="en-US" sz="2400" i="0"/>
              <a:t> = 0, and </a:t>
            </a:r>
            <a:r>
              <a:rPr lang="en-US" sz="2400"/>
              <a:t>t</a:t>
            </a:r>
            <a:r>
              <a:rPr lang="en-US" sz="2400" i="0"/>
              <a:t> = 1.</a:t>
            </a:r>
          </a:p>
        </p:txBody>
      </p:sp>
      <p:sp>
        <p:nvSpPr>
          <p:cNvPr id="909325" name="Rectangle 13"/>
          <p:cNvSpPr>
            <a:spLocks noChangeArrowheads="1"/>
          </p:cNvSpPr>
          <p:nvPr/>
        </p:nvSpPr>
        <p:spPr bwMode="auto">
          <a:xfrm>
            <a:off x="228600" y="2209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6145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352800"/>
            <a:ext cx="84867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999A28-78C6-4CB9-BD28-63BEEEAAA9BC}" type="slidenum">
              <a:rPr lang="en-US" i="0">
                <a:latin typeface="Arial" panose="020B0604020202020204" pitchFamily="34" charset="0"/>
              </a:rPr>
              <a:pPr/>
              <a:t>30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51618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3200" i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51619" name="Text Box 3"/>
          <p:cNvSpPr txBox="1">
            <a:spLocks noChangeArrowheads="1"/>
          </p:cNvSpPr>
          <p:nvPr/>
        </p:nvSpPr>
        <p:spPr bwMode="auto">
          <a:xfrm>
            <a:off x="228600" y="406400"/>
            <a:ext cx="56848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     MODULAR ARITHMETIC</a:t>
            </a:r>
          </a:p>
        </p:txBody>
      </p:sp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i="0"/>
          </a:p>
        </p:txBody>
      </p:sp>
      <p:sp>
        <p:nvSpPr>
          <p:cNvPr id="751621" name="Rectangle 5"/>
          <p:cNvSpPr>
            <a:spLocks noChangeArrowheads="1"/>
          </p:cNvSpPr>
          <p:nvPr/>
        </p:nvSpPr>
        <p:spPr bwMode="auto">
          <a:xfrm>
            <a:off x="304800" y="1516063"/>
            <a:ext cx="822960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division relationship (a = q × n + r) discussed earlier has two inputs (a and n) and two outputs (q and r). In modular arithmetic, we are interested in only one of the outputs, the remainder r. </a:t>
            </a:r>
          </a:p>
        </p:txBody>
      </p:sp>
      <p:sp>
        <p:nvSpPr>
          <p:cNvPr id="63495" name="Rectangle 6"/>
          <p:cNvSpPr>
            <a:spLocks noChangeArrowheads="1"/>
          </p:cNvSpPr>
          <p:nvPr/>
        </p:nvSpPr>
        <p:spPr bwMode="auto">
          <a:xfrm>
            <a:off x="304800" y="4117975"/>
            <a:ext cx="6705600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1</a:t>
            </a:r>
            <a:r>
              <a:rPr lang="en-US" sz="2400" i="0">
                <a:solidFill>
                  <a:srgbClr val="0033CC"/>
                </a:solidFill>
              </a:rPr>
              <a:t>	Modular Operator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2</a:t>
            </a:r>
            <a:r>
              <a:rPr lang="fr-FR" sz="2400" i="0">
                <a:solidFill>
                  <a:srgbClr val="0033CC"/>
                </a:solidFill>
              </a:rPr>
              <a:t>	Set of Residues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3</a:t>
            </a:r>
            <a:r>
              <a:rPr lang="fr-FR" sz="2400" i="0">
                <a:solidFill>
                  <a:srgbClr val="0033CC"/>
                </a:solidFill>
              </a:rPr>
              <a:t>	Congruence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4</a:t>
            </a:r>
            <a:r>
              <a:rPr lang="fr-FR" sz="2400" i="0">
                <a:solidFill>
                  <a:srgbClr val="0033CC"/>
                </a:solidFill>
              </a:rPr>
              <a:t>	Operations in Z</a:t>
            </a:r>
            <a:r>
              <a:rPr lang="fr-FR" sz="2400" i="0" baseline="-25000">
                <a:solidFill>
                  <a:srgbClr val="0033CC"/>
                </a:solidFill>
              </a:rPr>
              <a:t>n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5</a:t>
            </a:r>
            <a:r>
              <a:rPr lang="en-US" sz="2400" i="0">
                <a:solidFill>
                  <a:srgbClr val="0033CC"/>
                </a:solidFill>
              </a:rPr>
              <a:t>	Addition and Multiplication Tables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6</a:t>
            </a:r>
            <a:r>
              <a:rPr lang="en-US" sz="2400" i="0">
                <a:solidFill>
                  <a:srgbClr val="0033CC"/>
                </a:solidFill>
              </a:rPr>
              <a:t>	Different Sets</a:t>
            </a:r>
          </a:p>
        </p:txBody>
      </p:sp>
      <p:sp>
        <p:nvSpPr>
          <p:cNvPr id="751623" name="Text Box 7"/>
          <p:cNvSpPr txBox="1">
            <a:spLocks noChangeArrowheads="1"/>
          </p:cNvSpPr>
          <p:nvPr/>
        </p:nvSpPr>
        <p:spPr bwMode="auto">
          <a:xfrm>
            <a:off x="228600" y="3505200"/>
            <a:ext cx="1247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6D72962-2B4B-4B77-8164-AB6B23933FDE}" type="slidenum">
              <a:rPr lang="en-US" i="0">
                <a:latin typeface="Arial" panose="020B0604020202020204" pitchFamily="34" charset="0"/>
              </a:rPr>
              <a:pPr/>
              <a:t>31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6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The modulo operator is shown as </a:t>
            </a:r>
            <a:r>
              <a:rPr lang="en-US" sz="2800">
                <a:solidFill>
                  <a:schemeClr val="hlink"/>
                </a:solidFill>
              </a:rPr>
              <a:t>mod</a:t>
            </a:r>
            <a:r>
              <a:rPr lang="en-US" sz="2800"/>
              <a:t>. The second input (n) is called the modulus. The output r is called the residue. </a:t>
            </a:r>
          </a:p>
        </p:txBody>
      </p:sp>
      <p:sp>
        <p:nvSpPr>
          <p:cNvPr id="65547" name="Text Box 10"/>
          <p:cNvSpPr txBox="1">
            <a:spLocks noChangeArrowheads="1"/>
          </p:cNvSpPr>
          <p:nvPr/>
        </p:nvSpPr>
        <p:spPr bwMode="auto">
          <a:xfrm>
            <a:off x="1143000" y="0"/>
            <a:ext cx="32416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Modulo Operator</a:t>
            </a:r>
          </a:p>
        </p:txBody>
      </p:sp>
      <p:pic>
        <p:nvPicPr>
          <p:cNvPr id="65548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3490913"/>
            <a:ext cx="7321550" cy="222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549" name="Text Box 19"/>
          <p:cNvSpPr txBox="1">
            <a:spLocks noChangeArrowheads="1"/>
          </p:cNvSpPr>
          <p:nvPr/>
        </p:nvSpPr>
        <p:spPr bwMode="auto">
          <a:xfrm>
            <a:off x="1662113" y="2590800"/>
            <a:ext cx="55483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Division algorithm and modulo operator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AE1721-3A58-468B-AEDE-385BB5E4E22F}" type="slidenum">
              <a:rPr lang="en-US" i="0">
                <a:latin typeface="Arial" panose="020B0604020202020204" pitchFamily="34" charset="0"/>
              </a:rPr>
              <a:pPr/>
              <a:t>32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758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6758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21611" name="Rectangle 11"/>
          <p:cNvSpPr>
            <a:spLocks noChangeArrowheads="1"/>
          </p:cNvSpPr>
          <p:nvPr/>
        </p:nvSpPr>
        <p:spPr bwMode="auto">
          <a:xfrm>
            <a:off x="304800" y="1060361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result of the following operations:</a:t>
            </a:r>
          </a:p>
          <a:p>
            <a:pPr algn="just" eaLnBrk="1" hangingPunct="1">
              <a:defRPr/>
            </a:pPr>
            <a:r>
              <a:rPr lang="da-DK" sz="2400" i="0">
                <a:solidFill>
                  <a:schemeClr val="hlink"/>
                </a:solidFill>
              </a:rPr>
              <a:t>a.</a:t>
            </a:r>
            <a:r>
              <a:rPr lang="da-DK" sz="2400" i="0"/>
              <a:t>  27 mod 5                                            </a:t>
            </a:r>
            <a:r>
              <a:rPr lang="da-DK" sz="2400" i="0">
                <a:solidFill>
                  <a:schemeClr val="hlink"/>
                </a:solidFill>
              </a:rPr>
              <a:t>b.</a:t>
            </a:r>
            <a:r>
              <a:rPr lang="da-DK" sz="2400" i="0"/>
              <a:t>  36 mod 12</a:t>
            </a:r>
          </a:p>
          <a:p>
            <a:pPr algn="just" eaLnBrk="1" hangingPunct="1">
              <a:defRPr/>
            </a:pPr>
            <a:r>
              <a:rPr lang="da-DK" sz="2400" i="0">
                <a:solidFill>
                  <a:schemeClr val="hlink"/>
                </a:solidFill>
              </a:rPr>
              <a:t>c.</a:t>
            </a:r>
            <a:r>
              <a:rPr lang="da-DK" sz="2400" i="0"/>
              <a:t>  −18 mod 14                                        </a:t>
            </a:r>
            <a:r>
              <a:rPr lang="da-DK" sz="2400" i="0">
                <a:solidFill>
                  <a:schemeClr val="hlink"/>
                </a:solidFill>
              </a:rPr>
              <a:t>d.</a:t>
            </a:r>
            <a:r>
              <a:rPr lang="da-DK" sz="2400" i="0"/>
              <a:t>  −7 mod 10</a:t>
            </a:r>
            <a:endParaRPr lang="en-US" sz="2400" i="0"/>
          </a:p>
        </p:txBody>
      </p:sp>
      <p:sp>
        <p:nvSpPr>
          <p:cNvPr id="921612" name="Rectangle 12"/>
          <p:cNvSpPr>
            <a:spLocks noChangeArrowheads="1"/>
          </p:cNvSpPr>
          <p:nvPr/>
        </p:nvSpPr>
        <p:spPr bwMode="auto">
          <a:xfrm>
            <a:off x="228600" y="3361340"/>
            <a:ext cx="8229600" cy="2751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Aft>
                <a:spcPct val="40000"/>
              </a:spcAft>
              <a:buFontTx/>
              <a:buAutoNum type="alphaLcPeriod"/>
              <a:defRPr/>
            </a:pPr>
            <a:r>
              <a:rPr lang="en-US" i="0"/>
              <a:t>Dividing 27 by 5 results in </a:t>
            </a:r>
            <a:r>
              <a:rPr lang="en-US"/>
              <a:t>r</a:t>
            </a:r>
            <a:r>
              <a:rPr lang="en-US" i="0"/>
              <a:t> = 2</a:t>
            </a:r>
          </a:p>
          <a:p>
            <a:pPr eaLnBrk="1" hangingPunct="1">
              <a:spcAft>
                <a:spcPct val="40000"/>
              </a:spcAft>
              <a:buFontTx/>
              <a:buAutoNum type="alphaLcPeriod"/>
              <a:defRPr/>
            </a:pPr>
            <a:r>
              <a:rPr lang="en-US" i="0"/>
              <a:t>Dividing 36 by 12 results in </a:t>
            </a:r>
            <a:r>
              <a:rPr lang="en-US"/>
              <a:t>r</a:t>
            </a:r>
            <a:r>
              <a:rPr lang="en-US" i="0"/>
              <a:t> = 0. </a:t>
            </a:r>
          </a:p>
          <a:p>
            <a:pPr eaLnBrk="1" hangingPunct="1">
              <a:spcAft>
                <a:spcPct val="40000"/>
              </a:spcAft>
              <a:defRPr/>
            </a:pPr>
            <a:r>
              <a:rPr lang="en-US" i="0"/>
              <a:t>c.   Dividing −18 by 14 results in </a:t>
            </a:r>
            <a:r>
              <a:rPr lang="en-US"/>
              <a:t>r</a:t>
            </a:r>
            <a:r>
              <a:rPr lang="en-US" i="0"/>
              <a:t> = −4. After adding the modulus </a:t>
            </a:r>
            <a:r>
              <a:rPr lang="en-US"/>
              <a:t>r</a:t>
            </a:r>
            <a:r>
              <a:rPr lang="en-US" i="0"/>
              <a:t> = 10</a:t>
            </a:r>
          </a:p>
          <a:p>
            <a:pPr eaLnBrk="1" hangingPunct="1">
              <a:spcAft>
                <a:spcPct val="40000"/>
              </a:spcAft>
              <a:defRPr/>
            </a:pPr>
            <a:r>
              <a:rPr lang="en-US" i="0"/>
              <a:t>d.   Dividing −7 by 10 results in r = −7. After adding the modulus to −7, r = 3. </a:t>
            </a:r>
          </a:p>
        </p:txBody>
      </p:sp>
      <p:sp>
        <p:nvSpPr>
          <p:cNvPr id="921613" name="Rectangle 13"/>
          <p:cNvSpPr>
            <a:spLocks noChangeArrowheads="1"/>
          </p:cNvSpPr>
          <p:nvPr/>
        </p:nvSpPr>
        <p:spPr bwMode="auto">
          <a:xfrm>
            <a:off x="228600" y="2971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986558C-6370-4F5B-948B-E8006742B8AE}" type="slidenum">
              <a:rPr lang="en-US" i="0">
                <a:latin typeface="Arial" panose="020B0604020202020204" pitchFamily="34" charset="0"/>
              </a:rPr>
              <a:pPr/>
              <a:t>33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3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3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3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4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4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42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The modulo operation creates a set, which in modular arithmetic is referred to as </a:t>
            </a:r>
            <a:r>
              <a:rPr lang="en-US" sz="2800">
                <a:solidFill>
                  <a:schemeClr val="hlink"/>
                </a:solidFill>
              </a:rPr>
              <a:t>the set of least residues modulo n</a:t>
            </a:r>
            <a:r>
              <a:rPr lang="en-US" sz="2800"/>
              <a:t>, </a:t>
            </a:r>
            <a:r>
              <a:rPr lang="en-US" sz="2800">
                <a:solidFill>
                  <a:schemeClr val="hlink"/>
                </a:solidFill>
              </a:rPr>
              <a:t>or Z</a:t>
            </a:r>
            <a:r>
              <a:rPr lang="en-US" sz="2800" baseline="-25000">
                <a:solidFill>
                  <a:schemeClr val="hlink"/>
                </a:solidFill>
              </a:rPr>
              <a:t>n</a:t>
            </a:r>
            <a:r>
              <a:rPr lang="en-US" sz="2800"/>
              <a:t>. </a:t>
            </a:r>
          </a:p>
        </p:txBody>
      </p:sp>
      <p:sp>
        <p:nvSpPr>
          <p:cNvPr id="69643" name="Text Box 10"/>
          <p:cNvSpPr txBox="1">
            <a:spLocks noChangeArrowheads="1"/>
          </p:cNvSpPr>
          <p:nvPr/>
        </p:nvSpPr>
        <p:spPr bwMode="auto">
          <a:xfrm>
            <a:off x="1143000" y="0"/>
            <a:ext cx="27622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Set of Residues</a:t>
            </a:r>
          </a:p>
        </p:txBody>
      </p:sp>
      <p:pic>
        <p:nvPicPr>
          <p:cNvPr id="69644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" y="4521200"/>
            <a:ext cx="716597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645" name="Text Box 14"/>
          <p:cNvSpPr txBox="1">
            <a:spLocks noChangeArrowheads="1"/>
          </p:cNvSpPr>
          <p:nvPr/>
        </p:nvSpPr>
        <p:spPr bwMode="auto">
          <a:xfrm>
            <a:off x="2935288" y="3505200"/>
            <a:ext cx="25685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Some Z</a:t>
            </a:r>
            <a:r>
              <a:rPr lang="en-US" sz="2400" baseline="-25000"/>
              <a:t>n</a:t>
            </a:r>
            <a:r>
              <a:rPr lang="en-US" sz="2000"/>
              <a:t> sets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9AA7A4-8EFD-4689-A325-A741F5A24DDC}" type="slidenum">
              <a:rPr lang="en-US" i="0">
                <a:latin typeface="Arial" panose="020B0604020202020204" pitchFamily="34" charset="0"/>
              </a:rPr>
              <a:pPr/>
              <a:t>34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90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To show that two integers are congruent, we use the congruence operator </a:t>
            </a:r>
            <a:r>
              <a:rPr lang="en-US" sz="2800" i="0"/>
              <a:t>( </a:t>
            </a:r>
            <a:r>
              <a:rPr lang="en-US" sz="2800">
                <a:solidFill>
                  <a:schemeClr val="hlink"/>
                </a:solidFill>
              </a:rPr>
              <a:t>≡</a:t>
            </a:r>
            <a:r>
              <a:rPr lang="en-US" sz="2800"/>
              <a:t> </a:t>
            </a:r>
            <a:r>
              <a:rPr lang="en-US" sz="2800" i="0"/>
              <a:t>)</a:t>
            </a:r>
            <a:r>
              <a:rPr lang="en-US" sz="2800"/>
              <a:t>. For example, we write:</a:t>
            </a:r>
          </a:p>
        </p:txBody>
      </p:sp>
      <p:sp>
        <p:nvSpPr>
          <p:cNvPr id="7169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60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Congruence</a:t>
            </a:r>
          </a:p>
        </p:txBody>
      </p:sp>
      <p:pic>
        <p:nvPicPr>
          <p:cNvPr id="7169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2838450"/>
            <a:ext cx="730567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040D97-865E-4E47-B197-6C9F2F941A75}" type="slidenum">
              <a:rPr lang="en-US" i="0">
                <a:latin typeface="Arial" panose="020B0604020202020204" pitchFamily="34" charset="0"/>
              </a:rPr>
              <a:pPr/>
              <a:t>35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pic>
        <p:nvPicPr>
          <p:cNvPr id="73739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655763"/>
            <a:ext cx="7486650" cy="40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740" name="Text Box 13"/>
          <p:cNvSpPr txBox="1">
            <a:spLocks noChangeArrowheads="1"/>
          </p:cNvSpPr>
          <p:nvPr/>
        </p:nvSpPr>
        <p:spPr bwMode="auto">
          <a:xfrm>
            <a:off x="1143000" y="533400"/>
            <a:ext cx="37290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Concept of congruence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2BA84F-6B19-4684-845F-41C30A026AF1}" type="slidenum">
              <a:rPr lang="en-US" i="0">
                <a:latin typeface="Arial" panose="020B0604020202020204" pitchFamily="34" charset="0"/>
              </a:rPr>
              <a:pPr/>
              <a:t>36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6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A residue class [a] or [a]</a:t>
            </a:r>
            <a:r>
              <a:rPr lang="en-US" sz="2800" baseline="-25000"/>
              <a:t>n</a:t>
            </a:r>
            <a:r>
              <a:rPr lang="en-US" sz="2800"/>
              <a:t> is the set of integers congruent modulo n. </a:t>
            </a:r>
          </a:p>
        </p:txBody>
      </p:sp>
      <p:sp>
        <p:nvSpPr>
          <p:cNvPr id="7578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75788" name="Text Box 12"/>
          <p:cNvSpPr txBox="1">
            <a:spLocks noChangeArrowheads="1"/>
          </p:cNvSpPr>
          <p:nvPr/>
        </p:nvSpPr>
        <p:spPr bwMode="auto">
          <a:xfrm>
            <a:off x="1143000" y="533400"/>
            <a:ext cx="224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Residue Classes</a:t>
            </a:r>
            <a:endParaRPr lang="en-US" sz="2000"/>
          </a:p>
        </p:txBody>
      </p:sp>
      <p:pic>
        <p:nvPicPr>
          <p:cNvPr id="7578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2590800"/>
            <a:ext cx="7742237" cy="286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448719-5572-41F2-A99E-B1799A57372A}" type="slidenum">
              <a:rPr lang="en-US" i="0">
                <a:latin typeface="Arial" panose="020B0604020202020204" pitchFamily="34" charset="0"/>
              </a:rPr>
              <a:pPr/>
              <a:t>37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782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2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pic>
        <p:nvPicPr>
          <p:cNvPr id="7783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717675"/>
            <a:ext cx="8520112" cy="369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836" name="Text Box 14"/>
          <p:cNvSpPr txBox="1">
            <a:spLocks noChangeArrowheads="1"/>
          </p:cNvSpPr>
          <p:nvPr/>
        </p:nvSpPr>
        <p:spPr bwMode="auto">
          <a:xfrm>
            <a:off x="1079500" y="533400"/>
            <a:ext cx="5291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Comparison of Z and Z</a:t>
            </a:r>
            <a:r>
              <a:rPr lang="en-US" sz="2000" baseline="-25000"/>
              <a:t>n</a:t>
            </a:r>
            <a:r>
              <a:rPr lang="en-US" sz="2000"/>
              <a:t> using graphs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95E5CB-261D-4794-A587-D35B696A6E08}" type="slidenum">
              <a:rPr lang="en-US" i="0">
                <a:latin typeface="Arial" panose="020B0604020202020204" pitchFamily="34" charset="0"/>
              </a:rPr>
              <a:pPr/>
              <a:t>38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9875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7987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7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7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7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8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8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8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83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35947" name="Rectangle 11"/>
          <p:cNvSpPr>
            <a:spLocks noChangeArrowheads="1"/>
          </p:cNvSpPr>
          <p:nvPr/>
        </p:nvSpPr>
        <p:spPr bwMode="auto">
          <a:xfrm>
            <a:off x="304800" y="1212761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use modular arithmetic in our daily life; for example, we use a clock to measure time. Our clock system uses modulo 12 arithmetic. However, instead of a 0 we use the number 12.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F9A57CE-2FE0-407C-9D53-F249E442D2CA}" type="slidenum">
              <a:rPr lang="en-US" i="0" smtClean="0">
                <a:latin typeface="Arial" panose="020B0604020202020204" pitchFamily="34" charset="0"/>
              </a:rPr>
              <a:pPr/>
              <a:t>39</a:t>
            </a:fld>
            <a:endParaRPr lang="en-US" i="0" dirty="0">
              <a:latin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30" name="Rectangle 9"/>
          <p:cNvSpPr>
            <a:spLocks noChangeArrowheads="1"/>
          </p:cNvSpPr>
          <p:nvPr/>
        </p:nvSpPr>
        <p:spPr bwMode="auto">
          <a:xfrm>
            <a:off x="228600" y="989013"/>
            <a:ext cx="8686800" cy="13731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The three binary operations that we discussed for the set Z can also be defined for the set Zn. The result may need to be mapped to Zn using the mod operator.</a:t>
            </a:r>
          </a:p>
        </p:txBody>
      </p:sp>
      <p:sp>
        <p:nvSpPr>
          <p:cNvPr id="8193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8448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Operation in Z</a:t>
            </a:r>
            <a:r>
              <a:rPr lang="en-US" sz="3200" baseline="-25000">
                <a:solidFill>
                  <a:schemeClr val="hlink"/>
                </a:solidFill>
              </a:rPr>
              <a:t>n</a:t>
            </a:r>
          </a:p>
        </p:txBody>
      </p:sp>
      <p:pic>
        <p:nvPicPr>
          <p:cNvPr id="8193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925" y="3243263"/>
            <a:ext cx="4460875" cy="323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33" name="Text Box 13"/>
          <p:cNvSpPr txBox="1">
            <a:spLocks noChangeArrowheads="1"/>
          </p:cNvSpPr>
          <p:nvPr/>
        </p:nvSpPr>
        <p:spPr bwMode="auto">
          <a:xfrm>
            <a:off x="1744663" y="2514600"/>
            <a:ext cx="3695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Binary operations in Z</a:t>
            </a:r>
            <a:r>
              <a:rPr lang="en-US" sz="2000" baseline="-25000"/>
              <a:t>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EC604C-7531-4316-B651-3EF1E1B78EF4}" type="slidenum">
              <a:rPr lang="en-US" i="0">
                <a:latin typeface="Arial" panose="020B0604020202020204" pitchFamily="34" charset="0"/>
              </a:rPr>
              <a:pPr/>
              <a:t>40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8397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9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40043" name="Rectangle 11"/>
          <p:cNvSpPr>
            <a:spLocks noChangeArrowheads="1"/>
          </p:cNvSpPr>
          <p:nvPr/>
        </p:nvSpPr>
        <p:spPr bwMode="auto">
          <a:xfrm>
            <a:off x="304800" y="1105883"/>
            <a:ext cx="8229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Perform the following operations (the inputs come from Zn):</a:t>
            </a:r>
          </a:p>
          <a:p>
            <a:pPr algn="just" eaLnBrk="1" hangingPunct="1">
              <a:defRPr/>
            </a:pPr>
            <a:r>
              <a:rPr lang="en-US" sz="2400" i="0"/>
              <a:t>a. Add 7 to 14 in Z15.</a:t>
            </a:r>
          </a:p>
          <a:p>
            <a:pPr algn="just" eaLnBrk="1" hangingPunct="1">
              <a:defRPr/>
            </a:pPr>
            <a:r>
              <a:rPr lang="en-US" sz="2400" i="0"/>
              <a:t>b. Subtract 11 from 7 in Z13.</a:t>
            </a:r>
          </a:p>
          <a:p>
            <a:pPr algn="just" eaLnBrk="1" hangingPunct="1">
              <a:defRPr/>
            </a:pPr>
            <a:r>
              <a:rPr lang="en-US" sz="2400" i="0"/>
              <a:t>c. Multiply 11 by 7 in Z20.</a:t>
            </a:r>
          </a:p>
        </p:txBody>
      </p:sp>
      <p:sp>
        <p:nvSpPr>
          <p:cNvPr id="940045" name="Rectangle 13"/>
          <p:cNvSpPr>
            <a:spLocks noChangeArrowheads="1"/>
          </p:cNvSpPr>
          <p:nvPr/>
        </p:nvSpPr>
        <p:spPr bwMode="auto">
          <a:xfrm>
            <a:off x="228600" y="3200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8398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038600"/>
            <a:ext cx="76485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736448-0974-49B5-9A47-2B74F7D31736}" type="slidenum">
              <a:rPr lang="en-US" i="0">
                <a:latin typeface="Arial" panose="020B0604020202020204" pitchFamily="34" charset="0"/>
              </a:rPr>
              <a:pPr/>
              <a:t>41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8601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8602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42091" name="Rectangle 11"/>
          <p:cNvSpPr>
            <a:spLocks noChangeArrowheads="1"/>
          </p:cNvSpPr>
          <p:nvPr/>
        </p:nvSpPr>
        <p:spPr bwMode="auto">
          <a:xfrm>
            <a:off x="304800" y="1043454"/>
            <a:ext cx="8229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Perform the following operations (the inputs come from either Z or Z</a:t>
            </a:r>
            <a:r>
              <a:rPr lang="en-US" sz="2400" i="0" baseline="-15000"/>
              <a:t>n</a:t>
            </a:r>
            <a:r>
              <a:rPr lang="en-US" sz="2400" i="0"/>
              <a:t>):</a:t>
            </a:r>
          </a:p>
          <a:p>
            <a:pPr algn="just" eaLnBrk="1" hangingPunct="1">
              <a:defRPr/>
            </a:pPr>
            <a:r>
              <a:rPr lang="en-US" sz="2400" i="0"/>
              <a:t>a. Add 17 to 27 in Z</a:t>
            </a:r>
            <a:r>
              <a:rPr lang="en-US" sz="2400" i="0" baseline="-10000"/>
              <a:t>14</a:t>
            </a:r>
            <a:r>
              <a:rPr lang="en-US" sz="2400" i="0"/>
              <a:t>.</a:t>
            </a:r>
          </a:p>
          <a:p>
            <a:pPr algn="just" eaLnBrk="1" hangingPunct="1">
              <a:defRPr/>
            </a:pPr>
            <a:r>
              <a:rPr lang="en-US" sz="2400" i="0"/>
              <a:t>b. Subtract 43 from 12 in Z</a:t>
            </a:r>
            <a:r>
              <a:rPr lang="en-US" sz="2400" i="0" baseline="-10000"/>
              <a:t>13</a:t>
            </a:r>
            <a:r>
              <a:rPr lang="en-US" sz="2400" i="0"/>
              <a:t>.</a:t>
            </a:r>
          </a:p>
          <a:p>
            <a:pPr algn="just" eaLnBrk="1" hangingPunct="1">
              <a:defRPr/>
            </a:pPr>
            <a:r>
              <a:rPr lang="en-US" sz="2400" i="0"/>
              <a:t>c. Multiply 123 by −10 in Z</a:t>
            </a:r>
            <a:r>
              <a:rPr lang="en-US" sz="2400" i="0" baseline="-15000"/>
              <a:t>19</a:t>
            </a:r>
            <a:r>
              <a:rPr lang="en-US" sz="2400" i="0"/>
              <a:t>.</a:t>
            </a:r>
          </a:p>
        </p:txBody>
      </p:sp>
      <p:sp>
        <p:nvSpPr>
          <p:cNvPr id="942092" name="Rectangle 12"/>
          <p:cNvSpPr>
            <a:spLocks noChangeArrowheads="1"/>
          </p:cNvSpPr>
          <p:nvPr/>
        </p:nvSpPr>
        <p:spPr bwMode="auto">
          <a:xfrm>
            <a:off x="228600" y="3200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86030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3833813"/>
            <a:ext cx="7651750" cy="162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76846C9-EAFC-4A96-943A-D97D286FFF61}" type="slidenum">
              <a:rPr lang="en-US" i="0">
                <a:latin typeface="Arial" panose="020B0604020202020204" pitchFamily="34" charset="0"/>
              </a:rPr>
              <a:pPr/>
              <a:t>42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8806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536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Properties</a:t>
            </a:r>
            <a:endParaRPr lang="en-US" sz="2000"/>
          </a:p>
        </p:txBody>
      </p:sp>
      <p:sp>
        <p:nvSpPr>
          <p:cNvPr id="8806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6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pic>
        <p:nvPicPr>
          <p:cNvPr id="8807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2457450"/>
            <a:ext cx="87439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C4F9F5-25CD-4CE5-8111-A5B9517E4C80}" type="slidenum">
              <a:rPr lang="en-US" i="0">
                <a:latin typeface="Arial" panose="020B0604020202020204" pitchFamily="34" charset="0"/>
              </a:rPr>
              <a:pPr/>
              <a:t>43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pic>
        <p:nvPicPr>
          <p:cNvPr id="90123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6819900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124" name="Text Box 13"/>
          <p:cNvSpPr txBox="1">
            <a:spLocks noChangeArrowheads="1"/>
          </p:cNvSpPr>
          <p:nvPr/>
        </p:nvSpPr>
        <p:spPr bwMode="auto">
          <a:xfrm>
            <a:off x="1066800" y="533400"/>
            <a:ext cx="42306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Properties of mode operator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4CE11C-1AF2-47EF-9EB5-63E54ADEBCDD}" type="slidenum">
              <a:rPr lang="en-US" i="0">
                <a:latin typeface="Arial" panose="020B0604020202020204" pitchFamily="34" charset="0"/>
              </a:rPr>
              <a:pPr/>
              <a:t>44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216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216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7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71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948235" name="Rectangle 11"/>
          <p:cNvSpPr>
            <a:spLocks noChangeArrowheads="1"/>
          </p:cNvSpPr>
          <p:nvPr/>
        </p:nvSpPr>
        <p:spPr bwMode="auto">
          <a:xfrm>
            <a:off x="457200" y="1756797"/>
            <a:ext cx="8229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defRPr/>
            </a:pPr>
            <a:r>
              <a:rPr lang="en-US" i="0"/>
              <a:t>The following shows the application of the above properties:</a:t>
            </a:r>
          </a:p>
          <a:p>
            <a:pPr algn="just" eaLnBrk="1" hangingPunct="1">
              <a:defRPr/>
            </a:pPr>
            <a:endParaRPr lang="en-US" i="0"/>
          </a:p>
          <a:p>
            <a:pPr algn="just" eaLnBrk="1" hangingPunct="1">
              <a:defRPr/>
            </a:pPr>
            <a:r>
              <a:rPr lang="en-US" i="0"/>
              <a:t>1. (1,723,345 + 2,124,945) mod 11 = (8 + 9) mod 11 = 6</a:t>
            </a:r>
          </a:p>
          <a:p>
            <a:pPr algn="just" eaLnBrk="1" hangingPunct="1">
              <a:buFontTx/>
              <a:buChar char="•"/>
              <a:defRPr/>
            </a:pPr>
            <a:endParaRPr lang="en-US" i="0"/>
          </a:p>
          <a:p>
            <a:pPr algn="just" eaLnBrk="1" hangingPunct="1">
              <a:defRPr/>
            </a:pPr>
            <a:r>
              <a:rPr lang="en-US" i="0"/>
              <a:t>2. (1,723,345 − 2,124,945) mod 16 = (8 − 9) mod 11 = 10</a:t>
            </a:r>
          </a:p>
          <a:p>
            <a:pPr algn="just" eaLnBrk="1" hangingPunct="1">
              <a:defRPr/>
            </a:pPr>
            <a:endParaRPr lang="en-US" i="0"/>
          </a:p>
          <a:p>
            <a:pPr algn="just" eaLnBrk="1" hangingPunct="1">
              <a:defRPr/>
            </a:pPr>
            <a:r>
              <a:rPr lang="en-US" i="0"/>
              <a:t>3. (1,723,345 × 2,124,945) mod 16 = (8 × 9) mod 11 = 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047828-114E-480B-9B37-153BE499570F}" type="slidenum">
              <a:rPr lang="en-US" i="0">
                <a:latin typeface="Arial" panose="020B0604020202020204" pitchFamily="34" charset="0"/>
              </a:rPr>
              <a:pPr/>
              <a:t>45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421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421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9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50284" name="Rectangle 12"/>
          <p:cNvSpPr>
            <a:spLocks noChangeArrowheads="1"/>
          </p:cNvSpPr>
          <p:nvPr/>
        </p:nvSpPr>
        <p:spPr bwMode="auto">
          <a:xfrm>
            <a:off x="304800" y="1365677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In arithmetic, we often need to find the remainder of powers of 10 when divided by an integer. </a:t>
            </a:r>
          </a:p>
        </p:txBody>
      </p:sp>
      <p:pic>
        <p:nvPicPr>
          <p:cNvPr id="9422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67000"/>
            <a:ext cx="85471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422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3886200"/>
            <a:ext cx="7705725" cy="119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61A01C-AEE6-4F14-9B19-784DCF75E947}" type="slidenum">
              <a:rPr lang="en-US" i="0">
                <a:latin typeface="Arial" panose="020B0604020202020204" pitchFamily="34" charset="0"/>
              </a:rPr>
              <a:pPr/>
              <a:t>46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625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626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52331" name="Rectangle 11"/>
          <p:cNvSpPr>
            <a:spLocks noChangeArrowheads="1"/>
          </p:cNvSpPr>
          <p:nvPr/>
        </p:nvSpPr>
        <p:spPr bwMode="auto">
          <a:xfrm>
            <a:off x="304800" y="1210658"/>
            <a:ext cx="8229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We have been told in arithmetic that the remainder of an integer divided by 3 is the same as the remainder of the sum of its decimal digits. We write an integer as the sum of its digits multiplied by the powers of 10.</a:t>
            </a:r>
          </a:p>
        </p:txBody>
      </p:sp>
      <p:pic>
        <p:nvPicPr>
          <p:cNvPr id="96269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971800"/>
            <a:ext cx="82677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58CF3EB-3C51-4839-B6CE-3E5C3FD87588}" type="slidenum">
              <a:rPr lang="en-US" i="0">
                <a:latin typeface="Arial" panose="020B0604020202020204" pitchFamily="34" charset="0"/>
              </a:rPr>
              <a:pPr/>
              <a:t>47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4" name="Text Box 10"/>
          <p:cNvSpPr txBox="1">
            <a:spLocks noChangeArrowheads="1"/>
          </p:cNvSpPr>
          <p:nvPr/>
        </p:nvSpPr>
        <p:spPr bwMode="auto">
          <a:xfrm>
            <a:off x="1143000" y="0"/>
            <a:ext cx="16017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Inverses</a:t>
            </a:r>
          </a:p>
        </p:txBody>
      </p:sp>
      <p:sp>
        <p:nvSpPr>
          <p:cNvPr id="954382" name="Rectangle 14"/>
          <p:cNvSpPr>
            <a:spLocks noChangeArrowheads="1"/>
          </p:cNvSpPr>
          <p:nvPr/>
        </p:nvSpPr>
        <p:spPr bwMode="auto">
          <a:xfrm>
            <a:off x="304800" y="1447800"/>
            <a:ext cx="8229600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When we are working in modular arithmetic, we often need to find the </a:t>
            </a:r>
            <a:r>
              <a:rPr lang="en-US" sz="2400" i="0" dirty="0">
                <a:solidFill>
                  <a:srgbClr val="FF0000"/>
                </a:solidFill>
              </a:rPr>
              <a:t>inverse of a number </a:t>
            </a:r>
            <a:r>
              <a:rPr lang="en-US" sz="2400" i="0" dirty="0"/>
              <a:t>relative to an operation. We are normally looking for an additive inverse (relative to an addition operation) or a multiplicative inverse (relative to a multiplication operation).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3FEF62-9C0A-4920-893F-08DEE5D4AD83}" type="slidenum">
              <a:rPr lang="en-US" i="0">
                <a:latin typeface="Arial" panose="020B0604020202020204" pitchFamily="34" charset="0"/>
              </a:rPr>
              <a:pPr/>
              <a:t>48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035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5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5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5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5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6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6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62" name="Text Box 9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</a:t>
            </a:r>
          </a:p>
        </p:txBody>
      </p:sp>
      <p:sp>
        <p:nvSpPr>
          <p:cNvPr id="956426" name="Rectangle 10"/>
          <p:cNvSpPr>
            <a:spLocks noChangeArrowheads="1"/>
          </p:cNvSpPr>
          <p:nvPr/>
        </p:nvSpPr>
        <p:spPr bwMode="auto">
          <a:xfrm>
            <a:off x="304800" y="1291064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In Z</a:t>
            </a:r>
            <a:r>
              <a:rPr lang="en-US" sz="2400" i="0" baseline="-20000"/>
              <a:t>n</a:t>
            </a:r>
            <a:r>
              <a:rPr lang="en-US" sz="2400" i="0"/>
              <a:t>, two numbers </a:t>
            </a:r>
            <a:r>
              <a:rPr lang="en-US" sz="2400"/>
              <a:t>a</a:t>
            </a:r>
            <a:r>
              <a:rPr lang="en-US" sz="2400" i="0"/>
              <a:t> and </a:t>
            </a:r>
            <a:r>
              <a:rPr lang="en-US" sz="2400"/>
              <a:t>b</a:t>
            </a:r>
            <a:r>
              <a:rPr lang="en-US" sz="2400" i="0"/>
              <a:t> are additive inverses of each other if</a:t>
            </a:r>
          </a:p>
        </p:txBody>
      </p:sp>
      <p:sp>
        <p:nvSpPr>
          <p:cNvPr id="100364" name="Text Box 11"/>
          <p:cNvSpPr txBox="1">
            <a:spLocks noChangeArrowheads="1"/>
          </p:cNvSpPr>
          <p:nvPr/>
        </p:nvSpPr>
        <p:spPr bwMode="auto">
          <a:xfrm>
            <a:off x="1219200" y="533400"/>
            <a:ext cx="234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Additive Inverse</a:t>
            </a:r>
            <a:endParaRPr lang="en-US" sz="2000"/>
          </a:p>
        </p:txBody>
      </p:sp>
      <p:pic>
        <p:nvPicPr>
          <p:cNvPr id="100365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663" y="2224088"/>
            <a:ext cx="4130675" cy="74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0366" name="Line 13"/>
          <p:cNvSpPr>
            <a:spLocks noChangeShapeType="1"/>
          </p:cNvSpPr>
          <p:nvPr/>
        </p:nvSpPr>
        <p:spPr bwMode="auto">
          <a:xfrm>
            <a:off x="609600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0367" name="Line 14"/>
          <p:cNvSpPr>
            <a:spLocks noChangeShapeType="1"/>
          </p:cNvSpPr>
          <p:nvPr/>
        </p:nvSpPr>
        <p:spPr bwMode="auto">
          <a:xfrm>
            <a:off x="609600" y="617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0368" name="Rectangle 15"/>
          <p:cNvSpPr>
            <a:spLocks noChangeArrowheads="1"/>
          </p:cNvSpPr>
          <p:nvPr/>
        </p:nvSpPr>
        <p:spPr bwMode="auto">
          <a:xfrm>
            <a:off x="647700" y="40544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In modular arithmetic, each integer has an additive inverse. The sum of an integer and its additive inverse is congruent to 0 modulo 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2BD195-6578-4C97-9FD2-8DEA8AA545BD}" type="slidenum">
              <a:rPr lang="en-US" i="0">
                <a:latin typeface="Arial" panose="020B0604020202020204" pitchFamily="34" charset="0"/>
              </a:rPr>
              <a:pPr/>
              <a:t>49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240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240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1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1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958475" name="Rectangle 11"/>
          <p:cNvSpPr>
            <a:spLocks noChangeArrowheads="1"/>
          </p:cNvSpPr>
          <p:nvPr/>
        </p:nvSpPr>
        <p:spPr bwMode="auto">
          <a:xfrm>
            <a:off x="304800" y="1431925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Find all additive inverse pairs in Z</a:t>
            </a:r>
            <a:r>
              <a:rPr lang="en-US" sz="2400" i="0" baseline="-25000" dirty="0"/>
              <a:t>10</a:t>
            </a:r>
            <a:r>
              <a:rPr lang="en-US" sz="2400" i="0" dirty="0"/>
              <a:t>.</a:t>
            </a:r>
          </a:p>
        </p:txBody>
      </p:sp>
      <p:sp>
        <p:nvSpPr>
          <p:cNvPr id="958477" name="Rectangle 13"/>
          <p:cNvSpPr>
            <a:spLocks noChangeArrowheads="1"/>
          </p:cNvSpPr>
          <p:nvPr/>
        </p:nvSpPr>
        <p:spPr bwMode="auto">
          <a:xfrm>
            <a:off x="304800" y="3124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58478" name="Rectangle 14"/>
          <p:cNvSpPr>
            <a:spLocks noChangeArrowheads="1"/>
          </p:cNvSpPr>
          <p:nvPr/>
        </p:nvSpPr>
        <p:spPr bwMode="auto">
          <a:xfrm>
            <a:off x="304800" y="3577064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six pairs of additive inverses are (0, 0), (1, 9), (2, 8), (3, 7), (4, 6), and (5, 5).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8119F1-1155-48E2-8CA0-F24528DD688A}" type="slidenum">
              <a:rPr lang="en-US" i="0">
                <a:latin typeface="Arial" panose="020B0604020202020204" pitchFamily="34" charset="0"/>
              </a:rPr>
              <a:pPr/>
              <a:t>50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445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8" name="Text Box 9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</a:t>
            </a:r>
          </a:p>
        </p:txBody>
      </p:sp>
      <p:sp>
        <p:nvSpPr>
          <p:cNvPr id="960522" name="Rectangle 10"/>
          <p:cNvSpPr>
            <a:spLocks noChangeArrowheads="1"/>
          </p:cNvSpPr>
          <p:nvPr/>
        </p:nvSpPr>
        <p:spPr bwMode="auto">
          <a:xfrm>
            <a:off x="304800" y="1062464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In Z</a:t>
            </a:r>
            <a:r>
              <a:rPr lang="en-US" sz="2400" i="0" baseline="-20000"/>
              <a:t>n</a:t>
            </a:r>
            <a:r>
              <a:rPr lang="en-US" sz="2400" i="0"/>
              <a:t>, two numbers </a:t>
            </a:r>
            <a:r>
              <a:rPr lang="en-US" sz="2400"/>
              <a:t>a</a:t>
            </a:r>
            <a:r>
              <a:rPr lang="en-US" sz="2400" i="0"/>
              <a:t> and </a:t>
            </a:r>
            <a:r>
              <a:rPr lang="en-US" sz="2400"/>
              <a:t>b</a:t>
            </a:r>
            <a:r>
              <a:rPr lang="en-US" sz="2400" i="0"/>
              <a:t> are the multiplicative inverse of each other if</a:t>
            </a:r>
          </a:p>
        </p:txBody>
      </p:sp>
      <p:sp>
        <p:nvSpPr>
          <p:cNvPr id="104460" name="Text Box 11"/>
          <p:cNvSpPr txBox="1">
            <a:spLocks noChangeArrowheads="1"/>
          </p:cNvSpPr>
          <p:nvPr/>
        </p:nvSpPr>
        <p:spPr bwMode="auto">
          <a:xfrm>
            <a:off x="1219200" y="533400"/>
            <a:ext cx="305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Multiplicative Inverse</a:t>
            </a:r>
            <a:endParaRPr lang="en-US" sz="2000"/>
          </a:p>
        </p:txBody>
      </p:sp>
      <p:pic>
        <p:nvPicPr>
          <p:cNvPr id="104461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663" y="1752600"/>
            <a:ext cx="330835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4462" name="Line 21"/>
          <p:cNvSpPr>
            <a:spLocks noChangeShapeType="1"/>
          </p:cNvSpPr>
          <p:nvPr/>
        </p:nvSpPr>
        <p:spPr bwMode="auto">
          <a:xfrm>
            <a:off x="609600" y="3352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4463" name="Line 22"/>
          <p:cNvSpPr>
            <a:spLocks noChangeShapeType="1"/>
          </p:cNvSpPr>
          <p:nvPr/>
        </p:nvSpPr>
        <p:spPr bwMode="auto">
          <a:xfrm>
            <a:off x="609600" y="6019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4464" name="Rectangle 23"/>
          <p:cNvSpPr>
            <a:spLocks noChangeArrowheads="1"/>
          </p:cNvSpPr>
          <p:nvPr/>
        </p:nvSpPr>
        <p:spPr bwMode="auto">
          <a:xfrm>
            <a:off x="647700" y="3414713"/>
            <a:ext cx="8077200" cy="252888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In modular arithmetic, an integer may or may not have a multiplicative inverse.</a:t>
            </a:r>
          </a:p>
          <a:p>
            <a:pPr algn="ctr"/>
            <a:r>
              <a:rPr lang="en-US" sz="3200">
                <a:latin typeface="Arial" panose="020B0604020202020204" pitchFamily="34" charset="0"/>
              </a:rPr>
              <a:t>When it does, the product of the integer and its multiplicative inverse is congruent to 1 modulo 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F6C0CC3-BDC5-4209-8A2B-037ECE1FBB3D}" type="slidenum">
              <a:rPr lang="en-US" i="0">
                <a:latin typeface="Arial" panose="020B0604020202020204" pitchFamily="34" charset="0"/>
              </a:rPr>
              <a:pPr/>
              <a:t>51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6499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650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62571" name="Rectangle 11"/>
          <p:cNvSpPr>
            <a:spLocks noChangeArrowheads="1"/>
          </p:cNvSpPr>
          <p:nvPr/>
        </p:nvSpPr>
        <p:spPr bwMode="auto">
          <a:xfrm>
            <a:off x="3048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multiplicative inverse of 8 in Z</a:t>
            </a:r>
            <a:r>
              <a:rPr lang="en-US" sz="2400" i="0" baseline="-20000"/>
              <a:t>10</a:t>
            </a:r>
            <a:r>
              <a:rPr lang="en-US" sz="2400" i="0"/>
              <a:t>.</a:t>
            </a:r>
          </a:p>
        </p:txBody>
      </p:sp>
      <p:sp>
        <p:nvSpPr>
          <p:cNvPr id="962572" name="Rectangle 12"/>
          <p:cNvSpPr>
            <a:spLocks noChangeArrowheads="1"/>
          </p:cNvSpPr>
          <p:nvPr/>
        </p:nvSpPr>
        <p:spPr bwMode="auto">
          <a:xfrm>
            <a:off x="304800" y="2057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62573" name="Rectangle 13"/>
          <p:cNvSpPr>
            <a:spLocks noChangeArrowheads="1"/>
          </p:cNvSpPr>
          <p:nvPr/>
        </p:nvSpPr>
        <p:spPr bwMode="auto">
          <a:xfrm>
            <a:off x="304800" y="2403386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There is no multiplicative inverse because gcd (10, 8) = 2 ≠ 1. In other words, we cannot find any number between 0 and 9 such that when multiplied by 8, the result is congruent to 1.</a:t>
            </a:r>
          </a:p>
        </p:txBody>
      </p:sp>
      <p:sp>
        <p:nvSpPr>
          <p:cNvPr id="106511" name="Text Box 14"/>
          <p:cNvSpPr txBox="1">
            <a:spLocks noChangeArrowheads="1"/>
          </p:cNvSpPr>
          <p:nvPr/>
        </p:nvSpPr>
        <p:spPr bwMode="auto">
          <a:xfrm>
            <a:off x="381000" y="37338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62575" name="Rectangle 15"/>
          <p:cNvSpPr>
            <a:spLocks noChangeArrowheads="1"/>
          </p:cNvSpPr>
          <p:nvPr/>
        </p:nvSpPr>
        <p:spPr bwMode="auto">
          <a:xfrm>
            <a:off x="304800" y="4267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all multiplicative inverses in Z</a:t>
            </a:r>
            <a:r>
              <a:rPr lang="en-US" sz="2400" i="0" baseline="-20000"/>
              <a:t>10</a:t>
            </a:r>
            <a:r>
              <a:rPr lang="en-US" sz="2400" i="0"/>
              <a:t>.</a:t>
            </a:r>
          </a:p>
        </p:txBody>
      </p:sp>
      <p:sp>
        <p:nvSpPr>
          <p:cNvPr id="962576" name="Rectangle 16"/>
          <p:cNvSpPr>
            <a:spLocks noChangeArrowheads="1"/>
          </p:cNvSpPr>
          <p:nvPr/>
        </p:nvSpPr>
        <p:spPr bwMode="auto">
          <a:xfrm>
            <a:off x="304800" y="4953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62577" name="Rectangle 17"/>
          <p:cNvSpPr>
            <a:spLocks noChangeArrowheads="1"/>
          </p:cNvSpPr>
          <p:nvPr/>
        </p:nvSpPr>
        <p:spPr bwMode="auto">
          <a:xfrm>
            <a:off x="304800" y="5251361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There are only three pairs: (1, 1), (3, 7) and (9, 9). The numbers 0, 2, 4, 5, 6, and 8 do not have a multiplicative inverse.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F1DFA7E-9178-4A13-AA3C-59C6CE9E2BBD}" type="slidenum">
              <a:rPr lang="en-US" i="0">
                <a:latin typeface="Arial" panose="020B0604020202020204" pitchFamily="34" charset="0"/>
              </a:rPr>
              <a:pPr/>
              <a:t>52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8547" name="Text Box 2"/>
          <p:cNvSpPr txBox="1">
            <a:spLocks noChangeArrowheads="1"/>
          </p:cNvSpPr>
          <p:nvPr/>
        </p:nvSpPr>
        <p:spPr bwMode="auto">
          <a:xfrm>
            <a:off x="1143000" y="706438"/>
            <a:ext cx="1423988" cy="4619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854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4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66667" name="Rectangle 11"/>
          <p:cNvSpPr>
            <a:spLocks noChangeArrowheads="1"/>
          </p:cNvSpPr>
          <p:nvPr/>
        </p:nvSpPr>
        <p:spPr bwMode="auto">
          <a:xfrm>
            <a:off x="304800" y="1143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all multiplicative inverse pairs in Z</a:t>
            </a:r>
            <a:r>
              <a:rPr lang="en-US" sz="2400" i="0" baseline="-20000"/>
              <a:t>11</a:t>
            </a:r>
            <a:r>
              <a:rPr lang="en-US" sz="2400" i="0"/>
              <a:t>.</a:t>
            </a:r>
          </a:p>
        </p:txBody>
      </p:sp>
      <p:sp>
        <p:nvSpPr>
          <p:cNvPr id="966668" name="Rectangle 12"/>
          <p:cNvSpPr>
            <a:spLocks noChangeArrowheads="1"/>
          </p:cNvSpPr>
          <p:nvPr/>
        </p:nvSpPr>
        <p:spPr bwMode="auto">
          <a:xfrm>
            <a:off x="304800" y="1676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66669" name="Rectangle 13"/>
          <p:cNvSpPr>
            <a:spLocks noChangeArrowheads="1"/>
          </p:cNvSpPr>
          <p:nvPr/>
        </p:nvSpPr>
        <p:spPr bwMode="auto">
          <a:xfrm>
            <a:off x="304800" y="2097514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have seven pairs: (1, 1), (2, 6), (3, 4), (5, 9), (7, 8), (9, 9), and (10, 10).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32E2A9-289E-4732-89CD-FFE73C534F4F}" type="slidenum">
              <a:rPr lang="en-US" i="0" smtClean="0">
                <a:latin typeface="Arial" panose="020B0604020202020204" pitchFamily="34" charset="0"/>
              </a:rPr>
              <a:pPr/>
              <a:t>53</a:t>
            </a:fld>
            <a:endParaRPr lang="en-US" i="0" dirty="0">
              <a:latin typeface="Arial" panose="020B0604020202020204" pitchFamily="34" charset="0"/>
            </a:endParaRPr>
          </a:p>
        </p:txBody>
      </p:sp>
      <p:sp>
        <p:nvSpPr>
          <p:cNvPr id="11059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59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59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59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59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60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60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602" name="Text Box 9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110603" name="Line 15"/>
          <p:cNvSpPr>
            <a:spLocks noChangeShapeType="1"/>
          </p:cNvSpPr>
          <p:nvPr/>
        </p:nvSpPr>
        <p:spPr bwMode="auto">
          <a:xfrm>
            <a:off x="6096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0604" name="Line 16"/>
          <p:cNvSpPr>
            <a:spLocks noChangeShapeType="1"/>
          </p:cNvSpPr>
          <p:nvPr/>
        </p:nvSpPr>
        <p:spPr bwMode="auto">
          <a:xfrm>
            <a:off x="609600" y="556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0605" name="Rectangle 17"/>
          <p:cNvSpPr>
            <a:spLocks noChangeArrowheads="1"/>
          </p:cNvSpPr>
          <p:nvPr/>
        </p:nvSpPr>
        <p:spPr bwMode="auto">
          <a:xfrm>
            <a:off x="647700" y="2424113"/>
            <a:ext cx="8077200" cy="301625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The extended Euclidean algorithm finds the multiplicative inverses of b in Z</a:t>
            </a:r>
            <a:r>
              <a:rPr lang="en-US" sz="3200" baseline="-18000">
                <a:latin typeface="Arial" panose="020B0604020202020204" pitchFamily="34" charset="0"/>
              </a:rPr>
              <a:t>n</a:t>
            </a:r>
            <a:r>
              <a:rPr lang="en-US" sz="3200">
                <a:latin typeface="Arial" panose="020B0604020202020204" pitchFamily="34" charset="0"/>
              </a:rPr>
              <a:t> when n and b are given and </a:t>
            </a:r>
          </a:p>
          <a:p>
            <a:pPr algn="ctr"/>
            <a:r>
              <a:rPr lang="en-US" sz="3200">
                <a:latin typeface="Arial" panose="020B0604020202020204" pitchFamily="34" charset="0"/>
              </a:rPr>
              <a:t>gcd (n, b) = 1.</a:t>
            </a:r>
          </a:p>
          <a:p>
            <a:pPr algn="ctr"/>
            <a:r>
              <a:rPr lang="en-US" sz="3200">
                <a:latin typeface="Arial" panose="020B0604020202020204" pitchFamily="34" charset="0"/>
              </a:rPr>
              <a:t>The multiplicative inverse of b is the value of t after being mapped to Z</a:t>
            </a:r>
            <a:r>
              <a:rPr lang="en-US" sz="3200" baseline="-18000">
                <a:latin typeface="Arial" panose="020B0604020202020204" pitchFamily="34" charset="0"/>
              </a:rPr>
              <a:t>n</a:t>
            </a:r>
            <a:r>
              <a:rPr lang="en-US" sz="320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00868F-863B-4528-BE6F-F62A099446CC}" type="slidenum">
              <a:rPr lang="en-US" i="0">
                <a:latin typeface="Arial" panose="020B0604020202020204" pitchFamily="34" charset="0"/>
              </a:rPr>
              <a:pPr/>
              <a:t>54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112652" name="Text Box 16"/>
          <p:cNvSpPr txBox="1">
            <a:spLocks noChangeArrowheads="1"/>
          </p:cNvSpPr>
          <p:nvPr/>
        </p:nvSpPr>
        <p:spPr bwMode="auto">
          <a:xfrm>
            <a:off x="990600" y="533400"/>
            <a:ext cx="5638800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Using extended Euclidean algorithm to </a:t>
            </a:r>
            <a:br>
              <a:rPr lang="en-US" sz="2000"/>
            </a:br>
            <a:r>
              <a:rPr lang="en-US" sz="2000"/>
              <a:t>                          find multiplicative inverse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90538" y="1582738"/>
            <a:ext cx="8305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 dirty="0" err="1"/>
              <a:t>s×a</a:t>
            </a:r>
            <a:r>
              <a:rPr lang="en-GB" sz="3200" b="0" i="0" dirty="0"/>
              <a:t>+ </a:t>
            </a:r>
            <a:r>
              <a:rPr lang="en-GB" sz="3200" b="0" i="0" dirty="0" err="1"/>
              <a:t>t×b</a:t>
            </a:r>
            <a:r>
              <a:rPr lang="en-GB" sz="3200" b="0" i="0" dirty="0"/>
              <a:t>= </a:t>
            </a:r>
            <a:r>
              <a:rPr lang="en-GB" sz="3200" b="0" i="0" dirty="0" err="1"/>
              <a:t>gcd</a:t>
            </a:r>
            <a:r>
              <a:rPr lang="en-GB" sz="3200" b="0" i="0" dirty="0"/>
              <a:t>(</a:t>
            </a:r>
            <a:r>
              <a:rPr lang="en-GB" sz="3200" b="0" i="0" dirty="0" err="1"/>
              <a:t>a,b</a:t>
            </a:r>
            <a:r>
              <a:rPr lang="en-GB" sz="3200" b="0" i="0" dirty="0"/>
              <a:t>), let a=n,</a:t>
            </a:r>
          </a:p>
          <a:p>
            <a:r>
              <a:rPr lang="en-GB" sz="3200" b="0" i="0" dirty="0" err="1"/>
              <a:t>s×n</a:t>
            </a:r>
            <a:r>
              <a:rPr lang="en-GB" sz="3200" b="0" i="0" dirty="0"/>
              <a:t>+ </a:t>
            </a:r>
            <a:r>
              <a:rPr lang="en-GB" sz="3200" b="0" i="0" dirty="0" err="1"/>
              <a:t>t×b</a:t>
            </a:r>
            <a:r>
              <a:rPr lang="en-GB" sz="3200" b="0" i="0" dirty="0"/>
              <a:t>= </a:t>
            </a:r>
            <a:r>
              <a:rPr lang="en-GB" sz="3200" b="0" i="0" dirty="0" err="1"/>
              <a:t>gcd</a:t>
            </a:r>
            <a:r>
              <a:rPr lang="en-GB" sz="3200" b="0" i="0" dirty="0"/>
              <a:t>(</a:t>
            </a:r>
            <a:r>
              <a:rPr lang="en-GB" sz="3200" b="0" i="0" dirty="0" err="1"/>
              <a:t>n,b</a:t>
            </a:r>
            <a:r>
              <a:rPr lang="en-GB" sz="3200" b="0" i="0" dirty="0"/>
              <a:t>)</a:t>
            </a:r>
          </a:p>
          <a:p>
            <a:r>
              <a:rPr lang="en-GB" sz="3200" b="0" i="0" dirty="0"/>
              <a:t>For multiplicative inverse, </a:t>
            </a:r>
            <a:r>
              <a:rPr lang="en-GB" sz="3200" b="0" i="0" dirty="0" err="1"/>
              <a:t>gcd</a:t>
            </a:r>
            <a:r>
              <a:rPr lang="en-GB" sz="3200" b="0" i="0" dirty="0"/>
              <a:t>(</a:t>
            </a:r>
            <a:r>
              <a:rPr lang="en-GB" sz="3200" b="0" i="0" dirty="0" err="1"/>
              <a:t>n,b</a:t>
            </a:r>
            <a:r>
              <a:rPr lang="en-GB" sz="3200" b="0" i="0" dirty="0"/>
              <a:t>)=1</a:t>
            </a:r>
          </a:p>
          <a:p>
            <a:r>
              <a:rPr lang="en-GB" sz="3200" b="0" i="0" dirty="0"/>
              <a:t>(</a:t>
            </a:r>
            <a:r>
              <a:rPr lang="en-GB" sz="3200" b="0" i="0" dirty="0" err="1"/>
              <a:t>s×n</a:t>
            </a:r>
            <a:r>
              <a:rPr lang="en-GB" sz="3200" b="0" i="0" dirty="0"/>
              <a:t>+ </a:t>
            </a:r>
            <a:r>
              <a:rPr lang="en-GB" sz="3200" b="0" i="0" dirty="0" err="1"/>
              <a:t>t×b</a:t>
            </a:r>
            <a:r>
              <a:rPr lang="en-GB" sz="3200" b="0" i="0" dirty="0"/>
              <a:t>) mod n= 1 mod n</a:t>
            </a:r>
          </a:p>
          <a:p>
            <a:r>
              <a:rPr lang="en-GB" sz="3200" b="0" i="0" dirty="0"/>
              <a:t>[(</a:t>
            </a:r>
            <a:r>
              <a:rPr lang="en-GB" sz="3200" b="0" i="0" dirty="0" err="1"/>
              <a:t>s×n</a:t>
            </a:r>
            <a:r>
              <a:rPr lang="en-GB" sz="3200" b="0" i="0" dirty="0"/>
              <a:t>)mod n+ [(</a:t>
            </a:r>
            <a:r>
              <a:rPr lang="en-GB" sz="3200" b="0" i="0" dirty="0" err="1"/>
              <a:t>t×b</a:t>
            </a:r>
            <a:r>
              <a:rPr lang="en-GB" sz="3200" b="0" i="0" dirty="0"/>
              <a:t>) mod n]= 1 mod n</a:t>
            </a:r>
          </a:p>
          <a:p>
            <a:r>
              <a:rPr lang="en-GB" sz="3200" b="0" i="0" dirty="0"/>
              <a:t>0+ (</a:t>
            </a:r>
            <a:r>
              <a:rPr lang="en-GB" sz="3200" b="0" i="0" dirty="0" err="1"/>
              <a:t>t×b</a:t>
            </a:r>
            <a:r>
              <a:rPr lang="en-GB" sz="3200" b="0" i="0" dirty="0"/>
              <a:t>) mod n= 1 mod n</a:t>
            </a:r>
          </a:p>
          <a:p>
            <a:r>
              <a:rPr lang="en-GB" sz="3200" b="0" i="0" dirty="0"/>
              <a:t>(</a:t>
            </a:r>
            <a:r>
              <a:rPr lang="en-GB" sz="3200" b="0" i="0" dirty="0" err="1"/>
              <a:t>t×b</a:t>
            </a:r>
            <a:r>
              <a:rPr lang="en-GB" sz="3200" b="0" i="0" dirty="0"/>
              <a:t>) mod n= 1 mod n</a:t>
            </a:r>
          </a:p>
          <a:p>
            <a:r>
              <a:rPr lang="en-GB" sz="3200" b="0" i="0" dirty="0"/>
              <a:t>t is the multiplicative inverse of b.</a:t>
            </a:r>
            <a:endParaRPr lang="en-GB" sz="3200" dirty="0"/>
          </a:p>
          <a:p>
            <a:endParaRPr lang="en-GB" sz="3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3D63D-18AA-19E4-2B53-2C59E9AF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1">
            <a:extLst>
              <a:ext uri="{FF2B5EF4-FFF2-40B4-BE49-F238E27FC236}">
                <a16:creationId xmlns:a16="http://schemas.microsoft.com/office/drawing/2014/main" id="{39A62F8A-8E25-17FD-F55A-A4750656DA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300832-73B0-4A5F-B26E-BBAD7A21B524}" type="slidenum">
              <a:rPr lang="en-US" i="0">
                <a:latin typeface="Arial" panose="020B0604020202020204" pitchFamily="34" charset="0"/>
              </a:rPr>
              <a:pPr/>
              <a:t>55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7347" name="Text Box 2">
            <a:extLst>
              <a:ext uri="{FF2B5EF4-FFF2-40B4-BE49-F238E27FC236}">
                <a16:creationId xmlns:a16="http://schemas.microsoft.com/office/drawing/2014/main" id="{18EDEEF5-71AC-359E-12CF-80D1E6109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61992F58-303B-80ED-48EF-2DE0E159021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49" name="Rectangle 4">
            <a:extLst>
              <a:ext uri="{FF2B5EF4-FFF2-40B4-BE49-F238E27FC236}">
                <a16:creationId xmlns:a16="http://schemas.microsoft.com/office/drawing/2014/main" id="{A327DFCC-D1DC-3649-1B2C-D67B12052F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0" name="Rectangle 5">
            <a:extLst>
              <a:ext uri="{FF2B5EF4-FFF2-40B4-BE49-F238E27FC236}">
                <a16:creationId xmlns:a16="http://schemas.microsoft.com/office/drawing/2014/main" id="{D56B978D-832F-AF0E-5D2B-3B9A126372E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1" name="Rectangle 6">
            <a:extLst>
              <a:ext uri="{FF2B5EF4-FFF2-40B4-BE49-F238E27FC236}">
                <a16:creationId xmlns:a16="http://schemas.microsoft.com/office/drawing/2014/main" id="{B13AF674-6BEB-069C-B4B3-0A32D8B195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2" name="Rectangle 7">
            <a:extLst>
              <a:ext uri="{FF2B5EF4-FFF2-40B4-BE49-F238E27FC236}">
                <a16:creationId xmlns:a16="http://schemas.microsoft.com/office/drawing/2014/main" id="{B89D874C-3CF2-8BA7-25F4-2E4B56F1C21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3" name="Rectangle 8">
            <a:extLst>
              <a:ext uri="{FF2B5EF4-FFF2-40B4-BE49-F238E27FC236}">
                <a16:creationId xmlns:a16="http://schemas.microsoft.com/office/drawing/2014/main" id="{7AF394BF-2E0B-AE37-DBEA-BF5E9806CC0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4" name="Rectangle 9">
            <a:extLst>
              <a:ext uri="{FF2B5EF4-FFF2-40B4-BE49-F238E27FC236}">
                <a16:creationId xmlns:a16="http://schemas.microsoft.com/office/drawing/2014/main" id="{92C617A7-8658-9E1C-6236-D3DB554AC2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5" name="Text Box 10">
            <a:extLst>
              <a:ext uri="{FF2B5EF4-FFF2-40B4-BE49-F238E27FC236}">
                <a16:creationId xmlns:a16="http://schemas.microsoft.com/office/drawing/2014/main" id="{865C0D46-7BF6-162F-B710-640D04764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905227" name="Rectangle 11">
            <a:extLst>
              <a:ext uri="{FF2B5EF4-FFF2-40B4-BE49-F238E27FC236}">
                <a16:creationId xmlns:a16="http://schemas.microsoft.com/office/drawing/2014/main" id="{3FE93AF9-C754-97C9-21DC-D01C42A8D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545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Given </a:t>
            </a:r>
            <a:r>
              <a:rPr lang="en-US" sz="2400"/>
              <a:t>a</a:t>
            </a:r>
            <a:r>
              <a:rPr lang="en-US" sz="2400" i="0"/>
              <a:t> = 161 and </a:t>
            </a:r>
            <a:r>
              <a:rPr lang="en-US" sz="2400"/>
              <a:t>b</a:t>
            </a:r>
            <a:r>
              <a:rPr lang="en-US" sz="2400" i="0"/>
              <a:t> = 28, find gcd (</a:t>
            </a:r>
            <a:r>
              <a:rPr lang="en-US" sz="2400"/>
              <a:t>a</a:t>
            </a:r>
            <a:r>
              <a:rPr lang="en-US" sz="2400" i="0"/>
              <a:t>, </a:t>
            </a:r>
            <a:r>
              <a:rPr lang="en-US" sz="2400"/>
              <a:t>b</a:t>
            </a:r>
            <a:r>
              <a:rPr lang="en-US" sz="2400" i="0"/>
              <a:t>) and the values of </a:t>
            </a:r>
            <a:r>
              <a:rPr lang="en-US" sz="2400"/>
              <a:t>s</a:t>
            </a:r>
            <a:r>
              <a:rPr lang="en-US" sz="2400" i="0"/>
              <a:t> and </a:t>
            </a:r>
            <a:r>
              <a:rPr lang="en-US" sz="2400"/>
              <a:t>t</a:t>
            </a:r>
            <a:r>
              <a:rPr lang="en-US" sz="2400" i="0"/>
              <a:t>.</a:t>
            </a:r>
          </a:p>
        </p:txBody>
      </p:sp>
      <p:sp>
        <p:nvSpPr>
          <p:cNvPr id="905228" name="Rectangle 12">
            <a:extLst>
              <a:ext uri="{FF2B5EF4-FFF2-40B4-BE49-F238E27FC236}">
                <a16:creationId xmlns:a16="http://schemas.microsoft.com/office/drawing/2014/main" id="{1B3DE5CE-51CF-73D0-67A8-9B57678EF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90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get gcd (161, 28) = 7, </a:t>
            </a:r>
            <a:r>
              <a:rPr lang="en-US" sz="2400"/>
              <a:t>s</a:t>
            </a:r>
            <a:r>
              <a:rPr lang="en-US" sz="2400" i="0"/>
              <a:t> = −1 and </a:t>
            </a:r>
            <a:r>
              <a:rPr lang="en-US" sz="2400"/>
              <a:t>t</a:t>
            </a:r>
            <a:r>
              <a:rPr lang="en-US" sz="2400" i="0"/>
              <a:t> = 6.</a:t>
            </a:r>
          </a:p>
        </p:txBody>
      </p:sp>
      <p:sp>
        <p:nvSpPr>
          <p:cNvPr id="905229" name="Rectangle 13">
            <a:extLst>
              <a:ext uri="{FF2B5EF4-FFF2-40B4-BE49-F238E27FC236}">
                <a16:creationId xmlns:a16="http://schemas.microsoft.com/office/drawing/2014/main" id="{07703363-4B6A-78E5-EB79-969D31DF7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09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57359" name="Picture 1">
            <a:extLst>
              <a:ext uri="{FF2B5EF4-FFF2-40B4-BE49-F238E27FC236}">
                <a16:creationId xmlns:a16="http://schemas.microsoft.com/office/drawing/2014/main" id="{6F15C345-A621-1E99-49D3-AA3BC639C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762952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007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A0E80-7F83-B242-56EC-553C0BC94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1">
            <a:extLst>
              <a:ext uri="{FF2B5EF4-FFF2-40B4-BE49-F238E27FC236}">
                <a16:creationId xmlns:a16="http://schemas.microsoft.com/office/drawing/2014/main" id="{AA55589F-B39F-F3EE-B213-90ED19AFEA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00868F-863B-4528-BE6F-F62A099446CC}" type="slidenum">
              <a:rPr lang="en-US" i="0">
                <a:latin typeface="Arial" panose="020B0604020202020204" pitchFamily="34" charset="0"/>
              </a:rPr>
              <a:pPr/>
              <a:t>56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F743FC71-20E2-D9D4-0DD8-105CAF64FF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4" name="Rectangle 4">
            <a:extLst>
              <a:ext uri="{FF2B5EF4-FFF2-40B4-BE49-F238E27FC236}">
                <a16:creationId xmlns:a16="http://schemas.microsoft.com/office/drawing/2014/main" id="{8F0E6565-7218-160A-B8E4-5E1945CDF2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5" name="Rectangle 5">
            <a:extLst>
              <a:ext uri="{FF2B5EF4-FFF2-40B4-BE49-F238E27FC236}">
                <a16:creationId xmlns:a16="http://schemas.microsoft.com/office/drawing/2014/main" id="{27A18526-CE80-CDC8-9677-1CB27D23B4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6" name="Rectangle 6">
            <a:extLst>
              <a:ext uri="{FF2B5EF4-FFF2-40B4-BE49-F238E27FC236}">
                <a16:creationId xmlns:a16="http://schemas.microsoft.com/office/drawing/2014/main" id="{BFB3CDFC-50D5-C7F2-FF7F-69821026B8A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7" name="Rectangle 7">
            <a:extLst>
              <a:ext uri="{FF2B5EF4-FFF2-40B4-BE49-F238E27FC236}">
                <a16:creationId xmlns:a16="http://schemas.microsoft.com/office/drawing/2014/main" id="{86A2D466-DDA4-6DC7-4F17-423D39FF96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8" name="Rectangle 8">
            <a:extLst>
              <a:ext uri="{FF2B5EF4-FFF2-40B4-BE49-F238E27FC236}">
                <a16:creationId xmlns:a16="http://schemas.microsoft.com/office/drawing/2014/main" id="{4A40E6A3-8180-80C5-BF3A-98C41638D9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9" name="Rectangle 9">
            <a:extLst>
              <a:ext uri="{FF2B5EF4-FFF2-40B4-BE49-F238E27FC236}">
                <a16:creationId xmlns:a16="http://schemas.microsoft.com/office/drawing/2014/main" id="{0541310B-DF80-3805-4621-BD532EFEC34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50" name="Text Box 10">
            <a:extLst>
              <a:ext uri="{FF2B5EF4-FFF2-40B4-BE49-F238E27FC236}">
                <a16:creationId xmlns:a16="http://schemas.microsoft.com/office/drawing/2014/main" id="{7313DB1E-BB64-57EA-2372-4DF453B1E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75E7E-8DF4-B9B7-4759-CA19ABA32539}"/>
              </a:ext>
            </a:extLst>
          </p:cNvPr>
          <p:cNvSpPr txBox="1"/>
          <p:nvPr/>
        </p:nvSpPr>
        <p:spPr>
          <a:xfrm>
            <a:off x="604684" y="1968873"/>
            <a:ext cx="477376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/>
              <a:t>s</a:t>
            </a:r>
            <a:r>
              <a:rPr lang="en-GB" sz="2000" b="0" i="0" dirty="0"/>
              <a:t> × </a:t>
            </a:r>
            <a:r>
              <a:rPr lang="en-US" sz="2000" b="0" dirty="0"/>
              <a:t>101+t</a:t>
            </a:r>
            <a:r>
              <a:rPr lang="en-GB" sz="2000" b="0" i="0" dirty="0"/>
              <a:t> × </a:t>
            </a:r>
            <a:r>
              <a:rPr lang="en-US" sz="2000" b="0" dirty="0"/>
              <a:t>28=</a:t>
            </a:r>
            <a:r>
              <a:rPr lang="en-US" sz="2000" b="0" dirty="0" err="1"/>
              <a:t>gcd</a:t>
            </a:r>
            <a:r>
              <a:rPr lang="en-US" sz="2000" b="0" dirty="0"/>
              <a:t> ⁡(101,28)</a:t>
            </a:r>
          </a:p>
          <a:p>
            <a:endParaRPr lang="en-US" sz="2000" b="0" dirty="0"/>
          </a:p>
          <a:p>
            <a:r>
              <a:rPr lang="en-US" sz="2000" b="0" dirty="0"/>
              <a:t>Find the </a:t>
            </a:r>
            <a:r>
              <a:rPr lang="en-US" sz="2000" b="0" dirty="0" err="1"/>
              <a:t>gcd</a:t>
            </a:r>
            <a:r>
              <a:rPr lang="en-US" sz="2000" b="0" dirty="0"/>
              <a:t>(101,28) first</a:t>
            </a:r>
          </a:p>
          <a:p>
            <a:endParaRPr lang="en-US" sz="2000" b="0" dirty="0"/>
          </a:p>
          <a:p>
            <a:r>
              <a:rPr lang="en-US" sz="2000" b="0" dirty="0"/>
              <a:t>s</a:t>
            </a:r>
            <a:r>
              <a:rPr lang="en-GB" sz="2000" b="0" i="0" dirty="0"/>
              <a:t> × </a:t>
            </a:r>
            <a:r>
              <a:rPr lang="en-US" sz="2000" b="0" dirty="0"/>
              <a:t>101+t ×28=1</a:t>
            </a:r>
          </a:p>
          <a:p>
            <a:endParaRPr lang="en-US" sz="2000" b="0" dirty="0"/>
          </a:p>
          <a:p>
            <a:r>
              <a:rPr lang="en-US" sz="2000" b="0" dirty="0"/>
              <a:t>(let n=161 is the modulus)</a:t>
            </a:r>
          </a:p>
          <a:p>
            <a:r>
              <a:rPr lang="en-US" sz="2000" b="0" dirty="0"/>
              <a:t>s</a:t>
            </a:r>
            <a:r>
              <a:rPr lang="en-GB" sz="2000" b="0" i="0" dirty="0"/>
              <a:t> × </a:t>
            </a:r>
            <a:r>
              <a:rPr lang="en-US" sz="2000" b="0" dirty="0" err="1"/>
              <a:t>n+t</a:t>
            </a:r>
            <a:r>
              <a:rPr lang="en-US" sz="2000" b="0" dirty="0"/>
              <a:t> ×b=1</a:t>
            </a:r>
          </a:p>
          <a:p>
            <a:r>
              <a:rPr lang="en-GB" sz="2000" b="0" i="0" dirty="0"/>
              <a:t>[(</a:t>
            </a:r>
            <a:r>
              <a:rPr lang="en-GB" sz="2000" b="0" i="0" dirty="0" err="1"/>
              <a:t>s×n</a:t>
            </a:r>
            <a:r>
              <a:rPr lang="en-GB" sz="2000" b="0" i="0" dirty="0"/>
              <a:t>)mod n+ [(</a:t>
            </a:r>
            <a:r>
              <a:rPr lang="en-GB" sz="2000" b="0" i="0" dirty="0" err="1"/>
              <a:t>t×b</a:t>
            </a:r>
            <a:r>
              <a:rPr lang="en-GB" sz="2000" b="0" i="0" dirty="0"/>
              <a:t>) mod n]= 1 mod n</a:t>
            </a:r>
          </a:p>
          <a:p>
            <a:r>
              <a:rPr lang="en-GB" sz="2000" b="0" i="0" dirty="0"/>
              <a:t>0+ (</a:t>
            </a:r>
            <a:r>
              <a:rPr lang="en-GB" sz="2000" b="0" i="0" dirty="0" err="1"/>
              <a:t>t×b</a:t>
            </a:r>
            <a:r>
              <a:rPr lang="en-GB" sz="2000" b="0" i="0" dirty="0"/>
              <a:t>) mod n= 1 mod n</a:t>
            </a:r>
          </a:p>
          <a:p>
            <a:r>
              <a:rPr lang="en-GB" sz="2000" b="0" i="0" dirty="0"/>
              <a:t>(</a:t>
            </a:r>
            <a:r>
              <a:rPr lang="en-GB" sz="2000" b="0" i="0" dirty="0" err="1"/>
              <a:t>t×b</a:t>
            </a:r>
            <a:r>
              <a:rPr lang="en-GB" sz="2000" b="0" i="0" dirty="0"/>
              <a:t>) mod n= 1 mod n</a:t>
            </a:r>
          </a:p>
          <a:p>
            <a:r>
              <a:rPr lang="en-GB" sz="2000" b="0" i="0" dirty="0"/>
              <a:t>t is the multiplicative inverse of b modulo n.</a:t>
            </a:r>
          </a:p>
          <a:p>
            <a:r>
              <a:rPr lang="en-GB" sz="2000" b="0" i="0" dirty="0"/>
              <a:t>So calculate s and t,  s= 5, t=-18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4B7FE-95BD-D3A7-B4B6-5DC379A56883}"/>
              </a:ext>
            </a:extLst>
          </p:cNvPr>
          <p:cNvSpPr txBox="1"/>
          <p:nvPr/>
        </p:nvSpPr>
        <p:spPr>
          <a:xfrm>
            <a:off x="722926" y="1032037"/>
            <a:ext cx="397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Let s=x, t=y, a=101 and b=462</a:t>
            </a:r>
          </a:p>
          <a:p>
            <a:r>
              <a:rPr lang="en-US" b="0" dirty="0"/>
              <a:t> </a:t>
            </a:r>
          </a:p>
          <a:p>
            <a:r>
              <a:rPr lang="en-GB" b="0" i="0" dirty="0" err="1"/>
              <a:t>s×a</a:t>
            </a:r>
            <a:r>
              <a:rPr lang="en-GB" b="0" i="0" dirty="0"/>
              <a:t>+ </a:t>
            </a:r>
            <a:r>
              <a:rPr lang="en-GB" b="0" i="0" dirty="0" err="1"/>
              <a:t>t×b</a:t>
            </a:r>
            <a:r>
              <a:rPr lang="en-GB" b="0" i="0" dirty="0"/>
              <a:t>= </a:t>
            </a:r>
            <a:r>
              <a:rPr lang="en-GB" b="0" i="0" dirty="0" err="1"/>
              <a:t>gcd</a:t>
            </a:r>
            <a:r>
              <a:rPr lang="en-GB" b="0" i="0" dirty="0"/>
              <a:t>(</a:t>
            </a:r>
            <a:r>
              <a:rPr lang="en-GB" b="0" i="0" dirty="0" err="1"/>
              <a:t>a,b</a:t>
            </a:r>
            <a:r>
              <a:rPr lang="en-GB" b="0" i="0" dirty="0"/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6672F-E209-DFED-4AF3-8BCB2FF11D26}"/>
              </a:ext>
            </a:extLst>
          </p:cNvPr>
          <p:cNvSpPr txBox="1"/>
          <p:nvPr/>
        </p:nvSpPr>
        <p:spPr>
          <a:xfrm>
            <a:off x="5181600" y="1961524"/>
            <a:ext cx="3810000" cy="307776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0" i="0" dirty="0" err="1"/>
              <a:t>s×a</a:t>
            </a:r>
            <a:r>
              <a:rPr lang="en-GB" b="0" i="0" dirty="0"/>
              <a:t>+ </a:t>
            </a:r>
            <a:r>
              <a:rPr lang="en-GB" b="0" i="0" dirty="0" err="1"/>
              <a:t>t×b</a:t>
            </a:r>
            <a:r>
              <a:rPr lang="en-GB" b="0" i="0" dirty="0"/>
              <a:t>= </a:t>
            </a:r>
            <a:r>
              <a:rPr lang="en-GB" b="0" i="0" dirty="0" err="1"/>
              <a:t>gcd</a:t>
            </a:r>
            <a:r>
              <a:rPr lang="en-GB" b="0" i="0" dirty="0"/>
              <a:t>(</a:t>
            </a:r>
            <a:r>
              <a:rPr lang="en-GB" b="0" i="0" dirty="0" err="1"/>
              <a:t>a,b</a:t>
            </a:r>
            <a:r>
              <a:rPr lang="en-GB" b="0" i="0" dirty="0"/>
              <a:t>), </a:t>
            </a:r>
            <a:r>
              <a:rPr lang="en-GB" b="0" i="0" dirty="0">
                <a:solidFill>
                  <a:srgbClr val="FF0000"/>
                </a:solidFill>
              </a:rPr>
              <a:t>let a=n,</a:t>
            </a:r>
          </a:p>
          <a:p>
            <a:r>
              <a:rPr lang="en-GB" b="0" i="0" dirty="0" err="1"/>
              <a:t>s×n</a:t>
            </a:r>
            <a:r>
              <a:rPr lang="en-GB" b="0" i="0" dirty="0"/>
              <a:t>+ </a:t>
            </a:r>
            <a:r>
              <a:rPr lang="en-GB" b="0" i="0" dirty="0" err="1"/>
              <a:t>t×b</a:t>
            </a:r>
            <a:r>
              <a:rPr lang="en-GB" b="0" i="0" dirty="0"/>
              <a:t>= </a:t>
            </a:r>
            <a:r>
              <a:rPr lang="en-GB" b="0" i="0" dirty="0" err="1"/>
              <a:t>gcd</a:t>
            </a:r>
            <a:r>
              <a:rPr lang="en-GB" b="0" i="0" dirty="0"/>
              <a:t>(</a:t>
            </a:r>
            <a:r>
              <a:rPr lang="en-GB" b="0" i="0" dirty="0" err="1"/>
              <a:t>n,b</a:t>
            </a:r>
            <a:r>
              <a:rPr lang="en-GB" b="0" i="0" dirty="0"/>
              <a:t>)</a:t>
            </a:r>
          </a:p>
          <a:p>
            <a:r>
              <a:rPr lang="en-GB" b="0" i="0" dirty="0"/>
              <a:t>For multiplicative inverse, </a:t>
            </a:r>
            <a:r>
              <a:rPr lang="en-GB" b="0" i="0" dirty="0" err="1"/>
              <a:t>gcd</a:t>
            </a:r>
            <a:r>
              <a:rPr lang="en-GB" b="0" i="0" dirty="0"/>
              <a:t>(</a:t>
            </a:r>
            <a:r>
              <a:rPr lang="en-GB" b="0" i="0" dirty="0" err="1"/>
              <a:t>n,b</a:t>
            </a:r>
            <a:r>
              <a:rPr lang="en-GB" b="0" i="0" dirty="0"/>
              <a:t>)=1</a:t>
            </a:r>
          </a:p>
          <a:p>
            <a:r>
              <a:rPr lang="en-GB" b="0" i="0" dirty="0">
                <a:solidFill>
                  <a:srgbClr val="FF0000"/>
                </a:solidFill>
              </a:rPr>
              <a:t>(</a:t>
            </a:r>
            <a:r>
              <a:rPr lang="en-GB" b="0" i="0" dirty="0" err="1">
                <a:solidFill>
                  <a:srgbClr val="FF0000"/>
                </a:solidFill>
              </a:rPr>
              <a:t>s×n</a:t>
            </a:r>
            <a:r>
              <a:rPr lang="en-GB" b="0" i="0" dirty="0">
                <a:solidFill>
                  <a:srgbClr val="FF0000"/>
                </a:solidFill>
              </a:rPr>
              <a:t>+ </a:t>
            </a:r>
            <a:r>
              <a:rPr lang="en-GB" b="0" i="0" dirty="0" err="1">
                <a:solidFill>
                  <a:srgbClr val="FF0000"/>
                </a:solidFill>
              </a:rPr>
              <a:t>t×b</a:t>
            </a:r>
            <a:r>
              <a:rPr lang="en-GB" b="0" i="0" dirty="0">
                <a:solidFill>
                  <a:srgbClr val="FF0000"/>
                </a:solidFill>
              </a:rPr>
              <a:t>) mod n= 1 mod n</a:t>
            </a:r>
          </a:p>
          <a:p>
            <a:r>
              <a:rPr lang="en-GB" b="0" i="0" dirty="0"/>
              <a:t>[(</a:t>
            </a:r>
            <a:r>
              <a:rPr lang="en-GB" b="0" i="0" dirty="0" err="1"/>
              <a:t>s×n</a:t>
            </a:r>
            <a:r>
              <a:rPr lang="en-GB" b="0" i="0" dirty="0"/>
              <a:t>)mod n+ [(</a:t>
            </a:r>
            <a:r>
              <a:rPr lang="en-GB" b="0" i="0" dirty="0" err="1"/>
              <a:t>t×b</a:t>
            </a:r>
            <a:r>
              <a:rPr lang="en-GB" b="0" i="0" dirty="0"/>
              <a:t>) mod n]= 1 mod n</a:t>
            </a:r>
          </a:p>
          <a:p>
            <a:r>
              <a:rPr lang="en-GB" b="0" i="0" dirty="0"/>
              <a:t>0+ (</a:t>
            </a:r>
            <a:r>
              <a:rPr lang="en-GB" b="0" i="0" dirty="0" err="1"/>
              <a:t>t×b</a:t>
            </a:r>
            <a:r>
              <a:rPr lang="en-GB" b="0" i="0" dirty="0"/>
              <a:t>) mod n= 1 mod n</a:t>
            </a:r>
          </a:p>
          <a:p>
            <a:r>
              <a:rPr lang="en-GB" b="0" i="0" dirty="0"/>
              <a:t>(</a:t>
            </a:r>
            <a:r>
              <a:rPr lang="en-GB" b="0" i="0" dirty="0" err="1"/>
              <a:t>t×b</a:t>
            </a:r>
            <a:r>
              <a:rPr lang="en-GB" b="0" i="0" dirty="0"/>
              <a:t>) mod n= 1 mod n</a:t>
            </a:r>
          </a:p>
          <a:p>
            <a:r>
              <a:rPr lang="en-GB" b="0" i="0" dirty="0"/>
              <a:t>t is the multiplicative inverse of b modulo n.</a:t>
            </a:r>
            <a:endParaRPr lang="en-GB" dirty="0"/>
          </a:p>
          <a:p>
            <a:endParaRPr lang="en-GB" sz="3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AE77FC-E776-E2ED-4EF3-2AE886788F93}"/>
              </a:ext>
            </a:extLst>
          </p:cNvPr>
          <p:cNvCxnSpPr/>
          <p:nvPr/>
        </p:nvCxnSpPr>
        <p:spPr bwMode="auto">
          <a:xfrm flipV="1">
            <a:off x="2253481" y="2440360"/>
            <a:ext cx="2987113" cy="18268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AF081BF-CD08-F6A6-D658-0B38DF39A53C}"/>
              </a:ext>
            </a:extLst>
          </p:cNvPr>
          <p:cNvSpPr txBox="1"/>
          <p:nvPr/>
        </p:nvSpPr>
        <p:spPr>
          <a:xfrm>
            <a:off x="2253481" y="597873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Solve,  101x+28y=</a:t>
            </a:r>
            <a:r>
              <a:rPr lang="en-US" dirty="0" err="1"/>
              <a:t>gcd</a:t>
            </a:r>
            <a:r>
              <a:rPr lang="en-US" dirty="0"/>
              <a:t>⁡ (101,28)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943592-4921-8D83-6FDB-C73F8A7D388E}"/>
              </a:ext>
            </a:extLst>
          </p:cNvPr>
          <p:cNvCxnSpPr/>
          <p:nvPr/>
        </p:nvCxnSpPr>
        <p:spPr bwMode="auto">
          <a:xfrm>
            <a:off x="2514600" y="1752600"/>
            <a:ext cx="2648104" cy="457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384083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E6519-35BD-EB88-CA7B-1C78447D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1">
            <a:extLst>
              <a:ext uri="{FF2B5EF4-FFF2-40B4-BE49-F238E27FC236}">
                <a16:creationId xmlns:a16="http://schemas.microsoft.com/office/drawing/2014/main" id="{628D0350-6243-FA00-96D1-743267B28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00868F-863B-4528-BE6F-F62A099446CC}" type="slidenum">
              <a:rPr lang="en-US" i="0">
                <a:latin typeface="Arial" panose="020B0604020202020204" pitchFamily="34" charset="0"/>
              </a:rPr>
              <a:pPr/>
              <a:t>57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0F48BABF-30AE-2EA4-A1CF-26FB20E30E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4" name="Rectangle 4">
            <a:extLst>
              <a:ext uri="{FF2B5EF4-FFF2-40B4-BE49-F238E27FC236}">
                <a16:creationId xmlns:a16="http://schemas.microsoft.com/office/drawing/2014/main" id="{C8B523EC-E7E4-2AD5-CB91-916B0C58D7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5" name="Rectangle 5">
            <a:extLst>
              <a:ext uri="{FF2B5EF4-FFF2-40B4-BE49-F238E27FC236}">
                <a16:creationId xmlns:a16="http://schemas.microsoft.com/office/drawing/2014/main" id="{D1D3B4C8-6970-B3AA-043E-44EDEA5948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6" name="Rectangle 6">
            <a:extLst>
              <a:ext uri="{FF2B5EF4-FFF2-40B4-BE49-F238E27FC236}">
                <a16:creationId xmlns:a16="http://schemas.microsoft.com/office/drawing/2014/main" id="{40DC3523-8D55-6F1E-8DAA-F2F19B1CD46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7" name="Rectangle 7">
            <a:extLst>
              <a:ext uri="{FF2B5EF4-FFF2-40B4-BE49-F238E27FC236}">
                <a16:creationId xmlns:a16="http://schemas.microsoft.com/office/drawing/2014/main" id="{88AA9DA3-FCB6-DC99-AB90-CFB6865468C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8" name="Rectangle 8">
            <a:extLst>
              <a:ext uri="{FF2B5EF4-FFF2-40B4-BE49-F238E27FC236}">
                <a16:creationId xmlns:a16="http://schemas.microsoft.com/office/drawing/2014/main" id="{CC6BAFF8-0404-2045-1B0C-EF7EB67720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9" name="Rectangle 9">
            <a:extLst>
              <a:ext uri="{FF2B5EF4-FFF2-40B4-BE49-F238E27FC236}">
                <a16:creationId xmlns:a16="http://schemas.microsoft.com/office/drawing/2014/main" id="{11539EE5-C7F2-BDEB-743D-85FEA50C63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50" name="Text Box 10">
            <a:extLst>
              <a:ext uri="{FF2B5EF4-FFF2-40B4-BE49-F238E27FC236}">
                <a16:creationId xmlns:a16="http://schemas.microsoft.com/office/drawing/2014/main" id="{97C73075-4D61-7950-D03D-98D7C153B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B2D74-6915-FC13-349C-4ACDD2F19FE4}"/>
              </a:ext>
            </a:extLst>
          </p:cNvPr>
          <p:cNvSpPr txBox="1"/>
          <p:nvPr/>
        </p:nvSpPr>
        <p:spPr>
          <a:xfrm>
            <a:off x="604684" y="1968873"/>
            <a:ext cx="47737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/>
              <a:t>0+t</a:t>
            </a:r>
            <a:r>
              <a:rPr lang="en-GB" sz="2000" b="0" i="0" dirty="0"/>
              <a:t> × </a:t>
            </a:r>
            <a:r>
              <a:rPr lang="en-US" sz="2000" b="0" dirty="0"/>
              <a:t>29=</a:t>
            </a:r>
            <a:r>
              <a:rPr lang="en-US" sz="2000" b="0" dirty="0" err="1"/>
              <a:t>gcd</a:t>
            </a:r>
            <a:r>
              <a:rPr lang="en-US" sz="2000" b="0" dirty="0"/>
              <a:t>  ⁡(64,29)</a:t>
            </a:r>
          </a:p>
          <a:p>
            <a:endParaRPr lang="en-US" sz="2000" b="0" dirty="0"/>
          </a:p>
          <a:p>
            <a:r>
              <a:rPr lang="en-GB" sz="2000" b="0" i="0" dirty="0"/>
              <a:t>(</a:t>
            </a:r>
            <a:r>
              <a:rPr lang="en-GB" sz="2000" b="0" i="0" dirty="0" err="1"/>
              <a:t>t×b</a:t>
            </a:r>
            <a:r>
              <a:rPr lang="en-GB" sz="2000" b="0" i="0" dirty="0"/>
              <a:t>) mod n= 1 mod n</a:t>
            </a:r>
          </a:p>
          <a:p>
            <a:r>
              <a:rPr lang="en-GB" sz="2000" b="0" i="0" dirty="0"/>
              <a:t>t is the multiplicative inverse of b modulo n.</a:t>
            </a:r>
          </a:p>
          <a:p>
            <a:r>
              <a:rPr lang="en-GB" sz="2000" b="0" i="0" dirty="0"/>
              <a:t>So calculate s and t,  s= 5, t=-18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70AF5-7ABE-B2DC-9130-8B8B67E8B134}"/>
              </a:ext>
            </a:extLst>
          </p:cNvPr>
          <p:cNvSpPr txBox="1"/>
          <p:nvPr/>
        </p:nvSpPr>
        <p:spPr>
          <a:xfrm>
            <a:off x="722926" y="1032037"/>
            <a:ext cx="397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Let s=x, t=y, a=101 and b=462</a:t>
            </a:r>
          </a:p>
          <a:p>
            <a:r>
              <a:rPr lang="en-US" b="0" dirty="0"/>
              <a:t> </a:t>
            </a:r>
          </a:p>
          <a:p>
            <a:r>
              <a:rPr lang="en-GB" b="0" i="0" dirty="0" err="1"/>
              <a:t>s×a</a:t>
            </a:r>
            <a:r>
              <a:rPr lang="en-GB" b="0" i="0" dirty="0"/>
              <a:t>+ </a:t>
            </a:r>
            <a:r>
              <a:rPr lang="en-GB" b="0" i="0" dirty="0" err="1"/>
              <a:t>t×b</a:t>
            </a:r>
            <a:r>
              <a:rPr lang="en-GB" b="0" i="0" dirty="0"/>
              <a:t>= </a:t>
            </a:r>
            <a:r>
              <a:rPr lang="en-GB" b="0" i="0" dirty="0" err="1"/>
              <a:t>gcd</a:t>
            </a:r>
            <a:r>
              <a:rPr lang="en-GB" b="0" i="0" dirty="0"/>
              <a:t>(</a:t>
            </a:r>
            <a:r>
              <a:rPr lang="en-GB" b="0" i="0" dirty="0" err="1"/>
              <a:t>a,b</a:t>
            </a:r>
            <a:r>
              <a:rPr lang="en-GB" b="0" i="0" dirty="0"/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1176B-536C-7181-BF08-908A1533E49E}"/>
              </a:ext>
            </a:extLst>
          </p:cNvPr>
          <p:cNvSpPr txBox="1"/>
          <p:nvPr/>
        </p:nvSpPr>
        <p:spPr>
          <a:xfrm>
            <a:off x="5181600" y="1961524"/>
            <a:ext cx="3810000" cy="307776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0" i="0" dirty="0" err="1"/>
              <a:t>s×a</a:t>
            </a:r>
            <a:r>
              <a:rPr lang="en-GB" b="0" i="0" dirty="0"/>
              <a:t>+ </a:t>
            </a:r>
            <a:r>
              <a:rPr lang="en-GB" b="0" i="0" dirty="0" err="1"/>
              <a:t>t×b</a:t>
            </a:r>
            <a:r>
              <a:rPr lang="en-GB" b="0" i="0" dirty="0"/>
              <a:t>= </a:t>
            </a:r>
            <a:r>
              <a:rPr lang="en-GB" b="0" i="0" dirty="0" err="1"/>
              <a:t>gcd</a:t>
            </a:r>
            <a:r>
              <a:rPr lang="en-GB" b="0" i="0" dirty="0"/>
              <a:t>(</a:t>
            </a:r>
            <a:r>
              <a:rPr lang="en-GB" b="0" i="0" dirty="0" err="1"/>
              <a:t>a,b</a:t>
            </a:r>
            <a:r>
              <a:rPr lang="en-GB" b="0" i="0" dirty="0"/>
              <a:t>), </a:t>
            </a:r>
            <a:r>
              <a:rPr lang="en-GB" b="0" i="0" dirty="0">
                <a:solidFill>
                  <a:srgbClr val="FF0000"/>
                </a:solidFill>
              </a:rPr>
              <a:t>let a=n,</a:t>
            </a:r>
          </a:p>
          <a:p>
            <a:r>
              <a:rPr lang="en-GB" b="0" i="0" dirty="0" err="1"/>
              <a:t>s×n</a:t>
            </a:r>
            <a:r>
              <a:rPr lang="en-GB" b="0" i="0" dirty="0"/>
              <a:t>+ </a:t>
            </a:r>
            <a:r>
              <a:rPr lang="en-GB" b="0" i="0" dirty="0" err="1"/>
              <a:t>t×b</a:t>
            </a:r>
            <a:r>
              <a:rPr lang="en-GB" b="0" i="0" dirty="0"/>
              <a:t>= </a:t>
            </a:r>
            <a:r>
              <a:rPr lang="en-GB" b="0" i="0" dirty="0" err="1"/>
              <a:t>gcd</a:t>
            </a:r>
            <a:r>
              <a:rPr lang="en-GB" b="0" i="0" dirty="0"/>
              <a:t>(</a:t>
            </a:r>
            <a:r>
              <a:rPr lang="en-GB" b="0" i="0" dirty="0" err="1"/>
              <a:t>n,b</a:t>
            </a:r>
            <a:r>
              <a:rPr lang="en-GB" b="0" i="0" dirty="0"/>
              <a:t>)</a:t>
            </a:r>
          </a:p>
          <a:p>
            <a:r>
              <a:rPr lang="en-GB" b="0" i="0" dirty="0"/>
              <a:t>For multiplicative inverse, </a:t>
            </a:r>
            <a:r>
              <a:rPr lang="en-GB" b="0" i="0" dirty="0" err="1"/>
              <a:t>gcd</a:t>
            </a:r>
            <a:r>
              <a:rPr lang="en-GB" b="0" i="0" dirty="0"/>
              <a:t>(</a:t>
            </a:r>
            <a:r>
              <a:rPr lang="en-GB" b="0" i="0" dirty="0" err="1"/>
              <a:t>n,b</a:t>
            </a:r>
            <a:r>
              <a:rPr lang="en-GB" b="0" i="0" dirty="0"/>
              <a:t>)=1</a:t>
            </a:r>
          </a:p>
          <a:p>
            <a:r>
              <a:rPr lang="en-GB" b="0" i="0" dirty="0">
                <a:solidFill>
                  <a:srgbClr val="FF0000"/>
                </a:solidFill>
              </a:rPr>
              <a:t>(</a:t>
            </a:r>
            <a:r>
              <a:rPr lang="en-GB" b="0" i="0" dirty="0" err="1">
                <a:solidFill>
                  <a:srgbClr val="FF0000"/>
                </a:solidFill>
              </a:rPr>
              <a:t>s×n</a:t>
            </a:r>
            <a:r>
              <a:rPr lang="en-GB" b="0" i="0" dirty="0">
                <a:solidFill>
                  <a:srgbClr val="FF0000"/>
                </a:solidFill>
              </a:rPr>
              <a:t>+ </a:t>
            </a:r>
            <a:r>
              <a:rPr lang="en-GB" b="0" i="0" dirty="0" err="1">
                <a:solidFill>
                  <a:srgbClr val="FF0000"/>
                </a:solidFill>
              </a:rPr>
              <a:t>t×b</a:t>
            </a:r>
            <a:r>
              <a:rPr lang="en-GB" b="0" i="0" dirty="0">
                <a:solidFill>
                  <a:srgbClr val="FF0000"/>
                </a:solidFill>
              </a:rPr>
              <a:t>) mod n= 1 mod n</a:t>
            </a:r>
          </a:p>
          <a:p>
            <a:r>
              <a:rPr lang="en-GB" b="0" i="0" dirty="0"/>
              <a:t>[(</a:t>
            </a:r>
            <a:r>
              <a:rPr lang="en-GB" b="0" i="0" dirty="0" err="1"/>
              <a:t>s×n</a:t>
            </a:r>
            <a:r>
              <a:rPr lang="en-GB" b="0" i="0" dirty="0"/>
              <a:t>)mod n+ [(</a:t>
            </a:r>
            <a:r>
              <a:rPr lang="en-GB" b="0" i="0" dirty="0" err="1"/>
              <a:t>t×b</a:t>
            </a:r>
            <a:r>
              <a:rPr lang="en-GB" b="0" i="0" dirty="0"/>
              <a:t>) mod n]= 1 mod n</a:t>
            </a:r>
          </a:p>
          <a:p>
            <a:r>
              <a:rPr lang="en-GB" b="0" i="0" dirty="0"/>
              <a:t>0+ (</a:t>
            </a:r>
            <a:r>
              <a:rPr lang="en-GB" b="0" i="0" dirty="0" err="1"/>
              <a:t>t×b</a:t>
            </a:r>
            <a:r>
              <a:rPr lang="en-GB" b="0" i="0" dirty="0"/>
              <a:t>) mod n= 1 mod n</a:t>
            </a:r>
          </a:p>
          <a:p>
            <a:r>
              <a:rPr lang="en-GB" b="0" i="0" dirty="0"/>
              <a:t>(</a:t>
            </a:r>
            <a:r>
              <a:rPr lang="en-GB" b="0" i="0" dirty="0" err="1"/>
              <a:t>t×b</a:t>
            </a:r>
            <a:r>
              <a:rPr lang="en-GB" b="0" i="0" dirty="0"/>
              <a:t>) mod n= 1 mod n</a:t>
            </a:r>
          </a:p>
          <a:p>
            <a:r>
              <a:rPr lang="en-GB" b="0" i="0" dirty="0"/>
              <a:t>t is the multiplicative inverse of b modulo n.</a:t>
            </a:r>
            <a:endParaRPr lang="en-GB" dirty="0"/>
          </a:p>
          <a:p>
            <a:endParaRPr lang="en-GB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EC9671-E1D4-44E9-6EEB-843CEBAA8297}"/>
              </a:ext>
            </a:extLst>
          </p:cNvPr>
          <p:cNvSpPr txBox="1"/>
          <p:nvPr/>
        </p:nvSpPr>
        <p:spPr>
          <a:xfrm>
            <a:off x="2253481" y="597873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Solve, 29x≡1(mod64)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024B74-5302-092E-2F24-6EB299002E74}"/>
              </a:ext>
            </a:extLst>
          </p:cNvPr>
          <p:cNvCxnSpPr/>
          <p:nvPr/>
        </p:nvCxnSpPr>
        <p:spPr bwMode="auto">
          <a:xfrm>
            <a:off x="2514600" y="1752600"/>
            <a:ext cx="2648104" cy="457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813254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ECFC-2724-386A-1333-1928A18D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1">
            <a:extLst>
              <a:ext uri="{FF2B5EF4-FFF2-40B4-BE49-F238E27FC236}">
                <a16:creationId xmlns:a16="http://schemas.microsoft.com/office/drawing/2014/main" id="{F44CF7DC-73C0-1E6F-604D-0EF23393C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6E05E9-2998-4F8E-A5CD-725CD689BFE4}" type="slidenum">
              <a:rPr lang="en-US" i="0">
                <a:latin typeface="Arial" panose="020B0604020202020204" pitchFamily="34" charset="0"/>
              </a:rPr>
              <a:pPr/>
              <a:t>58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6739" name="Text Box 2">
            <a:extLst>
              <a:ext uri="{FF2B5EF4-FFF2-40B4-BE49-F238E27FC236}">
                <a16:creationId xmlns:a16="http://schemas.microsoft.com/office/drawing/2014/main" id="{FFF6A24E-5E08-CE61-FF09-BF4BAED42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70DAF3C1-CEF4-8363-D23D-D59B818797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1" name="Rectangle 4">
            <a:extLst>
              <a:ext uri="{FF2B5EF4-FFF2-40B4-BE49-F238E27FC236}">
                <a16:creationId xmlns:a16="http://schemas.microsoft.com/office/drawing/2014/main" id="{02112066-7AC4-A7B9-92B0-19A2238A81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2" name="Rectangle 5">
            <a:extLst>
              <a:ext uri="{FF2B5EF4-FFF2-40B4-BE49-F238E27FC236}">
                <a16:creationId xmlns:a16="http://schemas.microsoft.com/office/drawing/2014/main" id="{05CBA3F2-4FEB-D12C-FA1F-34A9E3DB40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3" name="Rectangle 6">
            <a:extLst>
              <a:ext uri="{FF2B5EF4-FFF2-40B4-BE49-F238E27FC236}">
                <a16:creationId xmlns:a16="http://schemas.microsoft.com/office/drawing/2014/main" id="{0A2CFFCC-716A-3560-EE64-FC3DD0CDD25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4" name="Rectangle 7">
            <a:extLst>
              <a:ext uri="{FF2B5EF4-FFF2-40B4-BE49-F238E27FC236}">
                <a16:creationId xmlns:a16="http://schemas.microsoft.com/office/drawing/2014/main" id="{ABD9D28E-AEBB-4AF0-7061-E21C5DBBDFF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5" name="Rectangle 8">
            <a:extLst>
              <a:ext uri="{FF2B5EF4-FFF2-40B4-BE49-F238E27FC236}">
                <a16:creationId xmlns:a16="http://schemas.microsoft.com/office/drawing/2014/main" id="{AEA00456-9F1B-0A21-833A-319527C59C3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6" name="Rectangle 9">
            <a:extLst>
              <a:ext uri="{FF2B5EF4-FFF2-40B4-BE49-F238E27FC236}">
                <a16:creationId xmlns:a16="http://schemas.microsoft.com/office/drawing/2014/main" id="{8634B4CA-9147-7F89-313C-9FB816C108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7" name="Text Box 10">
            <a:extLst>
              <a:ext uri="{FF2B5EF4-FFF2-40B4-BE49-F238E27FC236}">
                <a16:creationId xmlns:a16="http://schemas.microsoft.com/office/drawing/2014/main" id="{78BAECBD-2949-A72C-4B6F-CAFE4EFB0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78955" name="Rectangle 11">
            <a:extLst>
              <a:ext uri="{FF2B5EF4-FFF2-40B4-BE49-F238E27FC236}">
                <a16:creationId xmlns:a16="http://schemas.microsoft.com/office/drawing/2014/main" id="{928501FA-3E2A-9F68-5324-455B6FBD5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066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multiplicative inverse of 23 in Z</a:t>
            </a:r>
            <a:r>
              <a:rPr lang="en-US" sz="2400" i="0" baseline="-18000"/>
              <a:t>100</a:t>
            </a:r>
            <a:r>
              <a:rPr lang="en-US" sz="2400" i="0"/>
              <a:t>.</a:t>
            </a:r>
          </a:p>
        </p:txBody>
      </p:sp>
      <p:sp>
        <p:nvSpPr>
          <p:cNvPr id="978956" name="Rectangle 12">
            <a:extLst>
              <a:ext uri="{FF2B5EF4-FFF2-40B4-BE49-F238E27FC236}">
                <a16:creationId xmlns:a16="http://schemas.microsoft.com/office/drawing/2014/main" id="{1A972122-AA8A-1B0B-B630-D8C99C701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78958" name="Rectangle 14">
            <a:extLst>
              <a:ext uri="{FF2B5EF4-FFF2-40B4-BE49-F238E27FC236}">
                <a16:creationId xmlns:a16="http://schemas.microsoft.com/office/drawing/2014/main" id="{2138D4A7-FC06-C049-E333-3971E482B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715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gcd (100, 23) is 1; the inverse of 23 is </a:t>
            </a:r>
            <a:r>
              <a:rPr lang="en-US" sz="2400" i="0">
                <a:latin typeface="Symbol" panose="05050102010706020507" pitchFamily="18" charset="2"/>
              </a:rPr>
              <a:t>-</a:t>
            </a:r>
            <a:r>
              <a:rPr lang="en-US" sz="2400" i="0"/>
              <a:t>13 or 87.</a:t>
            </a:r>
          </a:p>
        </p:txBody>
      </p:sp>
      <p:pic>
        <p:nvPicPr>
          <p:cNvPr id="116751" name="Picture 1">
            <a:extLst>
              <a:ext uri="{FF2B5EF4-FFF2-40B4-BE49-F238E27FC236}">
                <a16:creationId xmlns:a16="http://schemas.microsoft.com/office/drawing/2014/main" id="{D4488E23-F731-7B0D-282A-A0AF4770F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2057400"/>
            <a:ext cx="88963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98663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00868F-863B-4528-BE6F-F62A099446CC}" type="slidenum">
              <a:rPr lang="en-US" i="0">
                <a:latin typeface="Arial" panose="020B0604020202020204" pitchFamily="34" charset="0"/>
              </a:rPr>
              <a:pPr/>
              <a:t>59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pic>
        <p:nvPicPr>
          <p:cNvPr id="112651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922463"/>
            <a:ext cx="7523162" cy="3792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52" name="Text Box 16"/>
          <p:cNvSpPr txBox="1">
            <a:spLocks noChangeArrowheads="1"/>
          </p:cNvSpPr>
          <p:nvPr/>
        </p:nvSpPr>
        <p:spPr bwMode="auto">
          <a:xfrm>
            <a:off x="990600" y="533400"/>
            <a:ext cx="5638800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Using extended Euclidean algorithm to </a:t>
            </a:r>
            <a:br>
              <a:rPr lang="en-US" sz="2000"/>
            </a:br>
            <a:r>
              <a:rPr lang="en-US" sz="2000"/>
              <a:t>                          find multiplicative inverse</a:t>
            </a:r>
          </a:p>
        </p:txBody>
      </p:sp>
    </p:spTree>
    <p:extLst>
      <p:ext uri="{BB962C8B-B14F-4D97-AF65-F5344CB8AC3E}">
        <p14:creationId xmlns:p14="http://schemas.microsoft.com/office/powerpoint/2010/main" val="12265873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736D88-D078-46D7-BCC8-BD74D2B5797D}" type="slidenum">
              <a:rPr lang="en-US" i="0">
                <a:latin typeface="Arial" panose="020B0604020202020204" pitchFamily="34" charset="0"/>
              </a:rPr>
              <a:pPr/>
              <a:t>60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469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78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 dirty="0">
                <a:solidFill>
                  <a:schemeClr val="bg1"/>
                </a:solidFill>
              </a:rPr>
              <a:t>Example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469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9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 dirty="0"/>
              <a:t>   Continued</a:t>
            </a:r>
          </a:p>
        </p:txBody>
      </p:sp>
      <p:sp>
        <p:nvSpPr>
          <p:cNvPr id="976907" name="Rectangle 11"/>
          <p:cNvSpPr>
            <a:spLocks noChangeArrowheads="1"/>
          </p:cNvSpPr>
          <p:nvPr/>
        </p:nvSpPr>
        <p:spPr bwMode="auto">
          <a:xfrm>
            <a:off x="304800" y="1066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multiplicative inverse of 11 in Z</a:t>
            </a:r>
            <a:r>
              <a:rPr lang="en-US" sz="2400" i="0" baseline="-20000"/>
              <a:t>26</a:t>
            </a:r>
            <a:r>
              <a:rPr lang="en-US" sz="2400" i="0"/>
              <a:t>.</a:t>
            </a:r>
          </a:p>
        </p:txBody>
      </p:sp>
      <p:sp>
        <p:nvSpPr>
          <p:cNvPr id="976908" name="Rectangle 12"/>
          <p:cNvSpPr>
            <a:spLocks noChangeArrowheads="1"/>
          </p:cNvSpPr>
          <p:nvPr/>
        </p:nvSpPr>
        <p:spPr bwMode="auto">
          <a:xfrm>
            <a:off x="3048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76912" name="Rectangle 16"/>
          <p:cNvSpPr>
            <a:spLocks noChangeArrowheads="1"/>
          </p:cNvSpPr>
          <p:nvPr/>
        </p:nvSpPr>
        <p:spPr bwMode="auto">
          <a:xfrm>
            <a:off x="457200" y="5715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gcd (26, 11) is 1; the inverse of 11 is </a:t>
            </a:r>
            <a:r>
              <a:rPr lang="en-US" sz="2400" i="0">
                <a:latin typeface="Symbol" panose="05050102010706020507" pitchFamily="18" charset="2"/>
              </a:rPr>
              <a:t>-</a:t>
            </a:r>
            <a:r>
              <a:rPr lang="en-US" sz="2400" i="0"/>
              <a:t>7 or 19.</a:t>
            </a:r>
          </a:p>
        </p:txBody>
      </p:sp>
      <p:pic>
        <p:nvPicPr>
          <p:cNvPr id="11470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3600"/>
            <a:ext cx="746760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6E05E9-2998-4F8E-A5CD-725CD689BFE4}" type="slidenum">
              <a:rPr lang="en-US" i="0">
                <a:latin typeface="Arial" panose="020B0604020202020204" pitchFamily="34" charset="0"/>
              </a:rPr>
              <a:pPr/>
              <a:t>61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673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1674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78955" name="Rectangle 11"/>
          <p:cNvSpPr>
            <a:spLocks noChangeArrowheads="1"/>
          </p:cNvSpPr>
          <p:nvPr/>
        </p:nvSpPr>
        <p:spPr bwMode="auto">
          <a:xfrm>
            <a:off x="304800" y="1066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multiplicative inverse of 23 in Z</a:t>
            </a:r>
            <a:r>
              <a:rPr lang="en-US" sz="2400" i="0" baseline="-18000"/>
              <a:t>100</a:t>
            </a:r>
            <a:r>
              <a:rPr lang="en-US" sz="2400" i="0"/>
              <a:t>.</a:t>
            </a:r>
          </a:p>
        </p:txBody>
      </p:sp>
      <p:sp>
        <p:nvSpPr>
          <p:cNvPr id="978956" name="Rectangle 12"/>
          <p:cNvSpPr>
            <a:spLocks noChangeArrowheads="1"/>
          </p:cNvSpPr>
          <p:nvPr/>
        </p:nvSpPr>
        <p:spPr bwMode="auto">
          <a:xfrm>
            <a:off x="3048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78958" name="Rectangle 14"/>
          <p:cNvSpPr>
            <a:spLocks noChangeArrowheads="1"/>
          </p:cNvSpPr>
          <p:nvPr/>
        </p:nvSpPr>
        <p:spPr bwMode="auto">
          <a:xfrm>
            <a:off x="457200" y="5715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gcd (100, 23) is 1; the inverse of 23 is </a:t>
            </a:r>
            <a:r>
              <a:rPr lang="en-US" sz="2400" i="0">
                <a:latin typeface="Symbol" panose="05050102010706020507" pitchFamily="18" charset="2"/>
              </a:rPr>
              <a:t>-</a:t>
            </a:r>
            <a:r>
              <a:rPr lang="en-US" sz="2400" i="0"/>
              <a:t>13 or 87.</a:t>
            </a:r>
          </a:p>
        </p:txBody>
      </p:sp>
      <p:pic>
        <p:nvPicPr>
          <p:cNvPr id="11675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2057400"/>
            <a:ext cx="88963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189D06-221C-4A49-B9BC-840C43A9D93B}" type="slidenum">
              <a:rPr lang="en-US" i="0">
                <a:latin typeface="Arial" panose="020B0604020202020204" pitchFamily="34" charset="0"/>
              </a:rPr>
              <a:pPr/>
              <a:t>62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878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1878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8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81003" name="Rectangle 11"/>
          <p:cNvSpPr>
            <a:spLocks noChangeArrowheads="1"/>
          </p:cNvSpPr>
          <p:nvPr/>
        </p:nvSpPr>
        <p:spPr bwMode="auto">
          <a:xfrm>
            <a:off x="304800" y="1066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inverse of 12 in Z</a:t>
            </a:r>
            <a:r>
              <a:rPr lang="en-US" sz="2400" i="0" baseline="-18000"/>
              <a:t>26</a:t>
            </a:r>
            <a:r>
              <a:rPr lang="en-US" sz="2400" i="0"/>
              <a:t>.</a:t>
            </a:r>
          </a:p>
        </p:txBody>
      </p:sp>
      <p:sp>
        <p:nvSpPr>
          <p:cNvPr id="981004" name="Rectangle 12"/>
          <p:cNvSpPr>
            <a:spLocks noChangeArrowheads="1"/>
          </p:cNvSpPr>
          <p:nvPr/>
        </p:nvSpPr>
        <p:spPr bwMode="auto">
          <a:xfrm>
            <a:off x="3048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81005" name="Rectangle 13"/>
          <p:cNvSpPr>
            <a:spLocks noChangeArrowheads="1"/>
          </p:cNvSpPr>
          <p:nvPr/>
        </p:nvSpPr>
        <p:spPr bwMode="auto">
          <a:xfrm>
            <a:off x="457200" y="5029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gcd (26, 12) is 2; the inverse does not exist.</a:t>
            </a:r>
          </a:p>
        </p:txBody>
      </p:sp>
      <p:pic>
        <p:nvPicPr>
          <p:cNvPr id="11879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8" y="2360613"/>
            <a:ext cx="8793162" cy="231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B7CE1A4-D347-4113-B37F-D938A11B3A63}" type="slidenum">
              <a:rPr lang="en-US" i="0">
                <a:latin typeface="Arial" panose="020B0604020202020204" pitchFamily="34" charset="0"/>
              </a:rPr>
              <a:pPr/>
              <a:t>63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083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3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3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3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3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4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4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42" name="Text Box 10"/>
          <p:cNvSpPr txBox="1">
            <a:spLocks noChangeArrowheads="1"/>
          </p:cNvSpPr>
          <p:nvPr/>
        </p:nvSpPr>
        <p:spPr bwMode="auto">
          <a:xfrm>
            <a:off x="1143000" y="0"/>
            <a:ext cx="66849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Addition and Multiplication Tables</a:t>
            </a:r>
            <a:r>
              <a:rPr lang="en-US" sz="3200"/>
              <a:t> </a:t>
            </a:r>
          </a:p>
        </p:txBody>
      </p:sp>
      <p:pic>
        <p:nvPicPr>
          <p:cNvPr id="12084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2000250"/>
            <a:ext cx="6481762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0844" name="Text Box 16"/>
          <p:cNvSpPr txBox="1">
            <a:spLocks noChangeArrowheads="1"/>
          </p:cNvSpPr>
          <p:nvPr/>
        </p:nvSpPr>
        <p:spPr bwMode="auto">
          <a:xfrm>
            <a:off x="1141413" y="533400"/>
            <a:ext cx="56911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Addition and multiplication table for Z</a:t>
            </a:r>
            <a:r>
              <a:rPr lang="en-US" sz="2000" baseline="-25000"/>
              <a:t>10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63F8E3B-DDEE-4CA3-9E4F-12179562AFD9}" type="slidenum">
              <a:rPr lang="en-US" i="0">
                <a:latin typeface="Arial" panose="020B0604020202020204" pitchFamily="34" charset="0"/>
              </a:rPr>
              <a:pPr/>
              <a:t>64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288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90" name="Text Box 9"/>
          <p:cNvSpPr txBox="1">
            <a:spLocks noChangeArrowheads="1"/>
          </p:cNvSpPr>
          <p:nvPr/>
        </p:nvSpPr>
        <p:spPr bwMode="auto">
          <a:xfrm>
            <a:off x="1143000" y="0"/>
            <a:ext cx="27193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Different Sets</a:t>
            </a:r>
            <a:r>
              <a:rPr lang="en-US" sz="3200"/>
              <a:t> </a:t>
            </a:r>
          </a:p>
        </p:txBody>
      </p:sp>
      <p:sp>
        <p:nvSpPr>
          <p:cNvPr id="122891" name="Text Box 11"/>
          <p:cNvSpPr txBox="1">
            <a:spLocks noChangeArrowheads="1"/>
          </p:cNvSpPr>
          <p:nvPr/>
        </p:nvSpPr>
        <p:spPr bwMode="auto">
          <a:xfrm>
            <a:off x="1141413" y="533400"/>
            <a:ext cx="34147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Some Z</a:t>
            </a:r>
            <a:r>
              <a:rPr lang="en-US" sz="2000" baseline="-18000"/>
              <a:t>n</a:t>
            </a:r>
            <a:r>
              <a:rPr lang="en-US" sz="2000"/>
              <a:t> and Z</a:t>
            </a:r>
            <a:r>
              <a:rPr lang="en-US" sz="2000" baseline="-18000"/>
              <a:t>n</a:t>
            </a:r>
            <a:r>
              <a:rPr lang="en-US" sz="2000" baseline="-6000"/>
              <a:t>*</a:t>
            </a:r>
            <a:r>
              <a:rPr lang="en-US" sz="2000"/>
              <a:t> sets</a:t>
            </a:r>
            <a:endParaRPr lang="en-US" sz="2000" baseline="-25000"/>
          </a:p>
        </p:txBody>
      </p:sp>
      <p:pic>
        <p:nvPicPr>
          <p:cNvPr id="12289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554788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893" name="Line 13"/>
          <p:cNvSpPr>
            <a:spLocks noChangeShapeType="1"/>
          </p:cNvSpPr>
          <p:nvPr/>
        </p:nvSpPr>
        <p:spPr bwMode="auto">
          <a:xfrm>
            <a:off x="609600" y="4724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894" name="Line 14"/>
          <p:cNvSpPr>
            <a:spLocks noChangeShapeType="1"/>
          </p:cNvSpPr>
          <p:nvPr/>
        </p:nvSpPr>
        <p:spPr bwMode="auto">
          <a:xfrm>
            <a:off x="609600" y="6400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895" name="Rectangle 15"/>
          <p:cNvSpPr>
            <a:spLocks noChangeArrowheads="1"/>
          </p:cNvSpPr>
          <p:nvPr/>
        </p:nvSpPr>
        <p:spPr bwMode="auto">
          <a:xfrm>
            <a:off x="647700" y="4786313"/>
            <a:ext cx="8077200" cy="15700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 dirty="0">
                <a:latin typeface="Arial" panose="020B0604020202020204" pitchFamily="34" charset="0"/>
              </a:rPr>
              <a:t>We need to use Z</a:t>
            </a:r>
            <a:r>
              <a:rPr lang="en-US" sz="3200" baseline="-25000" dirty="0">
                <a:latin typeface="Arial" panose="020B0604020202020204" pitchFamily="34" charset="0"/>
              </a:rPr>
              <a:t>n</a:t>
            </a:r>
            <a:r>
              <a:rPr lang="en-US" sz="3200" dirty="0">
                <a:latin typeface="Arial" panose="020B0604020202020204" pitchFamily="34" charset="0"/>
              </a:rPr>
              <a:t> when additive inverses are needed; we need to use Z</a:t>
            </a:r>
            <a:r>
              <a:rPr lang="en-US" sz="3200" baseline="-25000" dirty="0">
                <a:latin typeface="Arial" panose="020B0604020202020204" pitchFamily="34" charset="0"/>
              </a:rPr>
              <a:t>n</a:t>
            </a:r>
            <a:r>
              <a:rPr lang="en-US" sz="3200" dirty="0">
                <a:latin typeface="Arial" panose="020B0604020202020204" pitchFamily="34" charset="0"/>
              </a:rPr>
              <a:t>* when multiplicative inverses are needed.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5B6780B-055F-406B-8FB4-FF025DEDCB81}" type="slidenum">
              <a:rPr lang="en-US" i="0">
                <a:latin typeface="Arial" panose="020B0604020202020204" pitchFamily="34" charset="0"/>
              </a:rPr>
              <a:pPr/>
              <a:t>65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493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8" name="Text Box 9"/>
          <p:cNvSpPr txBox="1">
            <a:spLocks noChangeArrowheads="1"/>
          </p:cNvSpPr>
          <p:nvPr/>
        </p:nvSpPr>
        <p:spPr bwMode="auto">
          <a:xfrm>
            <a:off x="1143000" y="0"/>
            <a:ext cx="30099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Two More Sets</a:t>
            </a:r>
            <a:r>
              <a:rPr lang="en-US" sz="3200"/>
              <a:t> </a:t>
            </a:r>
          </a:p>
        </p:txBody>
      </p:sp>
      <p:sp>
        <p:nvSpPr>
          <p:cNvPr id="987155" name="Rectangle 19"/>
          <p:cNvSpPr>
            <a:spLocks noChangeArrowheads="1"/>
          </p:cNvSpPr>
          <p:nvPr/>
        </p:nvSpPr>
        <p:spPr bwMode="auto">
          <a:xfrm>
            <a:off x="304800" y="1219200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/>
              <a:t>Cryptography often uses two more sets: Z</a:t>
            </a:r>
            <a:r>
              <a:rPr lang="en-US" sz="2800" baseline="-16000"/>
              <a:t>p</a:t>
            </a:r>
            <a:r>
              <a:rPr lang="en-US" sz="2800"/>
              <a:t> and Z</a:t>
            </a:r>
            <a:r>
              <a:rPr lang="en-US" sz="2800" baseline="-18000"/>
              <a:t>p</a:t>
            </a:r>
            <a:r>
              <a:rPr lang="en-US" sz="2800"/>
              <a:t>*. The modulus in these two sets is a prime number. </a:t>
            </a:r>
          </a:p>
        </p:txBody>
      </p:sp>
      <p:pic>
        <p:nvPicPr>
          <p:cNvPr id="12494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2943225"/>
            <a:ext cx="677227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509312-8880-A840-DF0B-99C1AA972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40735F-1BA7-4411-BA03-952E2D8E0848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3EE29-A24C-9AFC-92B9-D1DB98F1C657}"/>
              </a:ext>
            </a:extLst>
          </p:cNvPr>
          <p:cNvSpPr txBox="1"/>
          <p:nvPr/>
        </p:nvSpPr>
        <p:spPr>
          <a:xfrm>
            <a:off x="3352800" y="2971800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Extra Slides</a:t>
            </a:r>
          </a:p>
        </p:txBody>
      </p:sp>
    </p:spTree>
    <p:extLst>
      <p:ext uri="{BB962C8B-B14F-4D97-AF65-F5344CB8AC3E}">
        <p14:creationId xmlns:p14="http://schemas.microsoft.com/office/powerpoint/2010/main" val="20840621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09064A-2DC6-4B15-8421-AB8B24768E1C}" type="slidenum">
              <a:rPr lang="en-US" i="0">
                <a:latin typeface="Arial" panose="020B0604020202020204" pitchFamily="34" charset="0"/>
              </a:rPr>
              <a:pPr/>
              <a:t>67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53666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3200" i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53667" name="Text Box 3"/>
          <p:cNvSpPr txBox="1">
            <a:spLocks noChangeArrowheads="1"/>
          </p:cNvSpPr>
          <p:nvPr/>
        </p:nvSpPr>
        <p:spPr bwMode="auto">
          <a:xfrm>
            <a:off x="228600" y="406400"/>
            <a:ext cx="26765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   MATRICES</a:t>
            </a:r>
          </a:p>
        </p:txBody>
      </p:sp>
      <p:sp>
        <p:nvSpPr>
          <p:cNvPr id="126981" name="Text Box 4"/>
          <p:cNvSpPr txBox="1">
            <a:spLocks noChangeArrowheads="1"/>
          </p:cNvSpPr>
          <p:nvPr/>
        </p:nvSpPr>
        <p:spPr bwMode="auto">
          <a:xfrm>
            <a:off x="8229600" y="57912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i="0"/>
          </a:p>
        </p:txBody>
      </p:sp>
      <p:sp>
        <p:nvSpPr>
          <p:cNvPr id="753669" name="Rectangle 5"/>
          <p:cNvSpPr>
            <a:spLocks noChangeArrowheads="1"/>
          </p:cNvSpPr>
          <p:nvPr/>
        </p:nvSpPr>
        <p:spPr bwMode="auto">
          <a:xfrm>
            <a:off x="304800" y="1524000"/>
            <a:ext cx="8229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cryptography we need to handle matrices. Although this topic belongs to a special branch of algebra called linear algebra, the following brief review of matrices is necessary preparation for the study of cryptography. </a:t>
            </a:r>
          </a:p>
        </p:txBody>
      </p:sp>
      <p:sp>
        <p:nvSpPr>
          <p:cNvPr id="126983" name="Rectangle 6"/>
          <p:cNvSpPr>
            <a:spLocks noChangeArrowheads="1"/>
          </p:cNvSpPr>
          <p:nvPr/>
        </p:nvSpPr>
        <p:spPr bwMode="auto">
          <a:xfrm>
            <a:off x="304800" y="4438650"/>
            <a:ext cx="6705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1</a:t>
            </a:r>
            <a:r>
              <a:rPr lang="en-US" sz="2400" i="0">
                <a:solidFill>
                  <a:srgbClr val="0033CC"/>
                </a:solidFill>
              </a:rPr>
              <a:t>	Definitions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2</a:t>
            </a:r>
            <a:r>
              <a:rPr lang="fr-FR" sz="2400" i="0">
                <a:solidFill>
                  <a:srgbClr val="0033CC"/>
                </a:solidFill>
              </a:rPr>
              <a:t>	Operations and Relations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3</a:t>
            </a:r>
            <a:r>
              <a:rPr lang="fr-FR" sz="2400" i="0">
                <a:solidFill>
                  <a:srgbClr val="0033CC"/>
                </a:solidFill>
              </a:rPr>
              <a:t>	Determinants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sz="2400" i="0">
                <a:solidFill>
                  <a:schemeClr val="hlink"/>
                </a:solidFill>
              </a:rPr>
              <a:t>4</a:t>
            </a:r>
            <a:r>
              <a:rPr lang="fr-FR" sz="2400" i="0">
                <a:solidFill>
                  <a:srgbClr val="0033CC"/>
                </a:solidFill>
              </a:rPr>
              <a:t>	Residue Matrices</a:t>
            </a:r>
            <a:endParaRPr lang="en-US" sz="2400" i="0">
              <a:solidFill>
                <a:srgbClr val="0033CC"/>
              </a:solidFill>
            </a:endParaRPr>
          </a:p>
        </p:txBody>
      </p:sp>
      <p:sp>
        <p:nvSpPr>
          <p:cNvPr id="753671" name="Text Box 7"/>
          <p:cNvSpPr txBox="1">
            <a:spLocks noChangeArrowheads="1"/>
          </p:cNvSpPr>
          <p:nvPr/>
        </p:nvSpPr>
        <p:spPr bwMode="auto">
          <a:xfrm>
            <a:off x="228600" y="3657600"/>
            <a:ext cx="1247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49FA43-B55F-40AE-87DE-A4CE635D7EFA}" type="slidenum">
              <a:rPr lang="en-US" i="0">
                <a:latin typeface="Arial" panose="020B0604020202020204" pitchFamily="34" charset="0"/>
              </a:rPr>
              <a:pPr/>
              <a:t>68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902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2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2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4" name="Text Box 9"/>
          <p:cNvSpPr txBox="1">
            <a:spLocks noChangeArrowheads="1"/>
          </p:cNvSpPr>
          <p:nvPr/>
        </p:nvSpPr>
        <p:spPr bwMode="auto">
          <a:xfrm>
            <a:off x="1143000" y="0"/>
            <a:ext cx="20177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Definition</a:t>
            </a:r>
            <a:r>
              <a:rPr lang="en-US" sz="3200"/>
              <a:t> </a:t>
            </a:r>
          </a:p>
        </p:txBody>
      </p:sp>
      <p:sp>
        <p:nvSpPr>
          <p:cNvPr id="129035" name="Text Box 13"/>
          <p:cNvSpPr txBox="1">
            <a:spLocks noChangeArrowheads="1"/>
          </p:cNvSpPr>
          <p:nvPr/>
        </p:nvSpPr>
        <p:spPr bwMode="auto">
          <a:xfrm>
            <a:off x="2660650" y="1524000"/>
            <a:ext cx="35242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A matrix of size </a:t>
            </a:r>
            <a:r>
              <a:rPr lang="en-US" sz="2000">
                <a:solidFill>
                  <a:schemeClr val="hlink"/>
                </a:solidFill>
              </a:rPr>
              <a:t>l</a:t>
            </a:r>
            <a:r>
              <a:rPr lang="en-US" sz="2000"/>
              <a:t> </a:t>
            </a:r>
            <a:r>
              <a:rPr lang="en-US" sz="2000">
                <a:latin typeface="Symbol" panose="05050102010706020507" pitchFamily="18" charset="2"/>
              </a:rPr>
              <a:t>´</a:t>
            </a:r>
            <a:r>
              <a:rPr lang="en-US" sz="2000"/>
              <a:t> </a:t>
            </a:r>
            <a:r>
              <a:rPr lang="en-US" sz="2000">
                <a:solidFill>
                  <a:schemeClr val="hlink"/>
                </a:solidFill>
              </a:rPr>
              <a:t>m</a:t>
            </a:r>
          </a:p>
        </p:txBody>
      </p:sp>
      <p:pic>
        <p:nvPicPr>
          <p:cNvPr id="129036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0"/>
            <a:ext cx="5508625" cy="299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BD68F5-99E1-4CFE-A1EE-893A03FD6045}" type="slidenum">
              <a:rPr lang="en-US" i="0">
                <a:latin typeface="Arial" panose="020B0604020202020204" pitchFamily="34" charset="0"/>
              </a:rPr>
              <a:pPr/>
              <a:t>69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107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7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7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7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7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8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8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82" name="Text Box 9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</a:t>
            </a:r>
            <a:r>
              <a:rPr lang="en-US" sz="3200"/>
              <a:t>Continued </a:t>
            </a:r>
          </a:p>
        </p:txBody>
      </p:sp>
      <p:pic>
        <p:nvPicPr>
          <p:cNvPr id="13108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797175"/>
            <a:ext cx="7724775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1084" name="Text Box 14"/>
          <p:cNvSpPr txBox="1">
            <a:spLocks noChangeArrowheads="1"/>
          </p:cNvSpPr>
          <p:nvPr/>
        </p:nvSpPr>
        <p:spPr bwMode="auto">
          <a:xfrm>
            <a:off x="2568575" y="1905000"/>
            <a:ext cx="35544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Examples of matrices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BF92D9-087D-4672-9957-D4CB8A793C86}" type="slidenum">
              <a:rPr lang="en-US" i="0">
                <a:latin typeface="Arial" panose="020B0604020202020204" pitchFamily="34" charset="0"/>
              </a:rPr>
              <a:pPr/>
              <a:t>70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312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30" name="Text Box 9"/>
          <p:cNvSpPr txBox="1">
            <a:spLocks noChangeArrowheads="1"/>
          </p:cNvSpPr>
          <p:nvPr/>
        </p:nvSpPr>
        <p:spPr bwMode="auto">
          <a:xfrm>
            <a:off x="1143000" y="0"/>
            <a:ext cx="48021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Operations and Relations</a:t>
            </a:r>
            <a:r>
              <a:rPr lang="en-US" sz="3200"/>
              <a:t> </a:t>
            </a:r>
          </a:p>
        </p:txBody>
      </p:sp>
      <p:sp>
        <p:nvSpPr>
          <p:cNvPr id="995338" name="Rectangle 10"/>
          <p:cNvSpPr>
            <a:spLocks noChangeArrowheads="1"/>
          </p:cNvSpPr>
          <p:nvPr/>
        </p:nvSpPr>
        <p:spPr bwMode="auto">
          <a:xfrm>
            <a:off x="609600" y="1524000"/>
            <a:ext cx="8229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shows an example of addition and subtraction.</a:t>
            </a:r>
          </a:p>
        </p:txBody>
      </p:sp>
      <p:sp>
        <p:nvSpPr>
          <p:cNvPr id="133132" name="Text Box 13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33133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429000"/>
            <a:ext cx="550227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34" name="Text Box 15"/>
          <p:cNvSpPr txBox="1">
            <a:spLocks noChangeArrowheads="1"/>
          </p:cNvSpPr>
          <p:nvPr/>
        </p:nvSpPr>
        <p:spPr bwMode="auto">
          <a:xfrm>
            <a:off x="1905000" y="2743200"/>
            <a:ext cx="53022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Addition and subtraction of matrices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0AA50E-091A-45C9-AEA6-8C8E74A96898}" type="slidenum">
              <a:rPr lang="en-US" i="0">
                <a:latin typeface="Arial" panose="020B0604020202020204" pitchFamily="34" charset="0"/>
              </a:rPr>
              <a:pPr/>
              <a:t>71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517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8" name="Text Box 9"/>
          <p:cNvSpPr txBox="1">
            <a:spLocks noChangeArrowheads="1"/>
          </p:cNvSpPr>
          <p:nvPr/>
        </p:nvSpPr>
        <p:spPr bwMode="auto">
          <a:xfrm>
            <a:off x="1143000" y="0"/>
            <a:ext cx="2373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 </a:t>
            </a:r>
          </a:p>
        </p:txBody>
      </p:sp>
      <p:sp>
        <p:nvSpPr>
          <p:cNvPr id="997386" name="Rectangle 10"/>
          <p:cNvSpPr>
            <a:spLocks noChangeArrowheads="1"/>
          </p:cNvSpPr>
          <p:nvPr/>
        </p:nvSpPr>
        <p:spPr bwMode="auto">
          <a:xfrm>
            <a:off x="304800" y="11430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 shows the product of a row matrix (1 × 3) by a column matrix (3 × 1). The result is a matrix of size 1 × 1.</a:t>
            </a:r>
          </a:p>
        </p:txBody>
      </p:sp>
      <p:sp>
        <p:nvSpPr>
          <p:cNvPr id="135180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35181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850" y="3630613"/>
            <a:ext cx="3994150" cy="223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5182" name="Text Box 15"/>
          <p:cNvSpPr txBox="1">
            <a:spLocks noChangeArrowheads="1"/>
          </p:cNvSpPr>
          <p:nvPr/>
        </p:nvSpPr>
        <p:spPr bwMode="auto">
          <a:xfrm>
            <a:off x="1003300" y="2895600"/>
            <a:ext cx="66738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Multiplication of a row matrix by a column matrix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FA3AB6-1313-4893-82D4-67ABE6CFCC5C}" type="slidenum">
              <a:rPr lang="en-US" i="0">
                <a:latin typeface="Arial" panose="020B0604020202020204" pitchFamily="34" charset="0"/>
              </a:rPr>
              <a:pPr/>
              <a:t>72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721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6" name="Text Box 9"/>
          <p:cNvSpPr txBox="1">
            <a:spLocks noChangeArrowheads="1"/>
          </p:cNvSpPr>
          <p:nvPr/>
        </p:nvSpPr>
        <p:spPr bwMode="auto">
          <a:xfrm>
            <a:off x="1143000" y="0"/>
            <a:ext cx="2373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 </a:t>
            </a:r>
          </a:p>
        </p:txBody>
      </p:sp>
      <p:sp>
        <p:nvSpPr>
          <p:cNvPr id="999434" name="Rectangle 10"/>
          <p:cNvSpPr>
            <a:spLocks noChangeArrowheads="1"/>
          </p:cNvSpPr>
          <p:nvPr/>
        </p:nvSpPr>
        <p:spPr bwMode="auto">
          <a:xfrm>
            <a:off x="304800" y="1355725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shows the product of a 2 × 3 matrix by a </a:t>
            </a:r>
            <a:br>
              <a:rPr lang="en-US" sz="2800" dirty="0"/>
            </a:br>
            <a:r>
              <a:rPr lang="en-US" sz="2800" dirty="0"/>
              <a:t>3 × 4 matrix. The result is a 2 × 4 matrix.</a:t>
            </a:r>
          </a:p>
        </p:txBody>
      </p:sp>
      <p:sp>
        <p:nvSpPr>
          <p:cNvPr id="137228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1003300" y="2895600"/>
            <a:ext cx="6616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Multiplication of a 2 × 3 matrix by a 3 × 4 matrix</a:t>
            </a:r>
          </a:p>
        </p:txBody>
      </p:sp>
      <p:pic>
        <p:nvPicPr>
          <p:cNvPr id="137230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3810000"/>
            <a:ext cx="7513637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0CEFB4-716B-4D5E-9DE8-819A00D94408}" type="slidenum">
              <a:rPr lang="en-US" i="0">
                <a:latin typeface="Arial" panose="020B0604020202020204" pitchFamily="34" charset="0"/>
              </a:rPr>
              <a:pPr/>
              <a:t>73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926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6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6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4" name="Text Box 9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 </a:t>
            </a:r>
          </a:p>
        </p:txBody>
      </p:sp>
      <p:sp>
        <p:nvSpPr>
          <p:cNvPr id="1001482" name="Rectangle 10"/>
          <p:cNvSpPr>
            <a:spLocks noChangeArrowheads="1"/>
          </p:cNvSpPr>
          <p:nvPr/>
        </p:nvSpPr>
        <p:spPr bwMode="auto">
          <a:xfrm>
            <a:off x="304800" y="1566863"/>
            <a:ext cx="8229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shows an example of scalar multiplication.</a:t>
            </a:r>
          </a:p>
        </p:txBody>
      </p:sp>
      <p:sp>
        <p:nvSpPr>
          <p:cNvPr id="139276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39277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8" y="3817938"/>
            <a:ext cx="5697537" cy="159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9278" name="Text Box 15"/>
          <p:cNvSpPr txBox="1">
            <a:spLocks noChangeArrowheads="1"/>
          </p:cNvSpPr>
          <p:nvPr/>
        </p:nvSpPr>
        <p:spPr bwMode="auto">
          <a:xfrm>
            <a:off x="2466975" y="3048000"/>
            <a:ext cx="34274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Scalar multiplication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D3BA05-F052-4DA7-97F5-99E681839F80}" type="slidenum">
              <a:rPr lang="en-US" i="0">
                <a:latin typeface="Arial" panose="020B0604020202020204" pitchFamily="34" charset="0"/>
              </a:rPr>
              <a:pPr/>
              <a:t>74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131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1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1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1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1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2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2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22" name="Text Box 9"/>
          <p:cNvSpPr txBox="1">
            <a:spLocks noChangeArrowheads="1"/>
          </p:cNvSpPr>
          <p:nvPr/>
        </p:nvSpPr>
        <p:spPr bwMode="auto">
          <a:xfrm>
            <a:off x="1143000" y="0"/>
            <a:ext cx="27384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Determinant</a:t>
            </a:r>
            <a:r>
              <a:rPr lang="en-US" sz="3200"/>
              <a:t> </a:t>
            </a:r>
          </a:p>
        </p:txBody>
      </p:sp>
      <p:sp>
        <p:nvSpPr>
          <p:cNvPr id="1003530" name="Rectangle 10"/>
          <p:cNvSpPr>
            <a:spLocks noChangeArrowheads="1"/>
          </p:cNvSpPr>
          <p:nvPr/>
        </p:nvSpPr>
        <p:spPr bwMode="auto">
          <a:xfrm>
            <a:off x="304800" y="989013"/>
            <a:ext cx="82296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/>
              <a:t>The determinant of a square matrix A of size m × m denoted as det (A) is a scalar calculated recursively as shown below:</a:t>
            </a:r>
          </a:p>
        </p:txBody>
      </p:sp>
      <p:sp>
        <p:nvSpPr>
          <p:cNvPr id="141324" name="Line 14"/>
          <p:cNvSpPr>
            <a:spLocks noChangeShapeType="1"/>
          </p:cNvSpPr>
          <p:nvPr/>
        </p:nvSpPr>
        <p:spPr bwMode="auto">
          <a:xfrm>
            <a:off x="609600" y="5257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1325" name="Line 15"/>
          <p:cNvSpPr>
            <a:spLocks noChangeShapeType="1"/>
          </p:cNvSpPr>
          <p:nvPr/>
        </p:nvSpPr>
        <p:spPr bwMode="auto">
          <a:xfrm>
            <a:off x="609600" y="647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1326" name="Rectangle 16"/>
          <p:cNvSpPr>
            <a:spLocks noChangeArrowheads="1"/>
          </p:cNvSpPr>
          <p:nvPr/>
        </p:nvSpPr>
        <p:spPr bwMode="auto">
          <a:xfrm>
            <a:off x="647700" y="5319713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The determinant is defined only for a square matrix.</a:t>
            </a:r>
          </a:p>
        </p:txBody>
      </p:sp>
      <p:pic>
        <p:nvPicPr>
          <p:cNvPr id="141327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" y="2362200"/>
            <a:ext cx="690403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1328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916363"/>
            <a:ext cx="50673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1329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29000"/>
            <a:ext cx="50292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DECE166-A2DD-4087-B4D8-77D124E755DB}" type="slidenum">
              <a:rPr lang="en-US" i="0">
                <a:latin typeface="Arial" panose="020B0604020202020204" pitchFamily="34" charset="0"/>
              </a:rPr>
              <a:pPr/>
              <a:t>75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336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70" name="Text Box 9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</a:t>
            </a:r>
            <a:r>
              <a:rPr lang="en-US" sz="3200"/>
              <a:t>Continued </a:t>
            </a:r>
          </a:p>
        </p:txBody>
      </p:sp>
      <p:sp>
        <p:nvSpPr>
          <p:cNvPr id="1005578" name="Rectangle 10"/>
          <p:cNvSpPr>
            <a:spLocks noChangeArrowheads="1"/>
          </p:cNvSpPr>
          <p:nvPr/>
        </p:nvSpPr>
        <p:spPr bwMode="auto">
          <a:xfrm>
            <a:off x="304800" y="11430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 shows how we can calculate the determinant of a 2 × 2 matrix based on the determinant of a 1 × 1 matrix. </a:t>
            </a:r>
          </a:p>
        </p:txBody>
      </p:sp>
      <p:sp>
        <p:nvSpPr>
          <p:cNvPr id="143372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4337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3505200"/>
            <a:ext cx="86931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74" name="Text Box 16"/>
          <p:cNvSpPr txBox="1">
            <a:spLocks noChangeArrowheads="1"/>
          </p:cNvSpPr>
          <p:nvPr/>
        </p:nvSpPr>
        <p:spPr bwMode="auto">
          <a:xfrm>
            <a:off x="1219200" y="2819400"/>
            <a:ext cx="62261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Calculating the determinant of a 2 </a:t>
            </a:r>
            <a:r>
              <a:rPr lang="en-US" sz="2000">
                <a:latin typeface="Symbol" panose="05050102010706020507" pitchFamily="18" charset="2"/>
              </a:rPr>
              <a:t>´</a:t>
            </a:r>
            <a:r>
              <a:rPr lang="en-US" sz="2000"/>
              <a:t> 2 matrix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8000B5-B888-4038-B6CB-9336C913E179}" type="slidenum">
              <a:rPr lang="en-US" i="0">
                <a:latin typeface="Arial" panose="020B0604020202020204" pitchFamily="34" charset="0"/>
              </a:rPr>
              <a:pPr/>
              <a:t>76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541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8" name="Text Box 9"/>
          <p:cNvSpPr txBox="1">
            <a:spLocks noChangeArrowheads="1"/>
          </p:cNvSpPr>
          <p:nvPr/>
        </p:nvSpPr>
        <p:spPr bwMode="auto">
          <a:xfrm>
            <a:off x="1143000" y="0"/>
            <a:ext cx="2373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 </a:t>
            </a:r>
          </a:p>
        </p:txBody>
      </p:sp>
      <p:sp>
        <p:nvSpPr>
          <p:cNvPr id="1007626" name="Rectangle 10"/>
          <p:cNvSpPr>
            <a:spLocks noChangeArrowheads="1"/>
          </p:cNvSpPr>
          <p:nvPr/>
        </p:nvSpPr>
        <p:spPr bwMode="auto">
          <a:xfrm>
            <a:off x="304800" y="1219200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 shows the calculation of the determinant of a 3 × 3 matrix.</a:t>
            </a:r>
          </a:p>
        </p:txBody>
      </p:sp>
      <p:sp>
        <p:nvSpPr>
          <p:cNvPr id="145420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45421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3282950"/>
            <a:ext cx="7980363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5422" name="Text Box 15"/>
          <p:cNvSpPr txBox="1">
            <a:spLocks noChangeArrowheads="1"/>
          </p:cNvSpPr>
          <p:nvPr/>
        </p:nvSpPr>
        <p:spPr bwMode="auto">
          <a:xfrm>
            <a:off x="1219200" y="2514600"/>
            <a:ext cx="61483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Calculating the determinant of a 3 </a:t>
            </a:r>
            <a:r>
              <a:rPr lang="en-US" sz="2000">
                <a:latin typeface="Symbol" panose="05050102010706020507" pitchFamily="18" charset="2"/>
              </a:rPr>
              <a:t>´</a:t>
            </a:r>
            <a:r>
              <a:rPr lang="en-US" sz="2000"/>
              <a:t> 3 matrix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F08FE51-E94D-42C6-8CF2-B22491E03A76}" type="slidenum">
              <a:rPr lang="en-US" i="0">
                <a:latin typeface="Arial" panose="020B0604020202020204" pitchFamily="34" charset="0"/>
              </a:rPr>
              <a:pPr/>
              <a:t>77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745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6" name="Text Box 9"/>
          <p:cNvSpPr txBox="1">
            <a:spLocks noChangeArrowheads="1"/>
          </p:cNvSpPr>
          <p:nvPr/>
        </p:nvSpPr>
        <p:spPr bwMode="auto">
          <a:xfrm>
            <a:off x="1143000" y="0"/>
            <a:ext cx="20113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Inverses</a:t>
            </a:r>
            <a:r>
              <a:rPr lang="en-US" sz="3200"/>
              <a:t> </a:t>
            </a: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>
            <a:off x="609600" y="2514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68" name="Line 12"/>
          <p:cNvSpPr>
            <a:spLocks noChangeShapeType="1"/>
          </p:cNvSpPr>
          <p:nvPr/>
        </p:nvSpPr>
        <p:spPr bwMode="auto">
          <a:xfrm>
            <a:off x="609600" y="3733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69" name="Rectangle 13"/>
          <p:cNvSpPr>
            <a:spLocks noChangeArrowheads="1"/>
          </p:cNvSpPr>
          <p:nvPr/>
        </p:nvSpPr>
        <p:spPr bwMode="auto">
          <a:xfrm>
            <a:off x="647700" y="2576513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Multiplicative inverses are only defined for square matrices.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2E7E1A-3F8C-4137-A4B7-D604B666BFA8}" type="slidenum">
              <a:rPr lang="en-US" i="0">
                <a:latin typeface="Arial" panose="020B0604020202020204" pitchFamily="34" charset="0"/>
              </a:rPr>
              <a:pPr/>
              <a:t>78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950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0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0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4" name="Text Box 9"/>
          <p:cNvSpPr txBox="1">
            <a:spLocks noChangeArrowheads="1"/>
          </p:cNvSpPr>
          <p:nvPr/>
        </p:nvSpPr>
        <p:spPr bwMode="auto">
          <a:xfrm>
            <a:off x="1143000" y="0"/>
            <a:ext cx="35290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Residue Matrices</a:t>
            </a:r>
            <a:r>
              <a:rPr lang="en-US" sz="3200"/>
              <a:t> </a:t>
            </a:r>
          </a:p>
        </p:txBody>
      </p:sp>
      <p:sp>
        <p:nvSpPr>
          <p:cNvPr id="1013770" name="Rectangle 10"/>
          <p:cNvSpPr>
            <a:spLocks noChangeArrowheads="1"/>
          </p:cNvSpPr>
          <p:nvPr/>
        </p:nvSpPr>
        <p:spPr bwMode="auto">
          <a:xfrm>
            <a:off x="304800" y="9144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Cryptography uses residue matrices: matrices where all elements are in Z</a:t>
            </a:r>
            <a:r>
              <a:rPr lang="en-US" sz="2800" baseline="-18000" dirty="0"/>
              <a:t>n</a:t>
            </a:r>
            <a:r>
              <a:rPr lang="en-US" sz="2800" dirty="0"/>
              <a:t>. A residue matrix </a:t>
            </a:r>
            <a:r>
              <a:rPr lang="en-US" sz="2800" dirty="0">
                <a:solidFill>
                  <a:srgbClr val="FF0000"/>
                </a:solidFill>
              </a:rPr>
              <a:t>has</a:t>
            </a:r>
            <a:r>
              <a:rPr lang="en-US" sz="2800" dirty="0"/>
              <a:t> a multiplicative inverse if </a:t>
            </a:r>
            <a:r>
              <a:rPr lang="en-US" sz="2800" dirty="0" err="1"/>
              <a:t>gcd</a:t>
            </a:r>
            <a:r>
              <a:rPr lang="en-US" sz="2800" dirty="0"/>
              <a:t> (</a:t>
            </a:r>
            <a:r>
              <a:rPr lang="en-US" sz="2800" dirty="0" err="1"/>
              <a:t>det</a:t>
            </a:r>
            <a:r>
              <a:rPr lang="en-US" sz="2800" dirty="0"/>
              <a:t>(A), n) = 1.</a:t>
            </a:r>
          </a:p>
        </p:txBody>
      </p:sp>
      <p:sp>
        <p:nvSpPr>
          <p:cNvPr id="149516" name="Text Box 17"/>
          <p:cNvSpPr txBox="1">
            <a:spLocks noChangeArrowheads="1"/>
          </p:cNvSpPr>
          <p:nvPr/>
        </p:nvSpPr>
        <p:spPr bwMode="auto">
          <a:xfrm>
            <a:off x="381000" y="2819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49517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0" y="4267200"/>
            <a:ext cx="6051550" cy="209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9518" name="Text Box 19"/>
          <p:cNvSpPr txBox="1">
            <a:spLocks noChangeArrowheads="1"/>
          </p:cNvSpPr>
          <p:nvPr/>
        </p:nvSpPr>
        <p:spPr bwMode="auto">
          <a:xfrm>
            <a:off x="1546225" y="3581400"/>
            <a:ext cx="67040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A residue matrix and its multiplicative inverse in Z</a:t>
            </a:r>
            <a:r>
              <a:rPr lang="en-US" sz="2000" baseline="-25000"/>
              <a:t>26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544053E-8418-4D02-9CD0-2113D5532797}" type="slidenum">
              <a:rPr lang="en-US" i="0">
                <a:latin typeface="Arial" panose="020B0604020202020204" pitchFamily="34" charset="0"/>
              </a:rPr>
              <a:pPr/>
              <a:t>79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847874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3200" i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847875" name="Text Box 3"/>
          <p:cNvSpPr txBox="1">
            <a:spLocks noChangeArrowheads="1"/>
          </p:cNvSpPr>
          <p:nvPr/>
        </p:nvSpPr>
        <p:spPr bwMode="auto">
          <a:xfrm>
            <a:off x="228600" y="406400"/>
            <a:ext cx="53641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   LINEAR CONGRUENCE</a:t>
            </a:r>
          </a:p>
        </p:txBody>
      </p:sp>
      <p:sp>
        <p:nvSpPr>
          <p:cNvPr id="151557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i="0"/>
          </a:p>
        </p:txBody>
      </p:sp>
      <p:sp>
        <p:nvSpPr>
          <p:cNvPr id="847877" name="Rectangle 5"/>
          <p:cNvSpPr>
            <a:spLocks noChangeArrowheads="1"/>
          </p:cNvSpPr>
          <p:nvPr/>
        </p:nvSpPr>
        <p:spPr bwMode="auto">
          <a:xfrm>
            <a:off x="304800" y="1374775"/>
            <a:ext cx="8229600" cy="224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Cryptography often involves solving an equation or a set of equations of one or more variables with coefficient in Z</a:t>
            </a:r>
            <a:r>
              <a:rPr lang="en-US" sz="2800" baseline="-25000" dirty="0"/>
              <a:t>n</a:t>
            </a:r>
            <a:r>
              <a:rPr lang="en-US" sz="2800" dirty="0"/>
              <a:t>. Here, we shall discuss  how to solve equations when the power of each variable is 1 (linear equation).</a:t>
            </a:r>
          </a:p>
        </p:txBody>
      </p:sp>
      <p:sp>
        <p:nvSpPr>
          <p:cNvPr id="151559" name="Rectangle 6"/>
          <p:cNvSpPr>
            <a:spLocks noChangeArrowheads="1"/>
          </p:cNvSpPr>
          <p:nvPr/>
        </p:nvSpPr>
        <p:spPr bwMode="auto">
          <a:xfrm>
            <a:off x="304800" y="4968875"/>
            <a:ext cx="67056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1</a:t>
            </a:r>
            <a:r>
              <a:rPr lang="en-US" sz="2400" i="0">
                <a:solidFill>
                  <a:srgbClr val="0033CC"/>
                </a:solidFill>
              </a:rPr>
              <a:t>	Single-Variable Linear Equations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2</a:t>
            </a:r>
            <a:r>
              <a:rPr lang="fr-FR" sz="2400" i="0">
                <a:solidFill>
                  <a:srgbClr val="0033CC"/>
                </a:solidFill>
              </a:rPr>
              <a:t>	Set of Linear Equations</a:t>
            </a:r>
            <a:endParaRPr lang="en-US" sz="2400" i="0">
              <a:solidFill>
                <a:srgbClr val="0033CC"/>
              </a:solidFill>
            </a:endParaRPr>
          </a:p>
        </p:txBody>
      </p:sp>
      <p:sp>
        <p:nvSpPr>
          <p:cNvPr id="847879" name="Text Box 7"/>
          <p:cNvSpPr txBox="1">
            <a:spLocks noChangeArrowheads="1"/>
          </p:cNvSpPr>
          <p:nvPr/>
        </p:nvSpPr>
        <p:spPr bwMode="auto">
          <a:xfrm>
            <a:off x="304800" y="4267200"/>
            <a:ext cx="1247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Topics: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C88E8F-2FEB-4CDE-8CB6-19B799BF0BE3}" type="slidenum">
              <a:rPr lang="en-US" i="0">
                <a:latin typeface="Arial" panose="020B0604020202020204" pitchFamily="34" charset="0"/>
              </a:rPr>
              <a:pPr/>
              <a:t>80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5360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10" name="Text Box 9"/>
          <p:cNvSpPr txBox="1">
            <a:spLocks noChangeArrowheads="1"/>
          </p:cNvSpPr>
          <p:nvPr/>
        </p:nvSpPr>
        <p:spPr bwMode="auto">
          <a:xfrm>
            <a:off x="1143000" y="0"/>
            <a:ext cx="60896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Single-Variable Linear Equations</a:t>
            </a:r>
          </a:p>
        </p:txBody>
      </p:sp>
      <p:sp>
        <p:nvSpPr>
          <p:cNvPr id="1017866" name="Rectangle 10"/>
          <p:cNvSpPr>
            <a:spLocks noChangeArrowheads="1"/>
          </p:cNvSpPr>
          <p:nvPr/>
        </p:nvSpPr>
        <p:spPr bwMode="auto">
          <a:xfrm>
            <a:off x="304800" y="1219200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/>
              <a:t>Equations of the form ax ≡ b (mod n ) might have no solution or a limited number of solutions.</a:t>
            </a:r>
          </a:p>
        </p:txBody>
      </p:sp>
      <p:pic>
        <p:nvPicPr>
          <p:cNvPr id="153612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962400"/>
            <a:ext cx="39147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3613" name="Group 18"/>
          <p:cNvGrpSpPr>
            <a:grpSpLocks/>
          </p:cNvGrpSpPr>
          <p:nvPr/>
        </p:nvGrpSpPr>
        <p:grpSpPr bwMode="auto">
          <a:xfrm>
            <a:off x="685800" y="5029200"/>
            <a:ext cx="4037013" cy="368300"/>
            <a:chOff x="336" y="2256"/>
            <a:chExt cx="2543" cy="232"/>
          </a:xfrm>
        </p:grpSpPr>
        <p:pic>
          <p:nvPicPr>
            <p:cNvPr id="153615" name="Picture 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2256"/>
              <a:ext cx="607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616" name="Picture 1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2256"/>
              <a:ext cx="1967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53614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667000"/>
            <a:ext cx="4514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657071E-CE29-4123-8792-82777C963741}" type="slidenum">
              <a:rPr lang="en-US" i="0">
                <a:latin typeface="Arial" panose="020B0604020202020204" pitchFamily="34" charset="0"/>
              </a:rPr>
              <a:pPr/>
              <a:t>81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55651" name="Text Box 2"/>
          <p:cNvSpPr txBox="1">
            <a:spLocks noChangeArrowheads="1"/>
          </p:cNvSpPr>
          <p:nvPr/>
        </p:nvSpPr>
        <p:spPr bwMode="auto">
          <a:xfrm>
            <a:off x="381000" y="10668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5565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9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</a:t>
            </a:r>
          </a:p>
        </p:txBody>
      </p:sp>
      <p:sp>
        <p:nvSpPr>
          <p:cNvPr id="1024011" name="Rectangle 11"/>
          <p:cNvSpPr>
            <a:spLocks noChangeArrowheads="1"/>
          </p:cNvSpPr>
          <p:nvPr/>
        </p:nvSpPr>
        <p:spPr bwMode="auto">
          <a:xfrm>
            <a:off x="304800" y="1614488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Solve the equation 10 </a:t>
            </a:r>
            <a:r>
              <a:rPr lang="en-US" sz="2400"/>
              <a:t>x</a:t>
            </a:r>
            <a:r>
              <a:rPr lang="en-US" sz="2400" i="0"/>
              <a:t> ≡ 2(mod 15).</a:t>
            </a:r>
          </a:p>
        </p:txBody>
      </p:sp>
      <p:sp>
        <p:nvSpPr>
          <p:cNvPr id="1024012" name="Rectangle 12"/>
          <p:cNvSpPr>
            <a:spLocks noChangeArrowheads="1"/>
          </p:cNvSpPr>
          <p:nvPr/>
        </p:nvSpPr>
        <p:spPr bwMode="auto">
          <a:xfrm>
            <a:off x="304800" y="2147888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1024013" name="Rectangle 13"/>
          <p:cNvSpPr>
            <a:spLocks noChangeArrowheads="1"/>
          </p:cNvSpPr>
          <p:nvPr/>
        </p:nvSpPr>
        <p:spPr bwMode="auto">
          <a:xfrm>
            <a:off x="304800" y="25261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First we find the gcd (10 and 15) = 5. Since 5 does not divide 2, we have no solution.</a:t>
            </a:r>
          </a:p>
        </p:txBody>
      </p:sp>
      <p:sp>
        <p:nvSpPr>
          <p:cNvPr id="1024014" name="Rectangle 14"/>
          <p:cNvSpPr>
            <a:spLocks noChangeArrowheads="1"/>
          </p:cNvSpPr>
          <p:nvPr/>
        </p:nvSpPr>
        <p:spPr bwMode="auto">
          <a:xfrm>
            <a:off x="304800" y="3733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Solve the equation 14 </a:t>
            </a:r>
            <a:r>
              <a:rPr lang="en-US" sz="2400"/>
              <a:t>x </a:t>
            </a:r>
            <a:r>
              <a:rPr lang="en-US" sz="2400" i="0"/>
              <a:t>≡ 12 (mod 18).</a:t>
            </a:r>
          </a:p>
        </p:txBody>
      </p:sp>
      <p:sp>
        <p:nvSpPr>
          <p:cNvPr id="1024015" name="Rectangle 15"/>
          <p:cNvSpPr>
            <a:spLocks noChangeArrowheads="1"/>
          </p:cNvSpPr>
          <p:nvPr/>
        </p:nvSpPr>
        <p:spPr bwMode="auto">
          <a:xfrm>
            <a:off x="304800" y="4343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155665" name="Text Box 17"/>
          <p:cNvSpPr txBox="1">
            <a:spLocks noChangeArrowheads="1"/>
          </p:cNvSpPr>
          <p:nvPr/>
        </p:nvSpPr>
        <p:spPr bwMode="auto">
          <a:xfrm>
            <a:off x="381000" y="33528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5566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876800"/>
            <a:ext cx="870585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C09195-01CA-42F9-8B55-5DE96991DEC6}" type="slidenum">
              <a:rPr lang="en-US" i="0" smtClean="0">
                <a:latin typeface="Arial" panose="020B0604020202020204" pitchFamily="34" charset="0"/>
              </a:rPr>
              <a:pPr/>
              <a:t>82</a:t>
            </a:fld>
            <a:endParaRPr lang="en-US" i="0" dirty="0">
              <a:latin typeface="Arial" panose="020B0604020202020204" pitchFamily="34" charset="0"/>
            </a:endParaRPr>
          </a:p>
        </p:txBody>
      </p:sp>
      <p:sp>
        <p:nvSpPr>
          <p:cNvPr id="15769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5770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</a:t>
            </a:r>
          </a:p>
        </p:txBody>
      </p:sp>
      <p:sp>
        <p:nvSpPr>
          <p:cNvPr id="1028107" name="Rectangle 11"/>
          <p:cNvSpPr>
            <a:spLocks noChangeArrowheads="1"/>
          </p:cNvSpPr>
          <p:nvPr/>
        </p:nvSpPr>
        <p:spPr bwMode="auto">
          <a:xfrm>
            <a:off x="304800" y="1219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Solve the equation 3</a:t>
            </a:r>
            <a:r>
              <a:rPr lang="en-US" sz="2400"/>
              <a:t>x</a:t>
            </a:r>
            <a:r>
              <a:rPr lang="en-US" sz="2400" i="0"/>
              <a:t> + 4 ≡ 6 (mod 13).</a:t>
            </a:r>
          </a:p>
        </p:txBody>
      </p:sp>
      <p:sp>
        <p:nvSpPr>
          <p:cNvPr id="1028108" name="Rectangle 12"/>
          <p:cNvSpPr>
            <a:spLocks noChangeArrowheads="1"/>
          </p:cNvSpPr>
          <p:nvPr/>
        </p:nvSpPr>
        <p:spPr bwMode="auto">
          <a:xfrm>
            <a:off x="457200" y="2133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1028109" name="Rectangle 13"/>
          <p:cNvSpPr>
            <a:spLocks noChangeArrowheads="1"/>
          </p:cNvSpPr>
          <p:nvPr/>
        </p:nvSpPr>
        <p:spPr bwMode="auto">
          <a:xfrm>
            <a:off x="304800" y="3152775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en-US" sz="2400" i="0"/>
          </a:p>
        </p:txBody>
      </p:sp>
      <p:sp>
        <p:nvSpPr>
          <p:cNvPr id="1028111" name="Rectangle 15"/>
          <p:cNvSpPr>
            <a:spLocks noChangeArrowheads="1"/>
          </p:cNvSpPr>
          <p:nvPr/>
        </p:nvSpPr>
        <p:spPr bwMode="auto">
          <a:xfrm>
            <a:off x="457200" y="2551064"/>
            <a:ext cx="8229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First we change the equation to the form </a:t>
            </a:r>
            <a:r>
              <a:rPr lang="en-US" sz="2400"/>
              <a:t>ax</a:t>
            </a:r>
            <a:r>
              <a:rPr lang="en-US" sz="2400" i="0"/>
              <a:t> ≡ </a:t>
            </a:r>
            <a:r>
              <a:rPr lang="en-US" sz="2400"/>
              <a:t>b</a:t>
            </a:r>
            <a:r>
              <a:rPr lang="en-US" sz="2400" i="0"/>
              <a:t> (mod </a:t>
            </a:r>
            <a:r>
              <a:rPr lang="en-US" sz="2400"/>
              <a:t>n</a:t>
            </a:r>
            <a:r>
              <a:rPr lang="en-US" sz="2400" i="0"/>
              <a:t>). We add −4 (the additive inverse of 4) to both sides, which give </a:t>
            </a:r>
            <a:br>
              <a:rPr lang="en-US" sz="2400" i="0"/>
            </a:br>
            <a:r>
              <a:rPr lang="en-US" sz="2400" i="0"/>
              <a:t>3</a:t>
            </a:r>
            <a:r>
              <a:rPr lang="en-US" sz="2400"/>
              <a:t>x</a:t>
            </a:r>
            <a:r>
              <a:rPr lang="en-US" sz="2400" i="0"/>
              <a:t> ≡ 2 (mod 13). Because gcd (3, 13) = 1, the equation has only one solution, which is </a:t>
            </a:r>
            <a:r>
              <a:rPr lang="en-US" sz="2400"/>
              <a:t>x</a:t>
            </a:r>
            <a:r>
              <a:rPr lang="en-US" sz="2400" i="0" baseline="-18000"/>
              <a:t>0</a:t>
            </a:r>
            <a:r>
              <a:rPr lang="en-US" sz="2400" i="0"/>
              <a:t> = (2 × 3</a:t>
            </a:r>
            <a:r>
              <a:rPr lang="en-US" sz="2400" i="0" baseline="28000"/>
              <a:t>−1</a:t>
            </a:r>
            <a:r>
              <a:rPr lang="en-US" sz="2400" i="0"/>
              <a:t>) mod 13 = 18 mod 13 = 5. We can see that the answer satisfies the original equation: </a:t>
            </a:r>
            <a:br>
              <a:rPr lang="en-US" sz="2400" i="0"/>
            </a:br>
            <a:r>
              <a:rPr lang="en-US" sz="2400" i="0"/>
              <a:t>3 × 5 + 4 ≡ 6 (mod 13).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7E4F94-12E7-4636-855E-0E48733E8432}" type="slidenum">
              <a:rPr lang="en-US" i="0">
                <a:latin typeface="Arial" panose="020B0604020202020204" pitchFamily="34" charset="0"/>
              </a:rPr>
              <a:pPr/>
              <a:t>83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5974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4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4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4" name="Text Box 9"/>
          <p:cNvSpPr txBox="1">
            <a:spLocks noChangeArrowheads="1"/>
          </p:cNvSpPr>
          <p:nvPr/>
        </p:nvSpPr>
        <p:spPr bwMode="auto">
          <a:xfrm>
            <a:off x="1143000" y="0"/>
            <a:ext cx="63976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Single-Variable Linear Equations</a:t>
            </a:r>
          </a:p>
        </p:txBody>
      </p:sp>
      <p:sp>
        <p:nvSpPr>
          <p:cNvPr id="1030154" name="Rectangle 10"/>
          <p:cNvSpPr>
            <a:spLocks noChangeArrowheads="1"/>
          </p:cNvSpPr>
          <p:nvPr/>
        </p:nvSpPr>
        <p:spPr bwMode="auto">
          <a:xfrm>
            <a:off x="304800" y="9144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/>
              <a:t>We can also solve a set of linear equations with the same modulus if the matrix formed from the coefficients of the variables is invertible. </a:t>
            </a:r>
          </a:p>
        </p:txBody>
      </p:sp>
      <p:sp>
        <p:nvSpPr>
          <p:cNvPr id="159756" name="Text Box 17"/>
          <p:cNvSpPr txBox="1">
            <a:spLocks noChangeArrowheads="1"/>
          </p:cNvSpPr>
          <p:nvPr/>
        </p:nvSpPr>
        <p:spPr bwMode="auto">
          <a:xfrm>
            <a:off x="2538413" y="2362200"/>
            <a:ext cx="36623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Set of linear equations</a:t>
            </a:r>
          </a:p>
        </p:txBody>
      </p:sp>
      <p:pic>
        <p:nvPicPr>
          <p:cNvPr id="15975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19400"/>
            <a:ext cx="7181850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216037-8865-43BA-8BDA-F1A5956DD510}" type="slidenum">
              <a:rPr lang="en-US" i="0">
                <a:latin typeface="Arial" panose="020B0604020202020204" pitchFamily="34" charset="0"/>
              </a:rPr>
              <a:pPr/>
              <a:t>84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1795" name="Text Box 2"/>
          <p:cNvSpPr txBox="1">
            <a:spLocks noChangeArrowheads="1"/>
          </p:cNvSpPr>
          <p:nvPr/>
        </p:nvSpPr>
        <p:spPr bwMode="auto">
          <a:xfrm>
            <a:off x="457200" y="12192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6179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79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79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79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80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80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80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803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1034251" name="Rectangle 11"/>
          <p:cNvSpPr>
            <a:spLocks noChangeArrowheads="1"/>
          </p:cNvSpPr>
          <p:nvPr/>
        </p:nvSpPr>
        <p:spPr bwMode="auto">
          <a:xfrm>
            <a:off x="304800" y="1676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Solve the set of following three equations:</a:t>
            </a:r>
          </a:p>
        </p:txBody>
      </p:sp>
      <p:pic>
        <p:nvPicPr>
          <p:cNvPr id="161805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55863"/>
            <a:ext cx="3554413" cy="127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4257" name="Rectangle 17"/>
          <p:cNvSpPr>
            <a:spLocks noChangeArrowheads="1"/>
          </p:cNvSpPr>
          <p:nvPr/>
        </p:nvSpPr>
        <p:spPr bwMode="auto">
          <a:xfrm>
            <a:off x="457200" y="4217899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result is </a:t>
            </a:r>
            <a:r>
              <a:rPr lang="en-US" sz="2400"/>
              <a:t>x</a:t>
            </a:r>
            <a:r>
              <a:rPr lang="en-US" sz="2400" i="0"/>
              <a:t> ≡ 15 (mod 16), </a:t>
            </a:r>
            <a:r>
              <a:rPr lang="en-US" sz="2400"/>
              <a:t>y</a:t>
            </a:r>
            <a:r>
              <a:rPr lang="en-US" sz="2400" i="0"/>
              <a:t> ≡ 4 (mod 16), and </a:t>
            </a:r>
            <a:r>
              <a:rPr lang="en-US" sz="2400"/>
              <a:t>z</a:t>
            </a:r>
            <a:r>
              <a:rPr lang="en-US" sz="2400" i="0"/>
              <a:t> ≡ 14 (mod 16). We can check the answer by inserting these values into the equations.</a:t>
            </a:r>
          </a:p>
        </p:txBody>
      </p:sp>
      <p:sp>
        <p:nvSpPr>
          <p:cNvPr id="1034258" name="Rectangle 18"/>
          <p:cNvSpPr>
            <a:spLocks noChangeArrowheads="1"/>
          </p:cNvSpPr>
          <p:nvPr/>
        </p:nvSpPr>
        <p:spPr bwMode="auto">
          <a:xfrm>
            <a:off x="533400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23D2B2-C05E-4339-A732-12E0238B6BF1}" type="slidenum">
              <a:rPr lang="en-US" i="0">
                <a:latin typeface="Arial" panose="020B0604020202020204" pitchFamily="34" charset="0"/>
              </a:rPr>
              <a:pPr/>
              <a:t>85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3843" name="TextBox 2"/>
          <p:cNvSpPr txBox="1">
            <a:spLocks noChangeArrowheads="1"/>
          </p:cNvSpPr>
          <p:nvPr/>
        </p:nvSpPr>
        <p:spPr bwMode="auto">
          <a:xfrm>
            <a:off x="3581400" y="2667000"/>
            <a:ext cx="2133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sz="4800"/>
              <a:t>Annex</a:t>
            </a:r>
          </a:p>
        </p:txBody>
      </p:sp>
      <p:sp>
        <p:nvSpPr>
          <p:cNvPr id="163844" name="Text Box 2"/>
          <p:cNvSpPr txBox="1">
            <a:spLocks noChangeArrowheads="1"/>
          </p:cNvSpPr>
          <p:nvPr/>
        </p:nvSpPr>
        <p:spPr bwMode="auto">
          <a:xfrm>
            <a:off x="1752600" y="3657600"/>
            <a:ext cx="66468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4000" i="0">
                <a:solidFill>
                  <a:srgbClr val="FF0000"/>
                </a:solidFill>
              </a:rPr>
              <a:t>Linear Diophantine Equation</a:t>
            </a:r>
            <a:endParaRPr lang="en-US" sz="4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4B1C539-5F99-4F8B-91CE-3CE848BB2155}" type="slidenum">
              <a:rPr lang="en-US" i="0">
                <a:latin typeface="Arial" panose="020B0604020202020204" pitchFamily="34" charset="0"/>
              </a:rPr>
              <a:pPr/>
              <a:t>86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4867" name="Text Box 2"/>
          <p:cNvSpPr txBox="1">
            <a:spLocks noChangeArrowheads="1"/>
          </p:cNvSpPr>
          <p:nvPr/>
        </p:nvSpPr>
        <p:spPr bwMode="auto">
          <a:xfrm>
            <a:off x="1066800" y="12700"/>
            <a:ext cx="402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Linear Diophantine Equation</a:t>
            </a:r>
            <a:endParaRPr lang="en-US" sz="2000"/>
          </a:p>
        </p:txBody>
      </p:sp>
      <p:sp>
        <p:nvSpPr>
          <p:cNvPr id="16486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6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5" name="Line 15"/>
          <p:cNvSpPr>
            <a:spLocks noChangeShapeType="1"/>
          </p:cNvSpPr>
          <p:nvPr/>
        </p:nvSpPr>
        <p:spPr bwMode="auto">
          <a:xfrm>
            <a:off x="609600" y="160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876" name="Line 16"/>
          <p:cNvSpPr>
            <a:spLocks noChangeShapeType="1"/>
          </p:cNvSpPr>
          <p:nvPr/>
        </p:nvSpPr>
        <p:spPr bwMode="auto">
          <a:xfrm>
            <a:off x="609600" y="2819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877" name="Rectangle 17"/>
          <p:cNvSpPr>
            <a:spLocks noChangeArrowheads="1"/>
          </p:cNvSpPr>
          <p:nvPr/>
        </p:nvSpPr>
        <p:spPr bwMode="auto">
          <a:xfrm>
            <a:off x="647700" y="16922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A linear Diophantine equation of two variables is ax + by = c.</a:t>
            </a:r>
          </a:p>
        </p:txBody>
      </p:sp>
      <p:pic>
        <p:nvPicPr>
          <p:cNvPr id="16487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3505200"/>
            <a:ext cx="88296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D877C4-A354-48CE-A198-05B2B5EF31DA}" type="slidenum">
              <a:rPr lang="en-US" i="0">
                <a:latin typeface="Arial" panose="020B0604020202020204" pitchFamily="34" charset="0"/>
              </a:rPr>
              <a:pPr/>
              <a:t>87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6915" name="Text Box 2"/>
          <p:cNvSpPr txBox="1">
            <a:spLocks noChangeArrowheads="1"/>
          </p:cNvSpPr>
          <p:nvPr/>
        </p:nvSpPr>
        <p:spPr bwMode="auto">
          <a:xfrm>
            <a:off x="1143000" y="0"/>
            <a:ext cx="402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rgbClr val="FF0000"/>
                </a:solidFill>
              </a:rPr>
              <a:t>Linear Diophantine Equation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16691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1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1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1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2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2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2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23" name="Line 11"/>
          <p:cNvSpPr>
            <a:spLocks noChangeShapeType="1"/>
          </p:cNvSpPr>
          <p:nvPr/>
        </p:nvSpPr>
        <p:spPr bwMode="auto">
          <a:xfrm>
            <a:off x="609600" y="190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6924" name="Line 12"/>
          <p:cNvSpPr>
            <a:spLocks noChangeShapeType="1"/>
          </p:cNvSpPr>
          <p:nvPr/>
        </p:nvSpPr>
        <p:spPr bwMode="auto">
          <a:xfrm>
            <a:off x="609600" y="3124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6925" name="Rectangle 13"/>
          <p:cNvSpPr>
            <a:spLocks noChangeArrowheads="1"/>
          </p:cNvSpPr>
          <p:nvPr/>
        </p:nvSpPr>
        <p:spPr bwMode="auto">
          <a:xfrm>
            <a:off x="647700" y="1997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Particular solution: 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x</a:t>
            </a:r>
            <a:r>
              <a:rPr lang="en-US" sz="3200" baseline="-25000">
                <a:latin typeface="Arial" panose="020B0604020202020204" pitchFamily="34" charset="0"/>
              </a:rPr>
              <a:t>0</a:t>
            </a:r>
            <a:r>
              <a:rPr lang="en-US" sz="3200">
                <a:latin typeface="Arial" panose="020B0604020202020204" pitchFamily="34" charset="0"/>
              </a:rPr>
              <a:t> = (c/d)s and     y</a:t>
            </a:r>
            <a:r>
              <a:rPr lang="en-US" sz="3200" baseline="-25000">
                <a:latin typeface="Arial" panose="020B0604020202020204" pitchFamily="34" charset="0"/>
              </a:rPr>
              <a:t>0</a:t>
            </a:r>
            <a:r>
              <a:rPr lang="en-US" sz="3200">
                <a:latin typeface="Arial" panose="020B0604020202020204" pitchFamily="34" charset="0"/>
              </a:rPr>
              <a:t> = (c/d)t</a:t>
            </a:r>
          </a:p>
        </p:txBody>
      </p:sp>
      <p:sp>
        <p:nvSpPr>
          <p:cNvPr id="166926" name="Line 21"/>
          <p:cNvSpPr>
            <a:spLocks noChangeShapeType="1"/>
          </p:cNvSpPr>
          <p:nvPr/>
        </p:nvSpPr>
        <p:spPr bwMode="auto">
          <a:xfrm>
            <a:off x="533400" y="4572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6927" name="Line 22"/>
          <p:cNvSpPr>
            <a:spLocks noChangeShapeType="1"/>
          </p:cNvSpPr>
          <p:nvPr/>
        </p:nvSpPr>
        <p:spPr bwMode="auto">
          <a:xfrm>
            <a:off x="533400" y="6324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6928" name="Rectangle 23"/>
          <p:cNvSpPr>
            <a:spLocks noChangeArrowheads="1"/>
          </p:cNvSpPr>
          <p:nvPr/>
        </p:nvSpPr>
        <p:spPr bwMode="auto">
          <a:xfrm>
            <a:off x="571500" y="4664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General solutions: </a:t>
            </a:r>
          </a:p>
          <a:p>
            <a:r>
              <a:rPr lang="en-US" sz="3200">
                <a:latin typeface="Arial" panose="020B0604020202020204" pitchFamily="34" charset="0"/>
              </a:rPr>
              <a:t>x = x</a:t>
            </a:r>
            <a:r>
              <a:rPr lang="en-US" sz="3200" baseline="-25000">
                <a:latin typeface="Arial" panose="020B0604020202020204" pitchFamily="34" charset="0"/>
              </a:rPr>
              <a:t>0</a:t>
            </a:r>
            <a:r>
              <a:rPr lang="en-US" sz="3200">
                <a:latin typeface="Arial" panose="020B0604020202020204" pitchFamily="34" charset="0"/>
              </a:rPr>
              <a:t> + k (b/d) and  y = y</a:t>
            </a:r>
            <a:r>
              <a:rPr lang="en-US" sz="3200" baseline="-25000">
                <a:latin typeface="Arial" panose="020B0604020202020204" pitchFamily="34" charset="0"/>
              </a:rPr>
              <a:t>0</a:t>
            </a:r>
            <a:r>
              <a:rPr lang="en-US" sz="3200">
                <a:latin typeface="Arial" panose="020B0604020202020204" pitchFamily="34" charset="0"/>
              </a:rPr>
              <a:t> − k(a/d) 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where k is an integer</a:t>
            </a:r>
          </a:p>
        </p:txBody>
      </p:sp>
      <p:sp>
        <p:nvSpPr>
          <p:cNvPr id="166929" name="TextBox 1"/>
          <p:cNvSpPr txBox="1">
            <a:spLocks noChangeArrowheads="1"/>
          </p:cNvSpPr>
          <p:nvPr/>
        </p:nvSpPr>
        <p:spPr bwMode="auto">
          <a:xfrm>
            <a:off x="1676400" y="914400"/>
            <a:ext cx="2667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sz="3600"/>
              <a:t>d=gcd(a,b)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81C054-1562-4CCB-9CD3-B831E9AA0F3F}" type="slidenum">
              <a:rPr lang="en-US" i="0">
                <a:latin typeface="Arial" panose="020B0604020202020204" pitchFamily="34" charset="0"/>
              </a:rPr>
              <a:pPr/>
              <a:t>88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896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6896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7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7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913419" name="Rectangle 11"/>
          <p:cNvSpPr>
            <a:spLocks noChangeArrowheads="1"/>
          </p:cNvSpPr>
          <p:nvPr/>
        </p:nvSpPr>
        <p:spPr bwMode="auto">
          <a:xfrm>
            <a:off x="304800" y="11545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particular and general solutions to the equation </a:t>
            </a:r>
          </a:p>
          <a:p>
            <a:pPr algn="just" eaLnBrk="1" hangingPunct="1">
              <a:defRPr/>
            </a:pPr>
            <a:r>
              <a:rPr lang="en-US" sz="2400" i="0"/>
              <a:t>21</a:t>
            </a:r>
            <a:r>
              <a:rPr lang="en-US" sz="2400"/>
              <a:t>x</a:t>
            </a:r>
            <a:r>
              <a:rPr lang="en-US" sz="2400" i="0"/>
              <a:t> + 14</a:t>
            </a:r>
            <a:r>
              <a:rPr lang="en-US" sz="2400"/>
              <a:t>y</a:t>
            </a:r>
            <a:r>
              <a:rPr lang="en-US" sz="2400" i="0"/>
              <a:t> = 35.</a:t>
            </a:r>
          </a:p>
        </p:txBody>
      </p:sp>
      <p:sp>
        <p:nvSpPr>
          <p:cNvPr id="913421" name="Rectangle 13"/>
          <p:cNvSpPr>
            <a:spLocks noChangeArrowheads="1"/>
          </p:cNvSpPr>
          <p:nvPr/>
        </p:nvSpPr>
        <p:spPr bwMode="auto">
          <a:xfrm>
            <a:off x="228600" y="2209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Solution</a:t>
            </a:r>
          </a:p>
        </p:txBody>
      </p:sp>
      <p:pic>
        <p:nvPicPr>
          <p:cNvPr id="16897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76600"/>
            <a:ext cx="79629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30FF0E-46BC-4AEE-A51B-F82EBA877AE0}" type="slidenum">
              <a:rPr lang="en-US" i="0">
                <a:latin typeface="Arial" panose="020B0604020202020204" pitchFamily="34" charset="0"/>
              </a:rPr>
              <a:pPr/>
              <a:t>89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7101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7101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9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915467" name="Rectangle 11"/>
          <p:cNvSpPr>
            <a:spLocks noChangeArrowheads="1"/>
          </p:cNvSpPr>
          <p:nvPr/>
        </p:nvSpPr>
        <p:spPr bwMode="auto">
          <a:xfrm>
            <a:off x="304800" y="1200140"/>
            <a:ext cx="8229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For example, imagine we want to cash a $100 check and get</a:t>
            </a:r>
          </a:p>
          <a:p>
            <a:pPr algn="just" eaLnBrk="1" hangingPunct="1">
              <a:defRPr/>
            </a:pPr>
            <a:r>
              <a:rPr lang="en-US" sz="2400" i="0" dirty="0"/>
              <a:t>some $20 and some $5 bills. We have many choices, which we can find by solving the corresponding Diophantine equation 20</a:t>
            </a:r>
            <a:r>
              <a:rPr lang="en-US" sz="2400" dirty="0"/>
              <a:t>x</a:t>
            </a:r>
            <a:r>
              <a:rPr lang="en-US" sz="2400" i="0" dirty="0"/>
              <a:t> + 5</a:t>
            </a:r>
            <a:r>
              <a:rPr lang="en-US" sz="2400" dirty="0"/>
              <a:t>y</a:t>
            </a:r>
            <a:r>
              <a:rPr lang="en-US" sz="2400" i="0" dirty="0"/>
              <a:t> = 100. Since </a:t>
            </a:r>
            <a:r>
              <a:rPr lang="en-US" sz="2400" dirty="0"/>
              <a:t>d</a:t>
            </a:r>
            <a:r>
              <a:rPr lang="en-US" sz="2400" i="0" dirty="0"/>
              <a:t> = </a:t>
            </a:r>
            <a:r>
              <a:rPr lang="en-US" sz="2400" i="0" dirty="0" err="1"/>
              <a:t>gcd</a:t>
            </a:r>
            <a:r>
              <a:rPr lang="en-US" sz="2400" i="0" dirty="0"/>
              <a:t> (20, 5) = 5 and 5 | 100, the equation has an infinite number of solutions, but only a few of them are acceptable in this case The general solutions</a:t>
            </a:r>
          </a:p>
          <a:p>
            <a:pPr algn="just" eaLnBrk="1" hangingPunct="1">
              <a:defRPr/>
            </a:pPr>
            <a:r>
              <a:rPr lang="en-US" sz="2400" i="0" dirty="0"/>
              <a:t>with </a:t>
            </a:r>
            <a:r>
              <a:rPr lang="en-US" sz="2400" dirty="0"/>
              <a:t>x</a:t>
            </a:r>
            <a:r>
              <a:rPr lang="en-US" sz="2400" i="0" dirty="0"/>
              <a:t> and </a:t>
            </a:r>
            <a:r>
              <a:rPr lang="en-US" sz="2400" dirty="0"/>
              <a:t>y</a:t>
            </a:r>
            <a:r>
              <a:rPr lang="en-US" sz="2400" i="0" dirty="0"/>
              <a:t> nonnegative are </a:t>
            </a:r>
          </a:p>
          <a:p>
            <a:pPr algn="just" eaLnBrk="1" hangingPunct="1">
              <a:defRPr/>
            </a:pPr>
            <a:endParaRPr lang="en-US" sz="2400" i="0" dirty="0"/>
          </a:p>
          <a:p>
            <a:pPr algn="just" eaLnBrk="1" hangingPunct="1">
              <a:defRPr/>
            </a:pPr>
            <a:r>
              <a:rPr lang="en-US" sz="2400" i="0" dirty="0"/>
              <a:t>                 </a:t>
            </a:r>
            <a:r>
              <a:rPr lang="en-US" sz="2400" i="0" dirty="0">
                <a:solidFill>
                  <a:schemeClr val="hlink"/>
                </a:solidFill>
              </a:rPr>
              <a:t>(0, 20), (1, 16), (2, 12), (3, 8), (4, 4), (5, 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5002</TotalTime>
  <Words>4042</Words>
  <Application>Microsoft Office PowerPoint</Application>
  <PresentationFormat>On-screen Show (4:3)</PresentationFormat>
  <Paragraphs>569</Paragraphs>
  <Slides>89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7" baseType="lpstr">
      <vt:lpstr>Arial</vt:lpstr>
      <vt:lpstr>Symbol</vt:lpstr>
      <vt:lpstr>Tahoma</vt:lpstr>
      <vt:lpstr>Times</vt:lpstr>
      <vt:lpstr>Times New Roman</vt:lpstr>
      <vt:lpstr>Tw Cen MT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cbrange01@outlook.com</cp:lastModifiedBy>
  <cp:revision>209</cp:revision>
  <dcterms:created xsi:type="dcterms:W3CDTF">2000-01-15T04:50:39Z</dcterms:created>
  <dcterms:modified xsi:type="dcterms:W3CDTF">2026-06-01T13:53:08Z</dcterms:modified>
</cp:coreProperties>
</file>