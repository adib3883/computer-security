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5537" r:id="rId2"/>
    <p:sldMasterId id="2147485549" r:id="rId3"/>
    <p:sldMasterId id="2147485577" r:id="rId4"/>
    <p:sldMasterId id="2147485589" r:id="rId5"/>
    <p:sldMasterId id="2147485601" r:id="rId6"/>
  </p:sldMasterIdLst>
  <p:notesMasterIdLst>
    <p:notesMasterId r:id="rId124"/>
  </p:notesMasterIdLst>
  <p:sldIdLst>
    <p:sldId id="287" r:id="rId7"/>
    <p:sldId id="553" r:id="rId8"/>
    <p:sldId id="615" r:id="rId9"/>
    <p:sldId id="616" r:id="rId10"/>
    <p:sldId id="617" r:id="rId11"/>
    <p:sldId id="618" r:id="rId12"/>
    <p:sldId id="598" r:id="rId13"/>
    <p:sldId id="600" r:id="rId14"/>
    <p:sldId id="599" r:id="rId15"/>
    <p:sldId id="601" r:id="rId16"/>
    <p:sldId id="602" r:id="rId17"/>
    <p:sldId id="603" r:id="rId18"/>
    <p:sldId id="604" r:id="rId19"/>
    <p:sldId id="605" r:id="rId20"/>
    <p:sldId id="606" r:id="rId21"/>
    <p:sldId id="449" r:id="rId22"/>
    <p:sldId id="594" r:id="rId23"/>
    <p:sldId id="450" r:id="rId24"/>
    <p:sldId id="560" r:id="rId25"/>
    <p:sldId id="609" r:id="rId26"/>
    <p:sldId id="451" r:id="rId27"/>
    <p:sldId id="562" r:id="rId28"/>
    <p:sldId id="595" r:id="rId29"/>
    <p:sldId id="556" r:id="rId30"/>
    <p:sldId id="455" r:id="rId31"/>
    <p:sldId id="456" r:id="rId32"/>
    <p:sldId id="457" r:id="rId33"/>
    <p:sldId id="458" r:id="rId34"/>
    <p:sldId id="459" r:id="rId35"/>
    <p:sldId id="554" r:id="rId36"/>
    <p:sldId id="557" r:id="rId37"/>
    <p:sldId id="611" r:id="rId38"/>
    <p:sldId id="612" r:id="rId39"/>
    <p:sldId id="610" r:id="rId40"/>
    <p:sldId id="555" r:id="rId41"/>
    <p:sldId id="563" r:id="rId42"/>
    <p:sldId id="460" r:id="rId43"/>
    <p:sldId id="461" r:id="rId44"/>
    <p:sldId id="462" r:id="rId45"/>
    <p:sldId id="464" r:id="rId46"/>
    <p:sldId id="465" r:id="rId47"/>
    <p:sldId id="468" r:id="rId48"/>
    <p:sldId id="558" r:id="rId49"/>
    <p:sldId id="608" r:id="rId50"/>
    <p:sldId id="607" r:id="rId51"/>
    <p:sldId id="619" r:id="rId52"/>
    <p:sldId id="621" r:id="rId53"/>
    <p:sldId id="620" r:id="rId54"/>
    <p:sldId id="564" r:id="rId55"/>
    <p:sldId id="565" r:id="rId56"/>
    <p:sldId id="614" r:id="rId57"/>
    <p:sldId id="613" r:id="rId58"/>
    <p:sldId id="566" r:id="rId59"/>
    <p:sldId id="567" r:id="rId60"/>
    <p:sldId id="568" r:id="rId61"/>
    <p:sldId id="469" r:id="rId62"/>
    <p:sldId id="470" r:id="rId63"/>
    <p:sldId id="472" r:id="rId64"/>
    <p:sldId id="473" r:id="rId65"/>
    <p:sldId id="474" r:id="rId66"/>
    <p:sldId id="475" r:id="rId67"/>
    <p:sldId id="569" r:id="rId68"/>
    <p:sldId id="570" r:id="rId69"/>
    <p:sldId id="571" r:id="rId70"/>
    <p:sldId id="572" r:id="rId71"/>
    <p:sldId id="477" r:id="rId72"/>
    <p:sldId id="478" r:id="rId73"/>
    <p:sldId id="479" r:id="rId74"/>
    <p:sldId id="480" r:id="rId75"/>
    <p:sldId id="596" r:id="rId76"/>
    <p:sldId id="482" r:id="rId77"/>
    <p:sldId id="483" r:id="rId78"/>
    <p:sldId id="484" r:id="rId79"/>
    <p:sldId id="485" r:id="rId80"/>
    <p:sldId id="486" r:id="rId81"/>
    <p:sldId id="487" r:id="rId82"/>
    <p:sldId id="488" r:id="rId83"/>
    <p:sldId id="574" r:id="rId84"/>
    <p:sldId id="489" r:id="rId85"/>
    <p:sldId id="490" r:id="rId86"/>
    <p:sldId id="491" r:id="rId87"/>
    <p:sldId id="492" r:id="rId88"/>
    <p:sldId id="493" r:id="rId89"/>
    <p:sldId id="494" r:id="rId90"/>
    <p:sldId id="495" r:id="rId91"/>
    <p:sldId id="434" r:id="rId92"/>
    <p:sldId id="438" r:id="rId93"/>
    <p:sldId id="446" r:id="rId94"/>
    <p:sldId id="447" r:id="rId95"/>
    <p:sldId id="428" r:id="rId96"/>
    <p:sldId id="441" r:id="rId97"/>
    <p:sldId id="372" r:id="rId98"/>
    <p:sldId id="433" r:id="rId99"/>
    <p:sldId id="432" r:id="rId100"/>
    <p:sldId id="374" r:id="rId101"/>
    <p:sldId id="375" r:id="rId102"/>
    <p:sldId id="377" r:id="rId103"/>
    <p:sldId id="597" r:id="rId104"/>
    <p:sldId id="587" r:id="rId105"/>
    <p:sldId id="588" r:id="rId106"/>
    <p:sldId id="589" r:id="rId107"/>
    <p:sldId id="590" r:id="rId108"/>
    <p:sldId id="591" r:id="rId109"/>
    <p:sldId id="592" r:id="rId110"/>
    <p:sldId id="593" r:id="rId111"/>
    <p:sldId id="586" r:id="rId112"/>
    <p:sldId id="575" r:id="rId113"/>
    <p:sldId id="576" r:id="rId114"/>
    <p:sldId id="577" r:id="rId115"/>
    <p:sldId id="578" r:id="rId116"/>
    <p:sldId id="579" r:id="rId117"/>
    <p:sldId id="580" r:id="rId118"/>
    <p:sldId id="581" r:id="rId119"/>
    <p:sldId id="582" r:id="rId120"/>
    <p:sldId id="583" r:id="rId121"/>
    <p:sldId id="584" r:id="rId122"/>
    <p:sldId id="585" r:id="rId1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36344" algn="l" rtl="0" fontAlgn="base">
      <a:spcBef>
        <a:spcPct val="0"/>
      </a:spcBef>
      <a:spcAft>
        <a:spcPct val="0"/>
      </a:spcAft>
      <a:defRPr kern="1200">
        <a:solidFill>
          <a:schemeClr val="tx1"/>
        </a:solidFill>
        <a:latin typeface="Arial" pitchFamily="34" charset="0"/>
        <a:ea typeface="+mn-ea"/>
        <a:cs typeface="Arial" pitchFamily="34" charset="0"/>
      </a:defRPr>
    </a:lvl2pPr>
    <a:lvl3pPr marL="872687" algn="l" rtl="0" fontAlgn="base">
      <a:spcBef>
        <a:spcPct val="0"/>
      </a:spcBef>
      <a:spcAft>
        <a:spcPct val="0"/>
      </a:spcAft>
      <a:defRPr kern="1200">
        <a:solidFill>
          <a:schemeClr val="tx1"/>
        </a:solidFill>
        <a:latin typeface="Arial" pitchFamily="34" charset="0"/>
        <a:ea typeface="+mn-ea"/>
        <a:cs typeface="Arial" pitchFamily="34" charset="0"/>
      </a:defRPr>
    </a:lvl3pPr>
    <a:lvl4pPr marL="1309030" algn="l" rtl="0" fontAlgn="base">
      <a:spcBef>
        <a:spcPct val="0"/>
      </a:spcBef>
      <a:spcAft>
        <a:spcPct val="0"/>
      </a:spcAft>
      <a:defRPr kern="1200">
        <a:solidFill>
          <a:schemeClr val="tx1"/>
        </a:solidFill>
        <a:latin typeface="Arial" pitchFamily="34" charset="0"/>
        <a:ea typeface="+mn-ea"/>
        <a:cs typeface="Arial" pitchFamily="34" charset="0"/>
      </a:defRPr>
    </a:lvl4pPr>
    <a:lvl5pPr marL="1745373" algn="l" rtl="0" fontAlgn="base">
      <a:spcBef>
        <a:spcPct val="0"/>
      </a:spcBef>
      <a:spcAft>
        <a:spcPct val="0"/>
      </a:spcAft>
      <a:defRPr kern="1200">
        <a:solidFill>
          <a:schemeClr val="tx1"/>
        </a:solidFill>
        <a:latin typeface="Arial" pitchFamily="34" charset="0"/>
        <a:ea typeface="+mn-ea"/>
        <a:cs typeface="Arial" pitchFamily="34" charset="0"/>
      </a:defRPr>
    </a:lvl5pPr>
    <a:lvl6pPr marL="2181717" algn="l" defTabSz="872687" rtl="0" eaLnBrk="1" latinLnBrk="0" hangingPunct="1">
      <a:defRPr kern="1200">
        <a:solidFill>
          <a:schemeClr val="tx1"/>
        </a:solidFill>
        <a:latin typeface="Arial" pitchFamily="34" charset="0"/>
        <a:ea typeface="+mn-ea"/>
        <a:cs typeface="Arial" pitchFamily="34" charset="0"/>
      </a:defRPr>
    </a:lvl6pPr>
    <a:lvl7pPr marL="2618061" algn="l" defTabSz="872687" rtl="0" eaLnBrk="1" latinLnBrk="0" hangingPunct="1">
      <a:defRPr kern="1200">
        <a:solidFill>
          <a:schemeClr val="tx1"/>
        </a:solidFill>
        <a:latin typeface="Arial" pitchFamily="34" charset="0"/>
        <a:ea typeface="+mn-ea"/>
        <a:cs typeface="Arial" pitchFamily="34" charset="0"/>
      </a:defRPr>
    </a:lvl7pPr>
    <a:lvl8pPr marL="3054403" algn="l" defTabSz="872687" rtl="0" eaLnBrk="1" latinLnBrk="0" hangingPunct="1">
      <a:defRPr kern="1200">
        <a:solidFill>
          <a:schemeClr val="tx1"/>
        </a:solidFill>
        <a:latin typeface="Arial" pitchFamily="34" charset="0"/>
        <a:ea typeface="+mn-ea"/>
        <a:cs typeface="Arial" pitchFamily="34" charset="0"/>
      </a:defRPr>
    </a:lvl8pPr>
    <a:lvl9pPr marL="3490747" algn="l" defTabSz="872687"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FF"/>
    <a:srgbClr val="00CC00"/>
    <a:srgbClr val="66FF33"/>
    <a:srgbClr val="000000"/>
    <a:srgbClr val="FF66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1301" y="62"/>
      </p:cViewPr>
      <p:guideLst>
        <p:guide orient="horz" pos="216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28" Type="http://schemas.openxmlformats.org/officeDocument/2006/relationships/tableStyles" Target="tableStyles.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slide" Target="slides/slide112.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124" Type="http://schemas.openxmlformats.org/officeDocument/2006/relationships/notesMaster" Target="notesMasters/notesMaster1.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slide" Target="slides/slide113.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presProps" Target="presProp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theme" Target="theme/theme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4" Type="http://schemas.openxmlformats.org/officeDocument/2006/relationships/slideMaster" Target="slideMasters/slideMaster4.xml"/><Relationship Id="rId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A231B084-9EC8-4FCE-A09E-A923D21E70B8}" type="datetimeFigureOut">
              <a:rPr lang="en-IN"/>
              <a:pPr>
                <a:defRPr/>
              </a:pPr>
              <a:t>01-06-2026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9EB073DF-14DC-4F11-A3DD-ACB2E0BB4A56}" type="slidenum">
              <a:rPr lang="en-IN"/>
              <a:pPr>
                <a:defRPr/>
              </a:pPr>
              <a:t>‹#›</a:t>
            </a:fld>
            <a:endParaRPr lang="en-IN"/>
          </a:p>
        </p:txBody>
      </p:sp>
    </p:spTree>
    <p:extLst>
      <p:ext uri="{BB962C8B-B14F-4D97-AF65-F5344CB8AC3E}">
        <p14:creationId xmlns:p14="http://schemas.microsoft.com/office/powerpoint/2010/main" val="17091829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00" kern="1200">
        <a:solidFill>
          <a:schemeClr val="tx1"/>
        </a:solidFill>
        <a:latin typeface="+mn-lt"/>
        <a:ea typeface="+mn-ea"/>
        <a:cs typeface="+mn-cs"/>
      </a:defRPr>
    </a:lvl1pPr>
    <a:lvl2pPr marL="436344" algn="l" rtl="0" eaLnBrk="0" fontAlgn="base" hangingPunct="0">
      <a:spcBef>
        <a:spcPct val="30000"/>
      </a:spcBef>
      <a:spcAft>
        <a:spcPct val="0"/>
      </a:spcAft>
      <a:defRPr sz="1100" kern="1200">
        <a:solidFill>
          <a:schemeClr val="tx1"/>
        </a:solidFill>
        <a:latin typeface="+mn-lt"/>
        <a:ea typeface="+mn-ea"/>
        <a:cs typeface="+mn-cs"/>
      </a:defRPr>
    </a:lvl2pPr>
    <a:lvl3pPr marL="872687" algn="l" rtl="0" eaLnBrk="0" fontAlgn="base" hangingPunct="0">
      <a:spcBef>
        <a:spcPct val="30000"/>
      </a:spcBef>
      <a:spcAft>
        <a:spcPct val="0"/>
      </a:spcAft>
      <a:defRPr sz="1100" kern="1200">
        <a:solidFill>
          <a:schemeClr val="tx1"/>
        </a:solidFill>
        <a:latin typeface="+mn-lt"/>
        <a:ea typeface="+mn-ea"/>
        <a:cs typeface="+mn-cs"/>
      </a:defRPr>
    </a:lvl3pPr>
    <a:lvl4pPr marL="1309030" algn="l" rtl="0" eaLnBrk="0" fontAlgn="base" hangingPunct="0">
      <a:spcBef>
        <a:spcPct val="30000"/>
      </a:spcBef>
      <a:spcAft>
        <a:spcPct val="0"/>
      </a:spcAft>
      <a:defRPr sz="1100" kern="1200">
        <a:solidFill>
          <a:schemeClr val="tx1"/>
        </a:solidFill>
        <a:latin typeface="+mn-lt"/>
        <a:ea typeface="+mn-ea"/>
        <a:cs typeface="+mn-cs"/>
      </a:defRPr>
    </a:lvl4pPr>
    <a:lvl5pPr marL="1745373" algn="l" rtl="0" eaLnBrk="0" fontAlgn="base" hangingPunct="0">
      <a:spcBef>
        <a:spcPct val="30000"/>
      </a:spcBef>
      <a:spcAft>
        <a:spcPct val="0"/>
      </a:spcAft>
      <a:defRPr sz="1100" kern="1200">
        <a:solidFill>
          <a:schemeClr val="tx1"/>
        </a:solidFill>
        <a:latin typeface="+mn-lt"/>
        <a:ea typeface="+mn-ea"/>
        <a:cs typeface="+mn-cs"/>
      </a:defRPr>
    </a:lvl5pPr>
    <a:lvl6pPr marL="2181717" algn="l" defTabSz="872687" rtl="0" eaLnBrk="1" latinLnBrk="0" hangingPunct="1">
      <a:defRPr sz="1100" kern="1200">
        <a:solidFill>
          <a:schemeClr val="tx1"/>
        </a:solidFill>
        <a:latin typeface="+mn-lt"/>
        <a:ea typeface="+mn-ea"/>
        <a:cs typeface="+mn-cs"/>
      </a:defRPr>
    </a:lvl6pPr>
    <a:lvl7pPr marL="2618061" algn="l" defTabSz="872687" rtl="0" eaLnBrk="1" latinLnBrk="0" hangingPunct="1">
      <a:defRPr sz="1100" kern="1200">
        <a:solidFill>
          <a:schemeClr val="tx1"/>
        </a:solidFill>
        <a:latin typeface="+mn-lt"/>
        <a:ea typeface="+mn-ea"/>
        <a:cs typeface="+mn-cs"/>
      </a:defRPr>
    </a:lvl7pPr>
    <a:lvl8pPr marL="3054403" algn="l" defTabSz="872687" rtl="0" eaLnBrk="1" latinLnBrk="0" hangingPunct="1">
      <a:defRPr sz="1100" kern="1200">
        <a:solidFill>
          <a:schemeClr val="tx1"/>
        </a:solidFill>
        <a:latin typeface="+mn-lt"/>
        <a:ea typeface="+mn-ea"/>
        <a:cs typeface="+mn-cs"/>
      </a:defRPr>
    </a:lvl8pPr>
    <a:lvl9pPr marL="3490747" algn="l" defTabSz="872687"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2656F7E-6C91-4EB4-B36C-2F50DE3E0E78}" type="slidenum">
              <a:rPr lang="zh-TW" altLang="en-AU" smtClean="0"/>
              <a:pPr fontAlgn="base">
                <a:spcBef>
                  <a:spcPct val="0"/>
                </a:spcBef>
                <a:spcAft>
                  <a:spcPct val="0"/>
                </a:spcAft>
                <a:defRPr/>
              </a:pPr>
              <a:t>1</a:t>
            </a:fld>
            <a:endParaRPr lang="en-AU" altLang="zh-TW"/>
          </a:p>
        </p:txBody>
      </p:sp>
      <p:sp>
        <p:nvSpPr>
          <p:cNvPr id="172035" name="Rectangle 1026"/>
          <p:cNvSpPr>
            <a:spLocks noGrp="1" noRot="1" noChangeAspect="1" noChangeArrowheads="1" noTextEdit="1"/>
          </p:cNvSpPr>
          <p:nvPr>
            <p:ph type="sldImg"/>
          </p:nvPr>
        </p:nvSpPr>
        <p:spPr bwMode="auto">
          <a:xfrm>
            <a:off x="1371600" y="1143000"/>
            <a:ext cx="4114800" cy="3086100"/>
          </a:xfrm>
          <a:solidFill>
            <a:srgbClr val="FFFFFF"/>
          </a:solidFill>
          <a:ln>
            <a:solidFill>
              <a:srgbClr val="000000"/>
            </a:solidFill>
            <a:miter lim="800000"/>
            <a:headEnd/>
            <a:tailEnd/>
          </a:ln>
        </p:spPr>
      </p:sp>
      <p:sp>
        <p:nvSpPr>
          <p:cNvPr id="172036" name="Rectangle 1027"/>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latin typeface="Arial" pitchFamily="34" charset="0"/>
                <a:ea typeface="ＭＳ Ｐゴシック" pitchFamily="34" charset="-128"/>
              </a:rPr>
              <a:t>Lecture slides by Lawrie Brown for “Network Security Essentials”, 4/e, by William Stallings, Chapter 9 – “</a:t>
            </a:r>
            <a:r>
              <a:rPr lang="en-AU" altLang="zh-TW">
                <a:latin typeface="Arial" pitchFamily="34" charset="0"/>
                <a:ea typeface="ＭＳ Ｐゴシック" pitchFamily="34" charset="-128"/>
              </a:rPr>
              <a:t>Public Key Cryptography and Message Authentication</a:t>
            </a:r>
            <a:r>
              <a:rPr lang="en-US">
                <a:latin typeface="Arial" pitchFamily="34" charset="0"/>
                <a:ea typeface="ＭＳ Ｐゴシック" pitchFamily="34" charset="-128"/>
              </a:rPr>
              <a:t>”.</a:t>
            </a:r>
            <a:endParaRPr lang="en-AU" altLang="zh-TW">
              <a:latin typeface="Arial" pitchFamily="34" charset="0"/>
              <a:ea typeface="ＭＳ Ｐゴシック" pitchFamily="34" charset="-128"/>
            </a:endParaRPr>
          </a:p>
          <a:p>
            <a:pPr eaLnBrk="1" hangingPunct="1">
              <a:spcBef>
                <a:spcPct val="0"/>
              </a:spcBef>
            </a:pPr>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4208842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7</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9402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9</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77283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16</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26025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17</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5542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18</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68794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21</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54845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97647337-7112-418D-A9EB-945FC24DF257}" type="slidenum">
              <a:rPr lang="en-US" sz="1200" b="0" baseline="0">
                <a:solidFill>
                  <a:prstClr val="black"/>
                </a:solidFill>
              </a:rPr>
              <a:pPr/>
              <a:t>22</a:t>
            </a:fld>
            <a:endParaRPr lang="en-US" sz="1200" b="0" baseline="0">
              <a:solidFill>
                <a:prstClr val="black"/>
              </a:solidFill>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09118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C0FEA3-3872-4828-8D61-948FFF825599}" type="slidenum">
              <a:rPr lang="en-US"/>
              <a:pPr/>
              <a:t>23</a:t>
            </a:fld>
            <a:endParaRPr lang="en-US"/>
          </a:p>
        </p:txBody>
      </p:sp>
      <p:sp>
        <p:nvSpPr>
          <p:cNvPr id="1041410" name="Rectangle 2"/>
          <p:cNvSpPr>
            <a:spLocks noGrp="1" noRot="1" noChangeAspect="1" noChangeArrowheads="1" noTextEdit="1"/>
          </p:cNvSpPr>
          <p:nvPr>
            <p:ph type="sldImg"/>
          </p:nvPr>
        </p:nvSpPr>
        <p:spPr>
          <a:ln/>
        </p:spPr>
      </p:sp>
      <p:sp>
        <p:nvSpPr>
          <p:cNvPr id="10414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9258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24</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80118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25</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14987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26</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89309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27</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813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28</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25910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29</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94526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30</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60890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31</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72503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32</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72503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33</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72503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34</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72503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35</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707920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43</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12521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44</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125213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824CE17-A314-4201-9A7F-CC81C8C10C2C}" type="slidenum">
              <a:rPr lang="en-US"/>
              <a:pPr/>
              <a:t>45</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125213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D70CBA9D-5784-451A-AB7B-4EAAABFCCBDE}" type="slidenum">
              <a:rPr lang="en-US" sz="1200" b="0" baseline="0">
                <a:solidFill>
                  <a:prstClr val="black"/>
                </a:solidFill>
              </a:rPr>
              <a:pPr/>
              <a:t>50</a:t>
            </a:fld>
            <a:endParaRPr lang="en-US" sz="1200" b="0" baseline="0">
              <a:solidFill>
                <a:prstClr val="black"/>
              </a:solidFill>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15640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D70CBA9D-5784-451A-AB7B-4EAAABFCCBDE}" type="slidenum">
              <a:rPr lang="en-US" sz="1200" b="0" baseline="0">
                <a:solidFill>
                  <a:prstClr val="black"/>
                </a:solidFill>
              </a:rPr>
              <a:pPr/>
              <a:t>51</a:t>
            </a:fld>
            <a:endParaRPr lang="en-US" sz="1200" b="0" baseline="0">
              <a:solidFill>
                <a:prstClr val="black"/>
              </a:solidFill>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156401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D70CBA9D-5784-451A-AB7B-4EAAABFCCBDE}" type="slidenum">
              <a:rPr lang="en-US" sz="1200" b="0" baseline="0">
                <a:solidFill>
                  <a:prstClr val="black"/>
                </a:solidFill>
              </a:rPr>
              <a:pPr/>
              <a:t>52</a:t>
            </a:fld>
            <a:endParaRPr lang="en-US" sz="1200" b="0" baseline="0">
              <a:solidFill>
                <a:prstClr val="black"/>
              </a:solidFill>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15640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28672AC9-6589-4FEB-BEED-AF9D8BD2AD42}" type="slidenum">
              <a:rPr lang="en-US" sz="1200" b="0" baseline="0"/>
              <a:pPr/>
              <a:t>53</a:t>
            </a:fld>
            <a:endParaRPr lang="en-US" sz="1200" b="0" baseline="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4074107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756DF4D8-9DE4-49C7-91D7-AA3CC533A239}" type="slidenum">
              <a:rPr lang="en-US" sz="1200" b="0" baseline="0"/>
              <a:pPr/>
              <a:t>54</a:t>
            </a:fld>
            <a:endParaRPr lang="en-US" sz="1200" b="0" baseline="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9728728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5263023B-99E5-47E7-9976-6BB578667B89}" type="slidenum">
              <a:rPr lang="en-US" sz="1200" b="0" baseline="0"/>
              <a:pPr/>
              <a:t>55</a:t>
            </a:fld>
            <a:endParaRPr lang="en-US" sz="1200" b="0" baseline="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545704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63E9ADAE-F813-453C-8FAA-30630856CA67}" type="slidenum">
              <a:rPr lang="en-US"/>
              <a:pPr/>
              <a:t>61</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788462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63E9ADAE-F813-453C-8FAA-30630856CA67}" type="slidenum">
              <a:rPr lang="en-US"/>
              <a:pPr/>
              <a:t>62</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57892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35B558AE-20ED-4424-BDB9-85CB140A3364}" type="slidenum">
              <a:rPr lang="en-US" sz="1200" b="0" baseline="0"/>
              <a:pPr/>
              <a:t>63</a:t>
            </a:fld>
            <a:endParaRPr lang="en-US" sz="1200" b="0" baseline="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8078012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29C17795-7C0C-42F2-9FF4-C89F0C7DDE4F}" type="slidenum">
              <a:rPr lang="en-US" sz="1200" b="0" baseline="0"/>
              <a:pPr/>
              <a:t>64</a:t>
            </a:fld>
            <a:endParaRPr lang="en-US" sz="1200" b="0" baseline="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6277421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29C17795-7C0C-42F2-9FF4-C89F0C7DDE4F}" type="slidenum">
              <a:rPr lang="en-US" sz="1200" b="0" baseline="0"/>
              <a:pPr/>
              <a:t>65</a:t>
            </a:fld>
            <a:endParaRPr lang="en-US" sz="1200" b="0" baseline="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900443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C0E5F1E0-ED86-4ACC-B48C-8228EF45A778}" type="slidenum">
              <a:rPr lang="en-US"/>
              <a:pPr/>
              <a:t>69</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183693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C883597C-C1D7-435B-9102-D24E29070218}" type="slidenum">
              <a:rPr lang="en-US" sz="1200" b="0" baseline="0"/>
              <a:pPr/>
              <a:t>70</a:t>
            </a:fld>
            <a:endParaRPr lang="en-US" sz="1200" b="0" baseline="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5722739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71</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902144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72</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579569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73</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14621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74</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4447692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75</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144084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76</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150027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77</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773477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fld id="{D36621B4-587E-40B1-BF2B-F04C395371EE}" type="slidenum">
              <a:rPr lang="en-US" sz="1200" b="0" baseline="0"/>
              <a:pPr/>
              <a:t>78</a:t>
            </a:fld>
            <a:endParaRPr lang="en-US" sz="1200" b="0" baseline="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4406105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79</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85637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80</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5829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81</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303156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82</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531448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83</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396481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84</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392438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F91FEAE-CB76-4B6D-AA6C-261953E01248}" type="slidenum">
              <a:rPr lang="en-US"/>
              <a:pPr/>
              <a:t>85</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316943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0B0D138-5236-46EF-A5A5-9DF9823EF156}" type="slidenum">
              <a:rPr lang="en-AU"/>
              <a:pPr>
                <a:defRPr/>
              </a:pPr>
              <a:t>88</a:t>
            </a:fld>
            <a:endParaRPr lang="en-AU"/>
          </a:p>
        </p:txBody>
      </p:sp>
      <p:sp>
        <p:nvSpPr>
          <p:cNvPr id="201731"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201732" name="Rectangle 3"/>
          <p:cNvSpPr>
            <a:spLocks noGrp="1" noChangeArrowheads="1"/>
          </p:cNvSpPr>
          <p:nvPr>
            <p:ph type="body" idx="1"/>
          </p:nvPr>
        </p:nvSpPr>
        <p:spPr bwMode="auto">
          <a:noFill/>
        </p:spPr>
        <p:txBody>
          <a:bodyPr wrap="square" numCol="1" anchor="t" anchorCtr="0" compatLnSpc="1">
            <a:prstTxWarp prst="textNoShape">
              <a:avLst/>
            </a:prstTxWarp>
          </a:bodyPr>
          <a:lstStyle/>
          <a:p>
            <a:r>
              <a:rPr lang="en-US"/>
              <a:t>See text for additional discussion. Reduction comes from observation that if in GF(2</a:t>
            </a:r>
            <a:r>
              <a:rPr lang="en-US" baseline="30000"/>
              <a:t>n</a:t>
            </a:r>
            <a:r>
              <a:rPr lang="en-US"/>
              <a:t>) then irreducible poly g(x) has highest term x</a:t>
            </a:r>
            <a:r>
              <a:rPr lang="en-US" baseline="30000"/>
              <a:t>n</a:t>
            </a:r>
            <a:r>
              <a:rPr lang="en-US"/>
              <a:t> , and if compute x</a:t>
            </a:r>
            <a:r>
              <a:rPr lang="en-US" baseline="30000"/>
              <a:t>n</a:t>
            </a:r>
            <a:r>
              <a:rPr lang="en-US"/>
              <a:t> mod g(x) answer is g(x)- x</a:t>
            </a:r>
            <a:r>
              <a:rPr lang="en-US" baseline="30000"/>
              <a:t>n</a:t>
            </a:r>
            <a:endParaRPr lang="en-AU" baseline="30000"/>
          </a:p>
        </p:txBody>
      </p:sp>
    </p:spTree>
    <p:extLst>
      <p:ext uri="{BB962C8B-B14F-4D97-AF65-F5344CB8AC3E}">
        <p14:creationId xmlns:p14="http://schemas.microsoft.com/office/powerpoint/2010/main" val="21080516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9646A29-67A9-4F2B-92FA-7F1577B075BA}" type="slidenum">
              <a:rPr lang="en-AU"/>
              <a:pPr>
                <a:defRPr/>
              </a:pPr>
              <a:t>89</a:t>
            </a:fld>
            <a:endParaRPr lang="en-AU"/>
          </a:p>
        </p:txBody>
      </p:sp>
      <p:sp>
        <p:nvSpPr>
          <p:cNvPr id="202755"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202756" name="Rectangle 3"/>
          <p:cNvSpPr>
            <a:spLocks noGrp="1" noChangeArrowheads="1"/>
          </p:cNvSpPr>
          <p:nvPr>
            <p:ph type="body" idx="1"/>
          </p:nvPr>
        </p:nvSpPr>
        <p:spPr bwMode="auto">
          <a:noFill/>
        </p:spPr>
        <p:txBody>
          <a:bodyPr wrap="square" numCol="1" anchor="t" anchorCtr="0" compatLnSpc="1">
            <a:prstTxWarp prst="textNoShape">
              <a:avLst/>
            </a:prstTxWarp>
          </a:bodyPr>
          <a:lstStyle/>
          <a:p>
            <a:r>
              <a:rPr lang="en-US"/>
              <a:t>Show here a few simple examples of addition, multiplication &amp; modulo reduction in GF(2</a:t>
            </a:r>
            <a:r>
              <a:rPr lang="en-US" baseline="30000"/>
              <a:t>3</a:t>
            </a:r>
            <a:r>
              <a:rPr lang="en-US"/>
              <a:t>).</a:t>
            </a:r>
          </a:p>
          <a:p>
            <a:r>
              <a:rPr lang="en-US"/>
              <a:t>Note the long form modulo reduction finds p(x)=q(x).m(x)+r(x) with r(x) being the desired remainder.</a:t>
            </a:r>
            <a:endParaRPr lang="en-AU" baseline="30000"/>
          </a:p>
        </p:txBody>
      </p:sp>
    </p:spTree>
    <p:extLst>
      <p:ext uri="{BB962C8B-B14F-4D97-AF65-F5344CB8AC3E}">
        <p14:creationId xmlns:p14="http://schemas.microsoft.com/office/powerpoint/2010/main" val="818784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p:txBody>
          <a:bodyPr/>
          <a:lstStyle/>
          <a:p>
            <a:pPr>
              <a:defRPr/>
            </a:pPr>
            <a:fld id="{81E656F8-269A-49F7-B408-539CDC0EF4CE}" type="slidenum">
              <a:rPr lang="en-AU">
                <a:latin typeface="Times New Roman" pitchFamily="18" charset="0"/>
                <a:ea typeface="ＭＳ Ｐゴシック" pitchFamily="34" charset="-128"/>
              </a:rPr>
              <a:pPr>
                <a:defRPr/>
              </a:pPr>
              <a:t>92</a:t>
            </a:fld>
            <a:endParaRPr lang="en-AU">
              <a:latin typeface="Times New Roman" pitchFamily="18" charset="0"/>
              <a:ea typeface="ＭＳ Ｐゴシック" pitchFamily="34" charset="-128"/>
            </a:endParaRPr>
          </a:p>
        </p:txBody>
      </p:sp>
      <p:sp>
        <p:nvSpPr>
          <p:cNvPr id="209923"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6B7F3E3-919A-4ABA-B919-AA97640E5B02}"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92</a:t>
            </a:fld>
            <a:endParaRPr lang="en-US" sz="1200">
              <a:solidFill>
                <a:srgbClr val="FFFFFF"/>
              </a:solidFill>
            </a:endParaRPr>
          </a:p>
        </p:txBody>
      </p:sp>
      <p:sp>
        <p:nvSpPr>
          <p:cNvPr id="209924" name="Rectangle 2"/>
          <p:cNvSpPr>
            <a:spLocks noGrp="1" noRot="1" noChangeAspect="1" noChangeArrowheads="1" noTextEdit="1"/>
          </p:cNvSpPr>
          <p:nvPr>
            <p:ph type="sldImg"/>
          </p:nvPr>
        </p:nvSpPr>
        <p:spPr bwMode="auto">
          <a:xfrm>
            <a:off x="1143000" y="685800"/>
            <a:ext cx="4572000" cy="3429000"/>
          </a:xfrm>
          <a:solidFill>
            <a:srgbClr val="FFFFFF"/>
          </a:solidFill>
          <a:ln>
            <a:solidFill>
              <a:srgbClr val="000000"/>
            </a:solidFill>
            <a:miter lim="800000"/>
            <a:headEnd/>
            <a:tailEnd/>
          </a:ln>
        </p:spPr>
      </p:sp>
      <p:sp>
        <p:nvSpPr>
          <p:cNvPr id="209925" name="Text Box 3"/>
          <p:cNvSpPr>
            <a:spLocks noGrp="1" noChangeArrowheads="1"/>
          </p:cNvSpPr>
          <p:nvPr>
            <p:ph type="body" idx="1"/>
          </p:nvPr>
        </p:nvSpPr>
        <p:spPr bwMode="auto">
          <a:xfrm>
            <a:off x="685800" y="4343400"/>
            <a:ext cx="5486400" cy="4114800"/>
          </a:xfrm>
          <a:noFill/>
        </p:spPr>
        <p:txBody>
          <a:bodyPr wrap="square" numCol="1" anchor="t" anchorCtr="0" compatLnSpc="1">
            <a:prstTxWarp prst="textNoShape">
              <a:avLst/>
            </a:prstTxWarp>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Arial" pitchFamily="34" charset="0"/>
                <a:ea typeface="ＭＳ Ｐゴシック" pitchFamily="34" charset="-128"/>
              </a:rPr>
              <a:t>Example shows addition &amp; multiplication in GF(2</a:t>
            </a:r>
            <a:r>
              <a:rPr lang="en-US" baseline="30000">
                <a:latin typeface="Arial" pitchFamily="34" charset="0"/>
                <a:ea typeface="ＭＳ Ｐゴシック" pitchFamily="34" charset="-128"/>
              </a:rPr>
              <a:t>3</a:t>
            </a:r>
            <a:r>
              <a:rPr lang="en-US">
                <a:latin typeface="Arial" pitchFamily="34" charset="0"/>
                <a:ea typeface="ＭＳ Ｐゴシック" pitchFamily="34" charset="-128"/>
              </a:rPr>
              <a:t>) modulo (x</a:t>
            </a:r>
            <a:r>
              <a:rPr lang="en-US" baseline="30000">
                <a:latin typeface="Arial" pitchFamily="34" charset="0"/>
                <a:ea typeface="ＭＳ Ｐゴシック" pitchFamily="34" charset="-128"/>
              </a:rPr>
              <a:t>3</a:t>
            </a:r>
            <a:r>
              <a:rPr lang="en-US">
                <a:latin typeface="Arial" pitchFamily="34" charset="0"/>
                <a:ea typeface="ＭＳ Ｐゴシック" pitchFamily="34" charset="-128"/>
              </a:rPr>
              <a:t>+x+1), from Stallings Table 476.</a:t>
            </a:r>
          </a:p>
        </p:txBody>
      </p:sp>
    </p:spTree>
    <p:extLst>
      <p:ext uri="{BB962C8B-B14F-4D97-AF65-F5344CB8AC3E}">
        <p14:creationId xmlns:p14="http://schemas.microsoft.com/office/powerpoint/2010/main" val="4653128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7E90D08-6DC1-4E6E-9EB4-14A3CED5B93F}" type="slidenum">
              <a:rPr lang="en-AU"/>
              <a:pPr>
                <a:defRPr/>
              </a:pPr>
              <a:t>93</a:t>
            </a:fld>
            <a:endParaRPr lang="en-AU"/>
          </a:p>
        </p:txBody>
      </p:sp>
      <p:sp>
        <p:nvSpPr>
          <p:cNvPr id="211971"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p:spPr>
      </p:sp>
      <p:sp>
        <p:nvSpPr>
          <p:cNvPr id="211972" name="Rectangle 3"/>
          <p:cNvSpPr>
            <a:spLocks noGrp="1" noChangeArrowheads="1"/>
          </p:cNvSpPr>
          <p:nvPr>
            <p:ph type="body" idx="1"/>
          </p:nvPr>
        </p:nvSpPr>
        <p:spPr bwMode="auto">
          <a:noFill/>
        </p:spPr>
        <p:txBody>
          <a:bodyPr wrap="square" numCol="1" anchor="t" anchorCtr="0" compatLnSpc="1">
            <a:prstTxWarp prst="textNoShape">
              <a:avLst/>
            </a:prstTxWarp>
          </a:bodyPr>
          <a:lstStyle/>
          <a:p>
            <a:r>
              <a:rPr lang="en-US"/>
              <a:t>From Stallings Table 4-3b.</a:t>
            </a:r>
            <a:endParaRPr lang="en-AU"/>
          </a:p>
        </p:txBody>
      </p:sp>
    </p:spTree>
    <p:extLst>
      <p:ext uri="{BB962C8B-B14F-4D97-AF65-F5344CB8AC3E}">
        <p14:creationId xmlns:p14="http://schemas.microsoft.com/office/powerpoint/2010/main" val="8173662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p:txBody>
          <a:bodyPr/>
          <a:lstStyle/>
          <a:p>
            <a:pPr>
              <a:defRPr/>
            </a:pPr>
            <a:fld id="{4FD54EE7-1531-4CE4-A1D4-4E3638E6B48F}" type="slidenum">
              <a:rPr lang="en-AU">
                <a:latin typeface="Times New Roman" pitchFamily="18" charset="0"/>
                <a:ea typeface="ＭＳ Ｐゴシック" pitchFamily="34" charset="-128"/>
              </a:rPr>
              <a:pPr>
                <a:defRPr/>
              </a:pPr>
              <a:t>95</a:t>
            </a:fld>
            <a:endParaRPr lang="en-AU">
              <a:latin typeface="Times New Roman" pitchFamily="18" charset="0"/>
              <a:ea typeface="ＭＳ Ｐゴシック" pitchFamily="34" charset="-128"/>
            </a:endParaRPr>
          </a:p>
        </p:txBody>
      </p:sp>
      <p:sp>
        <p:nvSpPr>
          <p:cNvPr id="212995"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1323281-0203-4FCF-9B69-1D2463B21E59}"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95</a:t>
            </a:fld>
            <a:endParaRPr lang="en-US" sz="1200">
              <a:solidFill>
                <a:srgbClr val="FFFFFF"/>
              </a:solidFill>
            </a:endParaRPr>
          </a:p>
        </p:txBody>
      </p:sp>
      <p:sp>
        <p:nvSpPr>
          <p:cNvPr id="212996" name="Rectangle 2"/>
          <p:cNvSpPr>
            <a:spLocks noGrp="1" noRot="1" noChangeAspect="1" noChangeArrowheads="1" noTextEdit="1"/>
          </p:cNvSpPr>
          <p:nvPr>
            <p:ph type="sldImg"/>
          </p:nvPr>
        </p:nvSpPr>
        <p:spPr bwMode="auto">
          <a:xfrm>
            <a:off x="1143000" y="685800"/>
            <a:ext cx="4572000" cy="3429000"/>
          </a:xfrm>
          <a:solidFill>
            <a:srgbClr val="FFFFFF"/>
          </a:solidFill>
          <a:ln>
            <a:solidFill>
              <a:srgbClr val="000000"/>
            </a:solidFill>
            <a:miter lim="800000"/>
            <a:headEnd/>
            <a:tailEnd/>
          </a:ln>
        </p:spPr>
      </p:sp>
      <p:sp>
        <p:nvSpPr>
          <p:cNvPr id="212997" name="Text Box 3"/>
          <p:cNvSpPr>
            <a:spLocks noGrp="1" noChangeArrowheads="1"/>
          </p:cNvSpPr>
          <p:nvPr>
            <p:ph type="body" idx="1"/>
          </p:nvPr>
        </p:nvSpPr>
        <p:spPr bwMode="auto">
          <a:xfrm>
            <a:off x="685800" y="4343400"/>
            <a:ext cx="5486400" cy="4114800"/>
          </a:xfrm>
          <a:noFill/>
        </p:spPr>
        <p:txBody>
          <a:bodyPr wrap="square" numCol="1" anchor="t" anchorCtr="0" compatLnSpc="1">
            <a:prstTxWarp prst="textNoShape">
              <a:avLst/>
            </a:prstTxWarp>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Arial" pitchFamily="34" charset="0"/>
                <a:ea typeface="ＭＳ Ｐゴシック" pitchFamily="34" charset="-128"/>
              </a:rPr>
              <a:t>Show here a few simple examples of addition, multiplication &amp; modulo reduction in GF(2</a:t>
            </a:r>
            <a:r>
              <a:rPr lang="en-US" baseline="30000">
                <a:latin typeface="Arial" pitchFamily="34" charset="0"/>
                <a:ea typeface="ＭＳ Ｐゴシック" pitchFamily="34" charset="-128"/>
              </a:rPr>
              <a:t>3</a:t>
            </a:r>
            <a:r>
              <a:rPr lang="en-US">
                <a:latin typeface="Arial" pitchFamily="34" charset="0"/>
                <a:ea typeface="ＭＳ Ｐゴシック" pitchFamily="34" charset="-128"/>
              </a:rPr>
              <a:t>).</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Arial" pitchFamily="34" charset="0"/>
                <a:ea typeface="ＭＳ Ｐゴシック" pitchFamily="34" charset="-128"/>
              </a:rPr>
              <a:t>Note the long form modulo reduction finds p(x)=q(x).m(x)+r(x) with r(x) being the desired remainder.</a:t>
            </a:r>
          </a:p>
        </p:txBody>
      </p:sp>
    </p:spTree>
    <p:extLst>
      <p:ext uri="{BB962C8B-B14F-4D97-AF65-F5344CB8AC3E}">
        <p14:creationId xmlns:p14="http://schemas.microsoft.com/office/powerpoint/2010/main" val="9018761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p:txBody>
          <a:bodyPr/>
          <a:lstStyle/>
          <a:p>
            <a:pPr>
              <a:defRPr/>
            </a:pPr>
            <a:fld id="{7D819CF5-45F9-43F5-BB19-A6E9543A6BEC}" type="slidenum">
              <a:rPr lang="en-AU">
                <a:latin typeface="Times New Roman" pitchFamily="18" charset="0"/>
                <a:ea typeface="ＭＳ Ｐゴシック" pitchFamily="34" charset="-128"/>
              </a:rPr>
              <a:pPr>
                <a:defRPr/>
              </a:pPr>
              <a:t>96</a:t>
            </a:fld>
            <a:endParaRPr lang="en-AU">
              <a:latin typeface="Times New Roman" pitchFamily="18" charset="0"/>
              <a:ea typeface="ＭＳ Ｐゴシック" pitchFamily="34" charset="-128"/>
            </a:endParaRPr>
          </a:p>
        </p:txBody>
      </p:sp>
      <p:sp>
        <p:nvSpPr>
          <p:cNvPr id="214019"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395FAF3-1874-48A2-9836-69EA9926E3E7}"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96</a:t>
            </a:fld>
            <a:endParaRPr lang="en-US" sz="1200">
              <a:solidFill>
                <a:srgbClr val="FFFFFF"/>
              </a:solidFill>
            </a:endParaRPr>
          </a:p>
        </p:txBody>
      </p:sp>
      <p:sp>
        <p:nvSpPr>
          <p:cNvPr id="214020" name="Rectangle 2"/>
          <p:cNvSpPr>
            <a:spLocks noGrp="1" noRot="1" noChangeAspect="1" noChangeArrowheads="1" noTextEdit="1"/>
          </p:cNvSpPr>
          <p:nvPr>
            <p:ph type="sldImg"/>
          </p:nvPr>
        </p:nvSpPr>
        <p:spPr bwMode="auto">
          <a:xfrm>
            <a:off x="1143000" y="685800"/>
            <a:ext cx="4572000" cy="3429000"/>
          </a:xfrm>
          <a:solidFill>
            <a:srgbClr val="FFFFFF"/>
          </a:solidFill>
          <a:ln>
            <a:solidFill>
              <a:srgbClr val="000000"/>
            </a:solidFill>
            <a:miter lim="800000"/>
            <a:headEnd/>
            <a:tailEnd/>
          </a:ln>
        </p:spPr>
      </p:sp>
      <p:sp>
        <p:nvSpPr>
          <p:cNvPr id="214021" name="Text Box 3"/>
          <p:cNvSpPr>
            <a:spLocks noGrp="1" noChangeArrowheads="1"/>
          </p:cNvSpPr>
          <p:nvPr>
            <p:ph type="body" idx="1"/>
          </p:nvPr>
        </p:nvSpPr>
        <p:spPr bwMode="auto">
          <a:xfrm>
            <a:off x="685800" y="4343400"/>
            <a:ext cx="5486400" cy="4114800"/>
          </a:xfrm>
          <a:noFill/>
        </p:spPr>
        <p:txBody>
          <a:bodyPr wrap="square" numCol="1" anchor="t" anchorCtr="0" compatLnSpc="1">
            <a:prstTxWarp prst="textNoShape">
              <a:avLst/>
            </a:prstTxWarp>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Arial" pitchFamily="34" charset="0"/>
                <a:ea typeface="ＭＳ Ｐゴシック" pitchFamily="34" charset="-128"/>
              </a:rPr>
              <a:t>Show here a few simple examples of addition, multiplication &amp; modulo reduction in GF(2</a:t>
            </a:r>
            <a:r>
              <a:rPr lang="en-US" baseline="30000">
                <a:latin typeface="Arial" pitchFamily="34" charset="0"/>
                <a:ea typeface="ＭＳ Ｐゴシック" pitchFamily="34" charset="-128"/>
              </a:rPr>
              <a:t>3</a:t>
            </a:r>
            <a:r>
              <a:rPr lang="en-US">
                <a:latin typeface="Arial" pitchFamily="34" charset="0"/>
                <a:ea typeface="ＭＳ Ｐゴシック" pitchFamily="34" charset="-128"/>
              </a:rPr>
              <a:t>).</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Arial" pitchFamily="34" charset="0"/>
                <a:ea typeface="ＭＳ Ｐゴシック" pitchFamily="34" charset="-128"/>
              </a:rPr>
              <a:t>Note the long form modulo reduction finds p(x)=q(x).m(x)+r(x) with r(x) being the desired remainder.</a:t>
            </a:r>
          </a:p>
        </p:txBody>
      </p:sp>
    </p:spTree>
    <p:extLst>
      <p:ext uri="{BB962C8B-B14F-4D97-AF65-F5344CB8AC3E}">
        <p14:creationId xmlns:p14="http://schemas.microsoft.com/office/powerpoint/2010/main" val="102971182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p:txBody>
          <a:bodyPr/>
          <a:lstStyle/>
          <a:p>
            <a:pPr>
              <a:defRPr/>
            </a:pPr>
            <a:fld id="{FF34CF2F-75F7-4BEB-BC34-BAEC4B2B2681}" type="slidenum">
              <a:rPr lang="en-AU">
                <a:latin typeface="Times New Roman" pitchFamily="18" charset="0"/>
                <a:ea typeface="ＭＳ Ｐゴシック" pitchFamily="34" charset="-128"/>
              </a:rPr>
              <a:pPr>
                <a:defRPr/>
              </a:pPr>
              <a:t>97</a:t>
            </a:fld>
            <a:endParaRPr lang="en-AU">
              <a:latin typeface="Times New Roman" pitchFamily="18" charset="0"/>
              <a:ea typeface="ＭＳ Ｐゴシック" pitchFamily="34" charset="-128"/>
            </a:endParaRPr>
          </a:p>
        </p:txBody>
      </p:sp>
      <p:sp>
        <p:nvSpPr>
          <p:cNvPr id="216067"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C9227CF-9979-453D-82FC-B494FCB8CBE5}"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97</a:t>
            </a:fld>
            <a:endParaRPr lang="en-US" sz="1200">
              <a:solidFill>
                <a:srgbClr val="FFFFFF"/>
              </a:solidFill>
            </a:endParaRPr>
          </a:p>
        </p:txBody>
      </p:sp>
      <p:sp>
        <p:nvSpPr>
          <p:cNvPr id="216068" name="Rectangle 2"/>
          <p:cNvSpPr>
            <a:spLocks noGrp="1" noRot="1" noChangeAspect="1" noChangeArrowheads="1" noTextEdit="1"/>
          </p:cNvSpPr>
          <p:nvPr>
            <p:ph type="sldImg"/>
          </p:nvPr>
        </p:nvSpPr>
        <p:spPr bwMode="auto">
          <a:xfrm>
            <a:off x="1143000" y="685800"/>
            <a:ext cx="4572000" cy="3429000"/>
          </a:xfrm>
          <a:solidFill>
            <a:srgbClr val="FFFFFF"/>
          </a:solidFill>
          <a:ln>
            <a:solidFill>
              <a:srgbClr val="000000"/>
            </a:solidFill>
            <a:miter lim="800000"/>
            <a:headEnd/>
            <a:tailEnd/>
          </a:ln>
        </p:spPr>
      </p:sp>
      <p:sp>
        <p:nvSpPr>
          <p:cNvPr id="216069" name="Text Box 3"/>
          <p:cNvSpPr>
            <a:spLocks noGrp="1" noChangeArrowheads="1"/>
          </p:cNvSpPr>
          <p:nvPr>
            <p:ph type="body" idx="1"/>
          </p:nvPr>
        </p:nvSpPr>
        <p:spPr bwMode="auto">
          <a:xfrm>
            <a:off x="685800" y="4343400"/>
            <a:ext cx="5486400" cy="4114800"/>
          </a:xfrm>
          <a:noFill/>
        </p:spPr>
        <p:txBody>
          <a:bodyPr wrap="square" numCol="1" anchor="t" anchorCtr="0" compatLnSpc="1">
            <a:prstTxWarp prst="textNoShape">
              <a:avLst/>
            </a:prstTxWarp>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atin typeface="Arial" pitchFamily="34" charset="0"/>
                <a:ea typeface="ＭＳ Ｐゴシック" pitchFamily="34" charset="-128"/>
              </a:rPr>
              <a:t>Chapter 4 summary.</a:t>
            </a:r>
          </a:p>
        </p:txBody>
      </p:sp>
    </p:spTree>
    <p:extLst>
      <p:ext uri="{BB962C8B-B14F-4D97-AF65-F5344CB8AC3E}">
        <p14:creationId xmlns:p14="http://schemas.microsoft.com/office/powerpoint/2010/main" val="37024600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1B610B-C6E9-4DEF-8135-CBB7C7252C26}" type="slidenum">
              <a:rPr lang="en-US"/>
              <a:pPr/>
              <a:t>100</a:t>
            </a:fld>
            <a:endParaRPr lang="en-US"/>
          </a:p>
        </p:txBody>
      </p:sp>
      <p:sp>
        <p:nvSpPr>
          <p:cNvPr id="1174530" name="Rectangle 2"/>
          <p:cNvSpPr>
            <a:spLocks noGrp="1" noRot="1" noChangeAspect="1" noChangeArrowheads="1" noTextEdit="1"/>
          </p:cNvSpPr>
          <p:nvPr>
            <p:ph type="sldImg"/>
          </p:nvPr>
        </p:nvSpPr>
        <p:spPr>
          <a:ln/>
        </p:spPr>
      </p:sp>
      <p:sp>
        <p:nvSpPr>
          <p:cNvPr id="11745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239070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2BE0B0-34EE-4A59-9518-E48D0E9D4657}" type="slidenum">
              <a:rPr lang="en-US"/>
              <a:pPr/>
              <a:t>101</a:t>
            </a:fld>
            <a:endParaRPr lang="en-US"/>
          </a:p>
        </p:txBody>
      </p:sp>
      <p:sp>
        <p:nvSpPr>
          <p:cNvPr id="1176578" name="Rectangle 2"/>
          <p:cNvSpPr>
            <a:spLocks noGrp="1" noRot="1" noChangeAspect="1" noChangeArrowheads="1" noTextEdit="1"/>
          </p:cNvSpPr>
          <p:nvPr>
            <p:ph type="sldImg"/>
          </p:nvPr>
        </p:nvSpPr>
        <p:spPr>
          <a:ln/>
        </p:spPr>
      </p:sp>
      <p:sp>
        <p:nvSpPr>
          <p:cNvPr id="11765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87857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CC2D46-D03C-4ACB-A384-5D6D10E0448D}" type="slidenum">
              <a:rPr lang="en-US"/>
              <a:pPr/>
              <a:t>102</a:t>
            </a:fld>
            <a:endParaRPr lang="en-US"/>
          </a:p>
        </p:txBody>
      </p:sp>
      <p:sp>
        <p:nvSpPr>
          <p:cNvPr id="1178626" name="Rectangle 2"/>
          <p:cNvSpPr>
            <a:spLocks noGrp="1" noRot="1" noChangeAspect="1" noChangeArrowheads="1" noTextEdit="1"/>
          </p:cNvSpPr>
          <p:nvPr>
            <p:ph type="sldImg"/>
          </p:nvPr>
        </p:nvSpPr>
        <p:spPr>
          <a:ln/>
        </p:spPr>
      </p:sp>
      <p:sp>
        <p:nvSpPr>
          <p:cNvPr id="11786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3967295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8F0C7D-3CC1-4E22-A875-A51544FEBA41}" type="slidenum">
              <a:rPr lang="en-US"/>
              <a:pPr/>
              <a:t>103</a:t>
            </a:fld>
            <a:endParaRPr lang="en-US"/>
          </a:p>
        </p:txBody>
      </p:sp>
      <p:sp>
        <p:nvSpPr>
          <p:cNvPr id="1180674" name="Rectangle 2"/>
          <p:cNvSpPr>
            <a:spLocks noGrp="1" noRot="1" noChangeAspect="1" noChangeArrowheads="1" noTextEdit="1"/>
          </p:cNvSpPr>
          <p:nvPr>
            <p:ph type="sldImg"/>
          </p:nvPr>
        </p:nvSpPr>
        <p:spPr>
          <a:ln/>
        </p:spPr>
      </p:sp>
      <p:sp>
        <p:nvSpPr>
          <p:cNvPr id="11806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094163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D14F65-89EF-4845-955F-A8D06C1ECD88}" type="slidenum">
              <a:rPr lang="en-US">
                <a:solidFill>
                  <a:prstClr val="black"/>
                </a:solidFill>
              </a:rPr>
              <a:pPr/>
              <a:t>107</a:t>
            </a:fld>
            <a:endParaRPr lang="en-US">
              <a:solidFill>
                <a:prstClr val="black"/>
              </a:solidFill>
            </a:endParaRPr>
          </a:p>
        </p:txBody>
      </p:sp>
      <p:sp>
        <p:nvSpPr>
          <p:cNvPr id="887810" name="Rectangle 2"/>
          <p:cNvSpPr>
            <a:spLocks noGrp="1" noRot="1" noChangeAspect="1" noChangeArrowheads="1" noTextEdit="1"/>
          </p:cNvSpPr>
          <p:nvPr>
            <p:ph type="sldImg"/>
          </p:nvPr>
        </p:nvSpPr>
        <p:spPr>
          <a:ln/>
        </p:spPr>
      </p:sp>
      <p:sp>
        <p:nvSpPr>
          <p:cNvPr id="8878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3628148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E72C94-E6EB-4EF2-BDAF-6CAFA7CFC3D3}" type="slidenum">
              <a:rPr lang="en-US">
                <a:solidFill>
                  <a:prstClr val="black"/>
                </a:solidFill>
              </a:rPr>
              <a:pPr/>
              <a:t>108</a:t>
            </a:fld>
            <a:endParaRPr lang="en-US">
              <a:solidFill>
                <a:prstClr val="black"/>
              </a:solidFill>
            </a:endParaRPr>
          </a:p>
        </p:txBody>
      </p:sp>
      <p:sp>
        <p:nvSpPr>
          <p:cNvPr id="889858" name="Rectangle 2"/>
          <p:cNvSpPr>
            <a:spLocks noGrp="1" noRot="1" noChangeAspect="1" noChangeArrowheads="1" noTextEdit="1"/>
          </p:cNvSpPr>
          <p:nvPr>
            <p:ph type="sldImg"/>
          </p:nvPr>
        </p:nvSpPr>
        <p:spPr>
          <a:ln/>
        </p:spPr>
      </p:sp>
      <p:sp>
        <p:nvSpPr>
          <p:cNvPr id="8898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8960621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E05620-B774-40F9-9DBC-F004A48F76FC}" type="slidenum">
              <a:rPr lang="en-US">
                <a:solidFill>
                  <a:prstClr val="black"/>
                </a:solidFill>
              </a:rPr>
              <a:pPr/>
              <a:t>109</a:t>
            </a:fld>
            <a:endParaRPr lang="en-US">
              <a:solidFill>
                <a:prstClr val="black"/>
              </a:solidFill>
            </a:endParaRPr>
          </a:p>
        </p:txBody>
      </p:sp>
      <p:sp>
        <p:nvSpPr>
          <p:cNvPr id="891906" name="Rectangle 2"/>
          <p:cNvSpPr>
            <a:spLocks noGrp="1" noRot="1" noChangeAspect="1" noChangeArrowheads="1" noTextEdit="1"/>
          </p:cNvSpPr>
          <p:nvPr>
            <p:ph type="sldImg"/>
          </p:nvPr>
        </p:nvSpPr>
        <p:spPr>
          <a:ln/>
        </p:spPr>
      </p:sp>
      <p:sp>
        <p:nvSpPr>
          <p:cNvPr id="8919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4241150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B85B11-65CB-4019-A2E0-3203B1E75513}" type="slidenum">
              <a:rPr lang="en-US">
                <a:solidFill>
                  <a:prstClr val="black"/>
                </a:solidFill>
              </a:rPr>
              <a:pPr/>
              <a:t>110</a:t>
            </a:fld>
            <a:endParaRPr lang="en-US">
              <a:solidFill>
                <a:prstClr val="black"/>
              </a:solidFill>
            </a:endParaRPr>
          </a:p>
        </p:txBody>
      </p:sp>
      <p:sp>
        <p:nvSpPr>
          <p:cNvPr id="896002" name="Rectangle 2"/>
          <p:cNvSpPr>
            <a:spLocks noGrp="1" noRot="1" noChangeAspect="1" noChangeArrowheads="1" noTextEdit="1"/>
          </p:cNvSpPr>
          <p:nvPr>
            <p:ph type="sldImg"/>
          </p:nvPr>
        </p:nvSpPr>
        <p:spPr>
          <a:ln/>
        </p:spPr>
      </p:sp>
      <p:sp>
        <p:nvSpPr>
          <p:cNvPr id="8960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359229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BFE371-4BBE-4946-95E9-748A8A3C7C11}" type="slidenum">
              <a:rPr lang="en-US">
                <a:solidFill>
                  <a:prstClr val="black"/>
                </a:solidFill>
              </a:rPr>
              <a:pPr/>
              <a:t>111</a:t>
            </a:fld>
            <a:endParaRPr lang="en-US">
              <a:solidFill>
                <a:prstClr val="black"/>
              </a:solidFill>
            </a:endParaRPr>
          </a:p>
        </p:txBody>
      </p:sp>
      <p:sp>
        <p:nvSpPr>
          <p:cNvPr id="898050" name="Rectangle 2"/>
          <p:cNvSpPr>
            <a:spLocks noGrp="1" noRot="1" noChangeAspect="1" noChangeArrowheads="1" noTextEdit="1"/>
          </p:cNvSpPr>
          <p:nvPr>
            <p:ph type="sldImg"/>
          </p:nvPr>
        </p:nvSpPr>
        <p:spPr>
          <a:ln/>
        </p:spPr>
      </p:sp>
      <p:sp>
        <p:nvSpPr>
          <p:cNvPr id="8980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613133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338C9B-0CE6-4620-BE11-0EEDDB67FE69}" type="slidenum">
              <a:rPr lang="en-US">
                <a:solidFill>
                  <a:prstClr val="black"/>
                </a:solidFill>
              </a:rPr>
              <a:pPr/>
              <a:t>112</a:t>
            </a:fld>
            <a:endParaRPr lang="en-US">
              <a:solidFill>
                <a:prstClr val="black"/>
              </a:solidFill>
            </a:endParaRPr>
          </a:p>
        </p:txBody>
      </p:sp>
      <p:sp>
        <p:nvSpPr>
          <p:cNvPr id="900098" name="Rectangle 2"/>
          <p:cNvSpPr>
            <a:spLocks noGrp="1" noRot="1" noChangeAspect="1" noChangeArrowheads="1" noTextEdit="1"/>
          </p:cNvSpPr>
          <p:nvPr>
            <p:ph type="sldImg"/>
          </p:nvPr>
        </p:nvSpPr>
        <p:spPr>
          <a:ln/>
        </p:spPr>
      </p:sp>
      <p:sp>
        <p:nvSpPr>
          <p:cNvPr id="9000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652504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AF2788-3DE1-4F07-955C-65ADEF193DC5}" type="slidenum">
              <a:rPr lang="en-US">
                <a:solidFill>
                  <a:prstClr val="black"/>
                </a:solidFill>
              </a:rPr>
              <a:pPr/>
              <a:t>113</a:t>
            </a:fld>
            <a:endParaRPr lang="en-US">
              <a:solidFill>
                <a:prstClr val="black"/>
              </a:solidFill>
            </a:endParaRPr>
          </a:p>
        </p:txBody>
      </p:sp>
      <p:sp>
        <p:nvSpPr>
          <p:cNvPr id="902146" name="Rectangle 2"/>
          <p:cNvSpPr>
            <a:spLocks noGrp="1" noRot="1" noChangeAspect="1" noChangeArrowheads="1" noTextEdit="1"/>
          </p:cNvSpPr>
          <p:nvPr>
            <p:ph type="sldImg"/>
          </p:nvPr>
        </p:nvSpPr>
        <p:spPr>
          <a:ln/>
        </p:spPr>
      </p:sp>
      <p:sp>
        <p:nvSpPr>
          <p:cNvPr id="9021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995404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FDE3F1-3577-4977-A732-EB5D065528C8}" type="slidenum">
              <a:rPr lang="en-US">
                <a:solidFill>
                  <a:prstClr val="black"/>
                </a:solidFill>
              </a:rPr>
              <a:pPr/>
              <a:t>114</a:t>
            </a:fld>
            <a:endParaRPr lang="en-US">
              <a:solidFill>
                <a:prstClr val="black"/>
              </a:solidFill>
            </a:endParaRPr>
          </a:p>
        </p:txBody>
      </p:sp>
      <p:sp>
        <p:nvSpPr>
          <p:cNvPr id="904194" name="Rectangle 2"/>
          <p:cNvSpPr>
            <a:spLocks noGrp="1" noRot="1" noChangeAspect="1" noChangeArrowheads="1" noTextEdit="1"/>
          </p:cNvSpPr>
          <p:nvPr>
            <p:ph type="sldImg"/>
          </p:nvPr>
        </p:nvSpPr>
        <p:spPr>
          <a:ln/>
        </p:spPr>
      </p:sp>
      <p:sp>
        <p:nvSpPr>
          <p:cNvPr id="904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2898252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319356-AFE7-4145-AD7D-50D7DF7D4F5B}" type="slidenum">
              <a:rPr lang="en-US">
                <a:solidFill>
                  <a:prstClr val="black"/>
                </a:solidFill>
              </a:rPr>
              <a:pPr/>
              <a:t>115</a:t>
            </a:fld>
            <a:endParaRPr lang="en-US">
              <a:solidFill>
                <a:prstClr val="black"/>
              </a:solidFill>
            </a:endParaRPr>
          </a:p>
        </p:txBody>
      </p:sp>
      <p:sp>
        <p:nvSpPr>
          <p:cNvPr id="906242" name="Rectangle 2"/>
          <p:cNvSpPr>
            <a:spLocks noGrp="1" noRot="1" noChangeAspect="1" noChangeArrowheads="1" noTextEdit="1"/>
          </p:cNvSpPr>
          <p:nvPr>
            <p:ph type="sldImg"/>
          </p:nvPr>
        </p:nvSpPr>
        <p:spPr>
          <a:ln/>
        </p:spPr>
      </p:sp>
      <p:sp>
        <p:nvSpPr>
          <p:cNvPr id="9062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3134546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436B16-5D94-4903-8B35-C6B3F501421E}" type="slidenum">
              <a:rPr lang="en-US">
                <a:solidFill>
                  <a:prstClr val="black"/>
                </a:solidFill>
              </a:rPr>
              <a:pPr/>
              <a:t>116</a:t>
            </a:fld>
            <a:endParaRPr lang="en-US">
              <a:solidFill>
                <a:prstClr val="black"/>
              </a:solidFill>
            </a:endParaRPr>
          </a:p>
        </p:txBody>
      </p:sp>
      <p:sp>
        <p:nvSpPr>
          <p:cNvPr id="908290" name="Rectangle 2"/>
          <p:cNvSpPr>
            <a:spLocks noGrp="1" noRot="1" noChangeAspect="1" noChangeArrowheads="1" noTextEdit="1"/>
          </p:cNvSpPr>
          <p:nvPr>
            <p:ph type="sldImg"/>
          </p:nvPr>
        </p:nvSpPr>
        <p:spPr>
          <a:ln/>
        </p:spPr>
      </p:sp>
      <p:sp>
        <p:nvSpPr>
          <p:cNvPr id="9082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1258886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46AE96-8462-4DA1-9F86-E35DB5D81444}" type="slidenum">
              <a:rPr lang="en-US">
                <a:solidFill>
                  <a:prstClr val="black"/>
                </a:solidFill>
              </a:rPr>
              <a:pPr/>
              <a:t>117</a:t>
            </a:fld>
            <a:endParaRPr lang="en-US">
              <a:solidFill>
                <a:prstClr val="black"/>
              </a:solidFill>
            </a:endParaRPr>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40283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523143" y="403225"/>
            <a:ext cx="7792915" cy="682625"/>
          </a:xfrm>
          <a:prstGeom prst="rect">
            <a:avLst/>
          </a:prstGeom>
          <a:noFill/>
          <a:ln w="9525">
            <a:noFill/>
            <a:miter lim="800000"/>
            <a:headEnd/>
            <a:tailEnd/>
          </a:ln>
        </p:spPr>
        <p:txBody>
          <a:bodyPr vert="horz" wrap="square" lIns="87269" tIns="43634" rIns="87269" bIns="43634" numCol="1" anchor="t" anchorCtr="0" compatLnSpc="1">
            <a:prstTxWarp prst="textNoShape">
              <a:avLst/>
            </a:prstTxWarp>
          </a:bodyPr>
          <a:lstStyle/>
          <a:p>
            <a:pPr lvl="0"/>
            <a:r>
              <a:rPr lang="en-US" dirty="0"/>
              <a:t>Click to edit Master title style</a:t>
            </a:r>
          </a:p>
        </p:txBody>
      </p:sp>
      <p:sp>
        <p:nvSpPr>
          <p:cNvPr id="3" name="Text Placeholder 2"/>
          <p:cNvSpPr>
            <a:spLocks noGrp="1"/>
          </p:cNvSpPr>
          <p:nvPr>
            <p:ph idx="1"/>
          </p:nvPr>
        </p:nvSpPr>
        <p:spPr bwMode="auto">
          <a:xfrm>
            <a:off x="565640" y="1447801"/>
            <a:ext cx="7839808" cy="5054600"/>
          </a:xfrm>
          <a:prstGeom prst="rect">
            <a:avLst/>
          </a:prstGeom>
          <a:noFill/>
          <a:ln w="9525">
            <a:noFill/>
            <a:miter lim="800000"/>
            <a:headEnd/>
            <a:tailEnd/>
          </a:ln>
        </p:spPr>
        <p:txBody>
          <a:bodyPr vert="horz" wrap="square" lIns="87269" tIns="43634" rIns="87269" bIns="4363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aption">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with Caption">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sp>
        <p:nvSpPr>
          <p:cNvPr id="4" name="Text Box 66"/>
          <p:cNvSpPr txBox="1">
            <a:spLocks noChangeArrowheads="1"/>
          </p:cNvSpPr>
          <p:nvPr userDrawn="1"/>
        </p:nvSpPr>
        <p:spPr bwMode="auto">
          <a:xfrm>
            <a:off x="457200" y="6248401"/>
            <a:ext cx="2133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5" name="Text Box 67"/>
          <p:cNvSpPr txBox="1">
            <a:spLocks noChangeArrowheads="1"/>
          </p:cNvSpPr>
          <p:nvPr userDrawn="1"/>
        </p:nvSpPr>
        <p:spPr bwMode="auto">
          <a:xfrm>
            <a:off x="3124201" y="6248401"/>
            <a:ext cx="2895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67" name="Rectangle 65"/>
          <p:cNvSpPr>
            <a:spLocks noGrp="1" noChangeArrowheads="1"/>
          </p:cNvSpPr>
          <p:nvPr>
            <p:ph type="title"/>
          </p:nvPr>
        </p:nvSpPr>
        <p:spPr bwMode="auto">
          <a:xfrm>
            <a:off x="457246" y="130263"/>
            <a:ext cx="8228013" cy="1433513"/>
          </a:xfrm>
          <a:prstGeom prst="rect">
            <a:avLst/>
          </a:prstGeom>
          <a:noFill/>
          <a:ln w="9525">
            <a:noFill/>
            <a:round/>
            <a:headEnd/>
            <a:tailEnd/>
          </a:ln>
        </p:spPr>
        <p:txBody>
          <a:bodyPr lIns="85894" tIns="44665" rIns="85894" bIns="44665" anchor="ctr" anchorCtr="1"/>
          <a:lstStyle>
            <a:lvl1pPr>
              <a:defRPr b="0"/>
            </a:lvl1pPr>
          </a:lstStyle>
          <a:p>
            <a:pPr lvl="0"/>
            <a:r>
              <a:rPr lang="en-GB" dirty="0"/>
              <a:t>Click to edit the title text format</a:t>
            </a:r>
          </a:p>
        </p:txBody>
      </p:sp>
      <p:sp>
        <p:nvSpPr>
          <p:cNvPr id="71" name="Rectangle 69"/>
          <p:cNvSpPr>
            <a:spLocks noGrp="1" noChangeArrowheads="1"/>
          </p:cNvSpPr>
          <p:nvPr>
            <p:ph idx="1"/>
          </p:nvPr>
        </p:nvSpPr>
        <p:spPr bwMode="auto">
          <a:xfrm>
            <a:off x="457246" y="1676401"/>
            <a:ext cx="8228013" cy="4452937"/>
          </a:xfrm>
          <a:prstGeom prst="rect">
            <a:avLst/>
          </a:prstGeom>
          <a:noFill/>
          <a:ln w="9525">
            <a:noFill/>
            <a:round/>
            <a:headEnd/>
            <a:tailEnd/>
          </a:ln>
        </p:spPr>
        <p:txBody>
          <a:bodyPr lIns="85894" tIns="44665" rIns="85894" bIns="44665"/>
          <a:lstStyle>
            <a:lvl1pPr>
              <a:defRPr sz="2300" b="0"/>
            </a:lvl1pPr>
            <a:lvl2pPr>
              <a:defRPr sz="2300" b="0">
                <a:solidFill>
                  <a:schemeClr val="tx1"/>
                </a:solidFill>
              </a:defRPr>
            </a:lvl2pPr>
            <a:lvl3pPr>
              <a:defRPr sz="2300" b="0">
                <a:solidFill>
                  <a:schemeClr val="tx1"/>
                </a:solidFill>
              </a:defRPr>
            </a:lvl3pPr>
            <a:lvl4pPr>
              <a:defRPr sz="2300" b="0">
                <a:solidFill>
                  <a:schemeClr val="tx1"/>
                </a:solidFill>
              </a:defRPr>
            </a:lvl4pPr>
            <a:lvl5pPr>
              <a:defRPr sz="2300" b="0">
                <a:solidFill>
                  <a:schemeClr val="tx1"/>
                </a:solidFill>
              </a:defRPr>
            </a:lvl5pPr>
          </a:lstStyle>
          <a:p>
            <a:pPr lvl="0"/>
            <a:r>
              <a:rPr lang="en-GB" noProof="0" dirty="0"/>
              <a:t>Click to edit the outline text format</a:t>
            </a:r>
          </a:p>
          <a:p>
            <a:pPr lvl="1"/>
            <a:r>
              <a:rPr lang="en-GB" noProof="0" dirty="0"/>
              <a:t>Second Outline Level</a:t>
            </a:r>
          </a:p>
          <a:p>
            <a:pPr lvl="2"/>
            <a:r>
              <a:rPr lang="en-GB" noProof="0" dirty="0"/>
              <a:t>Third Outline Level</a:t>
            </a:r>
          </a:p>
          <a:p>
            <a:pPr lvl="3"/>
            <a:r>
              <a:rPr lang="en-GB" noProof="0" dirty="0"/>
              <a:t>Fourth Outline Level</a:t>
            </a:r>
          </a:p>
          <a:p>
            <a:pPr lvl="4"/>
            <a:r>
              <a:rPr lang="en-GB" noProof="0" dirty="0"/>
              <a:t>Fifth Outline Level</a:t>
            </a:r>
          </a:p>
          <a:p>
            <a:pPr lvl="4"/>
            <a:r>
              <a:rPr lang="en-GB" noProof="0" dirty="0"/>
              <a:t>Sixth Outline Level</a:t>
            </a:r>
          </a:p>
          <a:p>
            <a:pPr lvl="4"/>
            <a:r>
              <a:rPr lang="en-GB" noProof="0" dirty="0"/>
              <a:t>Seventh Outline Level</a:t>
            </a:r>
          </a:p>
        </p:txBody>
      </p:sp>
      <p:sp>
        <p:nvSpPr>
          <p:cNvPr id="6" name="Rectangle 68"/>
          <p:cNvSpPr>
            <a:spLocks noGrp="1" noChangeArrowheads="1"/>
          </p:cNvSpPr>
          <p:nvPr>
            <p:ph type="sldNum" idx="10"/>
          </p:nvPr>
        </p:nvSpPr>
        <p:spPr>
          <a:xfrm>
            <a:off x="7763608" y="295275"/>
            <a:ext cx="628650" cy="768350"/>
          </a:xfrm>
          <a:prstGeom prst="rect">
            <a:avLst/>
          </a:prstGeom>
        </p:spPr>
        <p:txBody>
          <a:bodyPr lIns="87269" tIns="43634" rIns="87269" bIns="43634"/>
          <a:lstStyle>
            <a:lvl1pPr>
              <a:defRPr/>
            </a:lvl1pPr>
          </a:lstStyle>
          <a:p>
            <a:pPr>
              <a:defRPr/>
            </a:pPr>
            <a:fld id="{93906708-8B94-43EF-ACB6-E1A689B84B1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4_Blank">
    <p:spTree>
      <p:nvGrpSpPr>
        <p:cNvPr id="1" name=""/>
        <p:cNvGrpSpPr/>
        <p:nvPr/>
      </p:nvGrpSpPr>
      <p:grpSpPr>
        <a:xfrm>
          <a:off x="0" y="0"/>
          <a:ext cx="0" cy="0"/>
          <a:chOff x="0" y="0"/>
          <a:chExt cx="0" cy="0"/>
        </a:xfrm>
      </p:grpSpPr>
      <p:sp>
        <p:nvSpPr>
          <p:cNvPr id="4" name="Text Box 66"/>
          <p:cNvSpPr txBox="1">
            <a:spLocks noChangeArrowheads="1"/>
          </p:cNvSpPr>
          <p:nvPr userDrawn="1"/>
        </p:nvSpPr>
        <p:spPr bwMode="auto">
          <a:xfrm>
            <a:off x="457200" y="6248401"/>
            <a:ext cx="2133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5" name="Text Box 67"/>
          <p:cNvSpPr txBox="1">
            <a:spLocks noChangeArrowheads="1"/>
          </p:cNvSpPr>
          <p:nvPr userDrawn="1"/>
        </p:nvSpPr>
        <p:spPr bwMode="auto">
          <a:xfrm>
            <a:off x="3124201" y="6248401"/>
            <a:ext cx="2895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67" name="Rectangle 65"/>
          <p:cNvSpPr>
            <a:spLocks noGrp="1" noChangeArrowheads="1"/>
          </p:cNvSpPr>
          <p:nvPr>
            <p:ph type="title"/>
          </p:nvPr>
        </p:nvSpPr>
        <p:spPr bwMode="auto">
          <a:xfrm>
            <a:off x="457246" y="130263"/>
            <a:ext cx="8228013" cy="1433513"/>
          </a:xfrm>
          <a:prstGeom prst="rect">
            <a:avLst/>
          </a:prstGeom>
          <a:noFill/>
          <a:ln w="9525">
            <a:noFill/>
            <a:round/>
            <a:headEnd/>
            <a:tailEnd/>
          </a:ln>
        </p:spPr>
        <p:txBody>
          <a:bodyPr lIns="85894" tIns="44665" rIns="85894" bIns="44665" anchor="ctr" anchorCtr="1"/>
          <a:lstStyle>
            <a:lvl1pPr>
              <a:defRPr b="0"/>
            </a:lvl1pPr>
          </a:lstStyle>
          <a:p>
            <a:pPr lvl="0"/>
            <a:r>
              <a:rPr lang="en-GB" dirty="0"/>
              <a:t>Click to edit the title text format</a:t>
            </a:r>
          </a:p>
        </p:txBody>
      </p:sp>
      <p:sp>
        <p:nvSpPr>
          <p:cNvPr id="71" name="Rectangle 69"/>
          <p:cNvSpPr>
            <a:spLocks noGrp="1" noChangeArrowheads="1"/>
          </p:cNvSpPr>
          <p:nvPr>
            <p:ph idx="1"/>
          </p:nvPr>
        </p:nvSpPr>
        <p:spPr bwMode="auto">
          <a:xfrm>
            <a:off x="457246" y="1676401"/>
            <a:ext cx="8228013" cy="4452937"/>
          </a:xfrm>
          <a:prstGeom prst="rect">
            <a:avLst/>
          </a:prstGeom>
          <a:noFill/>
          <a:ln w="9525">
            <a:noFill/>
            <a:round/>
            <a:headEnd/>
            <a:tailEnd/>
          </a:ln>
        </p:spPr>
        <p:txBody>
          <a:bodyPr lIns="85894" tIns="44665" rIns="85894" bIns="44665"/>
          <a:lstStyle>
            <a:lvl1pPr>
              <a:defRPr sz="2300" b="0"/>
            </a:lvl1pPr>
            <a:lvl2pPr>
              <a:defRPr sz="2300" b="0">
                <a:solidFill>
                  <a:schemeClr val="tx1"/>
                </a:solidFill>
              </a:defRPr>
            </a:lvl2pPr>
            <a:lvl3pPr>
              <a:defRPr sz="2300" b="0">
                <a:solidFill>
                  <a:schemeClr val="tx1"/>
                </a:solidFill>
              </a:defRPr>
            </a:lvl3pPr>
            <a:lvl4pPr>
              <a:defRPr sz="2300" b="0">
                <a:solidFill>
                  <a:schemeClr val="tx1"/>
                </a:solidFill>
              </a:defRPr>
            </a:lvl4pPr>
            <a:lvl5pPr>
              <a:defRPr sz="2300" b="0">
                <a:solidFill>
                  <a:schemeClr val="tx1"/>
                </a:solidFill>
              </a:defRPr>
            </a:lvl5pPr>
          </a:lstStyle>
          <a:p>
            <a:pPr lvl="0"/>
            <a:r>
              <a:rPr lang="en-GB" noProof="0" dirty="0"/>
              <a:t>Click to edit the outline text format</a:t>
            </a:r>
          </a:p>
          <a:p>
            <a:pPr lvl="1"/>
            <a:r>
              <a:rPr lang="en-GB" noProof="0" dirty="0"/>
              <a:t>Second Outline Level</a:t>
            </a:r>
          </a:p>
          <a:p>
            <a:pPr lvl="2"/>
            <a:r>
              <a:rPr lang="en-GB" noProof="0" dirty="0"/>
              <a:t>Third Outline Level</a:t>
            </a:r>
          </a:p>
          <a:p>
            <a:pPr lvl="3"/>
            <a:r>
              <a:rPr lang="en-GB" noProof="0" dirty="0"/>
              <a:t>Fourth Outline Level</a:t>
            </a:r>
          </a:p>
          <a:p>
            <a:pPr lvl="4"/>
            <a:r>
              <a:rPr lang="en-GB" noProof="0" dirty="0"/>
              <a:t>Fifth Outline Level</a:t>
            </a:r>
          </a:p>
          <a:p>
            <a:pPr lvl="4"/>
            <a:r>
              <a:rPr lang="en-GB" noProof="0" dirty="0"/>
              <a:t>Sixth Outline Level</a:t>
            </a:r>
          </a:p>
          <a:p>
            <a:pPr lvl="4"/>
            <a:r>
              <a:rPr lang="en-GB" noProof="0" dirty="0"/>
              <a:t>Seventh Outline Level</a:t>
            </a:r>
          </a:p>
        </p:txBody>
      </p:sp>
      <p:sp>
        <p:nvSpPr>
          <p:cNvPr id="6" name="Rectangle 68"/>
          <p:cNvSpPr>
            <a:spLocks noGrp="1" noChangeArrowheads="1"/>
          </p:cNvSpPr>
          <p:nvPr>
            <p:ph type="sldNum" idx="10"/>
          </p:nvPr>
        </p:nvSpPr>
        <p:spPr>
          <a:xfrm>
            <a:off x="7763608" y="295275"/>
            <a:ext cx="628650" cy="768350"/>
          </a:xfrm>
          <a:prstGeom prst="rect">
            <a:avLst/>
          </a:prstGeom>
        </p:spPr>
        <p:txBody>
          <a:bodyPr lIns="87269" tIns="43634" rIns="87269" bIns="43634"/>
          <a:lstStyle>
            <a:lvl1pPr>
              <a:defRPr/>
            </a:lvl1pPr>
          </a:lstStyle>
          <a:p>
            <a:pPr>
              <a:defRPr/>
            </a:pPr>
            <a:fld id="{3624460F-6325-4942-B2B4-87C62D0CEA7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6_Blank">
    <p:spTree>
      <p:nvGrpSpPr>
        <p:cNvPr id="1" name=""/>
        <p:cNvGrpSpPr/>
        <p:nvPr/>
      </p:nvGrpSpPr>
      <p:grpSpPr>
        <a:xfrm>
          <a:off x="0" y="0"/>
          <a:ext cx="0" cy="0"/>
          <a:chOff x="0" y="0"/>
          <a:chExt cx="0" cy="0"/>
        </a:xfrm>
      </p:grpSpPr>
      <p:sp>
        <p:nvSpPr>
          <p:cNvPr id="4" name="Text Box 66"/>
          <p:cNvSpPr txBox="1">
            <a:spLocks noChangeArrowheads="1"/>
          </p:cNvSpPr>
          <p:nvPr userDrawn="1"/>
        </p:nvSpPr>
        <p:spPr bwMode="auto">
          <a:xfrm>
            <a:off x="457200" y="6248401"/>
            <a:ext cx="2133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5" name="Text Box 67"/>
          <p:cNvSpPr txBox="1">
            <a:spLocks noChangeArrowheads="1"/>
          </p:cNvSpPr>
          <p:nvPr userDrawn="1"/>
        </p:nvSpPr>
        <p:spPr bwMode="auto">
          <a:xfrm>
            <a:off x="3124201" y="6248401"/>
            <a:ext cx="2895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67" name="Rectangle 65"/>
          <p:cNvSpPr>
            <a:spLocks noGrp="1" noChangeArrowheads="1"/>
          </p:cNvSpPr>
          <p:nvPr>
            <p:ph type="title"/>
          </p:nvPr>
        </p:nvSpPr>
        <p:spPr bwMode="auto">
          <a:xfrm>
            <a:off x="457246" y="130263"/>
            <a:ext cx="8228013" cy="1433513"/>
          </a:xfrm>
          <a:prstGeom prst="rect">
            <a:avLst/>
          </a:prstGeom>
          <a:noFill/>
          <a:ln w="9525">
            <a:noFill/>
            <a:round/>
            <a:headEnd/>
            <a:tailEnd/>
          </a:ln>
        </p:spPr>
        <p:txBody>
          <a:bodyPr lIns="85894" tIns="44665" rIns="85894" bIns="44665" anchor="ctr" anchorCtr="1"/>
          <a:lstStyle>
            <a:lvl1pPr>
              <a:defRPr b="0"/>
            </a:lvl1pPr>
          </a:lstStyle>
          <a:p>
            <a:pPr lvl="0"/>
            <a:r>
              <a:rPr lang="en-GB" dirty="0"/>
              <a:t>Click to edit the title text format</a:t>
            </a:r>
          </a:p>
        </p:txBody>
      </p:sp>
      <p:sp>
        <p:nvSpPr>
          <p:cNvPr id="71" name="Rectangle 69"/>
          <p:cNvSpPr>
            <a:spLocks noGrp="1" noChangeArrowheads="1"/>
          </p:cNvSpPr>
          <p:nvPr>
            <p:ph idx="1"/>
          </p:nvPr>
        </p:nvSpPr>
        <p:spPr bwMode="auto">
          <a:xfrm>
            <a:off x="457246" y="1676401"/>
            <a:ext cx="8228013" cy="4452937"/>
          </a:xfrm>
          <a:prstGeom prst="rect">
            <a:avLst/>
          </a:prstGeom>
          <a:noFill/>
          <a:ln w="9525">
            <a:noFill/>
            <a:round/>
            <a:headEnd/>
            <a:tailEnd/>
          </a:ln>
        </p:spPr>
        <p:txBody>
          <a:bodyPr lIns="85894" tIns="44665" rIns="85894" bIns="44665"/>
          <a:lstStyle>
            <a:lvl1pPr>
              <a:defRPr sz="2300" b="0"/>
            </a:lvl1pPr>
            <a:lvl2pPr>
              <a:defRPr sz="2300" b="0">
                <a:solidFill>
                  <a:schemeClr val="tx1"/>
                </a:solidFill>
              </a:defRPr>
            </a:lvl2pPr>
            <a:lvl3pPr>
              <a:defRPr sz="2300" b="0">
                <a:solidFill>
                  <a:schemeClr val="tx1"/>
                </a:solidFill>
              </a:defRPr>
            </a:lvl3pPr>
            <a:lvl4pPr>
              <a:defRPr sz="2300" b="0">
                <a:solidFill>
                  <a:schemeClr val="tx1"/>
                </a:solidFill>
              </a:defRPr>
            </a:lvl4pPr>
            <a:lvl5pPr>
              <a:defRPr sz="2300" b="0">
                <a:solidFill>
                  <a:schemeClr val="tx1"/>
                </a:solidFill>
              </a:defRPr>
            </a:lvl5pPr>
          </a:lstStyle>
          <a:p>
            <a:pPr lvl="0"/>
            <a:r>
              <a:rPr lang="en-GB" noProof="0" dirty="0"/>
              <a:t>Click to edit the outline text format</a:t>
            </a:r>
          </a:p>
          <a:p>
            <a:pPr lvl="1"/>
            <a:r>
              <a:rPr lang="en-GB" noProof="0" dirty="0"/>
              <a:t>Second Outline Level</a:t>
            </a:r>
          </a:p>
          <a:p>
            <a:pPr lvl="2"/>
            <a:r>
              <a:rPr lang="en-GB" noProof="0" dirty="0"/>
              <a:t>Third Outline Level</a:t>
            </a:r>
          </a:p>
          <a:p>
            <a:pPr lvl="3"/>
            <a:r>
              <a:rPr lang="en-GB" noProof="0" dirty="0"/>
              <a:t>Fourth Outline Level</a:t>
            </a:r>
          </a:p>
          <a:p>
            <a:pPr lvl="4"/>
            <a:r>
              <a:rPr lang="en-GB" noProof="0" dirty="0"/>
              <a:t>Fifth Outline Level</a:t>
            </a:r>
          </a:p>
          <a:p>
            <a:pPr lvl="4"/>
            <a:r>
              <a:rPr lang="en-GB" noProof="0" dirty="0"/>
              <a:t>Sixth Outline Level</a:t>
            </a:r>
          </a:p>
          <a:p>
            <a:pPr lvl="4"/>
            <a:r>
              <a:rPr lang="en-GB" noProof="0" dirty="0"/>
              <a:t>Seventh Outline Level</a:t>
            </a:r>
          </a:p>
        </p:txBody>
      </p:sp>
      <p:sp>
        <p:nvSpPr>
          <p:cNvPr id="6" name="Rectangle 68"/>
          <p:cNvSpPr>
            <a:spLocks noGrp="1" noChangeArrowheads="1"/>
          </p:cNvSpPr>
          <p:nvPr>
            <p:ph type="sldNum" idx="10"/>
          </p:nvPr>
        </p:nvSpPr>
        <p:spPr>
          <a:xfrm>
            <a:off x="7763608" y="295275"/>
            <a:ext cx="628650" cy="768350"/>
          </a:xfrm>
          <a:prstGeom prst="rect">
            <a:avLst/>
          </a:prstGeom>
        </p:spPr>
        <p:txBody>
          <a:bodyPr lIns="87269" tIns="43634" rIns="87269" bIns="43634"/>
          <a:lstStyle>
            <a:lvl1pPr>
              <a:defRPr/>
            </a:lvl1pPr>
          </a:lstStyle>
          <a:p>
            <a:pPr>
              <a:defRPr/>
            </a:pPr>
            <a:fld id="{8C242688-ADF4-4B39-89DD-0B090FE0531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7_Blank">
    <p:spTree>
      <p:nvGrpSpPr>
        <p:cNvPr id="1" name=""/>
        <p:cNvGrpSpPr/>
        <p:nvPr/>
      </p:nvGrpSpPr>
      <p:grpSpPr>
        <a:xfrm>
          <a:off x="0" y="0"/>
          <a:ext cx="0" cy="0"/>
          <a:chOff x="0" y="0"/>
          <a:chExt cx="0" cy="0"/>
        </a:xfrm>
      </p:grpSpPr>
      <p:sp>
        <p:nvSpPr>
          <p:cNvPr id="4" name="Text Box 66"/>
          <p:cNvSpPr txBox="1">
            <a:spLocks noChangeArrowheads="1"/>
          </p:cNvSpPr>
          <p:nvPr userDrawn="1"/>
        </p:nvSpPr>
        <p:spPr bwMode="auto">
          <a:xfrm>
            <a:off x="457200" y="6248401"/>
            <a:ext cx="2133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5" name="Text Box 67"/>
          <p:cNvSpPr txBox="1">
            <a:spLocks noChangeArrowheads="1"/>
          </p:cNvSpPr>
          <p:nvPr userDrawn="1"/>
        </p:nvSpPr>
        <p:spPr bwMode="auto">
          <a:xfrm>
            <a:off x="3124201" y="6248401"/>
            <a:ext cx="2895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67" name="Rectangle 65"/>
          <p:cNvSpPr>
            <a:spLocks noGrp="1" noChangeArrowheads="1"/>
          </p:cNvSpPr>
          <p:nvPr>
            <p:ph type="title"/>
          </p:nvPr>
        </p:nvSpPr>
        <p:spPr bwMode="auto">
          <a:xfrm>
            <a:off x="457246" y="130263"/>
            <a:ext cx="8228013" cy="1433513"/>
          </a:xfrm>
          <a:prstGeom prst="rect">
            <a:avLst/>
          </a:prstGeom>
          <a:noFill/>
          <a:ln w="9525">
            <a:noFill/>
            <a:round/>
            <a:headEnd/>
            <a:tailEnd/>
          </a:ln>
        </p:spPr>
        <p:txBody>
          <a:bodyPr lIns="85894" tIns="44665" rIns="85894" bIns="44665" anchor="ctr" anchorCtr="1"/>
          <a:lstStyle>
            <a:lvl1pPr>
              <a:defRPr b="0"/>
            </a:lvl1pPr>
          </a:lstStyle>
          <a:p>
            <a:pPr lvl="0"/>
            <a:r>
              <a:rPr lang="en-GB" dirty="0"/>
              <a:t>Click to edit the title text format</a:t>
            </a:r>
          </a:p>
        </p:txBody>
      </p:sp>
      <p:sp>
        <p:nvSpPr>
          <p:cNvPr id="71" name="Rectangle 69"/>
          <p:cNvSpPr>
            <a:spLocks noGrp="1" noChangeArrowheads="1"/>
          </p:cNvSpPr>
          <p:nvPr>
            <p:ph idx="1"/>
          </p:nvPr>
        </p:nvSpPr>
        <p:spPr bwMode="auto">
          <a:xfrm>
            <a:off x="457246" y="1676401"/>
            <a:ext cx="8228013" cy="4452937"/>
          </a:xfrm>
          <a:prstGeom prst="rect">
            <a:avLst/>
          </a:prstGeom>
          <a:noFill/>
          <a:ln w="9525">
            <a:noFill/>
            <a:round/>
            <a:headEnd/>
            <a:tailEnd/>
          </a:ln>
        </p:spPr>
        <p:txBody>
          <a:bodyPr lIns="85894" tIns="44665" rIns="85894" bIns="44665"/>
          <a:lstStyle>
            <a:lvl1pPr>
              <a:defRPr sz="2300" b="0"/>
            </a:lvl1pPr>
            <a:lvl2pPr>
              <a:defRPr sz="2300" b="0">
                <a:solidFill>
                  <a:schemeClr val="tx1"/>
                </a:solidFill>
              </a:defRPr>
            </a:lvl2pPr>
            <a:lvl3pPr>
              <a:defRPr sz="2300" b="0">
                <a:solidFill>
                  <a:schemeClr val="tx1"/>
                </a:solidFill>
              </a:defRPr>
            </a:lvl3pPr>
            <a:lvl4pPr>
              <a:defRPr sz="2300" b="0">
                <a:solidFill>
                  <a:schemeClr val="tx1"/>
                </a:solidFill>
              </a:defRPr>
            </a:lvl4pPr>
            <a:lvl5pPr>
              <a:defRPr sz="2300" b="0">
                <a:solidFill>
                  <a:schemeClr val="tx1"/>
                </a:solidFill>
              </a:defRPr>
            </a:lvl5pPr>
          </a:lstStyle>
          <a:p>
            <a:pPr lvl="0"/>
            <a:r>
              <a:rPr lang="en-GB" noProof="0" dirty="0"/>
              <a:t>Click to edit the outline text format</a:t>
            </a:r>
          </a:p>
          <a:p>
            <a:pPr lvl="1"/>
            <a:r>
              <a:rPr lang="en-GB" noProof="0" dirty="0"/>
              <a:t>Second Outline Level</a:t>
            </a:r>
          </a:p>
          <a:p>
            <a:pPr lvl="2"/>
            <a:r>
              <a:rPr lang="en-GB" noProof="0" dirty="0"/>
              <a:t>Third Outline Level</a:t>
            </a:r>
          </a:p>
          <a:p>
            <a:pPr lvl="3"/>
            <a:r>
              <a:rPr lang="en-GB" noProof="0" dirty="0"/>
              <a:t>Fourth Outline Level</a:t>
            </a:r>
          </a:p>
          <a:p>
            <a:pPr lvl="4"/>
            <a:r>
              <a:rPr lang="en-GB" noProof="0" dirty="0"/>
              <a:t>Fifth Outline Level</a:t>
            </a:r>
          </a:p>
          <a:p>
            <a:pPr lvl="4"/>
            <a:r>
              <a:rPr lang="en-GB" noProof="0" dirty="0"/>
              <a:t>Sixth Outline Level</a:t>
            </a:r>
          </a:p>
          <a:p>
            <a:pPr lvl="4"/>
            <a:r>
              <a:rPr lang="en-GB" noProof="0" dirty="0"/>
              <a:t>Seventh Outline Level</a:t>
            </a:r>
          </a:p>
        </p:txBody>
      </p:sp>
      <p:sp>
        <p:nvSpPr>
          <p:cNvPr id="6" name="Rectangle 68"/>
          <p:cNvSpPr>
            <a:spLocks noGrp="1" noChangeArrowheads="1"/>
          </p:cNvSpPr>
          <p:nvPr>
            <p:ph type="sldNum" idx="10"/>
          </p:nvPr>
        </p:nvSpPr>
        <p:spPr>
          <a:xfrm>
            <a:off x="7763608" y="295275"/>
            <a:ext cx="628650" cy="768350"/>
          </a:xfrm>
          <a:prstGeom prst="rect">
            <a:avLst/>
          </a:prstGeom>
        </p:spPr>
        <p:txBody>
          <a:bodyPr lIns="87269" tIns="43634" rIns="87269" bIns="43634"/>
          <a:lstStyle>
            <a:lvl1pPr>
              <a:defRPr/>
            </a:lvl1pPr>
          </a:lstStyle>
          <a:p>
            <a:pPr>
              <a:defRPr/>
            </a:pPr>
            <a:fld id="{D991F37B-A753-483A-B056-7B4EBB2FF2D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9_Blank">
    <p:spTree>
      <p:nvGrpSpPr>
        <p:cNvPr id="1" name=""/>
        <p:cNvGrpSpPr/>
        <p:nvPr/>
      </p:nvGrpSpPr>
      <p:grpSpPr>
        <a:xfrm>
          <a:off x="0" y="0"/>
          <a:ext cx="0" cy="0"/>
          <a:chOff x="0" y="0"/>
          <a:chExt cx="0" cy="0"/>
        </a:xfrm>
      </p:grpSpPr>
      <p:sp>
        <p:nvSpPr>
          <p:cNvPr id="4" name="Text Box 66"/>
          <p:cNvSpPr txBox="1">
            <a:spLocks noChangeArrowheads="1"/>
          </p:cNvSpPr>
          <p:nvPr userDrawn="1"/>
        </p:nvSpPr>
        <p:spPr bwMode="auto">
          <a:xfrm>
            <a:off x="457200" y="6248401"/>
            <a:ext cx="2133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5" name="Text Box 67"/>
          <p:cNvSpPr txBox="1">
            <a:spLocks noChangeArrowheads="1"/>
          </p:cNvSpPr>
          <p:nvPr userDrawn="1"/>
        </p:nvSpPr>
        <p:spPr bwMode="auto">
          <a:xfrm>
            <a:off x="3124201" y="6248401"/>
            <a:ext cx="2895600" cy="460375"/>
          </a:xfrm>
          <a:prstGeom prst="rect">
            <a:avLst/>
          </a:prstGeom>
          <a:noFill/>
          <a:ln w="9525">
            <a:noFill/>
            <a:round/>
            <a:headEnd/>
            <a:tailEnd/>
          </a:ln>
          <a:effectLst/>
        </p:spPr>
        <p:txBody>
          <a:bodyPr wrap="none" lIns="87269" tIns="43634" rIns="87269" bIns="43634" anchor="ctr"/>
          <a:lstStyle/>
          <a:p>
            <a:pPr>
              <a:buFont typeface="Times New Roman" pitchFamily="16" charset="0"/>
              <a:buNone/>
              <a:defRPr/>
            </a:pPr>
            <a:endParaRPr lang="en-US">
              <a:latin typeface="Arial" charset="0"/>
              <a:ea typeface="ＭＳ Ｐゴシック" pitchFamily="32" charset="-128"/>
            </a:endParaRPr>
          </a:p>
        </p:txBody>
      </p:sp>
      <p:sp>
        <p:nvSpPr>
          <p:cNvPr id="67" name="Rectangle 65"/>
          <p:cNvSpPr>
            <a:spLocks noGrp="1" noChangeArrowheads="1"/>
          </p:cNvSpPr>
          <p:nvPr>
            <p:ph type="title"/>
          </p:nvPr>
        </p:nvSpPr>
        <p:spPr bwMode="auto">
          <a:xfrm>
            <a:off x="457246" y="130263"/>
            <a:ext cx="8228013" cy="1433513"/>
          </a:xfrm>
          <a:prstGeom prst="rect">
            <a:avLst/>
          </a:prstGeom>
          <a:noFill/>
          <a:ln w="9525">
            <a:noFill/>
            <a:round/>
            <a:headEnd/>
            <a:tailEnd/>
          </a:ln>
        </p:spPr>
        <p:txBody>
          <a:bodyPr lIns="85894" tIns="44665" rIns="85894" bIns="44665" anchor="ctr" anchorCtr="1"/>
          <a:lstStyle>
            <a:lvl1pPr>
              <a:defRPr b="0"/>
            </a:lvl1pPr>
          </a:lstStyle>
          <a:p>
            <a:pPr lvl="0"/>
            <a:r>
              <a:rPr lang="en-GB" dirty="0"/>
              <a:t>Click to edit the title text format</a:t>
            </a:r>
          </a:p>
        </p:txBody>
      </p:sp>
      <p:sp>
        <p:nvSpPr>
          <p:cNvPr id="71" name="Rectangle 69"/>
          <p:cNvSpPr>
            <a:spLocks noGrp="1" noChangeArrowheads="1"/>
          </p:cNvSpPr>
          <p:nvPr>
            <p:ph idx="1"/>
          </p:nvPr>
        </p:nvSpPr>
        <p:spPr bwMode="auto">
          <a:xfrm>
            <a:off x="457246" y="1676401"/>
            <a:ext cx="8228013" cy="4452937"/>
          </a:xfrm>
          <a:prstGeom prst="rect">
            <a:avLst/>
          </a:prstGeom>
          <a:noFill/>
          <a:ln w="9525">
            <a:noFill/>
            <a:round/>
            <a:headEnd/>
            <a:tailEnd/>
          </a:ln>
        </p:spPr>
        <p:txBody>
          <a:bodyPr lIns="85894" tIns="44665" rIns="85894" bIns="44665"/>
          <a:lstStyle>
            <a:lvl1pPr>
              <a:defRPr sz="2300" b="0"/>
            </a:lvl1pPr>
            <a:lvl2pPr>
              <a:defRPr sz="2300" b="0">
                <a:solidFill>
                  <a:schemeClr val="tx1"/>
                </a:solidFill>
              </a:defRPr>
            </a:lvl2pPr>
            <a:lvl3pPr>
              <a:defRPr sz="2300" b="0">
                <a:solidFill>
                  <a:schemeClr val="tx1"/>
                </a:solidFill>
              </a:defRPr>
            </a:lvl3pPr>
            <a:lvl4pPr>
              <a:defRPr sz="2300" b="0">
                <a:solidFill>
                  <a:schemeClr val="tx1"/>
                </a:solidFill>
              </a:defRPr>
            </a:lvl4pPr>
            <a:lvl5pPr>
              <a:defRPr sz="2300" b="0">
                <a:solidFill>
                  <a:schemeClr val="tx1"/>
                </a:solidFill>
              </a:defRPr>
            </a:lvl5pPr>
          </a:lstStyle>
          <a:p>
            <a:pPr lvl="0"/>
            <a:r>
              <a:rPr lang="en-GB" noProof="0" dirty="0"/>
              <a:t>Click to edit the outline text format</a:t>
            </a:r>
          </a:p>
          <a:p>
            <a:pPr lvl="1"/>
            <a:r>
              <a:rPr lang="en-GB" noProof="0" dirty="0"/>
              <a:t>Second Outline Level</a:t>
            </a:r>
          </a:p>
          <a:p>
            <a:pPr lvl="2"/>
            <a:r>
              <a:rPr lang="en-GB" noProof="0" dirty="0"/>
              <a:t>Third Outline Level</a:t>
            </a:r>
          </a:p>
          <a:p>
            <a:pPr lvl="3"/>
            <a:r>
              <a:rPr lang="en-GB" noProof="0" dirty="0"/>
              <a:t>Fourth Outline Level</a:t>
            </a:r>
          </a:p>
          <a:p>
            <a:pPr lvl="4"/>
            <a:r>
              <a:rPr lang="en-GB" noProof="0" dirty="0"/>
              <a:t>Fifth Outline Level</a:t>
            </a:r>
          </a:p>
          <a:p>
            <a:pPr lvl="4"/>
            <a:r>
              <a:rPr lang="en-GB" noProof="0" dirty="0"/>
              <a:t>Sixth Outline Level</a:t>
            </a:r>
          </a:p>
          <a:p>
            <a:pPr lvl="4"/>
            <a:r>
              <a:rPr lang="en-GB" noProof="0" dirty="0"/>
              <a:t>Seventh Outline Level</a:t>
            </a:r>
          </a:p>
        </p:txBody>
      </p:sp>
      <p:sp>
        <p:nvSpPr>
          <p:cNvPr id="6" name="Rectangle 68"/>
          <p:cNvSpPr>
            <a:spLocks noGrp="1" noChangeArrowheads="1"/>
          </p:cNvSpPr>
          <p:nvPr>
            <p:ph type="sldNum" idx="10"/>
          </p:nvPr>
        </p:nvSpPr>
        <p:spPr>
          <a:xfrm>
            <a:off x="7763608" y="295275"/>
            <a:ext cx="628650" cy="768350"/>
          </a:xfrm>
          <a:prstGeom prst="rect">
            <a:avLst/>
          </a:prstGeom>
        </p:spPr>
        <p:txBody>
          <a:bodyPr lIns="87269" tIns="43634" rIns="87269" bIns="43634"/>
          <a:lstStyle>
            <a:lvl1pPr>
              <a:defRPr/>
            </a:lvl1pPr>
          </a:lstStyle>
          <a:p>
            <a:pPr>
              <a:defRPr/>
            </a:pPr>
            <a:fld id="{C1FDE4B6-786C-481A-B9F7-D556B798D80D}"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3D3276-E0A4-43B3-9B6A-E72F1FD6C67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3D3276-E0A4-43B3-9B6A-E72F1FD6C67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3D3276-E0A4-43B3-9B6A-E72F1FD6C67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3D3276-E0A4-43B3-9B6A-E72F1FD6C677}"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3D3276-E0A4-43B3-9B6A-E72F1FD6C677}" type="datetimeFigureOut">
              <a:rPr lang="en-US" smtClean="0"/>
              <a:pPr/>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3D3276-E0A4-43B3-9B6A-E72F1FD6C677}" type="datetimeFigureOut">
              <a:rPr lang="en-US" smtClean="0"/>
              <a:pPr/>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3D3276-E0A4-43B3-9B6A-E72F1FD6C677}" type="datetimeFigureOut">
              <a:rPr lang="en-US" smtClean="0"/>
              <a:pPr/>
              <a:t>6/1/2026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3D3276-E0A4-43B3-9B6A-E72F1FD6C677}"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3D3276-E0A4-43B3-9B6A-E72F1FD6C677}"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3D3276-E0A4-43B3-9B6A-E72F1FD6C67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3D3276-E0A4-43B3-9B6A-E72F1FD6C67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5E5A5F-9052-404D-BDB8-0769B149DE46}"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p:cNvGrpSpPr>
            <a:grpSpLocks/>
          </p:cNvGrpSpPr>
          <p:nvPr/>
        </p:nvGrpSpPr>
        <p:grpSpPr bwMode="auto">
          <a:xfrm>
            <a:off x="0" y="2438400"/>
            <a:ext cx="9009063" cy="1052513"/>
            <a:chOff x="0" y="1536"/>
            <a:chExt cx="5675" cy="663"/>
          </a:xfrm>
        </p:grpSpPr>
        <p:grpSp>
          <p:nvGrpSpPr>
            <p:cNvPr id="3" name="Group 3"/>
            <p:cNvGrpSpPr>
              <a:grpSpLocks/>
            </p:cNvGrpSpPr>
            <p:nvPr/>
          </p:nvGrpSpPr>
          <p:grpSpPr bwMode="auto">
            <a:xfrm>
              <a:off x="185" y="1604"/>
              <a:ext cx="449" cy="299"/>
              <a:chOff x="720" y="336"/>
              <a:chExt cx="624" cy="432"/>
            </a:xfrm>
          </p:grpSpPr>
          <p:sp>
            <p:nvSpPr>
              <p:cNvPr id="10"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endParaRPr lang="en-US"/>
              </a:p>
            </p:txBody>
          </p:sp>
          <p:sp>
            <p:nvSpPr>
              <p:cNvPr id="1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endParaRPr lang="en-US"/>
              </a:p>
            </p:txBody>
          </p:sp>
        </p:grpSp>
        <p:grpSp>
          <p:nvGrpSpPr>
            <p:cNvPr id="4" name="Group 6"/>
            <p:cNvGrpSpPr>
              <a:grpSpLocks/>
            </p:cNvGrpSpPr>
            <p:nvPr/>
          </p:nvGrpSpPr>
          <p:grpSpPr bwMode="auto">
            <a:xfrm>
              <a:off x="263" y="1870"/>
              <a:ext cx="466" cy="299"/>
              <a:chOff x="912" y="2640"/>
              <a:chExt cx="672" cy="432"/>
            </a:xfrm>
          </p:grpSpPr>
          <p:sp>
            <p:nvSpPr>
              <p:cNvPr id="8"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endParaRPr lang="en-US"/>
              </a:p>
            </p:txBody>
          </p:sp>
          <p:sp>
            <p:nvSpPr>
              <p:cNvPr id="9"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endParaRPr lang="en-US"/>
              </a:p>
            </p:txBody>
          </p:sp>
        </p:grpSp>
        <p:sp>
          <p:nvSpPr>
            <p:cNvPr id="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endParaRPr lang="en-US"/>
            </a:p>
          </p:txBody>
        </p:sp>
        <p:sp>
          <p:nvSpPr>
            <p:cNvPr id="6"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endParaRPr lang="en-US"/>
            </a:p>
          </p:txBody>
        </p:sp>
        <p:sp>
          <p:nvSpPr>
            <p:cNvPr id="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sldNum" sz="quarter" idx="10"/>
          </p:nvPr>
        </p:nvSpPr>
        <p:spPr>
          <a:ln/>
        </p:spPr>
        <p:txBody>
          <a:bodyPr/>
          <a:lstStyle>
            <a:lvl1pPr>
              <a:defRPr/>
            </a:lvl1pPr>
          </a:lstStyle>
          <a:p>
            <a:r>
              <a:rPr lang="en-US"/>
              <a:t>4.</a:t>
            </a:r>
            <a:fld id="{82571557-43CD-4322-A472-930E16FFCA36}"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6"/>
          <p:cNvSpPr>
            <a:spLocks noGrp="1" noChangeArrowheads="1"/>
          </p:cNvSpPr>
          <p:nvPr>
            <p:ph type="sldNum" sz="quarter" idx="10"/>
          </p:nvPr>
        </p:nvSpPr>
        <p:spPr>
          <a:ln/>
        </p:spPr>
        <p:txBody>
          <a:bodyPr/>
          <a:lstStyle>
            <a:lvl1pPr>
              <a:defRPr/>
            </a:lvl1pPr>
          </a:lstStyle>
          <a:p>
            <a:r>
              <a:rPr lang="en-US"/>
              <a:t>4.</a:t>
            </a:r>
            <a:fld id="{4431FED6-1A61-445C-BEFC-8A9192F9B212}" type="slidenum">
              <a:rPr lang="en-US"/>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6"/>
          <p:cNvSpPr>
            <a:spLocks noGrp="1" noChangeArrowheads="1"/>
          </p:cNvSpPr>
          <p:nvPr>
            <p:ph type="sldNum" sz="quarter" idx="10"/>
          </p:nvPr>
        </p:nvSpPr>
        <p:spPr>
          <a:ln/>
        </p:spPr>
        <p:txBody>
          <a:bodyPr/>
          <a:lstStyle>
            <a:lvl1pPr>
              <a:defRPr/>
            </a:lvl1pPr>
          </a:lstStyle>
          <a:p>
            <a:r>
              <a:rPr lang="en-US"/>
              <a:t>4.</a:t>
            </a:r>
            <a:fld id="{B8340FBD-DE55-49E0-81A1-CABA3C4A5F51}" type="slidenum">
              <a:rPr lang="en-US"/>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6"/>
          <p:cNvSpPr>
            <a:spLocks noGrp="1" noChangeArrowheads="1"/>
          </p:cNvSpPr>
          <p:nvPr>
            <p:ph type="sldNum" sz="quarter" idx="10"/>
          </p:nvPr>
        </p:nvSpPr>
        <p:spPr>
          <a:ln/>
        </p:spPr>
        <p:txBody>
          <a:bodyPr/>
          <a:lstStyle>
            <a:lvl1pPr>
              <a:defRPr/>
            </a:lvl1pPr>
          </a:lstStyle>
          <a:p>
            <a:r>
              <a:rPr lang="en-US"/>
              <a:t>4.</a:t>
            </a:r>
            <a:fld id="{842ADD90-95F7-40CD-ADF6-B95FE596131A}" type="slidenum">
              <a:rPr lang="en-US"/>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Rectangle 16"/>
          <p:cNvSpPr>
            <a:spLocks noGrp="1" noChangeArrowheads="1"/>
          </p:cNvSpPr>
          <p:nvPr>
            <p:ph type="sldNum" sz="quarter" idx="10"/>
          </p:nvPr>
        </p:nvSpPr>
        <p:spPr>
          <a:ln/>
        </p:spPr>
        <p:txBody>
          <a:bodyPr/>
          <a:lstStyle>
            <a:lvl1pPr>
              <a:defRPr/>
            </a:lvl1pPr>
          </a:lstStyle>
          <a:p>
            <a:r>
              <a:rPr lang="en-US"/>
              <a:t>4.</a:t>
            </a:r>
            <a:fld id="{41F64831-F232-4EE6-AAF8-CAB3A3B49076}" type="slidenum">
              <a:rPr lang="en-US"/>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r>
              <a:rPr lang="en-US"/>
              <a:t>4.</a:t>
            </a:r>
            <a:fld id="{973D1B9F-1A48-43DA-A87D-99147FCBC18B}" type="slidenum">
              <a:rPr lang="en-US"/>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r>
              <a:rPr lang="en-US"/>
              <a:t>4.</a:t>
            </a:r>
            <a:fld id="{07B15188-FCAB-44B5-98D3-A3DE72F58334}" type="slidenum">
              <a:rPr lang="en-US"/>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r>
              <a:rPr lang="en-US"/>
              <a:t>4.</a:t>
            </a:r>
            <a:fld id="{361B6018-998A-4357-8D86-20A5EB0EB244}" type="slidenum">
              <a:rPr lang="en-US"/>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sldNum" sz="quarter" idx="10"/>
          </p:nvPr>
        </p:nvSpPr>
        <p:spPr>
          <a:ln/>
        </p:spPr>
        <p:txBody>
          <a:bodyPr/>
          <a:lstStyle>
            <a:lvl1pPr>
              <a:defRPr/>
            </a:lvl1pPr>
          </a:lstStyle>
          <a:p>
            <a:r>
              <a:rPr lang="en-US"/>
              <a:t>4.</a:t>
            </a:r>
            <a:fld id="{D383A831-B980-42A9-A67C-255B6551FC47}" type="slidenum">
              <a:rPr lang="en-US"/>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sldNum" sz="quarter" idx="10"/>
          </p:nvPr>
        </p:nvSpPr>
        <p:spPr>
          <a:ln/>
        </p:spPr>
        <p:txBody>
          <a:bodyPr/>
          <a:lstStyle>
            <a:lvl1pPr>
              <a:defRPr/>
            </a:lvl1pPr>
          </a:lstStyle>
          <a:p>
            <a:r>
              <a:rPr lang="en-US"/>
              <a:t>4.</a:t>
            </a:r>
            <a:fld id="{2EFD16D0-889D-4AFA-AA62-5C9D9BE9584D}" type="slidenum">
              <a:rPr lang="en-US"/>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p:cNvGrpSpPr>
            <a:grpSpLocks/>
          </p:cNvGrpSpPr>
          <p:nvPr/>
        </p:nvGrpSpPr>
        <p:grpSpPr bwMode="auto">
          <a:xfrm>
            <a:off x="0" y="2438400"/>
            <a:ext cx="9009063" cy="1052513"/>
            <a:chOff x="0" y="1536"/>
            <a:chExt cx="5675" cy="663"/>
          </a:xfrm>
        </p:grpSpPr>
        <p:grpSp>
          <p:nvGrpSpPr>
            <p:cNvPr id="3" name="Group 3"/>
            <p:cNvGrpSpPr>
              <a:grpSpLocks/>
            </p:cNvGrpSpPr>
            <p:nvPr/>
          </p:nvGrpSpPr>
          <p:grpSpPr bwMode="auto">
            <a:xfrm>
              <a:off x="185" y="1604"/>
              <a:ext cx="449" cy="299"/>
              <a:chOff x="720" y="336"/>
              <a:chExt cx="624" cy="432"/>
            </a:xfrm>
          </p:grpSpPr>
          <p:sp>
            <p:nvSpPr>
              <p:cNvPr id="10"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sp>
            <p:nvSpPr>
              <p:cNvPr id="1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grpSp>
        <p:grpSp>
          <p:nvGrpSpPr>
            <p:cNvPr id="4" name="Group 6"/>
            <p:cNvGrpSpPr>
              <a:grpSpLocks/>
            </p:cNvGrpSpPr>
            <p:nvPr/>
          </p:nvGrpSpPr>
          <p:grpSpPr bwMode="auto">
            <a:xfrm>
              <a:off x="263" y="1870"/>
              <a:ext cx="466" cy="299"/>
              <a:chOff x="912" y="2640"/>
              <a:chExt cx="672" cy="432"/>
            </a:xfrm>
          </p:grpSpPr>
          <p:sp>
            <p:nvSpPr>
              <p:cNvPr id="8"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sp>
            <p:nvSpPr>
              <p:cNvPr id="9"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grpSp>
        <p:sp>
          <p:nvSpPr>
            <p:cNvPr id="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sp>
          <p:nvSpPr>
            <p:cNvPr id="6"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sp>
          <p:nvSpPr>
            <p:cNvPr id="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grpSp>
    </p:spTree>
    <p:extLst>
      <p:ext uri="{BB962C8B-B14F-4D97-AF65-F5344CB8AC3E}">
        <p14:creationId xmlns:p14="http://schemas.microsoft.com/office/powerpoint/2010/main" val="19356347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DD97F8E5-43D3-44D1-9FF7-CDB7C6C0E59E}"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8454366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3F0771C4-860A-43B4-BA94-4D8D842171C0}"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22007108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97B52906-D849-4A2B-9842-5A68CDED3F0E}"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5056683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972991D9-DD41-4446-B4AC-7B4C5047362B}"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21719776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B4A7BABC-6B80-4049-B371-54903E88C6C6}"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3856986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74D74EC7-FDCA-4C87-97ED-B66C56FF8E1F}"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12595412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15360F65-CBAB-4D9B-AC2F-559D5AE62DD1}"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8172751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C76A2944-7E00-45B1-B16C-32C795F28272}"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16204167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14CD8CFA-8E01-4143-A114-BEFEAD3CB2BB}"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27309437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E5416F1F-9BFD-49DF-9AB6-77D24E24B2FB}"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8968063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p:cNvGrpSpPr>
            <a:grpSpLocks/>
          </p:cNvGrpSpPr>
          <p:nvPr/>
        </p:nvGrpSpPr>
        <p:grpSpPr bwMode="auto">
          <a:xfrm>
            <a:off x="0" y="2438400"/>
            <a:ext cx="9009063" cy="1052513"/>
            <a:chOff x="0" y="1536"/>
            <a:chExt cx="5675" cy="663"/>
          </a:xfrm>
        </p:grpSpPr>
        <p:grpSp>
          <p:nvGrpSpPr>
            <p:cNvPr id="3" name="Group 3"/>
            <p:cNvGrpSpPr>
              <a:grpSpLocks/>
            </p:cNvGrpSpPr>
            <p:nvPr/>
          </p:nvGrpSpPr>
          <p:grpSpPr bwMode="auto">
            <a:xfrm>
              <a:off x="185" y="1604"/>
              <a:ext cx="449" cy="299"/>
              <a:chOff x="720" y="336"/>
              <a:chExt cx="624" cy="432"/>
            </a:xfrm>
          </p:grpSpPr>
          <p:sp>
            <p:nvSpPr>
              <p:cNvPr id="10"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sp>
            <p:nvSpPr>
              <p:cNvPr id="1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grpSp>
        <p:grpSp>
          <p:nvGrpSpPr>
            <p:cNvPr id="4" name="Group 6"/>
            <p:cNvGrpSpPr>
              <a:grpSpLocks/>
            </p:cNvGrpSpPr>
            <p:nvPr/>
          </p:nvGrpSpPr>
          <p:grpSpPr bwMode="auto">
            <a:xfrm>
              <a:off x="263" y="1870"/>
              <a:ext cx="466" cy="299"/>
              <a:chOff x="912" y="2640"/>
              <a:chExt cx="672" cy="432"/>
            </a:xfrm>
          </p:grpSpPr>
          <p:sp>
            <p:nvSpPr>
              <p:cNvPr id="8"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sp>
            <p:nvSpPr>
              <p:cNvPr id="9"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grpSp>
        <p:sp>
          <p:nvSpPr>
            <p:cNvPr id="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sp>
          <p:nvSpPr>
            <p:cNvPr id="6"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sp>
          <p:nvSpPr>
            <p:cNvPr id="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eaLnBrk="0" hangingPunct="0"/>
              <a:endParaRPr lang="en-US" sz="2400" b="1" baseline="-20000">
                <a:solidFill>
                  <a:srgbClr val="000000"/>
                </a:solidFill>
                <a:latin typeface="Times New Roman" pitchFamily="18" charset="0"/>
                <a:cs typeface="+mn-cs"/>
              </a:endParaRPr>
            </a:p>
          </p:txBody>
        </p:sp>
      </p:grpSp>
    </p:spTree>
    <p:extLst>
      <p:ext uri="{BB962C8B-B14F-4D97-AF65-F5344CB8AC3E}">
        <p14:creationId xmlns:p14="http://schemas.microsoft.com/office/powerpoint/2010/main" val="2695559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DD97F8E5-43D3-44D1-9FF7-CDB7C6C0E59E}"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5964777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3F0771C4-860A-43B4-BA94-4D8D842171C0}"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18589986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97B52906-D849-4A2B-9842-5A68CDED3F0E}"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4043216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972991D9-DD41-4446-B4AC-7B4C5047362B}"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28227197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B4A7BABC-6B80-4049-B371-54903E88C6C6}"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40611769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74D74EC7-FDCA-4C87-97ED-B66C56FF8E1F}"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40358174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15360F65-CBAB-4D9B-AC2F-559D5AE62DD1}"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11080584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C76A2944-7E00-45B1-B16C-32C795F28272}"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7706682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14CD8CFA-8E01-4143-A114-BEFEAD3CB2BB}"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25834022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sldNum" sz="quarter" idx="10"/>
          </p:nvPr>
        </p:nvSpPr>
        <p:spPr>
          <a:ln/>
        </p:spPr>
        <p:txBody>
          <a:bodyPr/>
          <a:lstStyle>
            <a:lvl1pPr>
              <a:defRPr/>
            </a:lvl1pPr>
          </a:lstStyle>
          <a:p>
            <a:r>
              <a:rPr lang="en-US">
                <a:solidFill>
                  <a:srgbClr val="1C1C1C"/>
                </a:solidFill>
              </a:rPr>
              <a:t>4.</a:t>
            </a:r>
            <a:fld id="{E5416F1F-9BFD-49DF-9AB6-77D24E24B2FB}"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29759973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0946" name="Group 2"/>
          <p:cNvGrpSpPr>
            <a:grpSpLocks/>
          </p:cNvGrpSpPr>
          <p:nvPr/>
        </p:nvGrpSpPr>
        <p:grpSpPr bwMode="auto">
          <a:xfrm>
            <a:off x="0" y="2438400"/>
            <a:ext cx="9009063" cy="1052513"/>
            <a:chOff x="0" y="1536"/>
            <a:chExt cx="5675" cy="663"/>
          </a:xfrm>
        </p:grpSpPr>
        <p:grpSp>
          <p:nvGrpSpPr>
            <p:cNvPr id="210947" name="Group 3"/>
            <p:cNvGrpSpPr>
              <a:grpSpLocks/>
            </p:cNvGrpSpPr>
            <p:nvPr/>
          </p:nvGrpSpPr>
          <p:grpSpPr bwMode="auto">
            <a:xfrm>
              <a:off x="183" y="1604"/>
              <a:ext cx="448" cy="299"/>
              <a:chOff x="720" y="336"/>
              <a:chExt cx="624" cy="432"/>
            </a:xfrm>
          </p:grpSpPr>
          <p:sp>
            <p:nvSpPr>
              <p:cNvPr id="210948"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b="1" i="1">
                  <a:solidFill>
                    <a:srgbClr val="000000"/>
                  </a:solidFill>
                  <a:latin typeface="Times New Roman" pitchFamily="18" charset="0"/>
                  <a:cs typeface="+mn-cs"/>
                </a:endParaRPr>
              </a:p>
            </p:txBody>
          </p:sp>
          <p:sp>
            <p:nvSpPr>
              <p:cNvPr id="210949"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b="1" i="1">
                  <a:solidFill>
                    <a:srgbClr val="000000"/>
                  </a:solidFill>
                  <a:latin typeface="Times New Roman" pitchFamily="18" charset="0"/>
                  <a:cs typeface="+mn-cs"/>
                </a:endParaRPr>
              </a:p>
            </p:txBody>
          </p:sp>
        </p:grpSp>
        <p:grpSp>
          <p:nvGrpSpPr>
            <p:cNvPr id="210950" name="Group 6"/>
            <p:cNvGrpSpPr>
              <a:grpSpLocks/>
            </p:cNvGrpSpPr>
            <p:nvPr/>
          </p:nvGrpSpPr>
          <p:grpSpPr bwMode="auto">
            <a:xfrm>
              <a:off x="261" y="1870"/>
              <a:ext cx="465" cy="299"/>
              <a:chOff x="912" y="2640"/>
              <a:chExt cx="672" cy="432"/>
            </a:xfrm>
          </p:grpSpPr>
          <p:sp>
            <p:nvSpPr>
              <p:cNvPr id="210951"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b="1" i="1">
                  <a:solidFill>
                    <a:srgbClr val="000000"/>
                  </a:solidFill>
                  <a:latin typeface="Times New Roman" pitchFamily="18" charset="0"/>
                  <a:cs typeface="+mn-cs"/>
                </a:endParaRPr>
              </a:p>
            </p:txBody>
          </p:sp>
          <p:sp>
            <p:nvSpPr>
              <p:cNvPr id="210952"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b="1" i="1">
                  <a:solidFill>
                    <a:srgbClr val="000000"/>
                  </a:solidFill>
                  <a:latin typeface="Times New Roman" pitchFamily="18" charset="0"/>
                  <a:cs typeface="+mn-cs"/>
                </a:endParaRPr>
              </a:p>
            </p:txBody>
          </p:sp>
        </p:grpSp>
        <p:sp>
          <p:nvSpPr>
            <p:cNvPr id="210953"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b="1" i="1">
                <a:solidFill>
                  <a:srgbClr val="000000"/>
                </a:solidFill>
                <a:latin typeface="Times New Roman" pitchFamily="18" charset="0"/>
                <a:cs typeface="+mn-cs"/>
              </a:endParaRPr>
            </a:p>
          </p:txBody>
        </p:sp>
        <p:sp>
          <p:nvSpPr>
            <p:cNvPr id="210954"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b="1" i="1">
                <a:solidFill>
                  <a:srgbClr val="000000"/>
                </a:solidFill>
                <a:latin typeface="Times New Roman" pitchFamily="18" charset="0"/>
                <a:cs typeface="+mn-cs"/>
              </a:endParaRPr>
            </a:p>
          </p:txBody>
        </p:sp>
        <p:sp>
          <p:nvSpPr>
            <p:cNvPr id="210955"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b="1" i="1">
                <a:solidFill>
                  <a:srgbClr val="000000"/>
                </a:solidFill>
                <a:latin typeface="Times New Roman" pitchFamily="18" charset="0"/>
                <a:cs typeface="+mn-cs"/>
              </a:endParaRPr>
            </a:p>
          </p:txBody>
        </p:sp>
      </p:gr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noProof="0"/>
              <a:t>Click to edit Master subtitle style</a:t>
            </a:r>
          </a:p>
        </p:txBody>
      </p:sp>
      <p:sp>
        <p:nvSpPr>
          <p:cNvPr id="210958" name="Rectangle 14"/>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i="0">
                <a:solidFill>
                  <a:schemeClr val="bg2"/>
                </a:solidFill>
                <a:latin typeface="+mn-lt"/>
              </a:defRPr>
            </a:lvl1pPr>
          </a:lstStyle>
          <a:p>
            <a:endParaRPr lang="en-US">
              <a:solidFill>
                <a:srgbClr val="1C1C1C"/>
              </a:solidFill>
              <a:cs typeface="+mn-cs"/>
            </a:endParaRPr>
          </a:p>
        </p:txBody>
      </p:sp>
      <p:sp>
        <p:nvSpPr>
          <p:cNvPr id="210959" name="Rectangle 15"/>
          <p:cNvSpPr>
            <a:spLocks noGrp="1" noChangeArrowheads="1"/>
          </p:cNvSpPr>
          <p:nvPr>
            <p:ph type="ftr" sz="quarter" idx="3"/>
          </p:nvPr>
        </p:nvSpPr>
        <p:spPr bwMode="auto">
          <a:xfrm>
            <a:off x="34290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i="0">
                <a:solidFill>
                  <a:schemeClr val="bg2"/>
                </a:solidFill>
                <a:latin typeface="+mn-lt"/>
              </a:defRPr>
            </a:lvl1pPr>
          </a:lstStyle>
          <a:p>
            <a:r>
              <a:rPr lang="en-US">
                <a:solidFill>
                  <a:srgbClr val="1C1C1C"/>
                </a:solidFill>
                <a:cs typeface="+mn-cs"/>
              </a:rPr>
              <a:t>2.#</a:t>
            </a:r>
          </a:p>
        </p:txBody>
      </p:sp>
      <p:sp>
        <p:nvSpPr>
          <p:cNvPr id="210960" name="Rectangle 16"/>
          <p:cNvSpPr>
            <a:spLocks noGrp="1" noChangeArrowheads="1"/>
          </p:cNvSpPr>
          <p:nvPr>
            <p:ph type="sldNum" sz="quarter" idx="4"/>
          </p:nvPr>
        </p:nvSpPr>
        <p:spPr>
          <a:xfrm>
            <a:off x="6858000" y="6248400"/>
            <a:ext cx="1905000" cy="457200"/>
          </a:xfrm>
        </p:spPr>
        <p:txBody>
          <a:bodyPr/>
          <a:lstStyle>
            <a:lvl1pPr algn="r">
              <a:defRPr sz="1400" b="0">
                <a:solidFill>
                  <a:schemeClr val="bg2"/>
                </a:solidFill>
                <a:latin typeface="+mn-lt"/>
              </a:defRPr>
            </a:lvl1pPr>
          </a:lstStyle>
          <a:p>
            <a:fld id="{AD33A53A-6580-4884-AB33-7179BBEAE781}" type="slidenum">
              <a:rPr lang="en-US">
                <a:solidFill>
                  <a:srgbClr val="1C1C1C"/>
                </a:solidFill>
              </a:rPr>
              <a:pPr/>
              <a:t>‹#›</a:t>
            </a:fld>
            <a:endParaRPr lang="en-US">
              <a:solidFill>
                <a:srgbClr val="1C1C1C"/>
              </a:solidFill>
            </a:endParaRPr>
          </a:p>
        </p:txBody>
      </p:sp>
      <p:sp>
        <p:nvSpPr>
          <p:cNvPr id="210961" name="Text Box 17"/>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solidFill>
                  <a:srgbClr val="000000"/>
                </a:solidFill>
                <a:latin typeface="McGrawHill-Italic" pitchFamily="2" charset="0"/>
                <a:cs typeface="+mn-cs"/>
              </a:rPr>
              <a:t>McGraw-Hill</a:t>
            </a:r>
            <a:endParaRPr lang="en-US" altLang="en-US" sz="2400">
              <a:solidFill>
                <a:srgbClr val="000000"/>
              </a:solidFill>
              <a:latin typeface="Times New Roman" pitchFamily="18" charset="0"/>
              <a:cs typeface="+mn-cs"/>
            </a:endParaRPr>
          </a:p>
        </p:txBody>
      </p:sp>
      <p:sp>
        <p:nvSpPr>
          <p:cNvPr id="210962" name="Text Box 18"/>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buFontTx/>
              <a:buChar char="©"/>
            </a:pPr>
            <a:r>
              <a:rPr lang="en-US" altLang="en-US" sz="1400">
                <a:solidFill>
                  <a:srgbClr val="000000"/>
                </a:solidFill>
                <a:latin typeface="McGrawHill-Italic" pitchFamily="2" charset="0"/>
                <a:cs typeface="+mn-cs"/>
              </a:rPr>
              <a:t>The McGraw-Hill Companies, Inc., 2000</a:t>
            </a:r>
            <a:endParaRPr lang="en-US" altLang="en-US" sz="2400">
              <a:solidFill>
                <a:srgbClr val="000000"/>
              </a:solidFill>
              <a:latin typeface="Times New Roman" pitchFamily="18" charset="0"/>
              <a:cs typeface="+mn-cs"/>
            </a:endParaRPr>
          </a:p>
        </p:txBody>
      </p:sp>
    </p:spTree>
    <p:extLst>
      <p:ext uri="{BB962C8B-B14F-4D97-AF65-F5344CB8AC3E}">
        <p14:creationId xmlns:p14="http://schemas.microsoft.com/office/powerpoint/2010/main" val="46579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solidFill>
                  <a:srgbClr val="000000"/>
                </a:solidFill>
              </a:rPr>
              <a:t>2.</a:t>
            </a:r>
            <a:fld id="{D2E98C53-BC00-420D-805F-BEC3EB60A30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626413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r>
              <a:rPr lang="en-US">
                <a:solidFill>
                  <a:srgbClr val="000000"/>
                </a:solidFill>
              </a:rPr>
              <a:t>2.</a:t>
            </a:r>
            <a:fld id="{D722EF5D-7FA5-4554-B981-6425D351335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452193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r>
              <a:rPr lang="en-US">
                <a:solidFill>
                  <a:srgbClr val="000000"/>
                </a:solidFill>
              </a:rPr>
              <a:t>2.</a:t>
            </a:r>
            <a:fld id="{DE65D759-14AB-4131-886E-19679B9EB149}"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6107161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r>
              <a:rPr lang="en-US">
                <a:solidFill>
                  <a:srgbClr val="000000"/>
                </a:solidFill>
              </a:rPr>
              <a:t>2.</a:t>
            </a:r>
            <a:fld id="{EB476CB6-EAFC-474C-A9E5-DC3D92B25B9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2481328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r>
              <a:rPr lang="en-US">
                <a:solidFill>
                  <a:srgbClr val="000000"/>
                </a:solidFill>
              </a:rPr>
              <a:t>2.</a:t>
            </a:r>
            <a:fld id="{6376598D-8F10-43C8-A181-0EDE112F2FF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19526149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r>
              <a:rPr lang="en-US">
                <a:solidFill>
                  <a:srgbClr val="000000"/>
                </a:solidFill>
              </a:rPr>
              <a:t>2.</a:t>
            </a:r>
            <a:fld id="{0A586B48-30B5-4E6C-BF6F-00CD1081991C}"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6413656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solidFill>
                  <a:srgbClr val="000000"/>
                </a:solidFill>
              </a:rPr>
              <a:t>2.</a:t>
            </a:r>
            <a:fld id="{C86A91D6-256C-4F5E-9A6B-69C67DE3B29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9956516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solidFill>
                  <a:srgbClr val="000000"/>
                </a:solidFill>
              </a:rPr>
              <a:t>2.</a:t>
            </a:r>
            <a:fld id="{F5E4E89F-0EDB-4B7C-8890-D005691EC0B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5117231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solidFill>
                  <a:srgbClr val="000000"/>
                </a:solidFill>
              </a:rPr>
              <a:t>2.</a:t>
            </a:r>
            <a:fld id="{76A724BA-B1B5-400C-A3B8-40CA6BA0E57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59808956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solidFill>
                  <a:srgbClr val="000000"/>
                </a:solidFill>
              </a:rPr>
              <a:t>2.</a:t>
            </a:r>
            <a:fld id="{3F07DD88-3730-4361-82AA-E8425157A72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53115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523143" y="403225"/>
            <a:ext cx="7792915" cy="682625"/>
          </a:xfrm>
          <a:prstGeom prst="rect">
            <a:avLst/>
          </a:prstGeom>
          <a:noFill/>
          <a:ln w="9525">
            <a:noFill/>
            <a:miter lim="800000"/>
            <a:headEnd/>
            <a:tailEnd/>
          </a:ln>
        </p:spPr>
        <p:txBody>
          <a:bodyPr vert="horz" wrap="square" lIns="87269" tIns="43634" rIns="87269" bIns="43634" numCol="1" anchor="t"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565640" y="1447801"/>
            <a:ext cx="7839808" cy="5054600"/>
          </a:xfrm>
          <a:prstGeom prst="rect">
            <a:avLst/>
          </a:prstGeom>
          <a:noFill/>
          <a:ln w="9525">
            <a:noFill/>
            <a:miter lim="800000"/>
            <a:headEnd/>
            <a:tailEnd/>
          </a:ln>
        </p:spPr>
        <p:txBody>
          <a:bodyPr vert="horz" wrap="square" lIns="87269" tIns="43634" rIns="87269" bIns="4363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dk1" tx1="lt1" bg2="dk2" tx2="lt2" accent1="accent1" accent2="accent2" accent3="accent3" accent4="accent4" accent5="accent5" accent6="accent6" hlink="hlink" folHlink="folHlink"/>
  <p:sldLayoutIdLst>
    <p:sldLayoutId id="2147485396" r:id="rId1"/>
    <p:sldLayoutId id="2147485397" r:id="rId2"/>
    <p:sldLayoutId id="2147485489" r:id="rId3"/>
    <p:sldLayoutId id="2147485490" r:id="rId4"/>
    <p:sldLayoutId id="2147485494" r:id="rId5"/>
    <p:sldLayoutId id="2147485495" r:id="rId6"/>
    <p:sldLayoutId id="2147485506" r:id="rId7"/>
    <p:sldLayoutId id="2147485531" r:id="rId8"/>
    <p:sldLayoutId id="2147485533" r:id="rId9"/>
    <p:sldLayoutId id="2147485534" r:id="rId10"/>
    <p:sldLayoutId id="2147485536" r:id="rId11"/>
  </p:sldLayoutIdLst>
  <p:txStyles>
    <p:titleStyle>
      <a:lvl1pPr algn="ctr" defTabSz="436344" rtl="0" eaLnBrk="0" fontAlgn="base" hangingPunct="0">
        <a:spcBef>
          <a:spcPct val="0"/>
        </a:spcBef>
        <a:spcAft>
          <a:spcPct val="0"/>
        </a:spcAft>
        <a:defRPr sz="3200" b="1" kern="1200">
          <a:solidFill>
            <a:srgbClr val="002060"/>
          </a:solidFill>
          <a:latin typeface="Bookman Old Style" pitchFamily="18" charset="0"/>
          <a:ea typeface="+mj-ea"/>
          <a:cs typeface="+mj-cs"/>
        </a:defRPr>
      </a:lvl1pPr>
      <a:lvl2pPr algn="l" defTabSz="436344" rtl="0" eaLnBrk="0" fontAlgn="base" hangingPunct="0">
        <a:spcBef>
          <a:spcPct val="0"/>
        </a:spcBef>
        <a:spcAft>
          <a:spcPct val="0"/>
        </a:spcAft>
        <a:defRPr sz="4000">
          <a:solidFill>
            <a:srgbClr val="C00000"/>
          </a:solidFill>
          <a:latin typeface="Century Gothic" pitchFamily="34" charset="0"/>
        </a:defRPr>
      </a:lvl2pPr>
      <a:lvl3pPr algn="l" defTabSz="436344" rtl="0" eaLnBrk="0" fontAlgn="base" hangingPunct="0">
        <a:spcBef>
          <a:spcPct val="0"/>
        </a:spcBef>
        <a:spcAft>
          <a:spcPct val="0"/>
        </a:spcAft>
        <a:defRPr sz="4000">
          <a:solidFill>
            <a:srgbClr val="C00000"/>
          </a:solidFill>
          <a:latin typeface="Century Gothic" pitchFamily="34" charset="0"/>
        </a:defRPr>
      </a:lvl3pPr>
      <a:lvl4pPr algn="l" defTabSz="436344" rtl="0" eaLnBrk="0" fontAlgn="base" hangingPunct="0">
        <a:spcBef>
          <a:spcPct val="0"/>
        </a:spcBef>
        <a:spcAft>
          <a:spcPct val="0"/>
        </a:spcAft>
        <a:defRPr sz="4000">
          <a:solidFill>
            <a:srgbClr val="C00000"/>
          </a:solidFill>
          <a:latin typeface="Century Gothic" pitchFamily="34" charset="0"/>
        </a:defRPr>
      </a:lvl4pPr>
      <a:lvl5pPr algn="l" defTabSz="436344" rtl="0" eaLnBrk="0" fontAlgn="base" hangingPunct="0">
        <a:spcBef>
          <a:spcPct val="0"/>
        </a:spcBef>
        <a:spcAft>
          <a:spcPct val="0"/>
        </a:spcAft>
        <a:defRPr sz="4000">
          <a:solidFill>
            <a:srgbClr val="C00000"/>
          </a:solidFill>
          <a:latin typeface="Century Gothic"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27257" indent="-327257" algn="l" defTabSz="436344" rtl="0" eaLnBrk="0" fontAlgn="base" hangingPunct="0">
        <a:spcBef>
          <a:spcPts val="954"/>
        </a:spcBef>
        <a:spcAft>
          <a:spcPct val="0"/>
        </a:spcAft>
        <a:buClr>
          <a:srgbClr val="999999"/>
        </a:buClr>
        <a:buSzPct val="80000"/>
        <a:buBlip>
          <a:blip r:embed="rId13"/>
        </a:buBlip>
        <a:defRPr sz="2400" kern="1200">
          <a:solidFill>
            <a:srgbClr val="0000FF"/>
          </a:solidFill>
          <a:latin typeface="Gill Sans MT" pitchFamily="34" charset="0"/>
          <a:ea typeface="Arial Unicode MS" pitchFamily="34" charset="-128"/>
          <a:cs typeface="Arial Unicode MS" pitchFamily="34" charset="-128"/>
        </a:defRPr>
      </a:lvl1pPr>
      <a:lvl2pPr marL="709057" indent="-272715" algn="l" defTabSz="436344" rtl="0" eaLnBrk="0" fontAlgn="base" hangingPunct="0">
        <a:spcBef>
          <a:spcPts val="954"/>
        </a:spcBef>
        <a:spcAft>
          <a:spcPct val="0"/>
        </a:spcAft>
        <a:buClr>
          <a:srgbClr val="0070C0"/>
        </a:buClr>
        <a:buSzPct val="100000"/>
        <a:buFont typeface="Arial" pitchFamily="34" charset="0"/>
        <a:buChar char="•"/>
        <a:defRPr sz="2400" kern="1200">
          <a:solidFill>
            <a:schemeClr val="bg1"/>
          </a:solidFill>
          <a:latin typeface="Gill Sans MT" pitchFamily="34" charset="0"/>
          <a:ea typeface="Arial Unicode MS" pitchFamily="34" charset="-128"/>
          <a:cs typeface="Arial Unicode MS" pitchFamily="34" charset="-128"/>
        </a:defRPr>
      </a:lvl2pPr>
      <a:lvl3pPr marL="1090859" indent="-218171" algn="l" defTabSz="436344" rtl="0" eaLnBrk="0" fontAlgn="base" hangingPunct="0">
        <a:spcBef>
          <a:spcPts val="954"/>
        </a:spcBef>
        <a:spcAft>
          <a:spcPct val="0"/>
        </a:spcAft>
        <a:buClr>
          <a:srgbClr val="999999"/>
        </a:buClr>
        <a:buSzPct val="80000"/>
        <a:buBlip>
          <a:blip r:embed="rId13"/>
        </a:buBlip>
        <a:defRPr sz="2400" kern="1200">
          <a:solidFill>
            <a:schemeClr val="bg1"/>
          </a:solidFill>
          <a:latin typeface="Gill Sans MT" pitchFamily="34" charset="0"/>
          <a:ea typeface="Arial Unicode MS" pitchFamily="34" charset="-128"/>
          <a:cs typeface="Arial Unicode MS" pitchFamily="34" charset="-128"/>
        </a:defRPr>
      </a:lvl3pPr>
      <a:lvl4pPr marL="1527202" indent="-218171" algn="l" defTabSz="436344" rtl="0" eaLnBrk="0" fontAlgn="base" hangingPunct="0">
        <a:spcBef>
          <a:spcPts val="954"/>
        </a:spcBef>
        <a:spcAft>
          <a:spcPct val="0"/>
        </a:spcAft>
        <a:buClr>
          <a:srgbClr val="999999"/>
        </a:buClr>
        <a:buSzPct val="80000"/>
        <a:buBlip>
          <a:blip r:embed="rId13"/>
        </a:buBlip>
        <a:defRPr sz="2400" kern="1200">
          <a:solidFill>
            <a:schemeClr val="bg1"/>
          </a:solidFill>
          <a:latin typeface="Gill Sans MT" pitchFamily="34" charset="0"/>
          <a:ea typeface="Arial Unicode MS" pitchFamily="34" charset="-128"/>
          <a:cs typeface="Arial Unicode MS" pitchFamily="34" charset="-128"/>
        </a:defRPr>
      </a:lvl4pPr>
      <a:lvl5pPr marL="1963545" indent="-218171" algn="l" defTabSz="436344" rtl="0" eaLnBrk="0" fontAlgn="base" hangingPunct="0">
        <a:spcBef>
          <a:spcPts val="954"/>
        </a:spcBef>
        <a:spcAft>
          <a:spcPct val="0"/>
        </a:spcAft>
        <a:buClr>
          <a:srgbClr val="999999"/>
        </a:buClr>
        <a:buSzPct val="80000"/>
        <a:buBlip>
          <a:blip r:embed="rId13"/>
        </a:buBlip>
        <a:defRPr sz="2400" kern="1200">
          <a:solidFill>
            <a:schemeClr val="bg1"/>
          </a:solidFill>
          <a:latin typeface="Gill Sans MT" pitchFamily="34" charset="0"/>
          <a:ea typeface="Arial Unicode MS" pitchFamily="34" charset="-128"/>
          <a:cs typeface="Arial Unicode MS" pitchFamily="34" charset="-128"/>
        </a:defRPr>
      </a:lvl5pPr>
      <a:lvl6pPr marL="2391681" indent="-218171" algn="l" defTabSz="436344" rtl="0" eaLnBrk="1" latinLnBrk="0" hangingPunct="1">
        <a:spcBef>
          <a:spcPts val="954"/>
        </a:spcBef>
        <a:spcAft>
          <a:spcPts val="0"/>
        </a:spcAft>
        <a:buClr>
          <a:schemeClr val="bg2">
            <a:lumMod val="40000"/>
            <a:lumOff val="60000"/>
          </a:schemeClr>
        </a:buClr>
        <a:buSzPct val="80000"/>
        <a:buFont typeface="Wingdings 3" charset="2"/>
        <a:buChar char=""/>
        <a:defRPr sz="1300" b="0" i="0" kern="1200">
          <a:solidFill>
            <a:schemeClr val="tx1"/>
          </a:solidFill>
          <a:latin typeface="+mj-lt"/>
          <a:ea typeface="+mj-ea"/>
          <a:cs typeface="+mj-cs"/>
        </a:defRPr>
      </a:lvl6pPr>
      <a:lvl7pPr marL="2836232" indent="-218171" algn="l" defTabSz="436344" rtl="0" eaLnBrk="1" latinLnBrk="0" hangingPunct="1">
        <a:spcBef>
          <a:spcPts val="954"/>
        </a:spcBef>
        <a:spcAft>
          <a:spcPts val="0"/>
        </a:spcAft>
        <a:buClr>
          <a:schemeClr val="bg2">
            <a:lumMod val="40000"/>
            <a:lumOff val="60000"/>
          </a:schemeClr>
        </a:buClr>
        <a:buSzPct val="80000"/>
        <a:buFont typeface="Wingdings 3" charset="2"/>
        <a:buChar char=""/>
        <a:defRPr sz="1300" b="0" i="0" kern="1200">
          <a:solidFill>
            <a:schemeClr val="tx1"/>
          </a:solidFill>
          <a:latin typeface="+mj-lt"/>
          <a:ea typeface="+mj-ea"/>
          <a:cs typeface="+mj-cs"/>
        </a:defRPr>
      </a:lvl7pPr>
      <a:lvl8pPr marL="3272576" indent="-218171" algn="l" defTabSz="436344" rtl="0" eaLnBrk="1" latinLnBrk="0" hangingPunct="1">
        <a:spcBef>
          <a:spcPts val="954"/>
        </a:spcBef>
        <a:spcAft>
          <a:spcPts val="0"/>
        </a:spcAft>
        <a:buClr>
          <a:schemeClr val="bg2">
            <a:lumMod val="40000"/>
            <a:lumOff val="60000"/>
          </a:schemeClr>
        </a:buClr>
        <a:buSzPct val="80000"/>
        <a:buFont typeface="Wingdings 3" charset="2"/>
        <a:buChar char=""/>
        <a:defRPr sz="1300" b="0" i="0" kern="1200">
          <a:solidFill>
            <a:schemeClr val="tx1"/>
          </a:solidFill>
          <a:latin typeface="+mj-lt"/>
          <a:ea typeface="+mj-ea"/>
          <a:cs typeface="+mj-cs"/>
        </a:defRPr>
      </a:lvl8pPr>
      <a:lvl9pPr marL="3708918" indent="-218171" algn="l" defTabSz="436344" rtl="0" eaLnBrk="1" latinLnBrk="0" hangingPunct="1">
        <a:spcBef>
          <a:spcPts val="954"/>
        </a:spcBef>
        <a:spcAft>
          <a:spcPts val="0"/>
        </a:spcAft>
        <a:buClr>
          <a:schemeClr val="bg2">
            <a:lumMod val="40000"/>
            <a:lumOff val="60000"/>
          </a:schemeClr>
        </a:buClr>
        <a:buSzPct val="80000"/>
        <a:buFont typeface="Wingdings 3" charset="2"/>
        <a:buChar char=""/>
        <a:defRPr sz="1300" b="0" i="0" kern="1200">
          <a:solidFill>
            <a:schemeClr val="tx1"/>
          </a:solidFill>
          <a:latin typeface="+mj-lt"/>
          <a:ea typeface="+mj-ea"/>
          <a:cs typeface="+mj-cs"/>
        </a:defRPr>
      </a:lvl9pPr>
    </p:bodyStyle>
    <p:otherStyle>
      <a:defPPr>
        <a:defRPr lang="en-US"/>
      </a:defPPr>
      <a:lvl1pPr marL="0" algn="l" defTabSz="436344" rtl="0" eaLnBrk="1" latinLnBrk="0" hangingPunct="1">
        <a:defRPr sz="1700" kern="1200">
          <a:solidFill>
            <a:schemeClr val="tx1"/>
          </a:solidFill>
          <a:latin typeface="+mn-lt"/>
          <a:ea typeface="+mn-ea"/>
          <a:cs typeface="+mn-cs"/>
        </a:defRPr>
      </a:lvl1pPr>
      <a:lvl2pPr marL="436344" algn="l" defTabSz="436344" rtl="0" eaLnBrk="1" latinLnBrk="0" hangingPunct="1">
        <a:defRPr sz="1700" kern="1200">
          <a:solidFill>
            <a:schemeClr val="tx1"/>
          </a:solidFill>
          <a:latin typeface="+mn-lt"/>
          <a:ea typeface="+mn-ea"/>
          <a:cs typeface="+mn-cs"/>
        </a:defRPr>
      </a:lvl2pPr>
      <a:lvl3pPr marL="872687" algn="l" defTabSz="436344" rtl="0" eaLnBrk="1" latinLnBrk="0" hangingPunct="1">
        <a:defRPr sz="1700" kern="1200">
          <a:solidFill>
            <a:schemeClr val="tx1"/>
          </a:solidFill>
          <a:latin typeface="+mn-lt"/>
          <a:ea typeface="+mn-ea"/>
          <a:cs typeface="+mn-cs"/>
        </a:defRPr>
      </a:lvl3pPr>
      <a:lvl4pPr marL="1309030" algn="l" defTabSz="436344" rtl="0" eaLnBrk="1" latinLnBrk="0" hangingPunct="1">
        <a:defRPr sz="1700" kern="1200">
          <a:solidFill>
            <a:schemeClr val="tx1"/>
          </a:solidFill>
          <a:latin typeface="+mn-lt"/>
          <a:ea typeface="+mn-ea"/>
          <a:cs typeface="+mn-cs"/>
        </a:defRPr>
      </a:lvl4pPr>
      <a:lvl5pPr marL="1745373" algn="l" defTabSz="436344" rtl="0" eaLnBrk="1" latinLnBrk="0" hangingPunct="1">
        <a:defRPr sz="1700" kern="1200">
          <a:solidFill>
            <a:schemeClr val="tx1"/>
          </a:solidFill>
          <a:latin typeface="+mn-lt"/>
          <a:ea typeface="+mn-ea"/>
          <a:cs typeface="+mn-cs"/>
        </a:defRPr>
      </a:lvl5pPr>
      <a:lvl6pPr marL="2181717" algn="l" defTabSz="436344" rtl="0" eaLnBrk="1" latinLnBrk="0" hangingPunct="1">
        <a:defRPr sz="1700" kern="1200">
          <a:solidFill>
            <a:schemeClr val="tx1"/>
          </a:solidFill>
          <a:latin typeface="+mn-lt"/>
          <a:ea typeface="+mn-ea"/>
          <a:cs typeface="+mn-cs"/>
        </a:defRPr>
      </a:lvl6pPr>
      <a:lvl7pPr marL="2618061" algn="l" defTabSz="436344" rtl="0" eaLnBrk="1" latinLnBrk="0" hangingPunct="1">
        <a:defRPr sz="1700" kern="1200">
          <a:solidFill>
            <a:schemeClr val="tx1"/>
          </a:solidFill>
          <a:latin typeface="+mn-lt"/>
          <a:ea typeface="+mn-ea"/>
          <a:cs typeface="+mn-cs"/>
        </a:defRPr>
      </a:lvl7pPr>
      <a:lvl8pPr marL="3054403" algn="l" defTabSz="436344" rtl="0" eaLnBrk="1" latinLnBrk="0" hangingPunct="1">
        <a:defRPr sz="1700" kern="1200">
          <a:solidFill>
            <a:schemeClr val="tx1"/>
          </a:solidFill>
          <a:latin typeface="+mn-lt"/>
          <a:ea typeface="+mn-ea"/>
          <a:cs typeface="+mn-cs"/>
        </a:defRPr>
      </a:lvl8pPr>
      <a:lvl9pPr marL="3490747" algn="l" defTabSz="436344" rtl="0" eaLnBrk="1" latinLnBrk="0" hangingPunct="1">
        <a:defRPr sz="1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3D3276-E0A4-43B3-9B6A-E72F1FD6C677}" type="datetimeFigureOut">
              <a:rPr lang="en-US" smtClean="0"/>
              <a:pPr/>
              <a:t>6/1/2026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5E5A5F-9052-404D-BDB8-0769B149DE4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5538" r:id="rId1"/>
    <p:sldLayoutId id="2147485539" r:id="rId2"/>
    <p:sldLayoutId id="2147485540" r:id="rId3"/>
    <p:sldLayoutId id="2147485541" r:id="rId4"/>
    <p:sldLayoutId id="2147485542" r:id="rId5"/>
    <p:sldLayoutId id="2147485543" r:id="rId6"/>
    <p:sldLayoutId id="2147485544" r:id="rId7"/>
    <p:sldLayoutId id="2147485545" r:id="rId8"/>
    <p:sldLayoutId id="2147485546" r:id="rId9"/>
    <p:sldLayoutId id="2147485547" r:id="rId10"/>
    <p:sldLayoutId id="214748554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p:cNvSpPr>
            <a:spLocks noGrp="1" noChangeArrowheads="1"/>
          </p:cNvSpPr>
          <p:nvPr>
            <p:ph type="sldNum" sz="quarter" idx="4"/>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aseline="0">
                <a:solidFill>
                  <a:schemeClr val="bg2"/>
                </a:solidFill>
                <a:latin typeface="Arial" pitchFamily="34" charset="0"/>
              </a:defRPr>
            </a:lvl1pPr>
          </a:lstStyle>
          <a:p>
            <a:r>
              <a:rPr lang="en-US"/>
              <a:t>4.</a:t>
            </a:r>
            <a:fld id="{FBEB30DE-CC53-4E15-B472-2D3EE826BE5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5550" r:id="rId1"/>
    <p:sldLayoutId id="2147485551" r:id="rId2"/>
    <p:sldLayoutId id="2147485552" r:id="rId3"/>
    <p:sldLayoutId id="2147485553" r:id="rId4"/>
    <p:sldLayoutId id="2147485554" r:id="rId5"/>
    <p:sldLayoutId id="2147485555" r:id="rId6"/>
    <p:sldLayoutId id="2147485556" r:id="rId7"/>
    <p:sldLayoutId id="2147485557" r:id="rId8"/>
    <p:sldLayoutId id="2147485558" r:id="rId9"/>
    <p:sldLayoutId id="2147485559" r:id="rId10"/>
    <p:sldLayoutId id="2147485560"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Arial Unicode MS" pitchFamily="34" charset="-128"/>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Arial Unicode MS" pitchFamily="34" charset="-128"/>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Arial Unicode MS" pitchFamily="34" charset="-128"/>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Arial Unicode MS" pitchFamily="34" charset="-128"/>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Arial Unicode MS" pitchFamily="34" charset="-128"/>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p:cNvSpPr>
            <a:spLocks noGrp="1" noChangeArrowheads="1"/>
          </p:cNvSpPr>
          <p:nvPr>
            <p:ph type="sldNum" sz="quarter" idx="4"/>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aseline="0">
                <a:solidFill>
                  <a:schemeClr val="bg2"/>
                </a:solidFill>
                <a:latin typeface="Arial" charset="0"/>
              </a:defRPr>
            </a:lvl1pPr>
          </a:lstStyle>
          <a:p>
            <a:r>
              <a:rPr lang="en-US" b="1">
                <a:solidFill>
                  <a:srgbClr val="1C1C1C"/>
                </a:solidFill>
                <a:cs typeface="+mn-cs"/>
              </a:rPr>
              <a:t>4.</a:t>
            </a:r>
            <a:fld id="{AF328A04-592A-4B0E-A3F3-E7D9326B741B}" type="slidenum">
              <a:rPr lang="en-US" b="1" smtClean="0">
                <a:solidFill>
                  <a:srgbClr val="1C1C1C"/>
                </a:solidFill>
                <a:cs typeface="+mn-cs"/>
              </a:rPr>
              <a:pPr/>
              <a:t>‹#›</a:t>
            </a:fld>
            <a:endParaRPr lang="en-US" b="1">
              <a:solidFill>
                <a:srgbClr val="1C1C1C"/>
              </a:solidFill>
              <a:cs typeface="+mn-cs"/>
            </a:endParaRPr>
          </a:p>
        </p:txBody>
      </p:sp>
    </p:spTree>
    <p:extLst>
      <p:ext uri="{BB962C8B-B14F-4D97-AF65-F5344CB8AC3E}">
        <p14:creationId xmlns:p14="http://schemas.microsoft.com/office/powerpoint/2010/main" val="3646087430"/>
      </p:ext>
    </p:extLst>
  </p:cSld>
  <p:clrMap bg1="lt1" tx1="dk1" bg2="lt2" tx2="dk2" accent1="accent1" accent2="accent2" accent3="accent3" accent4="accent4" accent5="accent5" accent6="accent6" hlink="hlink" folHlink="folHlink"/>
  <p:sldLayoutIdLst>
    <p:sldLayoutId id="2147485578" r:id="rId1"/>
    <p:sldLayoutId id="2147485579" r:id="rId2"/>
    <p:sldLayoutId id="2147485580" r:id="rId3"/>
    <p:sldLayoutId id="2147485581" r:id="rId4"/>
    <p:sldLayoutId id="2147485582" r:id="rId5"/>
    <p:sldLayoutId id="2147485583" r:id="rId6"/>
    <p:sldLayoutId id="2147485584" r:id="rId7"/>
    <p:sldLayoutId id="2147485585" r:id="rId8"/>
    <p:sldLayoutId id="2147485586" r:id="rId9"/>
    <p:sldLayoutId id="2147485587" r:id="rId10"/>
    <p:sldLayoutId id="2147485588"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Arial Unicode MS" pitchFamily="34" charset="-128"/>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Arial Unicode MS" pitchFamily="34" charset="-128"/>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Arial Unicode MS" pitchFamily="34" charset="-128"/>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Arial Unicode MS" pitchFamily="34" charset="-128"/>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Arial Unicode MS" pitchFamily="34" charset="-128"/>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p:cNvSpPr>
            <a:spLocks noGrp="1" noChangeArrowheads="1"/>
          </p:cNvSpPr>
          <p:nvPr>
            <p:ph type="sldNum" sz="quarter" idx="4"/>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aseline="0">
                <a:solidFill>
                  <a:schemeClr val="bg2"/>
                </a:solidFill>
                <a:latin typeface="Arial" charset="0"/>
              </a:defRPr>
            </a:lvl1pPr>
          </a:lstStyle>
          <a:p>
            <a:r>
              <a:rPr lang="en-US" b="1">
                <a:solidFill>
                  <a:srgbClr val="1C1C1C"/>
                </a:solidFill>
                <a:cs typeface="+mn-cs"/>
              </a:rPr>
              <a:t>4.</a:t>
            </a:r>
            <a:fld id="{AF328A04-592A-4B0E-A3F3-E7D9326B741B}" type="slidenum">
              <a:rPr lang="en-US" b="1" smtClean="0">
                <a:solidFill>
                  <a:srgbClr val="1C1C1C"/>
                </a:solidFill>
                <a:cs typeface="+mn-cs"/>
              </a:rPr>
              <a:pPr/>
              <a:t>‹#›</a:t>
            </a:fld>
            <a:endParaRPr lang="en-US" b="1">
              <a:solidFill>
                <a:srgbClr val="1C1C1C"/>
              </a:solidFill>
              <a:cs typeface="+mn-cs"/>
            </a:endParaRPr>
          </a:p>
        </p:txBody>
      </p:sp>
    </p:spTree>
    <p:extLst>
      <p:ext uri="{BB962C8B-B14F-4D97-AF65-F5344CB8AC3E}">
        <p14:creationId xmlns:p14="http://schemas.microsoft.com/office/powerpoint/2010/main" val="4210625974"/>
      </p:ext>
    </p:extLst>
  </p:cSld>
  <p:clrMap bg1="lt1" tx1="dk1" bg2="lt2" tx2="dk2" accent1="accent1" accent2="accent2" accent3="accent3" accent4="accent4" accent5="accent5" accent6="accent6" hlink="hlink" folHlink="folHlink"/>
  <p:sldLayoutIdLst>
    <p:sldLayoutId id="2147485590" r:id="rId1"/>
    <p:sldLayoutId id="2147485591" r:id="rId2"/>
    <p:sldLayoutId id="2147485592" r:id="rId3"/>
    <p:sldLayoutId id="2147485593" r:id="rId4"/>
    <p:sldLayoutId id="2147485594" r:id="rId5"/>
    <p:sldLayoutId id="2147485595" r:id="rId6"/>
    <p:sldLayoutId id="2147485596" r:id="rId7"/>
    <p:sldLayoutId id="2147485597" r:id="rId8"/>
    <p:sldLayoutId id="2147485598" r:id="rId9"/>
    <p:sldLayoutId id="2147485599" r:id="rId10"/>
    <p:sldLayoutId id="2147485600"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Arial Unicode MS" pitchFamily="34" charset="-128"/>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Arial Unicode MS" pitchFamily="34" charset="-128"/>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Arial Unicode MS" pitchFamily="34" charset="-128"/>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Arial Unicode MS" pitchFamily="34" charset="-128"/>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Arial Unicode MS" pitchFamily="34" charset="-128"/>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Arial Unicode MS" pitchFamily="34" charset="-128"/>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Rectangle 13"/>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i="0">
                <a:latin typeface="Arial" charset="0"/>
              </a:defRPr>
            </a:lvl1pPr>
          </a:lstStyle>
          <a:p>
            <a:r>
              <a:rPr lang="en-US" b="1">
                <a:solidFill>
                  <a:srgbClr val="000000"/>
                </a:solidFill>
                <a:cs typeface="+mn-cs"/>
              </a:rPr>
              <a:t>2.</a:t>
            </a:r>
            <a:fld id="{346D5D77-80AB-426F-A6D9-AFB5A12A84A8}" type="slidenum">
              <a:rPr lang="en-US" b="1" smtClean="0">
                <a:solidFill>
                  <a:srgbClr val="000000"/>
                </a:solidFill>
                <a:cs typeface="+mn-cs"/>
              </a:rPr>
              <a:pPr/>
              <a:t>‹#›</a:t>
            </a:fld>
            <a:endParaRPr lang="en-US" b="1">
              <a:solidFill>
                <a:srgbClr val="000000"/>
              </a:solidFill>
              <a:cs typeface="+mn-cs"/>
            </a:endParaRPr>
          </a:p>
        </p:txBody>
      </p:sp>
    </p:spTree>
    <p:extLst>
      <p:ext uri="{BB962C8B-B14F-4D97-AF65-F5344CB8AC3E}">
        <p14:creationId xmlns:p14="http://schemas.microsoft.com/office/powerpoint/2010/main" val="3390871812"/>
      </p:ext>
    </p:extLst>
  </p:cSld>
  <p:clrMap bg1="lt1" tx1="dk1" bg2="lt2" tx2="dk2" accent1="accent1" accent2="accent2" accent3="accent3" accent4="accent4" accent5="accent5" accent6="accent6" hlink="hlink" folHlink="folHlink"/>
  <p:sldLayoutIdLst>
    <p:sldLayoutId id="2147485602" r:id="rId1"/>
    <p:sldLayoutId id="2147485603" r:id="rId2"/>
    <p:sldLayoutId id="2147485604" r:id="rId3"/>
    <p:sldLayoutId id="2147485605" r:id="rId4"/>
    <p:sldLayoutId id="2147485606" r:id="rId5"/>
    <p:sldLayoutId id="2147485607" r:id="rId6"/>
    <p:sldLayoutId id="2147485608" r:id="rId7"/>
    <p:sldLayoutId id="2147485609" r:id="rId8"/>
    <p:sldLayoutId id="2147485610" r:id="rId9"/>
    <p:sldLayoutId id="2147485611" r:id="rId10"/>
    <p:sldLayoutId id="2147485612" r:id="rId11"/>
  </p:sldLayoutIdLst>
  <p:hf hdr="0" ftr="0" dt="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itchFamily="34" charset="0"/>
        </a:defRPr>
      </a:lvl2pPr>
      <a:lvl3pPr algn="l" rtl="0" fontAlgn="base">
        <a:spcBef>
          <a:spcPct val="0"/>
        </a:spcBef>
        <a:spcAft>
          <a:spcPct val="0"/>
        </a:spcAft>
        <a:defRPr sz="4400">
          <a:solidFill>
            <a:schemeClr val="tx2"/>
          </a:solidFill>
          <a:latin typeface="Tahoma" pitchFamily="34" charset="0"/>
        </a:defRPr>
      </a:lvl3pPr>
      <a:lvl4pPr algn="l" rtl="0" fontAlgn="base">
        <a:spcBef>
          <a:spcPct val="0"/>
        </a:spcBef>
        <a:spcAft>
          <a:spcPct val="0"/>
        </a:spcAft>
        <a:defRPr sz="4400">
          <a:solidFill>
            <a:schemeClr val="tx2"/>
          </a:solidFill>
          <a:latin typeface="Tahoma" pitchFamily="34" charset="0"/>
        </a:defRPr>
      </a:lvl4pPr>
      <a:lvl5pPr algn="l" rtl="0" fontAlgn="base">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slides/_rels/slide39.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slideLayout" Target="../slideLayouts/slideLayout3.xml"/><Relationship Id="rId5" Type="http://schemas.openxmlformats.org/officeDocument/2006/relationships/image" Target="../media/image41.wmf"/><Relationship Id="rId4" Type="http://schemas.openxmlformats.org/officeDocument/2006/relationships/image" Target="../media/image40.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51.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5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51.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8.xml"/></Relationships>
</file>

<file path=ppt/slides/_rels/slide68.x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slideLayout" Target="../slideLayouts/slideLayout2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37.xml"/><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2.xml"/><Relationship Id="rId1" Type="http://schemas.openxmlformats.org/officeDocument/2006/relationships/slideLayout" Target="../slideLayouts/slideLayout29.xml"/></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29.xml"/></Relationships>
</file>

<file path=ppt/slides/_rels/slide7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29.xml"/></Relationships>
</file>

<file path=ppt/slides/_rels/slide7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5.xml"/><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29.xml"/></Relationships>
</file>

<file path=ppt/slides/_rels/slide8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9.xml"/><Relationship Id="rId1" Type="http://schemas.openxmlformats.org/officeDocument/2006/relationships/slideLayout" Target="../slideLayouts/slideLayout29.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1.xml"/><Relationship Id="rId1" Type="http://schemas.openxmlformats.org/officeDocument/2006/relationships/slideLayout" Target="../slideLayouts/slideLayout29.xml"/><Relationship Id="rId4" Type="http://schemas.microsoft.com/office/2007/relationships/hdphoto" Target="../media/hdphoto1.wdp"/></Relationships>
</file>

<file path=ppt/slides/_rels/slide8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2.xml"/><Relationship Id="rId1" Type="http://schemas.openxmlformats.org/officeDocument/2006/relationships/slideLayout" Target="../slideLayouts/slideLayout29.xml"/><Relationship Id="rId4" Type="http://schemas.microsoft.com/office/2007/relationships/hdphoto" Target="../media/hdphoto2.wdp"/></Relationships>
</file>

<file path=ppt/slides/_rels/slide8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9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3.xml"/><Relationship Id="rId4" Type="http://schemas.openxmlformats.org/officeDocument/2006/relationships/image" Target="../media/image80.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2.xml"/></Relationships>
</file>

<file path=ppt/slides/_rels/slide10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5.xml"/><Relationship Id="rId1" Type="http://schemas.openxmlformats.org/officeDocument/2006/relationships/slideLayout" Target="../slideLayouts/slideLayout6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2.xml"/></Relationships>
</file>

<file path=ppt/slides/_rels/slide110.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notesSlide" Target="../notesSlides/notesSlide67.xml"/><Relationship Id="rId1" Type="http://schemas.openxmlformats.org/officeDocument/2006/relationships/slideLayout" Target="../slideLayouts/slideLayout62.xml"/></Relationships>
</file>

<file path=ppt/slides/_rels/slide11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8.xml"/><Relationship Id="rId1" Type="http://schemas.openxmlformats.org/officeDocument/2006/relationships/slideLayout" Target="../slideLayouts/slideLayout62.xml"/></Relationships>
</file>

<file path=ppt/slides/_rels/slide11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9.xml"/><Relationship Id="rId1" Type="http://schemas.openxmlformats.org/officeDocument/2006/relationships/slideLayout" Target="../slideLayouts/slideLayout62.xml"/></Relationships>
</file>

<file path=ppt/slides/_rels/slide11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0.xml"/><Relationship Id="rId1" Type="http://schemas.openxmlformats.org/officeDocument/2006/relationships/slideLayout" Target="../slideLayouts/slideLayout62.xml"/></Relationships>
</file>

<file path=ppt/slides/_rels/slide11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1.xml"/><Relationship Id="rId1" Type="http://schemas.openxmlformats.org/officeDocument/2006/relationships/slideLayout" Target="../slideLayouts/slideLayout62.xml"/></Relationships>
</file>

<file path=ppt/slides/_rels/slide115.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notesSlide" Target="../notesSlides/notesSlide72.xml"/><Relationship Id="rId1" Type="http://schemas.openxmlformats.org/officeDocument/2006/relationships/slideLayout" Target="../slideLayouts/slideLayout62.xml"/></Relationships>
</file>

<file path=ppt/slides/_rels/slide116.x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notesSlide" Target="../notesSlides/notesSlide73.xml"/><Relationship Id="rId1" Type="http://schemas.openxmlformats.org/officeDocument/2006/relationships/slideLayout" Target="../slideLayouts/slideLayout62.xml"/></Relationships>
</file>

<file path=ppt/slides/_rels/slide117.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74.xml"/><Relationship Id="rId1" Type="http://schemas.openxmlformats.org/officeDocument/2006/relationships/slideLayout" Target="../slideLayouts/slideLayout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ctrTitle"/>
          </p:nvPr>
        </p:nvSpPr>
        <p:spPr>
          <a:xfrm>
            <a:off x="1519311" y="2983734"/>
            <a:ext cx="6302326" cy="847287"/>
          </a:xfrm>
        </p:spPr>
        <p:txBody>
          <a:bodyPr/>
          <a:lstStyle/>
          <a:p>
            <a:pPr algn="ctr" eaLnBrk="1" hangingPunct="1"/>
            <a:r>
              <a:rPr lang="en-AU" altLang="zh-TW" sz="4200" dirty="0">
                <a:ea typeface="ＭＳ Ｐゴシック" pitchFamily="34" charset="-128"/>
              </a:rPr>
              <a:t>Cryptographic Math-2</a:t>
            </a:r>
            <a:br>
              <a:rPr lang="en-AU" altLang="zh-TW" sz="4200" dirty="0">
                <a:ea typeface="ＭＳ Ｐゴシック" pitchFamily="34" charset="-128"/>
              </a:rPr>
            </a:br>
            <a:endParaRPr lang="en-AU" altLang="zh-TW" dirty="0">
              <a:ea typeface="ＭＳ Ｐゴシック"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2268372" y="3084204"/>
            <a:ext cx="4966424" cy="584775"/>
          </a:xfrm>
          <a:prstGeom prst="rect">
            <a:avLst/>
          </a:prstGeom>
          <a:noFill/>
          <a:ln w="9525">
            <a:noFill/>
            <a:miter lim="800000"/>
            <a:headEnd/>
            <a:tailEnd/>
          </a:ln>
          <a:effectLst/>
        </p:spPr>
        <p:txBody>
          <a:bodyPr wrap="none">
            <a:spAutoFit/>
          </a:bodyPr>
          <a:lstStyle/>
          <a:p>
            <a:pPr algn="ctr">
              <a:defRPr/>
            </a:pPr>
            <a:r>
              <a:rPr lang="en-US" sz="3200" baseline="0" dirty="0">
                <a:solidFill>
                  <a:srgbClr val="000000"/>
                </a:solidFill>
                <a:effectLst>
                  <a:outerShdw blurRad="38100" dist="38100" dir="2700000" algn="tl">
                    <a:srgbClr val="C0C0C0"/>
                  </a:outerShdw>
                </a:effectLst>
                <a:latin typeface="Times" pitchFamily="18" charset="0"/>
              </a:rPr>
              <a:t>   </a:t>
            </a:r>
            <a:r>
              <a:rPr lang="en-US" sz="3200" b="1" baseline="0" dirty="0">
                <a:solidFill>
                  <a:srgbClr val="002060"/>
                </a:solidFill>
                <a:latin typeface="Bookman Old Style" pitchFamily="18" charset="0"/>
              </a:rPr>
              <a:t>Algebraic Structures</a:t>
            </a:r>
          </a:p>
        </p:txBody>
      </p:sp>
    </p:spTree>
    <p:extLst>
      <p:ext uri="{BB962C8B-B14F-4D97-AF65-F5344CB8AC3E}">
        <p14:creationId xmlns:p14="http://schemas.microsoft.com/office/powerpoint/2010/main" val="2602721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F58B-D88A-47C2-6A11-C749B6F367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DB674F-3103-7C9E-D1B6-819DE920FF60}"/>
              </a:ext>
            </a:extLst>
          </p:cNvPr>
          <p:cNvSpPr>
            <a:spLocks noGrp="1"/>
          </p:cNvSpPr>
          <p:nvPr>
            <p:ph idx="1"/>
          </p:nvPr>
        </p:nvSpPr>
        <p:spPr/>
        <p:txBody>
          <a:bodyPr/>
          <a:lstStyle/>
          <a:p>
            <a:pPr algn="just"/>
            <a:r>
              <a:rPr lang="en-US" b="0" i="0" dirty="0">
                <a:solidFill>
                  <a:srgbClr val="242021"/>
                </a:solidFill>
                <a:effectLst/>
                <a:latin typeface="TimesTenLTStd-Roman"/>
              </a:rPr>
              <a:t>Finite fields have become increasingly important in cryptography. A number of cryptographic algorithms rely heavily on properties of finite fields, notably the Advanced Encryption Standard (AES) and elliptic curve cryptography.</a:t>
            </a:r>
          </a:p>
          <a:p>
            <a:pPr algn="just"/>
            <a:r>
              <a:rPr lang="en-US" dirty="0">
                <a:solidFill>
                  <a:srgbClr val="242021"/>
                </a:solidFill>
                <a:latin typeface="TimesTenLTStd-Roman"/>
              </a:rPr>
              <a:t>Fields are a subset of a larger class of algebraic structures called rings, which are in turn a subset of the larger class of groups. In fact, as shown in Figure ,both groups and rings can be further differentiated. Groups are defined by a simple set of properties and are easily understood. Each successive subset (abelian group, ring, commutative ring, and so on) adds additional properties and is thus more complex. </a:t>
            </a:r>
            <a:br>
              <a:rPr lang="en-US" dirty="0"/>
            </a:br>
            <a:endParaRPr lang="en-US" b="0" i="0" dirty="0">
              <a:solidFill>
                <a:srgbClr val="242021"/>
              </a:solidFill>
              <a:effectLst/>
              <a:latin typeface="TimesTenLTStd-Roman"/>
            </a:endParaRPr>
          </a:p>
          <a:p>
            <a:pPr algn="just"/>
            <a:endParaRPr lang="en-US" dirty="0">
              <a:solidFill>
                <a:srgbClr val="242021"/>
              </a:solidFill>
              <a:latin typeface="TimesTenLTStd-Roman"/>
            </a:endParaRPr>
          </a:p>
          <a:p>
            <a:pPr marL="0" indent="0" algn="just">
              <a:buNone/>
            </a:pPr>
            <a:br>
              <a:rPr lang="en-US" dirty="0"/>
            </a:br>
            <a:endParaRPr lang="en-US" dirty="0"/>
          </a:p>
        </p:txBody>
      </p:sp>
    </p:spTree>
    <p:extLst>
      <p:ext uri="{BB962C8B-B14F-4D97-AF65-F5344CB8AC3E}">
        <p14:creationId xmlns:p14="http://schemas.microsoft.com/office/powerpoint/2010/main" val="88498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F58B-D88A-47C2-6A11-C749B6F367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DB674F-3103-7C9E-D1B6-819DE920FF60}"/>
              </a:ext>
            </a:extLst>
          </p:cNvPr>
          <p:cNvSpPr>
            <a:spLocks noGrp="1"/>
          </p:cNvSpPr>
          <p:nvPr>
            <p:ph idx="1"/>
          </p:nvPr>
        </p:nvSpPr>
        <p:spPr/>
        <p:txBody>
          <a:bodyPr/>
          <a:lstStyle/>
          <a:p>
            <a:pPr algn="just"/>
            <a:r>
              <a:rPr lang="en-US" b="1" i="0" dirty="0">
                <a:solidFill>
                  <a:srgbClr val="242021"/>
                </a:solidFill>
                <a:effectLst/>
                <a:latin typeface="TimesTenLTStd-Bold"/>
              </a:rPr>
              <a:t>Finite fields </a:t>
            </a:r>
            <a:r>
              <a:rPr lang="en-US" b="0" i="0" dirty="0">
                <a:solidFill>
                  <a:srgbClr val="242021"/>
                </a:solidFill>
                <a:effectLst/>
                <a:latin typeface="TimesTenLTStd-Roman"/>
              </a:rPr>
              <a:t>are a subset of fields, consisting of those fields with a finite number of elements. These are the class of fields that are found in cryptographic algorithms. With the concepts of fields in hand, we turn in Section 5.4 to a specific class of finite fields, namely those with </a:t>
            </a:r>
            <a:r>
              <a:rPr lang="en-US" b="0" i="1" dirty="0">
                <a:solidFill>
                  <a:srgbClr val="242021"/>
                </a:solidFill>
                <a:effectLst/>
                <a:latin typeface="TimesTenLTStd-Italic"/>
              </a:rPr>
              <a:t>p </a:t>
            </a:r>
            <a:r>
              <a:rPr lang="en-US" b="0" i="0" dirty="0">
                <a:solidFill>
                  <a:srgbClr val="242021"/>
                </a:solidFill>
                <a:effectLst/>
                <a:latin typeface="TimesTenLTStd-Roman"/>
              </a:rPr>
              <a:t>elements, where </a:t>
            </a:r>
            <a:r>
              <a:rPr lang="en-US" b="0" i="1" dirty="0">
                <a:solidFill>
                  <a:srgbClr val="242021"/>
                </a:solidFill>
                <a:effectLst/>
                <a:latin typeface="TimesTenLTStd-Italic"/>
              </a:rPr>
              <a:t>p </a:t>
            </a:r>
            <a:r>
              <a:rPr lang="en-US" b="0" i="0" dirty="0">
                <a:solidFill>
                  <a:srgbClr val="242021"/>
                </a:solidFill>
                <a:effectLst/>
                <a:latin typeface="TimesTenLTStd-Roman"/>
              </a:rPr>
              <a:t>is prime. Certain asymmetric cryptographic algorithms make use of such fields.</a:t>
            </a:r>
          </a:p>
          <a:p>
            <a:pPr algn="just"/>
            <a:r>
              <a:rPr lang="en-US" dirty="0">
                <a:solidFill>
                  <a:srgbClr val="242021"/>
                </a:solidFill>
                <a:latin typeface="TimesTenLTStd-Roman"/>
              </a:rPr>
              <a:t>A more important class of finite fields, for cryptography, comprises those with 2n elements depicted as fields of the form GF(2n). These are used in a wide variety of cryptographic algorithms. However, before discussing these fields, we need to analyze the topic of polynomial arithmetic, which is done in Section 5.5 </a:t>
            </a:r>
            <a:br>
              <a:rPr lang="en-US" dirty="0"/>
            </a:br>
            <a:endParaRPr lang="en-US" b="0" i="0" dirty="0">
              <a:solidFill>
                <a:srgbClr val="242021"/>
              </a:solidFill>
              <a:effectLst/>
              <a:latin typeface="TimesTenLTStd-Roman"/>
            </a:endParaRPr>
          </a:p>
          <a:p>
            <a:pPr marL="0" indent="0" algn="just">
              <a:buNone/>
            </a:pPr>
            <a:r>
              <a:rPr lang="en-US" dirty="0"/>
              <a:t> </a:t>
            </a:r>
            <a:br>
              <a:rPr lang="en-US" dirty="0"/>
            </a:br>
            <a:br>
              <a:rPr lang="en-US" dirty="0"/>
            </a:br>
            <a:endParaRPr lang="en-US" b="0" i="0" dirty="0">
              <a:solidFill>
                <a:srgbClr val="242021"/>
              </a:solidFill>
              <a:effectLst/>
              <a:latin typeface="TimesTenLTStd-Roman"/>
            </a:endParaRPr>
          </a:p>
          <a:p>
            <a:pPr algn="just"/>
            <a:endParaRPr lang="en-US" dirty="0">
              <a:solidFill>
                <a:srgbClr val="242021"/>
              </a:solidFill>
              <a:latin typeface="TimesTenLTStd-Roman"/>
            </a:endParaRPr>
          </a:p>
          <a:p>
            <a:pPr marL="0" indent="0" algn="just">
              <a:buNone/>
            </a:pPr>
            <a:br>
              <a:rPr lang="en-US" dirty="0"/>
            </a:br>
            <a:endParaRPr lang="en-US" dirty="0"/>
          </a:p>
        </p:txBody>
      </p:sp>
    </p:spTree>
    <p:extLst>
      <p:ext uri="{BB962C8B-B14F-4D97-AF65-F5344CB8AC3E}">
        <p14:creationId xmlns:p14="http://schemas.microsoft.com/office/powerpoint/2010/main" val="2343861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F58B-D88A-47C2-6A11-C749B6F367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DB674F-3103-7C9E-D1B6-819DE920FF60}"/>
              </a:ext>
            </a:extLst>
          </p:cNvPr>
          <p:cNvSpPr>
            <a:spLocks noGrp="1"/>
          </p:cNvSpPr>
          <p:nvPr>
            <p:ph idx="1"/>
          </p:nvPr>
        </p:nvSpPr>
        <p:spPr>
          <a:xfrm>
            <a:off x="565640" y="1447801"/>
            <a:ext cx="7839808" cy="980439"/>
          </a:xfrm>
        </p:spPr>
        <p:txBody>
          <a:bodyPr/>
          <a:lstStyle/>
          <a:p>
            <a:pPr algn="just"/>
            <a:r>
              <a:rPr lang="en-US" b="0" i="0" dirty="0">
                <a:solidFill>
                  <a:srgbClr val="242021"/>
                </a:solidFill>
                <a:effectLst/>
                <a:latin typeface="TimesTenLTStd-Roman"/>
              </a:rPr>
              <a:t>With all of this preliminary work done, we are able at last, to discuss finite fields of the form GF(2</a:t>
            </a:r>
            <a:r>
              <a:rPr lang="en-US" b="0" i="1" dirty="0">
                <a:solidFill>
                  <a:srgbClr val="242021"/>
                </a:solidFill>
                <a:effectLst/>
                <a:latin typeface="TimesTenLTStd-Italic"/>
              </a:rPr>
              <a:t>n</a:t>
            </a:r>
            <a:r>
              <a:rPr lang="en-US" b="0" i="0" dirty="0">
                <a:solidFill>
                  <a:srgbClr val="242021"/>
                </a:solidFill>
                <a:effectLst/>
                <a:latin typeface="TimesTenLTStd-Roman"/>
              </a:rPr>
              <a:t>).</a:t>
            </a:r>
            <a:r>
              <a:rPr lang="en-US" dirty="0"/>
              <a:t> </a:t>
            </a:r>
            <a:br>
              <a:rPr lang="en-US" dirty="0"/>
            </a:br>
            <a:br>
              <a:rPr lang="en-US" dirty="0"/>
            </a:br>
            <a:endParaRPr lang="en-US" b="0" i="0" dirty="0">
              <a:solidFill>
                <a:srgbClr val="242021"/>
              </a:solidFill>
              <a:effectLst/>
              <a:latin typeface="TimesTenLTStd-Roman"/>
            </a:endParaRPr>
          </a:p>
          <a:p>
            <a:pPr marL="0" indent="0" algn="just">
              <a:buNone/>
            </a:pPr>
            <a:r>
              <a:rPr lang="en-US" dirty="0"/>
              <a:t> </a:t>
            </a:r>
            <a:br>
              <a:rPr lang="en-US" dirty="0"/>
            </a:br>
            <a:br>
              <a:rPr lang="en-US" dirty="0"/>
            </a:br>
            <a:endParaRPr lang="en-US" b="0" i="0" dirty="0">
              <a:solidFill>
                <a:srgbClr val="242021"/>
              </a:solidFill>
              <a:effectLst/>
              <a:latin typeface="TimesTenLTStd-Roman"/>
            </a:endParaRPr>
          </a:p>
          <a:p>
            <a:pPr algn="just"/>
            <a:endParaRPr lang="en-US" dirty="0">
              <a:solidFill>
                <a:srgbClr val="242021"/>
              </a:solidFill>
              <a:latin typeface="TimesTenLTStd-Roman"/>
            </a:endParaRPr>
          </a:p>
          <a:p>
            <a:pPr marL="0" indent="0" algn="just">
              <a:buNone/>
            </a:pPr>
            <a:br>
              <a:rPr lang="en-US" dirty="0"/>
            </a:br>
            <a:endParaRPr lang="en-US" dirty="0"/>
          </a:p>
        </p:txBody>
      </p:sp>
      <p:pic>
        <p:nvPicPr>
          <p:cNvPr id="5" name="Picture 4">
            <a:extLst>
              <a:ext uri="{FF2B5EF4-FFF2-40B4-BE49-F238E27FC236}">
                <a16:creationId xmlns:a16="http://schemas.microsoft.com/office/drawing/2014/main" id="{E930D9C3-909D-2EB3-8846-36D01D7FCBAF}"/>
              </a:ext>
            </a:extLst>
          </p:cNvPr>
          <p:cNvPicPr>
            <a:picLocks noChangeAspect="1"/>
          </p:cNvPicPr>
          <p:nvPr/>
        </p:nvPicPr>
        <p:blipFill>
          <a:blip r:embed="rId2"/>
          <a:stretch>
            <a:fillRect/>
          </a:stretch>
        </p:blipFill>
        <p:spPr>
          <a:xfrm>
            <a:off x="2715805" y="2524125"/>
            <a:ext cx="3864699" cy="3930650"/>
          </a:xfrm>
          <a:prstGeom prst="rect">
            <a:avLst/>
          </a:prstGeom>
        </p:spPr>
      </p:pic>
    </p:spTree>
    <p:extLst>
      <p:ext uri="{BB962C8B-B14F-4D97-AF65-F5344CB8AC3E}">
        <p14:creationId xmlns:p14="http://schemas.microsoft.com/office/powerpoint/2010/main" val="376005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F58B-D88A-47C2-6A11-C749B6F367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DB674F-3103-7C9E-D1B6-819DE920FF60}"/>
              </a:ext>
            </a:extLst>
          </p:cNvPr>
          <p:cNvSpPr>
            <a:spLocks noGrp="1"/>
          </p:cNvSpPr>
          <p:nvPr>
            <p:ph idx="1"/>
          </p:nvPr>
        </p:nvSpPr>
        <p:spPr>
          <a:xfrm>
            <a:off x="565640" y="1447801"/>
            <a:ext cx="7839808" cy="4922519"/>
          </a:xfrm>
        </p:spPr>
        <p:txBody>
          <a:bodyPr/>
          <a:lstStyle/>
          <a:p>
            <a:pPr algn="just"/>
            <a:r>
              <a:rPr lang="en-US" b="0" i="0" dirty="0">
                <a:solidFill>
                  <a:srgbClr val="242021"/>
                </a:solidFill>
                <a:effectLst/>
                <a:latin typeface="TimesTenLTStd-Roman"/>
              </a:rPr>
              <a:t>Groups, rings, and fields are the fundamental elements of a branch of mathematics known as abstract algebra, or modern algebra. In abstract algebra, we are concerned with sets on whose elements we can operate algebraically; that is, we can combine two elements of the set, perhaps in several ways, to obtain a third element of the set. These operations are subject to specific rules, which define the nature of the set. By convention, the notation for the two principal classes of operations on set elements is usually the same as the notation for addition and multiplication on ordinary numbers. However, it is important to note that, in abstract algebra, we are not limited to basic arithmetical operations. All this should become clear as we proceed.</a:t>
            </a:r>
            <a:r>
              <a:rPr lang="en-US" dirty="0"/>
              <a:t> </a:t>
            </a:r>
            <a:br>
              <a:rPr lang="en-US" dirty="0"/>
            </a:br>
            <a:br>
              <a:rPr lang="en-US" dirty="0"/>
            </a:br>
            <a:br>
              <a:rPr lang="en-US" dirty="0"/>
            </a:br>
            <a:endParaRPr lang="en-US" b="0" i="0" dirty="0">
              <a:solidFill>
                <a:srgbClr val="242021"/>
              </a:solidFill>
              <a:effectLst/>
              <a:latin typeface="TimesTenLTStd-Roman"/>
            </a:endParaRPr>
          </a:p>
          <a:p>
            <a:pPr marL="0" indent="0" algn="just">
              <a:buNone/>
            </a:pPr>
            <a:r>
              <a:rPr lang="en-US" dirty="0"/>
              <a:t> </a:t>
            </a:r>
            <a:br>
              <a:rPr lang="en-US" dirty="0"/>
            </a:br>
            <a:br>
              <a:rPr lang="en-US" dirty="0"/>
            </a:br>
            <a:endParaRPr lang="en-US" b="0" i="0" dirty="0">
              <a:solidFill>
                <a:srgbClr val="242021"/>
              </a:solidFill>
              <a:effectLst/>
              <a:latin typeface="TimesTenLTStd-Roman"/>
            </a:endParaRPr>
          </a:p>
          <a:p>
            <a:pPr algn="just"/>
            <a:endParaRPr lang="en-US" dirty="0">
              <a:solidFill>
                <a:srgbClr val="242021"/>
              </a:solidFill>
              <a:latin typeface="TimesTenLTStd-Roman"/>
            </a:endParaRPr>
          </a:p>
          <a:p>
            <a:pPr marL="0" indent="0" algn="just">
              <a:buNone/>
            </a:pPr>
            <a:br>
              <a:rPr lang="en-US" dirty="0"/>
            </a:br>
            <a:endParaRPr lang="en-US" dirty="0"/>
          </a:p>
        </p:txBody>
      </p:sp>
    </p:spTree>
    <p:extLst>
      <p:ext uri="{BB962C8B-B14F-4D97-AF65-F5344CB8AC3E}">
        <p14:creationId xmlns:p14="http://schemas.microsoft.com/office/powerpoint/2010/main" val="3316143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4294967295"/>
          </p:nvPr>
        </p:nvSpPr>
        <p:spPr>
          <a:xfrm>
            <a:off x="457200" y="6245225"/>
            <a:ext cx="2133600" cy="476250"/>
          </a:xfrm>
          <a:prstGeom prst="rect">
            <a:avLst/>
          </a:prstGeom>
        </p:spPr>
        <p:txBody>
          <a:bodyPr/>
          <a:lstStyle/>
          <a:p>
            <a:fld id="{1AED7707-A5B1-472A-89F6-D46B1A6BFFF1}" type="slidenum">
              <a:rPr lang="en-US" smtClean="0">
                <a:latin typeface="Tw Cen MT" panose="020B0602020104020603" pitchFamily="34" charset="0"/>
              </a:rPr>
              <a:pPr/>
              <a:t>7</a:t>
            </a:fld>
            <a:endParaRPr lang="en-US" dirty="0">
              <a:latin typeface="Tw Cen MT" panose="020B0602020104020603" pitchFamily="34" charset="0"/>
            </a:endParaRPr>
          </a:p>
        </p:txBody>
      </p:sp>
      <p:sp>
        <p:nvSpPr>
          <p:cNvPr id="947203" name="Text Box 3"/>
          <p:cNvSpPr txBox="1">
            <a:spLocks noChangeArrowheads="1"/>
          </p:cNvSpPr>
          <p:nvPr/>
        </p:nvSpPr>
        <p:spPr bwMode="auto">
          <a:xfrm>
            <a:off x="1600200" y="228600"/>
            <a:ext cx="48915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a:solidFill>
                  <a:srgbClr val="FF0000"/>
                </a:solidFill>
                <a:latin typeface="Tw Cen MT" panose="020B0602020104020603" pitchFamily="34" charset="0"/>
              </a:rPr>
              <a:t>  Fermat's Little Theorem</a:t>
            </a: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grpSp>
        <p:nvGrpSpPr>
          <p:cNvPr id="6" name="Group 5"/>
          <p:cNvGrpSpPr/>
          <p:nvPr/>
        </p:nvGrpSpPr>
        <p:grpSpPr>
          <a:xfrm>
            <a:off x="914400" y="1143000"/>
            <a:ext cx="6315075" cy="2314575"/>
            <a:chOff x="533400" y="1371600"/>
            <a:chExt cx="6315075" cy="2314575"/>
          </a:xfrm>
        </p:grpSpPr>
        <p:pic>
          <p:nvPicPr>
            <p:cNvPr id="2" name="Picture 1"/>
            <p:cNvPicPr>
              <a:picLocks noChangeAspect="1"/>
            </p:cNvPicPr>
            <p:nvPr/>
          </p:nvPicPr>
          <p:blipFill>
            <a:blip r:embed="rId3"/>
            <a:stretch>
              <a:fillRect/>
            </a:stretch>
          </p:blipFill>
          <p:spPr>
            <a:xfrm>
              <a:off x="533400" y="1371600"/>
              <a:ext cx="6315075" cy="1428750"/>
            </a:xfrm>
            <a:prstGeom prst="rect">
              <a:avLst/>
            </a:prstGeom>
          </p:spPr>
        </p:pic>
        <p:pic>
          <p:nvPicPr>
            <p:cNvPr id="3" name="Picture 2"/>
            <p:cNvPicPr>
              <a:picLocks noChangeAspect="1"/>
            </p:cNvPicPr>
            <p:nvPr/>
          </p:nvPicPr>
          <p:blipFill>
            <a:blip r:embed="rId4"/>
            <a:stretch>
              <a:fillRect/>
            </a:stretch>
          </p:blipFill>
          <p:spPr>
            <a:xfrm>
              <a:off x="3657600" y="3048000"/>
              <a:ext cx="2305050" cy="561975"/>
            </a:xfrm>
            <a:prstGeom prst="rect">
              <a:avLst/>
            </a:prstGeom>
          </p:spPr>
        </p:pic>
        <p:pic>
          <p:nvPicPr>
            <p:cNvPr id="5" name="Picture 4"/>
            <p:cNvPicPr>
              <a:picLocks noChangeAspect="1"/>
            </p:cNvPicPr>
            <p:nvPr/>
          </p:nvPicPr>
          <p:blipFill>
            <a:blip r:embed="rId5"/>
            <a:stretch>
              <a:fillRect/>
            </a:stretch>
          </p:blipFill>
          <p:spPr>
            <a:xfrm>
              <a:off x="2286000" y="3200400"/>
              <a:ext cx="476250" cy="485775"/>
            </a:xfrm>
            <a:prstGeom prst="rect">
              <a:avLst/>
            </a:prstGeom>
          </p:spPr>
        </p:pic>
      </p:grpSp>
      <p:pic>
        <p:nvPicPr>
          <p:cNvPr id="8" name="Picture 7"/>
          <p:cNvPicPr>
            <a:picLocks noChangeAspect="1"/>
          </p:cNvPicPr>
          <p:nvPr/>
        </p:nvPicPr>
        <p:blipFill>
          <a:blip r:embed="rId6"/>
          <a:stretch>
            <a:fillRect/>
          </a:stretch>
        </p:blipFill>
        <p:spPr>
          <a:xfrm>
            <a:off x="1066800" y="3657600"/>
            <a:ext cx="2514600" cy="2486025"/>
          </a:xfrm>
          <a:prstGeom prst="rect">
            <a:avLst/>
          </a:prstGeom>
        </p:spPr>
      </p:pic>
      <p:cxnSp>
        <p:nvCxnSpPr>
          <p:cNvPr id="9" name="Straight Connector 8"/>
          <p:cNvCxnSpPr/>
          <p:nvPr/>
        </p:nvCxnSpPr>
        <p:spPr bwMode="auto">
          <a:xfrm>
            <a:off x="2209800" y="1524000"/>
            <a:ext cx="1981200"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684473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2"/>
          <a:srcRect/>
          <a:stretch>
            <a:fillRect/>
          </a:stretch>
        </p:blipFill>
        <p:spPr bwMode="auto">
          <a:xfrm>
            <a:off x="2799257" y="1100177"/>
            <a:ext cx="3645577" cy="5119361"/>
          </a:xfrm>
          <a:prstGeom prst="rect">
            <a:avLst/>
          </a:prstGeom>
          <a:noFill/>
          <a:ln w="9525">
            <a:noFill/>
            <a:miter lim="800000"/>
            <a:headEnd/>
            <a:tailEnd/>
          </a:ln>
        </p:spPr>
      </p:pic>
      <p:sp>
        <p:nvSpPr>
          <p:cNvPr id="72707" name="Rectangle 2"/>
          <p:cNvSpPr>
            <a:spLocks noChangeArrowheads="1"/>
          </p:cNvSpPr>
          <p:nvPr/>
        </p:nvSpPr>
        <p:spPr bwMode="auto">
          <a:xfrm>
            <a:off x="2876599" y="414339"/>
            <a:ext cx="4627717" cy="519007"/>
          </a:xfrm>
          <a:prstGeom prst="rect">
            <a:avLst/>
          </a:prstGeom>
          <a:noFill/>
          <a:ln w="9525">
            <a:noFill/>
            <a:miter lim="800000"/>
            <a:headEnd/>
            <a:tailEnd/>
          </a:ln>
        </p:spPr>
        <p:txBody>
          <a:bodyPr wrap="none" lIns="87269" tIns="43634" rIns="87269" bIns="43634">
            <a:spAutoFit/>
          </a:bodyPr>
          <a:lstStyle/>
          <a:p>
            <a:r>
              <a:rPr lang="en-US" sz="2800" dirty="0" err="1">
                <a:solidFill>
                  <a:srgbClr val="0000CC"/>
                </a:solidFill>
              </a:rPr>
              <a:t>Fermats</a:t>
            </a:r>
            <a:r>
              <a:rPr lang="en-US" sz="2800" dirty="0">
                <a:solidFill>
                  <a:srgbClr val="0000CC"/>
                </a:solidFill>
              </a:rPr>
              <a:t> Theorem Example</a:t>
            </a:r>
          </a:p>
        </p:txBody>
      </p:sp>
    </p:spTree>
    <p:extLst>
      <p:ext uri="{BB962C8B-B14F-4D97-AF65-F5344CB8AC3E}">
        <p14:creationId xmlns:p14="http://schemas.microsoft.com/office/powerpoint/2010/main" val="2743509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4294967295"/>
          </p:nvPr>
        </p:nvSpPr>
        <p:spPr>
          <a:xfrm>
            <a:off x="457200" y="6245225"/>
            <a:ext cx="2133600" cy="476250"/>
          </a:xfrm>
          <a:prstGeom prst="rect">
            <a:avLst/>
          </a:prstGeom>
        </p:spPr>
        <p:txBody>
          <a:bodyPr/>
          <a:lstStyle/>
          <a:p>
            <a:fld id="{1AED7707-A5B1-472A-89F6-D46B1A6BFFF1}" type="slidenum">
              <a:rPr lang="en-US" smtClean="0">
                <a:latin typeface="Tw Cen MT" panose="020B0602020104020603" pitchFamily="34" charset="0"/>
              </a:rPr>
              <a:pPr/>
              <a:t>9</a:t>
            </a:fld>
            <a:endParaRPr lang="en-US" dirty="0">
              <a:latin typeface="Tw Cen MT" panose="020B0602020104020603" pitchFamily="34" charset="0"/>
            </a:endParaRPr>
          </a:p>
        </p:txBody>
      </p:sp>
      <p:sp>
        <p:nvSpPr>
          <p:cNvPr id="947203" name="Text Box 3"/>
          <p:cNvSpPr txBox="1">
            <a:spLocks noChangeArrowheads="1"/>
          </p:cNvSpPr>
          <p:nvPr/>
        </p:nvSpPr>
        <p:spPr bwMode="auto">
          <a:xfrm>
            <a:off x="2743200" y="381000"/>
            <a:ext cx="3486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a:solidFill>
                  <a:srgbClr val="FF0000"/>
                </a:solidFill>
                <a:latin typeface="Tw Cen MT" panose="020B0602020104020603" pitchFamily="34" charset="0"/>
              </a:rPr>
              <a:t>  Euler's Theorem</a:t>
            </a: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pic>
        <p:nvPicPr>
          <p:cNvPr id="4" name="Picture 3"/>
          <p:cNvPicPr>
            <a:picLocks noChangeAspect="1"/>
          </p:cNvPicPr>
          <p:nvPr/>
        </p:nvPicPr>
        <p:blipFill>
          <a:blip r:embed="rId3"/>
          <a:stretch>
            <a:fillRect/>
          </a:stretch>
        </p:blipFill>
        <p:spPr>
          <a:xfrm>
            <a:off x="685800" y="1295400"/>
            <a:ext cx="5943600" cy="495300"/>
          </a:xfrm>
          <a:prstGeom prst="rect">
            <a:avLst/>
          </a:prstGeom>
        </p:spPr>
      </p:pic>
      <p:pic>
        <p:nvPicPr>
          <p:cNvPr id="9" name="Picture 8"/>
          <p:cNvPicPr>
            <a:picLocks noChangeAspect="1"/>
          </p:cNvPicPr>
          <p:nvPr/>
        </p:nvPicPr>
        <p:blipFill>
          <a:blip r:embed="rId4"/>
          <a:stretch>
            <a:fillRect/>
          </a:stretch>
        </p:blipFill>
        <p:spPr>
          <a:xfrm>
            <a:off x="1828800" y="2057400"/>
            <a:ext cx="5124450" cy="1009650"/>
          </a:xfrm>
          <a:prstGeom prst="rect">
            <a:avLst/>
          </a:prstGeom>
        </p:spPr>
      </p:pic>
      <p:pic>
        <p:nvPicPr>
          <p:cNvPr id="10" name="Picture 9"/>
          <p:cNvPicPr>
            <a:picLocks noChangeAspect="1"/>
          </p:cNvPicPr>
          <p:nvPr/>
        </p:nvPicPr>
        <p:blipFill>
          <a:blip r:embed="rId5"/>
          <a:stretch>
            <a:fillRect/>
          </a:stretch>
        </p:blipFill>
        <p:spPr>
          <a:xfrm>
            <a:off x="990600" y="3124200"/>
            <a:ext cx="5172075" cy="2476500"/>
          </a:xfrm>
          <a:prstGeom prst="rect">
            <a:avLst/>
          </a:prstGeom>
        </p:spPr>
      </p:pic>
      <p:pic>
        <p:nvPicPr>
          <p:cNvPr id="11" name="Picture 10"/>
          <p:cNvPicPr>
            <a:picLocks noChangeAspect="1"/>
          </p:cNvPicPr>
          <p:nvPr/>
        </p:nvPicPr>
        <p:blipFill>
          <a:blip r:embed="rId6"/>
          <a:stretch>
            <a:fillRect/>
          </a:stretch>
        </p:blipFill>
        <p:spPr>
          <a:xfrm>
            <a:off x="1905000" y="5943600"/>
            <a:ext cx="4591050" cy="523875"/>
          </a:xfrm>
          <a:prstGeom prst="rect">
            <a:avLst/>
          </a:prstGeom>
        </p:spPr>
      </p:pic>
    </p:spTree>
    <p:extLst>
      <p:ext uri="{BB962C8B-B14F-4D97-AF65-F5344CB8AC3E}">
        <p14:creationId xmlns:p14="http://schemas.microsoft.com/office/powerpoint/2010/main" val="2771389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p:cNvPicPr>
            <a:picLocks noChangeAspect="1" noChangeArrowheads="1"/>
          </p:cNvPicPr>
          <p:nvPr/>
        </p:nvPicPr>
        <p:blipFill>
          <a:blip r:embed="rId2"/>
          <a:srcRect/>
          <a:stretch>
            <a:fillRect/>
          </a:stretch>
        </p:blipFill>
        <p:spPr bwMode="auto">
          <a:xfrm>
            <a:off x="2634325" y="1340067"/>
            <a:ext cx="3530194" cy="4570743"/>
          </a:xfrm>
          <a:prstGeom prst="rect">
            <a:avLst/>
          </a:prstGeom>
          <a:noFill/>
          <a:ln w="9525">
            <a:noFill/>
            <a:miter lim="800000"/>
            <a:headEnd/>
            <a:tailEnd/>
          </a:ln>
        </p:spPr>
      </p:pic>
      <p:sp>
        <p:nvSpPr>
          <p:cNvPr id="73731" name="Rectangle 2"/>
          <p:cNvSpPr>
            <a:spLocks noChangeArrowheads="1"/>
          </p:cNvSpPr>
          <p:nvPr/>
        </p:nvSpPr>
        <p:spPr bwMode="auto">
          <a:xfrm>
            <a:off x="3028426" y="275460"/>
            <a:ext cx="4449848" cy="580563"/>
          </a:xfrm>
          <a:prstGeom prst="rect">
            <a:avLst/>
          </a:prstGeom>
          <a:noFill/>
          <a:ln w="9525">
            <a:noFill/>
            <a:miter lim="800000"/>
            <a:headEnd/>
            <a:tailEnd/>
          </a:ln>
        </p:spPr>
        <p:txBody>
          <a:bodyPr wrap="none" lIns="87269" tIns="43634" rIns="87269" bIns="43634">
            <a:spAutoFit/>
          </a:bodyPr>
          <a:lstStyle/>
          <a:p>
            <a:r>
              <a:rPr lang="en-US" sz="3200" dirty="0" err="1">
                <a:solidFill>
                  <a:srgbClr val="0000CC"/>
                </a:solidFill>
              </a:rPr>
              <a:t>Eulers</a:t>
            </a:r>
            <a:r>
              <a:rPr lang="en-US" sz="3200" dirty="0">
                <a:solidFill>
                  <a:srgbClr val="0000CC"/>
                </a:solidFill>
              </a:rPr>
              <a:t> </a:t>
            </a:r>
            <a:r>
              <a:rPr lang="en-US" sz="3200" dirty="0" err="1">
                <a:solidFill>
                  <a:srgbClr val="0000CC"/>
                </a:solidFill>
              </a:rPr>
              <a:t>Totient</a:t>
            </a:r>
            <a:r>
              <a:rPr lang="en-US" sz="3200" dirty="0">
                <a:solidFill>
                  <a:srgbClr val="0000CC"/>
                </a:solidFill>
              </a:rPr>
              <a:t> Function</a:t>
            </a:r>
            <a:r>
              <a:rPr lang="en-US" sz="3200" dirty="0"/>
              <a:t>;</a:t>
            </a:r>
          </a:p>
        </p:txBody>
      </p:sp>
    </p:spTree>
    <p:extLst>
      <p:ext uri="{BB962C8B-B14F-4D97-AF65-F5344CB8AC3E}">
        <p14:creationId xmlns:p14="http://schemas.microsoft.com/office/powerpoint/2010/main" val="3375351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3186" y="2921168"/>
            <a:ext cx="5981125" cy="646331"/>
          </a:xfrm>
          <a:prstGeom prst="rect">
            <a:avLst/>
          </a:prstGeom>
        </p:spPr>
        <p:txBody>
          <a:bodyPr wrap="none">
            <a:spAutoFit/>
          </a:bodyPr>
          <a:lstStyle/>
          <a:p>
            <a:r>
              <a:rPr lang="en-US" sz="3600" dirty="0">
                <a:solidFill>
                  <a:srgbClr val="0000CC"/>
                </a:solidFill>
              </a:rPr>
              <a:t>Discrete Logarithm Example</a:t>
            </a:r>
            <a:endParaRPr lang="en-US" sz="3600" dirty="0"/>
          </a:p>
        </p:txBody>
      </p:sp>
    </p:spTree>
    <p:extLst>
      <p:ext uri="{BB962C8B-B14F-4D97-AF65-F5344CB8AC3E}">
        <p14:creationId xmlns:p14="http://schemas.microsoft.com/office/powerpoint/2010/main" val="549746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2"/>
          <a:srcRect/>
          <a:stretch>
            <a:fillRect/>
          </a:stretch>
        </p:blipFill>
        <p:spPr bwMode="auto">
          <a:xfrm>
            <a:off x="1560635" y="1014413"/>
            <a:ext cx="3947747" cy="4829175"/>
          </a:xfrm>
          <a:prstGeom prst="rect">
            <a:avLst/>
          </a:prstGeom>
          <a:noFill/>
          <a:ln w="9525">
            <a:noFill/>
            <a:miter lim="800000"/>
            <a:headEnd/>
            <a:tailEnd/>
          </a:ln>
        </p:spPr>
      </p:pic>
      <p:sp>
        <p:nvSpPr>
          <p:cNvPr id="75779" name="Rectangle 2"/>
          <p:cNvSpPr>
            <a:spLocks noChangeArrowheads="1"/>
          </p:cNvSpPr>
          <p:nvPr/>
        </p:nvSpPr>
        <p:spPr bwMode="auto">
          <a:xfrm>
            <a:off x="2151035" y="398957"/>
            <a:ext cx="4794494" cy="519007"/>
          </a:xfrm>
          <a:prstGeom prst="rect">
            <a:avLst/>
          </a:prstGeom>
          <a:noFill/>
          <a:ln w="9525">
            <a:noFill/>
            <a:miter lim="800000"/>
            <a:headEnd/>
            <a:tailEnd/>
          </a:ln>
        </p:spPr>
        <p:txBody>
          <a:bodyPr wrap="none" lIns="87269" tIns="43634" rIns="87269" bIns="43634">
            <a:spAutoFit/>
          </a:bodyPr>
          <a:lstStyle/>
          <a:p>
            <a:r>
              <a:rPr lang="en-US" sz="2800" dirty="0">
                <a:solidFill>
                  <a:srgbClr val="0000CC"/>
                </a:solidFill>
              </a:rPr>
              <a:t>Discrete Logarithm Example</a:t>
            </a:r>
            <a:r>
              <a:rPr lang="en-US" sz="2800" dirty="0"/>
              <a:t>;</a:t>
            </a:r>
          </a:p>
        </p:txBody>
      </p:sp>
    </p:spTree>
    <p:extLst>
      <p:ext uri="{BB962C8B-B14F-4D97-AF65-F5344CB8AC3E}">
        <p14:creationId xmlns:p14="http://schemas.microsoft.com/office/powerpoint/2010/main" val="1288747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p:cNvPicPr>
            <a:picLocks noChangeAspect="1" noChangeArrowheads="1"/>
          </p:cNvPicPr>
          <p:nvPr/>
        </p:nvPicPr>
        <p:blipFill>
          <a:blip r:embed="rId2"/>
          <a:srcRect/>
          <a:stretch>
            <a:fillRect/>
          </a:stretch>
        </p:blipFill>
        <p:spPr bwMode="auto">
          <a:xfrm>
            <a:off x="1904748" y="1120885"/>
            <a:ext cx="4544157" cy="5286375"/>
          </a:xfrm>
          <a:prstGeom prst="rect">
            <a:avLst/>
          </a:prstGeom>
          <a:noFill/>
          <a:ln w="9525">
            <a:noFill/>
            <a:miter lim="800000"/>
            <a:headEnd/>
            <a:tailEnd/>
          </a:ln>
        </p:spPr>
      </p:pic>
      <p:sp>
        <p:nvSpPr>
          <p:cNvPr id="77827" name="Rectangle 2"/>
          <p:cNvSpPr>
            <a:spLocks noChangeArrowheads="1"/>
          </p:cNvSpPr>
          <p:nvPr/>
        </p:nvSpPr>
        <p:spPr bwMode="auto">
          <a:xfrm>
            <a:off x="2316496" y="193786"/>
            <a:ext cx="4299166" cy="580563"/>
          </a:xfrm>
          <a:prstGeom prst="rect">
            <a:avLst/>
          </a:prstGeom>
          <a:noFill/>
          <a:ln w="9525">
            <a:noFill/>
            <a:miter lim="800000"/>
            <a:headEnd/>
            <a:tailEnd/>
          </a:ln>
        </p:spPr>
        <p:txBody>
          <a:bodyPr wrap="none" lIns="87269" tIns="43634" rIns="87269" bIns="43634">
            <a:spAutoFit/>
          </a:bodyPr>
          <a:lstStyle/>
          <a:p>
            <a:r>
              <a:rPr lang="en-US" sz="3200" dirty="0">
                <a:solidFill>
                  <a:srgbClr val="0000CC"/>
                </a:solidFill>
              </a:rPr>
              <a:t>Discrete Log Example</a:t>
            </a:r>
          </a:p>
        </p:txBody>
      </p:sp>
    </p:spTree>
    <p:extLst>
      <p:ext uri="{BB962C8B-B14F-4D97-AF65-F5344CB8AC3E}">
        <p14:creationId xmlns:p14="http://schemas.microsoft.com/office/powerpoint/2010/main" val="22256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259473" y="3227888"/>
            <a:ext cx="4724651" cy="580563"/>
          </a:xfrm>
          <a:prstGeom prst="rect">
            <a:avLst/>
          </a:prstGeom>
          <a:noFill/>
          <a:ln w="9525">
            <a:noFill/>
            <a:miter lim="800000"/>
            <a:headEnd/>
            <a:tailEnd/>
          </a:ln>
        </p:spPr>
        <p:txBody>
          <a:bodyPr wrap="square" lIns="87269" tIns="43634" rIns="87269" bIns="43634">
            <a:spAutoFit/>
          </a:bodyPr>
          <a:lstStyle/>
          <a:p>
            <a:r>
              <a:rPr lang="en-US" sz="3200" dirty="0">
                <a:solidFill>
                  <a:srgbClr val="0000CC"/>
                </a:solidFill>
              </a:rPr>
              <a:t>Primitive Root Example</a:t>
            </a:r>
          </a:p>
        </p:txBody>
      </p:sp>
    </p:spTree>
    <p:extLst>
      <p:ext uri="{BB962C8B-B14F-4D97-AF65-F5344CB8AC3E}">
        <p14:creationId xmlns:p14="http://schemas.microsoft.com/office/powerpoint/2010/main" val="2870204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noChangeArrowheads="1"/>
          </p:cNvPicPr>
          <p:nvPr/>
        </p:nvPicPr>
        <p:blipFill>
          <a:blip r:embed="rId2"/>
          <a:srcRect/>
          <a:stretch>
            <a:fillRect/>
          </a:stretch>
        </p:blipFill>
        <p:spPr bwMode="auto">
          <a:xfrm>
            <a:off x="432289" y="854075"/>
            <a:ext cx="4768362" cy="5226050"/>
          </a:xfrm>
          <a:prstGeom prst="rect">
            <a:avLst/>
          </a:prstGeom>
          <a:noFill/>
          <a:ln w="9525">
            <a:noFill/>
            <a:miter lim="800000"/>
            <a:headEnd/>
            <a:tailEnd/>
          </a:ln>
        </p:spPr>
      </p:pic>
      <p:sp>
        <p:nvSpPr>
          <p:cNvPr id="76803" name="Rectangle 2"/>
          <p:cNvSpPr>
            <a:spLocks noChangeArrowheads="1"/>
          </p:cNvSpPr>
          <p:nvPr/>
        </p:nvSpPr>
        <p:spPr bwMode="auto">
          <a:xfrm>
            <a:off x="5649059" y="2179639"/>
            <a:ext cx="1984131" cy="642118"/>
          </a:xfrm>
          <a:prstGeom prst="rect">
            <a:avLst/>
          </a:prstGeom>
          <a:noFill/>
          <a:ln w="9525">
            <a:noFill/>
            <a:miter lim="800000"/>
            <a:headEnd/>
            <a:tailEnd/>
          </a:ln>
        </p:spPr>
        <p:txBody>
          <a:bodyPr lIns="87269" tIns="43634" rIns="87269" bIns="43634">
            <a:spAutoFit/>
          </a:bodyPr>
          <a:lstStyle/>
          <a:p>
            <a:r>
              <a:rPr lang="en-US" dirty="0">
                <a:solidFill>
                  <a:srgbClr val="0000CC"/>
                </a:solidFill>
              </a:rPr>
              <a:t>Primitive Root Example;</a:t>
            </a:r>
          </a:p>
        </p:txBody>
      </p:sp>
    </p:spTree>
    <p:extLst>
      <p:ext uri="{BB962C8B-B14F-4D97-AF65-F5344CB8AC3E}">
        <p14:creationId xmlns:p14="http://schemas.microsoft.com/office/powerpoint/2010/main" val="1342906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1790700" y="368300"/>
            <a:ext cx="4966424" cy="584775"/>
          </a:xfrm>
          <a:prstGeom prst="rect">
            <a:avLst/>
          </a:prstGeom>
          <a:noFill/>
          <a:ln w="9525">
            <a:noFill/>
            <a:miter lim="800000"/>
            <a:headEnd/>
            <a:tailEnd/>
          </a:ln>
          <a:effectLst/>
        </p:spPr>
        <p:txBody>
          <a:bodyPr wrap="none">
            <a:spAutoFit/>
          </a:bodyPr>
          <a:lstStyle/>
          <a:p>
            <a:pPr algn="ctr">
              <a:defRPr/>
            </a:pPr>
            <a:r>
              <a:rPr lang="en-US" sz="3200" baseline="0" dirty="0">
                <a:solidFill>
                  <a:srgbClr val="000000"/>
                </a:solidFill>
                <a:effectLst>
                  <a:outerShdw blurRad="38100" dist="38100" dir="2700000" algn="tl">
                    <a:srgbClr val="C0C0C0"/>
                  </a:outerShdw>
                </a:effectLst>
                <a:latin typeface="Times" pitchFamily="18" charset="0"/>
              </a:rPr>
              <a:t>   </a:t>
            </a:r>
            <a:r>
              <a:rPr lang="en-US" sz="3200" b="1" baseline="0" dirty="0">
                <a:solidFill>
                  <a:srgbClr val="002060"/>
                </a:solidFill>
                <a:latin typeface="Bookman Old Style" pitchFamily="18" charset="0"/>
              </a:rPr>
              <a:t>Algebraic Structures</a:t>
            </a:r>
          </a:p>
        </p:txBody>
      </p:sp>
      <p:sp>
        <p:nvSpPr>
          <p:cNvPr id="5125"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sz="1800" baseline="0">
              <a:solidFill>
                <a:srgbClr val="000000"/>
              </a:solidFill>
            </a:endParaRPr>
          </a:p>
        </p:txBody>
      </p:sp>
      <p:sp>
        <p:nvSpPr>
          <p:cNvPr id="7" name="Rectangle 2"/>
          <p:cNvSpPr>
            <a:spLocks noChangeArrowheads="1"/>
          </p:cNvSpPr>
          <p:nvPr/>
        </p:nvSpPr>
        <p:spPr bwMode="auto">
          <a:xfrm>
            <a:off x="304800" y="1219200"/>
            <a:ext cx="8543778" cy="4401205"/>
          </a:xfrm>
          <a:prstGeom prst="rect">
            <a:avLst/>
          </a:prstGeom>
          <a:noFill/>
          <a:ln>
            <a:noFill/>
          </a:ln>
          <a:effectLst/>
        </p:spPr>
        <p:txBody>
          <a:bodyPr wrap="square">
            <a:spAutoFit/>
          </a:bodyPr>
          <a:lstStyle/>
          <a:p>
            <a:pPr marL="514350" indent="-514350" algn="just">
              <a:spcAft>
                <a:spcPct val="50000"/>
              </a:spcAft>
              <a:buFont typeface="+mj-lt"/>
              <a:buAutoNum type="arabicPeriod"/>
            </a:pPr>
            <a:r>
              <a:rPr lang="en-US" sz="2800" baseline="0" dirty="0">
                <a:solidFill>
                  <a:schemeClr val="bg1"/>
                </a:solidFill>
                <a:latin typeface="Tw Cen MT" panose="020B0602020104020603" pitchFamily="34" charset="0"/>
              </a:rPr>
              <a:t>To review the concept of algebraic structures</a:t>
            </a:r>
          </a:p>
          <a:p>
            <a:pPr marL="514350" indent="-514350" algn="just">
              <a:spcAft>
                <a:spcPct val="50000"/>
              </a:spcAft>
              <a:buFont typeface="+mj-lt"/>
              <a:buAutoNum type="arabicPeriod"/>
            </a:pPr>
            <a:r>
              <a:rPr lang="en-US" sz="2800" baseline="0" dirty="0">
                <a:solidFill>
                  <a:schemeClr val="bg1"/>
                </a:solidFill>
                <a:latin typeface="Tw Cen MT" panose="020B0602020104020603" pitchFamily="34" charset="0"/>
              </a:rPr>
              <a:t>To define and give some examples of groups</a:t>
            </a:r>
          </a:p>
          <a:p>
            <a:pPr marL="514350" indent="-514350" algn="just">
              <a:spcAft>
                <a:spcPct val="50000"/>
              </a:spcAft>
              <a:buFont typeface="+mj-lt"/>
              <a:buAutoNum type="arabicPeriod"/>
            </a:pPr>
            <a:r>
              <a:rPr lang="en-US" sz="2800" baseline="0" dirty="0">
                <a:solidFill>
                  <a:schemeClr val="bg1"/>
                </a:solidFill>
                <a:latin typeface="Tw Cen MT" panose="020B0602020104020603" pitchFamily="34" charset="0"/>
              </a:rPr>
              <a:t>To define and give some examples of rings</a:t>
            </a:r>
          </a:p>
          <a:p>
            <a:pPr marL="514350" indent="-514350" algn="just">
              <a:spcAft>
                <a:spcPct val="50000"/>
              </a:spcAft>
              <a:buFont typeface="+mj-lt"/>
              <a:buAutoNum type="arabicPeriod"/>
            </a:pPr>
            <a:r>
              <a:rPr lang="en-US" sz="2800" baseline="0" dirty="0">
                <a:solidFill>
                  <a:schemeClr val="bg1"/>
                </a:solidFill>
                <a:latin typeface="Tw Cen MT" panose="020B0602020104020603" pitchFamily="34" charset="0"/>
              </a:rPr>
              <a:t>To define and give some examples of fields</a:t>
            </a:r>
          </a:p>
          <a:p>
            <a:pPr marL="514350" indent="-514350" algn="just">
              <a:spcAft>
                <a:spcPct val="50000"/>
              </a:spcAft>
              <a:buFont typeface="+mj-lt"/>
              <a:buAutoNum type="arabicPeriod"/>
            </a:pPr>
            <a:r>
              <a:rPr lang="en-US" sz="2800" baseline="0" dirty="0">
                <a:solidFill>
                  <a:schemeClr val="bg1"/>
                </a:solidFill>
                <a:latin typeface="Tw Cen MT" panose="020B0602020104020603" pitchFamily="34" charset="0"/>
              </a:rPr>
              <a:t>To emphasize the finite fields of type GF(2</a:t>
            </a:r>
            <a:r>
              <a:rPr lang="en-US" sz="3200" i="1" baseline="30000" dirty="0">
                <a:solidFill>
                  <a:schemeClr val="bg1"/>
                </a:solidFill>
                <a:latin typeface="Tw Cen MT" panose="020B0602020104020603" pitchFamily="34" charset="0"/>
              </a:rPr>
              <a:t>n</a:t>
            </a:r>
            <a:r>
              <a:rPr lang="en-US" sz="2800" baseline="0" dirty="0">
                <a:solidFill>
                  <a:schemeClr val="bg1"/>
                </a:solidFill>
                <a:latin typeface="Tw Cen MT" panose="020B0602020104020603" pitchFamily="34" charset="0"/>
              </a:rPr>
              <a:t>) that make it possible to perform operations such as addition, subtraction, multiplication, and division on </a:t>
            </a:r>
            <a:r>
              <a:rPr lang="en-US" sz="2800" i="1" baseline="0" dirty="0">
                <a:solidFill>
                  <a:schemeClr val="bg1"/>
                </a:solidFill>
                <a:latin typeface="Tw Cen MT" panose="020B0602020104020603" pitchFamily="34" charset="0"/>
              </a:rPr>
              <a:t>n</a:t>
            </a:r>
            <a:r>
              <a:rPr lang="en-US" sz="2800" baseline="0" dirty="0">
                <a:solidFill>
                  <a:schemeClr val="bg1"/>
                </a:solidFill>
                <a:latin typeface="Tw Cen MT" panose="020B0602020104020603" pitchFamily="34" charset="0"/>
              </a:rPr>
              <a:t>-bit words in modern block </a:t>
            </a:r>
            <a:r>
              <a:rPr lang="en-US" sz="2800" baseline="0" dirty="0" err="1">
                <a:solidFill>
                  <a:schemeClr val="bg1"/>
                </a:solidFill>
                <a:latin typeface="Tw Cen MT" panose="020B0602020104020603" pitchFamily="34" charset="0"/>
              </a:rPr>
              <a:t>ciphrs</a:t>
            </a:r>
            <a:endParaRPr lang="en-US" sz="2800" baseline="0" dirty="0">
              <a:solidFill>
                <a:schemeClr val="bg1"/>
              </a:solidFill>
              <a:latin typeface="Tw Cen MT" panose="020B0602020104020603"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1790700" y="368300"/>
            <a:ext cx="4966424" cy="584775"/>
          </a:xfrm>
          <a:prstGeom prst="rect">
            <a:avLst/>
          </a:prstGeom>
          <a:noFill/>
          <a:ln w="9525">
            <a:noFill/>
            <a:miter lim="800000"/>
            <a:headEnd/>
            <a:tailEnd/>
          </a:ln>
          <a:effectLst/>
        </p:spPr>
        <p:txBody>
          <a:bodyPr wrap="none">
            <a:spAutoFit/>
          </a:bodyPr>
          <a:lstStyle/>
          <a:p>
            <a:pPr algn="ctr">
              <a:defRPr/>
            </a:pPr>
            <a:r>
              <a:rPr lang="en-US" sz="3200" baseline="0" dirty="0">
                <a:solidFill>
                  <a:srgbClr val="000000"/>
                </a:solidFill>
                <a:effectLst>
                  <a:outerShdw blurRad="38100" dist="38100" dir="2700000" algn="tl">
                    <a:srgbClr val="C0C0C0"/>
                  </a:outerShdw>
                </a:effectLst>
                <a:latin typeface="Times" pitchFamily="18" charset="0"/>
              </a:rPr>
              <a:t>   </a:t>
            </a:r>
            <a:r>
              <a:rPr lang="en-US" sz="3200" b="1" baseline="0" dirty="0">
                <a:solidFill>
                  <a:srgbClr val="002060"/>
                </a:solidFill>
                <a:latin typeface="Bookman Old Style" pitchFamily="18" charset="0"/>
              </a:rPr>
              <a:t>Algebraic Structures</a:t>
            </a:r>
          </a:p>
        </p:txBody>
      </p:sp>
      <p:sp>
        <p:nvSpPr>
          <p:cNvPr id="5125"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sz="1800" baseline="0">
              <a:solidFill>
                <a:srgbClr val="000000"/>
              </a:solidFill>
            </a:endParaRPr>
          </a:p>
        </p:txBody>
      </p:sp>
      <p:sp>
        <p:nvSpPr>
          <p:cNvPr id="565253" name="Rectangle 5"/>
          <p:cNvSpPr>
            <a:spLocks noChangeArrowheads="1"/>
          </p:cNvSpPr>
          <p:nvPr/>
        </p:nvSpPr>
        <p:spPr bwMode="auto">
          <a:xfrm>
            <a:off x="487680" y="1347838"/>
            <a:ext cx="8229600" cy="1938992"/>
          </a:xfrm>
          <a:prstGeom prst="rect">
            <a:avLst/>
          </a:prstGeom>
          <a:noFill/>
          <a:ln w="9525">
            <a:noFill/>
            <a:miter lim="800000"/>
            <a:headEnd/>
            <a:tailEnd/>
          </a:ln>
          <a:effectLst/>
        </p:spPr>
        <p:txBody>
          <a:bodyPr anchor="ctr">
            <a:spAutoFit/>
          </a:bodyPr>
          <a:lstStyle/>
          <a:p>
            <a:pPr algn="just" eaLnBrk="1" hangingPunct="1">
              <a:defRPr/>
            </a:pPr>
            <a:r>
              <a:rPr lang="en-US" sz="2400" baseline="0" dirty="0">
                <a:solidFill>
                  <a:srgbClr val="000000"/>
                </a:solidFill>
                <a:latin typeface="Gill Sans MT" pitchFamily="34" charset="0"/>
              </a:rPr>
              <a:t>Cryptography requires sets of integers and specific operations that are defined for those sets</a:t>
            </a:r>
            <a:r>
              <a:rPr lang="en-US" sz="2400" baseline="0" dirty="0">
                <a:solidFill>
                  <a:srgbClr val="FF0000"/>
                </a:solidFill>
                <a:latin typeface="Gill Sans MT" pitchFamily="34" charset="0"/>
              </a:rPr>
              <a:t>. The combination of the set and the operations that are applied to the elements of the set is called an </a:t>
            </a:r>
            <a:r>
              <a:rPr lang="en-US" sz="2400" baseline="0" dirty="0">
                <a:solidFill>
                  <a:srgbClr val="0000CC"/>
                </a:solidFill>
                <a:latin typeface="Gill Sans MT" pitchFamily="34" charset="0"/>
              </a:rPr>
              <a:t>algebraic structure.</a:t>
            </a:r>
            <a:r>
              <a:rPr lang="en-US" sz="2400" baseline="0" dirty="0">
                <a:solidFill>
                  <a:srgbClr val="FF0000"/>
                </a:solidFill>
                <a:latin typeface="Gill Sans MT" pitchFamily="34" charset="0"/>
              </a:rPr>
              <a:t> </a:t>
            </a:r>
            <a:r>
              <a:rPr lang="en-US" sz="2400" baseline="0" dirty="0">
                <a:solidFill>
                  <a:schemeClr val="bg1"/>
                </a:solidFill>
                <a:latin typeface="Gill Sans MT" pitchFamily="34" charset="0"/>
              </a:rPr>
              <a:t>We</a:t>
            </a:r>
            <a:r>
              <a:rPr lang="en-US" sz="2400" baseline="0" dirty="0">
                <a:solidFill>
                  <a:srgbClr val="000000"/>
                </a:solidFill>
                <a:latin typeface="Gill Sans MT" pitchFamily="34" charset="0"/>
              </a:rPr>
              <a:t> will define three common algebraic structures: groups, rings, and fields.</a:t>
            </a:r>
          </a:p>
        </p:txBody>
      </p:sp>
      <p:sp>
        <p:nvSpPr>
          <p:cNvPr id="565278" name="Text Box 30"/>
          <p:cNvSpPr txBox="1">
            <a:spLocks noChangeArrowheads="1"/>
          </p:cNvSpPr>
          <p:nvPr/>
        </p:nvSpPr>
        <p:spPr bwMode="auto">
          <a:xfrm>
            <a:off x="683993" y="3772676"/>
            <a:ext cx="1277016" cy="523220"/>
          </a:xfrm>
          <a:prstGeom prst="rect">
            <a:avLst/>
          </a:prstGeom>
          <a:noFill/>
          <a:ln w="76200" algn="ctr">
            <a:noFill/>
            <a:miter lim="800000"/>
            <a:headEnd/>
            <a:tailEnd/>
          </a:ln>
          <a:effectLst/>
        </p:spPr>
        <p:txBody>
          <a:bodyPr wrap="none">
            <a:spAutoFit/>
          </a:bodyPr>
          <a:lstStyle/>
          <a:p>
            <a:pPr algn="ctr">
              <a:defRPr/>
            </a:pPr>
            <a:r>
              <a:rPr lang="en-US" sz="2800" u="sng" baseline="0" dirty="0">
                <a:solidFill>
                  <a:srgbClr val="000000"/>
                </a:solidFill>
                <a:latin typeface="Gill Sans MT" pitchFamily="34" charset="0"/>
              </a:rPr>
              <a:t>Topics :</a:t>
            </a:r>
          </a:p>
        </p:txBody>
      </p:sp>
      <p:sp>
        <p:nvSpPr>
          <p:cNvPr id="5128" name="Rectangle 31"/>
          <p:cNvSpPr>
            <a:spLocks noChangeArrowheads="1"/>
          </p:cNvSpPr>
          <p:nvPr/>
        </p:nvSpPr>
        <p:spPr bwMode="auto">
          <a:xfrm>
            <a:off x="574723" y="4573270"/>
            <a:ext cx="6705600" cy="1384995"/>
          </a:xfrm>
          <a:prstGeom prst="rect">
            <a:avLst/>
          </a:prstGeom>
          <a:noFill/>
          <a:ln w="9525">
            <a:noFill/>
            <a:miter lim="800000"/>
            <a:headEnd/>
            <a:tailEnd/>
          </a:ln>
        </p:spPr>
        <p:txBody>
          <a:bodyPr>
            <a:spAutoFit/>
          </a:bodyPr>
          <a:lstStyle/>
          <a:p>
            <a:pPr>
              <a:buClr>
                <a:schemeClr val="tx1"/>
              </a:buClr>
              <a:buSzPct val="117000"/>
              <a:buFont typeface="Arial Unicode MS" pitchFamily="34" charset="-128"/>
              <a:buNone/>
            </a:pPr>
            <a:r>
              <a:rPr lang="en-US" sz="2800" baseline="0" dirty="0">
                <a:solidFill>
                  <a:srgbClr val="000000"/>
                </a:solidFill>
                <a:latin typeface="Gill Sans MT" pitchFamily="34" charset="0"/>
              </a:rPr>
              <a:t>1  Groups</a:t>
            </a:r>
            <a:br>
              <a:rPr lang="fr-FR" sz="2800" baseline="0" dirty="0">
                <a:solidFill>
                  <a:srgbClr val="000000"/>
                </a:solidFill>
                <a:latin typeface="Gill Sans MT" pitchFamily="34" charset="0"/>
              </a:rPr>
            </a:br>
            <a:r>
              <a:rPr lang="fr-FR" sz="2800" baseline="0" dirty="0">
                <a:solidFill>
                  <a:srgbClr val="000000"/>
                </a:solidFill>
                <a:latin typeface="Gill Sans MT" pitchFamily="34" charset="0"/>
              </a:rPr>
              <a:t>2  Rings</a:t>
            </a:r>
            <a:br>
              <a:rPr lang="fr-FR" sz="2800" baseline="0" dirty="0">
                <a:solidFill>
                  <a:srgbClr val="000000"/>
                </a:solidFill>
                <a:latin typeface="Gill Sans MT" pitchFamily="34" charset="0"/>
              </a:rPr>
            </a:br>
            <a:r>
              <a:rPr lang="fr-FR" sz="2800" baseline="0" dirty="0">
                <a:solidFill>
                  <a:srgbClr val="000000"/>
                </a:solidFill>
                <a:latin typeface="Gill Sans MT" pitchFamily="34" charset="0"/>
              </a:rPr>
              <a:t>3  Fields</a:t>
            </a:r>
            <a:endParaRPr lang="en-US" sz="2800" baseline="0" dirty="0">
              <a:solidFill>
                <a:srgbClr val="000000"/>
              </a:solidFill>
              <a:latin typeface="Gill Sans MT" pitchFamily="34" charset="0"/>
            </a:endParaRPr>
          </a:p>
        </p:txBody>
      </p:sp>
    </p:spTree>
    <p:extLst>
      <p:ext uri="{BB962C8B-B14F-4D97-AF65-F5344CB8AC3E}">
        <p14:creationId xmlns:p14="http://schemas.microsoft.com/office/powerpoint/2010/main" val="2272479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1790700" y="368300"/>
            <a:ext cx="4966424" cy="584775"/>
          </a:xfrm>
          <a:prstGeom prst="rect">
            <a:avLst/>
          </a:prstGeom>
          <a:noFill/>
          <a:ln w="9525">
            <a:noFill/>
            <a:miter lim="800000"/>
            <a:headEnd/>
            <a:tailEnd/>
          </a:ln>
          <a:effectLst/>
        </p:spPr>
        <p:txBody>
          <a:bodyPr wrap="none">
            <a:spAutoFit/>
          </a:bodyPr>
          <a:lstStyle/>
          <a:p>
            <a:pPr algn="ctr">
              <a:defRPr/>
            </a:pPr>
            <a:r>
              <a:rPr lang="en-US" sz="3200" baseline="0" dirty="0">
                <a:solidFill>
                  <a:srgbClr val="000000"/>
                </a:solidFill>
                <a:effectLst>
                  <a:outerShdw blurRad="38100" dist="38100" dir="2700000" algn="tl">
                    <a:srgbClr val="C0C0C0"/>
                  </a:outerShdw>
                </a:effectLst>
                <a:latin typeface="Times" pitchFamily="18" charset="0"/>
              </a:rPr>
              <a:t>   </a:t>
            </a:r>
            <a:r>
              <a:rPr lang="en-US" sz="3200" b="1" baseline="0" dirty="0">
                <a:solidFill>
                  <a:srgbClr val="002060"/>
                </a:solidFill>
                <a:latin typeface="Bookman Old Style" pitchFamily="18" charset="0"/>
              </a:rPr>
              <a:t>Algebraic Structures</a:t>
            </a:r>
          </a:p>
        </p:txBody>
      </p:sp>
      <p:sp>
        <p:nvSpPr>
          <p:cNvPr id="5125"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sz="1800" baseline="0">
              <a:solidFill>
                <a:srgbClr val="000000"/>
              </a:solidFill>
            </a:endParaRPr>
          </a:p>
        </p:txBody>
      </p:sp>
      <p:pic>
        <p:nvPicPr>
          <p:cNvPr id="7" name="Picture 11"/>
          <p:cNvPicPr>
            <a:picLocks noChangeAspect="1" noChangeArrowheads="1"/>
          </p:cNvPicPr>
          <p:nvPr/>
        </p:nvPicPr>
        <p:blipFill>
          <a:blip r:embed="rId3"/>
          <a:srcRect/>
          <a:stretch>
            <a:fillRect/>
          </a:stretch>
        </p:blipFill>
        <p:spPr bwMode="auto">
          <a:xfrm>
            <a:off x="762000" y="2869394"/>
            <a:ext cx="7651750" cy="2117725"/>
          </a:xfrm>
          <a:prstGeom prst="rect">
            <a:avLst/>
          </a:prstGeom>
          <a:noFill/>
          <a:ln w="9525">
            <a:noFill/>
            <a:miter lim="800000"/>
            <a:headEnd/>
            <a:tailEnd/>
          </a:ln>
        </p:spPr>
      </p:pic>
      <p:sp>
        <p:nvSpPr>
          <p:cNvPr id="5" name="Rectangle 10"/>
          <p:cNvSpPr>
            <a:spLocks noChangeArrowheads="1"/>
          </p:cNvSpPr>
          <p:nvPr/>
        </p:nvSpPr>
        <p:spPr bwMode="auto">
          <a:xfrm>
            <a:off x="304800" y="1502033"/>
            <a:ext cx="8515350" cy="830997"/>
          </a:xfrm>
          <a:prstGeom prst="rect">
            <a:avLst/>
          </a:prstGeom>
          <a:noFill/>
          <a:ln w="9525">
            <a:noFill/>
            <a:miter lim="800000"/>
            <a:headEnd/>
            <a:tailEnd/>
          </a:ln>
        </p:spPr>
        <p:txBody>
          <a:bodyPr wrap="square" anchor="ctr">
            <a:spAutoFit/>
          </a:bodyPr>
          <a:lstStyle/>
          <a:p>
            <a:pPr algn="just" eaLnBrk="1" hangingPunct="1"/>
            <a:r>
              <a:rPr lang="en-US" sz="2400" baseline="0" dirty="0">
                <a:solidFill>
                  <a:srgbClr val="002060"/>
                </a:solidFill>
                <a:latin typeface="Gill Sans MT" pitchFamily="34" charset="0"/>
              </a:rPr>
              <a:t>The combination of  the set and the operations that are applied to the elements of the set is called </a:t>
            </a:r>
            <a:r>
              <a:rPr lang="en-US" sz="2400" b="1" baseline="0" dirty="0">
                <a:solidFill>
                  <a:srgbClr val="002060"/>
                </a:solidFill>
                <a:latin typeface="Gill Sans MT" pitchFamily="34" charset="0"/>
              </a:rPr>
              <a:t>algebraic structure</a:t>
            </a:r>
            <a:r>
              <a:rPr lang="en-US" sz="2400" baseline="0" dirty="0">
                <a:solidFill>
                  <a:srgbClr val="002060"/>
                </a:solidFill>
                <a:latin typeface="Gill Sans MT" pitchFamily="34" charset="0"/>
              </a:rPr>
              <a:t>. </a:t>
            </a:r>
            <a:endParaRPr lang="en-US" sz="2400" baseline="0" dirty="0">
              <a:solidFill>
                <a:srgbClr val="0000FF"/>
              </a:solidFill>
              <a:latin typeface="Gill Sans MT"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3406608" y="607451"/>
            <a:ext cx="1790876" cy="584775"/>
          </a:xfrm>
          <a:prstGeom prst="rect">
            <a:avLst/>
          </a:prstGeom>
          <a:noFill/>
          <a:ln w="9525">
            <a:noFill/>
            <a:miter lim="800000"/>
            <a:headEnd/>
            <a:tailEnd/>
          </a:ln>
          <a:effectLst/>
        </p:spPr>
        <p:txBody>
          <a:bodyPr wrap="none">
            <a:spAutoFit/>
          </a:bodyPr>
          <a:lstStyle/>
          <a:p>
            <a:pPr algn="ctr">
              <a:defRPr/>
            </a:pPr>
            <a:r>
              <a:rPr lang="en-US" sz="3200" baseline="0" dirty="0">
                <a:solidFill>
                  <a:srgbClr val="000000"/>
                </a:solidFill>
                <a:effectLst>
                  <a:outerShdw blurRad="38100" dist="38100" dir="2700000" algn="tl">
                    <a:srgbClr val="C0C0C0"/>
                  </a:outerShdw>
                </a:effectLst>
                <a:latin typeface="Times" pitchFamily="18" charset="0"/>
              </a:rPr>
              <a:t>   </a:t>
            </a:r>
            <a:r>
              <a:rPr lang="en-US" sz="3200" b="1" dirty="0">
                <a:solidFill>
                  <a:srgbClr val="002060"/>
                </a:solidFill>
                <a:latin typeface="Bookman Old Style" pitchFamily="18" charset="0"/>
              </a:rPr>
              <a:t>Group</a:t>
            </a:r>
            <a:endParaRPr lang="en-US" sz="3200" b="1" baseline="0" dirty="0">
              <a:solidFill>
                <a:srgbClr val="002060"/>
              </a:solidFill>
              <a:latin typeface="Bookman Old Style"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 y="1398114"/>
            <a:ext cx="8829675" cy="496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1683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0660" y="1717201"/>
            <a:ext cx="7248525"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3"/>
          <p:cNvSpPr txBox="1">
            <a:spLocks noChangeArrowheads="1"/>
          </p:cNvSpPr>
          <p:nvPr/>
        </p:nvSpPr>
        <p:spPr bwMode="auto">
          <a:xfrm>
            <a:off x="3406608" y="607451"/>
            <a:ext cx="1790876" cy="584775"/>
          </a:xfrm>
          <a:prstGeom prst="rect">
            <a:avLst/>
          </a:prstGeom>
          <a:noFill/>
          <a:ln w="9525">
            <a:noFill/>
            <a:miter lim="800000"/>
            <a:headEnd/>
            <a:tailEnd/>
          </a:ln>
          <a:effectLst/>
        </p:spPr>
        <p:txBody>
          <a:bodyPr wrap="none">
            <a:spAutoFit/>
          </a:bodyPr>
          <a:lstStyle/>
          <a:p>
            <a:pPr algn="ctr">
              <a:defRPr/>
            </a:pPr>
            <a:r>
              <a:rPr lang="en-US" sz="3200" baseline="0" dirty="0">
                <a:solidFill>
                  <a:srgbClr val="000000"/>
                </a:solidFill>
                <a:effectLst>
                  <a:outerShdw blurRad="38100" dist="38100" dir="2700000" algn="tl">
                    <a:srgbClr val="C0C0C0"/>
                  </a:outerShdw>
                </a:effectLst>
                <a:latin typeface="Times" pitchFamily="18" charset="0"/>
              </a:rPr>
              <a:t>   </a:t>
            </a:r>
            <a:r>
              <a:rPr lang="en-US" sz="3200" b="1" dirty="0">
                <a:solidFill>
                  <a:srgbClr val="002060"/>
                </a:solidFill>
                <a:latin typeface="Bookman Old Style" pitchFamily="18" charset="0"/>
              </a:rPr>
              <a:t>Group</a:t>
            </a:r>
            <a:endParaRPr lang="en-US" sz="3200" b="1" baseline="0" dirty="0">
              <a:solidFill>
                <a:srgbClr val="002060"/>
              </a:solidFill>
              <a:latin typeface="Bookman Old Style" pitchFamily="18" charset="0"/>
            </a:endParaRPr>
          </a:p>
        </p:txBody>
      </p:sp>
    </p:spTree>
    <p:extLst>
      <p:ext uri="{BB962C8B-B14F-4D97-AF65-F5344CB8AC3E}">
        <p14:creationId xmlns:p14="http://schemas.microsoft.com/office/powerpoint/2010/main" val="4282656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1052518" y="368300"/>
            <a:ext cx="6442790" cy="584775"/>
          </a:xfrm>
          <a:prstGeom prst="rect">
            <a:avLst/>
          </a:prstGeom>
          <a:noFill/>
          <a:ln w="9525">
            <a:noFill/>
            <a:miter lim="800000"/>
            <a:headEnd/>
            <a:tailEnd/>
          </a:ln>
          <a:effectLst/>
        </p:spPr>
        <p:txBody>
          <a:bodyPr wrap="none">
            <a:spAutoFit/>
          </a:bodyPr>
          <a:lstStyle/>
          <a:p>
            <a:pPr algn="ctr">
              <a:defRPr/>
            </a:pPr>
            <a:r>
              <a:rPr lang="en-US" sz="3200" baseline="0" dirty="0">
                <a:solidFill>
                  <a:srgbClr val="000000"/>
                </a:solidFill>
                <a:effectLst>
                  <a:outerShdw blurRad="38100" dist="38100" dir="2700000" algn="tl">
                    <a:srgbClr val="C0C0C0"/>
                  </a:outerShdw>
                </a:effectLst>
                <a:latin typeface="Times" pitchFamily="18" charset="0"/>
              </a:rPr>
              <a:t>   </a:t>
            </a:r>
            <a:r>
              <a:rPr lang="en-US" sz="3200" b="1" baseline="0" dirty="0">
                <a:solidFill>
                  <a:srgbClr val="002060"/>
                </a:solidFill>
                <a:latin typeface="Bookman Old Style" pitchFamily="18" charset="0"/>
              </a:rPr>
              <a:t>Algebraic Structures: </a:t>
            </a:r>
            <a:r>
              <a:rPr lang="en-US" sz="3200" b="1" baseline="0" dirty="0">
                <a:solidFill>
                  <a:srgbClr val="00CC00"/>
                </a:solidFill>
                <a:latin typeface="Bookman Old Style" pitchFamily="18" charset="0"/>
              </a:rPr>
              <a:t>Group</a:t>
            </a:r>
          </a:p>
        </p:txBody>
      </p:sp>
      <p:sp>
        <p:nvSpPr>
          <p:cNvPr id="5125" name="Text Box 4"/>
          <p:cNvSpPr txBox="1">
            <a:spLocks noChangeArrowheads="1"/>
          </p:cNvSpPr>
          <p:nvPr/>
        </p:nvSpPr>
        <p:spPr bwMode="auto">
          <a:xfrm>
            <a:off x="8229600" y="6400800"/>
            <a:ext cx="184731" cy="461665"/>
          </a:xfrm>
          <a:prstGeom prst="rect">
            <a:avLst/>
          </a:prstGeom>
          <a:noFill/>
          <a:ln w="9525">
            <a:noFill/>
            <a:miter lim="800000"/>
            <a:headEnd/>
            <a:tailEnd/>
          </a:ln>
        </p:spPr>
        <p:txBody>
          <a:bodyPr wrap="none">
            <a:spAutoFit/>
          </a:bodyPr>
          <a:lstStyle/>
          <a:p>
            <a:endParaRPr lang="en-US" sz="2400" baseline="0">
              <a:solidFill>
                <a:srgbClr val="002060"/>
              </a:solidFill>
              <a:latin typeface="Gill Sans MT" pitchFamily="34" charset="0"/>
            </a:endParaRPr>
          </a:p>
        </p:txBody>
      </p:sp>
      <p:sp>
        <p:nvSpPr>
          <p:cNvPr id="5" name="Rectangle 10"/>
          <p:cNvSpPr>
            <a:spLocks noChangeArrowheads="1"/>
          </p:cNvSpPr>
          <p:nvPr/>
        </p:nvSpPr>
        <p:spPr bwMode="auto">
          <a:xfrm>
            <a:off x="304800" y="1317367"/>
            <a:ext cx="8515350" cy="1200329"/>
          </a:xfrm>
          <a:prstGeom prst="rect">
            <a:avLst/>
          </a:prstGeom>
          <a:noFill/>
          <a:ln w="9525">
            <a:noFill/>
            <a:miter lim="800000"/>
            <a:headEnd/>
            <a:tailEnd/>
          </a:ln>
        </p:spPr>
        <p:txBody>
          <a:bodyPr wrap="square" anchor="ctr">
            <a:spAutoFit/>
          </a:bodyPr>
          <a:lstStyle/>
          <a:p>
            <a:pPr algn="just" eaLnBrk="1" hangingPunct="1"/>
            <a:r>
              <a:rPr lang="en-US" sz="2400" baseline="0" dirty="0">
                <a:solidFill>
                  <a:schemeClr val="bg1"/>
                </a:solidFill>
                <a:latin typeface="Tw Cen MT" panose="020B0602020104020603" pitchFamily="34" charset="0"/>
              </a:rPr>
              <a:t>A group (G) is a set of elements with a binary operation (•) that satisfies four properties (or axioms). A commutative group (also called </a:t>
            </a:r>
            <a:r>
              <a:rPr lang="en-US" sz="2400" baseline="0" dirty="0" err="1">
                <a:solidFill>
                  <a:schemeClr val="bg1"/>
                </a:solidFill>
                <a:latin typeface="Tw Cen MT" panose="020B0602020104020603" pitchFamily="34" charset="0"/>
              </a:rPr>
              <a:t>abelian</a:t>
            </a:r>
            <a:r>
              <a:rPr lang="en-US" sz="2400" baseline="0" dirty="0">
                <a:solidFill>
                  <a:schemeClr val="bg1"/>
                </a:solidFill>
                <a:latin typeface="Tw Cen MT" panose="020B0602020104020603" pitchFamily="34" charset="0"/>
              </a:rPr>
              <a:t> group) satisfies an extra property, </a:t>
            </a:r>
            <a:r>
              <a:rPr lang="en-US" sz="2400" baseline="0" dirty="0" err="1">
                <a:solidFill>
                  <a:schemeClr val="bg1"/>
                </a:solidFill>
                <a:latin typeface="Tw Cen MT" panose="020B0602020104020603" pitchFamily="34" charset="0"/>
              </a:rPr>
              <a:t>commutativity</a:t>
            </a:r>
            <a:r>
              <a:rPr lang="en-US" sz="2400" baseline="0" dirty="0">
                <a:solidFill>
                  <a:schemeClr val="bg1"/>
                </a:solidFill>
                <a:latin typeface="Tw Cen MT" panose="020B0602020104020603" pitchFamily="34" charset="0"/>
              </a:rPr>
              <a:t>:</a:t>
            </a:r>
          </a:p>
        </p:txBody>
      </p:sp>
      <p:sp>
        <p:nvSpPr>
          <p:cNvPr id="6" name="Rectangle 12"/>
          <p:cNvSpPr>
            <a:spLocks noChangeArrowheads="1"/>
          </p:cNvSpPr>
          <p:nvPr/>
        </p:nvSpPr>
        <p:spPr bwMode="auto">
          <a:xfrm>
            <a:off x="590550" y="2735255"/>
            <a:ext cx="8229600" cy="461665"/>
          </a:xfrm>
          <a:prstGeom prst="rect">
            <a:avLst/>
          </a:prstGeom>
          <a:noFill/>
          <a:ln w="9525">
            <a:noFill/>
            <a:miter lim="800000"/>
            <a:headEnd/>
            <a:tailEnd/>
          </a:ln>
        </p:spPr>
        <p:txBody>
          <a:bodyPr wrap="square" anchor="ctr">
            <a:spAutoFit/>
          </a:bodyPr>
          <a:lstStyle/>
          <a:p>
            <a:pPr algn="just"/>
            <a:r>
              <a:rPr lang="en-US" sz="2400" baseline="0" dirty="0">
                <a:solidFill>
                  <a:schemeClr val="bg1"/>
                </a:solidFill>
                <a:latin typeface="Tw Cen MT" panose="020B0602020104020603" pitchFamily="34" charset="0"/>
              </a:rPr>
              <a:t>❏ Closure:  </a:t>
            </a:r>
            <a:r>
              <a:rPr lang="en-US" sz="2400" dirty="0">
                <a:solidFill>
                  <a:schemeClr val="bg1"/>
                </a:solidFill>
                <a:latin typeface="Tw Cen MT" panose="020B0602020104020603" pitchFamily="34" charset="0"/>
                <a:ea typeface="Cambria Math"/>
              </a:rPr>
              <a:t>if </a:t>
            </a:r>
            <a:r>
              <a:rPr lang="en-US" sz="2400" dirty="0" err="1">
                <a:solidFill>
                  <a:schemeClr val="bg1"/>
                </a:solidFill>
                <a:latin typeface="Tw Cen MT" panose="020B0602020104020603" pitchFamily="34" charset="0"/>
                <a:ea typeface="Cambria Math"/>
              </a:rPr>
              <a:t>a,b</a:t>
            </a:r>
            <a:r>
              <a:rPr lang="en-US" sz="2400" dirty="0">
                <a:solidFill>
                  <a:schemeClr val="bg1"/>
                </a:solidFill>
                <a:latin typeface="Tw Cen MT" panose="020B0602020104020603" pitchFamily="34" charset="0"/>
                <a:ea typeface="Cambria Math"/>
              </a:rPr>
              <a:t>∈ G, then  c=</a:t>
            </a:r>
            <a:r>
              <a:rPr lang="en-US" sz="2400" dirty="0" err="1">
                <a:solidFill>
                  <a:schemeClr val="bg1"/>
                </a:solidFill>
                <a:latin typeface="Tw Cen MT" panose="020B0602020104020603" pitchFamily="34" charset="0"/>
                <a:ea typeface="Cambria Math"/>
              </a:rPr>
              <a:t>a.b</a:t>
            </a:r>
            <a:r>
              <a:rPr lang="en-US" sz="2400" dirty="0">
                <a:solidFill>
                  <a:schemeClr val="bg1"/>
                </a:solidFill>
                <a:latin typeface="Tw Cen MT" panose="020B0602020104020603" pitchFamily="34" charset="0"/>
                <a:ea typeface="Cambria Math"/>
              </a:rPr>
              <a:t> ∈G</a:t>
            </a:r>
            <a:endParaRPr lang="en-US" sz="2400" baseline="0" dirty="0">
              <a:solidFill>
                <a:schemeClr val="bg1"/>
              </a:solidFill>
              <a:latin typeface="Tw Cen MT" panose="020B0602020104020603" pitchFamily="34" charset="0"/>
            </a:endParaRPr>
          </a:p>
        </p:txBody>
      </p:sp>
      <p:sp>
        <p:nvSpPr>
          <p:cNvPr id="8" name="Rectangle 13"/>
          <p:cNvSpPr>
            <a:spLocks noChangeArrowheads="1"/>
          </p:cNvSpPr>
          <p:nvPr/>
        </p:nvSpPr>
        <p:spPr bwMode="auto">
          <a:xfrm>
            <a:off x="590550" y="3121482"/>
            <a:ext cx="7696200" cy="830997"/>
          </a:xfrm>
          <a:prstGeom prst="rect">
            <a:avLst/>
          </a:prstGeom>
          <a:noFill/>
          <a:ln w="9525">
            <a:noFill/>
            <a:miter lim="800000"/>
            <a:headEnd/>
            <a:tailEnd/>
          </a:ln>
        </p:spPr>
        <p:txBody>
          <a:bodyPr wrap="square" anchor="ctr">
            <a:spAutoFit/>
          </a:bodyPr>
          <a:lstStyle/>
          <a:p>
            <a:pPr algn="just"/>
            <a:r>
              <a:rPr lang="en-US" sz="2400" baseline="0" dirty="0">
                <a:solidFill>
                  <a:schemeClr val="bg1"/>
                </a:solidFill>
                <a:latin typeface="Tw Cen MT" panose="020B0602020104020603" pitchFamily="34" charset="0"/>
              </a:rPr>
              <a:t>❏ Associativity: </a:t>
            </a:r>
            <a:r>
              <a:rPr lang="en-US" sz="2400" dirty="0">
                <a:solidFill>
                  <a:schemeClr val="bg1"/>
                </a:solidFill>
                <a:latin typeface="Tw Cen MT" panose="020B0602020104020603" pitchFamily="34" charset="0"/>
                <a:ea typeface="Cambria Math"/>
              </a:rPr>
              <a:t>if </a:t>
            </a:r>
            <a:r>
              <a:rPr lang="en-US" sz="2400" dirty="0" err="1">
                <a:solidFill>
                  <a:schemeClr val="bg1"/>
                </a:solidFill>
                <a:latin typeface="Tw Cen MT" panose="020B0602020104020603" pitchFamily="34" charset="0"/>
                <a:ea typeface="Cambria Math"/>
              </a:rPr>
              <a:t>a,b,c</a:t>
            </a:r>
            <a:r>
              <a:rPr lang="en-US" sz="2400" dirty="0">
                <a:solidFill>
                  <a:schemeClr val="bg1"/>
                </a:solidFill>
                <a:latin typeface="Tw Cen MT" panose="020B0602020104020603" pitchFamily="34" charset="0"/>
                <a:ea typeface="Cambria Math"/>
              </a:rPr>
              <a:t> ∈ G, then  (</a:t>
            </a:r>
            <a:r>
              <a:rPr lang="en-US" sz="2400" dirty="0" err="1">
                <a:solidFill>
                  <a:schemeClr val="bg1"/>
                </a:solidFill>
                <a:latin typeface="Tw Cen MT" panose="020B0602020104020603" pitchFamily="34" charset="0"/>
                <a:ea typeface="Cambria Math"/>
              </a:rPr>
              <a:t>a.b</a:t>
            </a:r>
            <a:r>
              <a:rPr lang="en-US" sz="2400" dirty="0">
                <a:solidFill>
                  <a:schemeClr val="bg1"/>
                </a:solidFill>
                <a:latin typeface="Tw Cen MT" panose="020B0602020104020603" pitchFamily="34" charset="0"/>
                <a:ea typeface="Cambria Math"/>
              </a:rPr>
              <a:t>).c=a. (</a:t>
            </a:r>
            <a:r>
              <a:rPr lang="en-US" sz="2400" dirty="0" err="1">
                <a:solidFill>
                  <a:schemeClr val="bg1"/>
                </a:solidFill>
                <a:latin typeface="Tw Cen MT" panose="020B0602020104020603" pitchFamily="34" charset="0"/>
                <a:ea typeface="Cambria Math"/>
              </a:rPr>
              <a:t>b.c</a:t>
            </a:r>
            <a:r>
              <a:rPr lang="en-US" sz="2400" dirty="0">
                <a:solidFill>
                  <a:schemeClr val="bg1"/>
                </a:solidFill>
                <a:latin typeface="Tw Cen MT" panose="020B0602020104020603" pitchFamily="34" charset="0"/>
                <a:ea typeface="Cambria Math"/>
              </a:rPr>
              <a:t>)</a:t>
            </a:r>
            <a:endParaRPr lang="en-US" sz="2400" dirty="0">
              <a:solidFill>
                <a:schemeClr val="bg1"/>
              </a:solidFill>
              <a:latin typeface="Tw Cen MT" panose="020B0602020104020603" pitchFamily="34" charset="0"/>
            </a:endParaRPr>
          </a:p>
          <a:p>
            <a:pPr algn="just" eaLnBrk="1" hangingPunct="1"/>
            <a:endParaRPr lang="en-US" sz="2400" baseline="0" dirty="0">
              <a:solidFill>
                <a:schemeClr val="bg1"/>
              </a:solidFill>
              <a:latin typeface="Tw Cen MT" panose="020B0602020104020603" pitchFamily="34" charset="0"/>
            </a:endParaRPr>
          </a:p>
        </p:txBody>
      </p:sp>
      <p:sp>
        <p:nvSpPr>
          <p:cNvPr id="9" name="Rectangle 14"/>
          <p:cNvSpPr>
            <a:spLocks noChangeArrowheads="1"/>
          </p:cNvSpPr>
          <p:nvPr/>
        </p:nvSpPr>
        <p:spPr bwMode="auto">
          <a:xfrm>
            <a:off x="590550" y="3673932"/>
            <a:ext cx="7696200" cy="830997"/>
          </a:xfrm>
          <a:prstGeom prst="rect">
            <a:avLst/>
          </a:prstGeom>
          <a:noFill/>
          <a:ln w="9525">
            <a:noFill/>
            <a:miter lim="800000"/>
            <a:headEnd/>
            <a:tailEnd/>
          </a:ln>
        </p:spPr>
        <p:txBody>
          <a:bodyPr wrap="square" anchor="ctr">
            <a:spAutoFit/>
          </a:bodyPr>
          <a:lstStyle/>
          <a:p>
            <a:pPr algn="just"/>
            <a:r>
              <a:rPr lang="en-US" sz="2400" baseline="0" dirty="0">
                <a:solidFill>
                  <a:schemeClr val="bg1"/>
                </a:solidFill>
                <a:latin typeface="Tw Cen MT" panose="020B0602020104020603" pitchFamily="34" charset="0"/>
              </a:rPr>
              <a:t>❏ </a:t>
            </a:r>
            <a:r>
              <a:rPr lang="en-US" sz="2400" baseline="0" dirty="0" err="1">
                <a:solidFill>
                  <a:schemeClr val="bg1"/>
                </a:solidFill>
                <a:latin typeface="Tw Cen MT" panose="020B0602020104020603" pitchFamily="34" charset="0"/>
              </a:rPr>
              <a:t>Commutativity</a:t>
            </a:r>
            <a:r>
              <a:rPr lang="en-US" sz="2400" baseline="0" dirty="0">
                <a:solidFill>
                  <a:schemeClr val="bg1"/>
                </a:solidFill>
                <a:latin typeface="Tw Cen MT" panose="020B0602020104020603" pitchFamily="34" charset="0"/>
              </a:rPr>
              <a:t>: </a:t>
            </a:r>
            <a:r>
              <a:rPr lang="en-US" sz="2400" dirty="0">
                <a:solidFill>
                  <a:schemeClr val="bg1"/>
                </a:solidFill>
                <a:latin typeface="Tw Cen MT" panose="020B0602020104020603" pitchFamily="34" charset="0"/>
                <a:ea typeface="Cambria Math"/>
              </a:rPr>
              <a:t>if </a:t>
            </a:r>
            <a:r>
              <a:rPr lang="en-US" sz="2400" dirty="0" err="1">
                <a:solidFill>
                  <a:schemeClr val="bg1"/>
                </a:solidFill>
                <a:latin typeface="Tw Cen MT" panose="020B0602020104020603" pitchFamily="34" charset="0"/>
                <a:ea typeface="Cambria Math"/>
              </a:rPr>
              <a:t>a,b</a:t>
            </a:r>
            <a:r>
              <a:rPr lang="en-US" sz="2400" dirty="0">
                <a:solidFill>
                  <a:schemeClr val="bg1"/>
                </a:solidFill>
                <a:latin typeface="Tw Cen MT" panose="020B0602020104020603" pitchFamily="34" charset="0"/>
                <a:ea typeface="Cambria Math"/>
              </a:rPr>
              <a:t>∈ G, then  </a:t>
            </a:r>
            <a:r>
              <a:rPr lang="en-US" sz="2400" dirty="0" err="1">
                <a:solidFill>
                  <a:schemeClr val="bg1"/>
                </a:solidFill>
                <a:latin typeface="Tw Cen MT" panose="020B0602020104020603" pitchFamily="34" charset="0"/>
                <a:ea typeface="Cambria Math"/>
              </a:rPr>
              <a:t>a.b</a:t>
            </a:r>
            <a:r>
              <a:rPr lang="en-US" sz="2400" dirty="0">
                <a:solidFill>
                  <a:schemeClr val="bg1"/>
                </a:solidFill>
                <a:latin typeface="Tw Cen MT" panose="020B0602020104020603" pitchFamily="34" charset="0"/>
                <a:ea typeface="Cambria Math"/>
              </a:rPr>
              <a:t>=</a:t>
            </a:r>
            <a:r>
              <a:rPr lang="en-US" sz="2400" dirty="0" err="1">
                <a:solidFill>
                  <a:schemeClr val="bg1"/>
                </a:solidFill>
                <a:latin typeface="Tw Cen MT" panose="020B0602020104020603" pitchFamily="34" charset="0"/>
                <a:ea typeface="Cambria Math"/>
              </a:rPr>
              <a:t>b.a</a:t>
            </a:r>
            <a:endParaRPr lang="en-US" sz="2400" dirty="0">
              <a:solidFill>
                <a:schemeClr val="bg1"/>
              </a:solidFill>
              <a:latin typeface="Tw Cen MT" panose="020B0602020104020603" pitchFamily="34" charset="0"/>
            </a:endParaRPr>
          </a:p>
          <a:p>
            <a:pPr algn="just" eaLnBrk="1" hangingPunct="1"/>
            <a:endParaRPr lang="en-US" sz="2400" baseline="0" dirty="0">
              <a:solidFill>
                <a:schemeClr val="bg1"/>
              </a:solidFill>
              <a:latin typeface="Tw Cen MT" panose="020B0602020104020603" pitchFamily="34" charset="0"/>
            </a:endParaRPr>
          </a:p>
        </p:txBody>
      </p:sp>
      <mc:AlternateContent xmlns:mc="http://schemas.openxmlformats.org/markup-compatibility/2006" xmlns:a14="http://schemas.microsoft.com/office/drawing/2010/main">
        <mc:Choice Requires="a14">
          <p:sp>
            <p:nvSpPr>
              <p:cNvPr id="10" name="Rectangle 15"/>
              <p:cNvSpPr>
                <a:spLocks noChangeArrowheads="1"/>
              </p:cNvSpPr>
              <p:nvPr/>
            </p:nvSpPr>
            <p:spPr bwMode="auto">
              <a:xfrm>
                <a:off x="590550" y="4223207"/>
                <a:ext cx="7696200" cy="830997"/>
              </a:xfrm>
              <a:prstGeom prst="rect">
                <a:avLst/>
              </a:prstGeom>
              <a:noFill/>
              <a:ln w="9525">
                <a:noFill/>
                <a:miter lim="800000"/>
                <a:headEnd/>
                <a:tailEnd/>
              </a:ln>
            </p:spPr>
            <p:txBody>
              <a:bodyPr wrap="square" anchor="ctr">
                <a:spAutoFit/>
              </a:bodyPr>
              <a:lstStyle/>
              <a:p>
                <a:pPr algn="just"/>
                <a:r>
                  <a:rPr lang="en-US" sz="2400" baseline="0" dirty="0">
                    <a:solidFill>
                      <a:schemeClr val="bg1"/>
                    </a:solidFill>
                    <a:latin typeface="Tw Cen MT" panose="020B0602020104020603" pitchFamily="34" charset="0"/>
                  </a:rPr>
                  <a:t>❏ Existence of identity: </a:t>
                </a:r>
                <a:r>
                  <a:rPr lang="en-US" sz="2400" dirty="0">
                    <a:solidFill>
                      <a:schemeClr val="bg1"/>
                    </a:solidFill>
                    <a:latin typeface="Tw Cen MT" panose="020B0602020104020603" pitchFamily="34" charset="0"/>
                    <a:ea typeface="Cambria Math"/>
                  </a:rPr>
                  <a:t> </a:t>
                </a:r>
                <a14:m>
                  <m:oMath xmlns:m="http://schemas.openxmlformats.org/officeDocument/2006/math">
                    <m:r>
                      <a:rPr lang="en-US" sz="2400" i="1" smtClean="0">
                        <a:solidFill>
                          <a:schemeClr val="bg1"/>
                        </a:solidFill>
                        <a:latin typeface="Cambria Math"/>
                        <a:ea typeface="Cambria Math"/>
                      </a:rPr>
                      <m:t>∀</m:t>
                    </m:r>
                    <m:r>
                      <a:rPr lang="en-US" sz="2400" b="0" i="1" smtClean="0">
                        <a:solidFill>
                          <a:schemeClr val="bg1"/>
                        </a:solidFill>
                        <a:latin typeface="Cambria Math"/>
                        <a:ea typeface="Cambria Math"/>
                      </a:rPr>
                      <m:t>𝑎</m:t>
                    </m:r>
                    <m:r>
                      <m:rPr>
                        <m:nor/>
                      </m:rPr>
                      <a:rPr lang="en-US" sz="2400" dirty="0">
                        <a:solidFill>
                          <a:schemeClr val="bg1"/>
                        </a:solidFill>
                        <a:latin typeface="Tw Cen MT" panose="020B0602020104020603" pitchFamily="34" charset="0"/>
                        <a:ea typeface="Cambria Math"/>
                      </a:rPr>
                      <m:t>∈ </m:t>
                    </m:r>
                    <m:r>
                      <m:rPr>
                        <m:nor/>
                      </m:rPr>
                      <a:rPr lang="en-US" sz="2400" dirty="0">
                        <a:solidFill>
                          <a:schemeClr val="bg1"/>
                        </a:solidFill>
                        <a:latin typeface="Tw Cen MT" panose="020B0602020104020603" pitchFamily="34" charset="0"/>
                        <a:ea typeface="Cambria Math"/>
                      </a:rPr>
                      <m:t>G</m:t>
                    </m:r>
                    <m:r>
                      <a:rPr lang="en-US" sz="2400" b="0" i="1" dirty="0" smtClean="0">
                        <a:solidFill>
                          <a:schemeClr val="bg1"/>
                        </a:solidFill>
                        <a:latin typeface="Cambria Math"/>
                        <a:ea typeface="Cambria Math"/>
                      </a:rPr>
                      <m:t> , </m:t>
                    </m:r>
                    <m:r>
                      <a:rPr lang="en-US" sz="2400" i="1" smtClean="0">
                        <a:solidFill>
                          <a:schemeClr val="bg1"/>
                        </a:solidFill>
                        <a:latin typeface="Cambria Math"/>
                        <a:ea typeface="Cambria Math"/>
                      </a:rPr>
                      <m:t>∃</m:t>
                    </m:r>
                  </m:oMath>
                </a14:m>
                <a:r>
                  <a:rPr lang="en-US" sz="2400" dirty="0">
                    <a:solidFill>
                      <a:schemeClr val="bg1"/>
                    </a:solidFill>
                    <a:latin typeface="Tw Cen MT" panose="020B0602020104020603" pitchFamily="34" charset="0"/>
                    <a:ea typeface="Cambria Math"/>
                  </a:rPr>
                  <a:t> a’  called the identity element , such that, </a:t>
                </a:r>
                <a:r>
                  <a:rPr lang="en-US" sz="2400" dirty="0" err="1">
                    <a:solidFill>
                      <a:schemeClr val="bg1"/>
                    </a:solidFill>
                    <a:latin typeface="Tw Cen MT" panose="020B0602020104020603" pitchFamily="34" charset="0"/>
                    <a:ea typeface="Cambria Math"/>
                  </a:rPr>
                  <a:t>e.a</a:t>
                </a:r>
                <a:r>
                  <a:rPr lang="en-US" sz="2400" dirty="0">
                    <a:solidFill>
                      <a:schemeClr val="bg1"/>
                    </a:solidFill>
                    <a:latin typeface="Tw Cen MT" panose="020B0602020104020603" pitchFamily="34" charset="0"/>
                    <a:ea typeface="Cambria Math"/>
                  </a:rPr>
                  <a:t>.=</a:t>
                </a:r>
                <a:r>
                  <a:rPr lang="en-US" sz="2400" dirty="0" err="1">
                    <a:solidFill>
                      <a:schemeClr val="bg1"/>
                    </a:solidFill>
                    <a:latin typeface="Tw Cen MT" panose="020B0602020104020603" pitchFamily="34" charset="0"/>
                    <a:ea typeface="Cambria Math"/>
                  </a:rPr>
                  <a:t>a.e</a:t>
                </a:r>
                <a:r>
                  <a:rPr lang="en-US" sz="2400" dirty="0">
                    <a:solidFill>
                      <a:schemeClr val="bg1"/>
                    </a:solidFill>
                    <a:latin typeface="Tw Cen MT" panose="020B0602020104020603" pitchFamily="34" charset="0"/>
                    <a:ea typeface="Cambria Math"/>
                  </a:rPr>
                  <a:t>=a</a:t>
                </a:r>
                <a:endParaRPr lang="en-US" sz="2400" baseline="0" dirty="0">
                  <a:solidFill>
                    <a:schemeClr val="bg1"/>
                  </a:solidFill>
                  <a:latin typeface="Tw Cen MT" panose="020B0602020104020603" pitchFamily="34" charset="0"/>
                </a:endParaRPr>
              </a:p>
            </p:txBody>
          </p:sp>
        </mc:Choice>
        <mc:Fallback xmlns="">
          <p:sp>
            <p:nvSpPr>
              <p:cNvPr id="10" name="Rectangle 15"/>
              <p:cNvSpPr>
                <a:spLocks noRot="1" noChangeAspect="1" noMove="1" noResize="1" noEditPoints="1" noAdjustHandles="1" noChangeArrowheads="1" noChangeShapeType="1" noTextEdit="1"/>
              </p:cNvSpPr>
              <p:nvPr/>
            </p:nvSpPr>
            <p:spPr bwMode="auto">
              <a:xfrm>
                <a:off x="590550" y="4223207"/>
                <a:ext cx="7696200" cy="830997"/>
              </a:xfrm>
              <a:prstGeom prst="rect">
                <a:avLst/>
              </a:prstGeom>
              <a:blipFill rotWithShape="0">
                <a:blip r:embed="rId3"/>
                <a:stretch>
                  <a:fillRect l="-1268" t="-6618" r="-1189" b="-16176"/>
                </a:stretch>
              </a:blipFill>
              <a:ln w="9525">
                <a:noFill/>
                <a:miter lim="800000"/>
                <a:headEnd/>
                <a:tailEn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Rectangle 16"/>
              <p:cNvSpPr>
                <a:spLocks noChangeArrowheads="1"/>
              </p:cNvSpPr>
              <p:nvPr/>
            </p:nvSpPr>
            <p:spPr bwMode="auto">
              <a:xfrm>
                <a:off x="625765" y="5200471"/>
                <a:ext cx="7696200" cy="1200329"/>
              </a:xfrm>
              <a:prstGeom prst="rect">
                <a:avLst/>
              </a:prstGeom>
              <a:noFill/>
              <a:ln w="9525">
                <a:noFill/>
                <a:miter lim="800000"/>
                <a:headEnd/>
                <a:tailEnd/>
              </a:ln>
            </p:spPr>
            <p:txBody>
              <a:bodyPr wrap="square" anchor="ctr">
                <a:spAutoFit/>
              </a:bodyPr>
              <a:lstStyle/>
              <a:p>
                <a:pPr algn="just"/>
                <a:r>
                  <a:rPr lang="en-US" sz="2400" baseline="0" dirty="0">
                    <a:solidFill>
                      <a:schemeClr val="bg1"/>
                    </a:solidFill>
                    <a:latin typeface="Tw Cen MT" panose="020B0602020104020603" pitchFamily="34" charset="0"/>
                  </a:rPr>
                  <a:t>❏ Existence of inverse:</a:t>
                </a:r>
                <a14:m>
                  <m:oMath xmlns:m="http://schemas.openxmlformats.org/officeDocument/2006/math">
                    <m:r>
                      <a:rPr lang="en-US" sz="2400" b="0" i="0" smtClean="0">
                        <a:solidFill>
                          <a:schemeClr val="bg1"/>
                        </a:solidFill>
                        <a:latin typeface="Cambria Math"/>
                        <a:ea typeface="Cambria Math"/>
                      </a:rPr>
                      <m:t> </m:t>
                    </m:r>
                    <m:r>
                      <a:rPr lang="en-US" sz="2400" i="1">
                        <a:solidFill>
                          <a:schemeClr val="bg1"/>
                        </a:solidFill>
                        <a:latin typeface="Cambria Math"/>
                        <a:ea typeface="Cambria Math"/>
                      </a:rPr>
                      <m:t>∀</m:t>
                    </m:r>
                    <m:r>
                      <a:rPr lang="en-US" sz="2400" i="1">
                        <a:solidFill>
                          <a:schemeClr val="bg1"/>
                        </a:solidFill>
                        <a:latin typeface="Cambria Math"/>
                        <a:ea typeface="Cambria Math"/>
                      </a:rPr>
                      <m:t>𝑎</m:t>
                    </m:r>
                    <m:r>
                      <m:rPr>
                        <m:nor/>
                      </m:rPr>
                      <a:rPr lang="en-US" sz="2400" dirty="0">
                        <a:solidFill>
                          <a:schemeClr val="bg1"/>
                        </a:solidFill>
                        <a:latin typeface="Tw Cen MT" panose="020B0602020104020603" pitchFamily="34" charset="0"/>
                        <a:ea typeface="Cambria Math"/>
                      </a:rPr>
                      <m:t>∈ </m:t>
                    </m:r>
                    <m:r>
                      <m:rPr>
                        <m:nor/>
                      </m:rPr>
                      <a:rPr lang="en-US" sz="2400" dirty="0">
                        <a:solidFill>
                          <a:schemeClr val="bg1"/>
                        </a:solidFill>
                        <a:latin typeface="Tw Cen MT" panose="020B0602020104020603" pitchFamily="34" charset="0"/>
                        <a:ea typeface="Cambria Math"/>
                      </a:rPr>
                      <m:t>G</m:t>
                    </m:r>
                    <m:r>
                      <a:rPr lang="en-US" sz="2400" i="1" dirty="0">
                        <a:solidFill>
                          <a:schemeClr val="bg1"/>
                        </a:solidFill>
                        <a:latin typeface="Cambria Math"/>
                        <a:ea typeface="Cambria Math"/>
                      </a:rPr>
                      <m:t> , </m:t>
                    </m:r>
                    <m:r>
                      <a:rPr lang="en-US" sz="2400" i="1">
                        <a:solidFill>
                          <a:schemeClr val="bg1"/>
                        </a:solidFill>
                        <a:latin typeface="Cambria Math"/>
                        <a:ea typeface="Cambria Math"/>
                      </a:rPr>
                      <m:t>∃</m:t>
                    </m:r>
                  </m:oMath>
                </a14:m>
                <a:r>
                  <a:rPr lang="en-US" sz="2400" dirty="0">
                    <a:solidFill>
                      <a:schemeClr val="bg1"/>
                    </a:solidFill>
                    <a:latin typeface="Tw Cen MT" panose="020B0602020104020603" pitchFamily="34" charset="0"/>
                    <a:ea typeface="Cambria Math"/>
                  </a:rPr>
                  <a:t> a’  called the identity element , such that, </a:t>
                </a:r>
                <a:r>
                  <a:rPr lang="en-US" sz="2400" dirty="0" err="1">
                    <a:solidFill>
                      <a:schemeClr val="bg1"/>
                    </a:solidFill>
                    <a:latin typeface="Tw Cen MT" panose="020B0602020104020603" pitchFamily="34" charset="0"/>
                    <a:ea typeface="Cambria Math"/>
                  </a:rPr>
                  <a:t>a.a</a:t>
                </a:r>
                <a:r>
                  <a:rPr lang="en-US" sz="2400" dirty="0">
                    <a:solidFill>
                      <a:schemeClr val="bg1"/>
                    </a:solidFill>
                    <a:latin typeface="Tw Cen MT" panose="020B0602020104020603" pitchFamily="34" charset="0"/>
                    <a:ea typeface="Cambria Math"/>
                  </a:rPr>
                  <a:t>’=</a:t>
                </a:r>
                <a:r>
                  <a:rPr lang="en-US" sz="2400" dirty="0" err="1">
                    <a:solidFill>
                      <a:schemeClr val="bg1"/>
                    </a:solidFill>
                    <a:latin typeface="Tw Cen MT" panose="020B0602020104020603" pitchFamily="34" charset="0"/>
                    <a:ea typeface="Cambria Math"/>
                  </a:rPr>
                  <a:t>a’.a</a:t>
                </a:r>
                <a:r>
                  <a:rPr lang="en-US" sz="2400" dirty="0">
                    <a:solidFill>
                      <a:schemeClr val="bg1"/>
                    </a:solidFill>
                    <a:latin typeface="Tw Cen MT" panose="020B0602020104020603" pitchFamily="34" charset="0"/>
                    <a:ea typeface="Cambria Math"/>
                  </a:rPr>
                  <a:t>=e</a:t>
                </a:r>
                <a:endParaRPr lang="en-US" sz="2400" dirty="0">
                  <a:solidFill>
                    <a:schemeClr val="bg1"/>
                  </a:solidFill>
                  <a:latin typeface="Tw Cen MT" panose="020B0602020104020603" pitchFamily="34" charset="0"/>
                </a:endParaRPr>
              </a:p>
              <a:p>
                <a:pPr algn="just" eaLnBrk="1" hangingPunct="1"/>
                <a:endParaRPr lang="en-US" sz="2400" baseline="0" dirty="0">
                  <a:solidFill>
                    <a:schemeClr val="bg1"/>
                  </a:solidFill>
                  <a:latin typeface="Tw Cen MT" panose="020B0602020104020603" pitchFamily="34" charset="0"/>
                </a:endParaRPr>
              </a:p>
            </p:txBody>
          </p:sp>
        </mc:Choice>
        <mc:Fallback xmlns="">
          <p:sp>
            <p:nvSpPr>
              <p:cNvPr id="11" name="Rectangle 16"/>
              <p:cNvSpPr>
                <a:spLocks noRot="1" noChangeAspect="1" noMove="1" noResize="1" noEditPoints="1" noAdjustHandles="1" noChangeArrowheads="1" noChangeShapeType="1" noTextEdit="1"/>
              </p:cNvSpPr>
              <p:nvPr/>
            </p:nvSpPr>
            <p:spPr bwMode="auto">
              <a:xfrm>
                <a:off x="625765" y="5200471"/>
                <a:ext cx="7696200" cy="1200329"/>
              </a:xfrm>
              <a:prstGeom prst="rect">
                <a:avLst/>
              </a:prstGeom>
              <a:blipFill rotWithShape="0">
                <a:blip r:embed="rId4"/>
                <a:stretch>
                  <a:fillRect l="-1268" t="-4061" r="-1189"/>
                </a:stretch>
              </a:blipFill>
              <a:ln w="9525">
                <a:noFill/>
                <a:miter lim="800000"/>
                <a:headEnd/>
                <a:tailEnd/>
              </a:ln>
            </p:spPr>
            <p:txBody>
              <a:bodyPr/>
              <a:lstStyle/>
              <a:p>
                <a:r>
                  <a:rPr lang="en-GB">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 name="Text Box 9"/>
          <p:cNvSpPr txBox="1">
            <a:spLocks noChangeArrowheads="1"/>
          </p:cNvSpPr>
          <p:nvPr/>
        </p:nvSpPr>
        <p:spPr bwMode="auto">
          <a:xfrm>
            <a:off x="0" y="140677"/>
            <a:ext cx="25426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pPr eaLnBrk="0" hangingPunct="0"/>
            <a:r>
              <a:rPr lang="en-US" sz="3200" baseline="0" dirty="0">
                <a:solidFill>
                  <a:srgbClr val="FF0000"/>
                </a:solidFill>
                <a:latin typeface="Tw Cen MT" panose="020B0602020104020603" pitchFamily="34" charset="0"/>
                <a:cs typeface="+mn-cs"/>
              </a:rPr>
              <a:t>     </a:t>
            </a:r>
            <a:r>
              <a:rPr lang="en-US" sz="3200" baseline="0" dirty="0">
                <a:solidFill>
                  <a:srgbClr val="000000"/>
                </a:solidFill>
                <a:latin typeface="Tw Cen MT" panose="020B0602020104020603" pitchFamily="34" charset="0"/>
                <a:cs typeface="+mn-cs"/>
              </a:rPr>
              <a:t>Continued</a:t>
            </a:r>
          </a:p>
        </p:txBody>
      </p:sp>
      <p:sp>
        <p:nvSpPr>
          <p:cNvPr id="9227" name="Text Box 11"/>
          <p:cNvSpPr txBox="1">
            <a:spLocks noChangeArrowheads="1"/>
          </p:cNvSpPr>
          <p:nvPr/>
        </p:nvSpPr>
        <p:spPr bwMode="auto">
          <a:xfrm>
            <a:off x="369277" y="691271"/>
            <a:ext cx="19637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pPr eaLnBrk="0" hangingPunct="0"/>
            <a:r>
              <a:rPr lang="en-US" sz="2800" baseline="0" dirty="0">
                <a:solidFill>
                  <a:srgbClr val="3333CC"/>
                </a:solidFill>
                <a:latin typeface="Tw Cen MT" panose="020B0602020104020603" pitchFamily="34" charset="0"/>
                <a:cs typeface="+mn-cs"/>
              </a:rPr>
              <a:t>Application</a:t>
            </a:r>
            <a:endParaRPr lang="en-US" sz="2800" i="1" baseline="0" dirty="0">
              <a:solidFill>
                <a:srgbClr val="000000"/>
              </a:solidFill>
              <a:latin typeface="Tw Cen MT" panose="020B0602020104020603" pitchFamily="34" charset="0"/>
              <a:cs typeface="+mn-cs"/>
            </a:endParaRPr>
          </a:p>
        </p:txBody>
      </p:sp>
      <p:sp>
        <p:nvSpPr>
          <p:cNvPr id="9228" name="Rectangle 12"/>
          <p:cNvSpPr>
            <a:spLocks noChangeArrowheads="1"/>
          </p:cNvSpPr>
          <p:nvPr/>
        </p:nvSpPr>
        <p:spPr bwMode="auto">
          <a:xfrm>
            <a:off x="152400" y="1143000"/>
            <a:ext cx="88392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r>
              <a:rPr lang="en-US" sz="2800" b="1" dirty="0">
                <a:solidFill>
                  <a:srgbClr val="000000"/>
                </a:solidFill>
                <a:latin typeface="Tw Cen MT" panose="020B0602020104020603" pitchFamily="34" charset="0"/>
                <a:cs typeface="+mn-cs"/>
              </a:rPr>
              <a:t>Although a group involves a single operation, the properties imposed on the operation allow the use of a pair of operations as long as they are inverses of each other. </a:t>
            </a:r>
          </a:p>
        </p:txBody>
      </p:sp>
      <p:sp>
        <p:nvSpPr>
          <p:cNvPr id="9229" name="Rectangle 13"/>
          <p:cNvSpPr>
            <a:spLocks noChangeArrowheads="1"/>
          </p:cNvSpPr>
          <p:nvPr/>
        </p:nvSpPr>
        <p:spPr bwMode="auto">
          <a:xfrm>
            <a:off x="152400" y="4077683"/>
            <a:ext cx="8839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r>
              <a:rPr lang="en-US" sz="2400" b="1" dirty="0">
                <a:solidFill>
                  <a:srgbClr val="000000"/>
                </a:solidFill>
                <a:latin typeface="Tw Cen MT" panose="020B0602020104020603" pitchFamily="34" charset="0"/>
                <a:cs typeface="+mn-cs"/>
              </a:rPr>
              <a:t>The set of residue integers with the addition operator,</a:t>
            </a:r>
          </a:p>
          <a:p>
            <a:pPr algn="just"/>
            <a:r>
              <a:rPr lang="en-US" sz="2400" b="1" dirty="0">
                <a:solidFill>
                  <a:srgbClr val="000000"/>
                </a:solidFill>
                <a:latin typeface="Tw Cen MT" panose="020B0602020104020603" pitchFamily="34" charset="0"/>
                <a:cs typeface="+mn-cs"/>
              </a:rPr>
              <a:t>                                 G = &lt; Z</a:t>
            </a:r>
            <a:r>
              <a:rPr lang="en-US" sz="2400" b="1" i="1" baseline="-18000" dirty="0">
                <a:solidFill>
                  <a:srgbClr val="000000"/>
                </a:solidFill>
                <a:latin typeface="Tw Cen MT" panose="020B0602020104020603" pitchFamily="34" charset="0"/>
                <a:cs typeface="+mn-cs"/>
              </a:rPr>
              <a:t>n</a:t>
            </a:r>
            <a:r>
              <a:rPr lang="en-US" sz="2400" b="1" dirty="0">
                <a:solidFill>
                  <a:srgbClr val="000000"/>
                </a:solidFill>
                <a:latin typeface="Tw Cen MT" panose="020B0602020104020603" pitchFamily="34" charset="0"/>
                <a:cs typeface="+mn-cs"/>
              </a:rPr>
              <a:t> , +&gt;, </a:t>
            </a:r>
          </a:p>
          <a:p>
            <a:pPr algn="just"/>
            <a:r>
              <a:rPr lang="en-US" sz="2400" b="1" dirty="0">
                <a:solidFill>
                  <a:srgbClr val="000000"/>
                </a:solidFill>
                <a:latin typeface="Tw Cen MT" panose="020B0602020104020603" pitchFamily="34" charset="0"/>
                <a:cs typeface="+mn-cs"/>
              </a:rPr>
              <a:t>is a commutative group. We can perform addition and subtraction on the elements of this set without moving out of the set. </a:t>
            </a:r>
          </a:p>
        </p:txBody>
      </p:sp>
      <p:sp>
        <p:nvSpPr>
          <p:cNvPr id="9230" name="Text Box 14"/>
          <p:cNvSpPr txBox="1">
            <a:spLocks noChangeArrowheads="1"/>
          </p:cNvSpPr>
          <p:nvPr/>
        </p:nvSpPr>
        <p:spPr bwMode="auto">
          <a:xfrm>
            <a:off x="188913" y="3581400"/>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pPr eaLnBrk="0" hangingPunct="0"/>
            <a:r>
              <a:rPr lang="en-US" baseline="0" dirty="0">
                <a:solidFill>
                  <a:srgbClr val="FFFFFF"/>
                </a:solidFill>
                <a:cs typeface="+mn-cs"/>
              </a:rPr>
              <a:t>Example </a:t>
            </a:r>
            <a:endParaRPr lang="en-US" sz="2000" i="1" baseline="0" dirty="0">
              <a:solidFill>
                <a:srgbClr val="FFFFFF"/>
              </a:solidFill>
              <a:cs typeface="+mn-cs"/>
            </a:endParaRPr>
          </a:p>
        </p:txBody>
      </p:sp>
    </p:spTree>
    <p:extLst>
      <p:ext uri="{BB962C8B-B14F-4D97-AF65-F5344CB8AC3E}">
        <p14:creationId xmlns:p14="http://schemas.microsoft.com/office/powerpoint/2010/main" val="3074102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93" name="Text Box 9"/>
          <p:cNvSpPr txBox="1">
            <a:spLocks noChangeArrowheads="1"/>
          </p:cNvSpPr>
          <p:nvPr/>
        </p:nvSpPr>
        <p:spPr bwMode="auto">
          <a:xfrm>
            <a:off x="552157" y="225083"/>
            <a:ext cx="18085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baseline="0" dirty="0">
                <a:latin typeface="Tw Cen MT" panose="020B0602020104020603" pitchFamily="34" charset="0"/>
              </a:rPr>
              <a:t>Continued</a:t>
            </a:r>
          </a:p>
        </p:txBody>
      </p:sp>
      <p:sp>
        <p:nvSpPr>
          <p:cNvPr id="1040394" name="Rectangle 10"/>
          <p:cNvSpPr>
            <a:spLocks noChangeArrowheads="1"/>
          </p:cNvSpPr>
          <p:nvPr/>
        </p:nvSpPr>
        <p:spPr bwMode="auto">
          <a:xfrm>
            <a:off x="152400" y="1459339"/>
            <a:ext cx="8839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baseline="0">
                <a:latin typeface="Tw Cen MT" panose="020B0602020104020603" pitchFamily="34" charset="0"/>
              </a:rPr>
              <a:t>The set Z</a:t>
            </a:r>
            <a:r>
              <a:rPr lang="en-US" sz="2400" i="1">
                <a:latin typeface="Tw Cen MT" panose="020B0602020104020603" pitchFamily="34" charset="0"/>
              </a:rPr>
              <a:t>n</a:t>
            </a:r>
            <a:r>
              <a:rPr lang="en-US" sz="2400" baseline="0">
                <a:latin typeface="Tw Cen MT" panose="020B0602020104020603" pitchFamily="34" charset="0"/>
              </a:rPr>
              <a:t>* with the multiplication operator, G = &lt;Z</a:t>
            </a:r>
            <a:r>
              <a:rPr lang="en-US" sz="2400" i="1">
                <a:latin typeface="Tw Cen MT" panose="020B0602020104020603" pitchFamily="34" charset="0"/>
              </a:rPr>
              <a:t>n</a:t>
            </a:r>
            <a:r>
              <a:rPr lang="en-US" sz="2400" baseline="0">
                <a:latin typeface="Tw Cen MT" panose="020B0602020104020603" pitchFamily="34" charset="0"/>
              </a:rPr>
              <a:t>*, ×&gt;, is also an abelian group. </a:t>
            </a:r>
          </a:p>
        </p:txBody>
      </p:sp>
      <p:sp>
        <p:nvSpPr>
          <p:cNvPr id="1040395" name="Text Box 11"/>
          <p:cNvSpPr txBox="1">
            <a:spLocks noChangeArrowheads="1"/>
          </p:cNvSpPr>
          <p:nvPr/>
        </p:nvSpPr>
        <p:spPr bwMode="auto">
          <a:xfrm>
            <a:off x="228600" y="1052513"/>
            <a:ext cx="1239442"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aseline="0" dirty="0">
                <a:solidFill>
                  <a:schemeClr val="bg1"/>
                </a:solidFill>
                <a:latin typeface="Tw Cen MT" panose="020B0602020104020603" pitchFamily="34" charset="0"/>
              </a:rPr>
              <a:t>Example</a:t>
            </a:r>
            <a:endParaRPr lang="en-US" sz="2400" i="1" baseline="0" dirty="0">
              <a:solidFill>
                <a:schemeClr val="bg1"/>
              </a:solidFill>
              <a:latin typeface="Tw Cen MT" panose="020B0602020104020603" pitchFamily="34" charset="0"/>
            </a:endParaRPr>
          </a:p>
        </p:txBody>
      </p:sp>
      <p:sp>
        <p:nvSpPr>
          <p:cNvPr id="1040402" name="Rectangle 18"/>
          <p:cNvSpPr>
            <a:spLocks noChangeArrowheads="1"/>
          </p:cNvSpPr>
          <p:nvPr/>
        </p:nvSpPr>
        <p:spPr bwMode="auto">
          <a:xfrm>
            <a:off x="152400" y="2983339"/>
            <a:ext cx="8839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baseline="0" dirty="0">
                <a:latin typeface="Tw Cen MT" panose="020B0602020104020603" pitchFamily="34" charset="0"/>
              </a:rPr>
              <a:t>Let us define a set G = &lt; {</a:t>
            </a:r>
            <a:r>
              <a:rPr lang="en-US" sz="2400" i="1" baseline="0" dirty="0">
                <a:latin typeface="Tw Cen MT" panose="020B0602020104020603" pitchFamily="34" charset="0"/>
              </a:rPr>
              <a:t>a</a:t>
            </a:r>
            <a:r>
              <a:rPr lang="en-US" sz="2400" baseline="0" dirty="0">
                <a:latin typeface="Tw Cen MT" panose="020B0602020104020603" pitchFamily="34" charset="0"/>
              </a:rPr>
              <a:t>, </a:t>
            </a:r>
            <a:r>
              <a:rPr lang="en-US" sz="2400" i="1" baseline="0" dirty="0">
                <a:latin typeface="Tw Cen MT" panose="020B0602020104020603" pitchFamily="34" charset="0"/>
              </a:rPr>
              <a:t>b</a:t>
            </a:r>
            <a:r>
              <a:rPr lang="en-US" sz="2400" baseline="0" dirty="0">
                <a:latin typeface="Tw Cen MT" panose="020B0602020104020603" pitchFamily="34" charset="0"/>
              </a:rPr>
              <a:t>, </a:t>
            </a:r>
            <a:r>
              <a:rPr lang="en-US" sz="2400" i="1" baseline="0" dirty="0">
                <a:latin typeface="Tw Cen MT" panose="020B0602020104020603" pitchFamily="34" charset="0"/>
              </a:rPr>
              <a:t>c</a:t>
            </a:r>
            <a:r>
              <a:rPr lang="en-US" sz="2400" baseline="0" dirty="0">
                <a:latin typeface="Tw Cen MT" panose="020B0602020104020603" pitchFamily="34" charset="0"/>
              </a:rPr>
              <a:t>, </a:t>
            </a:r>
            <a:r>
              <a:rPr lang="en-US" sz="2400" i="1" baseline="0" dirty="0">
                <a:latin typeface="Tw Cen MT" panose="020B0602020104020603" pitchFamily="34" charset="0"/>
              </a:rPr>
              <a:t>d</a:t>
            </a:r>
            <a:r>
              <a:rPr lang="en-US" sz="2400" baseline="0" dirty="0">
                <a:latin typeface="Tw Cen MT" panose="020B0602020104020603" pitchFamily="34" charset="0"/>
              </a:rPr>
              <a:t>}, •&gt; and the operation as shown in Table </a:t>
            </a:r>
          </a:p>
        </p:txBody>
      </p:sp>
      <p:sp>
        <p:nvSpPr>
          <p:cNvPr id="1040403" name="Text Box 19"/>
          <p:cNvSpPr txBox="1">
            <a:spLocks noChangeArrowheads="1"/>
          </p:cNvSpPr>
          <p:nvPr/>
        </p:nvSpPr>
        <p:spPr bwMode="auto">
          <a:xfrm>
            <a:off x="228600" y="2438400"/>
            <a:ext cx="1239442"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aseline="0" dirty="0">
                <a:solidFill>
                  <a:schemeClr val="bg1"/>
                </a:solidFill>
                <a:latin typeface="Tw Cen MT" panose="020B0602020104020603" pitchFamily="34" charset="0"/>
              </a:rPr>
              <a:t>Example</a:t>
            </a:r>
            <a:endParaRPr lang="en-US" sz="2400" i="1" baseline="0" dirty="0">
              <a:solidFill>
                <a:schemeClr val="bg1"/>
              </a:solidFill>
              <a:latin typeface="Tw Cen MT" panose="020B0602020104020603" pitchFamily="34" charset="0"/>
            </a:endParaRPr>
          </a:p>
        </p:txBody>
      </p:sp>
      <p:pic>
        <p:nvPicPr>
          <p:cNvPr id="1040404" name="Picture 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8738" y="3786188"/>
            <a:ext cx="4259262" cy="192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4104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3428970" y="518425"/>
            <a:ext cx="1689886" cy="646331"/>
          </a:xfrm>
          <a:prstGeom prst="rect">
            <a:avLst/>
          </a:prstGeom>
          <a:noFill/>
          <a:ln w="9525">
            <a:noFill/>
            <a:miter lim="800000"/>
            <a:headEnd/>
            <a:tailEnd/>
          </a:ln>
          <a:effectLst/>
        </p:spPr>
        <p:txBody>
          <a:bodyPr wrap="none">
            <a:spAutoFit/>
          </a:bodyPr>
          <a:lstStyle/>
          <a:p>
            <a:pPr algn="ctr">
              <a:defRPr/>
            </a:pPr>
            <a:r>
              <a:rPr lang="en-US" sz="3200" baseline="0" dirty="0">
                <a:solidFill>
                  <a:srgbClr val="000000"/>
                </a:solidFill>
                <a:effectLst>
                  <a:outerShdw blurRad="38100" dist="38100" dir="2700000" algn="tl">
                    <a:srgbClr val="C0C0C0"/>
                  </a:outerShdw>
                </a:effectLst>
                <a:latin typeface="Times" pitchFamily="18" charset="0"/>
              </a:rPr>
              <a:t>   </a:t>
            </a:r>
            <a:r>
              <a:rPr lang="en-US" sz="3600" b="1" baseline="0" dirty="0">
                <a:solidFill>
                  <a:srgbClr val="0000CC"/>
                </a:solidFill>
                <a:latin typeface="Tw Cen MT" panose="020B0602020104020603" pitchFamily="34" charset="0"/>
              </a:rPr>
              <a:t>Group</a:t>
            </a:r>
          </a:p>
        </p:txBody>
      </p:sp>
      <p:sp>
        <p:nvSpPr>
          <p:cNvPr id="5125"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sz="1800" baseline="0">
              <a:solidFill>
                <a:srgbClr val="000000"/>
              </a:solidFill>
            </a:endParaRPr>
          </a:p>
        </p:txBody>
      </p:sp>
      <p:sp>
        <p:nvSpPr>
          <p:cNvPr id="2" name="Rectangle 1"/>
          <p:cNvSpPr/>
          <p:nvPr/>
        </p:nvSpPr>
        <p:spPr>
          <a:xfrm>
            <a:off x="593771" y="1365072"/>
            <a:ext cx="8263625" cy="3970318"/>
          </a:xfrm>
          <a:prstGeom prst="rect">
            <a:avLst/>
          </a:prstGeom>
        </p:spPr>
        <p:txBody>
          <a:bodyPr wrap="square">
            <a:spAutoFit/>
          </a:bodyPr>
          <a:lstStyle/>
          <a:p>
            <a:pPr algn="just">
              <a:lnSpc>
                <a:spcPct val="150000"/>
              </a:lnSpc>
            </a:pPr>
            <a:r>
              <a:rPr lang="en-US" sz="2800" b="1" dirty="0" err="1">
                <a:solidFill>
                  <a:srgbClr val="063CE8"/>
                </a:solidFill>
                <a:latin typeface="Tw Cen MT" panose="020B0602020104020603" pitchFamily="34" charset="0"/>
              </a:rPr>
              <a:t>Abelian</a:t>
            </a:r>
            <a:r>
              <a:rPr lang="en-US" sz="2800" b="1" dirty="0">
                <a:solidFill>
                  <a:srgbClr val="063CE8"/>
                </a:solidFill>
                <a:latin typeface="Tw Cen MT" panose="020B0602020104020603" pitchFamily="34" charset="0"/>
              </a:rPr>
              <a:t> Group</a:t>
            </a:r>
            <a:r>
              <a:rPr lang="en-US" sz="2800" dirty="0">
                <a:solidFill>
                  <a:srgbClr val="000000"/>
                </a:solidFill>
                <a:latin typeface="Tw Cen MT" panose="020B0602020104020603" pitchFamily="34" charset="0"/>
              </a:rPr>
              <a:t>:  A </a:t>
            </a:r>
            <a:r>
              <a:rPr lang="en-US" sz="2800" b="1" dirty="0">
                <a:solidFill>
                  <a:srgbClr val="000000"/>
                </a:solidFill>
                <a:latin typeface="Tw Cen MT" panose="020B0602020104020603" pitchFamily="34" charset="0"/>
              </a:rPr>
              <a:t>commutative group </a:t>
            </a:r>
            <a:r>
              <a:rPr lang="en-US" sz="2800" dirty="0">
                <a:solidFill>
                  <a:srgbClr val="000000"/>
                </a:solidFill>
                <a:latin typeface="Tw Cen MT" panose="020B0602020104020603" pitchFamily="34" charset="0"/>
              </a:rPr>
              <a:t>also called an </a:t>
            </a:r>
            <a:r>
              <a:rPr lang="en-US" sz="2800" b="1" dirty="0" err="1">
                <a:solidFill>
                  <a:srgbClr val="000000"/>
                </a:solidFill>
                <a:latin typeface="Tw Cen MT" panose="020B0602020104020603" pitchFamily="34" charset="0"/>
              </a:rPr>
              <a:t>abelian</a:t>
            </a:r>
            <a:r>
              <a:rPr lang="en-US" sz="2800" b="1" dirty="0">
                <a:solidFill>
                  <a:srgbClr val="000000"/>
                </a:solidFill>
                <a:latin typeface="Tw Cen MT" panose="020B0602020104020603" pitchFamily="34" charset="0"/>
              </a:rPr>
              <a:t> group</a:t>
            </a:r>
            <a:r>
              <a:rPr lang="en-US" sz="2800" dirty="0">
                <a:solidFill>
                  <a:srgbClr val="000000"/>
                </a:solidFill>
                <a:latin typeface="Tw Cen MT" panose="020B0602020104020603" pitchFamily="34" charset="0"/>
              </a:rPr>
              <a:t>, is a group in which the operator  satisfies the four properties  for groups plus an extra property , </a:t>
            </a:r>
            <a:r>
              <a:rPr lang="en-US" sz="2800" dirty="0" err="1">
                <a:solidFill>
                  <a:srgbClr val="000000"/>
                </a:solidFill>
                <a:latin typeface="Tw Cen MT" panose="020B0602020104020603" pitchFamily="34" charset="0"/>
              </a:rPr>
              <a:t>commutativity</a:t>
            </a:r>
            <a:r>
              <a:rPr lang="en-US" sz="2800" dirty="0">
                <a:solidFill>
                  <a:srgbClr val="000000"/>
                </a:solidFill>
                <a:latin typeface="Tw Cen MT" panose="020B0602020104020603" pitchFamily="34" charset="0"/>
              </a:rPr>
              <a:t>. </a:t>
            </a:r>
          </a:p>
          <a:p>
            <a:pPr marL="342900" indent="-342900" algn="just">
              <a:lnSpc>
                <a:spcPct val="150000"/>
              </a:lnSpc>
              <a:buFont typeface="Wingdings" pitchFamily="2" charset="2"/>
              <a:buChar char="q"/>
            </a:pPr>
            <a:r>
              <a:rPr lang="en-US" sz="2800" dirty="0" err="1">
                <a:solidFill>
                  <a:srgbClr val="000000"/>
                </a:solidFill>
                <a:latin typeface="Tw Cen MT" panose="020B0602020104020603" pitchFamily="34" charset="0"/>
              </a:rPr>
              <a:t>a.b</a:t>
            </a:r>
            <a:r>
              <a:rPr lang="en-US" sz="2800" dirty="0">
                <a:solidFill>
                  <a:srgbClr val="000000"/>
                </a:solidFill>
                <a:latin typeface="Tw Cen MT" panose="020B0602020104020603" pitchFamily="34" charset="0"/>
              </a:rPr>
              <a:t> = </a:t>
            </a:r>
            <a:r>
              <a:rPr lang="en-US" sz="2800" dirty="0" err="1">
                <a:solidFill>
                  <a:srgbClr val="000000"/>
                </a:solidFill>
                <a:latin typeface="Tw Cen MT" panose="020B0602020104020603" pitchFamily="34" charset="0"/>
              </a:rPr>
              <a:t>b.a</a:t>
            </a:r>
            <a:r>
              <a:rPr lang="en-US" sz="2800" dirty="0">
                <a:solidFill>
                  <a:srgbClr val="000000"/>
                </a:solidFill>
                <a:latin typeface="Tw Cen MT" panose="020B0602020104020603" pitchFamily="34" charset="0"/>
              </a:rPr>
              <a:t> </a:t>
            </a:r>
          </a:p>
          <a:p>
            <a:pPr marL="342900" indent="-342900" algn="just">
              <a:lnSpc>
                <a:spcPct val="150000"/>
              </a:lnSpc>
              <a:buFont typeface="Wingdings" pitchFamily="2" charset="2"/>
              <a:buChar char="q"/>
            </a:pPr>
            <a:r>
              <a:rPr lang="en-US" sz="2800" dirty="0">
                <a:solidFill>
                  <a:srgbClr val="000000"/>
                </a:solidFill>
                <a:latin typeface="Tw Cen MT" panose="020B0602020104020603" pitchFamily="34" charset="0"/>
              </a:rPr>
              <a:t>Example: Z8, + modular addition, identity =0 </a:t>
            </a:r>
          </a:p>
        </p:txBody>
      </p:sp>
    </p:spTree>
    <p:extLst>
      <p:ext uri="{BB962C8B-B14F-4D97-AF65-F5344CB8AC3E}">
        <p14:creationId xmlns:p14="http://schemas.microsoft.com/office/powerpoint/2010/main" val="3549528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610507" y="163349"/>
            <a:ext cx="3490748" cy="1077218"/>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effectLst>
                  <a:outerShdw blurRad="38100" dist="38100" dir="2700000" algn="tl">
                    <a:srgbClr val="C0C0C0"/>
                  </a:outerShdw>
                </a:effectLst>
                <a:latin typeface="Times" pitchFamily="18" charset="0"/>
              </a:rPr>
              <a:t>   </a:t>
            </a:r>
            <a:r>
              <a:rPr lang="en-US" sz="3200" b="1" dirty="0">
                <a:solidFill>
                  <a:srgbClr val="0000CC"/>
                </a:solidFill>
                <a:latin typeface="Tw Cen MT" panose="020B0602020104020603" pitchFamily="34" charset="0"/>
                <a:ea typeface="ＭＳ Ｐゴシック" pitchFamily="34" charset="-128"/>
              </a:rPr>
              <a:t>Group (cont.)</a:t>
            </a:r>
          </a:p>
          <a:p>
            <a:pPr algn="ctr">
              <a:defRPr/>
            </a:pPr>
            <a:endParaRPr lang="en-US" sz="3200" b="1" baseline="0" dirty="0">
              <a:solidFill>
                <a:schemeClr val="bg1"/>
              </a:solidFill>
              <a:latin typeface="Bookman Old Style" pitchFamily="18" charset="0"/>
            </a:endParaRPr>
          </a:p>
        </p:txBody>
      </p:sp>
      <p:sp>
        <p:nvSpPr>
          <p:cNvPr id="12" name="Rectangle 10"/>
          <p:cNvSpPr>
            <a:spLocks noChangeArrowheads="1"/>
          </p:cNvSpPr>
          <p:nvPr/>
        </p:nvSpPr>
        <p:spPr bwMode="auto">
          <a:xfrm>
            <a:off x="362605" y="725999"/>
            <a:ext cx="8261131" cy="1938992"/>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Gill Sans MT" pitchFamily="34" charset="0"/>
              </a:rPr>
              <a:t>In a group the elements in the set </a:t>
            </a:r>
            <a:r>
              <a:rPr kumimoji="0" lang="en-US" sz="2400" b="0" i="0" u="none" strike="noStrike" kern="0" cap="none" spc="0" normalizeH="0" baseline="0" noProof="0" dirty="0">
                <a:ln>
                  <a:noFill/>
                </a:ln>
                <a:solidFill>
                  <a:srgbClr val="FF0000"/>
                </a:solidFill>
                <a:effectLst/>
                <a:uLnTx/>
                <a:uFillTx/>
                <a:latin typeface="Gill Sans MT" pitchFamily="34" charset="0"/>
              </a:rPr>
              <a:t>do not have to be numbers. The can be, rules, mappings, functions or even </a:t>
            </a:r>
            <a:r>
              <a:rPr lang="en-US" sz="2400" kern="0" dirty="0">
                <a:solidFill>
                  <a:srgbClr val="FF0000"/>
                </a:solidFill>
                <a:latin typeface="Gill Sans MT" pitchFamily="34" charset="0"/>
              </a:rPr>
              <a:t>a</a:t>
            </a:r>
            <a:r>
              <a:rPr kumimoji="0" lang="en-US" sz="2400" b="0" i="0" u="none" strike="noStrike" kern="0" cap="none" spc="0" normalizeH="0" baseline="0" noProof="0" dirty="0" err="1">
                <a:ln>
                  <a:noFill/>
                </a:ln>
                <a:solidFill>
                  <a:srgbClr val="FF0000"/>
                </a:solidFill>
                <a:effectLst/>
                <a:uLnTx/>
                <a:uFillTx/>
                <a:latin typeface="Gill Sans MT" pitchFamily="34" charset="0"/>
              </a:rPr>
              <a:t>ctions</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A very interesting group is the permutation group. The set is the set of all permutations, and the operation is composition: applying one permutation after another. </a:t>
            </a:r>
          </a:p>
        </p:txBody>
      </p:sp>
      <p:pic>
        <p:nvPicPr>
          <p:cNvPr id="13" name="Picture 12"/>
          <p:cNvPicPr>
            <a:picLocks noChangeAspect="1" noChangeArrowheads="1"/>
          </p:cNvPicPr>
          <p:nvPr/>
        </p:nvPicPr>
        <p:blipFill>
          <a:blip r:embed="rId3"/>
          <a:srcRect/>
          <a:stretch>
            <a:fillRect/>
          </a:stretch>
        </p:blipFill>
        <p:spPr bwMode="auto">
          <a:xfrm>
            <a:off x="1981200" y="3352800"/>
            <a:ext cx="5786438" cy="2716213"/>
          </a:xfrm>
          <a:prstGeom prst="rect">
            <a:avLst/>
          </a:prstGeom>
          <a:noFill/>
          <a:ln w="9525">
            <a:noFill/>
            <a:miter lim="800000"/>
            <a:headEnd/>
            <a:tailEnd/>
          </a:ln>
        </p:spPr>
      </p:pic>
      <p:sp>
        <p:nvSpPr>
          <p:cNvPr id="19" name="Text Box 13"/>
          <p:cNvSpPr txBox="1">
            <a:spLocks noChangeArrowheads="1"/>
          </p:cNvSpPr>
          <p:nvPr/>
        </p:nvSpPr>
        <p:spPr bwMode="auto">
          <a:xfrm>
            <a:off x="1799897" y="2635469"/>
            <a:ext cx="4235455" cy="400110"/>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333CC"/>
                </a:solidFill>
                <a:effectLst/>
                <a:uLnTx/>
                <a:uFillTx/>
              </a:rPr>
              <a:t>Figure   </a:t>
            </a:r>
            <a:r>
              <a:rPr kumimoji="0" lang="en-US" sz="2000" b="0" i="1" u="none" strike="noStrike" kern="0" cap="none" spc="0" normalizeH="0" baseline="0" noProof="0" dirty="0">
                <a:ln>
                  <a:noFill/>
                </a:ln>
                <a:solidFill>
                  <a:sysClr val="windowText" lastClr="000000"/>
                </a:solidFill>
                <a:effectLst/>
                <a:uLnTx/>
                <a:uFillTx/>
              </a:rPr>
              <a:t>Composition of permutation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 name="Text Box 11"/>
          <p:cNvSpPr txBox="1">
            <a:spLocks noChangeArrowheads="1"/>
          </p:cNvSpPr>
          <p:nvPr/>
        </p:nvSpPr>
        <p:spPr bwMode="auto">
          <a:xfrm>
            <a:off x="512379" y="1085193"/>
            <a:ext cx="1146468" cy="369332"/>
          </a:xfrm>
          <a:prstGeom prst="rect">
            <a:avLst/>
          </a:prstGeom>
          <a:solidFill>
            <a:srgbClr val="3333CC"/>
          </a:solid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rPr>
              <a:t>Example </a:t>
            </a:r>
            <a:endParaRPr kumimoji="0" lang="en-US" sz="2000" b="0" i="1" u="none" strike="noStrike" kern="0" cap="none" spc="0" normalizeH="0" baseline="0" noProof="0" dirty="0">
              <a:ln>
                <a:noFill/>
              </a:ln>
              <a:solidFill>
                <a:srgbClr val="FFFFFF"/>
              </a:solidFill>
              <a:effectLst/>
              <a:uLnTx/>
              <a:uFillTx/>
            </a:endParaRPr>
          </a:p>
        </p:txBody>
      </p:sp>
      <p:sp>
        <p:nvSpPr>
          <p:cNvPr id="22" name="Text Box 13"/>
          <p:cNvSpPr txBox="1">
            <a:spLocks noChangeArrowheads="1"/>
          </p:cNvSpPr>
          <p:nvPr/>
        </p:nvSpPr>
        <p:spPr bwMode="auto">
          <a:xfrm>
            <a:off x="1480262" y="1820917"/>
            <a:ext cx="6342062" cy="369332"/>
          </a:xfrm>
          <a:prstGeom prst="rect">
            <a:avLst/>
          </a:prstGeom>
          <a:noFill/>
          <a:ln w="9525">
            <a:noFill/>
            <a:miter lim="800000"/>
            <a:headEnd/>
            <a:tailEnd/>
          </a:ln>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333CC"/>
                </a:solidFill>
                <a:effectLst/>
                <a:uLnTx/>
                <a:uFillTx/>
              </a:rPr>
              <a:t>Table   </a:t>
            </a:r>
            <a:r>
              <a:rPr kumimoji="0" lang="en-US" sz="1800" b="0" i="1" u="none" strike="noStrike" kern="0" cap="none" spc="0" normalizeH="0" baseline="0" noProof="0" dirty="0">
                <a:ln>
                  <a:noFill/>
                </a:ln>
                <a:solidFill>
                  <a:sysClr val="windowText" lastClr="000000"/>
                </a:solidFill>
                <a:effectLst/>
                <a:uLnTx/>
                <a:uFillTx/>
              </a:rPr>
              <a:t>Operation table for permutation group</a:t>
            </a:r>
          </a:p>
        </p:txBody>
      </p:sp>
      <p:pic>
        <p:nvPicPr>
          <p:cNvPr id="23" name="Picture 14"/>
          <p:cNvPicPr>
            <a:picLocks noChangeAspect="1" noChangeArrowheads="1"/>
          </p:cNvPicPr>
          <p:nvPr/>
        </p:nvPicPr>
        <p:blipFill>
          <a:blip r:embed="rId3"/>
          <a:srcRect/>
          <a:stretch>
            <a:fillRect/>
          </a:stretch>
        </p:blipFill>
        <p:spPr bwMode="auto">
          <a:xfrm>
            <a:off x="289857" y="2334447"/>
            <a:ext cx="8491537" cy="2728912"/>
          </a:xfrm>
          <a:prstGeom prst="rect">
            <a:avLst/>
          </a:prstGeom>
          <a:noFill/>
          <a:ln w="9525">
            <a:noFill/>
            <a:miter lim="800000"/>
            <a:headEnd/>
            <a:tailEnd/>
          </a:ln>
        </p:spPr>
      </p:pic>
      <p:sp>
        <p:nvSpPr>
          <p:cNvPr id="6" name="Text Box 3"/>
          <p:cNvSpPr txBox="1">
            <a:spLocks noChangeArrowheads="1"/>
          </p:cNvSpPr>
          <p:nvPr/>
        </p:nvSpPr>
        <p:spPr bwMode="auto">
          <a:xfrm>
            <a:off x="2708980" y="360298"/>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effectLst>
                  <a:outerShdw blurRad="38100" dist="38100" dir="2700000" algn="tl">
                    <a:srgbClr val="C0C0C0"/>
                  </a:outerShdw>
                </a:effectLst>
                <a:latin typeface="Times" pitchFamily="18" charset="0"/>
              </a:rPr>
              <a:t>   </a:t>
            </a:r>
            <a:r>
              <a:rPr lang="en-US" sz="3200" b="1" dirty="0">
                <a:solidFill>
                  <a:srgbClr val="0000CC"/>
                </a:solidFill>
                <a:latin typeface="Tw Cen MT" panose="020B0602020104020603" pitchFamily="34" charset="0"/>
                <a:ea typeface="ＭＳ Ｐゴシック" pitchFamily="34" charset="-128"/>
              </a:rPr>
              <a:t>Group (cont.)</a:t>
            </a:r>
            <a:endParaRPr lang="en-US" sz="3200" b="1" baseline="0" dirty="0">
              <a:solidFill>
                <a:schemeClr val="bg1"/>
              </a:solidFill>
              <a:latin typeface="Bookman Old Style"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 name="Text Box 11"/>
          <p:cNvSpPr txBox="1">
            <a:spLocks noChangeArrowheads="1"/>
          </p:cNvSpPr>
          <p:nvPr/>
        </p:nvSpPr>
        <p:spPr bwMode="auto">
          <a:xfrm>
            <a:off x="465083" y="1432035"/>
            <a:ext cx="1146468" cy="369332"/>
          </a:xfrm>
          <a:prstGeom prst="rect">
            <a:avLst/>
          </a:prstGeom>
          <a:solidFill>
            <a:srgbClr val="3333CC"/>
          </a:solid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rPr>
              <a:t>Example </a:t>
            </a:r>
            <a:endParaRPr kumimoji="0" lang="en-US" sz="2000" b="0" i="1" u="none" strike="noStrike" kern="0" cap="none" spc="0" normalizeH="0" baseline="0" noProof="0" dirty="0">
              <a:ln>
                <a:noFill/>
              </a:ln>
              <a:solidFill>
                <a:srgbClr val="FFFFFF"/>
              </a:solidFill>
              <a:effectLst/>
              <a:uLnTx/>
              <a:uFillTx/>
            </a:endParaRPr>
          </a:p>
        </p:txBody>
      </p:sp>
      <p:sp>
        <p:nvSpPr>
          <p:cNvPr id="7" name="Rectangle 10"/>
          <p:cNvSpPr>
            <a:spLocks noChangeArrowheads="1"/>
          </p:cNvSpPr>
          <p:nvPr/>
        </p:nvSpPr>
        <p:spPr bwMode="auto">
          <a:xfrm>
            <a:off x="304800" y="1945572"/>
            <a:ext cx="8397766" cy="1938992"/>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Gill Sans MT" pitchFamily="34" charset="0"/>
              </a:rPr>
              <a:t>In the previous example, we showed that a set of permutations with the composition operation is a group. This implies that using two permutations one after another cannot strengthen the security of a cipher, because we can always find a permutation that can do the same job because of the closure property.</a:t>
            </a:r>
          </a:p>
        </p:txBody>
      </p:sp>
      <p:sp>
        <p:nvSpPr>
          <p:cNvPr id="5" name="Text Box 3"/>
          <p:cNvSpPr txBox="1">
            <a:spLocks noChangeArrowheads="1"/>
          </p:cNvSpPr>
          <p:nvPr/>
        </p:nvSpPr>
        <p:spPr bwMode="auto">
          <a:xfrm>
            <a:off x="2708980" y="360298"/>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effectLst>
                  <a:outerShdw blurRad="38100" dist="38100" dir="2700000" algn="tl">
                    <a:srgbClr val="C0C0C0"/>
                  </a:outerShdw>
                </a:effectLst>
                <a:latin typeface="Times" pitchFamily="18" charset="0"/>
              </a:rPr>
              <a:t>   </a:t>
            </a:r>
            <a:r>
              <a:rPr lang="en-US" sz="3200" b="1" dirty="0">
                <a:solidFill>
                  <a:srgbClr val="0000CC"/>
                </a:solidFill>
                <a:latin typeface="Tw Cen MT" panose="020B0602020104020603" pitchFamily="34" charset="0"/>
                <a:ea typeface="ＭＳ Ｐゴシック" pitchFamily="34" charset="-128"/>
              </a:rPr>
              <a:t>Group (cont.)</a:t>
            </a:r>
            <a:endParaRPr lang="en-US" sz="3200" b="1" baseline="0" dirty="0">
              <a:solidFill>
                <a:schemeClr val="bg1"/>
              </a:solidFill>
              <a:latin typeface="Bookman Old Style"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ext Box 10"/>
          <p:cNvSpPr txBox="1">
            <a:spLocks noChangeArrowheads="1"/>
          </p:cNvSpPr>
          <p:nvPr/>
        </p:nvSpPr>
        <p:spPr bwMode="auto">
          <a:xfrm>
            <a:off x="604345" y="2085907"/>
            <a:ext cx="6373861" cy="461665"/>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 typeface="Wingdings" pitchFamily="2" charset="2"/>
              <a:buChar char="q"/>
              <a:tabLst/>
              <a:defRPr/>
            </a:pPr>
            <a:r>
              <a:rPr kumimoji="0" lang="en-US" sz="2400" b="0" i="0" u="none" strike="noStrike" kern="0" cap="none" spc="0" normalizeH="0" baseline="0" noProof="0" dirty="0">
                <a:ln>
                  <a:noFill/>
                </a:ln>
                <a:solidFill>
                  <a:schemeClr val="bg1"/>
                </a:solidFill>
                <a:effectLst/>
                <a:uLnTx/>
                <a:uFillTx/>
                <a:latin typeface="Gill Sans MT" pitchFamily="34" charset="0"/>
              </a:rPr>
              <a:t>  </a:t>
            </a:r>
            <a:r>
              <a:rPr kumimoji="0" lang="en-US" sz="2400" b="0" i="0" u="none" strike="noStrike" kern="0" cap="none" spc="0" normalizeH="0" baseline="0" noProof="0" dirty="0">
                <a:ln>
                  <a:noFill/>
                </a:ln>
                <a:solidFill>
                  <a:srgbClr val="0000FF"/>
                </a:solidFill>
                <a:effectLst/>
                <a:uLnTx/>
                <a:uFillTx/>
                <a:latin typeface="Gill Sans MT" pitchFamily="34" charset="0"/>
              </a:rPr>
              <a:t>Finite Group:  </a:t>
            </a:r>
            <a:r>
              <a:rPr kumimoji="0" lang="en-US" sz="2400" b="0" i="0" u="none" strike="noStrike" kern="0" cap="none" spc="0" normalizeH="0" baseline="0" noProof="0" dirty="0">
                <a:ln>
                  <a:noFill/>
                </a:ln>
                <a:solidFill>
                  <a:schemeClr val="bg1"/>
                </a:solidFill>
                <a:effectLst/>
                <a:uLnTx/>
                <a:uFillTx/>
                <a:latin typeface="Gill Sans MT" pitchFamily="34" charset="0"/>
              </a:rPr>
              <a:t>has a finite</a:t>
            </a:r>
            <a:r>
              <a:rPr kumimoji="0" lang="en-US" sz="2400" b="0" i="0" u="none" strike="noStrike" kern="0" cap="none" spc="0" normalizeH="0" noProof="0" dirty="0">
                <a:ln>
                  <a:noFill/>
                </a:ln>
                <a:solidFill>
                  <a:schemeClr val="bg1"/>
                </a:solidFill>
                <a:effectLst/>
                <a:uLnTx/>
                <a:uFillTx/>
                <a:latin typeface="Gill Sans MT" pitchFamily="34" charset="0"/>
              </a:rPr>
              <a:t> number of elements</a:t>
            </a:r>
            <a:endParaRPr kumimoji="0" lang="en-US" sz="2400" b="0" i="0" u="none" strike="noStrike" kern="0" cap="none" spc="0" normalizeH="0" baseline="0" noProof="0" dirty="0">
              <a:ln>
                <a:noFill/>
              </a:ln>
              <a:solidFill>
                <a:schemeClr val="bg1"/>
              </a:solidFill>
              <a:effectLst/>
              <a:uLnTx/>
              <a:uFillTx/>
              <a:latin typeface="Gill Sans MT" pitchFamily="34" charset="0"/>
            </a:endParaRPr>
          </a:p>
        </p:txBody>
      </p:sp>
      <p:sp>
        <p:nvSpPr>
          <p:cNvPr id="10" name="Text Box 14"/>
          <p:cNvSpPr txBox="1">
            <a:spLocks noChangeArrowheads="1"/>
          </p:cNvSpPr>
          <p:nvPr/>
        </p:nvSpPr>
        <p:spPr bwMode="auto">
          <a:xfrm>
            <a:off x="604345" y="3928995"/>
            <a:ext cx="8124340" cy="1200329"/>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 typeface="Wingdings" pitchFamily="2" charset="2"/>
              <a:buChar char="q"/>
              <a:tabLst/>
              <a:defRPr/>
            </a:pPr>
            <a:r>
              <a:rPr kumimoji="0" lang="en-US" sz="2400" b="0" i="0" u="none" strike="noStrike" kern="0" cap="none" spc="0" normalizeH="0" baseline="0" noProof="0" dirty="0">
                <a:ln>
                  <a:noFill/>
                </a:ln>
                <a:solidFill>
                  <a:schemeClr val="bg1"/>
                </a:solidFill>
                <a:effectLst/>
                <a:uLnTx/>
                <a:uFillTx/>
                <a:latin typeface="Gill Sans MT" pitchFamily="34" charset="0"/>
              </a:rPr>
              <a:t>  </a:t>
            </a:r>
            <a:r>
              <a:rPr kumimoji="0" lang="en-US" sz="2400" b="0" i="0" u="none" strike="noStrike" kern="0" cap="none" spc="0" normalizeH="0" baseline="0" noProof="0" dirty="0">
                <a:ln>
                  <a:noFill/>
                </a:ln>
                <a:solidFill>
                  <a:srgbClr val="0000FF"/>
                </a:solidFill>
                <a:effectLst/>
                <a:uLnTx/>
                <a:uFillTx/>
                <a:latin typeface="Gill Sans MT" pitchFamily="34" charset="0"/>
              </a:rPr>
              <a:t>Subgroups: </a:t>
            </a:r>
            <a:r>
              <a:rPr kumimoji="0" lang="en-US" sz="2400" b="0" i="0" u="none" strike="noStrike" kern="0" cap="none" spc="0" normalizeH="0" baseline="0" noProof="0" dirty="0">
                <a:ln>
                  <a:noFill/>
                </a:ln>
                <a:solidFill>
                  <a:schemeClr val="bg1"/>
                </a:solidFill>
                <a:effectLst/>
                <a:uLnTx/>
                <a:uFillTx/>
                <a:latin typeface="Gill Sans MT" pitchFamily="34" charset="0"/>
              </a:rPr>
              <a:t>If G=&lt;S,.&gt; is a group and </a:t>
            </a:r>
            <a:r>
              <a:rPr kumimoji="0" lang="en-US" sz="2400" b="0" i="0" u="none" strike="noStrike" kern="0" cap="none" spc="0" normalizeH="0" noProof="0" dirty="0">
                <a:ln>
                  <a:noFill/>
                </a:ln>
                <a:solidFill>
                  <a:schemeClr val="bg1"/>
                </a:solidFill>
                <a:effectLst/>
                <a:uLnTx/>
                <a:uFillTx/>
                <a:latin typeface="Gill Sans MT" pitchFamily="34" charset="0"/>
              </a:rPr>
              <a:t>  H=&lt;T,.&gt; is also </a:t>
            </a:r>
          </a:p>
          <a:p>
            <a:pPr marL="0" marR="0" lvl="0" indent="0" defTabSz="914400" eaLnBrk="1" fontAlgn="auto" latinLnBrk="0" hangingPunct="1">
              <a:lnSpc>
                <a:spcPct val="100000"/>
              </a:lnSpc>
              <a:spcBef>
                <a:spcPts val="0"/>
              </a:spcBef>
              <a:spcAft>
                <a:spcPts val="0"/>
              </a:spcAft>
              <a:buClrTx/>
              <a:buSzTx/>
              <a:tabLst/>
              <a:defRPr/>
            </a:pPr>
            <a:r>
              <a:rPr lang="en-US" sz="2400" kern="0" dirty="0">
                <a:solidFill>
                  <a:schemeClr val="bg1"/>
                </a:solidFill>
                <a:latin typeface="Gill Sans MT" pitchFamily="34" charset="0"/>
              </a:rPr>
              <a:t>     </a:t>
            </a:r>
            <a:r>
              <a:rPr kumimoji="0" lang="en-US" sz="2400" b="0" i="0" u="none" strike="noStrike" kern="0" cap="none" spc="0" normalizeH="0" noProof="0" dirty="0">
                <a:ln>
                  <a:noFill/>
                </a:ln>
                <a:solidFill>
                  <a:schemeClr val="bg1"/>
                </a:solidFill>
                <a:effectLst/>
                <a:uLnTx/>
                <a:uFillTx/>
                <a:latin typeface="Gill Sans MT" pitchFamily="34" charset="0"/>
              </a:rPr>
              <a:t>a group under  </a:t>
            </a:r>
            <a:r>
              <a:rPr lang="en-US" sz="2400" kern="0" dirty="0">
                <a:solidFill>
                  <a:schemeClr val="bg1"/>
                </a:solidFill>
                <a:latin typeface="Gill Sans MT" pitchFamily="34" charset="0"/>
              </a:rPr>
              <a:t> </a:t>
            </a:r>
            <a:r>
              <a:rPr kumimoji="0" lang="en-US" sz="2400" b="0" i="0" u="none" strike="noStrike" kern="0" cap="none" spc="0" normalizeH="0" noProof="0" dirty="0">
                <a:ln>
                  <a:noFill/>
                </a:ln>
                <a:solidFill>
                  <a:schemeClr val="bg1"/>
                </a:solidFill>
                <a:effectLst/>
                <a:uLnTx/>
                <a:uFillTx/>
                <a:latin typeface="Gill Sans MT" pitchFamily="34" charset="0"/>
              </a:rPr>
              <a:t>the same  operation and  T is the nonempty</a:t>
            </a:r>
          </a:p>
          <a:p>
            <a:pPr marL="0" marR="0" lvl="0" indent="0" defTabSz="914400" eaLnBrk="1" fontAlgn="auto" latinLnBrk="0" hangingPunct="1">
              <a:lnSpc>
                <a:spcPct val="100000"/>
              </a:lnSpc>
              <a:spcBef>
                <a:spcPts val="0"/>
              </a:spcBef>
              <a:spcAft>
                <a:spcPts val="0"/>
              </a:spcAft>
              <a:buClrTx/>
              <a:buSzTx/>
              <a:tabLst/>
              <a:defRPr/>
            </a:pPr>
            <a:r>
              <a:rPr kumimoji="0" lang="en-US" sz="2400" b="0" i="0" u="none" strike="noStrike" kern="0" cap="none" spc="0" normalizeH="0" noProof="0" dirty="0">
                <a:ln>
                  <a:noFill/>
                </a:ln>
                <a:solidFill>
                  <a:schemeClr val="bg1"/>
                </a:solidFill>
                <a:effectLst/>
                <a:uLnTx/>
                <a:uFillTx/>
                <a:latin typeface="Gill Sans MT" pitchFamily="34" charset="0"/>
              </a:rPr>
              <a:t>     subset of H,  then H is a subgroup of G</a:t>
            </a:r>
            <a:endParaRPr kumimoji="0" lang="en-US" sz="2400" b="0" i="0" u="none" strike="noStrike" kern="0" cap="none" spc="0" normalizeH="0" baseline="0" noProof="0" dirty="0">
              <a:ln>
                <a:noFill/>
              </a:ln>
              <a:solidFill>
                <a:schemeClr val="bg1"/>
              </a:solidFill>
              <a:effectLst/>
              <a:uLnTx/>
              <a:uFillTx/>
              <a:latin typeface="Gill Sans MT" pitchFamily="34" charset="0"/>
            </a:endParaRPr>
          </a:p>
        </p:txBody>
      </p:sp>
      <p:sp>
        <p:nvSpPr>
          <p:cNvPr id="11" name="Text Box 15"/>
          <p:cNvSpPr txBox="1">
            <a:spLocks noChangeArrowheads="1"/>
          </p:cNvSpPr>
          <p:nvPr/>
        </p:nvSpPr>
        <p:spPr bwMode="auto">
          <a:xfrm>
            <a:off x="604345" y="2924107"/>
            <a:ext cx="7710765" cy="461665"/>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 typeface="Wingdings" pitchFamily="2" charset="2"/>
              <a:buChar char="q"/>
              <a:tabLst/>
              <a:defRPr/>
            </a:pPr>
            <a:r>
              <a:rPr kumimoji="0" lang="en-US" sz="2400" b="0" i="0" u="none" strike="noStrike" kern="0" cap="none" spc="0" normalizeH="0" baseline="0" noProof="0" dirty="0">
                <a:ln>
                  <a:noFill/>
                </a:ln>
                <a:solidFill>
                  <a:schemeClr val="bg1"/>
                </a:solidFill>
                <a:effectLst/>
                <a:uLnTx/>
                <a:uFillTx/>
                <a:latin typeface="Gill Sans MT" pitchFamily="34" charset="0"/>
              </a:rPr>
              <a:t>  </a:t>
            </a:r>
            <a:r>
              <a:rPr kumimoji="0" lang="en-US" sz="2400" b="0" i="0" u="none" strike="noStrike" kern="0" cap="none" spc="0" normalizeH="0" baseline="0" noProof="0" dirty="0">
                <a:ln>
                  <a:noFill/>
                </a:ln>
                <a:solidFill>
                  <a:srgbClr val="0000FF"/>
                </a:solidFill>
                <a:effectLst/>
                <a:uLnTx/>
                <a:uFillTx/>
                <a:latin typeface="Gill Sans MT" pitchFamily="34" charset="0"/>
              </a:rPr>
              <a:t>Order of a Group:   </a:t>
            </a:r>
            <a:r>
              <a:rPr kumimoji="0" lang="en-US" sz="2400" b="0" i="0" u="none" strike="noStrike" kern="0" cap="none" spc="0" normalizeH="0" baseline="0" noProof="0" dirty="0">
                <a:ln>
                  <a:noFill/>
                </a:ln>
                <a:solidFill>
                  <a:schemeClr val="bg1"/>
                </a:solidFill>
                <a:effectLst/>
                <a:uLnTx/>
                <a:uFillTx/>
                <a:latin typeface="Gill Sans MT" pitchFamily="34" charset="0"/>
              </a:rPr>
              <a:t>|G|</a:t>
            </a:r>
            <a:r>
              <a:rPr kumimoji="0" lang="en-US" sz="2400" b="0" i="0" u="none" strike="noStrike" kern="0" cap="none" spc="0" normalizeH="0" noProof="0" dirty="0">
                <a:ln>
                  <a:noFill/>
                </a:ln>
                <a:solidFill>
                  <a:schemeClr val="bg1"/>
                </a:solidFill>
                <a:effectLst/>
                <a:uLnTx/>
                <a:uFillTx/>
                <a:latin typeface="Gill Sans MT" pitchFamily="34" charset="0"/>
              </a:rPr>
              <a:t> =</a:t>
            </a:r>
            <a:r>
              <a:rPr kumimoji="0" lang="en-US" sz="2400" b="0" i="0" u="none" strike="noStrike" kern="0" cap="none" spc="0" normalizeH="0" baseline="0" noProof="0" dirty="0">
                <a:ln>
                  <a:noFill/>
                </a:ln>
                <a:solidFill>
                  <a:schemeClr val="bg1"/>
                </a:solidFill>
                <a:effectLst/>
                <a:uLnTx/>
                <a:uFillTx/>
                <a:latin typeface="Gill Sans MT" pitchFamily="34" charset="0"/>
              </a:rPr>
              <a:t>number of elements</a:t>
            </a:r>
            <a:r>
              <a:rPr kumimoji="0" lang="en-US" sz="2400" b="0" i="0" u="none" strike="noStrike" kern="0" cap="none" spc="0" normalizeH="0" noProof="0" dirty="0">
                <a:ln>
                  <a:noFill/>
                </a:ln>
                <a:solidFill>
                  <a:schemeClr val="bg1"/>
                </a:solidFill>
                <a:effectLst/>
                <a:uLnTx/>
                <a:uFillTx/>
                <a:latin typeface="Gill Sans MT" pitchFamily="34" charset="0"/>
              </a:rPr>
              <a:t> in a group</a:t>
            </a:r>
            <a:endParaRPr kumimoji="0" lang="en-US" sz="2400" b="0" i="0" u="none" strike="noStrike" kern="0" cap="none" spc="0" normalizeH="0" baseline="0" noProof="0" dirty="0">
              <a:ln>
                <a:noFill/>
              </a:ln>
              <a:solidFill>
                <a:schemeClr val="bg1"/>
              </a:solidFill>
              <a:effectLst/>
              <a:uLnTx/>
              <a:uFillTx/>
              <a:latin typeface="Gill Sans MT" pitchFamily="34" charset="0"/>
            </a:endParaRPr>
          </a:p>
        </p:txBody>
      </p:sp>
      <p:sp>
        <p:nvSpPr>
          <p:cNvPr id="6" name="Text Box 3"/>
          <p:cNvSpPr txBox="1">
            <a:spLocks noChangeArrowheads="1"/>
          </p:cNvSpPr>
          <p:nvPr/>
        </p:nvSpPr>
        <p:spPr bwMode="auto">
          <a:xfrm>
            <a:off x="2596439" y="472840"/>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effectLst>
                  <a:outerShdw blurRad="38100" dist="38100" dir="2700000" algn="tl">
                    <a:srgbClr val="C0C0C0"/>
                  </a:outerShdw>
                </a:effectLst>
                <a:latin typeface="Times" pitchFamily="18" charset="0"/>
              </a:rPr>
              <a:t>   </a:t>
            </a:r>
            <a:r>
              <a:rPr lang="en-US" sz="3200" b="1" dirty="0">
                <a:solidFill>
                  <a:srgbClr val="0000CC"/>
                </a:solidFill>
                <a:latin typeface="Tw Cen MT" panose="020B0602020104020603" pitchFamily="34" charset="0"/>
                <a:ea typeface="ＭＳ Ｐゴシック" pitchFamily="34" charset="-128"/>
              </a:rPr>
              <a:t>Group (cont.)</a:t>
            </a:r>
            <a:endParaRPr lang="en-US" sz="3200" b="1" baseline="0" dirty="0">
              <a:solidFill>
                <a:schemeClr val="bg1"/>
              </a:solidFill>
              <a:latin typeface="Bookman Old Style"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326728" y="557487"/>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effectLst>
                  <a:outerShdw blurRad="38100" dist="38100" dir="2700000" algn="tl">
                    <a:srgbClr val="C0C0C0"/>
                  </a:outerShdw>
                </a:effectLst>
                <a:latin typeface="Times" pitchFamily="18" charset="0"/>
              </a:rPr>
              <a:t>   </a:t>
            </a:r>
            <a:r>
              <a:rPr lang="en-US" sz="3200" b="1" dirty="0">
                <a:solidFill>
                  <a:srgbClr val="0000FF"/>
                </a:solidFill>
                <a:latin typeface="Tw Cen MT" panose="020B0602020104020603" pitchFamily="34" charset="0"/>
                <a:ea typeface="ＭＳ Ｐゴシック" pitchFamily="34" charset="-128"/>
              </a:rPr>
              <a:t>Group</a:t>
            </a:r>
            <a:endParaRPr lang="en-US" sz="3200" b="1" baseline="0" dirty="0">
              <a:solidFill>
                <a:srgbClr val="0000FF"/>
              </a:solidFill>
              <a:latin typeface="Tw Cen MT" panose="020B0602020104020603" pitchFamily="34" charset="0"/>
            </a:endParaRPr>
          </a:p>
        </p:txBody>
      </p:sp>
      <p:sp>
        <p:nvSpPr>
          <p:cNvPr id="15" name="Rectangle 10"/>
          <p:cNvSpPr>
            <a:spLocks noChangeArrowheads="1"/>
          </p:cNvSpPr>
          <p:nvPr/>
        </p:nvSpPr>
        <p:spPr bwMode="auto">
          <a:xfrm>
            <a:off x="614855" y="1928648"/>
            <a:ext cx="7851228" cy="830997"/>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Tw Cen MT" panose="020B0602020104020603" pitchFamily="34" charset="0"/>
              </a:rPr>
              <a:t>Is the group H = &lt;Z</a:t>
            </a:r>
            <a:r>
              <a:rPr kumimoji="0" lang="en-US" sz="2400" b="0" i="0" u="none" strike="noStrike" kern="0" cap="none" spc="0" normalizeH="0" baseline="-18000" noProof="0" dirty="0">
                <a:ln>
                  <a:noFill/>
                </a:ln>
                <a:solidFill>
                  <a:sysClr val="windowText" lastClr="000000"/>
                </a:solidFill>
                <a:effectLst/>
                <a:uLnTx/>
                <a:uFillTx/>
                <a:latin typeface="Tw Cen MT" panose="020B0602020104020603" pitchFamily="34" charset="0"/>
              </a:rPr>
              <a:t>10</a:t>
            </a:r>
            <a:r>
              <a:rPr kumimoji="0" lang="en-US" sz="2400" b="0" i="0" u="none" strike="noStrike" kern="0" cap="none" spc="0" normalizeH="0" baseline="0" noProof="0" dirty="0">
                <a:ln>
                  <a:noFill/>
                </a:ln>
                <a:solidFill>
                  <a:sysClr val="windowText" lastClr="000000"/>
                </a:solidFill>
                <a:effectLst/>
                <a:uLnTx/>
                <a:uFillTx/>
                <a:latin typeface="Tw Cen MT" panose="020B0602020104020603" pitchFamily="34" charset="0"/>
              </a:rPr>
              <a:t>, +&gt; a subgroup of the group G = &lt;Z</a:t>
            </a:r>
            <a:r>
              <a:rPr kumimoji="0" lang="en-US" sz="2400" b="0" i="0" u="none" strike="noStrike" kern="0" cap="none" spc="0" normalizeH="0" baseline="-25000" noProof="0" dirty="0">
                <a:ln>
                  <a:noFill/>
                </a:ln>
                <a:solidFill>
                  <a:sysClr val="windowText" lastClr="000000"/>
                </a:solidFill>
                <a:effectLst/>
                <a:uLnTx/>
                <a:uFillTx/>
                <a:latin typeface="Tw Cen MT" panose="020B0602020104020603" pitchFamily="34" charset="0"/>
              </a:rPr>
              <a:t>12</a:t>
            </a:r>
            <a:r>
              <a:rPr kumimoji="0" lang="en-US" sz="2400" b="0" i="0" u="none" strike="noStrike" kern="0" cap="none" spc="0" normalizeH="0" baseline="0" noProof="0" dirty="0">
                <a:ln>
                  <a:noFill/>
                </a:ln>
                <a:solidFill>
                  <a:sysClr val="windowText" lastClr="000000"/>
                </a:solidFill>
                <a:effectLst/>
                <a:uLnTx/>
                <a:uFillTx/>
                <a:latin typeface="Tw Cen MT" panose="020B0602020104020603" pitchFamily="34" charset="0"/>
              </a:rPr>
              <a:t>, +&gt;?</a:t>
            </a:r>
          </a:p>
        </p:txBody>
      </p:sp>
      <p:sp>
        <p:nvSpPr>
          <p:cNvPr id="16" name="Rectangle 12"/>
          <p:cNvSpPr>
            <a:spLocks noChangeArrowheads="1"/>
          </p:cNvSpPr>
          <p:nvPr/>
        </p:nvSpPr>
        <p:spPr bwMode="auto">
          <a:xfrm>
            <a:off x="228600" y="2895600"/>
            <a:ext cx="8839200" cy="457200"/>
          </a:xfrm>
          <a:prstGeom prst="rect">
            <a:avLst/>
          </a:prstGeom>
          <a:noFill/>
          <a:ln w="9525">
            <a:noFill/>
            <a:miter lim="800000"/>
            <a:headEnd/>
            <a:tailEnd/>
          </a:ln>
        </p:spPr>
        <p:txBody>
          <a:bodyPr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0000"/>
                </a:solidFill>
                <a:effectLst/>
                <a:uLnTx/>
                <a:uFillTx/>
                <a:latin typeface="Tw Cen MT" panose="020B0602020104020603" pitchFamily="34" charset="0"/>
              </a:rPr>
              <a:t>Solution</a:t>
            </a:r>
          </a:p>
        </p:txBody>
      </p:sp>
      <p:sp>
        <p:nvSpPr>
          <p:cNvPr id="17" name="Rectangle 13"/>
          <p:cNvSpPr>
            <a:spLocks noChangeArrowheads="1"/>
          </p:cNvSpPr>
          <p:nvPr/>
        </p:nvSpPr>
        <p:spPr bwMode="auto">
          <a:xfrm>
            <a:off x="457201" y="3292475"/>
            <a:ext cx="7977352" cy="1569660"/>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Tw Cen MT" panose="020B0602020104020603" pitchFamily="34" charset="0"/>
              </a:rPr>
              <a:t>The answer is no. Although H is a subset of G, the operations defined for these two groups are different. The operation in H is addition modulo 10; the operation in G is addition modulo 12.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666663" y="320858"/>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rPr>
              <a:t>  </a:t>
            </a:r>
            <a:r>
              <a:rPr lang="en-US" sz="3200" b="1" baseline="0" dirty="0">
                <a:solidFill>
                  <a:srgbClr val="FF0000"/>
                </a:solidFill>
                <a:latin typeface="Tw Cen MT" panose="020B0602020104020603" pitchFamily="34" charset="0"/>
              </a:rPr>
              <a:t>Cyclic Group</a:t>
            </a:r>
          </a:p>
        </p:txBody>
      </p:sp>
      <p:sp>
        <p:nvSpPr>
          <p:cNvPr id="3" name="Rectangle 2"/>
          <p:cNvSpPr/>
          <p:nvPr/>
        </p:nvSpPr>
        <p:spPr>
          <a:xfrm>
            <a:off x="494677" y="975971"/>
            <a:ext cx="8338781" cy="5262979"/>
          </a:xfrm>
          <a:prstGeom prst="rect">
            <a:avLst/>
          </a:prstGeom>
        </p:spPr>
        <p:txBody>
          <a:bodyPr wrap="square">
            <a:spAutoFit/>
          </a:bodyPr>
          <a:lstStyle/>
          <a:p>
            <a:pPr marL="342900" indent="-342900">
              <a:buFont typeface="Wingdings" pitchFamily="2" charset="2"/>
              <a:buChar char="q"/>
            </a:pPr>
            <a:r>
              <a:rPr lang="en-US" sz="2400" b="1" dirty="0">
                <a:solidFill>
                  <a:srgbClr val="063CE8"/>
                </a:solidFill>
                <a:latin typeface="Tw Cen MT" panose="020B0602020104020603" pitchFamily="34" charset="0"/>
              </a:rPr>
              <a:t>Exponentiation</a:t>
            </a:r>
            <a:r>
              <a:rPr lang="en-US" sz="2400" b="1" dirty="0">
                <a:solidFill>
                  <a:srgbClr val="000000"/>
                </a:solidFill>
                <a:latin typeface="Tw Cen MT" panose="020B0602020104020603" pitchFamily="34" charset="0"/>
              </a:rPr>
              <a:t>: </a:t>
            </a:r>
            <a:r>
              <a:rPr lang="en-US" sz="2400" dirty="0">
                <a:solidFill>
                  <a:srgbClr val="000000"/>
                </a:solidFill>
                <a:latin typeface="Tw Cen MT" panose="020B0602020104020603" pitchFamily="34" charset="0"/>
              </a:rPr>
              <a:t>Repeated application of operator .</a:t>
            </a:r>
          </a:p>
          <a:p>
            <a:pPr marL="342900" indent="-342900">
              <a:buFont typeface="Wingdings" pitchFamily="2" charset="2"/>
              <a:buChar char="q"/>
            </a:pPr>
            <a:r>
              <a:rPr lang="en-US" sz="2400" dirty="0">
                <a:solidFill>
                  <a:srgbClr val="000000"/>
                </a:solidFill>
                <a:latin typeface="Tw Cen MT" panose="020B0602020104020603" pitchFamily="34" charset="0"/>
              </a:rPr>
              <a:t>  example: a</a:t>
            </a:r>
            <a:r>
              <a:rPr lang="en-US" sz="2400" baseline="30000" dirty="0">
                <a:solidFill>
                  <a:srgbClr val="000000"/>
                </a:solidFill>
                <a:latin typeface="Tw Cen MT" panose="020B0602020104020603" pitchFamily="34" charset="0"/>
              </a:rPr>
              <a:t>3</a:t>
            </a:r>
            <a:r>
              <a:rPr lang="en-US" sz="2400" dirty="0">
                <a:solidFill>
                  <a:srgbClr val="000000"/>
                </a:solidFill>
                <a:latin typeface="Tw Cen MT" panose="020B0602020104020603" pitchFamily="34" charset="0"/>
              </a:rPr>
              <a:t> = </a:t>
            </a:r>
            <a:r>
              <a:rPr lang="en-US" sz="2400" dirty="0" err="1">
                <a:solidFill>
                  <a:srgbClr val="000000"/>
                </a:solidFill>
                <a:latin typeface="Tw Cen MT" panose="020B0602020104020603" pitchFamily="34" charset="0"/>
              </a:rPr>
              <a:t>a.a.a</a:t>
            </a:r>
            <a:r>
              <a:rPr lang="en-US" sz="2400" dirty="0">
                <a:solidFill>
                  <a:srgbClr val="000000"/>
                </a:solidFill>
                <a:latin typeface="Tw Cen MT" panose="020B0602020104020603" pitchFamily="34" charset="0"/>
              </a:rPr>
              <a:t> </a:t>
            </a:r>
          </a:p>
          <a:p>
            <a:pPr marL="342900" indent="-342900">
              <a:buFont typeface="Wingdings" pitchFamily="2" charset="2"/>
              <a:buChar char="q"/>
            </a:pPr>
            <a:r>
              <a:rPr lang="en-US" sz="2400" b="1" dirty="0">
                <a:solidFill>
                  <a:srgbClr val="063CE8"/>
                </a:solidFill>
                <a:latin typeface="Tw Cen MT" panose="020B0602020104020603" pitchFamily="34" charset="0"/>
              </a:rPr>
              <a:t>Cyclic Group</a:t>
            </a:r>
            <a:r>
              <a:rPr lang="en-US" sz="2400" dirty="0">
                <a:solidFill>
                  <a:srgbClr val="000000"/>
                </a:solidFill>
                <a:latin typeface="Tw Cen MT" panose="020B0602020104020603" pitchFamily="34" charset="0"/>
              </a:rPr>
              <a:t>: If a subgroup of a group can be </a:t>
            </a:r>
            <a:r>
              <a:rPr lang="en-US" sz="2400" dirty="0">
                <a:solidFill>
                  <a:srgbClr val="FF0000"/>
                </a:solidFill>
                <a:latin typeface="Tw Cen MT" panose="020B0602020104020603" pitchFamily="34" charset="0"/>
              </a:rPr>
              <a:t>generated using the power of an element,</a:t>
            </a:r>
            <a:r>
              <a:rPr lang="en-US" sz="2400" dirty="0">
                <a:solidFill>
                  <a:srgbClr val="000000"/>
                </a:solidFill>
                <a:latin typeface="Tw Cen MT" panose="020B0602020104020603" pitchFamily="34" charset="0"/>
              </a:rPr>
              <a:t> the subgroup is called the cyclic subgroup. The term power here means repeatedly applying the group operation to the element .</a:t>
            </a:r>
          </a:p>
          <a:p>
            <a:endParaRPr lang="en-US" sz="2400" dirty="0">
              <a:solidFill>
                <a:srgbClr val="000000"/>
              </a:solidFill>
              <a:latin typeface="Tw Cen MT" panose="020B0602020104020603" pitchFamily="34" charset="0"/>
            </a:endParaRPr>
          </a:p>
          <a:p>
            <a:r>
              <a:rPr lang="en-US" sz="2400" dirty="0">
                <a:solidFill>
                  <a:srgbClr val="000000"/>
                </a:solidFill>
                <a:latin typeface="Tw Cen MT" panose="020B0602020104020603" pitchFamily="34" charset="0"/>
              </a:rPr>
              <a:t> 	b = </a:t>
            </a:r>
            <a:r>
              <a:rPr lang="en-US" sz="2400" dirty="0" err="1">
                <a:solidFill>
                  <a:srgbClr val="000000"/>
                </a:solidFill>
                <a:latin typeface="Tw Cen MT" panose="020B0602020104020603" pitchFamily="34" charset="0"/>
              </a:rPr>
              <a:t>a</a:t>
            </a:r>
            <a:r>
              <a:rPr lang="en-US" sz="2400" baseline="30000" dirty="0" err="1">
                <a:solidFill>
                  <a:srgbClr val="000000"/>
                </a:solidFill>
                <a:latin typeface="Tw Cen MT" panose="020B0602020104020603" pitchFamily="34" charset="0"/>
              </a:rPr>
              <a:t>k</a:t>
            </a:r>
            <a:r>
              <a:rPr lang="en-US" sz="2400" baseline="30000" dirty="0">
                <a:solidFill>
                  <a:srgbClr val="000000"/>
                </a:solidFill>
                <a:latin typeface="Tw Cen MT" panose="020B0602020104020603" pitchFamily="34" charset="0"/>
              </a:rPr>
              <a:t>  </a:t>
            </a:r>
            <a:r>
              <a:rPr lang="en-US" sz="2400" dirty="0">
                <a:solidFill>
                  <a:srgbClr val="000000"/>
                </a:solidFill>
                <a:latin typeface="Tw Cen MT" panose="020B0602020104020603" pitchFamily="34" charset="0"/>
              </a:rPr>
              <a:t>for some </a:t>
            </a:r>
            <a:r>
              <a:rPr lang="en-US" sz="2400" i="1" dirty="0">
                <a:solidFill>
                  <a:srgbClr val="000000"/>
                </a:solidFill>
                <a:latin typeface="Tw Cen MT" panose="020B0602020104020603" pitchFamily="34" charset="0"/>
              </a:rPr>
              <a:t>a</a:t>
            </a:r>
            <a:r>
              <a:rPr lang="en-US" sz="2400" dirty="0">
                <a:solidFill>
                  <a:srgbClr val="000000"/>
                </a:solidFill>
                <a:latin typeface="Tw Cen MT" panose="020B0602020104020603" pitchFamily="34" charset="0"/>
              </a:rPr>
              <a:t> and every </a:t>
            </a:r>
            <a:r>
              <a:rPr lang="en-US" sz="2400" i="1" dirty="0">
                <a:solidFill>
                  <a:srgbClr val="000000"/>
                </a:solidFill>
                <a:latin typeface="Tw Cen MT" panose="020B0602020104020603" pitchFamily="34" charset="0"/>
              </a:rPr>
              <a:t>b</a:t>
            </a:r>
            <a:r>
              <a:rPr lang="en-US" sz="2400" dirty="0">
                <a:solidFill>
                  <a:srgbClr val="000000"/>
                </a:solidFill>
                <a:latin typeface="Tw Cen MT" panose="020B0602020104020603" pitchFamily="34" charset="0"/>
              </a:rPr>
              <a:t> in group</a:t>
            </a:r>
          </a:p>
          <a:p>
            <a:pPr lvl="1"/>
            <a:r>
              <a:rPr lang="en-US" sz="2400" dirty="0">
                <a:solidFill>
                  <a:srgbClr val="000000"/>
                </a:solidFill>
                <a:latin typeface="Tw Cen MT" panose="020B0602020104020603" pitchFamily="34" charset="0"/>
              </a:rPr>
              <a:t>		</a:t>
            </a:r>
            <a:r>
              <a:rPr lang="en-US" sz="2400" i="1" dirty="0">
                <a:solidFill>
                  <a:srgbClr val="000000"/>
                </a:solidFill>
                <a:latin typeface="Tw Cen MT" panose="020B0602020104020603" pitchFamily="34" charset="0"/>
              </a:rPr>
              <a:t>a</a:t>
            </a:r>
            <a:r>
              <a:rPr lang="en-US" sz="2400" dirty="0">
                <a:solidFill>
                  <a:srgbClr val="000000"/>
                </a:solidFill>
                <a:latin typeface="Tw Cen MT" panose="020B0602020104020603" pitchFamily="34" charset="0"/>
              </a:rPr>
              <a:t> is said to be a generator of the group </a:t>
            </a:r>
          </a:p>
          <a:p>
            <a:pPr lvl="1"/>
            <a:r>
              <a:rPr lang="en-US" sz="2400" dirty="0">
                <a:solidFill>
                  <a:srgbClr val="000000"/>
                </a:solidFill>
                <a:latin typeface="Tw Cen MT" panose="020B0602020104020603" pitchFamily="34" charset="0"/>
              </a:rPr>
              <a:t>Note that, a</a:t>
            </a:r>
            <a:r>
              <a:rPr lang="en-US" sz="2400" baseline="30000" dirty="0">
                <a:solidFill>
                  <a:srgbClr val="000000"/>
                </a:solidFill>
                <a:latin typeface="Tw Cen MT" panose="020B0602020104020603" pitchFamily="34" charset="0"/>
              </a:rPr>
              <a:t>0</a:t>
            </a:r>
            <a:r>
              <a:rPr lang="en-US" sz="2400" dirty="0">
                <a:solidFill>
                  <a:srgbClr val="000000"/>
                </a:solidFill>
                <a:latin typeface="Tw Cen MT" panose="020B0602020104020603" pitchFamily="34" charset="0"/>
              </a:rPr>
              <a:t>=e</a:t>
            </a:r>
          </a:p>
          <a:p>
            <a:pPr lvl="1"/>
            <a:endParaRPr lang="en-US" sz="2400" dirty="0">
              <a:solidFill>
                <a:srgbClr val="000000"/>
              </a:solidFill>
              <a:latin typeface="Tw Cen MT" panose="020B0602020104020603" pitchFamily="34" charset="0"/>
            </a:endParaRPr>
          </a:p>
          <a:p>
            <a:pPr marL="342900" indent="-342900">
              <a:buFont typeface="Wingdings" pitchFamily="2" charset="2"/>
              <a:buChar char="q"/>
            </a:pPr>
            <a:r>
              <a:rPr lang="en-US" sz="2400" dirty="0">
                <a:solidFill>
                  <a:srgbClr val="000000"/>
                </a:solidFill>
                <a:latin typeface="Tw Cen MT" panose="020B0602020104020603" pitchFamily="34" charset="0"/>
              </a:rPr>
              <a:t>Example: {1, 2, 4, 8} with </a:t>
            </a:r>
            <a:r>
              <a:rPr lang="en-US" sz="2400" b="1" dirty="0">
                <a:solidFill>
                  <a:srgbClr val="000000"/>
                </a:solidFill>
                <a:latin typeface="Tw Cen MT" panose="020B0602020104020603" pitchFamily="34" charset="0"/>
              </a:rPr>
              <a:t>mod 12 </a:t>
            </a:r>
            <a:r>
              <a:rPr lang="en-US" sz="2400" dirty="0">
                <a:solidFill>
                  <a:srgbClr val="FF0000"/>
                </a:solidFill>
                <a:latin typeface="Tw Cen MT" panose="020B0602020104020603" pitchFamily="34" charset="0"/>
              </a:rPr>
              <a:t>multiplication</a:t>
            </a:r>
            <a:r>
              <a:rPr lang="en-US" sz="2400" dirty="0">
                <a:solidFill>
                  <a:srgbClr val="000000"/>
                </a:solidFill>
                <a:latin typeface="Tw Cen MT" panose="020B0602020104020603" pitchFamily="34" charset="0"/>
              </a:rPr>
              <a:t>, the generator is 2. </a:t>
            </a:r>
          </a:p>
          <a:p>
            <a:pPr marL="342900" indent="-342900">
              <a:buFont typeface="Wingdings" pitchFamily="2" charset="2"/>
              <a:buChar char="q"/>
            </a:pPr>
            <a:r>
              <a:rPr lang="en-US" sz="2400" dirty="0">
                <a:solidFill>
                  <a:srgbClr val="000000"/>
                </a:solidFill>
                <a:latin typeface="Tw Cen MT" panose="020B0602020104020603" pitchFamily="34" charset="0"/>
              </a:rPr>
              <a:t>2</a:t>
            </a:r>
            <a:r>
              <a:rPr lang="en-US" sz="2400" baseline="30000" dirty="0">
                <a:solidFill>
                  <a:srgbClr val="000000"/>
                </a:solidFill>
                <a:latin typeface="Tw Cen MT" panose="020B0602020104020603" pitchFamily="34" charset="0"/>
              </a:rPr>
              <a:t>0</a:t>
            </a:r>
            <a:r>
              <a:rPr lang="en-US" sz="2400" dirty="0">
                <a:solidFill>
                  <a:srgbClr val="000000"/>
                </a:solidFill>
                <a:latin typeface="Tw Cen MT" panose="020B0602020104020603" pitchFamily="34" charset="0"/>
              </a:rPr>
              <a:t>=1, 2</a:t>
            </a:r>
            <a:r>
              <a:rPr lang="en-US" sz="2400" baseline="30000" dirty="0">
                <a:solidFill>
                  <a:srgbClr val="000000"/>
                </a:solidFill>
                <a:latin typeface="Tw Cen MT" panose="020B0602020104020603" pitchFamily="34" charset="0"/>
              </a:rPr>
              <a:t>1</a:t>
            </a:r>
            <a:r>
              <a:rPr lang="en-US" sz="2400" dirty="0">
                <a:solidFill>
                  <a:srgbClr val="000000"/>
                </a:solidFill>
                <a:latin typeface="Tw Cen MT" panose="020B0602020104020603" pitchFamily="34" charset="0"/>
              </a:rPr>
              <a:t>=2, 2</a:t>
            </a:r>
            <a:r>
              <a:rPr lang="en-US" sz="2400" baseline="30000" dirty="0">
                <a:solidFill>
                  <a:srgbClr val="000000"/>
                </a:solidFill>
                <a:latin typeface="Tw Cen MT" panose="020B0602020104020603" pitchFamily="34" charset="0"/>
              </a:rPr>
              <a:t>2</a:t>
            </a:r>
            <a:r>
              <a:rPr lang="en-US" sz="2400" dirty="0">
                <a:solidFill>
                  <a:srgbClr val="000000"/>
                </a:solidFill>
                <a:latin typeface="Tw Cen MT" panose="020B0602020104020603" pitchFamily="34" charset="0"/>
              </a:rPr>
              <a:t>=4, 2</a:t>
            </a:r>
            <a:r>
              <a:rPr lang="en-US" sz="2400" baseline="30000" dirty="0">
                <a:solidFill>
                  <a:srgbClr val="000000"/>
                </a:solidFill>
                <a:latin typeface="Tw Cen MT" panose="020B0602020104020603" pitchFamily="34" charset="0"/>
              </a:rPr>
              <a:t>3</a:t>
            </a:r>
            <a:r>
              <a:rPr lang="en-US" sz="2400" dirty="0">
                <a:solidFill>
                  <a:srgbClr val="000000"/>
                </a:solidFill>
                <a:latin typeface="Tw Cen MT" panose="020B0602020104020603" pitchFamily="34" charset="0"/>
              </a:rPr>
              <a:t>=8, 2</a:t>
            </a:r>
            <a:r>
              <a:rPr lang="en-US" sz="2400" baseline="30000" dirty="0">
                <a:solidFill>
                  <a:srgbClr val="000000"/>
                </a:solidFill>
                <a:latin typeface="Tw Cen MT" panose="020B0602020104020603" pitchFamily="34" charset="0"/>
              </a:rPr>
              <a:t>4</a:t>
            </a:r>
            <a:r>
              <a:rPr lang="en-US" sz="2400" dirty="0">
                <a:solidFill>
                  <a:srgbClr val="000000"/>
                </a:solidFill>
                <a:latin typeface="Tw Cen MT" panose="020B0602020104020603" pitchFamily="34" charset="0"/>
              </a:rPr>
              <a:t>=4, 2</a:t>
            </a:r>
            <a:r>
              <a:rPr lang="en-US" sz="2400" baseline="30000" dirty="0">
                <a:solidFill>
                  <a:srgbClr val="000000"/>
                </a:solidFill>
                <a:latin typeface="Tw Cen MT" panose="020B0602020104020603" pitchFamily="34" charset="0"/>
              </a:rPr>
              <a:t>5</a:t>
            </a:r>
            <a:r>
              <a:rPr lang="en-US" sz="2400" dirty="0">
                <a:solidFill>
                  <a:srgbClr val="000000"/>
                </a:solidFill>
                <a:latin typeface="Tw Cen MT" panose="020B0602020104020603" pitchFamily="34" charset="0"/>
              </a:rPr>
              <a:t>=8 </a:t>
            </a:r>
          </a:p>
        </p:txBody>
      </p:sp>
    </p:spTree>
    <p:extLst>
      <p:ext uri="{BB962C8B-B14F-4D97-AF65-F5344CB8AC3E}">
        <p14:creationId xmlns:p14="http://schemas.microsoft.com/office/powerpoint/2010/main" val="2849693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413445" y="352027"/>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latin typeface="Tw Cen MT" panose="020B0602020104020603" pitchFamily="34" charset="0"/>
              </a:rPr>
              <a:t> </a:t>
            </a:r>
            <a:r>
              <a:rPr lang="en-US" sz="3200" b="1" baseline="0" dirty="0">
                <a:solidFill>
                  <a:srgbClr val="FF0000"/>
                </a:solidFill>
                <a:latin typeface="Tw Cen MT" panose="020B0602020104020603" pitchFamily="34" charset="0"/>
              </a:rPr>
              <a:t>Ring</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967" y="1627192"/>
            <a:ext cx="7771903" cy="2667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7449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413445" y="352027"/>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latin typeface="Tw Cen MT" panose="020B0602020104020603" pitchFamily="34" charset="0"/>
              </a:rPr>
              <a:t> </a:t>
            </a:r>
            <a:r>
              <a:rPr lang="en-US" sz="3200" b="1" baseline="0" dirty="0">
                <a:solidFill>
                  <a:srgbClr val="FF0000"/>
                </a:solidFill>
                <a:latin typeface="Tw Cen MT" panose="020B0602020104020603" pitchFamily="34" charset="0"/>
              </a:rPr>
              <a:t>Ring</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660" y="1464951"/>
            <a:ext cx="8101013" cy="435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14264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413445" y="352027"/>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latin typeface="Tw Cen MT" panose="020B0602020104020603" pitchFamily="34" charset="0"/>
              </a:rPr>
              <a:t> </a:t>
            </a:r>
            <a:r>
              <a:rPr lang="en-US" sz="3200" b="1" baseline="0" dirty="0">
                <a:solidFill>
                  <a:srgbClr val="FF0000"/>
                </a:solidFill>
                <a:latin typeface="Tw Cen MT" panose="020B0602020104020603" pitchFamily="34" charset="0"/>
              </a:rPr>
              <a:t>Ring</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967" y="1267803"/>
            <a:ext cx="7932406" cy="489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3144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413445" y="352027"/>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latin typeface="Tw Cen MT" panose="020B0602020104020603" pitchFamily="34" charset="0"/>
              </a:rPr>
              <a:t> </a:t>
            </a:r>
            <a:r>
              <a:rPr lang="en-US" sz="3200" b="1" baseline="0" dirty="0">
                <a:solidFill>
                  <a:srgbClr val="FF0000"/>
                </a:solidFill>
                <a:latin typeface="Tw Cen MT" panose="020B0602020104020603" pitchFamily="34" charset="0"/>
              </a:rPr>
              <a:t>Ring</a:t>
            </a:r>
          </a:p>
        </p:txBody>
      </p:sp>
      <p:sp>
        <p:nvSpPr>
          <p:cNvPr id="2" name="Rectangle 1"/>
          <p:cNvSpPr/>
          <p:nvPr/>
        </p:nvSpPr>
        <p:spPr>
          <a:xfrm>
            <a:off x="441798" y="790722"/>
            <a:ext cx="8024884" cy="6063198"/>
          </a:xfrm>
          <a:prstGeom prst="rect">
            <a:avLst/>
          </a:prstGeom>
        </p:spPr>
        <p:txBody>
          <a:bodyPr wrap="square">
            <a:spAutoFit/>
          </a:bodyPr>
          <a:lstStyle/>
          <a:p>
            <a:pPr marL="285750" indent="-285750">
              <a:buFont typeface="Wingdings" pitchFamily="2" charset="2"/>
              <a:buChar char="q"/>
            </a:pPr>
            <a:r>
              <a:rPr lang="en-US" sz="2000" b="1" dirty="0">
                <a:solidFill>
                  <a:srgbClr val="063CE8"/>
                </a:solidFill>
                <a:latin typeface="Tw Cen MT" panose="020B0602020104020603" pitchFamily="34" charset="0"/>
              </a:rPr>
              <a:t>Ring</a:t>
            </a:r>
            <a:r>
              <a:rPr lang="en-US" sz="2000" dirty="0">
                <a:solidFill>
                  <a:srgbClr val="000000"/>
                </a:solidFill>
                <a:latin typeface="Tw Cen MT" panose="020B0602020104020603" pitchFamily="34" charset="0"/>
              </a:rPr>
              <a:t>:  R=&lt; {…}, </a:t>
            </a:r>
            <a:r>
              <a:rPr lang="en-US" sz="4800" dirty="0">
                <a:solidFill>
                  <a:srgbClr val="000000"/>
                </a:solidFill>
                <a:latin typeface="Tw Cen MT" panose="020B0602020104020603" pitchFamily="34" charset="0"/>
              </a:rPr>
              <a:t>.</a:t>
            </a:r>
            <a:r>
              <a:rPr lang="en-US" sz="2000" dirty="0">
                <a:solidFill>
                  <a:srgbClr val="000000"/>
                </a:solidFill>
                <a:latin typeface="Tw Cen MT" panose="020B0602020104020603" pitchFamily="34" charset="0"/>
              </a:rPr>
              <a:t>,# &gt;</a:t>
            </a:r>
          </a:p>
          <a:p>
            <a:pPr lvl="1"/>
            <a:r>
              <a:rPr lang="en-US" sz="2000" dirty="0">
                <a:solidFill>
                  <a:srgbClr val="000000"/>
                </a:solidFill>
                <a:latin typeface="Tw Cen MT" panose="020B0602020104020603" pitchFamily="34" charset="0"/>
              </a:rPr>
              <a:t>1.  A group with two operations: </a:t>
            </a:r>
            <a:r>
              <a:rPr lang="en-US" sz="2000" dirty="0">
                <a:solidFill>
                  <a:srgbClr val="FF0000"/>
                </a:solidFill>
                <a:latin typeface="Tw Cen MT" panose="020B0602020104020603" pitchFamily="34" charset="0"/>
              </a:rPr>
              <a:t>addition</a:t>
            </a:r>
            <a:r>
              <a:rPr lang="en-US" sz="2000" dirty="0">
                <a:solidFill>
                  <a:srgbClr val="000000"/>
                </a:solidFill>
                <a:latin typeface="Tw Cen MT" panose="020B0602020104020603" pitchFamily="34" charset="0"/>
              </a:rPr>
              <a:t> and </a:t>
            </a:r>
            <a:r>
              <a:rPr lang="en-US" sz="2000" dirty="0">
                <a:solidFill>
                  <a:srgbClr val="FF0000"/>
                </a:solidFill>
                <a:latin typeface="Tw Cen MT" panose="020B0602020104020603" pitchFamily="34" charset="0"/>
              </a:rPr>
              <a:t>multiplication</a:t>
            </a:r>
            <a:r>
              <a:rPr lang="en-US" sz="2000" dirty="0">
                <a:solidFill>
                  <a:srgbClr val="000000"/>
                </a:solidFill>
                <a:latin typeface="Tw Cen MT" panose="020B0602020104020603" pitchFamily="34" charset="0"/>
              </a:rPr>
              <a:t> </a:t>
            </a:r>
          </a:p>
          <a:p>
            <a:r>
              <a:rPr lang="en-US" sz="2000" dirty="0">
                <a:solidFill>
                  <a:srgbClr val="000000"/>
                </a:solidFill>
                <a:latin typeface="Tw Cen MT" panose="020B0602020104020603" pitchFamily="34" charset="0"/>
              </a:rPr>
              <a:t>       2.  The group is </a:t>
            </a:r>
            <a:r>
              <a:rPr lang="en-US" sz="2000" dirty="0" err="1">
                <a:solidFill>
                  <a:srgbClr val="000000"/>
                </a:solidFill>
                <a:latin typeface="Tw Cen MT" panose="020B0602020104020603" pitchFamily="34" charset="0"/>
              </a:rPr>
              <a:t>Abelian</a:t>
            </a:r>
            <a:r>
              <a:rPr lang="en-US" sz="2000" dirty="0">
                <a:solidFill>
                  <a:srgbClr val="000000"/>
                </a:solidFill>
                <a:latin typeface="Tw Cen MT" panose="020B0602020104020603" pitchFamily="34" charset="0"/>
              </a:rPr>
              <a:t> with respect to addition: </a:t>
            </a:r>
            <a:r>
              <a:rPr lang="en-US" sz="2000" dirty="0" err="1">
                <a:solidFill>
                  <a:srgbClr val="000000"/>
                </a:solidFill>
                <a:latin typeface="Tw Cen MT" panose="020B0602020104020603" pitchFamily="34" charset="0"/>
              </a:rPr>
              <a:t>a+b</a:t>
            </a:r>
            <a:r>
              <a:rPr lang="en-US" sz="2000" dirty="0">
                <a:solidFill>
                  <a:srgbClr val="000000"/>
                </a:solidFill>
                <a:latin typeface="Tw Cen MT" panose="020B0602020104020603" pitchFamily="34" charset="0"/>
              </a:rPr>
              <a:t> = </a:t>
            </a:r>
            <a:r>
              <a:rPr lang="en-US" sz="2000" dirty="0" err="1">
                <a:solidFill>
                  <a:srgbClr val="000000"/>
                </a:solidFill>
                <a:latin typeface="Tw Cen MT" panose="020B0602020104020603" pitchFamily="34" charset="0"/>
              </a:rPr>
              <a:t>b+a</a:t>
            </a:r>
            <a:r>
              <a:rPr lang="en-US" sz="2000" dirty="0">
                <a:solidFill>
                  <a:srgbClr val="000000"/>
                </a:solidFill>
                <a:latin typeface="Tw Cen MT" panose="020B0602020104020603" pitchFamily="34" charset="0"/>
              </a:rPr>
              <a:t> (1</a:t>
            </a:r>
            <a:r>
              <a:rPr lang="en-US" sz="2000" baseline="30000" dirty="0">
                <a:solidFill>
                  <a:srgbClr val="000000"/>
                </a:solidFill>
                <a:latin typeface="Tw Cen MT" panose="020B0602020104020603" pitchFamily="34" charset="0"/>
              </a:rPr>
              <a:t>st</a:t>
            </a:r>
            <a:r>
              <a:rPr lang="en-US" sz="2000" dirty="0">
                <a:solidFill>
                  <a:srgbClr val="000000"/>
                </a:solidFill>
                <a:latin typeface="Tw Cen MT" panose="020B0602020104020603" pitchFamily="34" charset="0"/>
              </a:rPr>
              <a:t> 	operation, all )</a:t>
            </a:r>
          </a:p>
          <a:p>
            <a:r>
              <a:rPr lang="en-US" sz="2000" dirty="0">
                <a:solidFill>
                  <a:srgbClr val="000000"/>
                </a:solidFill>
                <a:latin typeface="Tw Cen MT" panose="020B0602020104020603" pitchFamily="34" charset="0"/>
              </a:rPr>
              <a:t>       3. Multiplication and additions are both associative: (2</a:t>
            </a:r>
            <a:r>
              <a:rPr lang="en-US" sz="2000" baseline="30000" dirty="0">
                <a:solidFill>
                  <a:srgbClr val="000000"/>
                </a:solidFill>
                <a:latin typeface="Tw Cen MT" panose="020B0602020104020603" pitchFamily="34" charset="0"/>
              </a:rPr>
              <a:t>nd</a:t>
            </a:r>
            <a:r>
              <a:rPr lang="en-US" sz="2000" dirty="0">
                <a:solidFill>
                  <a:srgbClr val="000000"/>
                </a:solidFill>
                <a:latin typeface="Tw Cen MT" panose="020B0602020104020603" pitchFamily="34" charset="0"/>
              </a:rPr>
              <a:t> operation only 	</a:t>
            </a:r>
            <a:r>
              <a:rPr lang="en-US" sz="2000" dirty="0">
                <a:solidFill>
                  <a:srgbClr val="FF0000"/>
                </a:solidFill>
                <a:latin typeface="Tw Cen MT" panose="020B0602020104020603" pitchFamily="34" charset="0"/>
              </a:rPr>
              <a:t>first two</a:t>
            </a:r>
            <a:r>
              <a:rPr lang="en-US" sz="2000" dirty="0">
                <a:solidFill>
                  <a:srgbClr val="000000"/>
                </a:solidFill>
                <a:latin typeface="Tw Cen MT" panose="020B0602020104020603" pitchFamily="34" charset="0"/>
              </a:rPr>
              <a:t>)</a:t>
            </a:r>
          </a:p>
          <a:p>
            <a:r>
              <a:rPr lang="en-US" sz="2000" dirty="0">
                <a:solidFill>
                  <a:srgbClr val="000000"/>
                </a:solidFill>
                <a:latin typeface="Tw Cen MT" panose="020B0602020104020603" pitchFamily="34" charset="0"/>
              </a:rPr>
              <a:t>		a+(</a:t>
            </a:r>
            <a:r>
              <a:rPr lang="en-US" sz="2000" dirty="0" err="1">
                <a:solidFill>
                  <a:srgbClr val="000000"/>
                </a:solidFill>
                <a:latin typeface="Tw Cen MT" panose="020B0602020104020603" pitchFamily="34" charset="0"/>
              </a:rPr>
              <a:t>b+c</a:t>
            </a:r>
            <a:r>
              <a:rPr lang="en-US" sz="2000" dirty="0">
                <a:solidFill>
                  <a:srgbClr val="000000"/>
                </a:solidFill>
                <a:latin typeface="Tw Cen MT" panose="020B0602020104020603" pitchFamily="34" charset="0"/>
              </a:rPr>
              <a:t>)=(</a:t>
            </a:r>
            <a:r>
              <a:rPr lang="en-US" sz="2000" dirty="0" err="1">
                <a:solidFill>
                  <a:srgbClr val="000000"/>
                </a:solidFill>
                <a:latin typeface="Tw Cen MT" panose="020B0602020104020603" pitchFamily="34" charset="0"/>
              </a:rPr>
              <a:t>a+b</a:t>
            </a:r>
            <a:r>
              <a:rPr lang="en-US" sz="2000" dirty="0">
                <a:solidFill>
                  <a:srgbClr val="000000"/>
                </a:solidFill>
                <a:latin typeface="Tw Cen MT" panose="020B0602020104020603" pitchFamily="34" charset="0"/>
              </a:rPr>
              <a:t>)+c </a:t>
            </a:r>
          </a:p>
          <a:p>
            <a:r>
              <a:rPr lang="en-US" sz="2000" dirty="0">
                <a:solidFill>
                  <a:srgbClr val="000000"/>
                </a:solidFill>
                <a:latin typeface="Tw Cen MT" panose="020B0602020104020603" pitchFamily="34" charset="0"/>
              </a:rPr>
              <a:t>		a.(</a:t>
            </a:r>
            <a:r>
              <a:rPr lang="en-US" sz="2000" dirty="0" err="1">
                <a:solidFill>
                  <a:srgbClr val="000000"/>
                </a:solidFill>
                <a:latin typeface="Tw Cen MT" panose="020B0602020104020603" pitchFamily="34" charset="0"/>
              </a:rPr>
              <a:t>b.c</a:t>
            </a:r>
            <a:r>
              <a:rPr lang="en-US" sz="2000" dirty="0">
                <a:solidFill>
                  <a:srgbClr val="000000"/>
                </a:solidFill>
                <a:latin typeface="Tw Cen MT" panose="020B0602020104020603" pitchFamily="34" charset="0"/>
              </a:rPr>
              <a:t>)=(</a:t>
            </a:r>
            <a:r>
              <a:rPr lang="en-US" sz="2000" dirty="0" err="1">
                <a:solidFill>
                  <a:srgbClr val="000000"/>
                </a:solidFill>
                <a:latin typeface="Tw Cen MT" panose="020B0602020104020603" pitchFamily="34" charset="0"/>
              </a:rPr>
              <a:t>a.b</a:t>
            </a:r>
            <a:r>
              <a:rPr lang="en-US" sz="2000" dirty="0">
                <a:solidFill>
                  <a:srgbClr val="000000"/>
                </a:solidFill>
                <a:latin typeface="Tw Cen MT" panose="020B0602020104020603" pitchFamily="34" charset="0"/>
              </a:rPr>
              <a:t>).c </a:t>
            </a:r>
          </a:p>
          <a:p>
            <a:endParaRPr lang="en-US" sz="2000" dirty="0">
              <a:solidFill>
                <a:srgbClr val="000000"/>
              </a:solidFill>
              <a:latin typeface="Tw Cen MT" panose="020B0602020104020603" pitchFamily="34" charset="0"/>
            </a:endParaRPr>
          </a:p>
          <a:p>
            <a:r>
              <a:rPr lang="en-US" sz="2000" dirty="0">
                <a:solidFill>
                  <a:srgbClr val="000000"/>
                </a:solidFill>
                <a:latin typeface="Tw Cen MT" panose="020B0602020104020603" pitchFamily="34" charset="0"/>
              </a:rPr>
              <a:t>       4. Multiplication (2</a:t>
            </a:r>
            <a:r>
              <a:rPr lang="en-US" sz="2000" baseline="30000" dirty="0">
                <a:solidFill>
                  <a:srgbClr val="000000"/>
                </a:solidFill>
                <a:latin typeface="Tw Cen MT" panose="020B0602020104020603" pitchFamily="34" charset="0"/>
              </a:rPr>
              <a:t>nd</a:t>
            </a:r>
            <a:r>
              <a:rPr lang="en-US" sz="2000" dirty="0">
                <a:solidFill>
                  <a:srgbClr val="000000"/>
                </a:solidFill>
                <a:latin typeface="Tw Cen MT" panose="020B0602020104020603" pitchFamily="34" charset="0"/>
              </a:rPr>
              <a:t> </a:t>
            </a:r>
            <a:r>
              <a:rPr lang="en-US" sz="2000" dirty="0" err="1">
                <a:solidFill>
                  <a:srgbClr val="000000"/>
                </a:solidFill>
                <a:latin typeface="Tw Cen MT" panose="020B0602020104020603" pitchFamily="34" charset="0"/>
              </a:rPr>
              <a:t>opearation</a:t>
            </a:r>
            <a:r>
              <a:rPr lang="en-US" sz="2000" dirty="0">
                <a:solidFill>
                  <a:srgbClr val="000000"/>
                </a:solidFill>
                <a:latin typeface="Tw Cen MT" panose="020B0602020104020603" pitchFamily="34" charset="0"/>
              </a:rPr>
              <a:t>)  distributes over addition (</a:t>
            </a:r>
            <a:r>
              <a:rPr lang="en-US" sz="2000" dirty="0" err="1">
                <a:solidFill>
                  <a:srgbClr val="000000"/>
                </a:solidFill>
                <a:latin typeface="Tw Cen MT" panose="020B0602020104020603" pitchFamily="34" charset="0"/>
              </a:rPr>
              <a:t>ist</a:t>
            </a:r>
            <a:r>
              <a:rPr lang="en-US" sz="2000" dirty="0">
                <a:solidFill>
                  <a:srgbClr val="000000"/>
                </a:solidFill>
                <a:latin typeface="Tw Cen MT" panose="020B0602020104020603" pitchFamily="34" charset="0"/>
              </a:rPr>
              <a:t> 		operation) </a:t>
            </a:r>
          </a:p>
          <a:p>
            <a:pPr marL="285750" indent="-285750">
              <a:buFont typeface="Wingdings" pitchFamily="2" charset="2"/>
              <a:buChar char="q"/>
            </a:pPr>
            <a:endParaRPr lang="en-US" sz="2000" dirty="0">
              <a:solidFill>
                <a:srgbClr val="000000"/>
              </a:solidFill>
              <a:latin typeface="Tw Cen MT" panose="020B0602020104020603" pitchFamily="34" charset="0"/>
            </a:endParaRPr>
          </a:p>
          <a:p>
            <a:r>
              <a:rPr lang="en-US" sz="2000" dirty="0">
                <a:solidFill>
                  <a:srgbClr val="000000"/>
                </a:solidFill>
                <a:latin typeface="Tw Cen MT" panose="020B0602020104020603" pitchFamily="34" charset="0"/>
              </a:rPr>
              <a:t>		a.(</a:t>
            </a:r>
            <a:r>
              <a:rPr lang="en-US" sz="2000" dirty="0" err="1">
                <a:solidFill>
                  <a:srgbClr val="000000"/>
                </a:solidFill>
                <a:latin typeface="Tw Cen MT" panose="020B0602020104020603" pitchFamily="34" charset="0"/>
              </a:rPr>
              <a:t>b+c</a:t>
            </a:r>
            <a:r>
              <a:rPr lang="en-US" sz="2000" dirty="0">
                <a:solidFill>
                  <a:srgbClr val="000000"/>
                </a:solidFill>
                <a:latin typeface="Tw Cen MT" panose="020B0602020104020603" pitchFamily="34" charset="0"/>
              </a:rPr>
              <a:t>)=</a:t>
            </a:r>
            <a:r>
              <a:rPr lang="en-US" sz="2000" dirty="0" err="1">
                <a:solidFill>
                  <a:srgbClr val="000000"/>
                </a:solidFill>
                <a:latin typeface="Tw Cen MT" panose="020B0602020104020603" pitchFamily="34" charset="0"/>
              </a:rPr>
              <a:t>a.b+a.c</a:t>
            </a:r>
            <a:r>
              <a:rPr lang="en-US" sz="2000" dirty="0">
                <a:solidFill>
                  <a:srgbClr val="000000"/>
                </a:solidFill>
                <a:latin typeface="Tw Cen MT" panose="020B0602020104020603" pitchFamily="34" charset="0"/>
              </a:rPr>
              <a:t> </a:t>
            </a:r>
          </a:p>
          <a:p>
            <a:r>
              <a:rPr lang="en-US" sz="2000" dirty="0">
                <a:solidFill>
                  <a:srgbClr val="000000"/>
                </a:solidFill>
                <a:latin typeface="Tw Cen MT" panose="020B0602020104020603" pitchFamily="34" charset="0"/>
              </a:rPr>
              <a:t>		(</a:t>
            </a:r>
            <a:r>
              <a:rPr lang="en-US" sz="2000" dirty="0" err="1">
                <a:solidFill>
                  <a:srgbClr val="000000"/>
                </a:solidFill>
                <a:latin typeface="Tw Cen MT" panose="020B0602020104020603" pitchFamily="34" charset="0"/>
              </a:rPr>
              <a:t>a+b</a:t>
            </a:r>
            <a:r>
              <a:rPr lang="en-US" sz="2000" dirty="0">
                <a:solidFill>
                  <a:srgbClr val="000000"/>
                </a:solidFill>
                <a:latin typeface="Tw Cen MT" panose="020B0602020104020603" pitchFamily="34" charset="0"/>
              </a:rPr>
              <a:t>).c = </a:t>
            </a:r>
            <a:r>
              <a:rPr lang="en-US" sz="2000" dirty="0" err="1">
                <a:solidFill>
                  <a:srgbClr val="000000"/>
                </a:solidFill>
                <a:latin typeface="Tw Cen MT" panose="020B0602020104020603" pitchFamily="34" charset="0"/>
              </a:rPr>
              <a:t>a.c</a:t>
            </a:r>
            <a:r>
              <a:rPr lang="en-US" sz="2000" dirty="0">
                <a:solidFill>
                  <a:srgbClr val="000000"/>
                </a:solidFill>
                <a:latin typeface="Tw Cen MT" panose="020B0602020104020603" pitchFamily="34" charset="0"/>
              </a:rPr>
              <a:t> + </a:t>
            </a:r>
            <a:r>
              <a:rPr lang="en-US" sz="2000" dirty="0" err="1">
                <a:solidFill>
                  <a:srgbClr val="000000"/>
                </a:solidFill>
                <a:latin typeface="Tw Cen MT" panose="020B0602020104020603" pitchFamily="34" charset="0"/>
              </a:rPr>
              <a:t>b.c</a:t>
            </a:r>
            <a:r>
              <a:rPr lang="en-US" sz="2000" dirty="0">
                <a:solidFill>
                  <a:srgbClr val="000000"/>
                </a:solidFill>
                <a:latin typeface="Tw Cen MT" panose="020B0602020104020603" pitchFamily="34" charset="0"/>
              </a:rPr>
              <a:t> </a:t>
            </a:r>
          </a:p>
          <a:p>
            <a:pPr marL="285750" indent="-285750">
              <a:buFont typeface="Wingdings" pitchFamily="2" charset="2"/>
              <a:buChar char="q"/>
            </a:pPr>
            <a:r>
              <a:rPr lang="en-US" sz="2000" b="1" dirty="0">
                <a:solidFill>
                  <a:srgbClr val="063CE8"/>
                </a:solidFill>
                <a:latin typeface="Tw Cen MT" panose="020B0602020104020603" pitchFamily="34" charset="0"/>
              </a:rPr>
              <a:t>Commutative Ring</a:t>
            </a:r>
            <a:r>
              <a:rPr lang="en-US" sz="2000" dirty="0">
                <a:solidFill>
                  <a:srgbClr val="000000"/>
                </a:solidFill>
                <a:latin typeface="Tw Cen MT" panose="020B0602020104020603" pitchFamily="34" charset="0"/>
              </a:rPr>
              <a:t>:  Multiplication is commutative, i.e., </a:t>
            </a:r>
          </a:p>
          <a:p>
            <a:r>
              <a:rPr lang="en-US" sz="2000" dirty="0">
                <a:solidFill>
                  <a:srgbClr val="000000"/>
                </a:solidFill>
                <a:latin typeface="Tw Cen MT" panose="020B0602020104020603" pitchFamily="34" charset="0"/>
              </a:rPr>
              <a:t>		</a:t>
            </a:r>
            <a:r>
              <a:rPr lang="en-US" sz="2000" dirty="0" err="1">
                <a:solidFill>
                  <a:srgbClr val="000000"/>
                </a:solidFill>
                <a:latin typeface="Tw Cen MT" panose="020B0602020104020603" pitchFamily="34" charset="0"/>
              </a:rPr>
              <a:t>a.b</a:t>
            </a:r>
            <a:r>
              <a:rPr lang="en-US" sz="2000" dirty="0">
                <a:solidFill>
                  <a:srgbClr val="000000"/>
                </a:solidFill>
                <a:latin typeface="Tw Cen MT" panose="020B0602020104020603" pitchFamily="34" charset="0"/>
              </a:rPr>
              <a:t> = </a:t>
            </a:r>
            <a:r>
              <a:rPr lang="en-US" sz="2000" dirty="0" err="1">
                <a:solidFill>
                  <a:srgbClr val="000000"/>
                </a:solidFill>
                <a:latin typeface="Tw Cen MT" panose="020B0602020104020603" pitchFamily="34" charset="0"/>
              </a:rPr>
              <a:t>b.a</a:t>
            </a:r>
            <a:r>
              <a:rPr lang="en-US" sz="2000" dirty="0">
                <a:solidFill>
                  <a:srgbClr val="000000"/>
                </a:solidFill>
                <a:latin typeface="Tw Cen MT" panose="020B0602020104020603" pitchFamily="34" charset="0"/>
              </a:rPr>
              <a:t> </a:t>
            </a:r>
          </a:p>
          <a:p>
            <a:pPr marL="285750" indent="-285750">
              <a:buFont typeface="Wingdings" pitchFamily="2" charset="2"/>
              <a:buChar char="q"/>
            </a:pPr>
            <a:r>
              <a:rPr lang="en-US" sz="2000" b="1" dirty="0">
                <a:solidFill>
                  <a:srgbClr val="063CE8"/>
                </a:solidFill>
                <a:latin typeface="Tw Cen MT" panose="020B0602020104020603" pitchFamily="34" charset="0"/>
              </a:rPr>
              <a:t>Integral Domain</a:t>
            </a:r>
            <a:r>
              <a:rPr lang="en-US" sz="2000" dirty="0">
                <a:solidFill>
                  <a:srgbClr val="000000"/>
                </a:solidFill>
                <a:latin typeface="Tw Cen MT" panose="020B0602020104020603" pitchFamily="34" charset="0"/>
              </a:rPr>
              <a:t>: multiplication operation has an identity and no zero divisors </a:t>
            </a:r>
          </a:p>
        </p:txBody>
      </p:sp>
    </p:spTree>
    <p:extLst>
      <p:ext uri="{BB962C8B-B14F-4D97-AF65-F5344CB8AC3E}">
        <p14:creationId xmlns:p14="http://schemas.microsoft.com/office/powerpoint/2010/main" val="2020148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326728" y="557487"/>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effectLst>
                  <a:outerShdw blurRad="38100" dist="38100" dir="2700000" algn="tl">
                    <a:srgbClr val="C0C0C0"/>
                  </a:outerShdw>
                </a:effectLst>
                <a:latin typeface="Tw Cen MT" panose="020B0602020104020603" pitchFamily="34" charset="0"/>
              </a:rPr>
              <a:t>  </a:t>
            </a:r>
            <a:r>
              <a:rPr lang="en-US" sz="3200" b="1" baseline="0" dirty="0">
                <a:solidFill>
                  <a:srgbClr val="FF0000"/>
                </a:solidFill>
                <a:latin typeface="Tw Cen MT" panose="020B0602020104020603" pitchFamily="34" charset="0"/>
              </a:rPr>
              <a:t>Ring</a:t>
            </a:r>
          </a:p>
        </p:txBody>
      </p:sp>
      <p:sp>
        <p:nvSpPr>
          <p:cNvPr id="2" name="Rectangle 1"/>
          <p:cNvSpPr/>
          <p:nvPr/>
        </p:nvSpPr>
        <p:spPr>
          <a:xfrm>
            <a:off x="798394" y="1259591"/>
            <a:ext cx="8113594" cy="1200329"/>
          </a:xfrm>
          <a:prstGeom prst="rect">
            <a:avLst/>
          </a:prstGeom>
        </p:spPr>
        <p:txBody>
          <a:bodyPr wrap="square">
            <a:spAutoFit/>
          </a:bodyPr>
          <a:lstStyle/>
          <a:p>
            <a:endParaRPr lang="en-US" sz="2400" dirty="0">
              <a:solidFill>
                <a:schemeClr val="bg1"/>
              </a:solidFill>
              <a:latin typeface="Tw Cen MT" panose="020B0602020104020603" pitchFamily="34" charset="0"/>
            </a:endParaRPr>
          </a:p>
          <a:p>
            <a:r>
              <a:rPr lang="en-US" sz="2400" dirty="0">
                <a:solidFill>
                  <a:schemeClr val="bg1"/>
                </a:solidFill>
                <a:latin typeface="Tw Cen MT" panose="020B0602020104020603" pitchFamily="34" charset="0"/>
              </a:rPr>
              <a:t>Consider the set S = {a, b} with addition and multiplication defined by the following tables: </a:t>
            </a:r>
          </a:p>
        </p:txBody>
      </p:sp>
      <p:sp>
        <p:nvSpPr>
          <p:cNvPr id="3" name="Rectangle 2"/>
          <p:cNvSpPr/>
          <p:nvPr/>
        </p:nvSpPr>
        <p:spPr>
          <a:xfrm>
            <a:off x="798394" y="4361429"/>
            <a:ext cx="4572000" cy="830997"/>
          </a:xfrm>
          <a:prstGeom prst="rect">
            <a:avLst/>
          </a:prstGeom>
        </p:spPr>
        <p:txBody>
          <a:bodyPr>
            <a:spAutoFit/>
          </a:bodyPr>
          <a:lstStyle/>
          <a:p>
            <a:endParaRPr lang="en-US" sz="2400" dirty="0">
              <a:solidFill>
                <a:schemeClr val="bg1"/>
              </a:solidFill>
              <a:latin typeface="Tw Cen MT" panose="020B0602020104020603" pitchFamily="34" charset="0"/>
            </a:endParaRPr>
          </a:p>
          <a:p>
            <a:r>
              <a:rPr lang="en-US" sz="2400" dirty="0">
                <a:solidFill>
                  <a:schemeClr val="bg1"/>
                </a:solidFill>
                <a:latin typeface="Tw Cen MT" panose="020B0602020104020603" pitchFamily="34" charset="0"/>
              </a:rPr>
              <a:t>Is S a ring? Justify.</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4057" y="2762250"/>
            <a:ext cx="167640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300" y="2705100"/>
            <a:ext cx="1752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0059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488" y="1043035"/>
            <a:ext cx="7504112"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1"/>
          <p:cNvSpPr>
            <a:spLocks noChangeArrowheads="1"/>
          </p:cNvSpPr>
          <p:nvPr/>
        </p:nvSpPr>
        <p:spPr bwMode="auto">
          <a:xfrm>
            <a:off x="304800" y="4643521"/>
            <a:ext cx="8839200" cy="1440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just" defTabSz="914400" eaLnBrk="1" fontAlgn="auto" latinLnBrk="0" hangingPunct="1">
              <a:lnSpc>
                <a:spcPct val="125000"/>
              </a:lnSpc>
              <a:spcBef>
                <a:spcPts val="0"/>
              </a:spcBef>
              <a:spcAft>
                <a:spcPct val="7000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Tw Cen MT" panose="020B0602020104020603" pitchFamily="34" charset="0"/>
              </a:rPr>
              <a:t>The set Z with two operations, addition and multiplication, is a commutative ring. We show it by R = &lt;Z, +, ×&gt;. Addition satisfies all of the five properties; multiplication satisfies only three properties.</a:t>
            </a:r>
          </a:p>
        </p:txBody>
      </p:sp>
    </p:spTree>
    <p:extLst>
      <p:ext uri="{BB962C8B-B14F-4D97-AF65-F5344CB8AC3E}">
        <p14:creationId xmlns:p14="http://schemas.microsoft.com/office/powerpoint/2010/main" val="3031032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10"/>
          <p:cNvSpPr txBox="1">
            <a:spLocks noChangeArrowheads="1"/>
          </p:cNvSpPr>
          <p:nvPr/>
        </p:nvSpPr>
        <p:spPr bwMode="auto">
          <a:xfrm>
            <a:off x="2847306" y="437866"/>
            <a:ext cx="2736647" cy="523220"/>
          </a:xfrm>
          <a:prstGeom prst="rect">
            <a:avLst/>
          </a:prstGeom>
          <a:noFill/>
          <a:ln w="9525">
            <a:noFill/>
            <a:miter lim="800000"/>
            <a:headEnd/>
            <a:tailEnd/>
          </a:ln>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FF0000"/>
                </a:solidFill>
                <a:effectLst/>
                <a:uLnTx/>
                <a:uFillTx/>
                <a:latin typeface="Tw Cen MT" panose="020B0602020104020603" pitchFamily="34" charset="0"/>
              </a:rPr>
              <a:t>Cyclic Subgroups</a:t>
            </a:r>
          </a:p>
        </p:txBody>
      </p:sp>
      <p:sp>
        <p:nvSpPr>
          <p:cNvPr id="12" name="Rectangle 11"/>
          <p:cNvSpPr>
            <a:spLocks noChangeArrowheads="1"/>
          </p:cNvSpPr>
          <p:nvPr/>
        </p:nvSpPr>
        <p:spPr bwMode="auto">
          <a:xfrm>
            <a:off x="488731" y="1305629"/>
            <a:ext cx="8166538" cy="1200329"/>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Gill Sans MT" pitchFamily="34" charset="0"/>
              </a:rPr>
              <a:t>If </a:t>
            </a:r>
            <a:r>
              <a:rPr kumimoji="0" lang="en-US" sz="2400" b="0" i="0" u="none" strike="noStrike" kern="0" cap="none" spc="0" normalizeH="0" baseline="0" noProof="0" dirty="0">
                <a:ln>
                  <a:noFill/>
                </a:ln>
                <a:solidFill>
                  <a:srgbClr val="FF0000"/>
                </a:solidFill>
                <a:effectLst/>
                <a:uLnTx/>
                <a:uFillTx/>
                <a:latin typeface="Gill Sans MT" pitchFamily="34" charset="0"/>
              </a:rPr>
              <a:t>a subgroup </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of a group can be generated using the power </a:t>
            </a:r>
            <a:r>
              <a:rPr kumimoji="0" lang="en-US" sz="2400" b="0" i="0" u="none" strike="noStrike" kern="0" cap="none" spc="0" normalizeH="0" baseline="0" noProof="0" dirty="0">
                <a:ln>
                  <a:noFill/>
                </a:ln>
                <a:solidFill>
                  <a:srgbClr val="FF0000"/>
                </a:solidFill>
                <a:effectLst/>
                <a:uLnTx/>
                <a:uFillTx/>
                <a:latin typeface="Gill Sans MT" pitchFamily="34" charset="0"/>
              </a:rPr>
              <a:t>of an element</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the subgroup is called the </a:t>
            </a:r>
            <a:r>
              <a:rPr kumimoji="0" lang="en-US" sz="2400" b="0" i="0" u="none" strike="noStrike" kern="0" cap="none" spc="0" normalizeH="0" baseline="0" noProof="0" dirty="0">
                <a:ln>
                  <a:noFill/>
                </a:ln>
                <a:solidFill>
                  <a:srgbClr val="FF0000"/>
                </a:solidFill>
                <a:effectLst/>
                <a:uLnTx/>
                <a:uFillTx/>
                <a:latin typeface="Gill Sans MT" pitchFamily="34" charset="0"/>
              </a:rPr>
              <a:t>cyclic subgroup</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Power means repeatedly applying</a:t>
            </a:r>
            <a:r>
              <a:rPr kumimoji="0" lang="en-US" sz="2400" b="0" i="0" u="none" strike="noStrike" kern="0" cap="none" spc="0" normalizeH="0" noProof="0" dirty="0">
                <a:ln>
                  <a:noFill/>
                </a:ln>
                <a:solidFill>
                  <a:sysClr val="windowText" lastClr="000000"/>
                </a:solidFill>
                <a:effectLst/>
                <a:uLnTx/>
                <a:uFillTx/>
                <a:latin typeface="Gill Sans MT" pitchFamily="34" charset="0"/>
              </a:rPr>
              <a:t> the group </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operation.</a:t>
            </a:r>
          </a:p>
        </p:txBody>
      </p:sp>
      <p:pic>
        <p:nvPicPr>
          <p:cNvPr id="13" name="Picture 16"/>
          <p:cNvPicPr>
            <a:picLocks noChangeAspect="1" noChangeArrowheads="1"/>
          </p:cNvPicPr>
          <p:nvPr/>
        </p:nvPicPr>
        <p:blipFill>
          <a:blip r:embed="rId2"/>
          <a:srcRect/>
          <a:stretch>
            <a:fillRect/>
          </a:stretch>
        </p:blipFill>
        <p:spPr bwMode="auto">
          <a:xfrm>
            <a:off x="1495425" y="3213894"/>
            <a:ext cx="5667375" cy="636588"/>
          </a:xfrm>
          <a:prstGeom prst="rect">
            <a:avLst/>
          </a:prstGeom>
          <a:noFill/>
          <a:ln w="57150">
            <a:solidFill>
              <a:srgbClr val="3333CC"/>
            </a:solidFill>
            <a:miter lim="800000"/>
            <a:headEnd/>
            <a:tailEnd/>
          </a:ln>
        </p:spPr>
      </p:pic>
      <p:sp>
        <p:nvSpPr>
          <p:cNvPr id="2" name="Rectangle 1"/>
          <p:cNvSpPr/>
          <p:nvPr/>
        </p:nvSpPr>
        <p:spPr>
          <a:xfrm>
            <a:off x="1452953" y="4236577"/>
            <a:ext cx="5138915" cy="861774"/>
          </a:xfrm>
          <a:prstGeom prst="rect">
            <a:avLst/>
          </a:prstGeom>
        </p:spPr>
        <p:txBody>
          <a:bodyPr wrap="square">
            <a:spAutoFit/>
          </a:bodyPr>
          <a:lstStyle/>
          <a:p>
            <a:endParaRPr lang="en-US" dirty="0">
              <a:latin typeface="Tw Cen MT" panose="020B0602020104020603" pitchFamily="34" charset="0"/>
            </a:endParaRPr>
          </a:p>
          <a:p>
            <a:r>
              <a:rPr lang="en-US" sz="3200" dirty="0">
                <a:solidFill>
                  <a:schemeClr val="bg1"/>
                </a:solidFill>
                <a:latin typeface="Tw Cen MT" panose="020B0602020104020603" pitchFamily="34" charset="0"/>
              </a:rPr>
              <a:t>example:   a</a:t>
            </a:r>
            <a:r>
              <a:rPr lang="en-US" sz="3200" baseline="30000" dirty="0">
                <a:solidFill>
                  <a:schemeClr val="bg1"/>
                </a:solidFill>
                <a:latin typeface="Tw Cen MT" panose="020B0602020104020603" pitchFamily="34" charset="0"/>
              </a:rPr>
              <a:t>3</a:t>
            </a:r>
            <a:r>
              <a:rPr lang="en-US" sz="3200" dirty="0">
                <a:solidFill>
                  <a:schemeClr val="bg1"/>
                </a:solidFill>
                <a:latin typeface="Tw Cen MT" panose="020B0602020104020603" pitchFamily="34" charset="0"/>
              </a:rPr>
              <a:t> = </a:t>
            </a:r>
            <a:r>
              <a:rPr lang="en-US" sz="3200" dirty="0" err="1">
                <a:solidFill>
                  <a:schemeClr val="bg1"/>
                </a:solidFill>
                <a:latin typeface="Tw Cen MT" panose="020B0602020104020603" pitchFamily="34" charset="0"/>
              </a:rPr>
              <a:t>a.a.a</a:t>
            </a:r>
            <a:r>
              <a:rPr lang="en-US" sz="3200" dirty="0">
                <a:solidFill>
                  <a:schemeClr val="bg1"/>
                </a:solidFill>
                <a:latin typeface="Tw Cen MT" panose="020B0602020104020603" pitchFamily="34" charset="0"/>
              </a:rPr>
              <a:t> </a:t>
            </a:r>
            <a:endParaRPr lang="en-US" dirty="0">
              <a:solidFill>
                <a:schemeClr val="bg1"/>
              </a:solidFill>
              <a:latin typeface="Tw Cen MT" panose="020B0602020104020603"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10"/>
          <p:cNvSpPr txBox="1">
            <a:spLocks noChangeArrowheads="1"/>
          </p:cNvSpPr>
          <p:nvPr/>
        </p:nvSpPr>
        <p:spPr bwMode="auto">
          <a:xfrm>
            <a:off x="3152283" y="265386"/>
            <a:ext cx="2622834" cy="523220"/>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3333CC"/>
                </a:solidFill>
                <a:effectLst/>
                <a:uLnTx/>
                <a:uFillTx/>
                <a:latin typeface="Tw Cen MT" panose="020B0602020104020603" pitchFamily="34" charset="0"/>
              </a:rPr>
              <a:t>Cyclic Subgroups</a:t>
            </a:r>
          </a:p>
        </p:txBody>
      </p:sp>
      <p:sp>
        <p:nvSpPr>
          <p:cNvPr id="36" name="Rectangle 10"/>
          <p:cNvSpPr>
            <a:spLocks noChangeArrowheads="1"/>
          </p:cNvSpPr>
          <p:nvPr/>
        </p:nvSpPr>
        <p:spPr bwMode="auto">
          <a:xfrm>
            <a:off x="152400" y="1136561"/>
            <a:ext cx="8839200" cy="1200329"/>
          </a:xfrm>
          <a:prstGeom prst="rect">
            <a:avLst/>
          </a:prstGeom>
          <a:noFill/>
          <a:ln w="9525">
            <a:noFill/>
            <a:miter lim="800000"/>
            <a:headEnd/>
            <a:tailEnd/>
          </a:ln>
        </p:spPr>
        <p:txBody>
          <a:bodyPr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Gill Sans MT" pitchFamily="34" charset="0"/>
              </a:rPr>
              <a:t>Four cyclic subgroups can be made from the group G = &lt;Z</a:t>
            </a:r>
            <a:r>
              <a:rPr kumimoji="0" lang="en-US" sz="2400" b="0" i="0" u="none" strike="noStrike" kern="0" cap="none" spc="0" normalizeH="0" baseline="-25000" noProof="0" dirty="0">
                <a:ln>
                  <a:noFill/>
                </a:ln>
                <a:solidFill>
                  <a:sysClr val="windowText" lastClr="000000"/>
                </a:solidFill>
                <a:effectLst/>
                <a:uLnTx/>
                <a:uFillTx/>
                <a:latin typeface="Gill Sans MT" pitchFamily="34" charset="0"/>
              </a:rPr>
              <a:t>6</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+&gt;. They are H</a:t>
            </a:r>
            <a:r>
              <a:rPr kumimoji="0" lang="en-US" sz="2400" b="0" i="0" u="none" strike="noStrike" kern="0" cap="none" spc="0" normalizeH="0" baseline="-25000" noProof="0" dirty="0">
                <a:ln>
                  <a:noFill/>
                </a:ln>
                <a:solidFill>
                  <a:sysClr val="windowText" lastClr="000000"/>
                </a:solidFill>
                <a:effectLst/>
                <a:uLnTx/>
                <a:uFillTx/>
                <a:latin typeface="Gill Sans MT" pitchFamily="34" charset="0"/>
              </a:rPr>
              <a:t>1</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 &lt;{0}, +&gt;, H</a:t>
            </a:r>
            <a:r>
              <a:rPr kumimoji="0" lang="en-US" sz="2400" b="0" i="0" u="none" strike="noStrike" kern="0" cap="none" spc="0" normalizeH="0" baseline="-25000" noProof="0" dirty="0">
                <a:ln>
                  <a:noFill/>
                </a:ln>
                <a:solidFill>
                  <a:sysClr val="windowText" lastClr="000000"/>
                </a:solidFill>
                <a:effectLst/>
                <a:uLnTx/>
                <a:uFillTx/>
                <a:latin typeface="Gill Sans MT" pitchFamily="34" charset="0"/>
              </a:rPr>
              <a:t>2</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 &lt;{0, 2, 4}, +&gt;, H</a:t>
            </a:r>
            <a:r>
              <a:rPr kumimoji="0" lang="en-US" sz="2400" b="0" i="0" u="none" strike="noStrike" kern="0" cap="none" spc="0" normalizeH="0" baseline="-25000" noProof="0" dirty="0">
                <a:ln>
                  <a:noFill/>
                </a:ln>
                <a:solidFill>
                  <a:sysClr val="windowText" lastClr="000000"/>
                </a:solidFill>
                <a:effectLst/>
                <a:uLnTx/>
                <a:uFillTx/>
                <a:latin typeface="Gill Sans MT" pitchFamily="34" charset="0"/>
              </a:rPr>
              <a:t>3</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 &lt;{0, 3}, +&gt;, and </a:t>
            </a:r>
            <a:r>
              <a:rPr kumimoji="0" lang="en-US" sz="2400" b="1" i="0" u="none" strike="noStrike" kern="0" cap="none" spc="0" normalizeH="0" baseline="0" noProof="0" dirty="0">
                <a:ln>
                  <a:noFill/>
                </a:ln>
                <a:solidFill>
                  <a:srgbClr val="FF0000"/>
                </a:solidFill>
                <a:effectLst/>
                <a:uLnTx/>
                <a:uFillTx/>
                <a:latin typeface="Gill Sans MT" pitchFamily="34" charset="0"/>
              </a:rPr>
              <a:t>H</a:t>
            </a:r>
            <a:r>
              <a:rPr kumimoji="0" lang="en-US" sz="2400" b="1" i="0" u="none" strike="noStrike" kern="0" cap="none" spc="0" normalizeH="0" baseline="-25000" noProof="0" dirty="0">
                <a:ln>
                  <a:noFill/>
                </a:ln>
                <a:solidFill>
                  <a:srgbClr val="FF0000"/>
                </a:solidFill>
                <a:effectLst/>
                <a:uLnTx/>
                <a:uFillTx/>
                <a:latin typeface="Gill Sans MT" pitchFamily="34" charset="0"/>
              </a:rPr>
              <a:t>4</a:t>
            </a:r>
            <a:r>
              <a:rPr kumimoji="0" lang="en-US" sz="2400" b="1" i="0" u="none" strike="noStrike" kern="0" cap="none" spc="0" normalizeH="0" baseline="0" noProof="0" dirty="0">
                <a:ln>
                  <a:noFill/>
                </a:ln>
                <a:solidFill>
                  <a:srgbClr val="FF0000"/>
                </a:solidFill>
                <a:effectLst/>
                <a:uLnTx/>
                <a:uFillTx/>
                <a:latin typeface="Gill Sans MT" pitchFamily="34" charset="0"/>
              </a:rPr>
              <a:t> = G. </a:t>
            </a:r>
          </a:p>
        </p:txBody>
      </p:sp>
      <p:sp>
        <p:nvSpPr>
          <p:cNvPr id="37" name="Text Box 11"/>
          <p:cNvSpPr txBox="1">
            <a:spLocks noChangeArrowheads="1"/>
          </p:cNvSpPr>
          <p:nvPr/>
        </p:nvSpPr>
        <p:spPr bwMode="auto">
          <a:xfrm>
            <a:off x="528145" y="817179"/>
            <a:ext cx="1146468" cy="369332"/>
          </a:xfrm>
          <a:prstGeom prst="rect">
            <a:avLst/>
          </a:prstGeom>
          <a:solidFill>
            <a:srgbClr val="3333CC"/>
          </a:solid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rPr>
              <a:t>Example </a:t>
            </a:r>
            <a:endParaRPr kumimoji="0" lang="en-US" sz="2000" b="0" i="1" u="none" strike="noStrike" kern="0" cap="none" spc="0" normalizeH="0" baseline="0" noProof="0" dirty="0">
              <a:ln>
                <a:noFill/>
              </a:ln>
              <a:solidFill>
                <a:srgbClr val="FFFFFF"/>
              </a:solidFill>
              <a:effectLst/>
              <a:uLnTx/>
              <a:uFillTx/>
            </a:endParaRPr>
          </a:p>
        </p:txBody>
      </p:sp>
      <p:pic>
        <p:nvPicPr>
          <p:cNvPr id="38" name="Picture 16"/>
          <p:cNvPicPr>
            <a:picLocks noChangeAspect="1" noChangeArrowheads="1"/>
          </p:cNvPicPr>
          <p:nvPr/>
        </p:nvPicPr>
        <p:blipFill>
          <a:blip r:embed="rId2"/>
          <a:srcRect/>
          <a:stretch>
            <a:fillRect/>
          </a:stretch>
        </p:blipFill>
        <p:spPr bwMode="auto">
          <a:xfrm>
            <a:off x="304800" y="2438400"/>
            <a:ext cx="1544638" cy="387350"/>
          </a:xfrm>
          <a:prstGeom prst="rect">
            <a:avLst/>
          </a:prstGeom>
          <a:noFill/>
          <a:ln w="9525">
            <a:noFill/>
            <a:miter lim="800000"/>
            <a:headEnd/>
            <a:tailEnd/>
          </a:ln>
        </p:spPr>
      </p:pic>
      <p:pic>
        <p:nvPicPr>
          <p:cNvPr id="39" name="Picture 21"/>
          <p:cNvPicPr>
            <a:picLocks noChangeAspect="1" noChangeArrowheads="1"/>
          </p:cNvPicPr>
          <p:nvPr/>
        </p:nvPicPr>
        <p:blipFill>
          <a:blip r:embed="rId3"/>
          <a:srcRect/>
          <a:stretch>
            <a:fillRect/>
          </a:stretch>
        </p:blipFill>
        <p:spPr bwMode="auto">
          <a:xfrm>
            <a:off x="304800" y="2971800"/>
            <a:ext cx="4552950" cy="2016125"/>
          </a:xfrm>
          <a:prstGeom prst="rect">
            <a:avLst/>
          </a:prstGeom>
          <a:noFill/>
          <a:ln w="9525">
            <a:noFill/>
            <a:miter lim="800000"/>
            <a:headEnd/>
            <a:tailEnd/>
          </a:ln>
        </p:spPr>
      </p:pic>
      <p:pic>
        <p:nvPicPr>
          <p:cNvPr id="40" name="Picture 22"/>
          <p:cNvPicPr>
            <a:picLocks noChangeAspect="1" noChangeArrowheads="1"/>
          </p:cNvPicPr>
          <p:nvPr/>
        </p:nvPicPr>
        <p:blipFill>
          <a:blip r:embed="rId4"/>
          <a:srcRect/>
          <a:stretch>
            <a:fillRect/>
          </a:stretch>
        </p:blipFill>
        <p:spPr bwMode="auto">
          <a:xfrm>
            <a:off x="304800" y="5181600"/>
            <a:ext cx="3344863" cy="1003300"/>
          </a:xfrm>
          <a:prstGeom prst="rect">
            <a:avLst/>
          </a:prstGeom>
          <a:noFill/>
          <a:ln w="9525">
            <a:noFill/>
            <a:miter lim="800000"/>
            <a:headEnd/>
            <a:tailEnd/>
          </a:ln>
        </p:spPr>
      </p:pic>
      <p:pic>
        <p:nvPicPr>
          <p:cNvPr id="41" name="Picture 23"/>
          <p:cNvPicPr>
            <a:picLocks noChangeAspect="1" noChangeArrowheads="1"/>
          </p:cNvPicPr>
          <p:nvPr/>
        </p:nvPicPr>
        <p:blipFill>
          <a:blip r:embed="rId5"/>
          <a:srcRect/>
          <a:stretch>
            <a:fillRect/>
          </a:stretch>
        </p:blipFill>
        <p:spPr bwMode="auto">
          <a:xfrm>
            <a:off x="5334000" y="2133600"/>
            <a:ext cx="1617663" cy="658813"/>
          </a:xfrm>
          <a:prstGeom prst="rect">
            <a:avLst/>
          </a:prstGeom>
          <a:noFill/>
          <a:ln w="9525">
            <a:noFill/>
            <a:miter lim="800000"/>
            <a:headEnd/>
            <a:tailEnd/>
          </a:ln>
        </p:spPr>
      </p:pic>
      <p:pic>
        <p:nvPicPr>
          <p:cNvPr id="42" name="Picture 24"/>
          <p:cNvPicPr>
            <a:picLocks noChangeAspect="1" noChangeArrowheads="1"/>
          </p:cNvPicPr>
          <p:nvPr/>
        </p:nvPicPr>
        <p:blipFill>
          <a:blip r:embed="rId6"/>
          <a:srcRect/>
          <a:stretch>
            <a:fillRect/>
          </a:stretch>
        </p:blipFill>
        <p:spPr bwMode="auto">
          <a:xfrm>
            <a:off x="5334000" y="3048000"/>
            <a:ext cx="3327400" cy="1003300"/>
          </a:xfrm>
          <a:prstGeom prst="rect">
            <a:avLst/>
          </a:prstGeom>
          <a:noFill/>
          <a:ln w="9525">
            <a:noFill/>
            <a:miter lim="800000"/>
            <a:headEnd/>
            <a:tailEnd/>
          </a:ln>
        </p:spPr>
      </p:pic>
      <p:pic>
        <p:nvPicPr>
          <p:cNvPr id="43" name="Picture 25"/>
          <p:cNvPicPr>
            <a:picLocks noChangeAspect="1" noChangeArrowheads="1"/>
          </p:cNvPicPr>
          <p:nvPr/>
        </p:nvPicPr>
        <p:blipFill>
          <a:blip r:embed="rId7"/>
          <a:srcRect/>
          <a:stretch>
            <a:fillRect/>
          </a:stretch>
        </p:blipFill>
        <p:spPr bwMode="auto">
          <a:xfrm>
            <a:off x="5410200" y="4400550"/>
            <a:ext cx="1581150" cy="200025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10"/>
          <p:cNvSpPr txBox="1">
            <a:spLocks noChangeArrowheads="1"/>
          </p:cNvSpPr>
          <p:nvPr/>
        </p:nvSpPr>
        <p:spPr bwMode="auto">
          <a:xfrm>
            <a:off x="3152283" y="265386"/>
            <a:ext cx="2622834" cy="523220"/>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3333CC"/>
                </a:solidFill>
                <a:effectLst/>
                <a:uLnTx/>
                <a:uFillTx/>
                <a:latin typeface="Tw Cen MT" panose="020B0602020104020603" pitchFamily="34" charset="0"/>
              </a:rPr>
              <a:t>Cyclic Subgroups</a:t>
            </a:r>
          </a:p>
        </p:txBody>
      </p:sp>
      <p:sp>
        <p:nvSpPr>
          <p:cNvPr id="37" name="Text Box 11"/>
          <p:cNvSpPr txBox="1">
            <a:spLocks noChangeArrowheads="1"/>
          </p:cNvSpPr>
          <p:nvPr/>
        </p:nvSpPr>
        <p:spPr bwMode="auto">
          <a:xfrm>
            <a:off x="528145" y="817179"/>
            <a:ext cx="1146468" cy="369332"/>
          </a:xfrm>
          <a:prstGeom prst="rect">
            <a:avLst/>
          </a:prstGeom>
          <a:solidFill>
            <a:srgbClr val="3333CC"/>
          </a:solid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rPr>
              <a:t>Example </a:t>
            </a:r>
            <a:endParaRPr kumimoji="0" lang="en-US" sz="2000" b="0" i="1" u="none" strike="noStrike" kern="0" cap="none" spc="0" normalizeH="0" baseline="0" noProof="0" dirty="0">
              <a:ln>
                <a:noFill/>
              </a:ln>
              <a:solidFill>
                <a:srgbClr val="FFFFFF"/>
              </a:solidFill>
              <a:effectLst/>
              <a:uLnTx/>
              <a:uFillTx/>
            </a:endParaRPr>
          </a:p>
        </p:txBody>
      </p:sp>
      <p:sp>
        <p:nvSpPr>
          <p:cNvPr id="17" name="Rectangle 10"/>
          <p:cNvSpPr>
            <a:spLocks noChangeArrowheads="1"/>
          </p:cNvSpPr>
          <p:nvPr/>
        </p:nvSpPr>
        <p:spPr bwMode="auto">
          <a:xfrm>
            <a:off x="152400" y="1152693"/>
            <a:ext cx="8839200" cy="1015663"/>
          </a:xfrm>
          <a:prstGeom prst="rect">
            <a:avLst/>
          </a:prstGeom>
          <a:noFill/>
          <a:ln w="9525">
            <a:noFill/>
            <a:miter lim="800000"/>
            <a:headEnd/>
            <a:tailEnd/>
          </a:ln>
        </p:spPr>
        <p:txBody>
          <a:bodyPr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rPr>
              <a:t>Three cyclic subgroups can be made from the group </a:t>
            </a:r>
            <a:br>
              <a:rPr kumimoji="0" lang="en-US" sz="2000" b="0" i="0" u="none" strike="noStrike" kern="0" cap="none" spc="0" normalizeH="0" baseline="0" noProof="0" dirty="0">
                <a:ln>
                  <a:noFill/>
                </a:ln>
                <a:solidFill>
                  <a:sysClr val="windowText" lastClr="000000"/>
                </a:solidFill>
                <a:effectLst/>
                <a:uLnTx/>
                <a:uFillTx/>
              </a:rPr>
            </a:br>
            <a:r>
              <a:rPr kumimoji="0" lang="en-US" sz="2000" b="0" i="0" u="none" strike="noStrike" kern="0" cap="none" spc="0" normalizeH="0" baseline="0" noProof="0" dirty="0">
                <a:ln>
                  <a:noFill/>
                </a:ln>
                <a:solidFill>
                  <a:sysClr val="windowText" lastClr="000000"/>
                </a:solidFill>
                <a:effectLst/>
                <a:uLnTx/>
                <a:uFillTx/>
              </a:rPr>
              <a:t>G = &lt;Z10∗, ×&gt;. G has only four elements: 1, 3, 7, and 9. The cyclic subgroups are H1 = &lt;{1}, ×&gt;, H2 = &lt;{1, 9}, ×&gt;, and H3 = G.</a:t>
            </a:r>
          </a:p>
        </p:txBody>
      </p:sp>
      <p:pic>
        <p:nvPicPr>
          <p:cNvPr id="18" name="Picture 16"/>
          <p:cNvPicPr>
            <a:picLocks noChangeAspect="1" noChangeArrowheads="1"/>
          </p:cNvPicPr>
          <p:nvPr/>
        </p:nvPicPr>
        <p:blipFill>
          <a:blip r:embed="rId2"/>
          <a:srcRect/>
          <a:stretch>
            <a:fillRect/>
          </a:stretch>
        </p:blipFill>
        <p:spPr bwMode="auto">
          <a:xfrm>
            <a:off x="381000" y="2743200"/>
            <a:ext cx="1673225" cy="365125"/>
          </a:xfrm>
          <a:prstGeom prst="rect">
            <a:avLst/>
          </a:prstGeom>
          <a:noFill/>
          <a:ln w="9525">
            <a:noFill/>
            <a:miter lim="800000"/>
            <a:headEnd/>
            <a:tailEnd/>
          </a:ln>
        </p:spPr>
      </p:pic>
      <p:pic>
        <p:nvPicPr>
          <p:cNvPr id="19" name="Picture 18"/>
          <p:cNvPicPr>
            <a:picLocks noChangeAspect="1" noChangeArrowheads="1"/>
          </p:cNvPicPr>
          <p:nvPr/>
        </p:nvPicPr>
        <p:blipFill>
          <a:blip r:embed="rId3"/>
          <a:srcRect/>
          <a:stretch>
            <a:fillRect/>
          </a:stretch>
        </p:blipFill>
        <p:spPr bwMode="auto">
          <a:xfrm>
            <a:off x="381000" y="3657600"/>
            <a:ext cx="1865313" cy="1438275"/>
          </a:xfrm>
          <a:prstGeom prst="rect">
            <a:avLst/>
          </a:prstGeom>
          <a:noFill/>
          <a:ln w="9525">
            <a:noFill/>
            <a:miter lim="800000"/>
            <a:headEnd/>
            <a:tailEnd/>
          </a:ln>
        </p:spPr>
      </p:pic>
      <p:pic>
        <p:nvPicPr>
          <p:cNvPr id="20" name="Picture 19"/>
          <p:cNvPicPr>
            <a:picLocks noChangeAspect="1" noChangeArrowheads="1"/>
          </p:cNvPicPr>
          <p:nvPr/>
        </p:nvPicPr>
        <p:blipFill>
          <a:blip r:embed="rId4"/>
          <a:srcRect/>
          <a:stretch>
            <a:fillRect/>
          </a:stretch>
        </p:blipFill>
        <p:spPr bwMode="auto">
          <a:xfrm>
            <a:off x="4419600" y="2590800"/>
            <a:ext cx="1763713" cy="1366838"/>
          </a:xfrm>
          <a:prstGeom prst="rect">
            <a:avLst/>
          </a:prstGeom>
          <a:noFill/>
          <a:ln w="9525">
            <a:noFill/>
            <a:miter lim="800000"/>
            <a:headEnd/>
            <a:tailEnd/>
          </a:ln>
        </p:spPr>
      </p:pic>
      <p:pic>
        <p:nvPicPr>
          <p:cNvPr id="21" name="Picture 20"/>
          <p:cNvPicPr>
            <a:picLocks noChangeAspect="1" noChangeArrowheads="1"/>
          </p:cNvPicPr>
          <p:nvPr/>
        </p:nvPicPr>
        <p:blipFill>
          <a:blip r:embed="rId5"/>
          <a:srcRect/>
          <a:stretch>
            <a:fillRect/>
          </a:stretch>
        </p:blipFill>
        <p:spPr bwMode="auto">
          <a:xfrm>
            <a:off x="4425950" y="4343400"/>
            <a:ext cx="1746250" cy="72707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10"/>
          <p:cNvSpPr txBox="1">
            <a:spLocks noChangeArrowheads="1"/>
          </p:cNvSpPr>
          <p:nvPr/>
        </p:nvSpPr>
        <p:spPr bwMode="auto">
          <a:xfrm>
            <a:off x="3152283" y="265386"/>
            <a:ext cx="3401893" cy="523220"/>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3333CC"/>
                </a:solidFill>
                <a:effectLst/>
                <a:uLnTx/>
                <a:uFillTx/>
                <a:latin typeface="Bookman Old Style" pitchFamily="18" charset="0"/>
              </a:rPr>
              <a:t>Cyclic Subgroups</a:t>
            </a:r>
          </a:p>
        </p:txBody>
      </p:sp>
      <p:sp>
        <p:nvSpPr>
          <p:cNvPr id="8" name="Rectangle 10"/>
          <p:cNvSpPr>
            <a:spLocks noChangeArrowheads="1"/>
          </p:cNvSpPr>
          <p:nvPr/>
        </p:nvSpPr>
        <p:spPr bwMode="auto">
          <a:xfrm>
            <a:off x="360883" y="2476665"/>
            <a:ext cx="8445062" cy="1200329"/>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Gill Sans MT" pitchFamily="34" charset="0"/>
              </a:rPr>
              <a:t>Three cyclic subgroups can be made from the group </a:t>
            </a:r>
            <a:br>
              <a:rPr kumimoji="0" lang="en-US" sz="2400" b="0" i="0" u="none" strike="noStrike" kern="0" cap="none" spc="0" normalizeH="0" baseline="0" noProof="0" dirty="0">
                <a:ln>
                  <a:noFill/>
                </a:ln>
                <a:solidFill>
                  <a:sysClr val="windowText" lastClr="000000"/>
                </a:solidFill>
                <a:effectLst/>
                <a:uLnTx/>
                <a:uFillTx/>
                <a:latin typeface="Gill Sans MT" pitchFamily="34" charset="0"/>
              </a:rPr>
            </a:br>
            <a:r>
              <a:rPr kumimoji="0" lang="en-US" sz="2400" b="0" i="0" u="none" strike="noStrike" kern="0" cap="none" spc="0" normalizeH="0" baseline="0" noProof="0" dirty="0">
                <a:ln>
                  <a:noFill/>
                </a:ln>
                <a:solidFill>
                  <a:sysClr val="windowText" lastClr="000000"/>
                </a:solidFill>
                <a:effectLst/>
                <a:uLnTx/>
                <a:uFillTx/>
                <a:latin typeface="Gill Sans MT" pitchFamily="34" charset="0"/>
              </a:rPr>
              <a:t>G = &lt;Z10∗, ×&gt;. G has only four elements: 1, 3, 7, and 9. The cyclic subgroups are H1 = &lt;{1}, ×&gt;, H2 = &lt;{1, 9}, ×&gt;, and H3 = G.</a:t>
            </a:r>
          </a:p>
        </p:txBody>
      </p:sp>
      <p:sp>
        <p:nvSpPr>
          <p:cNvPr id="9" name="Rectangle 20"/>
          <p:cNvSpPr>
            <a:spLocks noChangeArrowheads="1"/>
          </p:cNvSpPr>
          <p:nvPr/>
        </p:nvSpPr>
        <p:spPr bwMode="auto">
          <a:xfrm>
            <a:off x="360883" y="3738182"/>
            <a:ext cx="8445062" cy="2197525"/>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ct val="7000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Gill Sans MT" pitchFamily="34" charset="0"/>
              </a:rPr>
              <a:t>a. The group G = &lt;Z6, +&gt; is a cyclic group with two generators, </a:t>
            </a:r>
            <a:br>
              <a:rPr kumimoji="0" lang="en-US" sz="2400" b="0" i="0" u="none" strike="noStrike" kern="0" cap="none" spc="0" normalizeH="0" baseline="0" noProof="0" dirty="0">
                <a:ln>
                  <a:noFill/>
                </a:ln>
                <a:solidFill>
                  <a:sysClr val="windowText" lastClr="000000"/>
                </a:solidFill>
                <a:effectLst/>
                <a:uLnTx/>
                <a:uFillTx/>
                <a:latin typeface="Gill Sans MT" pitchFamily="34" charset="0"/>
              </a:rPr>
            </a:b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a:t>
            </a:r>
            <a:r>
              <a:rPr kumimoji="0" lang="en-US" sz="2400" b="0" i="1" u="none" strike="noStrike" kern="0" cap="none" spc="0" normalizeH="0" baseline="0" noProof="0" dirty="0">
                <a:ln>
                  <a:noFill/>
                </a:ln>
                <a:solidFill>
                  <a:sysClr val="windowText" lastClr="000000"/>
                </a:solidFill>
                <a:effectLst/>
                <a:uLnTx/>
                <a:uFillTx/>
                <a:latin typeface="Gill Sans MT" pitchFamily="34" charset="0"/>
              </a:rPr>
              <a:t>g</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 1 and </a:t>
            </a:r>
            <a:r>
              <a:rPr kumimoji="0" lang="en-US" sz="2400" b="0" i="1" u="none" strike="noStrike" kern="0" cap="none" spc="0" normalizeH="0" baseline="0" noProof="0" dirty="0">
                <a:ln>
                  <a:noFill/>
                </a:ln>
                <a:solidFill>
                  <a:sysClr val="windowText" lastClr="000000"/>
                </a:solidFill>
                <a:effectLst/>
                <a:uLnTx/>
                <a:uFillTx/>
                <a:latin typeface="Gill Sans MT" pitchFamily="34" charset="0"/>
              </a:rPr>
              <a:t>g</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 5. </a:t>
            </a:r>
          </a:p>
          <a:p>
            <a:pPr marL="0" marR="0" lvl="0" indent="0" algn="just" defTabSz="914400" eaLnBrk="1" fontAlgn="auto" latinLnBrk="0" hangingPunct="1">
              <a:lnSpc>
                <a:spcPct val="100000"/>
              </a:lnSpc>
              <a:spcBef>
                <a:spcPts val="0"/>
              </a:spcBef>
              <a:spcAft>
                <a:spcPct val="7000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Gill Sans MT" pitchFamily="34" charset="0"/>
              </a:rPr>
              <a:t>b. The group G = &lt;Z10∗, ×&gt; is a cyclic group with two generators,</a:t>
            </a:r>
            <a:br>
              <a:rPr kumimoji="0" lang="en-US" sz="2400" b="0" i="0" u="none" strike="noStrike" kern="0" cap="none" spc="0" normalizeH="0" baseline="0" noProof="0" dirty="0">
                <a:ln>
                  <a:noFill/>
                </a:ln>
                <a:solidFill>
                  <a:sysClr val="windowText" lastClr="000000"/>
                </a:solidFill>
                <a:effectLst/>
                <a:uLnTx/>
                <a:uFillTx/>
                <a:latin typeface="Gill Sans MT" pitchFamily="34" charset="0"/>
              </a:rPr>
            </a:b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a:t>
            </a:r>
            <a:r>
              <a:rPr kumimoji="0" lang="en-US" sz="2400" b="0" i="1" u="none" strike="noStrike" kern="0" cap="none" spc="0" normalizeH="0" baseline="0" noProof="0" dirty="0">
                <a:ln>
                  <a:noFill/>
                </a:ln>
                <a:solidFill>
                  <a:sysClr val="windowText" lastClr="000000"/>
                </a:solidFill>
                <a:effectLst/>
                <a:uLnTx/>
                <a:uFillTx/>
                <a:latin typeface="Gill Sans MT" pitchFamily="34" charset="0"/>
              </a:rPr>
              <a:t>g</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 3 and </a:t>
            </a:r>
            <a:r>
              <a:rPr kumimoji="0" lang="en-US" sz="2400" b="0" i="1" u="none" strike="noStrike" kern="0" cap="none" spc="0" normalizeH="0" baseline="0" noProof="0" dirty="0">
                <a:ln>
                  <a:noFill/>
                </a:ln>
                <a:solidFill>
                  <a:sysClr val="windowText" lastClr="000000"/>
                </a:solidFill>
                <a:effectLst/>
                <a:uLnTx/>
                <a:uFillTx/>
                <a:latin typeface="Gill Sans MT" pitchFamily="34" charset="0"/>
              </a:rPr>
              <a:t>g</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 7.</a:t>
            </a:r>
          </a:p>
        </p:txBody>
      </p:sp>
      <p:sp>
        <p:nvSpPr>
          <p:cNvPr id="10" name="Text Box 11"/>
          <p:cNvSpPr txBox="1">
            <a:spLocks noChangeArrowheads="1"/>
          </p:cNvSpPr>
          <p:nvPr/>
        </p:nvSpPr>
        <p:spPr bwMode="auto">
          <a:xfrm>
            <a:off x="386255" y="1195551"/>
            <a:ext cx="1314784" cy="461665"/>
          </a:xfrm>
          <a:prstGeom prst="rect">
            <a:avLst/>
          </a:prstGeom>
          <a:solidFill>
            <a:srgbClr val="3333CC"/>
          </a:solid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Gill Sans MT" pitchFamily="34" charset="0"/>
              </a:rPr>
              <a:t>Example </a:t>
            </a:r>
            <a:endParaRPr kumimoji="0" lang="en-US" sz="2400" b="0" i="1" u="none" strike="noStrike" kern="0" cap="none" spc="0" normalizeH="0" baseline="0" noProof="0" dirty="0">
              <a:ln>
                <a:noFill/>
              </a:ln>
              <a:solidFill>
                <a:srgbClr val="FFFFFF"/>
              </a:solidFill>
              <a:effectLst/>
              <a:uLnTx/>
              <a:uFillTx/>
              <a:latin typeface="Gill Sans MT" pitchFamily="34" charset="0"/>
            </a:endParaRPr>
          </a:p>
        </p:txBody>
      </p:sp>
      <p:sp>
        <p:nvSpPr>
          <p:cNvPr id="2" name="TextBox 1"/>
          <p:cNvSpPr txBox="1"/>
          <p:nvPr/>
        </p:nvSpPr>
        <p:spPr>
          <a:xfrm>
            <a:off x="504496" y="1753646"/>
            <a:ext cx="5385705" cy="461665"/>
          </a:xfrm>
          <a:prstGeom prst="rect">
            <a:avLst/>
          </a:prstGeom>
          <a:noFill/>
        </p:spPr>
        <p:txBody>
          <a:bodyPr wrap="none" rtlCol="0">
            <a:spAutoFit/>
          </a:bodyPr>
          <a:lstStyle/>
          <a:p>
            <a:r>
              <a:rPr lang="en-US" sz="2400" dirty="0">
                <a:solidFill>
                  <a:schemeClr val="bg1"/>
                </a:solidFill>
                <a:latin typeface="Gill Sans MT" pitchFamily="34" charset="0"/>
              </a:rPr>
              <a:t>A cyclic group can have many generators.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304800" y="540956"/>
            <a:ext cx="2719014" cy="461665"/>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3333CC"/>
                </a:solidFill>
                <a:effectLst/>
                <a:uLnTx/>
                <a:uFillTx/>
                <a:latin typeface="Gill Sans MT" pitchFamily="34" charset="0"/>
              </a:rPr>
              <a:t>Lagrange’s Theorem</a:t>
            </a:r>
          </a:p>
        </p:txBody>
      </p:sp>
      <p:sp>
        <p:nvSpPr>
          <p:cNvPr id="7" name="Rectangle 11"/>
          <p:cNvSpPr>
            <a:spLocks noChangeArrowheads="1"/>
          </p:cNvSpPr>
          <p:nvPr/>
        </p:nvSpPr>
        <p:spPr bwMode="auto">
          <a:xfrm>
            <a:off x="536028" y="2050957"/>
            <a:ext cx="8213834" cy="1200329"/>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Gill Sans MT" pitchFamily="34" charset="0"/>
              </a:rPr>
              <a:t>Assume that G is a group, and H is a subgroup of G. If the order of G and H are |G| and |H|, respectively, then, based on this theorem, </a:t>
            </a:r>
            <a:r>
              <a:rPr kumimoji="0" lang="en-US" sz="2400" b="0" i="0" u="none" strike="noStrike" kern="0" cap="none" spc="0" normalizeH="0" baseline="0" noProof="0" dirty="0">
                <a:ln>
                  <a:noFill/>
                </a:ln>
                <a:solidFill>
                  <a:srgbClr val="FF0000"/>
                </a:solidFill>
                <a:effectLst/>
                <a:uLnTx/>
                <a:uFillTx/>
                <a:latin typeface="Gill Sans MT" pitchFamily="34" charset="0"/>
              </a:rPr>
              <a:t>|H| divides |G|</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a:t>
            </a:r>
          </a:p>
        </p:txBody>
      </p:sp>
      <p:sp>
        <p:nvSpPr>
          <p:cNvPr id="8" name="Text Box 14"/>
          <p:cNvSpPr txBox="1">
            <a:spLocks noChangeArrowheads="1"/>
          </p:cNvSpPr>
          <p:nvPr/>
        </p:nvSpPr>
        <p:spPr bwMode="auto">
          <a:xfrm>
            <a:off x="536028" y="3649280"/>
            <a:ext cx="2979682" cy="461665"/>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3333CC"/>
                </a:solidFill>
                <a:effectLst/>
                <a:uLnTx/>
                <a:uFillTx/>
                <a:latin typeface="Gill Sans MT" pitchFamily="34" charset="0"/>
              </a:rPr>
              <a:t>Order of an Element</a:t>
            </a:r>
          </a:p>
        </p:txBody>
      </p:sp>
      <p:sp>
        <p:nvSpPr>
          <p:cNvPr id="9" name="Rectangle 15"/>
          <p:cNvSpPr>
            <a:spLocks noChangeArrowheads="1"/>
          </p:cNvSpPr>
          <p:nvPr/>
        </p:nvSpPr>
        <p:spPr bwMode="auto">
          <a:xfrm>
            <a:off x="551793" y="4094321"/>
            <a:ext cx="8213834" cy="1938992"/>
          </a:xfrm>
          <a:prstGeom prst="rect">
            <a:avLst/>
          </a:prstGeom>
          <a:noFill/>
          <a:ln w="9525">
            <a:noFill/>
            <a:miter lim="800000"/>
            <a:headEnd/>
            <a:tailEnd/>
          </a:ln>
        </p:spPr>
        <p:txBody>
          <a:bodyPr wrap="square" anchor="ctr">
            <a:spAutoFit/>
          </a:bodyPr>
          <a:lstStyle/>
          <a:p>
            <a:pPr algn="just" fontAlgn="auto">
              <a:spcBef>
                <a:spcPts val="0"/>
              </a:spcBef>
              <a:spcAft>
                <a:spcPts val="0"/>
              </a:spcAft>
              <a:defRPr/>
            </a:pPr>
            <a:r>
              <a:rPr kumimoji="0" lang="en-US" sz="2400" b="0" i="0" u="none" strike="noStrike" kern="0" cap="none" spc="0" normalizeH="0" baseline="0" noProof="0" dirty="0">
                <a:ln>
                  <a:noFill/>
                </a:ln>
                <a:solidFill>
                  <a:sysClr val="windowText" lastClr="000000"/>
                </a:solidFill>
                <a:effectLst/>
                <a:uLnTx/>
                <a:uFillTx/>
                <a:latin typeface="Gill Sans MT" pitchFamily="34" charset="0"/>
              </a:rPr>
              <a:t>The order of an element </a:t>
            </a:r>
            <a:r>
              <a:rPr kumimoji="0" lang="en-US" sz="2400" b="0" i="0" u="none" strike="noStrike" kern="0" cap="none" spc="0" normalizeH="0" baseline="0" noProof="0" dirty="0">
                <a:ln>
                  <a:noFill/>
                </a:ln>
                <a:solidFill>
                  <a:srgbClr val="FF0000"/>
                </a:solidFill>
                <a:effectLst/>
                <a:uLnTx/>
                <a:uFillTx/>
                <a:latin typeface="Gill Sans MT" pitchFamily="34" charset="0"/>
              </a:rPr>
              <a:t>a</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in a group, </a:t>
            </a:r>
            <a:r>
              <a:rPr kumimoji="0" lang="en-US" sz="2400" b="0" i="0" u="none" strike="noStrike" kern="0" cap="none" spc="0" normalizeH="0" baseline="0" noProof="0" dirty="0" err="1">
                <a:ln>
                  <a:noFill/>
                </a:ln>
                <a:solidFill>
                  <a:srgbClr val="FF0000"/>
                </a:solidFill>
                <a:effectLst/>
                <a:uLnTx/>
                <a:uFillTx/>
                <a:latin typeface="Gill Sans MT" pitchFamily="34" charset="0"/>
              </a:rPr>
              <a:t>ord</a:t>
            </a:r>
            <a:r>
              <a:rPr kumimoji="0" lang="en-US" sz="2400" b="0" i="0" u="none" strike="noStrike" kern="0" cap="none" spc="0" normalizeH="0" baseline="0" noProof="0" dirty="0">
                <a:ln>
                  <a:noFill/>
                </a:ln>
                <a:solidFill>
                  <a:srgbClr val="FF0000"/>
                </a:solidFill>
                <a:effectLst/>
                <a:uLnTx/>
                <a:uFillTx/>
                <a:latin typeface="Gill Sans MT" pitchFamily="34" charset="0"/>
              </a:rPr>
              <a:t>(a)</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 </a:t>
            </a:r>
            <a:r>
              <a:rPr lang="en-US" sz="2400" kern="0" dirty="0">
                <a:solidFill>
                  <a:sysClr val="windowText" lastClr="000000"/>
                </a:solidFill>
                <a:latin typeface="Gill Sans MT" pitchFamily="34" charset="0"/>
              </a:rPr>
              <a:t>is the smallest integer </a:t>
            </a:r>
            <a:r>
              <a:rPr lang="en-US" sz="2400" kern="0" dirty="0">
                <a:solidFill>
                  <a:srgbClr val="FF0000"/>
                </a:solidFill>
                <a:latin typeface="Gill Sans MT" pitchFamily="34" charset="0"/>
              </a:rPr>
              <a:t>n</a:t>
            </a:r>
            <a:r>
              <a:rPr lang="en-US" sz="2400" kern="0" dirty="0">
                <a:solidFill>
                  <a:sysClr val="windowText" lastClr="000000"/>
                </a:solidFill>
                <a:latin typeface="Gill Sans MT" pitchFamily="34" charset="0"/>
              </a:rPr>
              <a:t> such that </a:t>
            </a:r>
            <a:r>
              <a:rPr lang="en-US" sz="2400" kern="0" dirty="0">
                <a:solidFill>
                  <a:srgbClr val="FF0000"/>
                </a:solidFill>
                <a:latin typeface="Gill Sans MT" pitchFamily="34" charset="0"/>
              </a:rPr>
              <a:t>a</a:t>
            </a:r>
            <a:r>
              <a:rPr lang="en-US" sz="2400" kern="0" baseline="30000" dirty="0">
                <a:solidFill>
                  <a:srgbClr val="FF0000"/>
                </a:solidFill>
                <a:latin typeface="Gill Sans MT" pitchFamily="34" charset="0"/>
              </a:rPr>
              <a:t>n</a:t>
            </a:r>
            <a:r>
              <a:rPr lang="en-US" sz="2400" kern="0" dirty="0">
                <a:solidFill>
                  <a:srgbClr val="FF0000"/>
                </a:solidFill>
                <a:latin typeface="Gill Sans MT" pitchFamily="34" charset="0"/>
              </a:rPr>
              <a:t>=e. </a:t>
            </a:r>
          </a:p>
          <a:p>
            <a:pPr algn="just" fontAlgn="auto">
              <a:spcBef>
                <a:spcPts val="0"/>
              </a:spcBef>
              <a:spcAft>
                <a:spcPts val="0"/>
              </a:spcAft>
              <a:defRPr/>
            </a:pPr>
            <a:endParaRPr lang="en-US" sz="2400" kern="0" dirty="0">
              <a:solidFill>
                <a:srgbClr val="FF0000"/>
              </a:solidFill>
              <a:latin typeface="Gill Sans MT" pitchFamily="34" charset="0"/>
            </a:endParaRPr>
          </a:p>
          <a:p>
            <a:pPr algn="just" fontAlgn="auto">
              <a:spcBef>
                <a:spcPts val="0"/>
              </a:spcBef>
              <a:spcAft>
                <a:spcPts val="0"/>
              </a:spcAft>
              <a:defRPr/>
            </a:pPr>
            <a:r>
              <a:rPr lang="en-US" sz="2400" kern="0" dirty="0">
                <a:solidFill>
                  <a:schemeClr val="bg1"/>
                </a:solidFill>
                <a:latin typeface="Gill Sans MT" pitchFamily="34" charset="0"/>
              </a:rPr>
              <a:t>In other words, </a:t>
            </a:r>
            <a:r>
              <a:rPr lang="en-US" sz="2400" kern="0" dirty="0">
                <a:solidFill>
                  <a:sysClr val="windowText" lastClr="000000"/>
                </a:solidFill>
                <a:latin typeface="Gill Sans MT" pitchFamily="34" charset="0"/>
              </a:rPr>
              <a:t>The order of an element </a:t>
            </a:r>
            <a:r>
              <a:rPr kumimoji="0" lang="en-US" sz="2400" b="0" i="0" u="none" strike="noStrike" kern="0" cap="none" spc="0" normalizeH="0" baseline="0" noProof="0" dirty="0">
                <a:ln>
                  <a:noFill/>
                </a:ln>
                <a:solidFill>
                  <a:sysClr val="windowText" lastClr="000000"/>
                </a:solidFill>
                <a:effectLst/>
                <a:uLnTx/>
                <a:uFillTx/>
                <a:latin typeface="Gill Sans MT" pitchFamily="34" charset="0"/>
              </a:rPr>
              <a:t>is the </a:t>
            </a:r>
            <a:r>
              <a:rPr kumimoji="0" lang="en-US" sz="2400" b="0" i="0" u="none" strike="noStrike" kern="0" cap="none" spc="0" normalizeH="0" baseline="0" noProof="0" dirty="0">
                <a:ln>
                  <a:noFill/>
                </a:ln>
                <a:solidFill>
                  <a:srgbClr val="FF0000"/>
                </a:solidFill>
                <a:effectLst/>
                <a:uLnTx/>
                <a:uFillTx/>
                <a:latin typeface="Gill Sans MT" pitchFamily="34" charset="0"/>
              </a:rPr>
              <a:t>order of the cyclic group it generates.</a:t>
            </a:r>
          </a:p>
        </p:txBody>
      </p:sp>
      <p:sp>
        <p:nvSpPr>
          <p:cNvPr id="2" name="TextBox 1"/>
          <p:cNvSpPr txBox="1"/>
          <p:nvPr/>
        </p:nvSpPr>
        <p:spPr>
          <a:xfrm>
            <a:off x="536028" y="1213945"/>
            <a:ext cx="8063939" cy="830997"/>
          </a:xfrm>
          <a:prstGeom prst="rect">
            <a:avLst/>
          </a:prstGeom>
          <a:noFill/>
        </p:spPr>
        <p:txBody>
          <a:bodyPr wrap="none" rtlCol="0">
            <a:spAutoFit/>
          </a:bodyPr>
          <a:lstStyle/>
          <a:p>
            <a:r>
              <a:rPr lang="en-US" sz="2400" dirty="0">
                <a:solidFill>
                  <a:schemeClr val="bg1"/>
                </a:solidFill>
                <a:latin typeface="Gill Sans MT" pitchFamily="34" charset="0"/>
              </a:rPr>
              <a:t>Lagrange’s  theorem relates  the order of a group to the order </a:t>
            </a:r>
          </a:p>
          <a:p>
            <a:r>
              <a:rPr lang="en-US" sz="2400" dirty="0">
                <a:solidFill>
                  <a:schemeClr val="bg1"/>
                </a:solidFill>
                <a:latin typeface="Gill Sans MT" pitchFamily="34" charset="0"/>
              </a:rPr>
              <a:t>of its subgroup.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0"/>
          <p:cNvSpPr txBox="1">
            <a:spLocks noChangeArrowheads="1"/>
          </p:cNvSpPr>
          <p:nvPr/>
        </p:nvSpPr>
        <p:spPr bwMode="auto">
          <a:xfrm>
            <a:off x="1066799" y="533400"/>
            <a:ext cx="2149367" cy="584775"/>
          </a:xfrm>
          <a:prstGeom prst="rect">
            <a:avLst/>
          </a:prstGeom>
          <a:solidFill>
            <a:srgbClr val="3333CC"/>
          </a:solid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srgbClr val="FFFFFF"/>
                </a:solidFill>
                <a:effectLst/>
                <a:uLnTx/>
                <a:uFillTx/>
                <a:latin typeface="Tw Cen MT" panose="020B0602020104020603" pitchFamily="34" charset="0"/>
              </a:rPr>
              <a:t>Example</a:t>
            </a:r>
            <a:endParaRPr kumimoji="0" lang="en-US" sz="3200" b="0" i="1" u="none" strike="noStrike" kern="0" cap="none" spc="0" normalizeH="0" baseline="0" noProof="0" dirty="0">
              <a:ln>
                <a:noFill/>
              </a:ln>
              <a:solidFill>
                <a:srgbClr val="FFFFFF"/>
              </a:solidFill>
              <a:effectLst/>
              <a:uLnTx/>
              <a:uFillTx/>
              <a:latin typeface="Tw Cen MT" panose="020B0602020104020603" pitchFamily="34" charset="0"/>
            </a:endParaRPr>
          </a:p>
        </p:txBody>
      </p:sp>
      <p:sp>
        <p:nvSpPr>
          <p:cNvPr id="13" name="Rectangle 11"/>
          <p:cNvSpPr>
            <a:spLocks noChangeArrowheads="1"/>
          </p:cNvSpPr>
          <p:nvPr/>
        </p:nvSpPr>
        <p:spPr bwMode="auto">
          <a:xfrm>
            <a:off x="341585" y="1849821"/>
            <a:ext cx="8077200" cy="3379387"/>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25000"/>
              </a:lnSpc>
              <a:spcBef>
                <a:spcPts val="0"/>
              </a:spcBef>
              <a:spcAft>
                <a:spcPct val="7000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Tw Cen MT" panose="020B0602020104020603" pitchFamily="34" charset="0"/>
              </a:rPr>
              <a:t>The set Z with two operations, addition and multiplication, is a commutative ring. We show it by R = &lt;Z, +, ×&gt;. Addition satisfies all of the five properties; multiplication satisfies only three properties.</a:t>
            </a:r>
          </a:p>
          <a:p>
            <a:pPr marL="0" marR="0" lvl="0" indent="0" algn="just" defTabSz="914400" eaLnBrk="1" fontAlgn="auto" latinLnBrk="0" hangingPunct="1">
              <a:lnSpc>
                <a:spcPct val="125000"/>
              </a:lnSpc>
              <a:spcBef>
                <a:spcPts val="0"/>
              </a:spcBef>
              <a:spcAft>
                <a:spcPct val="70000"/>
              </a:spcAft>
              <a:buClrTx/>
              <a:buSzTx/>
              <a:buFontTx/>
              <a:buNone/>
              <a:tabLst/>
              <a:defRPr/>
            </a:pPr>
            <a:r>
              <a:rPr lang="en-US" sz="2400" kern="0" dirty="0">
                <a:solidFill>
                  <a:sysClr val="windowText" lastClr="000000"/>
                </a:solidFill>
                <a:latin typeface="Tw Cen MT" panose="020B0602020104020603" pitchFamily="34" charset="0"/>
              </a:rPr>
              <a:t>e.g., </a:t>
            </a:r>
          </a:p>
          <a:p>
            <a:pPr marL="0" marR="0" lvl="0" indent="0" algn="just" defTabSz="914400" eaLnBrk="1" fontAlgn="auto" latinLnBrk="0" hangingPunct="1">
              <a:lnSpc>
                <a:spcPct val="125000"/>
              </a:lnSpc>
              <a:spcBef>
                <a:spcPts val="0"/>
              </a:spcBef>
              <a:spcAft>
                <a:spcPct val="7000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Tw Cen MT" panose="020B0602020104020603" pitchFamily="34" charset="0"/>
              </a:rPr>
              <a:t>5ˣ(3+2)=(5ˣ3)+(5ˣ2)=25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708866" y="92950"/>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latin typeface="Tw Cen MT" panose="020B0602020104020603" pitchFamily="34" charset="0"/>
              </a:rPr>
              <a:t> </a:t>
            </a:r>
            <a:r>
              <a:rPr lang="en-US" sz="3200" b="1" dirty="0">
                <a:solidFill>
                  <a:srgbClr val="FF0000"/>
                </a:solidFill>
                <a:latin typeface="Tw Cen MT" panose="020B0602020104020603" pitchFamily="34" charset="0"/>
              </a:rPr>
              <a:t>Field</a:t>
            </a:r>
            <a:endParaRPr lang="en-US" sz="3200" b="1" baseline="0" dirty="0">
              <a:solidFill>
                <a:srgbClr val="FF0000"/>
              </a:solidFill>
              <a:latin typeface="Tw Cen MT" panose="020B0602020104020603"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691" y="1648984"/>
            <a:ext cx="8113097" cy="3178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0724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708866" y="92950"/>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latin typeface="Tw Cen MT" panose="020B0602020104020603" pitchFamily="34" charset="0"/>
              </a:rPr>
              <a:t> </a:t>
            </a:r>
            <a:r>
              <a:rPr lang="en-US" sz="3200" b="1" dirty="0">
                <a:solidFill>
                  <a:srgbClr val="FF0000"/>
                </a:solidFill>
                <a:latin typeface="Tw Cen MT" panose="020B0602020104020603" pitchFamily="34" charset="0"/>
              </a:rPr>
              <a:t>Field</a:t>
            </a:r>
            <a:endParaRPr lang="en-US" sz="3200" b="1" baseline="0" dirty="0">
              <a:solidFill>
                <a:srgbClr val="FF0000"/>
              </a:solidFill>
              <a:latin typeface="Tw Cen MT" panose="020B0602020104020603" pitchFamily="34"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785" y="1900239"/>
            <a:ext cx="8610103" cy="2968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38612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2708866" y="92950"/>
            <a:ext cx="3490748" cy="584775"/>
          </a:xfrm>
          <a:prstGeom prst="rect">
            <a:avLst/>
          </a:prstGeom>
          <a:noFill/>
          <a:ln w="9525">
            <a:noFill/>
            <a:miter lim="800000"/>
            <a:headEnd/>
            <a:tailEnd/>
          </a:ln>
          <a:effectLst/>
        </p:spPr>
        <p:txBody>
          <a:bodyPr wrap="square">
            <a:spAutoFit/>
          </a:bodyPr>
          <a:lstStyle/>
          <a:p>
            <a:pPr algn="ctr">
              <a:defRPr/>
            </a:pPr>
            <a:r>
              <a:rPr lang="en-US" sz="3200" baseline="0" dirty="0">
                <a:solidFill>
                  <a:schemeClr val="bg1"/>
                </a:solidFill>
                <a:latin typeface="Tw Cen MT" panose="020B0602020104020603" pitchFamily="34" charset="0"/>
              </a:rPr>
              <a:t> </a:t>
            </a:r>
            <a:r>
              <a:rPr lang="en-US" sz="3200" b="1" dirty="0">
                <a:solidFill>
                  <a:srgbClr val="FF0000"/>
                </a:solidFill>
                <a:latin typeface="Tw Cen MT" panose="020B0602020104020603" pitchFamily="34" charset="0"/>
              </a:rPr>
              <a:t>Field</a:t>
            </a:r>
            <a:endParaRPr lang="en-US" sz="3200" b="1" baseline="0" dirty="0">
              <a:solidFill>
                <a:srgbClr val="FF0000"/>
              </a:solidFill>
              <a:latin typeface="Tw Cen MT" panose="020B0602020104020603" pitchFamily="34" charset="0"/>
            </a:endParaRPr>
          </a:p>
        </p:txBody>
      </p:sp>
      <p:sp>
        <p:nvSpPr>
          <p:cNvPr id="2" name="Rectangle 1"/>
          <p:cNvSpPr/>
          <p:nvPr/>
        </p:nvSpPr>
        <p:spPr>
          <a:xfrm>
            <a:off x="441798" y="407969"/>
            <a:ext cx="8024884" cy="6370975"/>
          </a:xfrm>
          <a:prstGeom prst="rect">
            <a:avLst/>
          </a:prstGeom>
        </p:spPr>
        <p:txBody>
          <a:bodyPr wrap="square">
            <a:spAutoFit/>
          </a:bodyPr>
          <a:lstStyle/>
          <a:p>
            <a:pPr marL="285750" indent="-285750">
              <a:buFont typeface="Wingdings" pitchFamily="2" charset="2"/>
              <a:buChar char="q"/>
            </a:pPr>
            <a:r>
              <a:rPr lang="en-US" sz="2000" b="1" dirty="0">
                <a:solidFill>
                  <a:srgbClr val="063CE8"/>
                </a:solidFill>
                <a:latin typeface="Gill Sans MT" pitchFamily="34" charset="0"/>
              </a:rPr>
              <a:t>Ring</a:t>
            </a:r>
            <a:r>
              <a:rPr lang="en-US" sz="2000" dirty="0">
                <a:solidFill>
                  <a:srgbClr val="000000"/>
                </a:solidFill>
                <a:latin typeface="Gill Sans MT" pitchFamily="34" charset="0"/>
              </a:rPr>
              <a:t>:  R=&lt; {…}, </a:t>
            </a:r>
            <a:r>
              <a:rPr lang="en-US" sz="4800" dirty="0">
                <a:solidFill>
                  <a:srgbClr val="000000"/>
                </a:solidFill>
                <a:latin typeface="Gill Sans MT" pitchFamily="34" charset="0"/>
              </a:rPr>
              <a:t>.</a:t>
            </a:r>
            <a:r>
              <a:rPr lang="en-US" sz="2000" dirty="0">
                <a:solidFill>
                  <a:srgbClr val="000000"/>
                </a:solidFill>
                <a:latin typeface="Gill Sans MT" pitchFamily="34" charset="0"/>
              </a:rPr>
              <a:t>,# &gt; is a commutative ring in which the second operation satisfies all five properties  defined for the first </a:t>
            </a:r>
            <a:r>
              <a:rPr lang="en-US" sz="2000" dirty="0" err="1">
                <a:solidFill>
                  <a:srgbClr val="000000"/>
                </a:solidFill>
                <a:latin typeface="Gill Sans MT" pitchFamily="34" charset="0"/>
              </a:rPr>
              <a:t>opeation</a:t>
            </a:r>
            <a:r>
              <a:rPr lang="en-US" sz="2000" dirty="0">
                <a:solidFill>
                  <a:srgbClr val="000000"/>
                </a:solidFill>
                <a:latin typeface="Gill Sans MT" pitchFamily="34" charset="0"/>
              </a:rPr>
              <a:t> except that the identity of the first  operation has no inverse.</a:t>
            </a:r>
          </a:p>
          <a:p>
            <a:endParaRPr lang="en-US" sz="2000" dirty="0">
              <a:solidFill>
                <a:srgbClr val="000000"/>
              </a:solidFill>
              <a:latin typeface="Gill Sans MT" pitchFamily="34" charset="0"/>
            </a:endParaRPr>
          </a:p>
          <a:p>
            <a:pPr lvl="1"/>
            <a:r>
              <a:rPr lang="en-US" sz="2000" dirty="0">
                <a:solidFill>
                  <a:srgbClr val="000000"/>
                </a:solidFill>
                <a:latin typeface="Gill Sans MT" pitchFamily="34" charset="0"/>
              </a:rPr>
              <a:t>1.  A group with two operations: </a:t>
            </a:r>
            <a:r>
              <a:rPr lang="en-US" sz="2000" dirty="0">
                <a:solidFill>
                  <a:srgbClr val="FF0000"/>
                </a:solidFill>
                <a:latin typeface="Gill Sans MT" pitchFamily="34" charset="0"/>
              </a:rPr>
              <a:t>addition</a:t>
            </a:r>
            <a:r>
              <a:rPr lang="en-US" sz="2000" dirty="0">
                <a:solidFill>
                  <a:srgbClr val="000000"/>
                </a:solidFill>
                <a:latin typeface="Gill Sans MT" pitchFamily="34" charset="0"/>
              </a:rPr>
              <a:t> and </a:t>
            </a:r>
            <a:r>
              <a:rPr lang="en-US" sz="2000" dirty="0">
                <a:solidFill>
                  <a:srgbClr val="FF0000"/>
                </a:solidFill>
                <a:latin typeface="Gill Sans MT" pitchFamily="34" charset="0"/>
              </a:rPr>
              <a:t>multiplication</a:t>
            </a:r>
            <a:r>
              <a:rPr lang="en-US" sz="2000" dirty="0">
                <a:solidFill>
                  <a:srgbClr val="000000"/>
                </a:solidFill>
                <a:latin typeface="Gill Sans MT" pitchFamily="34" charset="0"/>
              </a:rPr>
              <a:t> </a:t>
            </a:r>
          </a:p>
          <a:p>
            <a:r>
              <a:rPr lang="en-US" sz="2000" dirty="0">
                <a:solidFill>
                  <a:srgbClr val="000000"/>
                </a:solidFill>
                <a:latin typeface="Gill Sans MT" pitchFamily="34" charset="0"/>
              </a:rPr>
              <a:t>       2.  The group is </a:t>
            </a:r>
            <a:r>
              <a:rPr lang="en-US" sz="2000" dirty="0" err="1">
                <a:solidFill>
                  <a:srgbClr val="000000"/>
                </a:solidFill>
                <a:latin typeface="Gill Sans MT" pitchFamily="34" charset="0"/>
              </a:rPr>
              <a:t>Abelian</a:t>
            </a:r>
            <a:r>
              <a:rPr lang="en-US" sz="2000" dirty="0">
                <a:solidFill>
                  <a:srgbClr val="000000"/>
                </a:solidFill>
                <a:latin typeface="Gill Sans MT" pitchFamily="34" charset="0"/>
              </a:rPr>
              <a:t> with respect to addition: </a:t>
            </a:r>
            <a:r>
              <a:rPr lang="en-US" sz="2000" dirty="0" err="1">
                <a:solidFill>
                  <a:srgbClr val="000000"/>
                </a:solidFill>
                <a:latin typeface="Gill Sans MT" pitchFamily="34" charset="0"/>
              </a:rPr>
              <a:t>a+b</a:t>
            </a:r>
            <a:r>
              <a:rPr lang="en-US" sz="2000" dirty="0">
                <a:solidFill>
                  <a:srgbClr val="000000"/>
                </a:solidFill>
                <a:latin typeface="Gill Sans MT" pitchFamily="34" charset="0"/>
              </a:rPr>
              <a:t> = </a:t>
            </a:r>
            <a:r>
              <a:rPr lang="en-US" sz="2000" dirty="0" err="1">
                <a:solidFill>
                  <a:srgbClr val="000000"/>
                </a:solidFill>
                <a:latin typeface="Gill Sans MT" pitchFamily="34" charset="0"/>
              </a:rPr>
              <a:t>b+a</a:t>
            </a:r>
            <a:r>
              <a:rPr lang="en-US" sz="2000" dirty="0">
                <a:solidFill>
                  <a:srgbClr val="000000"/>
                </a:solidFill>
                <a:latin typeface="Gill Sans MT" pitchFamily="34" charset="0"/>
              </a:rPr>
              <a:t> (1</a:t>
            </a:r>
            <a:r>
              <a:rPr lang="en-US" sz="2000" baseline="30000" dirty="0">
                <a:solidFill>
                  <a:srgbClr val="000000"/>
                </a:solidFill>
                <a:latin typeface="Gill Sans MT" pitchFamily="34" charset="0"/>
              </a:rPr>
              <a:t>st</a:t>
            </a:r>
            <a:r>
              <a:rPr lang="en-US" sz="2000" dirty="0">
                <a:solidFill>
                  <a:srgbClr val="000000"/>
                </a:solidFill>
                <a:latin typeface="Gill Sans MT" pitchFamily="34" charset="0"/>
              </a:rPr>
              <a:t> 	operation, all )</a:t>
            </a:r>
          </a:p>
          <a:p>
            <a:r>
              <a:rPr lang="en-US" sz="2000" dirty="0">
                <a:solidFill>
                  <a:srgbClr val="000000"/>
                </a:solidFill>
                <a:latin typeface="Gill Sans MT" pitchFamily="34" charset="0"/>
              </a:rPr>
              <a:t>       3. Multiplication and additions are both associative: (2</a:t>
            </a:r>
            <a:r>
              <a:rPr lang="en-US" sz="2000" baseline="30000" dirty="0">
                <a:solidFill>
                  <a:srgbClr val="000000"/>
                </a:solidFill>
                <a:latin typeface="Gill Sans MT" pitchFamily="34" charset="0"/>
              </a:rPr>
              <a:t>nd</a:t>
            </a:r>
            <a:r>
              <a:rPr lang="en-US" sz="2000" dirty="0">
                <a:solidFill>
                  <a:srgbClr val="000000"/>
                </a:solidFill>
                <a:latin typeface="Gill Sans MT" pitchFamily="34" charset="0"/>
              </a:rPr>
              <a:t> operation only 	</a:t>
            </a:r>
            <a:r>
              <a:rPr lang="en-US" sz="2000" dirty="0">
                <a:solidFill>
                  <a:srgbClr val="FF0000"/>
                </a:solidFill>
                <a:latin typeface="Gill Sans MT" pitchFamily="34" charset="0"/>
              </a:rPr>
              <a:t>first two</a:t>
            </a:r>
            <a:r>
              <a:rPr lang="en-US" sz="2000" dirty="0">
                <a:solidFill>
                  <a:srgbClr val="000000"/>
                </a:solidFill>
                <a:latin typeface="Gill Sans MT" pitchFamily="34" charset="0"/>
              </a:rPr>
              <a:t>)</a:t>
            </a:r>
          </a:p>
          <a:p>
            <a:r>
              <a:rPr lang="en-US" sz="2000" dirty="0">
                <a:solidFill>
                  <a:srgbClr val="000000"/>
                </a:solidFill>
                <a:latin typeface="Gill Sans MT" pitchFamily="34" charset="0"/>
              </a:rPr>
              <a:t>		a+(</a:t>
            </a:r>
            <a:r>
              <a:rPr lang="en-US" sz="2000" dirty="0" err="1">
                <a:solidFill>
                  <a:srgbClr val="000000"/>
                </a:solidFill>
                <a:latin typeface="Gill Sans MT" pitchFamily="34" charset="0"/>
              </a:rPr>
              <a:t>b+c</a:t>
            </a:r>
            <a:r>
              <a:rPr lang="en-US" sz="2000" dirty="0">
                <a:solidFill>
                  <a:srgbClr val="000000"/>
                </a:solidFill>
                <a:latin typeface="Gill Sans MT" pitchFamily="34" charset="0"/>
              </a:rPr>
              <a:t>)=(</a:t>
            </a:r>
            <a:r>
              <a:rPr lang="en-US" sz="2000" dirty="0" err="1">
                <a:solidFill>
                  <a:srgbClr val="000000"/>
                </a:solidFill>
                <a:latin typeface="Gill Sans MT" pitchFamily="34" charset="0"/>
              </a:rPr>
              <a:t>a+b</a:t>
            </a:r>
            <a:r>
              <a:rPr lang="en-US" sz="2000" dirty="0">
                <a:solidFill>
                  <a:srgbClr val="000000"/>
                </a:solidFill>
                <a:latin typeface="Gill Sans MT" pitchFamily="34" charset="0"/>
              </a:rPr>
              <a:t>)+c </a:t>
            </a:r>
          </a:p>
          <a:p>
            <a:r>
              <a:rPr lang="en-US" sz="2000" dirty="0">
                <a:solidFill>
                  <a:srgbClr val="000000"/>
                </a:solidFill>
                <a:latin typeface="Gill Sans MT" pitchFamily="34" charset="0"/>
              </a:rPr>
              <a:t>		a.(</a:t>
            </a:r>
            <a:r>
              <a:rPr lang="en-US" sz="2000" dirty="0" err="1">
                <a:solidFill>
                  <a:srgbClr val="000000"/>
                </a:solidFill>
                <a:latin typeface="Gill Sans MT" pitchFamily="34" charset="0"/>
              </a:rPr>
              <a:t>b.c</a:t>
            </a:r>
            <a:r>
              <a:rPr lang="en-US" sz="2000" dirty="0">
                <a:solidFill>
                  <a:srgbClr val="000000"/>
                </a:solidFill>
                <a:latin typeface="Gill Sans MT" pitchFamily="34" charset="0"/>
              </a:rPr>
              <a:t>)=(</a:t>
            </a:r>
            <a:r>
              <a:rPr lang="en-US" sz="2000" dirty="0" err="1">
                <a:solidFill>
                  <a:srgbClr val="000000"/>
                </a:solidFill>
                <a:latin typeface="Gill Sans MT" pitchFamily="34" charset="0"/>
              </a:rPr>
              <a:t>a.b</a:t>
            </a:r>
            <a:r>
              <a:rPr lang="en-US" sz="2000" dirty="0">
                <a:solidFill>
                  <a:srgbClr val="000000"/>
                </a:solidFill>
                <a:latin typeface="Gill Sans MT" pitchFamily="34" charset="0"/>
              </a:rPr>
              <a:t>).c </a:t>
            </a:r>
          </a:p>
          <a:p>
            <a:r>
              <a:rPr lang="en-US" sz="2000" dirty="0">
                <a:solidFill>
                  <a:srgbClr val="000000"/>
                </a:solidFill>
                <a:latin typeface="Gill Sans MT" pitchFamily="34" charset="0"/>
              </a:rPr>
              <a:t>       4. Multiplication (2</a:t>
            </a:r>
            <a:r>
              <a:rPr lang="en-US" sz="2000" baseline="30000" dirty="0">
                <a:solidFill>
                  <a:srgbClr val="000000"/>
                </a:solidFill>
                <a:latin typeface="Gill Sans MT" pitchFamily="34" charset="0"/>
              </a:rPr>
              <a:t>nd</a:t>
            </a:r>
            <a:r>
              <a:rPr lang="en-US" sz="2000" dirty="0">
                <a:solidFill>
                  <a:srgbClr val="000000"/>
                </a:solidFill>
                <a:latin typeface="Gill Sans MT" pitchFamily="34" charset="0"/>
              </a:rPr>
              <a:t> </a:t>
            </a:r>
            <a:r>
              <a:rPr lang="en-US" sz="2000" dirty="0" err="1">
                <a:solidFill>
                  <a:srgbClr val="000000"/>
                </a:solidFill>
                <a:latin typeface="Gill Sans MT" pitchFamily="34" charset="0"/>
              </a:rPr>
              <a:t>opearation</a:t>
            </a:r>
            <a:r>
              <a:rPr lang="en-US" sz="2000" dirty="0">
                <a:solidFill>
                  <a:srgbClr val="000000"/>
                </a:solidFill>
                <a:latin typeface="Gill Sans MT" pitchFamily="34" charset="0"/>
              </a:rPr>
              <a:t>)  distributes over addition (</a:t>
            </a:r>
            <a:r>
              <a:rPr lang="en-US" sz="2000" dirty="0" err="1">
                <a:solidFill>
                  <a:srgbClr val="000000"/>
                </a:solidFill>
                <a:latin typeface="Gill Sans MT" pitchFamily="34" charset="0"/>
              </a:rPr>
              <a:t>ist</a:t>
            </a:r>
            <a:r>
              <a:rPr lang="en-US" sz="2000" dirty="0">
                <a:solidFill>
                  <a:srgbClr val="000000"/>
                </a:solidFill>
                <a:latin typeface="Gill Sans MT" pitchFamily="34" charset="0"/>
              </a:rPr>
              <a:t> 		operation) </a:t>
            </a:r>
          </a:p>
          <a:p>
            <a:r>
              <a:rPr lang="en-US" sz="2000" dirty="0">
                <a:solidFill>
                  <a:srgbClr val="000000"/>
                </a:solidFill>
                <a:latin typeface="Gill Sans MT" pitchFamily="34" charset="0"/>
              </a:rPr>
              <a:t>		a.(</a:t>
            </a:r>
            <a:r>
              <a:rPr lang="en-US" sz="2000" dirty="0" err="1">
                <a:solidFill>
                  <a:srgbClr val="000000"/>
                </a:solidFill>
                <a:latin typeface="Gill Sans MT" pitchFamily="34" charset="0"/>
              </a:rPr>
              <a:t>b+c</a:t>
            </a:r>
            <a:r>
              <a:rPr lang="en-US" sz="2000" dirty="0">
                <a:solidFill>
                  <a:srgbClr val="000000"/>
                </a:solidFill>
                <a:latin typeface="Gill Sans MT" pitchFamily="34" charset="0"/>
              </a:rPr>
              <a:t>)=</a:t>
            </a:r>
            <a:r>
              <a:rPr lang="en-US" sz="2000" dirty="0" err="1">
                <a:solidFill>
                  <a:srgbClr val="000000"/>
                </a:solidFill>
                <a:latin typeface="Gill Sans MT" pitchFamily="34" charset="0"/>
              </a:rPr>
              <a:t>a.b+a.c</a:t>
            </a:r>
            <a:r>
              <a:rPr lang="en-US" sz="2000" dirty="0">
                <a:solidFill>
                  <a:srgbClr val="000000"/>
                </a:solidFill>
                <a:latin typeface="Gill Sans MT" pitchFamily="34" charset="0"/>
              </a:rPr>
              <a:t> </a:t>
            </a:r>
          </a:p>
          <a:p>
            <a:r>
              <a:rPr lang="en-US" sz="2000" dirty="0">
                <a:solidFill>
                  <a:srgbClr val="000000"/>
                </a:solidFill>
                <a:latin typeface="Gill Sans MT" pitchFamily="34" charset="0"/>
              </a:rPr>
              <a:t>		(</a:t>
            </a:r>
            <a:r>
              <a:rPr lang="en-US" sz="2000" dirty="0" err="1">
                <a:solidFill>
                  <a:srgbClr val="000000"/>
                </a:solidFill>
                <a:latin typeface="Gill Sans MT" pitchFamily="34" charset="0"/>
              </a:rPr>
              <a:t>a+b</a:t>
            </a:r>
            <a:r>
              <a:rPr lang="en-US" sz="2000" dirty="0">
                <a:solidFill>
                  <a:srgbClr val="000000"/>
                </a:solidFill>
                <a:latin typeface="Gill Sans MT" pitchFamily="34" charset="0"/>
              </a:rPr>
              <a:t>).c = </a:t>
            </a:r>
            <a:r>
              <a:rPr lang="en-US" sz="2000" dirty="0" err="1">
                <a:solidFill>
                  <a:srgbClr val="000000"/>
                </a:solidFill>
                <a:latin typeface="Gill Sans MT" pitchFamily="34" charset="0"/>
              </a:rPr>
              <a:t>a.c</a:t>
            </a:r>
            <a:r>
              <a:rPr lang="en-US" sz="2000" dirty="0">
                <a:solidFill>
                  <a:srgbClr val="000000"/>
                </a:solidFill>
                <a:latin typeface="Gill Sans MT" pitchFamily="34" charset="0"/>
              </a:rPr>
              <a:t> + </a:t>
            </a:r>
            <a:r>
              <a:rPr lang="en-US" sz="2000" dirty="0" err="1">
                <a:solidFill>
                  <a:srgbClr val="000000"/>
                </a:solidFill>
                <a:latin typeface="Gill Sans MT" pitchFamily="34" charset="0"/>
              </a:rPr>
              <a:t>b.c</a:t>
            </a:r>
            <a:r>
              <a:rPr lang="en-US" sz="2000" dirty="0">
                <a:solidFill>
                  <a:srgbClr val="000000"/>
                </a:solidFill>
                <a:latin typeface="Gill Sans MT" pitchFamily="34" charset="0"/>
              </a:rPr>
              <a:t> </a:t>
            </a:r>
          </a:p>
          <a:p>
            <a:pPr marL="285750" indent="-285750">
              <a:buFont typeface="Wingdings" pitchFamily="2" charset="2"/>
              <a:buChar char="q"/>
            </a:pPr>
            <a:r>
              <a:rPr lang="en-US" sz="2000" b="1" dirty="0">
                <a:solidFill>
                  <a:srgbClr val="063CE8"/>
                </a:solidFill>
                <a:latin typeface="Gill Sans MT" pitchFamily="34" charset="0"/>
              </a:rPr>
              <a:t>Commutative Ring</a:t>
            </a:r>
            <a:r>
              <a:rPr lang="en-US" sz="2000" dirty="0">
                <a:solidFill>
                  <a:srgbClr val="000000"/>
                </a:solidFill>
                <a:latin typeface="Gill Sans MT" pitchFamily="34" charset="0"/>
              </a:rPr>
              <a:t>:  Multiplication is commutative, i.e., </a:t>
            </a:r>
          </a:p>
          <a:p>
            <a:r>
              <a:rPr lang="en-US" sz="2000" dirty="0">
                <a:solidFill>
                  <a:srgbClr val="000000"/>
                </a:solidFill>
                <a:latin typeface="Gill Sans MT" pitchFamily="34" charset="0"/>
              </a:rPr>
              <a:t>		</a:t>
            </a:r>
            <a:r>
              <a:rPr lang="en-US" sz="2000" dirty="0" err="1">
                <a:solidFill>
                  <a:srgbClr val="000000"/>
                </a:solidFill>
                <a:latin typeface="Gill Sans MT" pitchFamily="34" charset="0"/>
              </a:rPr>
              <a:t>a.b</a:t>
            </a:r>
            <a:r>
              <a:rPr lang="en-US" sz="2000" dirty="0">
                <a:solidFill>
                  <a:srgbClr val="000000"/>
                </a:solidFill>
                <a:latin typeface="Gill Sans MT" pitchFamily="34" charset="0"/>
              </a:rPr>
              <a:t> = </a:t>
            </a:r>
            <a:r>
              <a:rPr lang="en-US" sz="2000" dirty="0" err="1">
                <a:solidFill>
                  <a:srgbClr val="000000"/>
                </a:solidFill>
                <a:latin typeface="Gill Sans MT" pitchFamily="34" charset="0"/>
              </a:rPr>
              <a:t>b.a</a:t>
            </a:r>
            <a:r>
              <a:rPr lang="en-US" sz="2000" dirty="0">
                <a:solidFill>
                  <a:srgbClr val="000000"/>
                </a:solidFill>
                <a:latin typeface="Gill Sans MT" pitchFamily="34" charset="0"/>
              </a:rPr>
              <a:t> </a:t>
            </a:r>
          </a:p>
          <a:p>
            <a:pPr marL="285750" indent="-285750">
              <a:buFont typeface="Wingdings" pitchFamily="2" charset="2"/>
              <a:buChar char="q"/>
            </a:pPr>
            <a:r>
              <a:rPr lang="en-US" sz="2000" b="1" dirty="0">
                <a:solidFill>
                  <a:srgbClr val="063CE8"/>
                </a:solidFill>
                <a:latin typeface="Gill Sans MT" pitchFamily="34" charset="0"/>
              </a:rPr>
              <a:t>Integral Domain</a:t>
            </a:r>
            <a:r>
              <a:rPr lang="en-US" sz="2000" dirty="0">
                <a:solidFill>
                  <a:srgbClr val="000000"/>
                </a:solidFill>
                <a:latin typeface="Gill Sans MT" pitchFamily="34" charset="0"/>
              </a:rPr>
              <a:t>: multiplication operation has an identity and no zero divisors </a:t>
            </a:r>
          </a:p>
        </p:txBody>
      </p:sp>
    </p:spTree>
    <p:extLst>
      <p:ext uri="{BB962C8B-B14F-4D97-AF65-F5344CB8AC3E}">
        <p14:creationId xmlns:p14="http://schemas.microsoft.com/office/powerpoint/2010/main" val="36346880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6454-28B6-6004-5638-A39703C9A220}"/>
              </a:ext>
            </a:extLst>
          </p:cNvPr>
          <p:cNvSpPr>
            <a:spLocks noGrp="1"/>
          </p:cNvSpPr>
          <p:nvPr>
            <p:ph type="title"/>
          </p:nvPr>
        </p:nvSpPr>
        <p:spPr/>
        <p:txBody>
          <a:bodyPr/>
          <a:lstStyle/>
          <a:p>
            <a:endParaRPr lang="en-US"/>
          </a:p>
        </p:txBody>
      </p:sp>
      <p:pic>
        <p:nvPicPr>
          <p:cNvPr id="7" name="Picture 6">
            <a:extLst>
              <a:ext uri="{FF2B5EF4-FFF2-40B4-BE49-F238E27FC236}">
                <a16:creationId xmlns:a16="http://schemas.microsoft.com/office/drawing/2014/main" id="{078C9CEB-C51E-97CB-C77F-6BC1A2F3D515}"/>
              </a:ext>
            </a:extLst>
          </p:cNvPr>
          <p:cNvPicPr>
            <a:picLocks noChangeAspect="1"/>
          </p:cNvPicPr>
          <p:nvPr/>
        </p:nvPicPr>
        <p:blipFill>
          <a:blip r:embed="rId2"/>
          <a:stretch>
            <a:fillRect/>
          </a:stretch>
        </p:blipFill>
        <p:spPr>
          <a:xfrm>
            <a:off x="665162" y="1428750"/>
            <a:ext cx="7362225" cy="4392930"/>
          </a:xfrm>
          <a:prstGeom prst="rect">
            <a:avLst/>
          </a:prstGeom>
        </p:spPr>
      </p:pic>
    </p:spTree>
    <p:extLst>
      <p:ext uri="{BB962C8B-B14F-4D97-AF65-F5344CB8AC3E}">
        <p14:creationId xmlns:p14="http://schemas.microsoft.com/office/powerpoint/2010/main" val="15208307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6454-28B6-6004-5638-A39703C9A220}"/>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8A3F65CD-B967-632C-707D-D4D90C58E9B8}"/>
              </a:ext>
            </a:extLst>
          </p:cNvPr>
          <p:cNvPicPr>
            <a:picLocks noChangeAspect="1"/>
          </p:cNvPicPr>
          <p:nvPr/>
        </p:nvPicPr>
        <p:blipFill>
          <a:blip r:embed="rId2"/>
          <a:stretch>
            <a:fillRect/>
          </a:stretch>
        </p:blipFill>
        <p:spPr>
          <a:xfrm>
            <a:off x="790575" y="2514600"/>
            <a:ext cx="7562850" cy="1828800"/>
          </a:xfrm>
          <a:prstGeom prst="rect">
            <a:avLst/>
          </a:prstGeom>
        </p:spPr>
      </p:pic>
    </p:spTree>
    <p:extLst>
      <p:ext uri="{BB962C8B-B14F-4D97-AF65-F5344CB8AC3E}">
        <p14:creationId xmlns:p14="http://schemas.microsoft.com/office/powerpoint/2010/main" val="19955677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6454-28B6-6004-5638-A39703C9A220}"/>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1BB7CFAC-7A60-4BF8-7B2D-1749E014C481}"/>
              </a:ext>
            </a:extLst>
          </p:cNvPr>
          <p:cNvPicPr>
            <a:picLocks noChangeAspect="1"/>
          </p:cNvPicPr>
          <p:nvPr/>
        </p:nvPicPr>
        <p:blipFill>
          <a:blip r:embed="rId2"/>
          <a:stretch>
            <a:fillRect/>
          </a:stretch>
        </p:blipFill>
        <p:spPr>
          <a:xfrm>
            <a:off x="247650" y="1469707"/>
            <a:ext cx="8648700" cy="4772025"/>
          </a:xfrm>
          <a:prstGeom prst="rect">
            <a:avLst/>
          </a:prstGeom>
        </p:spPr>
      </p:pic>
    </p:spTree>
    <p:extLst>
      <p:ext uri="{BB962C8B-B14F-4D97-AF65-F5344CB8AC3E}">
        <p14:creationId xmlns:p14="http://schemas.microsoft.com/office/powerpoint/2010/main" val="11734002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674" y="945178"/>
            <a:ext cx="7705725" cy="322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0"/>
          <p:cNvSpPr>
            <a:spLocks noChangeArrowheads="1"/>
          </p:cNvSpPr>
          <p:nvPr/>
        </p:nvSpPr>
        <p:spPr bwMode="auto">
          <a:xfrm>
            <a:off x="261936" y="4169390"/>
            <a:ext cx="88392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w Cen MT" panose="020B0602020104020603" pitchFamily="34" charset="0"/>
              </a:rPr>
              <a:t>A field</a:t>
            </a:r>
            <a:r>
              <a:rPr kumimoji="0" lang="en-US" sz="2000" b="0" i="0" u="none" strike="noStrike" kern="0" cap="none" spc="0" normalizeH="0" baseline="0" noProof="0" dirty="0">
                <a:ln>
                  <a:noFill/>
                </a:ln>
                <a:solidFill>
                  <a:sysClr val="windowText" lastClr="000000"/>
                </a:solidFill>
                <a:effectLst/>
                <a:uLnTx/>
                <a:uFillTx/>
                <a:latin typeface="Tw Cen MT" panose="020B0602020104020603" pitchFamily="34" charset="0"/>
              </a:rPr>
              <a:t>, denoted by F = &lt;{…}, •, &gt; is a </a:t>
            </a:r>
            <a:r>
              <a:rPr kumimoji="0" lang="en-US" sz="2000" b="1" i="0" u="none" strike="noStrike" kern="0" cap="none" spc="0" normalizeH="0" baseline="0" noProof="0" dirty="0">
                <a:ln>
                  <a:noFill/>
                </a:ln>
                <a:solidFill>
                  <a:srgbClr val="FF0000"/>
                </a:solidFill>
                <a:effectLst/>
                <a:uLnTx/>
                <a:uFillTx/>
                <a:latin typeface="Tw Cen MT" panose="020B0602020104020603" pitchFamily="34" charset="0"/>
              </a:rPr>
              <a:t>commutative ring </a:t>
            </a:r>
            <a:r>
              <a:rPr kumimoji="0" lang="en-US" sz="2000" b="0" i="0" u="none" strike="noStrike" kern="0" cap="none" spc="0" normalizeH="0" baseline="0" noProof="0" dirty="0">
                <a:ln>
                  <a:noFill/>
                </a:ln>
                <a:solidFill>
                  <a:sysClr val="windowText" lastClr="000000"/>
                </a:solidFill>
                <a:effectLst/>
                <a:uLnTx/>
                <a:uFillTx/>
                <a:latin typeface="Tw Cen MT" panose="020B0602020104020603" pitchFamily="34" charset="0"/>
              </a:rPr>
              <a:t>in which the second operation satisfies all five properties defined for the first operation except that the identity of the first operation has no inverse. </a:t>
            </a:r>
          </a:p>
          <a:p>
            <a:pPr marL="0" marR="0" lvl="0" indent="0" algn="just" defTabSz="914400" eaLnBrk="1" fontAlgn="auto" latinLnBrk="0" hangingPunct="1">
              <a:lnSpc>
                <a:spcPct val="100000"/>
              </a:lnSpc>
              <a:spcBef>
                <a:spcPts val="0"/>
              </a:spcBef>
              <a:spcAft>
                <a:spcPts val="0"/>
              </a:spcAft>
              <a:buClrTx/>
              <a:buSzTx/>
              <a:buFontTx/>
              <a:buNone/>
              <a:tabLst/>
              <a:defRPr/>
            </a:pPr>
            <a:endParaRPr lang="en-US" sz="2000" kern="0" dirty="0">
              <a:solidFill>
                <a:sysClr val="windowText" lastClr="000000"/>
              </a:solidFill>
              <a:latin typeface="Tw Cen MT" panose="020B0602020104020603" pitchFamily="34"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w Cen MT" panose="020B0602020104020603" pitchFamily="34" charset="0"/>
              </a:rPr>
              <a:t>A field is a structure that supports</a:t>
            </a:r>
            <a:r>
              <a:rPr kumimoji="0" lang="en-US" sz="2000" b="0" i="0" u="none" strike="noStrike" kern="0" cap="none" spc="0" normalizeH="0" noProof="0" dirty="0">
                <a:ln>
                  <a:noFill/>
                </a:ln>
                <a:solidFill>
                  <a:sysClr val="windowText" lastClr="000000"/>
                </a:solidFill>
                <a:effectLst/>
                <a:uLnTx/>
                <a:uFillTx/>
                <a:latin typeface="Tw Cen MT" panose="020B0602020104020603" pitchFamily="34" charset="0"/>
              </a:rPr>
              <a:t>  two pairs of operations that we have used in </a:t>
            </a:r>
            <a:r>
              <a:rPr kumimoji="0" lang="en-US" sz="2000" b="0" i="0" u="none" strike="noStrike" kern="0" cap="none" spc="0" normalizeH="0" noProof="0" dirty="0" err="1">
                <a:ln>
                  <a:noFill/>
                </a:ln>
                <a:solidFill>
                  <a:sysClr val="windowText" lastClr="000000"/>
                </a:solidFill>
                <a:effectLst/>
                <a:uLnTx/>
                <a:uFillTx/>
                <a:latin typeface="Tw Cen MT" panose="020B0602020104020603" pitchFamily="34" charset="0"/>
              </a:rPr>
              <a:t>matematics</a:t>
            </a:r>
            <a:r>
              <a:rPr kumimoji="0" lang="en-US" sz="2000" b="0" i="0" u="none" strike="noStrike" kern="0" cap="none" spc="0" normalizeH="0" noProof="0" dirty="0">
                <a:ln>
                  <a:noFill/>
                </a:ln>
                <a:solidFill>
                  <a:sysClr val="windowText" lastClr="000000"/>
                </a:solidFill>
                <a:effectLst/>
                <a:uLnTx/>
                <a:uFillTx/>
                <a:latin typeface="Tw Cen MT" panose="020B0602020104020603" pitchFamily="34" charset="0"/>
              </a:rPr>
              <a:t>; addition/ subtraction and multiplication/division. </a:t>
            </a:r>
            <a:r>
              <a:rPr kumimoji="0" lang="en-US" sz="2000" b="0" i="0" u="none" strike="noStrike" kern="0" cap="none" spc="0" normalizeH="0" noProof="0" dirty="0">
                <a:ln>
                  <a:noFill/>
                </a:ln>
                <a:solidFill>
                  <a:srgbClr val="FF0000"/>
                </a:solidFill>
                <a:effectLst/>
                <a:uLnTx/>
                <a:uFillTx/>
                <a:latin typeface="Tw Cen MT" panose="020B0602020104020603" pitchFamily="34" charset="0"/>
              </a:rPr>
              <a:t>There is one exception : division by zero is not allowed.</a:t>
            </a:r>
            <a:endParaRPr kumimoji="0" lang="en-US" sz="2000" b="0" i="0" u="none" strike="noStrike" kern="0" cap="none" spc="0" normalizeH="0" baseline="0" noProof="0" dirty="0">
              <a:ln>
                <a:noFill/>
              </a:ln>
              <a:solidFill>
                <a:srgbClr val="FF0000"/>
              </a:solidFill>
              <a:effectLst/>
              <a:uLnTx/>
              <a:uFillTx/>
              <a:latin typeface="Tw Cen MT" panose="020B0602020104020603" pitchFamily="34" charset="0"/>
            </a:endParaRPr>
          </a:p>
        </p:txBody>
      </p:sp>
    </p:spTree>
    <p:extLst>
      <p:ext uri="{BB962C8B-B14F-4D97-AF65-F5344CB8AC3E}">
        <p14:creationId xmlns:p14="http://schemas.microsoft.com/office/powerpoint/2010/main" val="29636655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6" name="Text Box 11"/>
          <p:cNvSpPr txBox="1">
            <a:spLocks noChangeArrowheads="1"/>
          </p:cNvSpPr>
          <p:nvPr/>
        </p:nvSpPr>
        <p:spPr bwMode="auto">
          <a:xfrm>
            <a:off x="2210938" y="465030"/>
            <a:ext cx="4981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pPr eaLnBrk="0" hangingPunct="0"/>
            <a:r>
              <a:rPr lang="en-US" baseline="0" dirty="0">
                <a:solidFill>
                  <a:srgbClr val="3333CC"/>
                </a:solidFill>
                <a:latin typeface="Tw Cen MT" panose="020B0602020104020603" pitchFamily="34" charset="0"/>
                <a:cs typeface="+mn-cs"/>
              </a:rPr>
              <a:t>Prime Fields and Extension field </a:t>
            </a:r>
            <a:endParaRPr lang="en-US" sz="2000" i="1" baseline="0" dirty="0">
              <a:solidFill>
                <a:srgbClr val="000000"/>
              </a:solidFill>
              <a:latin typeface="Tw Cen MT" panose="020B0602020104020603" pitchFamily="34" charset="0"/>
              <a:cs typeface="+mn-cs"/>
            </a:endParaRPr>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615" y="1525860"/>
            <a:ext cx="8506323" cy="3993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32453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6" name="Text Box 11"/>
          <p:cNvSpPr txBox="1">
            <a:spLocks noChangeArrowheads="1"/>
          </p:cNvSpPr>
          <p:nvPr/>
        </p:nvSpPr>
        <p:spPr bwMode="auto">
          <a:xfrm>
            <a:off x="2210938" y="465030"/>
            <a:ext cx="498143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pPr eaLnBrk="0" hangingPunct="0"/>
            <a:r>
              <a:rPr lang="en-US" sz="4000" baseline="0" dirty="0">
                <a:solidFill>
                  <a:srgbClr val="000000"/>
                </a:solidFill>
                <a:latin typeface="Tw Cen MT" panose="020B0602020104020603" pitchFamily="34" charset="0"/>
                <a:cs typeface="+mn-cs"/>
              </a:rPr>
              <a:t>What is a Polynomial?</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21" y="1519640"/>
            <a:ext cx="7751289" cy="4203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29073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4" name="Text Box 9"/>
          <p:cNvSpPr txBox="1">
            <a:spLocks noChangeArrowheads="1"/>
          </p:cNvSpPr>
          <p:nvPr/>
        </p:nvSpPr>
        <p:spPr bwMode="auto">
          <a:xfrm>
            <a:off x="341142" y="225082"/>
            <a:ext cx="28240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pPr eaLnBrk="0" hangingPunct="0"/>
            <a:r>
              <a:rPr lang="en-US" sz="3200" i="1" baseline="0" dirty="0">
                <a:solidFill>
                  <a:srgbClr val="FF0000"/>
                </a:solidFill>
                <a:latin typeface="Tw Cen MT" panose="020B0602020104020603" pitchFamily="34" charset="0"/>
                <a:cs typeface="+mn-cs"/>
              </a:rPr>
              <a:t>  </a:t>
            </a:r>
            <a:r>
              <a:rPr lang="en-US" sz="3200" i="1" baseline="0" dirty="0">
                <a:latin typeface="Tw Cen MT" panose="020B0602020104020603" pitchFamily="34" charset="0"/>
                <a:cs typeface="+mn-cs"/>
              </a:rPr>
              <a:t>C</a:t>
            </a:r>
            <a:r>
              <a:rPr lang="en-US" sz="3200" baseline="0" dirty="0">
                <a:solidFill>
                  <a:srgbClr val="000000"/>
                </a:solidFill>
                <a:latin typeface="Tw Cen MT" panose="020B0602020104020603" pitchFamily="34" charset="0"/>
                <a:cs typeface="+mn-cs"/>
              </a:rPr>
              <a:t>ontinued</a:t>
            </a:r>
          </a:p>
        </p:txBody>
      </p:sp>
      <p:sp>
        <p:nvSpPr>
          <p:cNvPr id="26635" name="Rectangle 10"/>
          <p:cNvSpPr>
            <a:spLocks noChangeArrowheads="1"/>
          </p:cNvSpPr>
          <p:nvPr/>
        </p:nvSpPr>
        <p:spPr bwMode="auto">
          <a:xfrm>
            <a:off x="543951" y="1665850"/>
            <a:ext cx="848750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just"/>
            <a:r>
              <a:rPr lang="en-US" sz="2800" b="1" dirty="0">
                <a:solidFill>
                  <a:srgbClr val="000000"/>
                </a:solidFill>
                <a:latin typeface="Tw Cen MT" panose="020B0602020104020603" pitchFamily="34" charset="0"/>
                <a:cs typeface="+mn-cs"/>
              </a:rPr>
              <a:t>Although we have fields of infinite order, only finite fields extensively used in cryptography.</a:t>
            </a:r>
          </a:p>
          <a:p>
            <a:pPr algn="just"/>
            <a:r>
              <a:rPr lang="en-US" sz="2800" b="1" dirty="0">
                <a:solidFill>
                  <a:srgbClr val="000000"/>
                </a:solidFill>
                <a:latin typeface="Tw Cen MT" panose="020B0602020104020603" pitchFamily="34" charset="0"/>
                <a:cs typeface="+mn-cs"/>
              </a:rPr>
              <a:t>Galois showed that </a:t>
            </a:r>
            <a:r>
              <a:rPr lang="en-US" sz="2800" b="1" dirty="0">
                <a:solidFill>
                  <a:srgbClr val="FF0000"/>
                </a:solidFill>
                <a:latin typeface="Tw Cen MT" panose="020B0602020104020603" pitchFamily="34" charset="0"/>
                <a:cs typeface="+mn-cs"/>
              </a:rPr>
              <a:t>for a field to be finite</a:t>
            </a:r>
            <a:r>
              <a:rPr lang="en-US" sz="2800" b="1" dirty="0">
                <a:solidFill>
                  <a:srgbClr val="000000"/>
                </a:solidFill>
                <a:latin typeface="Tw Cen MT" panose="020B0602020104020603" pitchFamily="34" charset="0"/>
                <a:cs typeface="+mn-cs"/>
              </a:rPr>
              <a:t>, the number of elements should be </a:t>
            </a:r>
            <a:r>
              <a:rPr lang="en-US" sz="2800" b="1" i="1" dirty="0" err="1">
                <a:solidFill>
                  <a:srgbClr val="000000"/>
                </a:solidFill>
                <a:latin typeface="Tw Cen MT" panose="020B0602020104020603" pitchFamily="34" charset="0"/>
                <a:cs typeface="+mn-cs"/>
              </a:rPr>
              <a:t>p</a:t>
            </a:r>
            <a:r>
              <a:rPr lang="en-US" sz="2800" b="1" i="1" baseline="30000" dirty="0" err="1">
                <a:solidFill>
                  <a:srgbClr val="000000"/>
                </a:solidFill>
                <a:latin typeface="Tw Cen MT" panose="020B0602020104020603" pitchFamily="34" charset="0"/>
                <a:cs typeface="+mn-cs"/>
              </a:rPr>
              <a:t>n</a:t>
            </a:r>
            <a:r>
              <a:rPr lang="en-US" sz="2800" b="1" dirty="0">
                <a:solidFill>
                  <a:srgbClr val="000000"/>
                </a:solidFill>
                <a:latin typeface="Tw Cen MT" panose="020B0602020104020603" pitchFamily="34" charset="0"/>
                <a:cs typeface="+mn-cs"/>
              </a:rPr>
              <a:t>, where </a:t>
            </a:r>
            <a:r>
              <a:rPr lang="en-US" sz="2800" b="1" i="1" dirty="0">
                <a:solidFill>
                  <a:srgbClr val="0000CC"/>
                </a:solidFill>
                <a:latin typeface="Tw Cen MT" panose="020B0602020104020603" pitchFamily="34" charset="0"/>
                <a:cs typeface="+mn-cs"/>
              </a:rPr>
              <a:t>p</a:t>
            </a:r>
            <a:r>
              <a:rPr lang="en-US" sz="2800" b="1" dirty="0">
                <a:solidFill>
                  <a:srgbClr val="0000CC"/>
                </a:solidFill>
                <a:latin typeface="Tw Cen MT" panose="020B0602020104020603" pitchFamily="34" charset="0"/>
                <a:cs typeface="+mn-cs"/>
              </a:rPr>
              <a:t> is a prime </a:t>
            </a:r>
            <a:r>
              <a:rPr lang="en-US" sz="2800" b="1" dirty="0">
                <a:solidFill>
                  <a:srgbClr val="000000"/>
                </a:solidFill>
                <a:latin typeface="Tw Cen MT" panose="020B0602020104020603" pitchFamily="34" charset="0"/>
                <a:cs typeface="+mn-cs"/>
              </a:rPr>
              <a:t>and </a:t>
            </a:r>
            <a:r>
              <a:rPr lang="en-US" sz="2800" b="1" i="1" dirty="0">
                <a:solidFill>
                  <a:srgbClr val="0000CC"/>
                </a:solidFill>
                <a:latin typeface="Tw Cen MT" panose="020B0602020104020603" pitchFamily="34" charset="0"/>
                <a:cs typeface="+mn-cs"/>
              </a:rPr>
              <a:t>n</a:t>
            </a:r>
            <a:r>
              <a:rPr lang="en-US" sz="2800" b="1" dirty="0">
                <a:solidFill>
                  <a:srgbClr val="0000CC"/>
                </a:solidFill>
                <a:latin typeface="Tw Cen MT" panose="020B0602020104020603" pitchFamily="34" charset="0"/>
                <a:cs typeface="+mn-cs"/>
              </a:rPr>
              <a:t> is a positive integer. </a:t>
            </a:r>
          </a:p>
        </p:txBody>
      </p:sp>
      <p:sp>
        <p:nvSpPr>
          <p:cNvPr id="26636" name="Text Box 11"/>
          <p:cNvSpPr txBox="1">
            <a:spLocks noChangeArrowheads="1"/>
          </p:cNvSpPr>
          <p:nvPr/>
        </p:nvSpPr>
        <p:spPr bwMode="auto">
          <a:xfrm>
            <a:off x="528785" y="1025768"/>
            <a:ext cx="17257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pPr eaLnBrk="0" hangingPunct="0"/>
            <a:r>
              <a:rPr lang="en-US" baseline="0" dirty="0">
                <a:solidFill>
                  <a:srgbClr val="3333CC"/>
                </a:solidFill>
                <a:latin typeface="Tw Cen MT" panose="020B0602020104020603" pitchFamily="34" charset="0"/>
                <a:cs typeface="+mn-cs"/>
              </a:rPr>
              <a:t>Finite Fields </a:t>
            </a:r>
            <a:endParaRPr lang="en-US" sz="2000" i="1" baseline="0" dirty="0">
              <a:solidFill>
                <a:srgbClr val="000000"/>
              </a:solidFill>
              <a:latin typeface="Tw Cen MT" panose="020B0602020104020603" pitchFamily="34" charset="0"/>
              <a:cs typeface="+mn-cs"/>
            </a:endParaRPr>
          </a:p>
        </p:txBody>
      </p:sp>
      <p:sp>
        <p:nvSpPr>
          <p:cNvPr id="26637" name="Line 12"/>
          <p:cNvSpPr>
            <a:spLocks noChangeShapeType="1"/>
          </p:cNvSpPr>
          <p:nvPr/>
        </p:nvSpPr>
        <p:spPr bwMode="auto">
          <a:xfrm>
            <a:off x="527539" y="4263683"/>
            <a:ext cx="7828994"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pPr eaLnBrk="0" hangingPunct="0"/>
            <a:endParaRPr lang="en-US" sz="2400" b="1" baseline="-20000">
              <a:solidFill>
                <a:srgbClr val="000000"/>
              </a:solidFill>
              <a:latin typeface="Tw Cen MT" panose="020B0602020104020603" pitchFamily="34" charset="0"/>
              <a:cs typeface="+mn-cs"/>
            </a:endParaRPr>
          </a:p>
        </p:txBody>
      </p:sp>
      <p:sp>
        <p:nvSpPr>
          <p:cNvPr id="26638" name="Line 13"/>
          <p:cNvSpPr>
            <a:spLocks noChangeShapeType="1"/>
          </p:cNvSpPr>
          <p:nvPr/>
        </p:nvSpPr>
        <p:spPr bwMode="auto">
          <a:xfrm>
            <a:off x="529127" y="5482883"/>
            <a:ext cx="7828994"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pPr eaLnBrk="0" hangingPunct="0"/>
            <a:endParaRPr lang="en-US" sz="2400" b="1" baseline="-20000">
              <a:solidFill>
                <a:srgbClr val="000000"/>
              </a:solidFill>
              <a:latin typeface="Tw Cen MT" panose="020B0602020104020603" pitchFamily="34" charset="0"/>
              <a:cs typeface="+mn-cs"/>
            </a:endParaRPr>
          </a:p>
        </p:txBody>
      </p:sp>
      <p:sp>
        <p:nvSpPr>
          <p:cNvPr id="26639" name="Rectangle 14"/>
          <p:cNvSpPr>
            <a:spLocks noChangeArrowheads="1"/>
          </p:cNvSpPr>
          <p:nvPr/>
        </p:nvSpPr>
        <p:spPr bwMode="auto">
          <a:xfrm>
            <a:off x="565639" y="4355758"/>
            <a:ext cx="7755826" cy="10668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p>
            <a:pPr algn="ctr" eaLnBrk="0" hangingPunct="0"/>
            <a:r>
              <a:rPr lang="en-US" sz="3200" b="1" dirty="0">
                <a:solidFill>
                  <a:srgbClr val="000000"/>
                </a:solidFill>
                <a:latin typeface="Tw Cen MT" panose="020B0602020104020603" pitchFamily="34" charset="0"/>
                <a:cs typeface="+mn-cs"/>
              </a:rPr>
              <a:t>A Galois field, GF(</a:t>
            </a:r>
            <a:r>
              <a:rPr lang="en-US" sz="3200" b="1" i="1" dirty="0" err="1">
                <a:solidFill>
                  <a:srgbClr val="000000"/>
                </a:solidFill>
                <a:latin typeface="Tw Cen MT" panose="020B0602020104020603" pitchFamily="34" charset="0"/>
                <a:cs typeface="+mn-cs"/>
              </a:rPr>
              <a:t>p</a:t>
            </a:r>
            <a:r>
              <a:rPr lang="en-US" sz="3200" b="1" i="1" baseline="30000" dirty="0" err="1">
                <a:solidFill>
                  <a:srgbClr val="000000"/>
                </a:solidFill>
                <a:latin typeface="Tw Cen MT" panose="020B0602020104020603" pitchFamily="34" charset="0"/>
                <a:cs typeface="+mn-cs"/>
              </a:rPr>
              <a:t>n</a:t>
            </a:r>
            <a:r>
              <a:rPr lang="en-US" sz="3200" b="1" dirty="0">
                <a:solidFill>
                  <a:srgbClr val="000000"/>
                </a:solidFill>
                <a:latin typeface="Tw Cen MT" panose="020B0602020104020603" pitchFamily="34" charset="0"/>
                <a:cs typeface="+mn-cs"/>
              </a:rPr>
              <a:t>), is a finite field with </a:t>
            </a:r>
            <a:r>
              <a:rPr lang="en-US" sz="3200" b="1" i="1" dirty="0" err="1">
                <a:solidFill>
                  <a:srgbClr val="000000"/>
                </a:solidFill>
                <a:latin typeface="Tw Cen MT" panose="020B0602020104020603" pitchFamily="34" charset="0"/>
                <a:cs typeface="+mn-cs"/>
              </a:rPr>
              <a:t>p</a:t>
            </a:r>
            <a:r>
              <a:rPr lang="en-US" sz="3200" b="1" i="1" baseline="30000" dirty="0" err="1">
                <a:solidFill>
                  <a:srgbClr val="000000"/>
                </a:solidFill>
                <a:latin typeface="Tw Cen MT" panose="020B0602020104020603" pitchFamily="34" charset="0"/>
                <a:cs typeface="+mn-cs"/>
              </a:rPr>
              <a:t>n</a:t>
            </a:r>
            <a:r>
              <a:rPr lang="en-US" sz="3200" b="1" dirty="0">
                <a:solidFill>
                  <a:srgbClr val="000000"/>
                </a:solidFill>
                <a:latin typeface="Tw Cen MT" panose="020B0602020104020603" pitchFamily="34" charset="0"/>
                <a:cs typeface="+mn-cs"/>
              </a:rPr>
              <a:t> elements.</a:t>
            </a:r>
          </a:p>
        </p:txBody>
      </p:sp>
    </p:spTree>
    <p:extLst>
      <p:ext uri="{BB962C8B-B14F-4D97-AF65-F5344CB8AC3E}">
        <p14:creationId xmlns:p14="http://schemas.microsoft.com/office/powerpoint/2010/main" val="31832234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8" name="Text Box 9"/>
          <p:cNvSpPr txBox="1">
            <a:spLocks noChangeArrowheads="1"/>
          </p:cNvSpPr>
          <p:nvPr/>
        </p:nvSpPr>
        <p:spPr bwMode="auto">
          <a:xfrm>
            <a:off x="556146" y="395785"/>
            <a:ext cx="19255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3200" baseline="0" dirty="0">
                <a:latin typeface="Tw Cen MT" panose="020B0602020104020603" pitchFamily="34" charset="0"/>
              </a:rPr>
              <a:t>Continued</a:t>
            </a:r>
          </a:p>
        </p:txBody>
      </p:sp>
      <p:sp>
        <p:nvSpPr>
          <p:cNvPr id="27659" name="Rectangle 10"/>
          <p:cNvSpPr>
            <a:spLocks noChangeArrowheads="1"/>
          </p:cNvSpPr>
          <p:nvPr/>
        </p:nvSpPr>
        <p:spPr bwMode="auto">
          <a:xfrm>
            <a:off x="366712" y="1860437"/>
            <a:ext cx="854868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just" eaLnBrk="1" hangingPunct="1"/>
            <a:r>
              <a:rPr lang="en-US" sz="2400" baseline="0" dirty="0">
                <a:latin typeface="Tw Cen MT" panose="020B0602020104020603" pitchFamily="34" charset="0"/>
              </a:rPr>
              <a:t>When </a:t>
            </a:r>
            <a:r>
              <a:rPr lang="en-US" sz="2400" i="1" baseline="0" dirty="0">
                <a:latin typeface="Tw Cen MT" panose="020B0602020104020603" pitchFamily="34" charset="0"/>
              </a:rPr>
              <a:t>n</a:t>
            </a:r>
            <a:r>
              <a:rPr lang="en-US" sz="2400" baseline="0" dirty="0">
                <a:latin typeface="Tw Cen MT" panose="020B0602020104020603" pitchFamily="34" charset="0"/>
              </a:rPr>
              <a:t> = 1, we have GF(</a:t>
            </a:r>
            <a:r>
              <a:rPr lang="en-US" sz="2400" i="1" baseline="0" dirty="0">
                <a:latin typeface="Tw Cen MT" panose="020B0602020104020603" pitchFamily="34" charset="0"/>
              </a:rPr>
              <a:t>p</a:t>
            </a:r>
            <a:r>
              <a:rPr lang="en-US" sz="2400" baseline="0" dirty="0">
                <a:latin typeface="Tw Cen MT" panose="020B0602020104020603" pitchFamily="34" charset="0"/>
              </a:rPr>
              <a:t>) field. This field can be the set </a:t>
            </a:r>
            <a:r>
              <a:rPr lang="en-US" sz="2400" baseline="0" dirty="0" err="1">
                <a:latin typeface="Tw Cen MT" panose="020B0602020104020603" pitchFamily="34" charset="0"/>
              </a:rPr>
              <a:t>Z</a:t>
            </a:r>
            <a:r>
              <a:rPr lang="en-US" sz="2400" i="1" baseline="-25000" dirty="0" err="1">
                <a:latin typeface="Tw Cen MT" panose="020B0602020104020603" pitchFamily="34" charset="0"/>
              </a:rPr>
              <a:t>p</a:t>
            </a:r>
            <a:r>
              <a:rPr lang="en-US" sz="2400" baseline="0" dirty="0">
                <a:latin typeface="Tw Cen MT" panose="020B0602020104020603" pitchFamily="34" charset="0"/>
              </a:rPr>
              <a:t>, {0, 1, …, p − 1}, with two arithmetic operations (addition and multiplication).</a:t>
            </a:r>
          </a:p>
          <a:p>
            <a:pPr algn="just" eaLnBrk="1" hangingPunct="1"/>
            <a:endParaRPr lang="en-US" sz="2400" dirty="0">
              <a:latin typeface="Tw Cen MT" panose="020B0602020104020603" pitchFamily="34" charset="0"/>
            </a:endParaRPr>
          </a:p>
          <a:p>
            <a:pPr algn="just" eaLnBrk="1" hangingPunct="1"/>
            <a:r>
              <a:rPr lang="en-US" sz="2400" baseline="0" dirty="0">
                <a:latin typeface="Tw Cen MT" panose="020B0602020104020603" pitchFamily="34" charset="0"/>
              </a:rPr>
              <a:t>Note that each element in this set has an additive inverse and that nonzero elements have a multiplicative</a:t>
            </a:r>
            <a:r>
              <a:rPr lang="en-US" sz="2400" dirty="0">
                <a:latin typeface="Tw Cen MT" panose="020B0602020104020603" pitchFamily="34" charset="0"/>
              </a:rPr>
              <a:t> inverse (no multiplicative inverse for 0)</a:t>
            </a:r>
            <a:endParaRPr lang="en-US" sz="2400" baseline="0" dirty="0">
              <a:latin typeface="Tw Cen MT" panose="020B0602020104020603" pitchFamily="34" charset="0"/>
            </a:endParaRPr>
          </a:p>
        </p:txBody>
      </p:sp>
      <p:sp>
        <p:nvSpPr>
          <p:cNvPr id="27660" name="Text Box 11"/>
          <p:cNvSpPr txBox="1">
            <a:spLocks noChangeArrowheads="1"/>
          </p:cNvSpPr>
          <p:nvPr/>
        </p:nvSpPr>
        <p:spPr bwMode="auto">
          <a:xfrm>
            <a:off x="239713" y="1187794"/>
            <a:ext cx="17155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baseline="0" dirty="0">
                <a:solidFill>
                  <a:schemeClr val="folHlink"/>
                </a:solidFill>
                <a:latin typeface="Tw Cen MT" panose="020B0602020104020603" pitchFamily="34" charset="0"/>
              </a:rPr>
              <a:t>GF(</a:t>
            </a:r>
            <a:r>
              <a:rPr lang="en-US" i="1" baseline="0" dirty="0">
                <a:solidFill>
                  <a:schemeClr val="folHlink"/>
                </a:solidFill>
                <a:latin typeface="Tw Cen MT" panose="020B0602020104020603" pitchFamily="34" charset="0"/>
              </a:rPr>
              <a:t>p</a:t>
            </a:r>
            <a:r>
              <a:rPr lang="en-US" baseline="0" dirty="0">
                <a:solidFill>
                  <a:schemeClr val="folHlink"/>
                </a:solidFill>
                <a:latin typeface="Tw Cen MT" panose="020B0602020104020603" pitchFamily="34" charset="0"/>
              </a:rPr>
              <a:t>) Fields</a:t>
            </a:r>
          </a:p>
        </p:txBody>
      </p:sp>
    </p:spTree>
    <p:extLst>
      <p:ext uri="{BB962C8B-B14F-4D97-AF65-F5344CB8AC3E}">
        <p14:creationId xmlns:p14="http://schemas.microsoft.com/office/powerpoint/2010/main" val="41510776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3" name="Text Box 10"/>
          <p:cNvSpPr txBox="1">
            <a:spLocks noChangeArrowheads="1"/>
          </p:cNvSpPr>
          <p:nvPr/>
        </p:nvSpPr>
        <p:spPr bwMode="auto">
          <a:xfrm>
            <a:off x="1066800" y="533400"/>
            <a:ext cx="1346844"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baseline="0" dirty="0">
                <a:solidFill>
                  <a:schemeClr val="bg1"/>
                </a:solidFill>
              </a:rPr>
              <a:t>Example</a:t>
            </a:r>
            <a:endParaRPr lang="en-US" sz="2000" i="1" baseline="0" dirty="0">
              <a:solidFill>
                <a:schemeClr val="bg1"/>
              </a:solidFill>
            </a:endParaRPr>
          </a:p>
        </p:txBody>
      </p:sp>
      <p:sp>
        <p:nvSpPr>
          <p:cNvPr id="28684" name="Rectangle 11"/>
          <p:cNvSpPr>
            <a:spLocks noChangeArrowheads="1"/>
          </p:cNvSpPr>
          <p:nvPr/>
        </p:nvSpPr>
        <p:spPr bwMode="auto">
          <a:xfrm>
            <a:off x="304800" y="1228899"/>
            <a:ext cx="88392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1" hangingPunct="1">
              <a:lnSpc>
                <a:spcPct val="125000"/>
              </a:lnSpc>
              <a:spcAft>
                <a:spcPct val="70000"/>
              </a:spcAft>
            </a:pPr>
            <a:r>
              <a:rPr lang="en-US" sz="3200" baseline="0" dirty="0">
                <a:latin typeface="Tw Cen MT" panose="020B0602020104020603" pitchFamily="34" charset="0"/>
              </a:rPr>
              <a:t>A very common field in this category is GF(2) with the set {0, 1} and two operations, addition and multiplication, as shown in Figure.</a:t>
            </a:r>
          </a:p>
        </p:txBody>
      </p:sp>
      <p:pic>
        <p:nvPicPr>
          <p:cNvPr id="28685"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424" y="4377592"/>
            <a:ext cx="8656637"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6" name="Text Box 13"/>
          <p:cNvSpPr txBox="1">
            <a:spLocks noChangeArrowheads="1"/>
          </p:cNvSpPr>
          <p:nvPr/>
        </p:nvSpPr>
        <p:spPr bwMode="auto">
          <a:xfrm>
            <a:off x="384712" y="3284806"/>
            <a:ext cx="23246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4000" i="1" baseline="0" dirty="0">
                <a:latin typeface="Tw Cen MT" panose="020B0602020104020603" pitchFamily="34" charset="0"/>
              </a:rPr>
              <a:t>GF(2) field</a:t>
            </a:r>
          </a:p>
        </p:txBody>
      </p:sp>
    </p:spTree>
    <p:extLst>
      <p:ext uri="{BB962C8B-B14F-4D97-AF65-F5344CB8AC3E}">
        <p14:creationId xmlns:p14="http://schemas.microsoft.com/office/powerpoint/2010/main" val="30906957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6" name="Text Box 9"/>
          <p:cNvSpPr txBox="1">
            <a:spLocks noChangeArrowheads="1"/>
          </p:cNvSpPr>
          <p:nvPr/>
        </p:nvSpPr>
        <p:spPr bwMode="auto">
          <a:xfrm>
            <a:off x="116059" y="196948"/>
            <a:ext cx="22525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3200" baseline="0" dirty="0">
                <a:solidFill>
                  <a:schemeClr val="hlink"/>
                </a:solidFill>
                <a:latin typeface="Tw Cen MT" panose="020B0602020104020603" pitchFamily="34" charset="0"/>
              </a:rPr>
              <a:t>   </a:t>
            </a:r>
            <a:r>
              <a:rPr lang="en-US" sz="3200" baseline="0" dirty="0">
                <a:latin typeface="Tw Cen MT" panose="020B0602020104020603" pitchFamily="34" charset="0"/>
              </a:rPr>
              <a:t>Continued</a:t>
            </a:r>
          </a:p>
        </p:txBody>
      </p:sp>
      <p:sp>
        <p:nvSpPr>
          <p:cNvPr id="29707" name="Text Box 10"/>
          <p:cNvSpPr txBox="1">
            <a:spLocks noChangeArrowheads="1"/>
          </p:cNvSpPr>
          <p:nvPr/>
        </p:nvSpPr>
        <p:spPr bwMode="auto">
          <a:xfrm>
            <a:off x="504092" y="814754"/>
            <a:ext cx="1346844"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baseline="0" dirty="0">
                <a:solidFill>
                  <a:schemeClr val="bg1"/>
                </a:solidFill>
              </a:rPr>
              <a:t>Example</a:t>
            </a:r>
            <a:endParaRPr lang="en-US" sz="2000" i="1" baseline="0" dirty="0">
              <a:solidFill>
                <a:schemeClr val="bg1"/>
              </a:solidFill>
            </a:endParaRPr>
          </a:p>
        </p:txBody>
      </p:sp>
      <p:sp>
        <p:nvSpPr>
          <p:cNvPr id="29708" name="Rectangle 11"/>
          <p:cNvSpPr>
            <a:spLocks noChangeArrowheads="1"/>
          </p:cNvSpPr>
          <p:nvPr/>
        </p:nvSpPr>
        <p:spPr bwMode="auto">
          <a:xfrm>
            <a:off x="295422" y="1479547"/>
            <a:ext cx="853908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just" eaLnBrk="1" hangingPunct="1">
              <a:lnSpc>
                <a:spcPct val="125000"/>
              </a:lnSpc>
              <a:spcAft>
                <a:spcPct val="70000"/>
              </a:spcAft>
            </a:pPr>
            <a:r>
              <a:rPr lang="en-US" sz="2400" baseline="0" dirty="0">
                <a:latin typeface="Tw Cen MT" panose="020B0602020104020603" pitchFamily="34" charset="0"/>
              </a:rPr>
              <a:t>We can define GF(5) on the set Z</a:t>
            </a:r>
            <a:r>
              <a:rPr lang="en-US" sz="2400" baseline="-25000" dirty="0">
                <a:latin typeface="Tw Cen MT" panose="020B0602020104020603" pitchFamily="34" charset="0"/>
              </a:rPr>
              <a:t>5</a:t>
            </a:r>
            <a:r>
              <a:rPr lang="en-US" sz="2400" baseline="0" dirty="0">
                <a:latin typeface="Tw Cen MT" panose="020B0602020104020603" pitchFamily="34" charset="0"/>
              </a:rPr>
              <a:t> (5 is a prime) with addition and multiplication operators as shown in Figure.</a:t>
            </a:r>
          </a:p>
        </p:txBody>
      </p:sp>
      <p:pic>
        <p:nvPicPr>
          <p:cNvPr id="29709"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2" y="3793587"/>
            <a:ext cx="8948738"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10" name="Text Box 15"/>
          <p:cNvSpPr txBox="1">
            <a:spLocks noChangeArrowheads="1"/>
          </p:cNvSpPr>
          <p:nvPr/>
        </p:nvSpPr>
        <p:spPr bwMode="auto">
          <a:xfrm>
            <a:off x="3111500" y="2895600"/>
            <a:ext cx="25183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baseline="0" dirty="0">
                <a:solidFill>
                  <a:schemeClr val="folHlink"/>
                </a:solidFill>
                <a:latin typeface="Tw Cen MT" panose="020B0602020104020603" pitchFamily="34" charset="0"/>
              </a:rPr>
              <a:t>Figure   </a:t>
            </a:r>
            <a:r>
              <a:rPr lang="en-US" i="1" baseline="0" dirty="0">
                <a:latin typeface="Tw Cen MT" panose="020B0602020104020603" pitchFamily="34" charset="0"/>
              </a:rPr>
              <a:t>GF(5) field</a:t>
            </a:r>
          </a:p>
        </p:txBody>
      </p:sp>
    </p:spTree>
    <p:extLst>
      <p:ext uri="{BB962C8B-B14F-4D97-AF65-F5344CB8AC3E}">
        <p14:creationId xmlns:p14="http://schemas.microsoft.com/office/powerpoint/2010/main" val="15192203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3567444" y="339781"/>
            <a:ext cx="1939159" cy="584775"/>
          </a:xfrm>
          <a:prstGeom prst="rect">
            <a:avLst/>
          </a:prstGeom>
          <a:noFill/>
        </p:spPr>
        <p:txBody>
          <a:bodyPr wrap="square" rtlCol="0">
            <a:spAutoFit/>
          </a:bodyPr>
          <a:lstStyle/>
          <a:p>
            <a:r>
              <a:rPr lang="en-US" sz="3200" b="1" dirty="0">
                <a:solidFill>
                  <a:schemeClr val="bg1"/>
                </a:solidFill>
                <a:latin typeface="Tw Cen MT" panose="020B0602020104020603" pitchFamily="34" charset="0"/>
              </a:rPr>
              <a:t>Field</a:t>
            </a:r>
          </a:p>
        </p:txBody>
      </p:sp>
      <p:sp>
        <p:nvSpPr>
          <p:cNvPr id="2" name="Rectangle 1"/>
          <p:cNvSpPr/>
          <p:nvPr/>
        </p:nvSpPr>
        <p:spPr>
          <a:xfrm>
            <a:off x="470847" y="1179479"/>
            <a:ext cx="8372902" cy="830997"/>
          </a:xfrm>
          <a:prstGeom prst="rect">
            <a:avLst/>
          </a:prstGeom>
        </p:spPr>
        <p:txBody>
          <a:bodyPr wrap="square">
            <a:spAutoFit/>
          </a:bodyPr>
          <a:lstStyle/>
          <a:p>
            <a:pPr algn="just"/>
            <a:r>
              <a:rPr lang="en-US" sz="2400" b="1" dirty="0">
                <a:solidFill>
                  <a:schemeClr val="bg1"/>
                </a:solidFill>
                <a:latin typeface="Tw Cen MT" panose="020B0602020104020603" pitchFamily="34" charset="0"/>
              </a:rPr>
              <a:t>Field</a:t>
            </a:r>
            <a:r>
              <a:rPr lang="en-US" sz="2400" dirty="0">
                <a:solidFill>
                  <a:schemeClr val="bg1"/>
                </a:solidFill>
                <a:latin typeface="Tw Cen MT" panose="020B0602020104020603" pitchFamily="34" charset="0"/>
              </a:rPr>
              <a:t>: An integral domain in which each element has a multiplicative inverse. </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736" y="2024942"/>
            <a:ext cx="6115155" cy="3847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3287111" y="421666"/>
            <a:ext cx="2503423" cy="584775"/>
          </a:xfrm>
          <a:prstGeom prst="rect">
            <a:avLst/>
          </a:prstGeom>
          <a:noFill/>
        </p:spPr>
        <p:txBody>
          <a:bodyPr wrap="square" rtlCol="0">
            <a:spAutoFit/>
          </a:bodyPr>
          <a:lstStyle/>
          <a:p>
            <a:r>
              <a:rPr lang="en-US" sz="3200" b="1" dirty="0">
                <a:solidFill>
                  <a:schemeClr val="bg1"/>
                </a:solidFill>
                <a:latin typeface="Tw Cen MT" panose="020B0602020104020603" pitchFamily="34" charset="0"/>
              </a:rPr>
              <a:t>Finite Field</a:t>
            </a:r>
          </a:p>
        </p:txBody>
      </p:sp>
      <p:sp>
        <p:nvSpPr>
          <p:cNvPr id="3" name="Rectangle 2"/>
          <p:cNvSpPr/>
          <p:nvPr/>
        </p:nvSpPr>
        <p:spPr>
          <a:xfrm>
            <a:off x="540868" y="1001164"/>
            <a:ext cx="8052180" cy="5572808"/>
          </a:xfrm>
          <a:prstGeom prst="rect">
            <a:avLst/>
          </a:prstGeom>
        </p:spPr>
        <p:txBody>
          <a:bodyPr wrap="square">
            <a:spAutoFit/>
          </a:bodyPr>
          <a:lstStyle/>
          <a:p>
            <a:pPr marL="342900" indent="-342900">
              <a:lnSpc>
                <a:spcPct val="150000"/>
              </a:lnSpc>
              <a:buClr>
                <a:schemeClr val="bg1"/>
              </a:buClr>
              <a:buFont typeface="Wingdings" pitchFamily="2" charset="2"/>
              <a:buChar char="q"/>
            </a:pPr>
            <a:r>
              <a:rPr lang="en-US" sz="2400" b="1" dirty="0">
                <a:solidFill>
                  <a:srgbClr val="063CE8"/>
                </a:solidFill>
                <a:latin typeface="Tw Cen MT" panose="020B0602020104020603" pitchFamily="34" charset="0"/>
              </a:rPr>
              <a:t>Finite Field</a:t>
            </a:r>
            <a:r>
              <a:rPr lang="en-US" sz="2400" dirty="0">
                <a:solidFill>
                  <a:srgbClr val="000000"/>
                </a:solidFill>
                <a:latin typeface="Tw Cen MT" panose="020B0602020104020603" pitchFamily="34" charset="0"/>
              </a:rPr>
              <a:t>: A field with finite number of elements </a:t>
            </a:r>
          </a:p>
          <a:p>
            <a:pPr marL="342900" indent="-342900">
              <a:lnSpc>
                <a:spcPct val="150000"/>
              </a:lnSpc>
              <a:buClr>
                <a:schemeClr val="bg1"/>
              </a:buClr>
              <a:buFont typeface="Wingdings" pitchFamily="2" charset="2"/>
              <a:buChar char="q"/>
            </a:pPr>
            <a:r>
              <a:rPr lang="en-US" sz="2400" dirty="0">
                <a:solidFill>
                  <a:srgbClr val="000000"/>
                </a:solidFill>
                <a:latin typeface="Tw Cen MT" panose="020B0602020104020603" pitchFamily="34" charset="0"/>
              </a:rPr>
              <a:t>Also known as </a:t>
            </a:r>
            <a:r>
              <a:rPr lang="en-US" sz="2400" b="1" dirty="0">
                <a:solidFill>
                  <a:srgbClr val="063CE8"/>
                </a:solidFill>
                <a:latin typeface="Tw Cen MT" panose="020B0602020104020603" pitchFamily="34" charset="0"/>
              </a:rPr>
              <a:t>Galois Field </a:t>
            </a:r>
            <a:endParaRPr lang="en-US" sz="2400" dirty="0">
              <a:solidFill>
                <a:srgbClr val="063CE8"/>
              </a:solidFill>
              <a:latin typeface="Tw Cen MT" panose="020B0602020104020603" pitchFamily="34" charset="0"/>
            </a:endParaRPr>
          </a:p>
          <a:p>
            <a:pPr marL="342900" indent="-342900">
              <a:lnSpc>
                <a:spcPct val="150000"/>
              </a:lnSpc>
              <a:buClr>
                <a:schemeClr val="bg1"/>
              </a:buClr>
              <a:buFont typeface="Wingdings" pitchFamily="2" charset="2"/>
              <a:buChar char="q"/>
            </a:pPr>
            <a:r>
              <a:rPr lang="en-US" sz="2400" dirty="0">
                <a:solidFill>
                  <a:srgbClr val="000000"/>
                </a:solidFill>
                <a:latin typeface="Tw Cen MT" panose="020B0602020104020603" pitchFamily="34" charset="0"/>
              </a:rPr>
              <a:t>The number of elements is always a power of a prime number. Hence, denoted as GF(</a:t>
            </a:r>
            <a:r>
              <a:rPr lang="en-US" sz="2400" i="1" dirty="0" err="1">
                <a:solidFill>
                  <a:srgbClr val="000000"/>
                </a:solidFill>
                <a:latin typeface="Tw Cen MT" panose="020B0602020104020603" pitchFamily="34" charset="0"/>
              </a:rPr>
              <a:t>p</a:t>
            </a:r>
            <a:r>
              <a:rPr lang="en-US" sz="2400" i="1" baseline="30000" dirty="0" err="1">
                <a:solidFill>
                  <a:srgbClr val="000000"/>
                </a:solidFill>
                <a:latin typeface="Tw Cen MT" panose="020B0602020104020603" pitchFamily="34" charset="0"/>
              </a:rPr>
              <a:t>n</a:t>
            </a:r>
            <a:r>
              <a:rPr lang="en-US" sz="2400" dirty="0">
                <a:solidFill>
                  <a:srgbClr val="000000"/>
                </a:solidFill>
                <a:latin typeface="Tw Cen MT" panose="020B0602020104020603" pitchFamily="34" charset="0"/>
              </a:rPr>
              <a:t>) </a:t>
            </a:r>
          </a:p>
          <a:p>
            <a:pPr marL="342900" indent="-342900">
              <a:lnSpc>
                <a:spcPct val="150000"/>
              </a:lnSpc>
              <a:buClr>
                <a:schemeClr val="bg1"/>
              </a:buClr>
              <a:buFont typeface="Wingdings" pitchFamily="2" charset="2"/>
              <a:buChar char="q"/>
            </a:pPr>
            <a:r>
              <a:rPr lang="en-US" sz="2400" dirty="0">
                <a:solidFill>
                  <a:srgbClr val="000000"/>
                </a:solidFill>
                <a:latin typeface="Tw Cen MT" panose="020B0602020104020603" pitchFamily="34" charset="0"/>
              </a:rPr>
              <a:t>GF(</a:t>
            </a:r>
            <a:r>
              <a:rPr lang="en-US" sz="2400" i="1" dirty="0">
                <a:solidFill>
                  <a:srgbClr val="000000"/>
                </a:solidFill>
                <a:latin typeface="Tw Cen MT" panose="020B0602020104020603" pitchFamily="34" charset="0"/>
              </a:rPr>
              <a:t>p</a:t>
            </a:r>
            <a:r>
              <a:rPr lang="en-US" sz="2400" dirty="0">
                <a:solidFill>
                  <a:srgbClr val="000000"/>
                </a:solidFill>
                <a:latin typeface="Tw Cen MT" panose="020B0602020104020603" pitchFamily="34" charset="0"/>
              </a:rPr>
              <a:t>) is the set of integers {</a:t>
            </a:r>
            <a:r>
              <a:rPr lang="en-US" sz="2400" i="1" dirty="0">
                <a:solidFill>
                  <a:srgbClr val="000000"/>
                </a:solidFill>
                <a:latin typeface="Tw Cen MT" panose="020B0602020104020603" pitchFamily="34" charset="0"/>
              </a:rPr>
              <a:t>0,1, … , p-1</a:t>
            </a:r>
            <a:r>
              <a:rPr lang="en-US" sz="2400" dirty="0">
                <a:solidFill>
                  <a:srgbClr val="000000"/>
                </a:solidFill>
                <a:latin typeface="Tw Cen MT" panose="020B0602020104020603" pitchFamily="34" charset="0"/>
              </a:rPr>
              <a:t>} with arithmetic operations modulo prime </a:t>
            </a:r>
            <a:r>
              <a:rPr lang="en-US" sz="2400" i="1" dirty="0">
                <a:solidFill>
                  <a:srgbClr val="000000"/>
                </a:solidFill>
                <a:latin typeface="Tw Cen MT" panose="020B0602020104020603" pitchFamily="34" charset="0"/>
              </a:rPr>
              <a:t>p </a:t>
            </a:r>
            <a:endParaRPr lang="en-US" sz="2400" dirty="0">
              <a:solidFill>
                <a:srgbClr val="000000"/>
              </a:solidFill>
              <a:latin typeface="Tw Cen MT" panose="020B0602020104020603" pitchFamily="34" charset="0"/>
            </a:endParaRPr>
          </a:p>
          <a:p>
            <a:pPr marL="342900" indent="-342900">
              <a:lnSpc>
                <a:spcPct val="150000"/>
              </a:lnSpc>
              <a:buClr>
                <a:schemeClr val="bg1"/>
              </a:buClr>
              <a:buFont typeface="Wingdings" pitchFamily="2" charset="2"/>
              <a:buChar char="q"/>
            </a:pPr>
            <a:r>
              <a:rPr lang="en-US" sz="2400" dirty="0">
                <a:solidFill>
                  <a:srgbClr val="000000"/>
                </a:solidFill>
                <a:latin typeface="Tw Cen MT" panose="020B0602020104020603" pitchFamily="34" charset="0"/>
              </a:rPr>
              <a:t>Can do addition, subtraction, multiplication, and division without leaving the field GF(</a:t>
            </a:r>
            <a:r>
              <a:rPr lang="en-US" sz="2400" i="1" dirty="0">
                <a:solidFill>
                  <a:srgbClr val="000000"/>
                </a:solidFill>
                <a:latin typeface="Tw Cen MT" panose="020B0602020104020603" pitchFamily="34" charset="0"/>
              </a:rPr>
              <a:t>p</a:t>
            </a:r>
            <a:r>
              <a:rPr lang="en-US" sz="2400" dirty="0">
                <a:solidFill>
                  <a:srgbClr val="000000"/>
                </a:solidFill>
                <a:latin typeface="Tw Cen MT" panose="020B0602020104020603" pitchFamily="34" charset="0"/>
              </a:rPr>
              <a:t>) </a:t>
            </a:r>
          </a:p>
          <a:p>
            <a:pPr marL="342900" indent="-342900">
              <a:lnSpc>
                <a:spcPct val="150000"/>
              </a:lnSpc>
              <a:buClr>
                <a:schemeClr val="bg1"/>
              </a:buClr>
              <a:buFont typeface="Wingdings" pitchFamily="2" charset="2"/>
              <a:buChar char="q"/>
            </a:pPr>
            <a:r>
              <a:rPr lang="en-US" sz="2400" dirty="0">
                <a:solidFill>
                  <a:srgbClr val="000000"/>
                </a:solidFill>
                <a:latin typeface="Tw Cen MT" panose="020B0602020104020603" pitchFamily="34" charset="0"/>
              </a:rPr>
              <a:t>GF(2) = Mod 2 arithmetic GF(8) = Mod 8 arithmetic </a:t>
            </a:r>
          </a:p>
          <a:p>
            <a:pPr marL="342900" indent="-342900">
              <a:lnSpc>
                <a:spcPct val="150000"/>
              </a:lnSpc>
              <a:buClr>
                <a:schemeClr val="bg1"/>
              </a:buClr>
              <a:buFont typeface="Wingdings" pitchFamily="2" charset="2"/>
              <a:buChar char="q"/>
            </a:pPr>
            <a:r>
              <a:rPr lang="en-US" sz="2400" dirty="0">
                <a:solidFill>
                  <a:srgbClr val="000000"/>
                </a:solidFill>
                <a:latin typeface="Tw Cen MT" panose="020B0602020104020603" pitchFamily="34" charset="0"/>
              </a:rPr>
              <a:t>There is no GF(6) since 6 is not a power of a prime.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10"/>
          <p:cNvSpPr txBox="1">
            <a:spLocks noChangeArrowheads="1"/>
          </p:cNvSpPr>
          <p:nvPr/>
        </p:nvSpPr>
        <p:spPr bwMode="auto">
          <a:xfrm>
            <a:off x="1066800" y="533400"/>
            <a:ext cx="1468672" cy="461665"/>
          </a:xfrm>
          <a:prstGeom prst="rect">
            <a:avLst/>
          </a:prstGeom>
          <a:solidFill>
            <a:srgbClr val="3333CC"/>
          </a:solid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rPr>
              <a:t>Example </a:t>
            </a:r>
            <a:endParaRPr kumimoji="0" lang="en-US" sz="2400" b="0" i="1" u="none" strike="noStrike" kern="0" cap="none" spc="0" normalizeH="0" baseline="0" noProof="0" dirty="0">
              <a:ln>
                <a:noFill/>
              </a:ln>
              <a:solidFill>
                <a:srgbClr val="FFFFFF"/>
              </a:solidFill>
              <a:effectLst/>
              <a:uLnTx/>
              <a:uFillTx/>
            </a:endParaRPr>
          </a:p>
        </p:txBody>
      </p:sp>
      <p:sp>
        <p:nvSpPr>
          <p:cNvPr id="17" name="Rectangle 11"/>
          <p:cNvSpPr>
            <a:spLocks noChangeArrowheads="1"/>
          </p:cNvSpPr>
          <p:nvPr/>
        </p:nvSpPr>
        <p:spPr bwMode="auto">
          <a:xfrm>
            <a:off x="152400" y="1143000"/>
            <a:ext cx="8839200" cy="1463675"/>
          </a:xfrm>
          <a:prstGeom prst="rect">
            <a:avLst/>
          </a:prstGeom>
          <a:noFill/>
          <a:ln w="9525">
            <a:noFill/>
            <a:miter lim="800000"/>
            <a:headEnd/>
            <a:tailEnd/>
          </a:ln>
        </p:spPr>
        <p:txBody>
          <a:bodyPr anchor="ctr">
            <a:spAutoFit/>
          </a:bodyPr>
          <a:lstStyle/>
          <a:p>
            <a:pPr marL="0" marR="0" lvl="0" indent="0" algn="just" defTabSz="914400" eaLnBrk="1" fontAlgn="auto" latinLnBrk="0" hangingPunct="1">
              <a:lnSpc>
                <a:spcPct val="125000"/>
              </a:lnSpc>
              <a:spcBef>
                <a:spcPts val="0"/>
              </a:spcBef>
              <a:spcAft>
                <a:spcPct val="7000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rPr>
              <a:t>A very common field in this category is GF(2) with the set {0, 1} and two operations, addition and multiplication, as shown in Figure.</a:t>
            </a:r>
          </a:p>
        </p:txBody>
      </p:sp>
      <p:pic>
        <p:nvPicPr>
          <p:cNvPr id="18" name="Picture 12"/>
          <p:cNvPicPr>
            <a:picLocks noChangeAspect="1" noChangeArrowheads="1"/>
          </p:cNvPicPr>
          <p:nvPr/>
        </p:nvPicPr>
        <p:blipFill>
          <a:blip r:embed="rId2"/>
          <a:srcRect/>
          <a:stretch>
            <a:fillRect/>
          </a:stretch>
        </p:blipFill>
        <p:spPr bwMode="auto">
          <a:xfrm>
            <a:off x="258763" y="4025900"/>
            <a:ext cx="8656637" cy="1460500"/>
          </a:xfrm>
          <a:prstGeom prst="rect">
            <a:avLst/>
          </a:prstGeom>
          <a:noFill/>
          <a:ln w="9525">
            <a:noFill/>
            <a:miter lim="800000"/>
            <a:headEnd/>
            <a:tailEnd/>
          </a:ln>
        </p:spPr>
      </p:pic>
      <p:sp>
        <p:nvSpPr>
          <p:cNvPr id="19" name="Text Box 13"/>
          <p:cNvSpPr txBox="1">
            <a:spLocks noChangeArrowheads="1"/>
          </p:cNvSpPr>
          <p:nvPr/>
        </p:nvSpPr>
        <p:spPr bwMode="auto">
          <a:xfrm>
            <a:off x="2959100" y="3200400"/>
            <a:ext cx="2767104" cy="461665"/>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3333CC"/>
                </a:solidFill>
                <a:effectLst/>
                <a:uLnTx/>
                <a:uFillTx/>
              </a:rPr>
              <a:t>Figure   </a:t>
            </a:r>
            <a:r>
              <a:rPr kumimoji="0" lang="en-US" sz="2400" b="0" i="1" u="none" strike="noStrike" kern="0" cap="none" spc="0" normalizeH="0" baseline="0" noProof="0" dirty="0">
                <a:ln>
                  <a:noFill/>
                </a:ln>
                <a:solidFill>
                  <a:sysClr val="windowText" lastClr="000000"/>
                </a:solidFill>
                <a:effectLst/>
                <a:uLnTx/>
                <a:uFillTx/>
              </a:rPr>
              <a:t>GF(2) field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10"/>
          <p:cNvSpPr txBox="1">
            <a:spLocks noChangeArrowheads="1"/>
          </p:cNvSpPr>
          <p:nvPr/>
        </p:nvSpPr>
        <p:spPr bwMode="auto">
          <a:xfrm>
            <a:off x="1066800" y="533400"/>
            <a:ext cx="1468672" cy="461665"/>
          </a:xfrm>
          <a:prstGeom prst="rect">
            <a:avLst/>
          </a:prstGeom>
          <a:solidFill>
            <a:srgbClr val="3333CC"/>
          </a:solid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rPr>
              <a:t>Example </a:t>
            </a:r>
            <a:endParaRPr kumimoji="0" lang="en-US" sz="2400" b="0" i="1" u="none" strike="noStrike" kern="0" cap="none" spc="0" normalizeH="0" baseline="0" noProof="0" dirty="0">
              <a:ln>
                <a:noFill/>
              </a:ln>
              <a:solidFill>
                <a:srgbClr val="FFFFFF"/>
              </a:solidFill>
              <a:effectLst/>
              <a:uLnTx/>
              <a:uFillTx/>
            </a:endParaRPr>
          </a:p>
        </p:txBody>
      </p:sp>
      <p:sp>
        <p:nvSpPr>
          <p:cNvPr id="9" name="Rectangle 11"/>
          <p:cNvSpPr>
            <a:spLocks noChangeArrowheads="1"/>
          </p:cNvSpPr>
          <p:nvPr/>
        </p:nvSpPr>
        <p:spPr bwMode="auto">
          <a:xfrm>
            <a:off x="152400" y="1371600"/>
            <a:ext cx="8839200" cy="784830"/>
          </a:xfrm>
          <a:prstGeom prst="rect">
            <a:avLst/>
          </a:prstGeom>
          <a:noFill/>
          <a:ln w="9525">
            <a:noFill/>
            <a:miter lim="800000"/>
            <a:headEnd/>
            <a:tailEnd/>
          </a:ln>
        </p:spPr>
        <p:txBody>
          <a:bodyPr anchor="ctr">
            <a:spAutoFit/>
          </a:bodyPr>
          <a:lstStyle/>
          <a:p>
            <a:pPr marL="0" marR="0" lvl="0" indent="0" algn="just" defTabSz="914400" eaLnBrk="1" fontAlgn="auto" latinLnBrk="0" hangingPunct="1">
              <a:lnSpc>
                <a:spcPct val="125000"/>
              </a:lnSpc>
              <a:spcBef>
                <a:spcPts val="0"/>
              </a:spcBef>
              <a:spcAft>
                <a:spcPct val="7000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We can define GF(5) on the set Z</a:t>
            </a:r>
            <a:r>
              <a:rPr kumimoji="0" lang="en-US" sz="1800" b="0" i="0" u="none" strike="noStrike" kern="0" cap="none" spc="0" normalizeH="0" baseline="-25000" noProof="0" dirty="0">
                <a:ln>
                  <a:noFill/>
                </a:ln>
                <a:solidFill>
                  <a:sysClr val="windowText" lastClr="000000"/>
                </a:solidFill>
                <a:effectLst/>
                <a:uLnTx/>
                <a:uFillTx/>
              </a:rPr>
              <a:t>5</a:t>
            </a:r>
            <a:r>
              <a:rPr kumimoji="0" lang="en-US" sz="1800" b="0" i="0" u="none" strike="noStrike" kern="0" cap="none" spc="0" normalizeH="0" baseline="0" noProof="0" dirty="0">
                <a:ln>
                  <a:noFill/>
                </a:ln>
                <a:solidFill>
                  <a:sysClr val="windowText" lastClr="000000"/>
                </a:solidFill>
                <a:effectLst/>
                <a:uLnTx/>
                <a:uFillTx/>
              </a:rPr>
              <a:t> (5 is a prime) with addition and multiplication operators as shown in Figure.</a:t>
            </a:r>
          </a:p>
        </p:txBody>
      </p:sp>
      <p:pic>
        <p:nvPicPr>
          <p:cNvPr id="10" name="Picture 14"/>
          <p:cNvPicPr>
            <a:picLocks noChangeAspect="1" noChangeArrowheads="1"/>
          </p:cNvPicPr>
          <p:nvPr/>
        </p:nvPicPr>
        <p:blipFill>
          <a:blip r:embed="rId2"/>
          <a:srcRect/>
          <a:stretch>
            <a:fillRect/>
          </a:stretch>
        </p:blipFill>
        <p:spPr bwMode="auto">
          <a:xfrm>
            <a:off x="152400" y="3962400"/>
            <a:ext cx="8948738" cy="2011363"/>
          </a:xfrm>
          <a:prstGeom prst="rect">
            <a:avLst/>
          </a:prstGeom>
          <a:noFill/>
          <a:ln w="9525">
            <a:noFill/>
            <a:miter lim="800000"/>
            <a:headEnd/>
            <a:tailEnd/>
          </a:ln>
        </p:spPr>
      </p:pic>
      <p:sp>
        <p:nvSpPr>
          <p:cNvPr id="11" name="Text Box 15"/>
          <p:cNvSpPr txBox="1">
            <a:spLocks noChangeArrowheads="1"/>
          </p:cNvSpPr>
          <p:nvPr/>
        </p:nvSpPr>
        <p:spPr bwMode="auto">
          <a:xfrm>
            <a:off x="3111500" y="2895600"/>
            <a:ext cx="2177199" cy="400110"/>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333CC"/>
                </a:solidFill>
                <a:effectLst/>
                <a:uLnTx/>
                <a:uFillTx/>
              </a:rPr>
              <a:t>Figure  </a:t>
            </a:r>
            <a:r>
              <a:rPr kumimoji="0" lang="en-US" sz="2000" b="0" i="1" u="none" strike="noStrike" kern="0" cap="none" spc="0" normalizeH="0" baseline="0" noProof="0" dirty="0">
                <a:ln>
                  <a:noFill/>
                </a:ln>
                <a:solidFill>
                  <a:sysClr val="windowText" lastClr="000000"/>
                </a:solidFill>
                <a:effectLst/>
                <a:uLnTx/>
                <a:uFillTx/>
              </a:rPr>
              <a:t>GF(5) field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ChangeArrowheads="1"/>
          </p:cNvSpPr>
          <p:nvPr/>
        </p:nvSpPr>
        <p:spPr bwMode="auto">
          <a:xfrm>
            <a:off x="2625969" y="1637934"/>
            <a:ext cx="5029200" cy="519112"/>
          </a:xfrm>
          <a:prstGeom prst="rect">
            <a:avLst/>
          </a:prstGeom>
          <a:noFill/>
          <a:ln w="9525">
            <a:noFill/>
            <a:miter lim="800000"/>
            <a:headEnd/>
            <a:tailEnd/>
          </a:ln>
        </p:spPr>
        <p:txBody>
          <a:bodyPr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3333CC"/>
                </a:solidFill>
                <a:effectLst/>
                <a:uLnTx/>
                <a:uFillTx/>
                <a:latin typeface="Tw Cen MT" panose="020B0602020104020603" pitchFamily="34" charset="0"/>
              </a:rPr>
              <a:t>Table </a:t>
            </a:r>
            <a:r>
              <a:rPr kumimoji="0" lang="en-US" sz="2800" b="0" i="0" u="none" strike="noStrike" kern="0" cap="none" spc="0" normalizeH="0" noProof="0" dirty="0">
                <a:ln>
                  <a:noFill/>
                </a:ln>
                <a:solidFill>
                  <a:srgbClr val="3333CC"/>
                </a:solidFill>
                <a:effectLst/>
                <a:uLnTx/>
                <a:uFillTx/>
                <a:latin typeface="Tw Cen MT" panose="020B0602020104020603" pitchFamily="34" charset="0"/>
              </a:rPr>
              <a:t>     </a:t>
            </a:r>
            <a:r>
              <a:rPr kumimoji="0" lang="en-US" sz="2800" b="0" i="0" u="none" strike="noStrike" kern="0" cap="none" spc="0" normalizeH="0" baseline="0" noProof="0" dirty="0">
                <a:ln>
                  <a:noFill/>
                </a:ln>
                <a:solidFill>
                  <a:sysClr val="windowText" lastClr="000000"/>
                </a:solidFill>
                <a:effectLst/>
                <a:uLnTx/>
                <a:uFillTx/>
                <a:latin typeface="Tw Cen MT" panose="020B0602020104020603" pitchFamily="34" charset="0"/>
              </a:rPr>
              <a:t>Summary</a:t>
            </a:r>
          </a:p>
        </p:txBody>
      </p:sp>
      <p:pic>
        <p:nvPicPr>
          <p:cNvPr id="5" name="Picture 12"/>
          <p:cNvPicPr>
            <a:picLocks noChangeAspect="1" noChangeArrowheads="1"/>
          </p:cNvPicPr>
          <p:nvPr/>
        </p:nvPicPr>
        <p:blipFill>
          <a:blip r:embed="rId2"/>
          <a:srcRect/>
          <a:stretch>
            <a:fillRect/>
          </a:stretch>
        </p:blipFill>
        <p:spPr bwMode="auto">
          <a:xfrm>
            <a:off x="103188" y="2524125"/>
            <a:ext cx="8812212" cy="2733675"/>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23" name="Text Box 3"/>
          <p:cNvSpPr txBox="1">
            <a:spLocks noChangeArrowheads="1"/>
          </p:cNvSpPr>
          <p:nvPr/>
        </p:nvSpPr>
        <p:spPr bwMode="auto">
          <a:xfrm>
            <a:off x="591207" y="422165"/>
            <a:ext cx="2600392" cy="584775"/>
          </a:xfrm>
          <a:prstGeom prst="rect">
            <a:avLst/>
          </a:prstGeom>
          <a:noFill/>
          <a:ln w="9525">
            <a:noFill/>
            <a:miter lim="800000"/>
            <a:headEnd/>
            <a:tailEnd/>
          </a:ln>
          <a:effectLst/>
        </p:spPr>
        <p:txBody>
          <a:bodyPr wrap="none">
            <a:spAutoFit/>
          </a:bodyPr>
          <a:lstStyle/>
          <a:p>
            <a:pPr>
              <a:defRPr/>
            </a:pPr>
            <a:r>
              <a:rPr lang="en-US" sz="3200" baseline="0" dirty="0">
                <a:solidFill>
                  <a:srgbClr val="0000FF"/>
                </a:solidFill>
                <a:latin typeface="Gill Sans MT" pitchFamily="34" charset="0"/>
              </a:rPr>
              <a:t>GF(2</a:t>
            </a:r>
            <a:r>
              <a:rPr lang="en-US" sz="3200" baseline="30000" dirty="0">
                <a:solidFill>
                  <a:srgbClr val="0000FF"/>
                </a:solidFill>
                <a:latin typeface="Gill Sans MT" pitchFamily="34" charset="0"/>
              </a:rPr>
              <a:t>n</a:t>
            </a:r>
            <a:r>
              <a:rPr lang="en-US" sz="3200" baseline="0" dirty="0">
                <a:solidFill>
                  <a:srgbClr val="0000FF"/>
                </a:solidFill>
                <a:latin typeface="Gill Sans MT" pitchFamily="34" charset="0"/>
              </a:rPr>
              <a:t>) FIELDS</a:t>
            </a:r>
          </a:p>
        </p:txBody>
      </p:sp>
      <p:sp>
        <p:nvSpPr>
          <p:cNvPr id="3174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sz="1800" baseline="0"/>
          </a:p>
        </p:txBody>
      </p:sp>
      <p:sp>
        <p:nvSpPr>
          <p:cNvPr id="1105925" name="Rectangle 5"/>
          <p:cNvSpPr>
            <a:spLocks noChangeArrowheads="1"/>
          </p:cNvSpPr>
          <p:nvPr/>
        </p:nvSpPr>
        <p:spPr bwMode="auto">
          <a:xfrm>
            <a:off x="304800" y="1061006"/>
            <a:ext cx="8229600" cy="2308324"/>
          </a:xfrm>
          <a:prstGeom prst="rect">
            <a:avLst/>
          </a:prstGeom>
          <a:noFill/>
          <a:ln w="9525">
            <a:noFill/>
            <a:miter lim="800000"/>
            <a:headEnd/>
            <a:tailEnd/>
          </a:ln>
          <a:effectLst/>
        </p:spPr>
        <p:txBody>
          <a:bodyPr anchor="ctr">
            <a:spAutoFit/>
          </a:bodyPr>
          <a:lstStyle/>
          <a:p>
            <a:pPr algn="just" eaLnBrk="1" hangingPunct="1">
              <a:defRPr/>
            </a:pPr>
            <a:r>
              <a:rPr lang="en-US" sz="2400" baseline="0" dirty="0">
                <a:latin typeface="Gill Sans MT" pitchFamily="34" charset="0"/>
              </a:rPr>
              <a:t>In cryptography, we often need to use four operations (addition, subtraction, multiplication, and division). i.e., we need to use fields. However, </a:t>
            </a:r>
            <a:r>
              <a:rPr lang="en-US" sz="2400" dirty="0">
                <a:latin typeface="Gill Sans MT" pitchFamily="34" charset="0"/>
              </a:rPr>
              <a:t>in computers positive integers are stored as n-bit words  (0- 2</a:t>
            </a:r>
            <a:r>
              <a:rPr lang="en-US" sz="2400" baseline="30000" dirty="0">
                <a:latin typeface="Gill Sans MT" pitchFamily="34" charset="0"/>
              </a:rPr>
              <a:t>n-1</a:t>
            </a:r>
            <a:r>
              <a:rPr lang="en-US" sz="2400" dirty="0">
                <a:latin typeface="Gill Sans MT" pitchFamily="34" charset="0"/>
              </a:rPr>
              <a:t>, modulus is 2</a:t>
            </a:r>
            <a:r>
              <a:rPr lang="en-US" sz="2400" baseline="30000" dirty="0">
                <a:latin typeface="Gill Sans MT" pitchFamily="34" charset="0"/>
              </a:rPr>
              <a:t>n</a:t>
            </a:r>
            <a:r>
              <a:rPr lang="en-US" sz="2400" dirty="0">
                <a:latin typeface="Gill Sans MT" pitchFamily="34" charset="0"/>
              </a:rPr>
              <a:t> . </a:t>
            </a:r>
            <a:r>
              <a:rPr lang="en-US" sz="2400" baseline="0" dirty="0">
                <a:latin typeface="Gill Sans MT" pitchFamily="34" charset="0"/>
              </a:rPr>
              <a:t>We can work in GF(2</a:t>
            </a:r>
            <a:r>
              <a:rPr lang="en-US" sz="2400" baseline="30000" dirty="0">
                <a:latin typeface="Gill Sans MT" pitchFamily="34" charset="0"/>
              </a:rPr>
              <a:t>n</a:t>
            </a:r>
            <a:r>
              <a:rPr lang="en-US" sz="2400" baseline="0" dirty="0">
                <a:latin typeface="Gill Sans MT" pitchFamily="34" charset="0"/>
              </a:rPr>
              <a:t>) and uses a set of 2</a:t>
            </a:r>
            <a:r>
              <a:rPr lang="en-US" sz="2400" baseline="30000" dirty="0">
                <a:latin typeface="Gill Sans MT" pitchFamily="34" charset="0"/>
              </a:rPr>
              <a:t>n</a:t>
            </a:r>
            <a:r>
              <a:rPr lang="en-US" sz="2400" baseline="0" dirty="0">
                <a:latin typeface="Gill Sans MT" pitchFamily="34" charset="0"/>
              </a:rPr>
              <a:t> elements. The elements in this set are n-bit words. </a:t>
            </a:r>
          </a:p>
        </p:txBody>
      </p:sp>
      <p:sp>
        <p:nvSpPr>
          <p:cNvPr id="31751" name="Rectangle 10"/>
          <p:cNvSpPr>
            <a:spLocks noChangeArrowheads="1"/>
          </p:cNvSpPr>
          <p:nvPr/>
        </p:nvSpPr>
        <p:spPr bwMode="auto">
          <a:xfrm>
            <a:off x="785649" y="4561709"/>
            <a:ext cx="6705600" cy="1200329"/>
          </a:xfrm>
          <a:prstGeom prst="rect">
            <a:avLst/>
          </a:prstGeom>
          <a:noFill/>
          <a:ln w="9525">
            <a:noFill/>
            <a:miter lim="800000"/>
            <a:headEnd/>
            <a:tailEnd/>
          </a:ln>
        </p:spPr>
        <p:txBody>
          <a:bodyPr>
            <a:spAutoFit/>
          </a:bodyPr>
          <a:lstStyle/>
          <a:p>
            <a:pPr>
              <a:buClr>
                <a:schemeClr val="tx1"/>
              </a:buClr>
              <a:buSzPct val="117000"/>
              <a:buFont typeface="Arial Unicode MS" pitchFamily="34" charset="-128"/>
              <a:buNone/>
            </a:pPr>
            <a:r>
              <a:rPr lang="en-US" sz="2400" baseline="0" dirty="0">
                <a:solidFill>
                  <a:schemeClr val="hlink"/>
                </a:solidFill>
                <a:latin typeface="Gill Sans MT" pitchFamily="34" charset="0"/>
              </a:rPr>
              <a:t>1 </a:t>
            </a:r>
            <a:r>
              <a:rPr lang="en-US" sz="2400" baseline="0" dirty="0">
                <a:solidFill>
                  <a:srgbClr val="0033CC"/>
                </a:solidFill>
                <a:latin typeface="Gill Sans MT" pitchFamily="34" charset="0"/>
              </a:rPr>
              <a:t>  Polynomials</a:t>
            </a:r>
            <a:br>
              <a:rPr lang="fr-FR" sz="2400" baseline="0" dirty="0">
                <a:solidFill>
                  <a:srgbClr val="0033CC"/>
                </a:solidFill>
                <a:latin typeface="Gill Sans MT" pitchFamily="34" charset="0"/>
              </a:rPr>
            </a:br>
            <a:r>
              <a:rPr lang="fr-FR" sz="2400" baseline="0" dirty="0">
                <a:solidFill>
                  <a:schemeClr val="hlink"/>
                </a:solidFill>
                <a:latin typeface="Gill Sans MT" pitchFamily="34" charset="0"/>
              </a:rPr>
              <a:t>2</a:t>
            </a:r>
            <a:r>
              <a:rPr lang="fr-FR" sz="2400" baseline="0" dirty="0">
                <a:solidFill>
                  <a:srgbClr val="0033CC"/>
                </a:solidFill>
                <a:latin typeface="Gill Sans MT" pitchFamily="34" charset="0"/>
              </a:rPr>
              <a:t>   </a:t>
            </a:r>
            <a:r>
              <a:rPr lang="fr-FR" sz="2400" baseline="0" dirty="0" err="1">
                <a:solidFill>
                  <a:srgbClr val="0033CC"/>
                </a:solidFill>
                <a:latin typeface="Gill Sans MT" pitchFamily="34" charset="0"/>
              </a:rPr>
              <a:t>Using</a:t>
            </a:r>
            <a:r>
              <a:rPr lang="fr-FR" sz="2400" baseline="0" dirty="0">
                <a:solidFill>
                  <a:srgbClr val="0033CC"/>
                </a:solidFill>
                <a:latin typeface="Gill Sans MT" pitchFamily="34" charset="0"/>
              </a:rPr>
              <a:t> A </a:t>
            </a:r>
            <a:r>
              <a:rPr lang="fr-FR" sz="2400" baseline="0" dirty="0" err="1">
                <a:solidFill>
                  <a:srgbClr val="0033CC"/>
                </a:solidFill>
                <a:latin typeface="Gill Sans MT" pitchFamily="34" charset="0"/>
              </a:rPr>
              <a:t>Generator</a:t>
            </a:r>
            <a:br>
              <a:rPr lang="fr-FR" sz="2400" baseline="0" dirty="0">
                <a:solidFill>
                  <a:srgbClr val="0033CC"/>
                </a:solidFill>
                <a:latin typeface="Gill Sans MT" pitchFamily="34" charset="0"/>
              </a:rPr>
            </a:br>
            <a:r>
              <a:rPr lang="fr-FR" sz="2400" baseline="0" dirty="0">
                <a:solidFill>
                  <a:schemeClr val="hlink"/>
                </a:solidFill>
                <a:latin typeface="Gill Sans MT" pitchFamily="34" charset="0"/>
              </a:rPr>
              <a:t>3</a:t>
            </a:r>
            <a:r>
              <a:rPr lang="fr-FR" sz="2400" baseline="0" dirty="0">
                <a:solidFill>
                  <a:srgbClr val="0033CC"/>
                </a:solidFill>
                <a:latin typeface="Gill Sans MT" pitchFamily="34" charset="0"/>
              </a:rPr>
              <a:t>   </a:t>
            </a:r>
            <a:r>
              <a:rPr lang="fr-FR" sz="2400" baseline="0" dirty="0" err="1">
                <a:solidFill>
                  <a:srgbClr val="0033CC"/>
                </a:solidFill>
                <a:latin typeface="Gill Sans MT" pitchFamily="34" charset="0"/>
              </a:rPr>
              <a:t>Summary</a:t>
            </a:r>
            <a:endParaRPr lang="en-US" sz="2400" baseline="0" dirty="0">
              <a:solidFill>
                <a:srgbClr val="0033CC"/>
              </a:solidFill>
              <a:latin typeface="Gill Sans MT" pitchFamily="34" charset="0"/>
            </a:endParaRPr>
          </a:p>
        </p:txBody>
      </p:sp>
      <p:sp>
        <p:nvSpPr>
          <p:cNvPr id="1105931" name="Text Box 11"/>
          <p:cNvSpPr txBox="1">
            <a:spLocks noChangeArrowheads="1"/>
          </p:cNvSpPr>
          <p:nvPr/>
        </p:nvSpPr>
        <p:spPr bwMode="auto">
          <a:xfrm>
            <a:off x="785649" y="3757448"/>
            <a:ext cx="3038331" cy="461665"/>
          </a:xfrm>
          <a:prstGeom prst="rect">
            <a:avLst/>
          </a:prstGeom>
          <a:noFill/>
          <a:ln w="76200" algn="ctr">
            <a:noFill/>
            <a:miter lim="800000"/>
            <a:headEnd/>
            <a:tailEnd/>
          </a:ln>
          <a:effectLst/>
        </p:spPr>
        <p:txBody>
          <a:bodyPr wrap="none">
            <a:spAutoFit/>
          </a:bodyPr>
          <a:lstStyle/>
          <a:p>
            <a:pPr algn="ctr">
              <a:defRPr/>
            </a:pPr>
            <a:r>
              <a:rPr lang="en-US" sz="2400" u="sng" baseline="0" dirty="0">
                <a:solidFill>
                  <a:schemeClr val="hlink"/>
                </a:solidFill>
                <a:latin typeface="Gill Sans MT" pitchFamily="34" charset="0"/>
              </a:rPr>
              <a:t>Topics to be discussed: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23" name="Text Box 3"/>
          <p:cNvSpPr txBox="1">
            <a:spLocks noChangeArrowheads="1"/>
          </p:cNvSpPr>
          <p:nvPr/>
        </p:nvSpPr>
        <p:spPr bwMode="auto">
          <a:xfrm>
            <a:off x="591207" y="422165"/>
            <a:ext cx="2600392" cy="584775"/>
          </a:xfrm>
          <a:prstGeom prst="rect">
            <a:avLst/>
          </a:prstGeom>
          <a:noFill/>
          <a:ln w="9525">
            <a:noFill/>
            <a:miter lim="800000"/>
            <a:headEnd/>
            <a:tailEnd/>
          </a:ln>
          <a:effectLst/>
        </p:spPr>
        <p:txBody>
          <a:bodyPr wrap="none">
            <a:spAutoFit/>
          </a:bodyPr>
          <a:lstStyle/>
          <a:p>
            <a:pPr>
              <a:defRPr/>
            </a:pPr>
            <a:r>
              <a:rPr lang="en-US" sz="3200" baseline="0" dirty="0">
                <a:solidFill>
                  <a:srgbClr val="0000FF"/>
                </a:solidFill>
                <a:latin typeface="Gill Sans MT" pitchFamily="34" charset="0"/>
              </a:rPr>
              <a:t>GF(2</a:t>
            </a:r>
            <a:r>
              <a:rPr lang="en-US" sz="3200" baseline="30000" dirty="0">
                <a:solidFill>
                  <a:srgbClr val="0000FF"/>
                </a:solidFill>
                <a:latin typeface="Gill Sans MT" pitchFamily="34" charset="0"/>
              </a:rPr>
              <a:t>n</a:t>
            </a:r>
            <a:r>
              <a:rPr lang="en-US" sz="3200" baseline="0" dirty="0">
                <a:solidFill>
                  <a:srgbClr val="0000FF"/>
                </a:solidFill>
                <a:latin typeface="Gill Sans MT" pitchFamily="34" charset="0"/>
              </a:rPr>
              <a:t>) FIELDS</a:t>
            </a:r>
          </a:p>
        </p:txBody>
      </p:sp>
      <p:sp>
        <p:nvSpPr>
          <p:cNvPr id="3174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sz="1800" baseline="0"/>
          </a:p>
        </p:txBody>
      </p:sp>
      <p:sp>
        <p:nvSpPr>
          <p:cNvPr id="1105925" name="Rectangle 5"/>
          <p:cNvSpPr>
            <a:spLocks noChangeArrowheads="1"/>
          </p:cNvSpPr>
          <p:nvPr/>
        </p:nvSpPr>
        <p:spPr bwMode="auto">
          <a:xfrm>
            <a:off x="304800" y="932513"/>
            <a:ext cx="8229600" cy="3046988"/>
          </a:xfrm>
          <a:prstGeom prst="rect">
            <a:avLst/>
          </a:prstGeom>
          <a:noFill/>
          <a:ln w="9525">
            <a:noFill/>
            <a:miter lim="800000"/>
            <a:headEnd/>
            <a:tailEnd/>
          </a:ln>
          <a:effectLst/>
        </p:spPr>
        <p:txBody>
          <a:bodyPr anchor="ctr">
            <a:spAutoFit/>
          </a:bodyPr>
          <a:lstStyle/>
          <a:p>
            <a:pPr algn="just" eaLnBrk="1" hangingPunct="1">
              <a:defRPr/>
            </a:pPr>
            <a:r>
              <a:rPr lang="en-US" sz="2400" dirty="0">
                <a:latin typeface="Gill Sans MT" pitchFamily="34" charset="0"/>
              </a:rPr>
              <a:t>If we want fields, we have two choices:</a:t>
            </a:r>
          </a:p>
          <a:p>
            <a:pPr marL="457200" indent="-457200" algn="just" eaLnBrk="1" hangingPunct="1">
              <a:buAutoNum type="arabicPeriod"/>
              <a:defRPr/>
            </a:pPr>
            <a:r>
              <a:rPr lang="en-US" sz="2400" dirty="0">
                <a:latin typeface="Gill Sans MT" pitchFamily="34" charset="0"/>
              </a:rPr>
              <a:t>Use GF(p) but  where 2</a:t>
            </a:r>
            <a:r>
              <a:rPr lang="en-US" sz="2400" baseline="30000" dirty="0">
                <a:latin typeface="Gill Sans MT" pitchFamily="34" charset="0"/>
              </a:rPr>
              <a:t>n-1</a:t>
            </a:r>
            <a:r>
              <a:rPr lang="en-US" sz="2400" dirty="0">
                <a:latin typeface="Gill Sans MT" pitchFamily="34" charset="0"/>
              </a:rPr>
              <a:t>&lt;p  (many numbers unused)</a:t>
            </a:r>
          </a:p>
          <a:p>
            <a:pPr marL="457200" indent="-457200" algn="just" eaLnBrk="1" hangingPunct="1">
              <a:buAutoNum type="arabicPeriod"/>
              <a:defRPr/>
            </a:pPr>
            <a:r>
              <a:rPr lang="en-US" sz="2400" dirty="0">
                <a:latin typeface="Gill Sans MT" pitchFamily="34" charset="0"/>
              </a:rPr>
              <a:t>We can use GF(2</a:t>
            </a:r>
            <a:r>
              <a:rPr lang="en-US" sz="2400" baseline="30000" dirty="0">
                <a:latin typeface="Gill Sans MT" pitchFamily="34" charset="0"/>
              </a:rPr>
              <a:t>n-1</a:t>
            </a:r>
            <a:r>
              <a:rPr lang="en-US" sz="2400" dirty="0">
                <a:latin typeface="Gill Sans MT" pitchFamily="34" charset="0"/>
              </a:rPr>
              <a:t>), however we cannot interpret each element as an integer (because regular four operations cannot be applied,   the modulus 2</a:t>
            </a:r>
            <a:r>
              <a:rPr lang="en-US" sz="2400" baseline="30000" dirty="0">
                <a:latin typeface="Gill Sans MT" pitchFamily="34" charset="0"/>
              </a:rPr>
              <a:t>n</a:t>
            </a:r>
            <a:r>
              <a:rPr lang="en-US" sz="2400" dirty="0">
                <a:latin typeface="Gill Sans MT" pitchFamily="34" charset="0"/>
              </a:rPr>
              <a:t> is not a prime), we need to define a set of </a:t>
            </a:r>
            <a:r>
              <a:rPr lang="en-US" sz="2400" dirty="0">
                <a:solidFill>
                  <a:srgbClr val="FF0000"/>
                </a:solidFill>
                <a:latin typeface="Gill Sans MT" pitchFamily="34" charset="0"/>
              </a:rPr>
              <a:t>n-bit words </a:t>
            </a:r>
            <a:r>
              <a:rPr lang="en-US" sz="2400" dirty="0">
                <a:latin typeface="Gill Sans MT" pitchFamily="34" charset="0"/>
              </a:rPr>
              <a:t>and </a:t>
            </a:r>
            <a:r>
              <a:rPr lang="en-US" sz="2400" dirty="0">
                <a:solidFill>
                  <a:srgbClr val="FF0000"/>
                </a:solidFill>
                <a:latin typeface="Gill Sans MT" pitchFamily="34" charset="0"/>
              </a:rPr>
              <a:t>two new operations </a:t>
            </a:r>
            <a:r>
              <a:rPr lang="en-US" sz="2400" dirty="0">
                <a:latin typeface="Gill Sans MT" pitchFamily="34" charset="0"/>
              </a:rPr>
              <a:t>that satisfies the properties defined for a field.</a:t>
            </a:r>
          </a:p>
          <a:p>
            <a:pPr marL="457200" indent="-457200" algn="just" eaLnBrk="1" hangingPunct="1">
              <a:buAutoNum type="arabicPeriod"/>
              <a:defRPr/>
            </a:pPr>
            <a:endParaRPr lang="en-US" sz="2400" baseline="0" dirty="0">
              <a:latin typeface="Gill Sans MT" pitchFamily="34" charset="0"/>
            </a:endParaRPr>
          </a:p>
        </p:txBody>
      </p:sp>
      <p:sp>
        <p:nvSpPr>
          <p:cNvPr id="31751" name="Rectangle 10"/>
          <p:cNvSpPr>
            <a:spLocks noChangeArrowheads="1"/>
          </p:cNvSpPr>
          <p:nvPr/>
        </p:nvSpPr>
        <p:spPr bwMode="auto">
          <a:xfrm>
            <a:off x="785649" y="4561709"/>
            <a:ext cx="6705600" cy="1200329"/>
          </a:xfrm>
          <a:prstGeom prst="rect">
            <a:avLst/>
          </a:prstGeom>
          <a:noFill/>
          <a:ln w="9525">
            <a:noFill/>
            <a:miter lim="800000"/>
            <a:headEnd/>
            <a:tailEnd/>
          </a:ln>
        </p:spPr>
        <p:txBody>
          <a:bodyPr>
            <a:spAutoFit/>
          </a:bodyPr>
          <a:lstStyle/>
          <a:p>
            <a:pPr>
              <a:buClr>
                <a:schemeClr val="tx1"/>
              </a:buClr>
              <a:buSzPct val="117000"/>
              <a:buFont typeface="Arial Unicode MS" pitchFamily="34" charset="-128"/>
              <a:buNone/>
            </a:pPr>
            <a:r>
              <a:rPr lang="en-US" sz="2400" baseline="0" dirty="0">
                <a:solidFill>
                  <a:schemeClr val="hlink"/>
                </a:solidFill>
                <a:latin typeface="Gill Sans MT" pitchFamily="34" charset="0"/>
              </a:rPr>
              <a:t>1 </a:t>
            </a:r>
            <a:r>
              <a:rPr lang="en-US" sz="2400" baseline="0" dirty="0">
                <a:solidFill>
                  <a:srgbClr val="0033CC"/>
                </a:solidFill>
                <a:latin typeface="Gill Sans MT" pitchFamily="34" charset="0"/>
              </a:rPr>
              <a:t>  Polynomials</a:t>
            </a:r>
            <a:br>
              <a:rPr lang="fr-FR" sz="2400" baseline="0" dirty="0">
                <a:solidFill>
                  <a:srgbClr val="0033CC"/>
                </a:solidFill>
                <a:latin typeface="Gill Sans MT" pitchFamily="34" charset="0"/>
              </a:rPr>
            </a:br>
            <a:r>
              <a:rPr lang="fr-FR" sz="2400" baseline="0" dirty="0">
                <a:solidFill>
                  <a:schemeClr val="hlink"/>
                </a:solidFill>
                <a:latin typeface="Gill Sans MT" pitchFamily="34" charset="0"/>
              </a:rPr>
              <a:t>2</a:t>
            </a:r>
            <a:r>
              <a:rPr lang="fr-FR" sz="2400" baseline="0" dirty="0">
                <a:solidFill>
                  <a:srgbClr val="0033CC"/>
                </a:solidFill>
                <a:latin typeface="Gill Sans MT" pitchFamily="34" charset="0"/>
              </a:rPr>
              <a:t>   </a:t>
            </a:r>
            <a:r>
              <a:rPr lang="fr-FR" sz="2400" baseline="0" dirty="0" err="1">
                <a:solidFill>
                  <a:srgbClr val="0033CC"/>
                </a:solidFill>
                <a:latin typeface="Gill Sans MT" pitchFamily="34" charset="0"/>
              </a:rPr>
              <a:t>Using</a:t>
            </a:r>
            <a:r>
              <a:rPr lang="fr-FR" sz="2400" baseline="0" dirty="0">
                <a:solidFill>
                  <a:srgbClr val="0033CC"/>
                </a:solidFill>
                <a:latin typeface="Gill Sans MT" pitchFamily="34" charset="0"/>
              </a:rPr>
              <a:t> A </a:t>
            </a:r>
            <a:r>
              <a:rPr lang="fr-FR" sz="2400" baseline="0" dirty="0" err="1">
                <a:solidFill>
                  <a:srgbClr val="0033CC"/>
                </a:solidFill>
                <a:latin typeface="Gill Sans MT" pitchFamily="34" charset="0"/>
              </a:rPr>
              <a:t>Generator</a:t>
            </a:r>
            <a:br>
              <a:rPr lang="fr-FR" sz="2400" baseline="0" dirty="0">
                <a:solidFill>
                  <a:srgbClr val="0033CC"/>
                </a:solidFill>
                <a:latin typeface="Gill Sans MT" pitchFamily="34" charset="0"/>
              </a:rPr>
            </a:br>
            <a:r>
              <a:rPr lang="fr-FR" sz="2400" baseline="0" dirty="0">
                <a:solidFill>
                  <a:schemeClr val="hlink"/>
                </a:solidFill>
                <a:latin typeface="Gill Sans MT" pitchFamily="34" charset="0"/>
              </a:rPr>
              <a:t>3</a:t>
            </a:r>
            <a:r>
              <a:rPr lang="fr-FR" sz="2400" baseline="0" dirty="0">
                <a:solidFill>
                  <a:srgbClr val="0033CC"/>
                </a:solidFill>
                <a:latin typeface="Gill Sans MT" pitchFamily="34" charset="0"/>
              </a:rPr>
              <a:t>   </a:t>
            </a:r>
            <a:r>
              <a:rPr lang="fr-FR" sz="2400" baseline="0" dirty="0" err="1">
                <a:solidFill>
                  <a:srgbClr val="0033CC"/>
                </a:solidFill>
                <a:latin typeface="Gill Sans MT" pitchFamily="34" charset="0"/>
              </a:rPr>
              <a:t>Summary</a:t>
            </a:r>
            <a:endParaRPr lang="en-US" sz="2400" baseline="0" dirty="0">
              <a:solidFill>
                <a:srgbClr val="0033CC"/>
              </a:solidFill>
              <a:latin typeface="Gill Sans MT" pitchFamily="34" charset="0"/>
            </a:endParaRPr>
          </a:p>
        </p:txBody>
      </p:sp>
      <p:sp>
        <p:nvSpPr>
          <p:cNvPr id="1105931" name="Text Box 11"/>
          <p:cNvSpPr txBox="1">
            <a:spLocks noChangeArrowheads="1"/>
          </p:cNvSpPr>
          <p:nvPr/>
        </p:nvSpPr>
        <p:spPr bwMode="auto">
          <a:xfrm>
            <a:off x="785649" y="3757448"/>
            <a:ext cx="3038331" cy="461665"/>
          </a:xfrm>
          <a:prstGeom prst="rect">
            <a:avLst/>
          </a:prstGeom>
          <a:noFill/>
          <a:ln w="76200" algn="ctr">
            <a:noFill/>
            <a:miter lim="800000"/>
            <a:headEnd/>
            <a:tailEnd/>
          </a:ln>
          <a:effectLst/>
        </p:spPr>
        <p:txBody>
          <a:bodyPr wrap="none">
            <a:spAutoFit/>
          </a:bodyPr>
          <a:lstStyle/>
          <a:p>
            <a:pPr algn="ctr">
              <a:defRPr/>
            </a:pPr>
            <a:r>
              <a:rPr lang="en-US" sz="2400" u="sng" baseline="0" dirty="0">
                <a:solidFill>
                  <a:schemeClr val="hlink"/>
                </a:solidFill>
                <a:latin typeface="Gill Sans MT" pitchFamily="34" charset="0"/>
              </a:rPr>
              <a:t>Topics to be discussed:</a:t>
            </a:r>
          </a:p>
        </p:txBody>
      </p:sp>
    </p:spTree>
    <p:extLst>
      <p:ext uri="{BB962C8B-B14F-4D97-AF65-F5344CB8AC3E}">
        <p14:creationId xmlns:p14="http://schemas.microsoft.com/office/powerpoint/2010/main" val="40391418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128" name="Rectangle 16"/>
          <p:cNvSpPr>
            <a:spLocks noChangeArrowheads="1"/>
          </p:cNvSpPr>
          <p:nvPr/>
        </p:nvSpPr>
        <p:spPr bwMode="auto">
          <a:xfrm>
            <a:off x="0" y="0"/>
            <a:ext cx="9144000" cy="762000"/>
          </a:xfrm>
          <a:prstGeom prst="rect">
            <a:avLst/>
          </a:prstGeom>
          <a:solidFill>
            <a:srgbClr val="33CCFF"/>
          </a:solidFill>
          <a:ln w="9525">
            <a:solidFill>
              <a:schemeClr val="tx1"/>
            </a:solidFill>
            <a:miter lim="800000"/>
            <a:headEnd/>
            <a:tailEnd/>
          </a:ln>
          <a:effectLst/>
        </p:spPr>
        <p:txBody>
          <a:bodyPr wrap="none" anchor="ctr"/>
          <a:lstStyle/>
          <a:p>
            <a:pPr algn="ctr"/>
            <a:endParaRPr lang="en-US" sz="3200" baseline="0">
              <a:effectLst>
                <a:outerShdw blurRad="38100" dist="38100" dir="2700000" algn="tl">
                  <a:srgbClr val="FFFFFF"/>
                </a:outerShdw>
              </a:effectLst>
            </a:endParaRPr>
          </a:p>
        </p:txBody>
      </p:sp>
      <p:sp>
        <p:nvSpPr>
          <p:cNvPr id="32772" name="Text Box 9"/>
          <p:cNvSpPr txBox="1">
            <a:spLocks noChangeArrowheads="1"/>
          </p:cNvSpPr>
          <p:nvPr/>
        </p:nvSpPr>
        <p:spPr bwMode="auto">
          <a:xfrm>
            <a:off x="76200" y="30163"/>
            <a:ext cx="223330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3200" i="1" baseline="0" dirty="0">
                <a:solidFill>
                  <a:schemeClr val="hlink"/>
                </a:solidFill>
              </a:rPr>
              <a:t>   </a:t>
            </a:r>
            <a:r>
              <a:rPr lang="en-US" sz="3200" baseline="0" dirty="0">
                <a:latin typeface="Tw Cen MT" panose="020B0602020104020603" pitchFamily="34" charset="0"/>
              </a:rPr>
              <a:t>Continued</a:t>
            </a:r>
          </a:p>
        </p:txBody>
      </p:sp>
      <p:sp>
        <p:nvSpPr>
          <p:cNvPr id="32773" name="Text Box 10"/>
          <p:cNvSpPr txBox="1">
            <a:spLocks noChangeArrowheads="1"/>
          </p:cNvSpPr>
          <p:nvPr/>
        </p:nvSpPr>
        <p:spPr bwMode="auto">
          <a:xfrm>
            <a:off x="152400" y="1066800"/>
            <a:ext cx="1178528" cy="40011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2000" baseline="0" dirty="0">
                <a:solidFill>
                  <a:schemeClr val="bg1"/>
                </a:solidFill>
                <a:latin typeface="Tw Cen MT" panose="020B0602020104020603" pitchFamily="34" charset="0"/>
              </a:rPr>
              <a:t>Example </a:t>
            </a:r>
            <a:endParaRPr lang="en-US" sz="2000" i="1" baseline="0" dirty="0">
              <a:solidFill>
                <a:schemeClr val="bg1"/>
              </a:solidFill>
              <a:latin typeface="Tw Cen MT" panose="020B0602020104020603" pitchFamily="34" charset="0"/>
            </a:endParaRPr>
          </a:p>
        </p:txBody>
      </p:sp>
      <p:sp>
        <p:nvSpPr>
          <p:cNvPr id="32774" name="Rectangle 11"/>
          <p:cNvSpPr>
            <a:spLocks noChangeArrowheads="1"/>
          </p:cNvSpPr>
          <p:nvPr/>
        </p:nvSpPr>
        <p:spPr bwMode="auto">
          <a:xfrm>
            <a:off x="152400" y="1358995"/>
            <a:ext cx="8839200" cy="201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1" hangingPunct="1">
              <a:lnSpc>
                <a:spcPct val="125000"/>
              </a:lnSpc>
              <a:spcAft>
                <a:spcPct val="70000"/>
              </a:spcAft>
            </a:pPr>
            <a:r>
              <a:rPr lang="en-US" sz="2000" baseline="0" dirty="0">
                <a:latin typeface="Tw Cen MT" panose="020B0602020104020603" pitchFamily="34" charset="0"/>
              </a:rPr>
              <a:t>Let us define a GF(2</a:t>
            </a:r>
            <a:r>
              <a:rPr lang="en-US" sz="2000" baseline="30000" dirty="0">
                <a:latin typeface="Tw Cen MT" panose="020B0602020104020603" pitchFamily="34" charset="0"/>
              </a:rPr>
              <a:t>2</a:t>
            </a:r>
            <a:r>
              <a:rPr lang="en-US" sz="2000" baseline="0" dirty="0">
                <a:latin typeface="Tw Cen MT" panose="020B0602020104020603" pitchFamily="34" charset="0"/>
              </a:rPr>
              <a:t>) field in which the set has four 2-bit words: {00, 01, 10, 11}. We can redefine </a:t>
            </a:r>
            <a:r>
              <a:rPr lang="en-US" sz="2000" baseline="0" dirty="0">
                <a:solidFill>
                  <a:srgbClr val="FF0000"/>
                </a:solidFill>
                <a:latin typeface="Tw Cen MT" panose="020B0602020104020603" pitchFamily="34" charset="0"/>
              </a:rPr>
              <a:t>addition</a:t>
            </a:r>
            <a:r>
              <a:rPr lang="en-US" sz="2000" baseline="0" dirty="0">
                <a:latin typeface="Tw Cen MT" panose="020B0602020104020603" pitchFamily="34" charset="0"/>
              </a:rPr>
              <a:t> and </a:t>
            </a:r>
            <a:r>
              <a:rPr lang="en-US" sz="2000" baseline="0" dirty="0">
                <a:solidFill>
                  <a:srgbClr val="FF0000"/>
                </a:solidFill>
                <a:latin typeface="Tw Cen MT" panose="020B0602020104020603" pitchFamily="34" charset="0"/>
              </a:rPr>
              <a:t>multiplication</a:t>
            </a:r>
            <a:r>
              <a:rPr lang="en-US" sz="2000" baseline="0" dirty="0">
                <a:latin typeface="Tw Cen MT" panose="020B0602020104020603" pitchFamily="34" charset="0"/>
              </a:rPr>
              <a:t> for this field in such a way that all properties of these operations are satisfied, as shown in Figure. (additive and multiplicative inverse,  </a:t>
            </a:r>
            <a:r>
              <a:rPr lang="en-US" sz="2000" baseline="0" dirty="0">
                <a:solidFill>
                  <a:srgbClr val="FF0000"/>
                </a:solidFill>
                <a:latin typeface="Tw Cen MT" panose="020B0602020104020603" pitchFamily="34" charset="0"/>
              </a:rPr>
              <a:t>addition and multiplication (except 00) are defined in terms of </a:t>
            </a:r>
            <a:r>
              <a:rPr lang="en-US" sz="2000" b="1" baseline="0" dirty="0">
                <a:solidFill>
                  <a:srgbClr val="0000FF"/>
                </a:solidFill>
                <a:latin typeface="Tw Cen MT" panose="020B0602020104020603" pitchFamily="34" charset="0"/>
              </a:rPr>
              <a:t>polynomials.</a:t>
            </a:r>
          </a:p>
        </p:txBody>
      </p:sp>
      <p:pic>
        <p:nvPicPr>
          <p:cNvPr id="32775"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965670"/>
            <a:ext cx="3765550"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Text Box 15"/>
          <p:cNvSpPr txBox="1">
            <a:spLocks noChangeArrowheads="1"/>
          </p:cNvSpPr>
          <p:nvPr/>
        </p:nvSpPr>
        <p:spPr bwMode="auto">
          <a:xfrm>
            <a:off x="2133600" y="3310880"/>
            <a:ext cx="37650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2000" baseline="0" dirty="0">
                <a:solidFill>
                  <a:schemeClr val="folHlink"/>
                </a:solidFill>
                <a:latin typeface="Tw Cen MT" panose="020B0602020104020603" pitchFamily="34" charset="0"/>
              </a:rPr>
              <a:t>Figure   </a:t>
            </a:r>
            <a:r>
              <a:rPr lang="en-US" sz="2000" i="1" baseline="0" dirty="0">
                <a:latin typeface="Tw Cen MT" panose="020B0602020104020603" pitchFamily="34" charset="0"/>
              </a:rPr>
              <a:t>An example of GF(2</a:t>
            </a:r>
            <a:r>
              <a:rPr lang="en-US" sz="2000" i="1" baseline="30000" dirty="0">
                <a:latin typeface="Tw Cen MT" panose="020B0602020104020603" pitchFamily="34" charset="0"/>
              </a:rPr>
              <a:t>2</a:t>
            </a:r>
            <a:r>
              <a:rPr lang="en-US" sz="2000" i="1" baseline="0" dirty="0">
                <a:latin typeface="Tw Cen MT" panose="020B0602020104020603" pitchFamily="34" charset="0"/>
              </a:rPr>
              <a:t>) field</a:t>
            </a:r>
          </a:p>
        </p:txBody>
      </p:sp>
    </p:spTree>
    <p:extLst>
      <p:ext uri="{BB962C8B-B14F-4D97-AF65-F5344CB8AC3E}">
        <p14:creationId xmlns:p14="http://schemas.microsoft.com/office/powerpoint/2010/main" val="7329839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2" name="Text Box 9"/>
          <p:cNvSpPr txBox="1">
            <a:spLocks noChangeArrowheads="1"/>
          </p:cNvSpPr>
          <p:nvPr/>
        </p:nvSpPr>
        <p:spPr bwMode="auto">
          <a:xfrm>
            <a:off x="284871" y="351692"/>
            <a:ext cx="263405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3200" i="1" baseline="0" dirty="0">
                <a:solidFill>
                  <a:schemeClr val="hlink"/>
                </a:solidFill>
              </a:rPr>
              <a:t>   </a:t>
            </a:r>
            <a:r>
              <a:rPr lang="en-US" sz="3200" baseline="0" dirty="0">
                <a:solidFill>
                  <a:schemeClr val="hlink"/>
                </a:solidFill>
                <a:latin typeface="Tw Cen MT" panose="020B0602020104020603" pitchFamily="34" charset="0"/>
              </a:rPr>
              <a:t>Polynomials</a:t>
            </a:r>
          </a:p>
        </p:txBody>
      </p:sp>
      <p:sp>
        <p:nvSpPr>
          <p:cNvPr id="33803" name="Rectangle 10"/>
          <p:cNvSpPr>
            <a:spLocks noChangeArrowheads="1"/>
          </p:cNvSpPr>
          <p:nvPr/>
        </p:nvSpPr>
        <p:spPr bwMode="auto">
          <a:xfrm>
            <a:off x="231197" y="1410138"/>
            <a:ext cx="8839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1" hangingPunct="1"/>
            <a:r>
              <a:rPr lang="en-US" sz="2400" baseline="0" dirty="0">
                <a:latin typeface="Tw Cen MT" panose="020B0602020104020603" pitchFamily="34" charset="0"/>
              </a:rPr>
              <a:t>Although we </a:t>
            </a:r>
            <a:r>
              <a:rPr lang="en-US" sz="2400" dirty="0">
                <a:latin typeface="Tw Cen MT" panose="020B0602020104020603" pitchFamily="34" charset="0"/>
              </a:rPr>
              <a:t>can directly define the rules for addition and multiplication operations on n-bit words that satisfy the properties in GF(2</a:t>
            </a:r>
            <a:r>
              <a:rPr lang="en-US" sz="2400" baseline="30000" dirty="0">
                <a:latin typeface="Tw Cen MT" panose="020B0602020104020603" pitchFamily="34" charset="0"/>
              </a:rPr>
              <a:t>n</a:t>
            </a:r>
            <a:r>
              <a:rPr lang="en-US" sz="2400" dirty="0">
                <a:latin typeface="Tw Cen MT" panose="020B0602020104020603" pitchFamily="34" charset="0"/>
              </a:rPr>
              <a:t>). It is easier to work with a representation of  n-bit words </a:t>
            </a:r>
            <a:r>
              <a:rPr lang="en-US" sz="2400" baseline="0" dirty="0">
                <a:latin typeface="Tw Cen MT" panose="020B0602020104020603" pitchFamily="34" charset="0"/>
              </a:rPr>
              <a:t>a polynomial of degree </a:t>
            </a:r>
            <a:r>
              <a:rPr lang="en-US" sz="2400" i="1" baseline="0" dirty="0">
                <a:latin typeface="Tw Cen MT" panose="020B0602020104020603" pitchFamily="34" charset="0"/>
              </a:rPr>
              <a:t>n</a:t>
            </a:r>
            <a:r>
              <a:rPr lang="en-US" sz="2400" baseline="0" dirty="0">
                <a:latin typeface="Tw Cen MT" panose="020B0602020104020603" pitchFamily="34" charset="0"/>
              </a:rPr>
              <a:t> − 1</a:t>
            </a:r>
            <a:r>
              <a:rPr lang="en-US" sz="2400" dirty="0">
                <a:latin typeface="Tw Cen MT" panose="020B0602020104020603" pitchFamily="34" charset="0"/>
              </a:rPr>
              <a:t> which </a:t>
            </a:r>
            <a:r>
              <a:rPr lang="en-US" sz="2400" baseline="0" dirty="0">
                <a:latin typeface="Tw Cen MT" panose="020B0602020104020603" pitchFamily="34" charset="0"/>
              </a:rPr>
              <a:t> is an expression of the form</a:t>
            </a:r>
          </a:p>
        </p:txBody>
      </p:sp>
      <p:pic>
        <p:nvPicPr>
          <p:cNvPr id="3380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2472" y="3552967"/>
            <a:ext cx="62166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5" name="Rectangle 12"/>
          <p:cNvSpPr>
            <a:spLocks noChangeArrowheads="1"/>
          </p:cNvSpPr>
          <p:nvPr/>
        </p:nvSpPr>
        <p:spPr bwMode="auto">
          <a:xfrm>
            <a:off x="356394" y="4712600"/>
            <a:ext cx="87140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just" eaLnBrk="1" hangingPunct="1"/>
            <a:r>
              <a:rPr lang="en-US" sz="2400" baseline="0" dirty="0">
                <a:latin typeface="Tw Cen MT" panose="020B0602020104020603" pitchFamily="34" charset="0"/>
              </a:rPr>
              <a:t>where </a:t>
            </a:r>
            <a:r>
              <a:rPr lang="en-US" sz="2400" i="1" baseline="0" dirty="0">
                <a:solidFill>
                  <a:schemeClr val="hlink"/>
                </a:solidFill>
                <a:latin typeface="Tw Cen MT" panose="020B0602020104020603" pitchFamily="34" charset="0"/>
              </a:rPr>
              <a:t>x</a:t>
            </a:r>
            <a:r>
              <a:rPr lang="en-US" sz="2400" i="1" baseline="30000" dirty="0">
                <a:solidFill>
                  <a:schemeClr val="hlink"/>
                </a:solidFill>
                <a:latin typeface="Tw Cen MT" panose="020B0602020104020603" pitchFamily="34" charset="0"/>
              </a:rPr>
              <a:t>i</a:t>
            </a:r>
            <a:r>
              <a:rPr lang="en-US" sz="2400" baseline="0" dirty="0">
                <a:latin typeface="Tw Cen MT" panose="020B0602020104020603" pitchFamily="34" charset="0"/>
              </a:rPr>
              <a:t> is called the </a:t>
            </a:r>
            <a:r>
              <a:rPr lang="en-US" sz="2400" baseline="0" dirty="0" err="1">
                <a:latin typeface="Tw Cen MT" panose="020B0602020104020603" pitchFamily="34" charset="0"/>
              </a:rPr>
              <a:t>ith</a:t>
            </a:r>
            <a:r>
              <a:rPr lang="en-US" sz="2400" baseline="0" dirty="0">
                <a:latin typeface="Tw Cen MT" panose="020B0602020104020603" pitchFamily="34" charset="0"/>
              </a:rPr>
              <a:t> term and </a:t>
            </a:r>
            <a:r>
              <a:rPr lang="en-US" sz="2400" i="1" baseline="0" dirty="0" err="1">
                <a:solidFill>
                  <a:schemeClr val="hlink"/>
                </a:solidFill>
                <a:latin typeface="Tw Cen MT" panose="020B0602020104020603" pitchFamily="34" charset="0"/>
              </a:rPr>
              <a:t>a</a:t>
            </a:r>
            <a:r>
              <a:rPr lang="en-US" sz="2400" i="1" baseline="-25000" dirty="0" err="1">
                <a:solidFill>
                  <a:schemeClr val="hlink"/>
                </a:solidFill>
                <a:latin typeface="Tw Cen MT" panose="020B0602020104020603" pitchFamily="34" charset="0"/>
              </a:rPr>
              <a:t>i</a:t>
            </a:r>
            <a:r>
              <a:rPr lang="en-US" sz="2400" baseline="0" dirty="0">
                <a:latin typeface="Tw Cen MT" panose="020B0602020104020603" pitchFamily="34" charset="0"/>
              </a:rPr>
              <a:t> is called coefficient of the </a:t>
            </a:r>
            <a:r>
              <a:rPr lang="en-US" sz="2400" i="1" baseline="0" dirty="0" err="1">
                <a:latin typeface="Tw Cen MT" panose="020B0602020104020603" pitchFamily="34" charset="0"/>
              </a:rPr>
              <a:t>i</a:t>
            </a:r>
            <a:r>
              <a:rPr lang="en-US" sz="2400" baseline="0" dirty="0" err="1">
                <a:latin typeface="Tw Cen MT" panose="020B0602020104020603" pitchFamily="34" charset="0"/>
              </a:rPr>
              <a:t>th</a:t>
            </a:r>
            <a:r>
              <a:rPr lang="en-US" sz="2400" baseline="0" dirty="0">
                <a:latin typeface="Tw Cen MT" panose="020B0602020104020603" pitchFamily="34" charset="0"/>
              </a:rPr>
              <a:t> term.</a:t>
            </a:r>
          </a:p>
        </p:txBody>
      </p:sp>
    </p:spTree>
    <p:extLst>
      <p:ext uri="{BB962C8B-B14F-4D97-AF65-F5344CB8AC3E}">
        <p14:creationId xmlns:p14="http://schemas.microsoft.com/office/powerpoint/2010/main" val="9350931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2" name="Text Box 9"/>
          <p:cNvSpPr txBox="1">
            <a:spLocks noChangeArrowheads="1"/>
          </p:cNvSpPr>
          <p:nvPr/>
        </p:nvSpPr>
        <p:spPr bwMode="auto">
          <a:xfrm>
            <a:off x="495886" y="295421"/>
            <a:ext cx="26158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3200" baseline="0" dirty="0">
                <a:solidFill>
                  <a:schemeClr val="hlink"/>
                </a:solidFill>
                <a:latin typeface="Tw Cen MT" panose="020B0602020104020603" pitchFamily="34" charset="0"/>
              </a:rPr>
              <a:t>   Polynomials</a:t>
            </a:r>
          </a:p>
        </p:txBody>
      </p:sp>
      <p:sp>
        <p:nvSpPr>
          <p:cNvPr id="33803" name="Rectangle 10"/>
          <p:cNvSpPr>
            <a:spLocks noChangeArrowheads="1"/>
          </p:cNvSpPr>
          <p:nvPr/>
        </p:nvSpPr>
        <p:spPr bwMode="auto">
          <a:xfrm>
            <a:off x="366713" y="1135177"/>
            <a:ext cx="8302625"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algn="just" eaLnBrk="1" hangingPunct="1">
              <a:buAutoNum type="arabicPeriod"/>
            </a:pPr>
            <a:r>
              <a:rPr lang="en-US" sz="2400" dirty="0">
                <a:latin typeface="Tw Cen MT" panose="020B0602020104020603" pitchFamily="34" charset="0"/>
              </a:rPr>
              <a:t>Power of x defines the position of the bit in the n-bit word.</a:t>
            </a:r>
          </a:p>
          <a:p>
            <a:pPr marL="457200" indent="-457200" algn="just" eaLnBrk="1" hangingPunct="1">
              <a:buAutoNum type="arabicPeriod"/>
            </a:pPr>
            <a:r>
              <a:rPr lang="en-US" sz="2400" baseline="0" dirty="0">
                <a:latin typeface="Tw Cen MT" panose="020B0602020104020603" pitchFamily="34" charset="0"/>
              </a:rPr>
              <a:t>The co-efficient defines the value (but only 0 or 1)</a:t>
            </a:r>
          </a:p>
          <a:p>
            <a:pPr marL="457200" indent="-457200" algn="just" eaLnBrk="1" hangingPunct="1">
              <a:buAutoNum type="arabicPeriod"/>
            </a:pPr>
            <a:endParaRPr lang="en-US" sz="2400" dirty="0">
              <a:latin typeface="Tw Cen MT" panose="020B0602020104020603" pitchFamily="34" charset="0"/>
            </a:endParaRPr>
          </a:p>
          <a:p>
            <a:pPr algn="just" eaLnBrk="1" hangingPunct="1"/>
            <a:r>
              <a:rPr lang="en-US" sz="2400" baseline="0" dirty="0">
                <a:solidFill>
                  <a:srgbClr val="FF0000"/>
                </a:solidFill>
                <a:latin typeface="Tw Cen MT" panose="020B0602020104020603" pitchFamily="34" charset="0"/>
              </a:rPr>
              <a:t>Operations: </a:t>
            </a:r>
            <a:r>
              <a:rPr lang="en-US" sz="2400" baseline="0" dirty="0">
                <a:latin typeface="Tw Cen MT" panose="020B0602020104020603" pitchFamily="34" charset="0"/>
              </a:rPr>
              <a:t> operations on co-</a:t>
            </a:r>
            <a:r>
              <a:rPr lang="en-US" sz="2400" baseline="0" dirty="0" err="1">
                <a:latin typeface="Tw Cen MT" panose="020B0602020104020603" pitchFamily="34" charset="0"/>
              </a:rPr>
              <a:t>efficients</a:t>
            </a:r>
            <a:r>
              <a:rPr lang="en-US" sz="2400" dirty="0">
                <a:latin typeface="Tw Cen MT" panose="020B0602020104020603" pitchFamily="34" charset="0"/>
              </a:rPr>
              <a:t> and operations on two polynomials. We need two fields, one for co-</a:t>
            </a:r>
            <a:r>
              <a:rPr lang="en-US" sz="2400" dirty="0" err="1">
                <a:latin typeface="Tw Cen MT" panose="020B0602020104020603" pitchFamily="34" charset="0"/>
              </a:rPr>
              <a:t>efficients</a:t>
            </a:r>
            <a:r>
              <a:rPr lang="en-US" sz="2400" dirty="0">
                <a:latin typeface="Tw Cen MT" panose="020B0602020104020603" pitchFamily="34" charset="0"/>
              </a:rPr>
              <a:t> (GF(2)) and one for polynomials (GF 2</a:t>
            </a:r>
            <a:r>
              <a:rPr lang="en-US" sz="2400" baseline="30000" dirty="0">
                <a:latin typeface="Tw Cen MT" panose="020B0602020104020603" pitchFamily="34" charset="0"/>
              </a:rPr>
              <a:t>n</a:t>
            </a:r>
            <a:r>
              <a:rPr lang="en-US" sz="2400" dirty="0">
                <a:latin typeface="Tw Cen MT" panose="020B0602020104020603" pitchFamily="34" charset="0"/>
              </a:rPr>
              <a:t>).</a:t>
            </a:r>
          </a:p>
          <a:p>
            <a:pPr algn="just" eaLnBrk="1" hangingPunct="1"/>
            <a:endParaRPr lang="en-US" sz="2400" baseline="0" dirty="0">
              <a:latin typeface="Tw Cen MT" panose="020B0602020104020603" pitchFamily="34" charset="0"/>
            </a:endParaRPr>
          </a:p>
          <a:p>
            <a:pPr algn="just" eaLnBrk="1" hangingPunct="1"/>
            <a:r>
              <a:rPr lang="en-US" sz="2400" dirty="0">
                <a:solidFill>
                  <a:srgbClr val="FF0000"/>
                </a:solidFill>
                <a:latin typeface="Tw Cen MT" panose="020B0602020104020603" pitchFamily="34" charset="0"/>
              </a:rPr>
              <a:t>Modulus:</a:t>
            </a:r>
            <a:r>
              <a:rPr lang="en-US" sz="2400" dirty="0">
                <a:latin typeface="Tw Cen MT" panose="020B0602020104020603" pitchFamily="34" charset="0"/>
              </a:rPr>
              <a:t> Addition of two </a:t>
            </a:r>
            <a:r>
              <a:rPr lang="en-US" sz="2400" dirty="0" err="1">
                <a:latin typeface="Tw Cen MT" panose="020B0602020104020603" pitchFamily="34" charset="0"/>
              </a:rPr>
              <a:t>polynomilas</a:t>
            </a:r>
            <a:r>
              <a:rPr lang="en-US" sz="2400" dirty="0">
                <a:latin typeface="Tw Cen MT" panose="020B0602020104020603" pitchFamily="34" charset="0"/>
              </a:rPr>
              <a:t> never creates a polynomial out of the </a:t>
            </a:r>
            <a:r>
              <a:rPr lang="en-US" sz="2400" dirty="0" err="1">
                <a:latin typeface="Tw Cen MT" panose="020B0602020104020603" pitchFamily="34" charset="0"/>
              </a:rPr>
              <a:t>st.</a:t>
            </a:r>
            <a:r>
              <a:rPr lang="en-US" sz="2400" dirty="0">
                <a:latin typeface="Tw Cen MT" panose="020B0602020104020603" pitchFamily="34" charset="0"/>
              </a:rPr>
              <a:t> But for multiplication, may. So for this sets of polynomials in GF 2</a:t>
            </a:r>
            <a:r>
              <a:rPr lang="en-US" sz="2400" baseline="30000" dirty="0">
                <a:latin typeface="Tw Cen MT" panose="020B0602020104020603" pitchFamily="34" charset="0"/>
              </a:rPr>
              <a:t>n </a:t>
            </a:r>
            <a:r>
              <a:rPr lang="en-US" sz="2400" dirty="0">
                <a:latin typeface="Tw Cen MT" panose="020B0602020104020603" pitchFamily="34" charset="0"/>
              </a:rPr>
              <a:t>a group of polynomials of degree n  is defined as the modulus. The act as prime polynomial, can not be factored into a polynomial with degree of less than n. also irreducible polynomials. Number of terms are odd.</a:t>
            </a:r>
          </a:p>
        </p:txBody>
      </p:sp>
    </p:spTree>
    <p:extLst>
      <p:ext uri="{BB962C8B-B14F-4D97-AF65-F5344CB8AC3E}">
        <p14:creationId xmlns:p14="http://schemas.microsoft.com/office/powerpoint/2010/main" val="40253242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9"/>
          <p:cNvSpPr txBox="1">
            <a:spLocks noChangeArrowheads="1"/>
          </p:cNvSpPr>
          <p:nvPr/>
        </p:nvSpPr>
        <p:spPr bwMode="auto">
          <a:xfrm>
            <a:off x="3339565" y="271771"/>
            <a:ext cx="1599220" cy="461665"/>
          </a:xfrm>
          <a:prstGeom prst="rect">
            <a:avLst/>
          </a:prstGeom>
          <a:noFill/>
          <a:ln w="9525">
            <a:noFill/>
            <a:miter lim="800000"/>
            <a:headEnd/>
            <a:tailEnd/>
          </a:ln>
        </p:spPr>
        <p:txBody>
          <a:bodyPr wrap="none">
            <a:spAutoFit/>
          </a:bodyPr>
          <a:lstStyle/>
          <a:p>
            <a:r>
              <a:rPr lang="en-US" sz="2400" baseline="0" dirty="0">
                <a:solidFill>
                  <a:schemeClr val="hlink"/>
                </a:solidFill>
                <a:latin typeface="Tw Cen MT" panose="020B0602020104020603" pitchFamily="34" charset="0"/>
              </a:rPr>
              <a:t>Polynomials</a:t>
            </a:r>
          </a:p>
        </p:txBody>
      </p:sp>
      <p:sp>
        <p:nvSpPr>
          <p:cNvPr id="2" name="Rectangle 1"/>
          <p:cNvSpPr/>
          <p:nvPr/>
        </p:nvSpPr>
        <p:spPr>
          <a:xfrm>
            <a:off x="753620" y="1558195"/>
            <a:ext cx="7567096" cy="5018810"/>
          </a:xfrm>
          <a:prstGeom prst="rect">
            <a:avLst/>
          </a:prstGeom>
        </p:spPr>
        <p:txBody>
          <a:bodyPr wrap="square">
            <a:spAutoFit/>
          </a:bodyPr>
          <a:lstStyle/>
          <a:p>
            <a:pPr marL="285750" indent="-285750">
              <a:lnSpc>
                <a:spcPct val="150000"/>
              </a:lnSpc>
              <a:buFont typeface="Wingdings" pitchFamily="2" charset="2"/>
              <a:buChar char="q"/>
            </a:pPr>
            <a:r>
              <a:rPr lang="en-US" sz="2400" dirty="0">
                <a:latin typeface="Tw Cen MT" panose="020B0602020104020603" pitchFamily="34" charset="0"/>
              </a:rPr>
              <a:t>Ordinary polynomial arithmetic:</a:t>
            </a:r>
          </a:p>
          <a:p>
            <a:pPr marL="779244" lvl="1" indent="-342900">
              <a:lnSpc>
                <a:spcPct val="150000"/>
              </a:lnSpc>
              <a:buFont typeface="Wingdings" pitchFamily="2" charset="2"/>
              <a:buChar char="§"/>
            </a:pPr>
            <a:r>
              <a:rPr lang="en-US" sz="2400" dirty="0">
                <a:latin typeface="Tw Cen MT" panose="020B0602020104020603" pitchFamily="34" charset="0"/>
              </a:rPr>
              <a:t>Add, subtract, multiply, divide polynomials, </a:t>
            </a:r>
          </a:p>
          <a:p>
            <a:pPr marL="779244" lvl="1" indent="-342900">
              <a:lnSpc>
                <a:spcPct val="150000"/>
              </a:lnSpc>
              <a:buFont typeface="Wingdings" pitchFamily="2" charset="2"/>
              <a:buChar char="§"/>
            </a:pPr>
            <a:r>
              <a:rPr lang="en-US" sz="2400" dirty="0">
                <a:latin typeface="Tw Cen MT" panose="020B0602020104020603" pitchFamily="34" charset="0"/>
              </a:rPr>
              <a:t>Find remainders, quotient. </a:t>
            </a:r>
          </a:p>
          <a:p>
            <a:pPr marL="779244" lvl="1" indent="-342900">
              <a:lnSpc>
                <a:spcPct val="150000"/>
              </a:lnSpc>
              <a:buFont typeface="Wingdings" pitchFamily="2" charset="2"/>
              <a:buChar char="§"/>
            </a:pPr>
            <a:r>
              <a:rPr lang="en-US" sz="2400" dirty="0">
                <a:latin typeface="Tw Cen MT" panose="020B0602020104020603" pitchFamily="34" charset="0"/>
              </a:rPr>
              <a:t>Some polynomials have no factors and are prime. </a:t>
            </a:r>
          </a:p>
          <a:p>
            <a:pPr marL="285750" indent="-285750">
              <a:lnSpc>
                <a:spcPct val="150000"/>
              </a:lnSpc>
              <a:buFont typeface="Wingdings" pitchFamily="2" charset="2"/>
              <a:buChar char="q"/>
            </a:pPr>
            <a:endParaRPr lang="en-US" sz="2400" dirty="0">
              <a:latin typeface="Tw Cen MT" panose="020B0602020104020603" pitchFamily="34" charset="0"/>
            </a:endParaRPr>
          </a:p>
          <a:p>
            <a:pPr marL="285750" indent="-285750">
              <a:lnSpc>
                <a:spcPct val="150000"/>
              </a:lnSpc>
              <a:buFont typeface="Wingdings" pitchFamily="2" charset="2"/>
              <a:buChar char="q"/>
            </a:pPr>
            <a:r>
              <a:rPr lang="en-US" sz="2400" dirty="0">
                <a:latin typeface="Tw Cen MT" panose="020B0602020104020603" pitchFamily="34" charset="0"/>
              </a:rPr>
              <a:t>Polynomial arithmetic with </a:t>
            </a:r>
            <a:r>
              <a:rPr lang="en-US" sz="2400" b="1" dirty="0">
                <a:latin typeface="Tw Cen MT" panose="020B0602020104020603" pitchFamily="34" charset="0"/>
              </a:rPr>
              <a:t>mod </a:t>
            </a:r>
            <a:r>
              <a:rPr lang="en-US" sz="2400" b="1" i="1" dirty="0">
                <a:latin typeface="Tw Cen MT" panose="020B0602020104020603" pitchFamily="34" charset="0"/>
              </a:rPr>
              <a:t>p </a:t>
            </a:r>
            <a:r>
              <a:rPr lang="en-US" sz="2400" dirty="0">
                <a:latin typeface="Tw Cen MT" panose="020B0602020104020603" pitchFamily="34" charset="0"/>
              </a:rPr>
              <a:t>coefficients </a:t>
            </a:r>
          </a:p>
          <a:p>
            <a:pPr marL="285750" indent="-285750">
              <a:lnSpc>
                <a:spcPct val="150000"/>
              </a:lnSpc>
              <a:buFont typeface="Wingdings" pitchFamily="2" charset="2"/>
              <a:buChar char="q"/>
            </a:pPr>
            <a:r>
              <a:rPr lang="en-US" sz="2400" dirty="0">
                <a:latin typeface="Tw Cen MT" panose="020B0602020104020603" pitchFamily="34" charset="0"/>
              </a:rPr>
              <a:t>Polynomial arithmetic with </a:t>
            </a:r>
            <a:r>
              <a:rPr lang="en-US" sz="2400" b="1" dirty="0">
                <a:latin typeface="Tw Cen MT" panose="020B0602020104020603" pitchFamily="34" charset="0"/>
              </a:rPr>
              <a:t>mod </a:t>
            </a:r>
            <a:r>
              <a:rPr lang="en-US" sz="2400" b="1" i="1" dirty="0">
                <a:latin typeface="Tw Cen MT" panose="020B0602020104020603" pitchFamily="34" charset="0"/>
              </a:rPr>
              <a:t>p </a:t>
            </a:r>
            <a:r>
              <a:rPr lang="en-US" sz="2400" dirty="0">
                <a:latin typeface="Tw Cen MT" panose="020B0602020104020603" pitchFamily="34" charset="0"/>
              </a:rPr>
              <a:t>coefficients and </a:t>
            </a:r>
            <a:r>
              <a:rPr lang="en-US" sz="2400" b="1" dirty="0">
                <a:latin typeface="Tw Cen MT" panose="020B0602020104020603" pitchFamily="34" charset="0"/>
              </a:rPr>
              <a:t>mod </a:t>
            </a:r>
            <a:r>
              <a:rPr lang="en-US" sz="2400" b="1" i="1" dirty="0">
                <a:latin typeface="Tw Cen MT" panose="020B0602020104020603" pitchFamily="34" charset="0"/>
              </a:rPr>
              <a:t>m(x) </a:t>
            </a:r>
            <a:r>
              <a:rPr lang="en-US" sz="2400" dirty="0">
                <a:latin typeface="Tw Cen MT" panose="020B0602020104020603" pitchFamily="34" charset="0"/>
              </a:rPr>
              <a:t>operations, where m(</a:t>
            </a:r>
            <a:r>
              <a:rPr lang="en-US" sz="2400" i="1" dirty="0">
                <a:latin typeface="Tw Cen MT" panose="020B0602020104020603" pitchFamily="34" charset="0"/>
              </a:rPr>
              <a:t>x</a:t>
            </a:r>
            <a:r>
              <a:rPr lang="en-US" sz="2400" dirty="0">
                <a:latin typeface="Tw Cen MT" panose="020B0602020104020603" pitchFamily="34" charset="0"/>
              </a:rPr>
              <a:t>) is a </a:t>
            </a:r>
            <a:r>
              <a:rPr lang="en-US" sz="2400" i="1" dirty="0">
                <a:latin typeface="Tw Cen MT" panose="020B0602020104020603" pitchFamily="34" charset="0"/>
              </a:rPr>
              <a:t>n-</a:t>
            </a:r>
            <a:r>
              <a:rPr lang="en-US" sz="2400" dirty="0" err="1">
                <a:latin typeface="Tw Cen MT" panose="020B0602020104020603" pitchFamily="34" charset="0"/>
              </a:rPr>
              <a:t>th</a:t>
            </a:r>
            <a:r>
              <a:rPr lang="en-US" sz="2400" dirty="0">
                <a:latin typeface="Tw Cen MT" panose="020B0602020104020603" pitchFamily="34" charset="0"/>
              </a:rPr>
              <a:t> degree polynomial = GF(</a:t>
            </a:r>
            <a:r>
              <a:rPr lang="en-US" sz="2400" i="1" dirty="0" err="1">
                <a:latin typeface="Tw Cen MT" panose="020B0602020104020603" pitchFamily="34" charset="0"/>
              </a:rPr>
              <a:t>p</a:t>
            </a:r>
            <a:r>
              <a:rPr lang="en-US" sz="2400" i="1" baseline="30000" dirty="0" err="1">
                <a:latin typeface="Tw Cen MT" panose="020B0602020104020603" pitchFamily="34" charset="0"/>
              </a:rPr>
              <a:t>n</a:t>
            </a:r>
            <a:r>
              <a:rPr lang="en-US" sz="2400" dirty="0">
                <a:latin typeface="Tw Cen MT" panose="020B0602020104020603" pitchFamily="34" charset="0"/>
              </a:rPr>
              <a:t>) </a:t>
            </a:r>
          </a:p>
        </p:txBody>
      </p:sp>
      <p:pic>
        <p:nvPicPr>
          <p:cNvPr id="8" name="Picture 7"/>
          <p:cNvPicPr>
            <a:picLocks noChangeAspect="1" noChangeArrowheads="1"/>
          </p:cNvPicPr>
          <p:nvPr/>
        </p:nvPicPr>
        <p:blipFill>
          <a:blip r:embed="rId2"/>
          <a:srcRect/>
          <a:stretch>
            <a:fillRect/>
          </a:stretch>
        </p:blipFill>
        <p:spPr bwMode="auto">
          <a:xfrm>
            <a:off x="1278070" y="1072420"/>
            <a:ext cx="6216650" cy="485775"/>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Polynomials</a:t>
            </a:r>
          </a:p>
        </p:txBody>
      </p:sp>
      <p:sp>
        <p:nvSpPr>
          <p:cNvPr id="4" name="Rectangle 11"/>
          <p:cNvSpPr>
            <a:spLocks noChangeArrowheads="1"/>
          </p:cNvSpPr>
          <p:nvPr/>
        </p:nvSpPr>
        <p:spPr bwMode="auto">
          <a:xfrm>
            <a:off x="152400" y="1371600"/>
            <a:ext cx="8839200" cy="824008"/>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000" baseline="0" dirty="0"/>
              <a:t>Figure  show how we can represent the 8-bit word (10011001) using a polynomials.</a:t>
            </a:r>
          </a:p>
        </p:txBody>
      </p:sp>
      <p:pic>
        <p:nvPicPr>
          <p:cNvPr id="5" name="Picture 14"/>
          <p:cNvPicPr>
            <a:picLocks noChangeAspect="1" noChangeArrowheads="1"/>
          </p:cNvPicPr>
          <p:nvPr/>
        </p:nvPicPr>
        <p:blipFill>
          <a:blip r:embed="rId2"/>
          <a:srcRect/>
          <a:stretch>
            <a:fillRect/>
          </a:stretch>
        </p:blipFill>
        <p:spPr bwMode="auto">
          <a:xfrm>
            <a:off x="1293813" y="3252788"/>
            <a:ext cx="6097587" cy="2995612"/>
          </a:xfrm>
          <a:prstGeom prst="rect">
            <a:avLst/>
          </a:prstGeom>
          <a:noFill/>
          <a:ln w="9525">
            <a:noFill/>
            <a:miter lim="800000"/>
            <a:headEnd/>
            <a:tailEnd/>
          </a:ln>
        </p:spPr>
      </p:pic>
      <p:sp>
        <p:nvSpPr>
          <p:cNvPr id="6" name="Text Box 15"/>
          <p:cNvSpPr txBox="1">
            <a:spLocks noChangeArrowheads="1"/>
          </p:cNvSpPr>
          <p:nvPr/>
        </p:nvSpPr>
        <p:spPr bwMode="auto">
          <a:xfrm>
            <a:off x="1384300" y="2514600"/>
            <a:ext cx="6651180" cy="400110"/>
          </a:xfrm>
          <a:prstGeom prst="rect">
            <a:avLst/>
          </a:prstGeom>
          <a:noFill/>
          <a:ln w="9525">
            <a:noFill/>
            <a:miter lim="800000"/>
            <a:headEnd/>
            <a:tailEnd/>
          </a:ln>
        </p:spPr>
        <p:txBody>
          <a:bodyPr wrap="none">
            <a:spAutoFit/>
          </a:bodyPr>
          <a:lstStyle/>
          <a:p>
            <a:r>
              <a:rPr lang="en-US" sz="2000" baseline="0" dirty="0">
                <a:solidFill>
                  <a:schemeClr val="folHlink"/>
                </a:solidFill>
              </a:rPr>
              <a:t>Figure   </a:t>
            </a:r>
            <a:r>
              <a:rPr lang="en-US" sz="2000" i="1" baseline="0" dirty="0"/>
              <a:t>Representation of an 8-bit word by a polynomial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152400" y="1143000"/>
            <a:ext cx="8839200" cy="1463675"/>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a:latin typeface="Tw Cen MT" panose="020B0602020104020603" pitchFamily="34" charset="0"/>
              </a:rPr>
              <a:t>To find the 8-bit word related to the polynomial </a:t>
            </a:r>
            <a:r>
              <a:rPr lang="en-US" sz="2400" i="1" baseline="0">
                <a:latin typeface="Tw Cen MT" panose="020B0602020104020603" pitchFamily="34" charset="0"/>
              </a:rPr>
              <a:t>x</a:t>
            </a:r>
            <a:r>
              <a:rPr lang="en-US" sz="2400" baseline="30000">
                <a:latin typeface="Tw Cen MT" panose="020B0602020104020603" pitchFamily="34" charset="0"/>
              </a:rPr>
              <a:t>5</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2</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0">
                <a:latin typeface="Tw Cen MT" panose="020B0602020104020603" pitchFamily="34" charset="0"/>
              </a:rPr>
              <a:t>, we first supply the omitted terms. Since </a:t>
            </a:r>
            <a:r>
              <a:rPr lang="en-US" sz="2400" i="1" baseline="0">
                <a:latin typeface="Tw Cen MT" panose="020B0602020104020603" pitchFamily="34" charset="0"/>
              </a:rPr>
              <a:t>n</a:t>
            </a:r>
            <a:r>
              <a:rPr lang="en-US" sz="2400" baseline="0">
                <a:latin typeface="Tw Cen MT" panose="020B0602020104020603" pitchFamily="34" charset="0"/>
              </a:rPr>
              <a:t> = 8, it means the polynomial is of degree 7. The expanded polynomial is</a:t>
            </a:r>
          </a:p>
        </p:txBody>
      </p:sp>
      <p:pic>
        <p:nvPicPr>
          <p:cNvPr id="4" name="Picture 14"/>
          <p:cNvPicPr>
            <a:picLocks noChangeAspect="1" noChangeArrowheads="1"/>
          </p:cNvPicPr>
          <p:nvPr/>
        </p:nvPicPr>
        <p:blipFill>
          <a:blip r:embed="rId2"/>
          <a:srcRect/>
          <a:stretch>
            <a:fillRect/>
          </a:stretch>
        </p:blipFill>
        <p:spPr bwMode="auto">
          <a:xfrm>
            <a:off x="1209675" y="3181350"/>
            <a:ext cx="6105525" cy="400050"/>
          </a:xfrm>
          <a:prstGeom prst="rect">
            <a:avLst/>
          </a:prstGeom>
          <a:noFill/>
          <a:ln w="9525">
            <a:noFill/>
            <a:miter lim="800000"/>
            <a:headEnd/>
            <a:tailEnd/>
          </a:ln>
        </p:spPr>
      </p:pic>
      <p:sp>
        <p:nvSpPr>
          <p:cNvPr id="5" name="Rectangle 15"/>
          <p:cNvSpPr>
            <a:spLocks noChangeArrowheads="1"/>
          </p:cNvSpPr>
          <p:nvPr/>
        </p:nvSpPr>
        <p:spPr bwMode="auto">
          <a:xfrm>
            <a:off x="152400" y="4415112"/>
            <a:ext cx="8839200" cy="517578"/>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a:latin typeface="Tw Cen MT" panose="020B0602020104020603" pitchFamily="34" charset="0"/>
              </a:rPr>
              <a:t>This is related to the 8-bit word </a:t>
            </a:r>
            <a:r>
              <a:rPr lang="en-US" sz="2400" baseline="0">
                <a:solidFill>
                  <a:schemeClr val="hlink"/>
                </a:solidFill>
                <a:latin typeface="Tw Cen MT" panose="020B0602020104020603" pitchFamily="34" charset="0"/>
              </a:rPr>
              <a:t>00100110</a:t>
            </a:r>
            <a:r>
              <a:rPr lang="en-US" sz="2400" baseline="0">
                <a:latin typeface="Tw Cen MT" panose="020B0602020104020603" pitchFamily="34" charset="0"/>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5" name="Text Box 11"/>
          <p:cNvSpPr txBox="1">
            <a:spLocks noChangeArrowheads="1"/>
          </p:cNvSpPr>
          <p:nvPr/>
        </p:nvSpPr>
        <p:spPr bwMode="auto">
          <a:xfrm>
            <a:off x="1147763" y="533400"/>
            <a:ext cx="2286203" cy="584775"/>
          </a:xfrm>
          <a:prstGeom prst="rect">
            <a:avLst/>
          </a:prstGeom>
          <a:noFill/>
          <a:ln w="9525">
            <a:noFill/>
            <a:miter lim="800000"/>
            <a:headEnd/>
            <a:tailEnd/>
          </a:ln>
        </p:spPr>
        <p:txBody>
          <a:bodyPr wrap="none">
            <a:spAutoFit/>
          </a:bodyPr>
          <a:lstStyle/>
          <a:p>
            <a:r>
              <a:rPr lang="en-US" sz="3200" baseline="0" dirty="0">
                <a:solidFill>
                  <a:schemeClr val="folHlink"/>
                </a:solidFill>
                <a:latin typeface="Tw Cen MT" panose="020B0602020104020603" pitchFamily="34" charset="0"/>
              </a:rPr>
              <a:t>GF(</a:t>
            </a:r>
            <a:r>
              <a:rPr lang="en-US" sz="3200" i="1" baseline="0" dirty="0">
                <a:solidFill>
                  <a:schemeClr val="folHlink"/>
                </a:solidFill>
                <a:latin typeface="Tw Cen MT" panose="020B0602020104020603" pitchFamily="34" charset="0"/>
              </a:rPr>
              <a:t>2</a:t>
            </a:r>
            <a:r>
              <a:rPr lang="en-US" sz="3200" i="1" baseline="30000" dirty="0">
                <a:solidFill>
                  <a:schemeClr val="folHlink"/>
                </a:solidFill>
                <a:latin typeface="Tw Cen MT" panose="020B0602020104020603" pitchFamily="34" charset="0"/>
              </a:rPr>
              <a:t>n</a:t>
            </a:r>
            <a:r>
              <a:rPr lang="en-US" sz="3200" baseline="0" dirty="0">
                <a:solidFill>
                  <a:schemeClr val="folHlink"/>
                </a:solidFill>
                <a:latin typeface="Tw Cen MT" panose="020B0602020104020603" pitchFamily="34" charset="0"/>
              </a:rPr>
              <a:t>) Fields</a:t>
            </a:r>
          </a:p>
        </p:txBody>
      </p:sp>
      <p:sp>
        <p:nvSpPr>
          <p:cNvPr id="36876" name="Line 12"/>
          <p:cNvSpPr>
            <a:spLocks noChangeShapeType="1"/>
          </p:cNvSpPr>
          <p:nvPr/>
        </p:nvSpPr>
        <p:spPr bwMode="auto">
          <a:xfrm>
            <a:off x="441435" y="3415862"/>
            <a:ext cx="8153400" cy="0"/>
          </a:xfrm>
          <a:prstGeom prst="line">
            <a:avLst/>
          </a:prstGeom>
          <a:noFill/>
          <a:ln w="76200">
            <a:solidFill>
              <a:srgbClr val="009900"/>
            </a:solidFill>
            <a:round/>
            <a:headEnd/>
            <a:tailEnd/>
          </a:ln>
        </p:spPr>
        <p:txBody>
          <a:bodyPr/>
          <a:lstStyle/>
          <a:p>
            <a:endParaRPr lang="en-US">
              <a:latin typeface="Tw Cen MT" panose="020B0602020104020603" pitchFamily="34" charset="0"/>
            </a:endParaRPr>
          </a:p>
        </p:txBody>
      </p:sp>
      <p:sp>
        <p:nvSpPr>
          <p:cNvPr id="36877" name="Line 13"/>
          <p:cNvSpPr>
            <a:spLocks noChangeShapeType="1"/>
          </p:cNvSpPr>
          <p:nvPr/>
        </p:nvSpPr>
        <p:spPr bwMode="auto">
          <a:xfrm>
            <a:off x="443023" y="4635062"/>
            <a:ext cx="8153400" cy="0"/>
          </a:xfrm>
          <a:prstGeom prst="line">
            <a:avLst/>
          </a:prstGeom>
          <a:noFill/>
          <a:ln w="76200">
            <a:solidFill>
              <a:srgbClr val="009900"/>
            </a:solidFill>
            <a:round/>
            <a:headEnd/>
            <a:tailEnd/>
          </a:ln>
        </p:spPr>
        <p:txBody>
          <a:bodyPr/>
          <a:lstStyle/>
          <a:p>
            <a:endParaRPr lang="en-US">
              <a:latin typeface="Tw Cen MT" panose="020B0602020104020603" pitchFamily="34" charset="0"/>
            </a:endParaRPr>
          </a:p>
        </p:txBody>
      </p:sp>
      <p:sp>
        <p:nvSpPr>
          <p:cNvPr id="36878" name="Rectangle 14"/>
          <p:cNvSpPr>
            <a:spLocks noChangeArrowheads="1"/>
          </p:cNvSpPr>
          <p:nvPr/>
        </p:nvSpPr>
        <p:spPr bwMode="auto">
          <a:xfrm>
            <a:off x="479535" y="3507937"/>
            <a:ext cx="8077200" cy="1066800"/>
          </a:xfrm>
          <a:prstGeom prst="rect">
            <a:avLst/>
          </a:prstGeom>
          <a:solidFill>
            <a:srgbClr val="99FF33"/>
          </a:solidFill>
          <a:ln w="76200" algn="ctr">
            <a:noFill/>
            <a:miter lim="800000"/>
            <a:headEnd/>
            <a:tailEnd/>
          </a:ln>
        </p:spPr>
        <p:txBody>
          <a:bodyPr>
            <a:spAutoFit/>
          </a:bodyPr>
          <a:lstStyle/>
          <a:p>
            <a:pPr algn="ctr"/>
            <a:r>
              <a:rPr lang="en-US" sz="3200" baseline="0" dirty="0">
                <a:latin typeface="Tw Cen MT" panose="020B0602020104020603" pitchFamily="34" charset="0"/>
              </a:rPr>
              <a:t>Polynomials representing </a:t>
            </a:r>
            <a:r>
              <a:rPr lang="en-US" sz="3200" i="1" baseline="0" dirty="0">
                <a:latin typeface="Tw Cen MT" panose="020B0602020104020603" pitchFamily="34" charset="0"/>
              </a:rPr>
              <a:t>n</a:t>
            </a:r>
            <a:r>
              <a:rPr lang="en-US" sz="3200" baseline="0" dirty="0">
                <a:latin typeface="Tw Cen MT" panose="020B0602020104020603" pitchFamily="34" charset="0"/>
              </a:rPr>
              <a:t>-bit words use two fields: GF(2) and GF(2</a:t>
            </a:r>
            <a:r>
              <a:rPr lang="en-US" sz="3200" i="1" baseline="30000" dirty="0">
                <a:latin typeface="Tw Cen MT" panose="020B0602020104020603" pitchFamily="34" charset="0"/>
              </a:rPr>
              <a:t>n</a:t>
            </a:r>
            <a:r>
              <a:rPr lang="en-US" sz="3200" baseline="0" dirty="0">
                <a:latin typeface="Tw Cen MT" panose="020B0602020104020603" pitchFamily="34" charset="0"/>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8" name="Text Box 9"/>
          <p:cNvSpPr txBox="1">
            <a:spLocks noChangeArrowheads="1"/>
          </p:cNvSpPr>
          <p:nvPr/>
        </p:nvSpPr>
        <p:spPr bwMode="auto">
          <a:xfrm>
            <a:off x="467750" y="225083"/>
            <a:ext cx="23615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3200" baseline="0" dirty="0">
                <a:solidFill>
                  <a:schemeClr val="hlink"/>
                </a:solidFill>
                <a:latin typeface="Tw Cen MT" panose="020B0602020104020603" pitchFamily="34" charset="0"/>
              </a:rPr>
              <a:t>    </a:t>
            </a:r>
            <a:r>
              <a:rPr lang="en-US" sz="3200" baseline="0" dirty="0">
                <a:latin typeface="Tw Cen MT" panose="020B0602020104020603" pitchFamily="34" charset="0"/>
              </a:rPr>
              <a:t>Continued</a:t>
            </a:r>
          </a:p>
        </p:txBody>
      </p:sp>
      <p:sp>
        <p:nvSpPr>
          <p:cNvPr id="37899" name="Rectangle 10"/>
          <p:cNvSpPr>
            <a:spLocks noChangeArrowheads="1"/>
          </p:cNvSpPr>
          <p:nvPr/>
        </p:nvSpPr>
        <p:spPr bwMode="auto">
          <a:xfrm>
            <a:off x="304800" y="1576310"/>
            <a:ext cx="862083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just" eaLnBrk="1" hangingPunct="1"/>
            <a:r>
              <a:rPr lang="en-US" sz="2400" baseline="0" dirty="0">
                <a:latin typeface="Tw Cen MT" panose="020B0602020104020603" pitchFamily="34" charset="0"/>
              </a:rPr>
              <a:t>For the sets of polynomials in GF(2</a:t>
            </a:r>
            <a:r>
              <a:rPr lang="en-US" sz="2400" baseline="30000" dirty="0">
                <a:latin typeface="Tw Cen MT" panose="020B0602020104020603" pitchFamily="34" charset="0"/>
              </a:rPr>
              <a:t>n</a:t>
            </a:r>
            <a:r>
              <a:rPr lang="en-US" sz="2400" baseline="0" dirty="0">
                <a:latin typeface="Tw Cen MT" panose="020B0602020104020603" pitchFamily="34" charset="0"/>
              </a:rPr>
              <a:t>), a group of polynomials of degree n is defined as the modulus. Such polynomials are referred to as </a:t>
            </a:r>
            <a:r>
              <a:rPr lang="en-US" sz="2400" baseline="0" dirty="0">
                <a:solidFill>
                  <a:schemeClr val="hlink"/>
                </a:solidFill>
                <a:latin typeface="Tw Cen MT" panose="020B0602020104020603" pitchFamily="34" charset="0"/>
              </a:rPr>
              <a:t>irreducible polynomials.</a:t>
            </a:r>
            <a:r>
              <a:rPr lang="en-US" sz="2400" baseline="0" dirty="0">
                <a:latin typeface="Tw Cen MT" panose="020B0602020104020603" pitchFamily="34" charset="0"/>
              </a:rPr>
              <a:t> </a:t>
            </a:r>
          </a:p>
        </p:txBody>
      </p:sp>
      <p:sp>
        <p:nvSpPr>
          <p:cNvPr id="37900" name="Text Box 11"/>
          <p:cNvSpPr txBox="1">
            <a:spLocks noChangeArrowheads="1"/>
          </p:cNvSpPr>
          <p:nvPr/>
        </p:nvSpPr>
        <p:spPr bwMode="auto">
          <a:xfrm>
            <a:off x="409575" y="990600"/>
            <a:ext cx="12939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baseline="0" dirty="0">
                <a:solidFill>
                  <a:schemeClr val="folHlink"/>
                </a:solidFill>
                <a:latin typeface="Tw Cen MT" panose="020B0602020104020603" pitchFamily="34" charset="0"/>
              </a:rPr>
              <a:t>Modulus</a:t>
            </a:r>
          </a:p>
        </p:txBody>
      </p:sp>
      <p:pic>
        <p:nvPicPr>
          <p:cNvPr id="37901"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9575" y="3514213"/>
            <a:ext cx="8464550" cy="251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2" name="Text Box 19"/>
          <p:cNvSpPr txBox="1">
            <a:spLocks noChangeArrowheads="1"/>
          </p:cNvSpPr>
          <p:nvPr/>
        </p:nvSpPr>
        <p:spPr bwMode="auto">
          <a:xfrm>
            <a:off x="2074506" y="3052548"/>
            <a:ext cx="43778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baseline="0" dirty="0">
                <a:solidFill>
                  <a:schemeClr val="folHlink"/>
                </a:solidFill>
                <a:latin typeface="Tw Cen MT" panose="020B0602020104020603" pitchFamily="34" charset="0"/>
              </a:rPr>
              <a:t>Table   </a:t>
            </a:r>
            <a:r>
              <a:rPr lang="en-US" sz="2000" baseline="0" dirty="0">
                <a:latin typeface="Tw Cen MT" panose="020B0602020104020603" pitchFamily="34" charset="0"/>
              </a:rPr>
              <a:t>List of irreducible polynomials</a:t>
            </a:r>
          </a:p>
        </p:txBody>
      </p:sp>
    </p:spTree>
    <p:extLst>
      <p:ext uri="{BB962C8B-B14F-4D97-AF65-F5344CB8AC3E}">
        <p14:creationId xmlns:p14="http://schemas.microsoft.com/office/powerpoint/2010/main" val="17652982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1147763" y="533400"/>
            <a:ext cx="1560042" cy="584775"/>
          </a:xfrm>
          <a:prstGeom prst="rect">
            <a:avLst/>
          </a:prstGeom>
          <a:noFill/>
          <a:ln w="9525">
            <a:noFill/>
            <a:miter lim="800000"/>
            <a:headEnd/>
            <a:tailEnd/>
          </a:ln>
        </p:spPr>
        <p:txBody>
          <a:bodyPr wrap="none">
            <a:spAutoFit/>
          </a:bodyPr>
          <a:lstStyle/>
          <a:p>
            <a:r>
              <a:rPr lang="en-US" sz="3200" baseline="0" dirty="0">
                <a:solidFill>
                  <a:schemeClr val="folHlink"/>
                </a:solidFill>
                <a:latin typeface="Tw Cen MT" panose="020B0602020104020603" pitchFamily="34" charset="0"/>
              </a:rPr>
              <a:t>Addition</a:t>
            </a:r>
          </a:p>
        </p:txBody>
      </p:sp>
      <p:sp>
        <p:nvSpPr>
          <p:cNvPr id="38924" name="Line 12"/>
          <p:cNvSpPr>
            <a:spLocks noChangeShapeType="1"/>
          </p:cNvSpPr>
          <p:nvPr/>
        </p:nvSpPr>
        <p:spPr bwMode="auto">
          <a:xfrm>
            <a:off x="457200" y="2057400"/>
            <a:ext cx="8153400" cy="0"/>
          </a:xfrm>
          <a:prstGeom prst="line">
            <a:avLst/>
          </a:prstGeom>
          <a:noFill/>
          <a:ln w="76200">
            <a:solidFill>
              <a:srgbClr val="009900"/>
            </a:solidFill>
            <a:round/>
            <a:headEnd/>
            <a:tailEnd/>
          </a:ln>
        </p:spPr>
        <p:txBody>
          <a:bodyPr/>
          <a:lstStyle/>
          <a:p>
            <a:endParaRPr lang="en-US">
              <a:latin typeface="Tw Cen MT" panose="020B0602020104020603" pitchFamily="34" charset="0"/>
            </a:endParaRPr>
          </a:p>
        </p:txBody>
      </p:sp>
      <p:sp>
        <p:nvSpPr>
          <p:cNvPr id="38925" name="Line 13"/>
          <p:cNvSpPr>
            <a:spLocks noChangeShapeType="1"/>
          </p:cNvSpPr>
          <p:nvPr/>
        </p:nvSpPr>
        <p:spPr bwMode="auto">
          <a:xfrm>
            <a:off x="458788" y="3276600"/>
            <a:ext cx="8153400" cy="0"/>
          </a:xfrm>
          <a:prstGeom prst="line">
            <a:avLst/>
          </a:prstGeom>
          <a:noFill/>
          <a:ln w="76200">
            <a:solidFill>
              <a:srgbClr val="009900"/>
            </a:solidFill>
            <a:round/>
            <a:headEnd/>
            <a:tailEnd/>
          </a:ln>
        </p:spPr>
        <p:txBody>
          <a:bodyPr/>
          <a:lstStyle/>
          <a:p>
            <a:endParaRPr lang="en-US">
              <a:latin typeface="Tw Cen MT" panose="020B0602020104020603" pitchFamily="34" charset="0"/>
            </a:endParaRPr>
          </a:p>
        </p:txBody>
      </p:sp>
      <p:sp>
        <p:nvSpPr>
          <p:cNvPr id="38926" name="Rectangle 14"/>
          <p:cNvSpPr>
            <a:spLocks noChangeArrowheads="1"/>
          </p:cNvSpPr>
          <p:nvPr/>
        </p:nvSpPr>
        <p:spPr bwMode="auto">
          <a:xfrm>
            <a:off x="495300" y="2149475"/>
            <a:ext cx="8077200" cy="1066800"/>
          </a:xfrm>
          <a:prstGeom prst="rect">
            <a:avLst/>
          </a:prstGeom>
          <a:solidFill>
            <a:srgbClr val="99FF33"/>
          </a:solidFill>
          <a:ln w="76200" algn="ctr">
            <a:noFill/>
            <a:miter lim="800000"/>
            <a:headEnd/>
            <a:tailEnd/>
          </a:ln>
        </p:spPr>
        <p:txBody>
          <a:bodyPr>
            <a:spAutoFit/>
          </a:bodyPr>
          <a:lstStyle/>
          <a:p>
            <a:pPr algn="ctr"/>
            <a:r>
              <a:rPr lang="en-US" sz="3200" baseline="0">
                <a:latin typeface="Tw Cen MT" panose="020B0602020104020603" pitchFamily="34" charset="0"/>
              </a:rPr>
              <a:t>Addition and subtraction operations on polynomials are the same operation.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1147763" y="533400"/>
            <a:ext cx="1390124" cy="523220"/>
          </a:xfrm>
          <a:prstGeom prst="rect">
            <a:avLst/>
          </a:prstGeom>
          <a:noFill/>
          <a:ln w="9525">
            <a:noFill/>
            <a:miter lim="800000"/>
            <a:headEnd/>
            <a:tailEnd/>
          </a:ln>
        </p:spPr>
        <p:txBody>
          <a:bodyPr wrap="none">
            <a:spAutoFit/>
          </a:bodyPr>
          <a:lstStyle/>
          <a:p>
            <a:r>
              <a:rPr lang="en-US" sz="2800" baseline="0" dirty="0">
                <a:solidFill>
                  <a:schemeClr val="folHlink"/>
                </a:solidFill>
                <a:latin typeface="Tw Cen MT" panose="020B0602020104020603" pitchFamily="34" charset="0"/>
              </a:rPr>
              <a:t>Addition</a:t>
            </a:r>
          </a:p>
        </p:txBody>
      </p:sp>
      <p:sp>
        <p:nvSpPr>
          <p:cNvPr id="6" name="Rectangle 11"/>
          <p:cNvSpPr>
            <a:spLocks noChangeArrowheads="1"/>
          </p:cNvSpPr>
          <p:nvPr/>
        </p:nvSpPr>
        <p:spPr bwMode="auto">
          <a:xfrm>
            <a:off x="152400" y="1020758"/>
            <a:ext cx="8839200" cy="1708160"/>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800" baseline="0" dirty="0">
                <a:latin typeface="Tw Cen MT" panose="020B0602020104020603" pitchFamily="34" charset="0"/>
              </a:rPr>
              <a:t>Let us do (x</a:t>
            </a:r>
            <a:r>
              <a:rPr lang="en-US" sz="2800" baseline="30000" dirty="0">
                <a:latin typeface="Tw Cen MT" panose="020B0602020104020603" pitchFamily="34" charset="0"/>
              </a:rPr>
              <a:t>5</a:t>
            </a:r>
            <a:r>
              <a:rPr lang="en-US" sz="2800" baseline="0" dirty="0">
                <a:latin typeface="Tw Cen MT" panose="020B0602020104020603" pitchFamily="34" charset="0"/>
              </a:rPr>
              <a:t> + x</a:t>
            </a:r>
            <a:r>
              <a:rPr lang="en-US" sz="2800" baseline="30000" dirty="0">
                <a:latin typeface="Tw Cen MT" panose="020B0602020104020603" pitchFamily="34" charset="0"/>
              </a:rPr>
              <a:t>2</a:t>
            </a:r>
            <a:r>
              <a:rPr lang="en-US" sz="2800" baseline="0" dirty="0">
                <a:latin typeface="Tw Cen MT" panose="020B0602020104020603" pitchFamily="34" charset="0"/>
              </a:rPr>
              <a:t> + x)</a:t>
            </a:r>
            <a:r>
              <a:rPr lang="en-US" sz="2800" dirty="0">
                <a:latin typeface="Symbol" panose="05050102010706020507" pitchFamily="18" charset="2"/>
              </a:rPr>
              <a:t> Å</a:t>
            </a:r>
            <a:r>
              <a:rPr lang="en-US" sz="2800" baseline="0" dirty="0">
                <a:latin typeface="Tw Cen MT" panose="020B0602020104020603" pitchFamily="34" charset="0"/>
              </a:rPr>
              <a:t>  (x</a:t>
            </a:r>
            <a:r>
              <a:rPr lang="en-US" sz="2800" baseline="30000" dirty="0">
                <a:latin typeface="Tw Cen MT" panose="020B0602020104020603" pitchFamily="34" charset="0"/>
              </a:rPr>
              <a:t>3</a:t>
            </a:r>
            <a:r>
              <a:rPr lang="en-US" sz="2800" baseline="0" dirty="0">
                <a:latin typeface="Tw Cen MT" panose="020B0602020104020603" pitchFamily="34" charset="0"/>
              </a:rPr>
              <a:t> + x</a:t>
            </a:r>
            <a:r>
              <a:rPr lang="en-US" sz="2800" baseline="30000" dirty="0">
                <a:latin typeface="Tw Cen MT" panose="020B0602020104020603" pitchFamily="34" charset="0"/>
              </a:rPr>
              <a:t>2</a:t>
            </a:r>
            <a:r>
              <a:rPr lang="en-US" sz="2800" baseline="0" dirty="0">
                <a:latin typeface="Tw Cen MT" panose="020B0602020104020603" pitchFamily="34" charset="0"/>
              </a:rPr>
              <a:t> + 1) in GF(2</a:t>
            </a:r>
            <a:r>
              <a:rPr lang="en-US" sz="2800" baseline="30000" dirty="0">
                <a:latin typeface="Tw Cen MT" panose="020B0602020104020603" pitchFamily="34" charset="0"/>
              </a:rPr>
              <a:t>8</a:t>
            </a:r>
            <a:r>
              <a:rPr lang="en-US" sz="2800" baseline="0" dirty="0">
                <a:latin typeface="Tw Cen MT" panose="020B0602020104020603" pitchFamily="34" charset="0"/>
              </a:rPr>
              <a:t>). We use the symbol </a:t>
            </a:r>
            <a:r>
              <a:rPr lang="en-US" sz="2800" dirty="0">
                <a:latin typeface="Symbol" panose="05050102010706020507" pitchFamily="18" charset="2"/>
              </a:rPr>
              <a:t>Å</a:t>
            </a:r>
            <a:r>
              <a:rPr lang="en-US" sz="2800" baseline="0" dirty="0">
                <a:latin typeface="Tw Cen MT" panose="020B0602020104020603" pitchFamily="34" charset="0"/>
              </a:rPr>
              <a:t> to show that we mean polynomial addition. The following shows the procedure:</a:t>
            </a:r>
          </a:p>
        </p:txBody>
      </p:sp>
      <p:pic>
        <p:nvPicPr>
          <p:cNvPr id="7" name="Picture 14"/>
          <p:cNvPicPr>
            <a:picLocks noChangeAspect="1" noChangeArrowheads="1"/>
          </p:cNvPicPr>
          <p:nvPr/>
        </p:nvPicPr>
        <p:blipFill>
          <a:blip r:embed="rId3"/>
          <a:srcRect/>
          <a:stretch>
            <a:fillRect/>
          </a:stretch>
        </p:blipFill>
        <p:spPr bwMode="auto">
          <a:xfrm>
            <a:off x="762000" y="3781425"/>
            <a:ext cx="7596188" cy="1400175"/>
          </a:xfrm>
          <a:prstGeom prst="rect">
            <a:avLst/>
          </a:prstGeom>
          <a:noFill/>
          <a:ln w="9525">
            <a:noFill/>
            <a:miter lim="800000"/>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1147763" y="533400"/>
            <a:ext cx="1217000" cy="461665"/>
          </a:xfrm>
          <a:prstGeom prst="rect">
            <a:avLst/>
          </a:prstGeom>
          <a:noFill/>
          <a:ln w="9525">
            <a:noFill/>
            <a:miter lim="800000"/>
            <a:headEnd/>
            <a:tailEnd/>
          </a:ln>
        </p:spPr>
        <p:txBody>
          <a:bodyPr wrap="none">
            <a:spAutoFit/>
          </a:bodyPr>
          <a:lstStyle/>
          <a:p>
            <a:r>
              <a:rPr lang="en-US" sz="2400" baseline="0" dirty="0">
                <a:solidFill>
                  <a:schemeClr val="folHlink"/>
                </a:solidFill>
                <a:latin typeface="Tw Cen MT" panose="020B0602020104020603" pitchFamily="34" charset="0"/>
              </a:rPr>
              <a:t>Addition</a:t>
            </a:r>
          </a:p>
        </p:txBody>
      </p:sp>
      <p:sp>
        <p:nvSpPr>
          <p:cNvPr id="5" name="Rectangle 11"/>
          <p:cNvSpPr>
            <a:spLocks noChangeArrowheads="1"/>
          </p:cNvSpPr>
          <p:nvPr/>
        </p:nvSpPr>
        <p:spPr bwMode="auto">
          <a:xfrm>
            <a:off x="368490" y="1037137"/>
            <a:ext cx="8352429" cy="4266296"/>
          </a:xfrm>
          <a:prstGeom prst="rect">
            <a:avLst/>
          </a:prstGeom>
          <a:noFill/>
          <a:ln w="9525">
            <a:noFill/>
            <a:miter lim="800000"/>
            <a:headEnd/>
            <a:tailEnd/>
          </a:ln>
        </p:spPr>
        <p:txBody>
          <a:bodyPr wrap="square" anchor="ctr">
            <a:spAutoFit/>
          </a:bodyPr>
          <a:lstStyle/>
          <a:p>
            <a:pPr algn="just" eaLnBrk="1" hangingPunct="1">
              <a:lnSpc>
                <a:spcPct val="125000"/>
              </a:lnSpc>
              <a:spcAft>
                <a:spcPct val="70000"/>
              </a:spcAft>
            </a:pPr>
            <a:r>
              <a:rPr lang="en-US" sz="2400" baseline="0" dirty="0">
                <a:latin typeface="Tw Cen MT" panose="020B0602020104020603" pitchFamily="34" charset="0"/>
              </a:rPr>
              <a:t>There is also another short cut. Because the addition in GF(2) means the exclusive-or (XOR) operation. So we can exclusive-or the two words, </a:t>
            </a:r>
            <a:r>
              <a:rPr lang="en-US" sz="2400" baseline="0" dirty="0">
                <a:solidFill>
                  <a:srgbClr val="FF0000"/>
                </a:solidFill>
                <a:latin typeface="Tw Cen MT" panose="020B0602020104020603" pitchFamily="34" charset="0"/>
              </a:rPr>
              <a:t>bits by bits</a:t>
            </a:r>
            <a:r>
              <a:rPr lang="en-US" sz="2400" baseline="0" dirty="0">
                <a:latin typeface="Tw Cen MT" panose="020B0602020104020603" pitchFamily="34" charset="0"/>
              </a:rPr>
              <a:t>, to get the result. In the previous example, </a:t>
            </a:r>
            <a:r>
              <a:rPr lang="en-US" sz="2400" i="1" baseline="0" dirty="0">
                <a:latin typeface="Tw Cen MT" panose="020B0602020104020603" pitchFamily="34" charset="0"/>
              </a:rPr>
              <a:t>x</a:t>
            </a:r>
            <a:r>
              <a:rPr lang="en-US" sz="2400" baseline="30000" dirty="0">
                <a:latin typeface="Tw Cen MT" panose="020B0602020104020603" pitchFamily="34" charset="0"/>
              </a:rPr>
              <a:t>5</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30000" dirty="0">
                <a:latin typeface="Tw Cen MT" panose="020B0602020104020603" pitchFamily="34" charset="0"/>
              </a:rPr>
              <a:t>2</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0" dirty="0">
                <a:latin typeface="Tw Cen MT" panose="020B0602020104020603" pitchFamily="34" charset="0"/>
              </a:rPr>
              <a:t> is 00100110 and </a:t>
            </a:r>
            <a:r>
              <a:rPr lang="en-US" sz="2400" i="1" baseline="0" dirty="0">
                <a:latin typeface="Tw Cen MT" panose="020B0602020104020603" pitchFamily="34" charset="0"/>
              </a:rPr>
              <a:t>x</a:t>
            </a:r>
            <a:r>
              <a:rPr lang="en-US" sz="2400" baseline="30000" dirty="0">
                <a:latin typeface="Tw Cen MT" panose="020B0602020104020603" pitchFamily="34" charset="0"/>
              </a:rPr>
              <a:t>3</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30000" dirty="0">
                <a:latin typeface="Tw Cen MT" panose="020B0602020104020603" pitchFamily="34" charset="0"/>
              </a:rPr>
              <a:t>2</a:t>
            </a:r>
            <a:r>
              <a:rPr lang="en-US" sz="2400" baseline="0" dirty="0">
                <a:latin typeface="Tw Cen MT" panose="020B0602020104020603" pitchFamily="34" charset="0"/>
              </a:rPr>
              <a:t> + 1 is 00001101. The result is 00101011 or in polynomial notation </a:t>
            </a:r>
            <a:r>
              <a:rPr lang="en-US" sz="2400" i="1" baseline="0" dirty="0">
                <a:latin typeface="Tw Cen MT" panose="020B0602020104020603" pitchFamily="34" charset="0"/>
              </a:rPr>
              <a:t>x</a:t>
            </a:r>
            <a:r>
              <a:rPr lang="en-US" sz="2400" baseline="30000" dirty="0">
                <a:latin typeface="Tw Cen MT" panose="020B0602020104020603" pitchFamily="34" charset="0"/>
              </a:rPr>
              <a:t>5</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30000" dirty="0">
                <a:latin typeface="Tw Cen MT" panose="020B0602020104020603" pitchFamily="34" charset="0"/>
              </a:rPr>
              <a:t>3</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0" dirty="0">
                <a:latin typeface="Tw Cen MT" panose="020B0602020104020603" pitchFamily="34" charset="0"/>
              </a:rPr>
              <a:t> + 1.</a:t>
            </a:r>
          </a:p>
          <a:p>
            <a:pPr algn="just" eaLnBrk="1" hangingPunct="1">
              <a:lnSpc>
                <a:spcPct val="125000"/>
              </a:lnSpc>
              <a:spcAft>
                <a:spcPct val="70000"/>
              </a:spcAft>
            </a:pPr>
            <a:endParaRPr lang="en-US" sz="2400" dirty="0">
              <a:latin typeface="Tw Cen MT" panose="020B0602020104020603" pitchFamily="34" charset="0"/>
            </a:endParaRPr>
          </a:p>
          <a:p>
            <a:pPr algn="just" eaLnBrk="1" hangingPunct="1">
              <a:lnSpc>
                <a:spcPct val="125000"/>
              </a:lnSpc>
              <a:spcAft>
                <a:spcPct val="70000"/>
              </a:spcAft>
            </a:pPr>
            <a:r>
              <a:rPr lang="en-US" sz="2400" baseline="0" dirty="0">
                <a:latin typeface="Tw Cen MT" panose="020B0602020104020603" pitchFamily="34" charset="0"/>
              </a:rPr>
              <a:t>Additive identity:</a:t>
            </a:r>
            <a:r>
              <a:rPr lang="en-US" sz="2400" dirty="0">
                <a:latin typeface="Tw Cen MT" panose="020B0602020104020603" pitchFamily="34" charset="0"/>
              </a:rPr>
              <a:t> is a zero polynomial. (adding a polynomial with </a:t>
            </a:r>
            <a:r>
              <a:rPr lang="en-US" sz="2400" dirty="0" err="1">
                <a:latin typeface="Tw Cen MT" panose="020B0602020104020603" pitchFamily="34" charset="0"/>
              </a:rPr>
              <a:t>itelf</a:t>
            </a:r>
            <a:r>
              <a:rPr lang="en-US" sz="2400" dirty="0">
                <a:latin typeface="Tw Cen MT" panose="020B0602020104020603" pitchFamily="34" charset="0"/>
              </a:rPr>
              <a:t>)</a:t>
            </a:r>
            <a:endParaRPr lang="en-US" sz="2400" baseline="0" dirty="0">
              <a:latin typeface="Tw Cen MT" panose="020B0602020104020603"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741528" y="825787"/>
            <a:ext cx="2345514" cy="584775"/>
          </a:xfrm>
          <a:prstGeom prst="rect">
            <a:avLst/>
          </a:prstGeom>
          <a:noFill/>
          <a:ln w="9525">
            <a:noFill/>
            <a:miter lim="800000"/>
            <a:headEnd/>
            <a:tailEnd/>
          </a:ln>
        </p:spPr>
        <p:txBody>
          <a:bodyPr wrap="none">
            <a:spAutoFit/>
          </a:bodyPr>
          <a:lstStyle/>
          <a:p>
            <a:r>
              <a:rPr lang="en-US" sz="3200" dirty="0">
                <a:solidFill>
                  <a:schemeClr val="folHlink"/>
                </a:solidFill>
                <a:latin typeface="Tw Cen MT" panose="020B0602020104020603" pitchFamily="34" charset="0"/>
              </a:rPr>
              <a:t>Multiplication</a:t>
            </a:r>
            <a:endParaRPr lang="en-US" sz="3200" baseline="0" dirty="0">
              <a:solidFill>
                <a:schemeClr val="folHlink"/>
              </a:solidFill>
              <a:latin typeface="Tw Cen MT" panose="020B0602020104020603" pitchFamily="34" charset="0"/>
            </a:endParaRPr>
          </a:p>
        </p:txBody>
      </p:sp>
      <p:sp>
        <p:nvSpPr>
          <p:cNvPr id="4" name="Rectangle 10"/>
          <p:cNvSpPr>
            <a:spLocks noChangeArrowheads="1"/>
          </p:cNvSpPr>
          <p:nvPr/>
        </p:nvSpPr>
        <p:spPr bwMode="auto">
          <a:xfrm>
            <a:off x="741528" y="1966997"/>
            <a:ext cx="7938448" cy="461665"/>
          </a:xfrm>
          <a:prstGeom prst="rect">
            <a:avLst/>
          </a:prstGeom>
          <a:noFill/>
          <a:ln w="9525">
            <a:noFill/>
            <a:miter lim="800000"/>
            <a:headEnd/>
            <a:tailEnd/>
          </a:ln>
        </p:spPr>
        <p:txBody>
          <a:bodyPr wrap="square" anchor="ctr">
            <a:spAutoFit/>
          </a:bodyPr>
          <a:lstStyle/>
          <a:p>
            <a:pPr algn="just" eaLnBrk="1" hangingPunct="1"/>
            <a:r>
              <a:rPr lang="en-US" sz="2400" baseline="0" dirty="0">
                <a:solidFill>
                  <a:schemeClr val="hlink"/>
                </a:solidFill>
                <a:latin typeface="Tw Cen MT" panose="020B0602020104020603" pitchFamily="34" charset="0"/>
              </a:rPr>
              <a:t>1.</a:t>
            </a:r>
            <a:r>
              <a:rPr lang="en-US" sz="2400" baseline="0" dirty="0">
                <a:latin typeface="Tw Cen MT" panose="020B0602020104020603" pitchFamily="34" charset="0"/>
              </a:rPr>
              <a:t> The coefficient multiplication is done in GF(2). </a:t>
            </a:r>
          </a:p>
        </p:txBody>
      </p:sp>
      <p:sp>
        <p:nvSpPr>
          <p:cNvPr id="6" name="Rectangle 18"/>
          <p:cNvSpPr>
            <a:spLocks noChangeArrowheads="1"/>
          </p:cNvSpPr>
          <p:nvPr/>
        </p:nvSpPr>
        <p:spPr bwMode="auto">
          <a:xfrm>
            <a:off x="741528" y="3701102"/>
            <a:ext cx="7938448" cy="1200329"/>
          </a:xfrm>
          <a:prstGeom prst="rect">
            <a:avLst/>
          </a:prstGeom>
          <a:noFill/>
          <a:ln w="9525">
            <a:noFill/>
            <a:miter lim="800000"/>
            <a:headEnd/>
            <a:tailEnd/>
          </a:ln>
        </p:spPr>
        <p:txBody>
          <a:bodyPr wrap="square" anchor="ctr">
            <a:spAutoFit/>
          </a:bodyPr>
          <a:lstStyle/>
          <a:p>
            <a:pPr algn="just" eaLnBrk="1" hangingPunct="1"/>
            <a:r>
              <a:rPr lang="en-US" sz="2400" baseline="0" dirty="0">
                <a:solidFill>
                  <a:schemeClr val="hlink"/>
                </a:solidFill>
                <a:latin typeface="Tw Cen MT" panose="020B0602020104020603" pitchFamily="34" charset="0"/>
              </a:rPr>
              <a:t>3.</a:t>
            </a:r>
            <a:r>
              <a:rPr lang="en-US" sz="2400" baseline="0" dirty="0">
                <a:latin typeface="Tw Cen MT" panose="020B0602020104020603" pitchFamily="34" charset="0"/>
              </a:rPr>
              <a:t> The multiplication may create terms with degree more than </a:t>
            </a:r>
            <a:r>
              <a:rPr lang="en-US" sz="2400" i="1" baseline="0" dirty="0">
                <a:latin typeface="Tw Cen MT" panose="020B0602020104020603" pitchFamily="34" charset="0"/>
              </a:rPr>
              <a:t>n</a:t>
            </a:r>
            <a:r>
              <a:rPr lang="en-US" sz="2400" baseline="0" dirty="0">
                <a:latin typeface="Tw Cen MT" panose="020B0602020104020603" pitchFamily="34" charset="0"/>
              </a:rPr>
              <a:t> − 1, which means the result needs to be reduced using a modulus polynomial.</a:t>
            </a:r>
          </a:p>
        </p:txBody>
      </p:sp>
      <p:sp>
        <p:nvSpPr>
          <p:cNvPr id="7" name="Rectangle 19"/>
          <p:cNvSpPr>
            <a:spLocks noChangeArrowheads="1"/>
          </p:cNvSpPr>
          <p:nvPr/>
        </p:nvSpPr>
        <p:spPr bwMode="auto">
          <a:xfrm>
            <a:off x="741528" y="2652797"/>
            <a:ext cx="7938448" cy="461665"/>
          </a:xfrm>
          <a:prstGeom prst="rect">
            <a:avLst/>
          </a:prstGeom>
          <a:noFill/>
          <a:ln w="9525">
            <a:noFill/>
            <a:miter lim="800000"/>
            <a:headEnd/>
            <a:tailEnd/>
          </a:ln>
        </p:spPr>
        <p:txBody>
          <a:bodyPr wrap="square" anchor="ctr">
            <a:spAutoFit/>
          </a:bodyPr>
          <a:lstStyle/>
          <a:p>
            <a:pPr algn="just" eaLnBrk="1" hangingPunct="1"/>
            <a:r>
              <a:rPr lang="en-US" sz="2400" baseline="0">
                <a:solidFill>
                  <a:schemeClr val="hlink"/>
                </a:solidFill>
                <a:latin typeface="Tw Cen MT" panose="020B0602020104020603" pitchFamily="34" charset="0"/>
              </a:rPr>
              <a:t>2.</a:t>
            </a:r>
            <a:r>
              <a:rPr lang="en-US" sz="2400" baseline="0">
                <a:latin typeface="Tw Cen MT" panose="020B0602020104020603" pitchFamily="34" charset="0"/>
              </a:rPr>
              <a:t> The multiplying </a:t>
            </a:r>
            <a:r>
              <a:rPr lang="en-US" sz="2400" i="1" baseline="0">
                <a:latin typeface="Tw Cen MT" panose="020B0602020104020603" pitchFamily="34" charset="0"/>
              </a:rPr>
              <a:t>x</a:t>
            </a:r>
            <a:r>
              <a:rPr lang="en-US" sz="2400" i="1" baseline="30000">
                <a:latin typeface="Tw Cen MT" panose="020B0602020104020603" pitchFamily="34" charset="0"/>
              </a:rPr>
              <a:t>i</a:t>
            </a:r>
            <a:r>
              <a:rPr lang="en-US" sz="2400" baseline="0">
                <a:latin typeface="Tw Cen MT" panose="020B0602020104020603" pitchFamily="34" charset="0"/>
              </a:rPr>
              <a:t> by </a:t>
            </a:r>
            <a:r>
              <a:rPr lang="en-US" sz="2400" i="1" baseline="0">
                <a:latin typeface="Tw Cen MT" panose="020B0602020104020603" pitchFamily="34" charset="0"/>
              </a:rPr>
              <a:t>x</a:t>
            </a:r>
            <a:r>
              <a:rPr lang="en-US" sz="2400" i="1" baseline="30000">
                <a:latin typeface="Tw Cen MT" panose="020B0602020104020603" pitchFamily="34" charset="0"/>
              </a:rPr>
              <a:t>j</a:t>
            </a:r>
            <a:r>
              <a:rPr lang="en-US" sz="2400" baseline="0">
                <a:latin typeface="Tw Cen MT" panose="020B0602020104020603" pitchFamily="34" charset="0"/>
              </a:rPr>
              <a:t> results in </a:t>
            </a:r>
            <a:r>
              <a:rPr lang="en-US" sz="2400" i="1" baseline="0">
                <a:latin typeface="Tw Cen MT" panose="020B0602020104020603" pitchFamily="34" charset="0"/>
              </a:rPr>
              <a:t>x</a:t>
            </a:r>
            <a:r>
              <a:rPr lang="en-US" sz="2400" i="1" baseline="30000">
                <a:latin typeface="Tw Cen MT" panose="020B0602020104020603" pitchFamily="34" charset="0"/>
              </a:rPr>
              <a:t>i</a:t>
            </a:r>
            <a:r>
              <a:rPr lang="en-US" sz="2400" baseline="30000">
                <a:latin typeface="Tw Cen MT" panose="020B0602020104020603" pitchFamily="34" charset="0"/>
              </a:rPr>
              <a:t>+</a:t>
            </a:r>
            <a:r>
              <a:rPr lang="en-US" sz="2400" i="1" baseline="30000">
                <a:latin typeface="Tw Cen MT" panose="020B0602020104020603" pitchFamily="34" charset="0"/>
              </a:rPr>
              <a:t>j</a:t>
            </a:r>
            <a:r>
              <a:rPr lang="en-US" sz="2400" baseline="0">
                <a:latin typeface="Tw Cen MT" panose="020B0602020104020603" pitchFamily="34" charset="0"/>
              </a:rPr>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1147763" y="533400"/>
            <a:ext cx="1806905" cy="461665"/>
          </a:xfrm>
          <a:prstGeom prst="rect">
            <a:avLst/>
          </a:prstGeom>
          <a:noFill/>
          <a:ln w="9525">
            <a:noFill/>
            <a:miter lim="800000"/>
            <a:headEnd/>
            <a:tailEnd/>
          </a:ln>
        </p:spPr>
        <p:txBody>
          <a:bodyPr wrap="none">
            <a:spAutoFit/>
          </a:bodyPr>
          <a:lstStyle/>
          <a:p>
            <a:r>
              <a:rPr lang="en-US" sz="2400" dirty="0">
                <a:solidFill>
                  <a:schemeClr val="folHlink"/>
                </a:solidFill>
                <a:latin typeface="Tw Cen MT" panose="020B0602020104020603" pitchFamily="34" charset="0"/>
              </a:rPr>
              <a:t>Multiplication</a:t>
            </a:r>
            <a:endParaRPr lang="en-US" sz="2400" baseline="0" dirty="0">
              <a:solidFill>
                <a:schemeClr val="folHlink"/>
              </a:solidFill>
              <a:latin typeface="Tw Cen MT" panose="020B0602020104020603" pitchFamily="34" charset="0"/>
            </a:endParaRPr>
          </a:p>
        </p:txBody>
      </p:sp>
      <p:sp>
        <p:nvSpPr>
          <p:cNvPr id="8" name="Rectangle 11"/>
          <p:cNvSpPr>
            <a:spLocks noChangeArrowheads="1"/>
          </p:cNvSpPr>
          <p:nvPr/>
        </p:nvSpPr>
        <p:spPr bwMode="auto">
          <a:xfrm>
            <a:off x="152400" y="1231513"/>
            <a:ext cx="8839200" cy="1439048"/>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a:latin typeface="Tw Cen MT" panose="020B0602020104020603" pitchFamily="34" charset="0"/>
              </a:rPr>
              <a:t>Find the result of (</a:t>
            </a:r>
            <a:r>
              <a:rPr lang="en-US" sz="2400" i="1" baseline="0">
                <a:latin typeface="Tw Cen MT" panose="020B0602020104020603" pitchFamily="34" charset="0"/>
              </a:rPr>
              <a:t>x</a:t>
            </a:r>
            <a:r>
              <a:rPr lang="en-US" sz="2400" baseline="30000">
                <a:latin typeface="Tw Cen MT" panose="020B0602020104020603" pitchFamily="34" charset="0"/>
              </a:rPr>
              <a:t>5</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2</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7</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4</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3</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2</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0">
                <a:latin typeface="Tw Cen MT" panose="020B0602020104020603" pitchFamily="34" charset="0"/>
              </a:rPr>
              <a:t>) in GF(2</a:t>
            </a:r>
            <a:r>
              <a:rPr lang="en-US" sz="2400" baseline="30000">
                <a:latin typeface="Tw Cen MT" panose="020B0602020104020603" pitchFamily="34" charset="0"/>
              </a:rPr>
              <a:t>8</a:t>
            </a:r>
            <a:r>
              <a:rPr lang="en-US" sz="2400" baseline="0">
                <a:latin typeface="Tw Cen MT" panose="020B0602020104020603" pitchFamily="34" charset="0"/>
              </a:rPr>
              <a:t>) with irreducible polynomial (</a:t>
            </a:r>
            <a:r>
              <a:rPr lang="en-US" sz="2400" i="1" baseline="0">
                <a:latin typeface="Tw Cen MT" panose="020B0602020104020603" pitchFamily="34" charset="0"/>
              </a:rPr>
              <a:t>x</a:t>
            </a:r>
            <a:r>
              <a:rPr lang="en-US" sz="2400" baseline="30000">
                <a:latin typeface="Tw Cen MT" panose="020B0602020104020603" pitchFamily="34" charset="0"/>
              </a:rPr>
              <a:t>8</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4</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3</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0">
                <a:latin typeface="Tw Cen MT" panose="020B0602020104020603" pitchFamily="34" charset="0"/>
              </a:rPr>
              <a:t> + 1). Note that we use the symbol ⊗ to show the multiplication of two polynomials.</a:t>
            </a:r>
          </a:p>
        </p:txBody>
      </p:sp>
      <p:sp>
        <p:nvSpPr>
          <p:cNvPr id="9" name="Text Box 12"/>
          <p:cNvSpPr txBox="1">
            <a:spLocks noChangeArrowheads="1"/>
          </p:cNvSpPr>
          <p:nvPr/>
        </p:nvSpPr>
        <p:spPr bwMode="auto">
          <a:xfrm>
            <a:off x="304800" y="2819400"/>
            <a:ext cx="1133644" cy="461665"/>
          </a:xfrm>
          <a:prstGeom prst="rect">
            <a:avLst/>
          </a:prstGeom>
          <a:noFill/>
          <a:ln w="9525">
            <a:noFill/>
            <a:miter lim="800000"/>
            <a:headEnd/>
            <a:tailEnd/>
          </a:ln>
        </p:spPr>
        <p:txBody>
          <a:bodyPr wrap="none">
            <a:spAutoFit/>
          </a:bodyPr>
          <a:lstStyle/>
          <a:p>
            <a:r>
              <a:rPr lang="en-US" sz="2400" baseline="0">
                <a:solidFill>
                  <a:schemeClr val="hlink"/>
                </a:solidFill>
                <a:latin typeface="Tw Cen MT" panose="020B0602020104020603" pitchFamily="34" charset="0"/>
              </a:rPr>
              <a:t>Solution</a:t>
            </a:r>
          </a:p>
        </p:txBody>
      </p:sp>
      <p:pic>
        <p:nvPicPr>
          <p:cNvPr id="10" name="Picture 13"/>
          <p:cNvPicPr>
            <a:picLocks noChangeAspect="1" noChangeArrowheads="1"/>
          </p:cNvPicPr>
          <p:nvPr/>
        </p:nvPicPr>
        <p:blipFill>
          <a:blip r:embed="rId3"/>
          <a:srcRect/>
          <a:stretch>
            <a:fillRect/>
          </a:stretch>
        </p:blipFill>
        <p:spPr bwMode="auto">
          <a:xfrm>
            <a:off x="274638" y="3429000"/>
            <a:ext cx="8564562" cy="1141413"/>
          </a:xfrm>
          <a:prstGeom prst="rect">
            <a:avLst/>
          </a:prstGeom>
          <a:noFill/>
          <a:ln w="9525">
            <a:noFill/>
            <a:miter lim="800000"/>
            <a:headEnd/>
            <a:tailEnd/>
          </a:ln>
        </p:spPr>
      </p:pic>
      <p:sp>
        <p:nvSpPr>
          <p:cNvPr id="11" name="Rectangle 14"/>
          <p:cNvSpPr>
            <a:spLocks noChangeArrowheads="1"/>
          </p:cNvSpPr>
          <p:nvPr/>
        </p:nvSpPr>
        <p:spPr bwMode="auto">
          <a:xfrm>
            <a:off x="152400" y="4513090"/>
            <a:ext cx="8839200" cy="1477328"/>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dirty="0">
                <a:solidFill>
                  <a:srgbClr val="FF0000"/>
                </a:solidFill>
                <a:latin typeface="Tw Cen MT" panose="020B0602020104020603" pitchFamily="34" charset="0"/>
              </a:rPr>
              <a:t>To find the final result</a:t>
            </a:r>
            <a:r>
              <a:rPr lang="en-US" sz="2400" baseline="0" dirty="0">
                <a:latin typeface="Tw Cen MT" panose="020B0602020104020603" pitchFamily="34" charset="0"/>
              </a:rPr>
              <a:t>, divide the polynomial of degree 12 by the polynomial of degree 8 (the modulus) and keep only the remainder. Figure  shows the process of division.  </a:t>
            </a:r>
            <a:r>
              <a:rPr lang="en-US" sz="2400" b="1" baseline="0" dirty="0">
                <a:solidFill>
                  <a:srgbClr val="FF0000"/>
                </a:solidFill>
                <a:latin typeface="Tw Cen MT" panose="020B0602020104020603" pitchFamily="34" charset="0"/>
              </a:rPr>
              <a:t>Next Slide -&gt;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1147763" y="533400"/>
            <a:ext cx="7078797" cy="584775"/>
          </a:xfrm>
          <a:prstGeom prst="rect">
            <a:avLst/>
          </a:prstGeom>
          <a:noFill/>
          <a:ln w="9525">
            <a:noFill/>
            <a:miter lim="800000"/>
            <a:headEnd/>
            <a:tailEnd/>
          </a:ln>
        </p:spPr>
        <p:txBody>
          <a:bodyPr wrap="none">
            <a:spAutoFit/>
          </a:bodyPr>
          <a:lstStyle/>
          <a:p>
            <a:r>
              <a:rPr lang="en-US" sz="3200" dirty="0">
                <a:solidFill>
                  <a:schemeClr val="folHlink"/>
                </a:solidFill>
                <a:latin typeface="Tw Cen MT" panose="020B0602020104020603" pitchFamily="34" charset="0"/>
              </a:rPr>
              <a:t>Polynomial Division (</a:t>
            </a:r>
            <a:r>
              <a:rPr lang="en-US" sz="3200" dirty="0">
                <a:solidFill>
                  <a:srgbClr val="FF0000"/>
                </a:solidFill>
                <a:latin typeface="Tw Cen MT" panose="020B0602020104020603" pitchFamily="34" charset="0"/>
              </a:rPr>
              <a:t>Cont. from prev. slide</a:t>
            </a:r>
            <a:r>
              <a:rPr lang="en-US" sz="3200" dirty="0">
                <a:solidFill>
                  <a:schemeClr val="folHlink"/>
                </a:solidFill>
                <a:latin typeface="Tw Cen MT" panose="020B0602020104020603" pitchFamily="34" charset="0"/>
              </a:rPr>
              <a:t>)</a:t>
            </a:r>
            <a:endParaRPr lang="en-US" sz="3200" baseline="0" dirty="0">
              <a:solidFill>
                <a:schemeClr val="folHlink"/>
              </a:solidFill>
              <a:latin typeface="Tw Cen MT" panose="020B0602020104020603" pitchFamily="34" charset="0"/>
            </a:endParaRPr>
          </a:p>
        </p:txBody>
      </p:sp>
      <p:pic>
        <p:nvPicPr>
          <p:cNvPr id="7" name="Picture 15"/>
          <p:cNvPicPr>
            <a:picLocks noChangeAspect="1" noChangeArrowheads="1"/>
          </p:cNvPicPr>
          <p:nvPr/>
        </p:nvPicPr>
        <p:blipFill>
          <a:blip r:embed="rId3"/>
          <a:srcRect/>
          <a:stretch>
            <a:fillRect/>
          </a:stretch>
        </p:blipFill>
        <p:spPr bwMode="auto">
          <a:xfrm>
            <a:off x="1008063" y="1462088"/>
            <a:ext cx="7127875" cy="3932237"/>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1147763" y="533400"/>
            <a:ext cx="2616422" cy="461665"/>
          </a:xfrm>
          <a:prstGeom prst="rect">
            <a:avLst/>
          </a:prstGeom>
          <a:noFill/>
          <a:ln w="9525">
            <a:noFill/>
            <a:miter lim="800000"/>
            <a:headEnd/>
            <a:tailEnd/>
          </a:ln>
        </p:spPr>
        <p:txBody>
          <a:bodyPr wrap="none">
            <a:spAutoFit/>
          </a:bodyPr>
          <a:lstStyle/>
          <a:p>
            <a:r>
              <a:rPr lang="en-US" sz="2400" dirty="0">
                <a:solidFill>
                  <a:schemeClr val="folHlink"/>
                </a:solidFill>
                <a:latin typeface="Tw Cen MT" panose="020B0602020104020603" pitchFamily="34" charset="0"/>
              </a:rPr>
              <a:t>Multiplication (cont.)</a:t>
            </a:r>
            <a:endParaRPr lang="en-US" sz="2400" baseline="0" dirty="0">
              <a:solidFill>
                <a:schemeClr val="folHlink"/>
              </a:solidFill>
              <a:latin typeface="Tw Cen MT" panose="020B0602020104020603" pitchFamily="34" charset="0"/>
            </a:endParaRPr>
          </a:p>
        </p:txBody>
      </p:sp>
      <p:sp>
        <p:nvSpPr>
          <p:cNvPr id="4" name="Rectangle 11"/>
          <p:cNvSpPr>
            <a:spLocks noChangeArrowheads="1"/>
          </p:cNvSpPr>
          <p:nvPr/>
        </p:nvSpPr>
        <p:spPr bwMode="auto">
          <a:xfrm>
            <a:off x="228600" y="1327702"/>
            <a:ext cx="8839200" cy="553998"/>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dirty="0">
                <a:latin typeface="Tw Cen MT" panose="020B0602020104020603" pitchFamily="34" charset="0"/>
              </a:rPr>
              <a:t>In GF (2</a:t>
            </a:r>
            <a:r>
              <a:rPr lang="en-US" sz="2400" baseline="30000" dirty="0">
                <a:latin typeface="Tw Cen MT" panose="020B0602020104020603" pitchFamily="34" charset="0"/>
              </a:rPr>
              <a:t>4</a:t>
            </a:r>
            <a:r>
              <a:rPr lang="en-US" sz="2400" baseline="0" dirty="0">
                <a:latin typeface="Tw Cen MT" panose="020B0602020104020603" pitchFamily="34" charset="0"/>
              </a:rPr>
              <a:t>), find the inverse of (</a:t>
            </a:r>
            <a:r>
              <a:rPr lang="en-US" sz="2400" i="1" baseline="0" dirty="0">
                <a:latin typeface="Tw Cen MT" panose="020B0602020104020603" pitchFamily="34" charset="0"/>
              </a:rPr>
              <a:t>x</a:t>
            </a:r>
            <a:r>
              <a:rPr lang="en-US" sz="2400" baseline="30000" dirty="0">
                <a:latin typeface="Tw Cen MT" panose="020B0602020104020603" pitchFamily="34" charset="0"/>
              </a:rPr>
              <a:t>2</a:t>
            </a:r>
            <a:r>
              <a:rPr lang="en-US" sz="2400" baseline="0" dirty="0">
                <a:latin typeface="Tw Cen MT" panose="020B0602020104020603" pitchFamily="34" charset="0"/>
              </a:rPr>
              <a:t> + 1) modulo (</a:t>
            </a:r>
            <a:r>
              <a:rPr lang="en-US" sz="2400" i="1" baseline="0" dirty="0">
                <a:latin typeface="Tw Cen MT" panose="020B0602020104020603" pitchFamily="34" charset="0"/>
              </a:rPr>
              <a:t>x</a:t>
            </a:r>
            <a:r>
              <a:rPr lang="en-US" sz="2400" baseline="30000" dirty="0">
                <a:latin typeface="Tw Cen MT" panose="020B0602020104020603" pitchFamily="34" charset="0"/>
              </a:rPr>
              <a:t>4</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0" dirty="0">
                <a:latin typeface="Tw Cen MT" panose="020B0602020104020603" pitchFamily="34" charset="0"/>
              </a:rPr>
              <a:t> + 1).</a:t>
            </a:r>
          </a:p>
        </p:txBody>
      </p:sp>
      <p:sp>
        <p:nvSpPr>
          <p:cNvPr id="5" name="Text Box 12"/>
          <p:cNvSpPr txBox="1">
            <a:spLocks noChangeArrowheads="1"/>
          </p:cNvSpPr>
          <p:nvPr/>
        </p:nvSpPr>
        <p:spPr bwMode="auto">
          <a:xfrm>
            <a:off x="228600" y="2057400"/>
            <a:ext cx="1133644" cy="461665"/>
          </a:xfrm>
          <a:prstGeom prst="rect">
            <a:avLst/>
          </a:prstGeom>
          <a:noFill/>
          <a:ln w="9525">
            <a:noFill/>
            <a:miter lim="800000"/>
            <a:headEnd/>
            <a:tailEnd/>
          </a:ln>
        </p:spPr>
        <p:txBody>
          <a:bodyPr wrap="none">
            <a:spAutoFit/>
          </a:bodyPr>
          <a:lstStyle/>
          <a:p>
            <a:r>
              <a:rPr lang="en-US" sz="2400" baseline="0">
                <a:solidFill>
                  <a:schemeClr val="hlink"/>
                </a:solidFill>
                <a:latin typeface="Tw Cen MT" panose="020B0602020104020603" pitchFamily="34" charset="0"/>
              </a:rPr>
              <a:t>Solution</a:t>
            </a:r>
          </a:p>
        </p:txBody>
      </p:sp>
      <p:pic>
        <p:nvPicPr>
          <p:cNvPr id="6" name="Picture 15"/>
          <p:cNvPicPr>
            <a:picLocks noChangeAspect="1" noChangeArrowheads="1"/>
          </p:cNvPicPr>
          <p:nvPr/>
        </p:nvPicPr>
        <p:blipFill>
          <a:blip r:embed="rId3"/>
          <a:srcRect/>
          <a:stretch>
            <a:fillRect/>
          </a:stretch>
        </p:blipFill>
        <p:spPr bwMode="auto">
          <a:xfrm>
            <a:off x="180535" y="3283566"/>
            <a:ext cx="8455025" cy="1893887"/>
          </a:xfrm>
          <a:prstGeom prst="rect">
            <a:avLst/>
          </a:prstGeom>
          <a:noFill/>
          <a:ln w="9525">
            <a:noFill/>
            <a:miter lim="800000"/>
            <a:headEnd/>
            <a:tailEnd/>
          </a:ln>
        </p:spPr>
      </p:pic>
      <p:sp>
        <p:nvSpPr>
          <p:cNvPr id="9" name="Rectangle 18"/>
          <p:cNvSpPr>
            <a:spLocks noChangeArrowheads="1"/>
          </p:cNvSpPr>
          <p:nvPr/>
        </p:nvSpPr>
        <p:spPr bwMode="auto">
          <a:xfrm>
            <a:off x="152400" y="2383027"/>
            <a:ext cx="8839200" cy="517578"/>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dirty="0">
                <a:latin typeface="Tw Cen MT" panose="020B0602020104020603" pitchFamily="34" charset="0"/>
              </a:rPr>
              <a:t>The answer is (</a:t>
            </a:r>
            <a:r>
              <a:rPr lang="en-US" sz="2400" i="1" baseline="0" dirty="0">
                <a:latin typeface="Tw Cen MT" panose="020B0602020104020603" pitchFamily="34" charset="0"/>
              </a:rPr>
              <a:t>x</a:t>
            </a:r>
            <a:r>
              <a:rPr lang="en-US" sz="2400" baseline="30000" dirty="0">
                <a:latin typeface="Tw Cen MT" panose="020B0602020104020603" pitchFamily="34" charset="0"/>
              </a:rPr>
              <a:t>3</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0" dirty="0">
                <a:latin typeface="Tw Cen MT" panose="020B0602020104020603" pitchFamily="34" charset="0"/>
              </a:rPr>
              <a:t> + 1) as shown I the Table (</a:t>
            </a:r>
            <a:r>
              <a:rPr lang="en-US" sz="2400" baseline="0" dirty="0">
                <a:solidFill>
                  <a:srgbClr val="FF0000"/>
                </a:solidFill>
                <a:latin typeface="Tw Cen MT" panose="020B0602020104020603" pitchFamily="34" charset="0"/>
              </a:rPr>
              <a:t>Using Euclidean </a:t>
            </a:r>
            <a:r>
              <a:rPr lang="en-US" sz="2400" baseline="0" dirty="0" err="1">
                <a:solidFill>
                  <a:srgbClr val="FF0000"/>
                </a:solidFill>
                <a:latin typeface="Tw Cen MT" panose="020B0602020104020603" pitchFamily="34" charset="0"/>
              </a:rPr>
              <a:t>Algo</a:t>
            </a:r>
            <a:r>
              <a:rPr lang="en-US" sz="2400" baseline="0" dirty="0">
                <a:solidFill>
                  <a:srgbClr val="FF0000"/>
                </a:solidFill>
                <a:latin typeface="Tw Cen MT" panose="020B0602020104020603" pitchFamily="34" charset="0"/>
              </a:rPr>
              <a:t>.</a:t>
            </a:r>
            <a:r>
              <a:rPr lang="en-US" sz="2400" baseline="0" dirty="0">
                <a:latin typeface="Tw Cen MT" panose="020B0602020104020603" pitchFamily="34" charset="0"/>
              </a:rPr>
              <a:t>).</a:t>
            </a:r>
          </a:p>
        </p:txBody>
      </p:sp>
      <p:sp>
        <p:nvSpPr>
          <p:cNvPr id="7" name="TextBox 6"/>
          <p:cNvSpPr txBox="1"/>
          <p:nvPr/>
        </p:nvSpPr>
        <p:spPr>
          <a:xfrm>
            <a:off x="368490" y="5718412"/>
            <a:ext cx="8338782" cy="923330"/>
          </a:xfrm>
          <a:prstGeom prst="rect">
            <a:avLst/>
          </a:prstGeom>
          <a:noFill/>
        </p:spPr>
        <p:txBody>
          <a:bodyPr wrap="square" rtlCol="0">
            <a:spAutoFit/>
          </a:bodyPr>
          <a:lstStyle/>
          <a:p>
            <a:r>
              <a:rPr lang="en-US" dirty="0">
                <a:latin typeface="Tw Cen MT" panose="020B0602020104020603" pitchFamily="34" charset="0"/>
              </a:rPr>
              <a:t>Multiplicative identity: 1, e.g. in GF (2</a:t>
            </a:r>
            <a:r>
              <a:rPr lang="en-US" baseline="30000" dirty="0">
                <a:latin typeface="Tw Cen MT" panose="020B0602020104020603" pitchFamily="34" charset="0"/>
              </a:rPr>
              <a:t>8</a:t>
            </a:r>
            <a:r>
              <a:rPr lang="en-US" dirty="0">
                <a:latin typeface="Tw Cen MT" panose="020B0602020104020603" pitchFamily="34" charset="0"/>
              </a:rPr>
              <a:t>), it is 00000001</a:t>
            </a:r>
          </a:p>
          <a:p>
            <a:r>
              <a:rPr lang="en-US" dirty="0">
                <a:latin typeface="Tw Cen MT" panose="020B0602020104020603" pitchFamily="34" charset="0"/>
              </a:rPr>
              <a:t>Multiplicative Inverse: Extended </a:t>
            </a:r>
            <a:r>
              <a:rPr lang="en-US" dirty="0" err="1">
                <a:latin typeface="Tw Cen MT" panose="020B0602020104020603" pitchFamily="34" charset="0"/>
              </a:rPr>
              <a:t>Eucleadean</a:t>
            </a:r>
            <a:r>
              <a:rPr lang="en-US" dirty="0">
                <a:latin typeface="Tw Cen MT" panose="020B0602020104020603" pitchFamily="34" charset="0"/>
              </a:rPr>
              <a:t> Algorithm must be applied to the modulus and the </a:t>
            </a:r>
            <a:r>
              <a:rPr lang="en-US" dirty="0" err="1">
                <a:latin typeface="Tw Cen MT" panose="020B0602020104020603" pitchFamily="34" charset="0"/>
              </a:rPr>
              <a:t>polynimials</a:t>
            </a:r>
            <a:r>
              <a:rPr lang="en-US" dirty="0">
                <a:latin typeface="Tw Cen MT" panose="020B0602020104020603"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0" name="Text Box 9"/>
          <p:cNvSpPr txBox="1">
            <a:spLocks noChangeArrowheads="1"/>
          </p:cNvSpPr>
          <p:nvPr/>
        </p:nvSpPr>
        <p:spPr bwMode="auto">
          <a:xfrm>
            <a:off x="990600" y="0"/>
            <a:ext cx="15616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2800" i="1" baseline="0" dirty="0">
                <a:latin typeface="Tw Cen MT" panose="020B0602020104020603" pitchFamily="34" charset="0"/>
              </a:rPr>
              <a:t>Continued</a:t>
            </a:r>
          </a:p>
        </p:txBody>
      </p:sp>
      <p:sp>
        <p:nvSpPr>
          <p:cNvPr id="46091" name="Text Box 10"/>
          <p:cNvSpPr txBox="1">
            <a:spLocks noChangeArrowheads="1"/>
          </p:cNvSpPr>
          <p:nvPr/>
        </p:nvSpPr>
        <p:spPr bwMode="auto">
          <a:xfrm>
            <a:off x="703384" y="589672"/>
            <a:ext cx="1571264" cy="52322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2800" baseline="0" dirty="0">
                <a:solidFill>
                  <a:schemeClr val="bg1"/>
                </a:solidFill>
                <a:latin typeface="Tw Cen MT" panose="020B0602020104020603" pitchFamily="34" charset="0"/>
              </a:rPr>
              <a:t>Example </a:t>
            </a:r>
            <a:endParaRPr lang="en-US" sz="2800" i="1" baseline="0" dirty="0">
              <a:solidFill>
                <a:schemeClr val="bg1"/>
              </a:solidFill>
              <a:latin typeface="Tw Cen MT" panose="020B0602020104020603" pitchFamily="34" charset="0"/>
            </a:endParaRPr>
          </a:p>
        </p:txBody>
      </p:sp>
      <p:sp>
        <p:nvSpPr>
          <p:cNvPr id="46092" name="Rectangle 11"/>
          <p:cNvSpPr>
            <a:spLocks noChangeArrowheads="1"/>
          </p:cNvSpPr>
          <p:nvPr/>
        </p:nvSpPr>
        <p:spPr bwMode="auto">
          <a:xfrm>
            <a:off x="234462" y="1098084"/>
            <a:ext cx="8839200" cy="517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1" hangingPunct="1">
              <a:lnSpc>
                <a:spcPct val="125000"/>
              </a:lnSpc>
              <a:spcAft>
                <a:spcPct val="70000"/>
              </a:spcAft>
            </a:pPr>
            <a:r>
              <a:rPr lang="en-US" sz="2400" baseline="0" dirty="0">
                <a:latin typeface="Tw Cen MT" panose="020B0602020104020603" pitchFamily="34" charset="0"/>
              </a:rPr>
              <a:t>In GF(2</a:t>
            </a:r>
            <a:r>
              <a:rPr lang="en-US" sz="2400" baseline="30000" dirty="0">
                <a:latin typeface="Tw Cen MT" panose="020B0602020104020603" pitchFamily="34" charset="0"/>
              </a:rPr>
              <a:t>8</a:t>
            </a:r>
            <a:r>
              <a:rPr lang="en-US" sz="2400" baseline="0" dirty="0">
                <a:latin typeface="Tw Cen MT" panose="020B0602020104020603" pitchFamily="34" charset="0"/>
              </a:rPr>
              <a:t>), find the inverse of (x</a:t>
            </a:r>
            <a:r>
              <a:rPr lang="en-US" sz="2400" baseline="30000" dirty="0">
                <a:latin typeface="Tw Cen MT" panose="020B0602020104020603" pitchFamily="34" charset="0"/>
              </a:rPr>
              <a:t>5</a:t>
            </a:r>
            <a:r>
              <a:rPr lang="en-US" sz="2400" baseline="0" dirty="0">
                <a:latin typeface="Tw Cen MT" panose="020B0602020104020603" pitchFamily="34" charset="0"/>
              </a:rPr>
              <a:t>) modulo (</a:t>
            </a:r>
            <a:r>
              <a:rPr lang="en-US" sz="2400" i="1" baseline="0" dirty="0">
                <a:latin typeface="Tw Cen MT" panose="020B0602020104020603" pitchFamily="34" charset="0"/>
              </a:rPr>
              <a:t>x</a:t>
            </a:r>
            <a:r>
              <a:rPr lang="en-US" sz="2400" baseline="30000" dirty="0">
                <a:latin typeface="Tw Cen MT" panose="020B0602020104020603" pitchFamily="34" charset="0"/>
              </a:rPr>
              <a:t>8 </a:t>
            </a:r>
            <a:r>
              <a:rPr lang="en-US" sz="2400" baseline="0" dirty="0">
                <a:latin typeface="Tw Cen MT" panose="020B0602020104020603" pitchFamily="34" charset="0"/>
              </a:rPr>
              <a:t>+ </a:t>
            </a:r>
            <a:r>
              <a:rPr lang="en-US" sz="2400" i="1" baseline="0" dirty="0">
                <a:latin typeface="Tw Cen MT" panose="020B0602020104020603" pitchFamily="34" charset="0"/>
              </a:rPr>
              <a:t>x</a:t>
            </a:r>
            <a:r>
              <a:rPr lang="en-US" sz="2400" baseline="30000" dirty="0">
                <a:latin typeface="Tw Cen MT" panose="020B0602020104020603" pitchFamily="34" charset="0"/>
              </a:rPr>
              <a:t>4 </a:t>
            </a:r>
            <a:r>
              <a:rPr lang="en-US" sz="2400" baseline="0" dirty="0">
                <a:latin typeface="Tw Cen MT" panose="020B0602020104020603" pitchFamily="34" charset="0"/>
              </a:rPr>
              <a:t>+ </a:t>
            </a:r>
            <a:r>
              <a:rPr lang="en-US" sz="2400" i="1" baseline="0" dirty="0">
                <a:latin typeface="Tw Cen MT" panose="020B0602020104020603" pitchFamily="34" charset="0"/>
              </a:rPr>
              <a:t>x</a:t>
            </a:r>
            <a:r>
              <a:rPr lang="en-US" sz="2400" baseline="30000" dirty="0">
                <a:latin typeface="Tw Cen MT" panose="020B0602020104020603" pitchFamily="34" charset="0"/>
              </a:rPr>
              <a:t>3 </a:t>
            </a:r>
            <a:r>
              <a:rPr lang="en-US" sz="2400" baseline="0" dirty="0">
                <a:latin typeface="Tw Cen MT" panose="020B0602020104020603" pitchFamily="34" charset="0"/>
              </a:rPr>
              <a:t>+ </a:t>
            </a:r>
            <a:r>
              <a:rPr lang="en-US" sz="2400" i="1" baseline="0" dirty="0">
                <a:latin typeface="Tw Cen MT" panose="020B0602020104020603" pitchFamily="34" charset="0"/>
              </a:rPr>
              <a:t>x </a:t>
            </a:r>
            <a:r>
              <a:rPr lang="en-US" sz="2400" baseline="0" dirty="0">
                <a:latin typeface="Tw Cen MT" panose="020B0602020104020603" pitchFamily="34" charset="0"/>
              </a:rPr>
              <a:t>+ 1).</a:t>
            </a:r>
          </a:p>
        </p:txBody>
      </p:sp>
      <p:sp>
        <p:nvSpPr>
          <p:cNvPr id="1148940" name="Text Box 12"/>
          <p:cNvSpPr txBox="1">
            <a:spLocks noChangeArrowheads="1"/>
          </p:cNvSpPr>
          <p:nvPr/>
        </p:nvSpPr>
        <p:spPr bwMode="auto">
          <a:xfrm>
            <a:off x="76200" y="1752600"/>
            <a:ext cx="12250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baseline="0">
                <a:solidFill>
                  <a:schemeClr val="hlink"/>
                </a:solidFill>
                <a:latin typeface="Tw Cen MT" panose="020B0602020104020603" pitchFamily="34" charset="0"/>
              </a:rPr>
              <a:t>Solution</a:t>
            </a:r>
          </a:p>
        </p:txBody>
      </p:sp>
      <p:sp>
        <p:nvSpPr>
          <p:cNvPr id="1148943" name="Text Box 15"/>
          <p:cNvSpPr txBox="1">
            <a:spLocks noChangeArrowheads="1"/>
          </p:cNvSpPr>
          <p:nvPr/>
        </p:nvSpPr>
        <p:spPr bwMode="auto">
          <a:xfrm>
            <a:off x="1558632" y="3319975"/>
            <a:ext cx="5683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20000">
                <a:solidFill>
                  <a:schemeClr val="tx1"/>
                </a:solidFill>
                <a:latin typeface="Times New Roman" pitchFamily="18" charset="0"/>
              </a:defRPr>
            </a:lvl1pPr>
            <a:lvl2pPr marL="742950" indent="-285750">
              <a:defRPr sz="2400" b="1" baseline="-20000">
                <a:solidFill>
                  <a:schemeClr val="tx1"/>
                </a:solidFill>
                <a:latin typeface="Times New Roman" pitchFamily="18" charset="0"/>
              </a:defRPr>
            </a:lvl2pPr>
            <a:lvl3pPr marL="1143000" indent="-228600">
              <a:defRPr sz="2400" b="1" baseline="-20000">
                <a:solidFill>
                  <a:schemeClr val="tx1"/>
                </a:solidFill>
                <a:latin typeface="Times New Roman" pitchFamily="18" charset="0"/>
              </a:defRPr>
            </a:lvl3pPr>
            <a:lvl4pPr marL="1600200" indent="-228600">
              <a:defRPr sz="2400" b="1" baseline="-20000">
                <a:solidFill>
                  <a:schemeClr val="tx1"/>
                </a:solidFill>
                <a:latin typeface="Times New Roman" pitchFamily="18" charset="0"/>
              </a:defRPr>
            </a:lvl4pPr>
            <a:lvl5pPr marL="2057400" indent="-228600">
              <a:defRPr sz="2400" b="1" baseline="-20000">
                <a:solidFill>
                  <a:schemeClr val="tx1"/>
                </a:solidFill>
                <a:latin typeface="Times New Roman" pitchFamily="18" charset="0"/>
              </a:defRPr>
            </a:lvl5pPr>
            <a:lvl6pPr marL="2514600" indent="-228600" eaLnBrk="0" fontAlgn="base" hangingPunct="0">
              <a:spcBef>
                <a:spcPct val="0"/>
              </a:spcBef>
              <a:spcAft>
                <a:spcPct val="0"/>
              </a:spcAft>
              <a:defRPr sz="2400" b="1" baseline="-20000">
                <a:solidFill>
                  <a:schemeClr val="tx1"/>
                </a:solidFill>
                <a:latin typeface="Times New Roman" pitchFamily="18" charset="0"/>
              </a:defRPr>
            </a:lvl6pPr>
            <a:lvl7pPr marL="2971800" indent="-228600" eaLnBrk="0" fontAlgn="base" hangingPunct="0">
              <a:spcBef>
                <a:spcPct val="0"/>
              </a:spcBef>
              <a:spcAft>
                <a:spcPct val="0"/>
              </a:spcAft>
              <a:defRPr sz="2400" b="1" baseline="-20000">
                <a:solidFill>
                  <a:schemeClr val="tx1"/>
                </a:solidFill>
                <a:latin typeface="Times New Roman" pitchFamily="18" charset="0"/>
              </a:defRPr>
            </a:lvl7pPr>
            <a:lvl8pPr marL="3429000" indent="-228600" eaLnBrk="0" fontAlgn="base" hangingPunct="0">
              <a:spcBef>
                <a:spcPct val="0"/>
              </a:spcBef>
              <a:spcAft>
                <a:spcPct val="0"/>
              </a:spcAft>
              <a:defRPr sz="2400" b="1" baseline="-20000">
                <a:solidFill>
                  <a:schemeClr val="tx1"/>
                </a:solidFill>
                <a:latin typeface="Times New Roman" pitchFamily="18" charset="0"/>
              </a:defRPr>
            </a:lvl8pPr>
            <a:lvl9pPr marL="3886200" indent="-228600" eaLnBrk="0" fontAlgn="base" hangingPunct="0">
              <a:spcBef>
                <a:spcPct val="0"/>
              </a:spcBef>
              <a:spcAft>
                <a:spcPct val="0"/>
              </a:spcAft>
              <a:defRPr sz="2400" b="1" baseline="-20000">
                <a:solidFill>
                  <a:schemeClr val="tx1"/>
                </a:solidFill>
                <a:latin typeface="Times New Roman" pitchFamily="18" charset="0"/>
              </a:defRPr>
            </a:lvl9pPr>
          </a:lstStyle>
          <a:p>
            <a:r>
              <a:rPr lang="en-US" sz="2800" baseline="0" dirty="0">
                <a:solidFill>
                  <a:schemeClr val="folHlink"/>
                </a:solidFill>
                <a:latin typeface="Tw Cen MT" panose="020B0602020104020603" pitchFamily="34" charset="0"/>
              </a:rPr>
              <a:t>Table  </a:t>
            </a:r>
            <a:r>
              <a:rPr lang="en-US" sz="2800" i="1" baseline="0" dirty="0">
                <a:latin typeface="Tw Cen MT" panose="020B0602020104020603" pitchFamily="34" charset="0"/>
              </a:rPr>
              <a:t>Euclidean algorithm for Example </a:t>
            </a:r>
          </a:p>
        </p:txBody>
      </p:sp>
      <p:sp>
        <p:nvSpPr>
          <p:cNvPr id="1148945" name="Rectangle 17"/>
          <p:cNvSpPr>
            <a:spLocks noChangeArrowheads="1"/>
          </p:cNvSpPr>
          <p:nvPr/>
        </p:nvSpPr>
        <p:spPr bwMode="auto">
          <a:xfrm>
            <a:off x="0" y="2278036"/>
            <a:ext cx="8839200" cy="517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1" hangingPunct="1">
              <a:lnSpc>
                <a:spcPct val="125000"/>
              </a:lnSpc>
              <a:spcAft>
                <a:spcPct val="70000"/>
              </a:spcAft>
            </a:pPr>
            <a:r>
              <a:rPr lang="en-US" sz="2400" baseline="0" dirty="0">
                <a:latin typeface="Tw Cen MT" panose="020B0602020104020603" pitchFamily="34" charset="0"/>
              </a:rPr>
              <a:t>The answer is (</a:t>
            </a:r>
            <a:r>
              <a:rPr lang="en-US" sz="2400" i="1" baseline="0" dirty="0">
                <a:latin typeface="Tw Cen MT" panose="020B0602020104020603" pitchFamily="34" charset="0"/>
              </a:rPr>
              <a:t>x</a:t>
            </a:r>
            <a:r>
              <a:rPr lang="en-US" sz="2400" baseline="30000" dirty="0">
                <a:latin typeface="Tw Cen MT" panose="020B0602020104020603" pitchFamily="34" charset="0"/>
              </a:rPr>
              <a:t>5</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30000" dirty="0">
                <a:latin typeface="Tw Cen MT" panose="020B0602020104020603" pitchFamily="34" charset="0"/>
              </a:rPr>
              <a:t>4</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30000" dirty="0">
                <a:latin typeface="Tw Cen MT" panose="020B0602020104020603" pitchFamily="34" charset="0"/>
              </a:rPr>
              <a:t>3</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0" dirty="0">
                <a:latin typeface="Tw Cen MT" panose="020B0602020104020603" pitchFamily="34" charset="0"/>
              </a:rPr>
              <a:t>) as shown in Table (</a:t>
            </a:r>
            <a:r>
              <a:rPr lang="en-US" sz="2400" baseline="0" dirty="0" err="1">
                <a:solidFill>
                  <a:srgbClr val="FF0000"/>
                </a:solidFill>
                <a:latin typeface="Tw Cen MT" panose="020B0602020104020603" pitchFamily="34" charset="0"/>
              </a:rPr>
              <a:t>Eucld</a:t>
            </a:r>
            <a:r>
              <a:rPr lang="en-US" sz="2400" baseline="0" dirty="0">
                <a:solidFill>
                  <a:srgbClr val="FF0000"/>
                </a:solidFill>
                <a:latin typeface="Tw Cen MT" panose="020B0602020104020603" pitchFamily="34" charset="0"/>
              </a:rPr>
              <a:t> </a:t>
            </a:r>
            <a:r>
              <a:rPr lang="en-US" sz="2400" baseline="0" dirty="0" err="1">
                <a:solidFill>
                  <a:srgbClr val="FF0000"/>
                </a:solidFill>
                <a:latin typeface="Tw Cen MT" panose="020B0602020104020603" pitchFamily="34" charset="0"/>
              </a:rPr>
              <a:t>Algo</a:t>
            </a:r>
            <a:r>
              <a:rPr lang="en-US" sz="2400" baseline="0" dirty="0">
                <a:latin typeface="Tw Cen MT" panose="020B0602020104020603" pitchFamily="34" charset="0"/>
              </a:rPr>
              <a:t>).</a:t>
            </a:r>
          </a:p>
        </p:txBody>
      </p:sp>
      <p:pic>
        <p:nvPicPr>
          <p:cNvPr id="2" name="Picture 1"/>
          <p:cNvPicPr>
            <a:picLocks noChangeAspect="1"/>
          </p:cNvPicPr>
          <p:nvPr/>
        </p:nvPicPr>
        <p:blipFill>
          <a:blip r:embed="rId3"/>
          <a:stretch>
            <a:fillRect/>
          </a:stretch>
        </p:blipFill>
        <p:spPr>
          <a:xfrm>
            <a:off x="318867" y="3905763"/>
            <a:ext cx="8534400" cy="2028825"/>
          </a:xfrm>
          <a:prstGeom prst="rect">
            <a:avLst/>
          </a:prstGeom>
        </p:spPr>
      </p:pic>
    </p:spTree>
    <p:extLst>
      <p:ext uri="{BB962C8B-B14F-4D97-AF65-F5344CB8AC3E}">
        <p14:creationId xmlns:p14="http://schemas.microsoft.com/office/powerpoint/2010/main" val="10406540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8940"/>
                                        </p:tgtEl>
                                        <p:attrNameLst>
                                          <p:attrName>style.visibility</p:attrName>
                                        </p:attrNameLst>
                                      </p:cBhvr>
                                      <p:to>
                                        <p:strVal val="visible"/>
                                      </p:to>
                                    </p:set>
                                    <p:anim calcmode="lin" valueType="num">
                                      <p:cBhvr additive="base">
                                        <p:cTn id="7" dur="500" fill="hold"/>
                                        <p:tgtEl>
                                          <p:spTgt spid="1148940"/>
                                        </p:tgtEl>
                                        <p:attrNameLst>
                                          <p:attrName>ppt_x</p:attrName>
                                        </p:attrNameLst>
                                      </p:cBhvr>
                                      <p:tavLst>
                                        <p:tav tm="0">
                                          <p:val>
                                            <p:strVal val="#ppt_x"/>
                                          </p:val>
                                        </p:tav>
                                        <p:tav tm="100000">
                                          <p:val>
                                            <p:strVal val="#ppt_x"/>
                                          </p:val>
                                        </p:tav>
                                      </p:tavLst>
                                    </p:anim>
                                    <p:anim calcmode="lin" valueType="num">
                                      <p:cBhvr additive="base">
                                        <p:cTn id="8" dur="500" fill="hold"/>
                                        <p:tgtEl>
                                          <p:spTgt spid="114894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8945"/>
                                        </p:tgtEl>
                                        <p:attrNameLst>
                                          <p:attrName>style.visibility</p:attrName>
                                        </p:attrNameLst>
                                      </p:cBhvr>
                                      <p:to>
                                        <p:strVal val="visible"/>
                                      </p:to>
                                    </p:set>
                                    <p:anim calcmode="lin" valueType="num">
                                      <p:cBhvr additive="base">
                                        <p:cTn id="13" dur="500" fill="hold"/>
                                        <p:tgtEl>
                                          <p:spTgt spid="1148945"/>
                                        </p:tgtEl>
                                        <p:attrNameLst>
                                          <p:attrName>ppt_x</p:attrName>
                                        </p:attrNameLst>
                                      </p:cBhvr>
                                      <p:tavLst>
                                        <p:tav tm="0">
                                          <p:val>
                                            <p:strVal val="#ppt_x"/>
                                          </p:val>
                                        </p:tav>
                                        <p:tav tm="100000">
                                          <p:val>
                                            <p:strVal val="#ppt_x"/>
                                          </p:val>
                                        </p:tav>
                                      </p:tavLst>
                                    </p:anim>
                                    <p:anim calcmode="lin" valueType="num">
                                      <p:cBhvr additive="base">
                                        <p:cTn id="14" dur="500" fill="hold"/>
                                        <p:tgtEl>
                                          <p:spTgt spid="114894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48943"/>
                                        </p:tgtEl>
                                        <p:attrNameLst>
                                          <p:attrName>style.visibility</p:attrName>
                                        </p:attrNameLst>
                                      </p:cBhvr>
                                      <p:to>
                                        <p:strVal val="visible"/>
                                      </p:to>
                                    </p:set>
                                    <p:anim calcmode="lin" valueType="num">
                                      <p:cBhvr additive="base">
                                        <p:cTn id="19" dur="500" fill="hold"/>
                                        <p:tgtEl>
                                          <p:spTgt spid="1148943"/>
                                        </p:tgtEl>
                                        <p:attrNameLst>
                                          <p:attrName>ppt_x</p:attrName>
                                        </p:attrNameLst>
                                      </p:cBhvr>
                                      <p:tavLst>
                                        <p:tav tm="0">
                                          <p:val>
                                            <p:strVal val="#ppt_x"/>
                                          </p:val>
                                        </p:tav>
                                        <p:tav tm="100000">
                                          <p:val>
                                            <p:strVal val="#ppt_x"/>
                                          </p:val>
                                        </p:tav>
                                      </p:tavLst>
                                    </p:anim>
                                    <p:anim calcmode="lin" valueType="num">
                                      <p:cBhvr additive="base">
                                        <p:cTn id="20" dur="500" fill="hold"/>
                                        <p:tgtEl>
                                          <p:spTgt spid="11489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940" grpId="0"/>
      <p:bldP spid="1148943" grpId="0"/>
      <p:bldP spid="114894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1147763" y="533400"/>
            <a:ext cx="4683077" cy="584775"/>
          </a:xfrm>
          <a:prstGeom prst="rect">
            <a:avLst/>
          </a:prstGeom>
          <a:noFill/>
          <a:ln w="9525">
            <a:noFill/>
            <a:miter lim="800000"/>
            <a:headEnd/>
            <a:tailEnd/>
          </a:ln>
        </p:spPr>
        <p:txBody>
          <a:bodyPr wrap="none">
            <a:spAutoFit/>
          </a:bodyPr>
          <a:lstStyle/>
          <a:p>
            <a:r>
              <a:rPr lang="en-US" sz="3200" dirty="0">
                <a:solidFill>
                  <a:schemeClr val="folHlink"/>
                </a:solidFill>
                <a:latin typeface="Tw Cen MT" panose="020B0602020104020603" pitchFamily="34" charset="0"/>
              </a:rPr>
              <a:t>Multiplication by Computer </a:t>
            </a:r>
            <a:endParaRPr lang="en-US" sz="3200" baseline="0" dirty="0">
              <a:solidFill>
                <a:schemeClr val="folHlink"/>
              </a:solidFill>
              <a:latin typeface="Tw Cen MT" panose="020B0602020104020603" pitchFamily="34" charset="0"/>
            </a:endParaRPr>
          </a:p>
        </p:txBody>
      </p:sp>
      <p:sp>
        <p:nvSpPr>
          <p:cNvPr id="7" name="Rectangle 10"/>
          <p:cNvSpPr>
            <a:spLocks noChangeArrowheads="1"/>
          </p:cNvSpPr>
          <p:nvPr/>
        </p:nvSpPr>
        <p:spPr bwMode="auto">
          <a:xfrm>
            <a:off x="304800" y="2104478"/>
            <a:ext cx="8839200" cy="946150"/>
          </a:xfrm>
          <a:prstGeom prst="rect">
            <a:avLst/>
          </a:prstGeom>
          <a:noFill/>
          <a:ln w="9525">
            <a:noFill/>
            <a:miter lim="800000"/>
            <a:headEnd/>
            <a:tailEnd/>
          </a:ln>
        </p:spPr>
        <p:txBody>
          <a:bodyPr anchor="ctr">
            <a:spAutoFit/>
          </a:bodyPr>
          <a:lstStyle/>
          <a:p>
            <a:pPr algn="just" eaLnBrk="1" hangingPunct="1"/>
            <a:r>
              <a:rPr lang="en-US" sz="2800" baseline="0" dirty="0">
                <a:latin typeface="Tw Cen MT" panose="020B0602020104020603" pitchFamily="34" charset="0"/>
              </a:rPr>
              <a:t>The computer implementation uses a better algorithm, repeatedly multiplying a reduced polynomial by </a:t>
            </a:r>
            <a:r>
              <a:rPr lang="en-US" sz="2800" i="1" baseline="0" dirty="0">
                <a:latin typeface="Tw Cen MT" panose="020B0602020104020603" pitchFamily="34" charset="0"/>
              </a:rPr>
              <a:t>x</a:t>
            </a:r>
            <a:r>
              <a:rPr lang="en-US" sz="2800" baseline="0" dirty="0">
                <a:latin typeface="Tw Cen MT" panose="020B0602020104020603" pitchFamily="34" charset="0"/>
              </a:rPr>
              <a:t>.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1147763" y="533400"/>
            <a:ext cx="4683077" cy="584775"/>
          </a:xfrm>
          <a:prstGeom prst="rect">
            <a:avLst/>
          </a:prstGeom>
          <a:noFill/>
          <a:ln w="9525">
            <a:noFill/>
            <a:miter lim="800000"/>
            <a:headEnd/>
            <a:tailEnd/>
          </a:ln>
        </p:spPr>
        <p:txBody>
          <a:bodyPr wrap="none">
            <a:spAutoFit/>
          </a:bodyPr>
          <a:lstStyle/>
          <a:p>
            <a:r>
              <a:rPr lang="en-US" sz="3200" dirty="0">
                <a:solidFill>
                  <a:schemeClr val="folHlink"/>
                </a:solidFill>
                <a:latin typeface="Tw Cen MT" panose="020B0602020104020603" pitchFamily="34" charset="0"/>
              </a:rPr>
              <a:t>Multiplication by Computer </a:t>
            </a:r>
            <a:endParaRPr lang="en-US" sz="3200" baseline="0" dirty="0">
              <a:solidFill>
                <a:schemeClr val="folHlink"/>
              </a:solidFill>
              <a:latin typeface="Tw Cen MT" panose="020B0602020104020603" pitchFamily="34" charset="0"/>
            </a:endParaRPr>
          </a:p>
        </p:txBody>
      </p:sp>
      <p:sp>
        <p:nvSpPr>
          <p:cNvPr id="4" name="Rectangle 11"/>
          <p:cNvSpPr>
            <a:spLocks noChangeArrowheads="1"/>
          </p:cNvSpPr>
          <p:nvPr/>
        </p:nvSpPr>
        <p:spPr bwMode="auto">
          <a:xfrm>
            <a:off x="152400" y="1127125"/>
            <a:ext cx="8839200" cy="1463675"/>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a:latin typeface="Tw Cen MT" panose="020B0602020104020603" pitchFamily="34" charset="0"/>
              </a:rPr>
              <a:t>Find the result of multiplying P</a:t>
            </a:r>
            <a:r>
              <a:rPr lang="en-US" sz="2400" baseline="-25000">
                <a:latin typeface="Tw Cen MT" panose="020B0602020104020603" pitchFamily="34" charset="0"/>
              </a:rPr>
              <a:t>1</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5</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2</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0">
                <a:latin typeface="Tw Cen MT" panose="020B0602020104020603" pitchFamily="34" charset="0"/>
              </a:rPr>
              <a:t>) by P</a:t>
            </a:r>
            <a:r>
              <a:rPr lang="en-US" sz="2400" baseline="-25000">
                <a:latin typeface="Tw Cen MT" panose="020B0602020104020603" pitchFamily="34" charset="0"/>
              </a:rPr>
              <a:t>2</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7</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4</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3</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2</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0">
                <a:latin typeface="Tw Cen MT" panose="020B0602020104020603" pitchFamily="34" charset="0"/>
              </a:rPr>
              <a:t>) in GF(2</a:t>
            </a:r>
            <a:r>
              <a:rPr lang="en-US" sz="2400" baseline="30000">
                <a:latin typeface="Tw Cen MT" panose="020B0602020104020603" pitchFamily="34" charset="0"/>
              </a:rPr>
              <a:t>8</a:t>
            </a:r>
            <a:r>
              <a:rPr lang="en-US" sz="2400" baseline="0">
                <a:latin typeface="Tw Cen MT" panose="020B0602020104020603" pitchFamily="34" charset="0"/>
              </a:rPr>
              <a:t>) with irreducible polynomial (</a:t>
            </a:r>
            <a:r>
              <a:rPr lang="en-US" sz="2400" i="1" baseline="0">
                <a:latin typeface="Tw Cen MT" panose="020B0602020104020603" pitchFamily="34" charset="0"/>
              </a:rPr>
              <a:t>x</a:t>
            </a:r>
            <a:r>
              <a:rPr lang="en-US" sz="2400" baseline="30000">
                <a:latin typeface="Tw Cen MT" panose="020B0602020104020603" pitchFamily="34" charset="0"/>
              </a:rPr>
              <a:t>8</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4</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30000">
                <a:latin typeface="Tw Cen MT" panose="020B0602020104020603" pitchFamily="34" charset="0"/>
              </a:rPr>
              <a:t>3</a:t>
            </a:r>
            <a:r>
              <a:rPr lang="en-US" sz="2400" baseline="0">
                <a:latin typeface="Tw Cen MT" panose="020B0602020104020603" pitchFamily="34" charset="0"/>
              </a:rPr>
              <a:t> + </a:t>
            </a:r>
            <a:r>
              <a:rPr lang="en-US" sz="2400" i="1" baseline="0">
                <a:latin typeface="Tw Cen MT" panose="020B0602020104020603" pitchFamily="34" charset="0"/>
              </a:rPr>
              <a:t>x</a:t>
            </a:r>
            <a:r>
              <a:rPr lang="en-US" sz="2400" baseline="0">
                <a:latin typeface="Tw Cen MT" panose="020B0602020104020603" pitchFamily="34" charset="0"/>
              </a:rPr>
              <a:t> + 1) using the algorithm described above.</a:t>
            </a:r>
          </a:p>
        </p:txBody>
      </p:sp>
      <p:sp>
        <p:nvSpPr>
          <p:cNvPr id="5" name="Text Box 12"/>
          <p:cNvSpPr txBox="1">
            <a:spLocks noChangeArrowheads="1"/>
          </p:cNvSpPr>
          <p:nvPr/>
        </p:nvSpPr>
        <p:spPr bwMode="auto">
          <a:xfrm>
            <a:off x="228600" y="2667000"/>
            <a:ext cx="1133644" cy="461665"/>
          </a:xfrm>
          <a:prstGeom prst="rect">
            <a:avLst/>
          </a:prstGeom>
          <a:noFill/>
          <a:ln w="9525">
            <a:noFill/>
            <a:miter lim="800000"/>
            <a:headEnd/>
            <a:tailEnd/>
          </a:ln>
        </p:spPr>
        <p:txBody>
          <a:bodyPr wrap="none">
            <a:spAutoFit/>
          </a:bodyPr>
          <a:lstStyle/>
          <a:p>
            <a:r>
              <a:rPr lang="en-US" sz="2400" baseline="0">
                <a:solidFill>
                  <a:schemeClr val="hlink"/>
                </a:solidFill>
                <a:latin typeface="Tw Cen MT" panose="020B0602020104020603" pitchFamily="34" charset="0"/>
              </a:rPr>
              <a:t>Solution</a:t>
            </a:r>
          </a:p>
        </p:txBody>
      </p:sp>
      <p:sp>
        <p:nvSpPr>
          <p:cNvPr id="6" name="Rectangle 14"/>
          <p:cNvSpPr>
            <a:spLocks noChangeArrowheads="1"/>
          </p:cNvSpPr>
          <p:nvPr/>
        </p:nvSpPr>
        <p:spPr bwMode="auto">
          <a:xfrm>
            <a:off x="152400" y="3048000"/>
            <a:ext cx="8839200" cy="1920875"/>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dirty="0">
                <a:latin typeface="Tw Cen MT" panose="020B0602020104020603" pitchFamily="34" charset="0"/>
              </a:rPr>
              <a:t>The process is shown in the Table </a:t>
            </a:r>
            <a:r>
              <a:rPr lang="en-US" sz="2400" baseline="0" dirty="0">
                <a:solidFill>
                  <a:srgbClr val="FF0000"/>
                </a:solidFill>
                <a:latin typeface="Tw Cen MT" panose="020B0602020104020603" pitchFamily="34" charset="0"/>
              </a:rPr>
              <a:t>in next slide</a:t>
            </a:r>
            <a:r>
              <a:rPr lang="en-US" sz="2400" baseline="0" dirty="0">
                <a:latin typeface="Tw Cen MT" panose="020B0602020104020603" pitchFamily="34" charset="0"/>
              </a:rPr>
              <a:t>. We first find the partial result of multiplying </a:t>
            </a:r>
            <a:r>
              <a:rPr lang="en-US" sz="2400" i="1" baseline="0" dirty="0">
                <a:latin typeface="Tw Cen MT" panose="020B0602020104020603" pitchFamily="34" charset="0"/>
              </a:rPr>
              <a:t>x</a:t>
            </a:r>
            <a:r>
              <a:rPr lang="en-US" sz="2400" baseline="30000" dirty="0">
                <a:latin typeface="Tw Cen MT" panose="020B0602020104020603" pitchFamily="34" charset="0"/>
              </a:rPr>
              <a:t>0</a:t>
            </a:r>
            <a:r>
              <a:rPr lang="en-US" sz="2400" baseline="0" dirty="0">
                <a:latin typeface="Tw Cen MT" panose="020B0602020104020603" pitchFamily="34" charset="0"/>
              </a:rPr>
              <a:t>, </a:t>
            </a:r>
            <a:r>
              <a:rPr lang="en-US" sz="2400" i="1" baseline="0" dirty="0">
                <a:latin typeface="Tw Cen MT" panose="020B0602020104020603" pitchFamily="34" charset="0"/>
              </a:rPr>
              <a:t>x</a:t>
            </a:r>
            <a:r>
              <a:rPr lang="en-US" sz="2400" baseline="30000" dirty="0">
                <a:latin typeface="Tw Cen MT" panose="020B0602020104020603" pitchFamily="34" charset="0"/>
              </a:rPr>
              <a:t>1</a:t>
            </a:r>
            <a:r>
              <a:rPr lang="en-US" sz="2400" baseline="0" dirty="0">
                <a:latin typeface="Tw Cen MT" panose="020B0602020104020603" pitchFamily="34" charset="0"/>
              </a:rPr>
              <a:t>, </a:t>
            </a:r>
            <a:r>
              <a:rPr lang="en-US" sz="2400" i="1" baseline="0" dirty="0">
                <a:latin typeface="Tw Cen MT" panose="020B0602020104020603" pitchFamily="34" charset="0"/>
              </a:rPr>
              <a:t>x</a:t>
            </a:r>
            <a:r>
              <a:rPr lang="en-US" sz="2400" baseline="30000" dirty="0">
                <a:latin typeface="Tw Cen MT" panose="020B0602020104020603" pitchFamily="34" charset="0"/>
              </a:rPr>
              <a:t>2</a:t>
            </a:r>
            <a:r>
              <a:rPr lang="en-US" sz="2400" baseline="0" dirty="0">
                <a:latin typeface="Tw Cen MT" panose="020B0602020104020603" pitchFamily="34" charset="0"/>
              </a:rPr>
              <a:t>, </a:t>
            </a:r>
            <a:r>
              <a:rPr lang="en-US" sz="2400" i="1" baseline="0" dirty="0">
                <a:latin typeface="Tw Cen MT" panose="020B0602020104020603" pitchFamily="34" charset="0"/>
              </a:rPr>
              <a:t>x</a:t>
            </a:r>
            <a:r>
              <a:rPr lang="en-US" sz="2400" baseline="30000" dirty="0">
                <a:latin typeface="Tw Cen MT" panose="020B0602020104020603" pitchFamily="34" charset="0"/>
              </a:rPr>
              <a:t>3</a:t>
            </a:r>
            <a:r>
              <a:rPr lang="en-US" sz="2400" baseline="0" dirty="0">
                <a:latin typeface="Tw Cen MT" panose="020B0602020104020603" pitchFamily="34" charset="0"/>
              </a:rPr>
              <a:t>, </a:t>
            </a:r>
            <a:r>
              <a:rPr lang="en-US" sz="2400" i="1" baseline="0" dirty="0">
                <a:latin typeface="Tw Cen MT" panose="020B0602020104020603" pitchFamily="34" charset="0"/>
              </a:rPr>
              <a:t>x</a:t>
            </a:r>
            <a:r>
              <a:rPr lang="en-US" sz="2400" baseline="30000" dirty="0">
                <a:latin typeface="Tw Cen MT" panose="020B0602020104020603" pitchFamily="34" charset="0"/>
              </a:rPr>
              <a:t>4</a:t>
            </a:r>
            <a:r>
              <a:rPr lang="en-US" sz="2400" baseline="0" dirty="0">
                <a:latin typeface="Tw Cen MT" panose="020B0602020104020603" pitchFamily="34" charset="0"/>
              </a:rPr>
              <a:t>, and </a:t>
            </a:r>
            <a:r>
              <a:rPr lang="en-US" sz="2400" i="1" baseline="0" dirty="0">
                <a:latin typeface="Tw Cen MT" panose="020B0602020104020603" pitchFamily="34" charset="0"/>
              </a:rPr>
              <a:t>x</a:t>
            </a:r>
            <a:r>
              <a:rPr lang="en-US" sz="2400" baseline="30000" dirty="0">
                <a:latin typeface="Tw Cen MT" panose="020B0602020104020603" pitchFamily="34" charset="0"/>
              </a:rPr>
              <a:t>5</a:t>
            </a:r>
            <a:r>
              <a:rPr lang="en-US" sz="2400" baseline="0" dirty="0">
                <a:latin typeface="Tw Cen MT" panose="020B0602020104020603" pitchFamily="34" charset="0"/>
              </a:rPr>
              <a:t> by P</a:t>
            </a:r>
            <a:r>
              <a:rPr lang="en-US" sz="2400" baseline="-25000" dirty="0">
                <a:latin typeface="Tw Cen MT" panose="020B0602020104020603" pitchFamily="34" charset="0"/>
              </a:rPr>
              <a:t>2</a:t>
            </a:r>
            <a:r>
              <a:rPr lang="en-US" sz="2400" baseline="0" dirty="0">
                <a:latin typeface="Tw Cen MT" panose="020B0602020104020603" pitchFamily="34" charset="0"/>
              </a:rPr>
              <a:t>. Note that although only three terms are needed, the product of </a:t>
            </a:r>
            <a:r>
              <a:rPr lang="en-US" sz="2400" i="1" baseline="0" dirty="0" err="1">
                <a:latin typeface="Tw Cen MT" panose="020B0602020104020603" pitchFamily="34" charset="0"/>
              </a:rPr>
              <a:t>x</a:t>
            </a:r>
            <a:r>
              <a:rPr lang="en-US" sz="2400" i="1" baseline="30000" dirty="0" err="1">
                <a:latin typeface="Tw Cen MT" panose="020B0602020104020603" pitchFamily="34" charset="0"/>
              </a:rPr>
              <a:t>m</a:t>
            </a:r>
            <a:r>
              <a:rPr lang="en-US" sz="2400" baseline="0" dirty="0">
                <a:latin typeface="Tw Cen MT" panose="020B0602020104020603" pitchFamily="34" charset="0"/>
              </a:rPr>
              <a:t> ⊗ P</a:t>
            </a:r>
            <a:r>
              <a:rPr lang="en-US" sz="2400" baseline="-25000" dirty="0">
                <a:latin typeface="Tw Cen MT" panose="020B0602020104020603" pitchFamily="34" charset="0"/>
              </a:rPr>
              <a:t>2</a:t>
            </a:r>
            <a:r>
              <a:rPr lang="en-US" sz="2400" baseline="0" dirty="0">
                <a:latin typeface="Tw Cen MT" panose="020B0602020104020603" pitchFamily="34" charset="0"/>
              </a:rPr>
              <a:t> for </a:t>
            </a:r>
            <a:r>
              <a:rPr lang="en-US" sz="2400" i="1" baseline="0" dirty="0">
                <a:latin typeface="Tw Cen MT" panose="020B0602020104020603" pitchFamily="34" charset="0"/>
              </a:rPr>
              <a:t>m</a:t>
            </a:r>
            <a:r>
              <a:rPr lang="en-US" sz="2400" baseline="0" dirty="0">
                <a:latin typeface="Tw Cen MT" panose="020B0602020104020603" pitchFamily="34" charset="0"/>
              </a:rPr>
              <a:t> from 0 to 5 because each calculation depends on the previous result.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706328" y="501869"/>
            <a:ext cx="4683077" cy="584775"/>
          </a:xfrm>
          <a:prstGeom prst="rect">
            <a:avLst/>
          </a:prstGeom>
          <a:noFill/>
          <a:ln w="9525">
            <a:noFill/>
            <a:miter lim="800000"/>
            <a:headEnd/>
            <a:tailEnd/>
          </a:ln>
        </p:spPr>
        <p:txBody>
          <a:bodyPr wrap="none">
            <a:spAutoFit/>
          </a:bodyPr>
          <a:lstStyle/>
          <a:p>
            <a:r>
              <a:rPr lang="en-US" sz="3200" dirty="0">
                <a:solidFill>
                  <a:schemeClr val="folHlink"/>
                </a:solidFill>
                <a:latin typeface="Tw Cen MT" panose="020B0602020104020603" pitchFamily="34" charset="0"/>
              </a:rPr>
              <a:t>Multiplication by Computer </a:t>
            </a:r>
            <a:endParaRPr lang="en-US" sz="3200" baseline="0" dirty="0">
              <a:solidFill>
                <a:schemeClr val="folHlink"/>
              </a:solidFill>
              <a:latin typeface="Tw Cen MT" panose="020B0602020104020603" pitchFamily="34" charset="0"/>
            </a:endParaRPr>
          </a:p>
        </p:txBody>
      </p:sp>
      <p:sp>
        <p:nvSpPr>
          <p:cNvPr id="7" name="Text Box 13"/>
          <p:cNvSpPr txBox="1">
            <a:spLocks noChangeArrowheads="1"/>
          </p:cNvSpPr>
          <p:nvPr/>
        </p:nvSpPr>
        <p:spPr bwMode="auto">
          <a:xfrm>
            <a:off x="2270344" y="1629103"/>
            <a:ext cx="4371838" cy="523220"/>
          </a:xfrm>
          <a:prstGeom prst="rect">
            <a:avLst/>
          </a:prstGeom>
          <a:noFill/>
          <a:ln w="9525">
            <a:noFill/>
            <a:miter lim="800000"/>
            <a:headEnd/>
            <a:tailEnd/>
          </a:ln>
        </p:spPr>
        <p:txBody>
          <a:bodyPr wrap="none">
            <a:spAutoFit/>
          </a:bodyPr>
          <a:lstStyle/>
          <a:p>
            <a:r>
              <a:rPr lang="en-US" sz="2800" baseline="0" dirty="0">
                <a:solidFill>
                  <a:schemeClr val="folHlink"/>
                </a:solidFill>
                <a:latin typeface="Tw Cen MT" panose="020B0602020104020603" pitchFamily="34" charset="0"/>
              </a:rPr>
              <a:t>Table   </a:t>
            </a:r>
            <a:r>
              <a:rPr lang="en-US" sz="2800" i="1" baseline="0" dirty="0">
                <a:latin typeface="Tw Cen MT" panose="020B0602020104020603" pitchFamily="34" charset="0"/>
              </a:rPr>
              <a:t>An efficient algorithm </a:t>
            </a:r>
          </a:p>
        </p:txBody>
      </p:sp>
      <p:pic>
        <p:nvPicPr>
          <p:cNvPr id="2" name="Picture 1"/>
          <p:cNvPicPr>
            <a:picLocks noChangeAspect="1"/>
          </p:cNvPicPr>
          <p:nvPr/>
        </p:nvPicPr>
        <p:blipFill>
          <a:blip r:embed="rId3"/>
          <a:stretch>
            <a:fillRect/>
          </a:stretch>
        </p:blipFill>
        <p:spPr>
          <a:xfrm>
            <a:off x="317988" y="2540170"/>
            <a:ext cx="8648700" cy="338137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706328" y="501869"/>
            <a:ext cx="3559692" cy="461665"/>
          </a:xfrm>
          <a:prstGeom prst="rect">
            <a:avLst/>
          </a:prstGeom>
          <a:noFill/>
          <a:ln w="9525">
            <a:noFill/>
            <a:miter lim="800000"/>
            <a:headEnd/>
            <a:tailEnd/>
          </a:ln>
        </p:spPr>
        <p:txBody>
          <a:bodyPr wrap="none">
            <a:spAutoFit/>
          </a:bodyPr>
          <a:lstStyle/>
          <a:p>
            <a:r>
              <a:rPr lang="en-US" sz="2400" dirty="0">
                <a:solidFill>
                  <a:schemeClr val="folHlink"/>
                </a:solidFill>
                <a:latin typeface="Tw Cen MT" panose="020B0602020104020603" pitchFamily="34" charset="0"/>
              </a:rPr>
              <a:t>Multiplication by Computer </a:t>
            </a:r>
            <a:endParaRPr lang="en-US" sz="2400" baseline="0" dirty="0">
              <a:solidFill>
                <a:schemeClr val="folHlink"/>
              </a:solidFill>
              <a:latin typeface="Tw Cen MT" panose="020B0602020104020603" pitchFamily="34" charset="0"/>
            </a:endParaRPr>
          </a:p>
        </p:txBody>
      </p:sp>
      <p:sp>
        <p:nvSpPr>
          <p:cNvPr id="5" name="Rectangle 11"/>
          <p:cNvSpPr>
            <a:spLocks noChangeArrowheads="1"/>
          </p:cNvSpPr>
          <p:nvPr/>
        </p:nvSpPr>
        <p:spPr bwMode="auto">
          <a:xfrm>
            <a:off x="152400" y="932892"/>
            <a:ext cx="8839200" cy="553998"/>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dirty="0">
                <a:latin typeface="Tw Cen MT" panose="020B0602020104020603" pitchFamily="34" charset="0"/>
              </a:rPr>
              <a:t>Repeat </a:t>
            </a:r>
            <a:r>
              <a:rPr lang="en-US" sz="2400" dirty="0">
                <a:latin typeface="Tw Cen MT" panose="020B0602020104020603" pitchFamily="34" charset="0"/>
              </a:rPr>
              <a:t>the same</a:t>
            </a:r>
            <a:r>
              <a:rPr lang="en-US" sz="2400" baseline="0" dirty="0">
                <a:latin typeface="Tw Cen MT" panose="020B0602020104020603" pitchFamily="34" charset="0"/>
              </a:rPr>
              <a:t> using bit patterns of size 8.</a:t>
            </a:r>
          </a:p>
        </p:txBody>
      </p:sp>
      <p:sp>
        <p:nvSpPr>
          <p:cNvPr id="6" name="Text Box 12"/>
          <p:cNvSpPr txBox="1">
            <a:spLocks noChangeArrowheads="1"/>
          </p:cNvSpPr>
          <p:nvPr/>
        </p:nvSpPr>
        <p:spPr bwMode="auto">
          <a:xfrm>
            <a:off x="152400" y="1524000"/>
            <a:ext cx="1133644" cy="461665"/>
          </a:xfrm>
          <a:prstGeom prst="rect">
            <a:avLst/>
          </a:prstGeom>
          <a:noFill/>
          <a:ln w="9525">
            <a:noFill/>
            <a:miter lim="800000"/>
            <a:headEnd/>
            <a:tailEnd/>
          </a:ln>
        </p:spPr>
        <p:txBody>
          <a:bodyPr wrap="none">
            <a:spAutoFit/>
          </a:bodyPr>
          <a:lstStyle/>
          <a:p>
            <a:r>
              <a:rPr lang="en-US" sz="2400" baseline="0">
                <a:solidFill>
                  <a:schemeClr val="hlink"/>
                </a:solidFill>
                <a:latin typeface="Tw Cen MT" panose="020B0602020104020603" pitchFamily="34" charset="0"/>
              </a:rPr>
              <a:t>Solution</a:t>
            </a:r>
          </a:p>
        </p:txBody>
      </p:sp>
      <p:sp>
        <p:nvSpPr>
          <p:cNvPr id="9" name="Rectangle 13"/>
          <p:cNvSpPr>
            <a:spLocks noChangeArrowheads="1"/>
          </p:cNvSpPr>
          <p:nvPr/>
        </p:nvSpPr>
        <p:spPr bwMode="auto">
          <a:xfrm>
            <a:off x="152400" y="1976606"/>
            <a:ext cx="8839200" cy="1015663"/>
          </a:xfrm>
          <a:prstGeom prst="rect">
            <a:avLst/>
          </a:prstGeom>
          <a:noFill/>
          <a:ln w="9525">
            <a:noFill/>
            <a:miter lim="800000"/>
            <a:headEnd/>
            <a:tailEnd/>
          </a:ln>
        </p:spPr>
        <p:txBody>
          <a:bodyPr anchor="ctr">
            <a:spAutoFit/>
          </a:bodyPr>
          <a:lstStyle/>
          <a:p>
            <a:pPr algn="just" eaLnBrk="1" hangingPunct="1">
              <a:lnSpc>
                <a:spcPct val="125000"/>
              </a:lnSpc>
              <a:spcAft>
                <a:spcPct val="70000"/>
              </a:spcAft>
            </a:pPr>
            <a:r>
              <a:rPr lang="en-US" sz="2400" baseline="0">
                <a:latin typeface="Tw Cen MT" panose="020B0602020104020603" pitchFamily="34" charset="0"/>
              </a:rPr>
              <a:t>We have P1 = 000100110, P2 = 10011110, modulus = 100011010 (nine bits). We show the exclusive or operation by Å. </a:t>
            </a:r>
          </a:p>
        </p:txBody>
      </p:sp>
      <p:pic>
        <p:nvPicPr>
          <p:cNvPr id="10" name="Picture 14"/>
          <p:cNvPicPr>
            <a:picLocks noChangeAspect="1" noChangeArrowheads="1"/>
          </p:cNvPicPr>
          <p:nvPr/>
        </p:nvPicPr>
        <p:blipFill>
          <a:blip r:embed="rId3"/>
          <a:srcRect/>
          <a:stretch>
            <a:fillRect/>
          </a:stretch>
        </p:blipFill>
        <p:spPr bwMode="auto">
          <a:xfrm>
            <a:off x="328613" y="3673475"/>
            <a:ext cx="8510587" cy="2955925"/>
          </a:xfrm>
          <a:prstGeom prst="rect">
            <a:avLst/>
          </a:prstGeom>
          <a:noFill/>
          <a:ln w="9525">
            <a:noFill/>
            <a:miter lim="800000"/>
            <a:headEnd/>
            <a:tailEnd/>
          </a:ln>
        </p:spPr>
      </p:pic>
      <p:sp>
        <p:nvSpPr>
          <p:cNvPr id="11" name="Text Box 15"/>
          <p:cNvSpPr txBox="1">
            <a:spLocks noChangeArrowheads="1"/>
          </p:cNvSpPr>
          <p:nvPr/>
        </p:nvSpPr>
        <p:spPr bwMode="auto">
          <a:xfrm>
            <a:off x="685800" y="3124200"/>
            <a:ext cx="7880042" cy="461665"/>
          </a:xfrm>
          <a:prstGeom prst="rect">
            <a:avLst/>
          </a:prstGeom>
          <a:noFill/>
          <a:ln w="9525">
            <a:noFill/>
            <a:miter lim="800000"/>
            <a:headEnd/>
            <a:tailEnd/>
          </a:ln>
        </p:spPr>
        <p:txBody>
          <a:bodyPr wrap="none">
            <a:spAutoFit/>
          </a:bodyPr>
          <a:lstStyle/>
          <a:p>
            <a:r>
              <a:rPr lang="en-US" sz="2400" baseline="0" dirty="0">
                <a:solidFill>
                  <a:schemeClr val="folHlink"/>
                </a:solidFill>
                <a:latin typeface="Tw Cen MT" panose="020B0602020104020603" pitchFamily="34" charset="0"/>
              </a:rPr>
              <a:t>Table   </a:t>
            </a:r>
            <a:r>
              <a:rPr lang="en-US" sz="2400" i="1" baseline="0" dirty="0">
                <a:latin typeface="Tw Cen MT" panose="020B0602020104020603" pitchFamily="34" charset="0"/>
              </a:rPr>
              <a:t>An efficient algorithm for multiplication using n-bit words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3" name="Text Box 11"/>
          <p:cNvSpPr txBox="1">
            <a:spLocks noChangeArrowheads="1"/>
          </p:cNvSpPr>
          <p:nvPr/>
        </p:nvSpPr>
        <p:spPr bwMode="auto">
          <a:xfrm>
            <a:off x="706328" y="501869"/>
            <a:ext cx="5468356" cy="584775"/>
          </a:xfrm>
          <a:prstGeom prst="rect">
            <a:avLst/>
          </a:prstGeom>
          <a:noFill/>
          <a:ln w="9525">
            <a:noFill/>
            <a:miter lim="800000"/>
            <a:headEnd/>
            <a:tailEnd/>
          </a:ln>
        </p:spPr>
        <p:txBody>
          <a:bodyPr wrap="none">
            <a:spAutoFit/>
          </a:bodyPr>
          <a:lstStyle/>
          <a:p>
            <a:r>
              <a:rPr lang="en-US" sz="3200" dirty="0">
                <a:solidFill>
                  <a:schemeClr val="folHlink"/>
                </a:solidFill>
                <a:latin typeface="Tw Cen MT" panose="020B0602020104020603" pitchFamily="34" charset="0"/>
              </a:rPr>
              <a:t>Multiplication Using bit-patterns </a:t>
            </a:r>
            <a:endParaRPr lang="en-US" sz="3200" baseline="0" dirty="0">
              <a:solidFill>
                <a:schemeClr val="folHlink"/>
              </a:solidFill>
              <a:latin typeface="Tw Cen MT" panose="020B0602020104020603" pitchFamily="34" charset="0"/>
            </a:endParaRPr>
          </a:p>
        </p:txBody>
      </p:sp>
      <p:sp>
        <p:nvSpPr>
          <p:cNvPr id="8" name="Rectangle 11"/>
          <p:cNvSpPr>
            <a:spLocks noChangeArrowheads="1"/>
          </p:cNvSpPr>
          <p:nvPr/>
        </p:nvSpPr>
        <p:spPr bwMode="auto">
          <a:xfrm>
            <a:off x="545910" y="1577418"/>
            <a:ext cx="8118143" cy="2862322"/>
          </a:xfrm>
          <a:prstGeom prst="rect">
            <a:avLst/>
          </a:prstGeom>
          <a:noFill/>
          <a:ln w="9525">
            <a:noFill/>
            <a:miter lim="800000"/>
            <a:headEnd/>
            <a:tailEnd/>
          </a:ln>
        </p:spPr>
        <p:txBody>
          <a:bodyPr wrap="square" anchor="ctr">
            <a:spAutoFit/>
          </a:bodyPr>
          <a:lstStyle/>
          <a:p>
            <a:pPr algn="just" eaLnBrk="1" hangingPunct="1">
              <a:lnSpc>
                <a:spcPct val="125000"/>
              </a:lnSpc>
              <a:spcAft>
                <a:spcPct val="70000"/>
              </a:spcAft>
            </a:pPr>
            <a:r>
              <a:rPr lang="en-US" sz="2400" baseline="0" dirty="0">
                <a:latin typeface="Tw Cen MT" panose="020B0602020104020603" pitchFamily="34" charset="0"/>
              </a:rPr>
              <a:t>The GF(2</a:t>
            </a:r>
            <a:r>
              <a:rPr lang="en-US" sz="2400" baseline="30000" dirty="0">
                <a:latin typeface="Tw Cen MT" panose="020B0602020104020603" pitchFamily="34" charset="0"/>
              </a:rPr>
              <a:t>3</a:t>
            </a:r>
            <a:r>
              <a:rPr lang="en-US" sz="2400" baseline="0" dirty="0">
                <a:latin typeface="Tw Cen MT" panose="020B0602020104020603" pitchFamily="34" charset="0"/>
              </a:rPr>
              <a:t>) field has 8 elements. We use the irreducible polynomial </a:t>
            </a:r>
            <a:r>
              <a:rPr lang="en-US" sz="2400" baseline="0" dirty="0">
                <a:solidFill>
                  <a:srgbClr val="FF0000"/>
                </a:solidFill>
                <a:latin typeface="Tw Cen MT" panose="020B0602020104020603" pitchFamily="34" charset="0"/>
              </a:rPr>
              <a:t>(</a:t>
            </a:r>
            <a:r>
              <a:rPr lang="en-US" sz="2400" i="1" baseline="0" dirty="0">
                <a:solidFill>
                  <a:srgbClr val="FF0000"/>
                </a:solidFill>
                <a:latin typeface="Tw Cen MT" panose="020B0602020104020603" pitchFamily="34" charset="0"/>
              </a:rPr>
              <a:t>x</a:t>
            </a:r>
            <a:r>
              <a:rPr lang="en-US" sz="2400" baseline="30000" dirty="0">
                <a:solidFill>
                  <a:srgbClr val="FF0000"/>
                </a:solidFill>
                <a:latin typeface="Tw Cen MT" panose="020B0602020104020603" pitchFamily="34" charset="0"/>
              </a:rPr>
              <a:t>3</a:t>
            </a:r>
            <a:r>
              <a:rPr lang="en-US" sz="2400" baseline="0" dirty="0">
                <a:solidFill>
                  <a:srgbClr val="FF0000"/>
                </a:solidFill>
                <a:latin typeface="Tw Cen MT" panose="020B0602020104020603" pitchFamily="34" charset="0"/>
              </a:rPr>
              <a:t> + </a:t>
            </a:r>
            <a:r>
              <a:rPr lang="en-US" sz="2400" i="1" baseline="0" dirty="0">
                <a:solidFill>
                  <a:srgbClr val="FF0000"/>
                </a:solidFill>
                <a:latin typeface="Tw Cen MT" panose="020B0602020104020603" pitchFamily="34" charset="0"/>
              </a:rPr>
              <a:t>x</a:t>
            </a:r>
            <a:r>
              <a:rPr lang="en-US" sz="2400" baseline="30000" dirty="0">
                <a:solidFill>
                  <a:srgbClr val="FF0000"/>
                </a:solidFill>
                <a:latin typeface="Tw Cen MT" panose="020B0602020104020603" pitchFamily="34" charset="0"/>
              </a:rPr>
              <a:t>2</a:t>
            </a:r>
            <a:r>
              <a:rPr lang="en-US" sz="2400" baseline="0" dirty="0">
                <a:solidFill>
                  <a:srgbClr val="FF0000"/>
                </a:solidFill>
                <a:latin typeface="Tw Cen MT" panose="020B0602020104020603" pitchFamily="34" charset="0"/>
              </a:rPr>
              <a:t> + 1) </a:t>
            </a:r>
            <a:r>
              <a:rPr lang="en-US" sz="2400" baseline="0" dirty="0">
                <a:latin typeface="Tw Cen MT" panose="020B0602020104020603" pitchFamily="34" charset="0"/>
              </a:rPr>
              <a:t>and show the addition and multiplication tables for this field. We show both 3-bit words and the polynomials. Note that there are two irreducible polynomials for degree 3. The other one, (</a:t>
            </a:r>
            <a:r>
              <a:rPr lang="en-US" sz="2400" i="1" baseline="0" dirty="0">
                <a:latin typeface="Tw Cen MT" panose="020B0602020104020603" pitchFamily="34" charset="0"/>
              </a:rPr>
              <a:t>x</a:t>
            </a:r>
            <a:r>
              <a:rPr lang="en-US" sz="2400" baseline="30000" dirty="0">
                <a:latin typeface="Tw Cen MT" panose="020B0602020104020603" pitchFamily="34" charset="0"/>
              </a:rPr>
              <a:t>3</a:t>
            </a:r>
            <a:r>
              <a:rPr lang="en-US" sz="2400" baseline="0" dirty="0">
                <a:latin typeface="Tw Cen MT" panose="020B0602020104020603" pitchFamily="34" charset="0"/>
              </a:rPr>
              <a:t> + </a:t>
            </a:r>
            <a:r>
              <a:rPr lang="en-US" sz="2400" i="1" baseline="0" dirty="0">
                <a:latin typeface="Tw Cen MT" panose="020B0602020104020603" pitchFamily="34" charset="0"/>
              </a:rPr>
              <a:t>x</a:t>
            </a:r>
            <a:r>
              <a:rPr lang="en-US" sz="2400" baseline="0" dirty="0">
                <a:latin typeface="Tw Cen MT" panose="020B0602020104020603" pitchFamily="34" charset="0"/>
              </a:rPr>
              <a:t> + 1), yields a totally different table for multiplication.</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1"/>
          <p:cNvSpPr txBox="1">
            <a:spLocks noChangeArrowheads="1"/>
          </p:cNvSpPr>
          <p:nvPr/>
        </p:nvSpPr>
        <p:spPr bwMode="auto">
          <a:xfrm>
            <a:off x="2222193" y="789366"/>
            <a:ext cx="4529125" cy="523220"/>
          </a:xfrm>
          <a:prstGeom prst="rect">
            <a:avLst/>
          </a:prstGeom>
          <a:noFill/>
          <a:ln w="9525">
            <a:noFill/>
            <a:miter lim="800000"/>
            <a:headEnd/>
            <a:tailEnd/>
          </a:ln>
        </p:spPr>
        <p:txBody>
          <a:bodyPr wrap="none">
            <a:spAutoFit/>
          </a:bodyPr>
          <a:lstStyle/>
          <a:p>
            <a:r>
              <a:rPr lang="en-US" sz="2800" baseline="0" dirty="0">
                <a:solidFill>
                  <a:schemeClr val="folHlink"/>
                </a:solidFill>
                <a:latin typeface="Tw Cen MT" panose="020B0602020104020603" pitchFamily="34" charset="0"/>
              </a:rPr>
              <a:t> </a:t>
            </a:r>
            <a:r>
              <a:rPr lang="en-US" sz="2800" i="1" baseline="0" dirty="0">
                <a:latin typeface="Tw Cen MT" panose="020B0602020104020603" pitchFamily="34" charset="0"/>
              </a:rPr>
              <a:t>Addition table for GF(2</a:t>
            </a:r>
            <a:r>
              <a:rPr lang="en-US" sz="2800" i="1" baseline="30000" dirty="0">
                <a:latin typeface="Tw Cen MT" panose="020B0602020104020603" pitchFamily="34" charset="0"/>
              </a:rPr>
              <a:t>3</a:t>
            </a:r>
            <a:r>
              <a:rPr lang="en-US" sz="2800" i="1" baseline="0" dirty="0">
                <a:latin typeface="Tw Cen MT" panose="020B0602020104020603" pitchFamily="34" charset="0"/>
              </a:rPr>
              <a:t>)</a:t>
            </a:r>
            <a:r>
              <a:rPr lang="en-US" sz="2800" i="1" baseline="0" dirty="0">
                <a:solidFill>
                  <a:srgbClr val="0000CC"/>
                </a:solidFill>
                <a:latin typeface="Tw Cen MT" panose="020B0602020104020603" pitchFamily="34" charset="0"/>
              </a:rPr>
              <a:t>mod</a:t>
            </a:r>
            <a:r>
              <a:rPr lang="en-US" sz="2800" i="1" baseline="0" dirty="0">
                <a:latin typeface="Tw Cen MT" panose="020B0602020104020603" pitchFamily="34" charset="0"/>
              </a:rPr>
              <a:t> </a:t>
            </a:r>
          </a:p>
        </p:txBody>
      </p:sp>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05240" y="1403545"/>
            <a:ext cx="8477250" cy="4838700"/>
          </a:xfrm>
          <a:prstGeom prst="rect">
            <a:avLst/>
          </a:prstGeom>
        </p:spPr>
      </p:pic>
      <p:sp>
        <p:nvSpPr>
          <p:cNvPr id="3" name="Rectangle 2"/>
          <p:cNvSpPr/>
          <p:nvPr/>
        </p:nvSpPr>
        <p:spPr>
          <a:xfrm>
            <a:off x="6568399" y="838759"/>
            <a:ext cx="1465466" cy="369332"/>
          </a:xfrm>
          <a:prstGeom prst="rect">
            <a:avLst/>
          </a:prstGeom>
        </p:spPr>
        <p:txBody>
          <a:bodyPr wrap="none">
            <a:spAutoFit/>
          </a:bodyPr>
          <a:lstStyle/>
          <a:p>
            <a:r>
              <a:rPr lang="en-US" dirty="0">
                <a:solidFill>
                  <a:srgbClr val="FF0000"/>
                </a:solidFill>
                <a:latin typeface="Tw Cen MT" panose="020B0602020104020603" pitchFamily="34" charset="0"/>
              </a:rPr>
              <a:t>(</a:t>
            </a:r>
            <a:r>
              <a:rPr lang="en-US" i="1" dirty="0">
                <a:solidFill>
                  <a:srgbClr val="FF0000"/>
                </a:solidFill>
                <a:latin typeface="Tw Cen MT" panose="020B0602020104020603" pitchFamily="34" charset="0"/>
              </a:rPr>
              <a:t>x</a:t>
            </a:r>
            <a:r>
              <a:rPr lang="en-US" baseline="30000" dirty="0">
                <a:solidFill>
                  <a:srgbClr val="FF0000"/>
                </a:solidFill>
                <a:latin typeface="Tw Cen MT" panose="020B0602020104020603" pitchFamily="34" charset="0"/>
              </a:rPr>
              <a:t>3</a:t>
            </a:r>
            <a:r>
              <a:rPr lang="en-US" dirty="0">
                <a:solidFill>
                  <a:srgbClr val="FF0000"/>
                </a:solidFill>
                <a:latin typeface="Tw Cen MT" panose="020B0602020104020603" pitchFamily="34" charset="0"/>
              </a:rPr>
              <a:t> + </a:t>
            </a:r>
            <a:r>
              <a:rPr lang="en-US" i="1" dirty="0">
                <a:solidFill>
                  <a:srgbClr val="FF0000"/>
                </a:solidFill>
                <a:latin typeface="Tw Cen MT" panose="020B0602020104020603" pitchFamily="34" charset="0"/>
              </a:rPr>
              <a:t>x</a:t>
            </a:r>
            <a:r>
              <a:rPr lang="en-US" baseline="30000" dirty="0">
                <a:solidFill>
                  <a:srgbClr val="FF0000"/>
                </a:solidFill>
                <a:latin typeface="Tw Cen MT" panose="020B0602020104020603" pitchFamily="34" charset="0"/>
              </a:rPr>
              <a:t>2</a:t>
            </a:r>
            <a:r>
              <a:rPr lang="en-US" dirty="0">
                <a:solidFill>
                  <a:srgbClr val="FF0000"/>
                </a:solidFill>
                <a:latin typeface="Tw Cen MT" panose="020B0602020104020603" pitchFamily="34" charset="0"/>
              </a:rPr>
              <a:t> + 1) </a:t>
            </a:r>
            <a:endParaRPr lang="en-GB"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65538" y="365550"/>
            <a:ext cx="5122684" cy="523220"/>
          </a:xfrm>
          <a:prstGeom prst="rect">
            <a:avLst/>
          </a:prstGeom>
        </p:spPr>
        <p:txBody>
          <a:bodyPr wrap="none">
            <a:spAutoFit/>
          </a:bodyPr>
          <a:lstStyle/>
          <a:p>
            <a:r>
              <a:rPr lang="en-US" sz="2800" i="1" baseline="0" dirty="0">
                <a:solidFill>
                  <a:srgbClr val="0070C0"/>
                </a:solidFill>
                <a:latin typeface="Tw Cen MT" panose="020B0602020104020603" pitchFamily="34" charset="0"/>
              </a:rPr>
              <a:t>Multiplication table for GF(2</a:t>
            </a:r>
            <a:r>
              <a:rPr lang="en-US" sz="2800" i="1" baseline="30000" dirty="0">
                <a:solidFill>
                  <a:srgbClr val="0070C0"/>
                </a:solidFill>
                <a:latin typeface="Tw Cen MT" panose="020B0602020104020603" pitchFamily="34" charset="0"/>
              </a:rPr>
              <a:t>3</a:t>
            </a:r>
            <a:r>
              <a:rPr lang="en-US" sz="2800" i="1" baseline="0" dirty="0">
                <a:solidFill>
                  <a:srgbClr val="0070C0"/>
                </a:solidFill>
                <a:latin typeface="Tw Cen MT" panose="020B0602020104020603" pitchFamily="34" charset="0"/>
              </a:rPr>
              <a:t>) mod</a:t>
            </a:r>
          </a:p>
        </p:txBody>
      </p:sp>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04837" y="947737"/>
            <a:ext cx="7934325" cy="4962525"/>
          </a:xfrm>
          <a:prstGeom prst="rect">
            <a:avLst/>
          </a:prstGeom>
        </p:spPr>
      </p:pic>
      <p:sp>
        <p:nvSpPr>
          <p:cNvPr id="6" name="Rectangle 5"/>
          <p:cNvSpPr/>
          <p:nvPr/>
        </p:nvSpPr>
        <p:spPr>
          <a:xfrm>
            <a:off x="6751279" y="458932"/>
            <a:ext cx="1465466" cy="369332"/>
          </a:xfrm>
          <a:prstGeom prst="rect">
            <a:avLst/>
          </a:prstGeom>
        </p:spPr>
        <p:txBody>
          <a:bodyPr wrap="none">
            <a:spAutoFit/>
          </a:bodyPr>
          <a:lstStyle/>
          <a:p>
            <a:r>
              <a:rPr lang="en-US" dirty="0">
                <a:solidFill>
                  <a:srgbClr val="FF0000"/>
                </a:solidFill>
                <a:latin typeface="Tw Cen MT" panose="020B0602020104020603" pitchFamily="34" charset="0"/>
              </a:rPr>
              <a:t>(</a:t>
            </a:r>
            <a:r>
              <a:rPr lang="en-US" i="1" dirty="0">
                <a:solidFill>
                  <a:srgbClr val="FF0000"/>
                </a:solidFill>
                <a:latin typeface="Tw Cen MT" panose="020B0602020104020603" pitchFamily="34" charset="0"/>
              </a:rPr>
              <a:t>x</a:t>
            </a:r>
            <a:r>
              <a:rPr lang="en-US" baseline="30000" dirty="0">
                <a:solidFill>
                  <a:srgbClr val="FF0000"/>
                </a:solidFill>
                <a:latin typeface="Tw Cen MT" panose="020B0602020104020603" pitchFamily="34" charset="0"/>
              </a:rPr>
              <a:t>3</a:t>
            </a:r>
            <a:r>
              <a:rPr lang="en-US" dirty="0">
                <a:solidFill>
                  <a:srgbClr val="FF0000"/>
                </a:solidFill>
                <a:latin typeface="Tw Cen MT" panose="020B0602020104020603" pitchFamily="34" charset="0"/>
              </a:rPr>
              <a:t> + </a:t>
            </a:r>
            <a:r>
              <a:rPr lang="en-US" i="1" dirty="0">
                <a:solidFill>
                  <a:srgbClr val="FF0000"/>
                </a:solidFill>
                <a:latin typeface="Tw Cen MT" panose="020B0602020104020603" pitchFamily="34" charset="0"/>
              </a:rPr>
              <a:t>x</a:t>
            </a:r>
            <a:r>
              <a:rPr lang="en-US" baseline="30000" dirty="0">
                <a:solidFill>
                  <a:srgbClr val="FF0000"/>
                </a:solidFill>
                <a:latin typeface="Tw Cen MT" panose="020B0602020104020603" pitchFamily="34" charset="0"/>
              </a:rPr>
              <a:t>2</a:t>
            </a:r>
            <a:r>
              <a:rPr lang="en-US" dirty="0">
                <a:solidFill>
                  <a:srgbClr val="FF0000"/>
                </a:solidFill>
                <a:latin typeface="Tw Cen MT" panose="020B0602020104020603" pitchFamily="34" charset="0"/>
              </a:rPr>
              <a:t> + 1) </a:t>
            </a:r>
            <a:endParaRPr lang="en-GB"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idx="4294967295"/>
          </p:nvPr>
        </p:nvSpPr>
        <p:spPr>
          <a:xfrm>
            <a:off x="583224" y="258764"/>
            <a:ext cx="8209084" cy="685800"/>
          </a:xfrm>
        </p:spPr>
        <p:txBody>
          <a:bodyPr/>
          <a:lstStyle/>
          <a:p>
            <a:r>
              <a:rPr lang="en-US"/>
              <a:t>Ordinary Polynomial Arithmetic</a:t>
            </a:r>
            <a:endParaRPr lang="en-AU"/>
          </a:p>
        </p:txBody>
      </p:sp>
      <p:sp>
        <p:nvSpPr>
          <p:cNvPr id="136195" name="Rectangle 3"/>
          <p:cNvSpPr>
            <a:spLocks noGrp="1" noChangeArrowheads="1"/>
          </p:cNvSpPr>
          <p:nvPr>
            <p:ph type="body" idx="4294967295"/>
          </p:nvPr>
        </p:nvSpPr>
        <p:spPr>
          <a:xfrm>
            <a:off x="457201" y="1600201"/>
            <a:ext cx="8229600" cy="4525963"/>
          </a:xfrm>
        </p:spPr>
        <p:txBody>
          <a:bodyPr/>
          <a:lstStyle/>
          <a:p>
            <a:pPr lvl="1"/>
            <a:endParaRPr lang="en-AU"/>
          </a:p>
          <a:p>
            <a:pPr lvl="1"/>
            <a:endParaRPr lang="en-AU"/>
          </a:p>
        </p:txBody>
      </p:sp>
      <p:pic>
        <p:nvPicPr>
          <p:cNvPr id="136196" name="Picture 4"/>
          <p:cNvPicPr>
            <a:picLocks noChangeAspect="1" noChangeArrowheads="1"/>
          </p:cNvPicPr>
          <p:nvPr/>
        </p:nvPicPr>
        <p:blipFill>
          <a:blip r:embed="rId2">
            <a:lum bright="-12000" contrast="12000"/>
          </a:blip>
          <a:srcRect/>
          <a:stretch>
            <a:fillRect/>
          </a:stretch>
        </p:blipFill>
        <p:spPr bwMode="auto">
          <a:xfrm>
            <a:off x="178777" y="939800"/>
            <a:ext cx="8820151" cy="5010150"/>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p:cNvSpPr>
            <a:spLocks noGrp="1" noChangeArrowheads="1"/>
          </p:cNvSpPr>
          <p:nvPr>
            <p:ph idx="4294967295"/>
          </p:nvPr>
        </p:nvSpPr>
        <p:spPr>
          <a:xfrm>
            <a:off x="2844313" y="620712"/>
            <a:ext cx="6049107" cy="1223962"/>
          </a:xfrm>
        </p:spPr>
        <p:txBody>
          <a:bodyPr/>
          <a:lstStyle/>
          <a:p>
            <a:pPr eaLnBrk="1" hangingPunct="1">
              <a:lnSpc>
                <a:spcPct val="80000"/>
              </a:lnSpc>
              <a:spcBef>
                <a:spcPts val="477"/>
              </a:spcBef>
              <a:spcAft>
                <a:spcPts val="477"/>
              </a:spcAft>
              <a:buNone/>
            </a:pPr>
            <a:r>
              <a:rPr lang="en-US" sz="2300" dirty="0"/>
              <a:t>1		2	3	4	5	6	7</a:t>
            </a:r>
          </a:p>
          <a:p>
            <a:pPr eaLnBrk="1" hangingPunct="1">
              <a:lnSpc>
                <a:spcPct val="80000"/>
              </a:lnSpc>
              <a:spcBef>
                <a:spcPts val="477"/>
              </a:spcBef>
              <a:spcAft>
                <a:spcPts val="477"/>
              </a:spcAft>
              <a:buNone/>
            </a:pPr>
            <a:r>
              <a:rPr lang="en-US" sz="2300" dirty="0"/>
              <a:t>4		8	4	12	4	8	4</a:t>
            </a:r>
          </a:p>
          <a:p>
            <a:pPr eaLnBrk="1" hangingPunct="1">
              <a:lnSpc>
                <a:spcPct val="80000"/>
              </a:lnSpc>
              <a:spcBef>
                <a:spcPts val="477"/>
              </a:spcBef>
              <a:spcAft>
                <a:spcPts val="477"/>
              </a:spcAft>
              <a:buNone/>
            </a:pPr>
            <a:r>
              <a:rPr lang="en-US" sz="2300" dirty="0"/>
              <a:t>7		7	7	7	7	7	7</a:t>
            </a:r>
          </a:p>
        </p:txBody>
      </p:sp>
      <p:sp>
        <p:nvSpPr>
          <p:cNvPr id="141315" name="Rectangle 5"/>
          <p:cNvSpPr>
            <a:spLocks noChangeArrowheads="1"/>
          </p:cNvSpPr>
          <p:nvPr/>
        </p:nvSpPr>
        <p:spPr bwMode="auto">
          <a:xfrm>
            <a:off x="395654" y="620714"/>
            <a:ext cx="2664069" cy="1368425"/>
          </a:xfrm>
          <a:prstGeom prst="rect">
            <a:avLst/>
          </a:prstGeom>
          <a:noFill/>
          <a:ln w="9525">
            <a:noFill/>
            <a:miter lim="800000"/>
            <a:headEnd/>
            <a:tailEnd/>
          </a:ln>
        </p:spPr>
        <p:txBody>
          <a:bodyPr lIns="87269" tIns="43634" rIns="87269" bIns="43634"/>
          <a:lstStyle/>
          <a:p>
            <a:pPr marL="327257" indent="-327257">
              <a:spcBef>
                <a:spcPts val="477"/>
              </a:spcBef>
              <a:spcAft>
                <a:spcPts val="477"/>
              </a:spcAft>
            </a:pPr>
            <a:r>
              <a:rPr lang="en-US" dirty="0"/>
              <a:t>Integer</a:t>
            </a:r>
          </a:p>
          <a:p>
            <a:pPr marL="327257" indent="-327257">
              <a:spcBef>
                <a:spcPts val="477"/>
              </a:spcBef>
              <a:spcAft>
                <a:spcPts val="477"/>
              </a:spcAft>
            </a:pPr>
            <a:r>
              <a:rPr lang="en-US" dirty="0"/>
              <a:t>Occurrences in Z</a:t>
            </a:r>
            <a:r>
              <a:rPr lang="en-US" baseline="-25000" dirty="0"/>
              <a:t>8 </a:t>
            </a:r>
          </a:p>
          <a:p>
            <a:pPr marL="327257" indent="-327257">
              <a:spcBef>
                <a:spcPts val="477"/>
              </a:spcBef>
              <a:spcAft>
                <a:spcPts val="477"/>
              </a:spcAft>
            </a:pPr>
            <a:r>
              <a:rPr lang="en-US" dirty="0"/>
              <a:t>Occurrences in GF(2</a:t>
            </a:r>
            <a:r>
              <a:rPr lang="en-US" baseline="30000" dirty="0"/>
              <a:t>3</a:t>
            </a:r>
            <a:r>
              <a:rPr lang="en-US" dirty="0"/>
              <a:t>)	</a:t>
            </a:r>
          </a:p>
        </p:txBody>
      </p:sp>
      <p:grpSp>
        <p:nvGrpSpPr>
          <p:cNvPr id="141316" name="Group 10"/>
          <p:cNvGrpSpPr>
            <a:grpSpLocks/>
          </p:cNvGrpSpPr>
          <p:nvPr/>
        </p:nvGrpSpPr>
        <p:grpSpPr bwMode="auto">
          <a:xfrm>
            <a:off x="178777" y="2420938"/>
            <a:ext cx="3960935" cy="3671887"/>
            <a:chOff x="158" y="1525"/>
            <a:chExt cx="2653" cy="2460"/>
          </a:xfrm>
        </p:grpSpPr>
        <p:sp>
          <p:nvSpPr>
            <p:cNvPr id="141319" name="Rectangle 6"/>
            <p:cNvSpPr>
              <a:spLocks noChangeArrowheads="1"/>
            </p:cNvSpPr>
            <p:nvPr/>
          </p:nvSpPr>
          <p:spPr bwMode="auto">
            <a:xfrm>
              <a:off x="2018" y="1842"/>
              <a:ext cx="363" cy="363"/>
            </a:xfrm>
            <a:prstGeom prst="rect">
              <a:avLst/>
            </a:prstGeom>
            <a:noFill/>
            <a:ln w="9525">
              <a:noFill/>
              <a:miter lim="800000"/>
              <a:headEnd/>
              <a:tailEnd/>
            </a:ln>
          </p:spPr>
          <p:txBody>
            <a:bodyPr/>
            <a:lstStyle/>
            <a:p>
              <a:pPr marL="327257" indent="-327257">
                <a:spcBef>
                  <a:spcPts val="477"/>
                </a:spcBef>
                <a:spcAft>
                  <a:spcPts val="477"/>
                </a:spcAft>
              </a:pPr>
              <a:r>
                <a:rPr lang="en-US" b="1" dirty="0"/>
                <a:t>Z</a:t>
              </a:r>
              <a:r>
                <a:rPr lang="en-US" b="1" baseline="-25000" dirty="0"/>
                <a:t>8 </a:t>
              </a:r>
            </a:p>
          </p:txBody>
        </p:sp>
        <p:pic>
          <p:nvPicPr>
            <p:cNvPr id="141320" name="Picture 8"/>
            <p:cNvPicPr>
              <a:picLocks noChangeAspect="1" noChangeArrowheads="1"/>
            </p:cNvPicPr>
            <p:nvPr/>
          </p:nvPicPr>
          <p:blipFill>
            <a:blip r:embed="rId2"/>
            <a:srcRect/>
            <a:stretch>
              <a:fillRect/>
            </a:stretch>
          </p:blipFill>
          <p:spPr bwMode="auto">
            <a:xfrm>
              <a:off x="158" y="1525"/>
              <a:ext cx="1554" cy="2460"/>
            </a:xfrm>
            <a:prstGeom prst="rect">
              <a:avLst/>
            </a:prstGeom>
            <a:noFill/>
            <a:ln w="9525">
              <a:noFill/>
              <a:miter lim="800000"/>
              <a:headEnd/>
              <a:tailEnd/>
            </a:ln>
          </p:spPr>
        </p:pic>
        <p:pic>
          <p:nvPicPr>
            <p:cNvPr id="141321" name="Picture 9"/>
            <p:cNvPicPr>
              <a:picLocks noChangeAspect="1" noChangeArrowheads="1"/>
            </p:cNvPicPr>
            <p:nvPr/>
          </p:nvPicPr>
          <p:blipFill>
            <a:blip r:embed="rId3"/>
            <a:srcRect/>
            <a:stretch>
              <a:fillRect/>
            </a:stretch>
          </p:blipFill>
          <p:spPr bwMode="auto">
            <a:xfrm>
              <a:off x="1791" y="2478"/>
              <a:ext cx="1020" cy="1302"/>
            </a:xfrm>
            <a:prstGeom prst="rect">
              <a:avLst/>
            </a:prstGeom>
            <a:noFill/>
            <a:ln w="9525">
              <a:noFill/>
              <a:miter lim="800000"/>
              <a:headEnd/>
              <a:tailEnd/>
            </a:ln>
          </p:spPr>
        </p:pic>
      </p:grpSp>
      <p:sp>
        <p:nvSpPr>
          <p:cNvPr id="141317" name="Rectangle 11"/>
          <p:cNvSpPr>
            <a:spLocks noChangeArrowheads="1"/>
          </p:cNvSpPr>
          <p:nvPr/>
        </p:nvSpPr>
        <p:spPr bwMode="auto">
          <a:xfrm>
            <a:off x="7596556" y="3213101"/>
            <a:ext cx="1151792" cy="431800"/>
          </a:xfrm>
          <a:prstGeom prst="rect">
            <a:avLst/>
          </a:prstGeom>
          <a:noFill/>
          <a:ln w="9525">
            <a:noFill/>
            <a:miter lim="800000"/>
            <a:headEnd/>
            <a:tailEnd/>
          </a:ln>
        </p:spPr>
        <p:txBody>
          <a:bodyPr lIns="87269" tIns="43634" rIns="87269" bIns="43634"/>
          <a:lstStyle/>
          <a:p>
            <a:pPr marL="327257" indent="-327257">
              <a:spcBef>
                <a:spcPts val="477"/>
              </a:spcBef>
              <a:spcAft>
                <a:spcPts val="477"/>
              </a:spcAft>
            </a:pPr>
            <a:r>
              <a:rPr lang="en-US" b="1" dirty="0"/>
              <a:t>GF(2</a:t>
            </a:r>
            <a:r>
              <a:rPr lang="en-US" b="1" baseline="30000" dirty="0"/>
              <a:t>3</a:t>
            </a:r>
            <a:r>
              <a:rPr lang="en-US" b="1" dirty="0"/>
              <a:t>)</a:t>
            </a:r>
          </a:p>
        </p:txBody>
      </p:sp>
      <p:pic>
        <p:nvPicPr>
          <p:cNvPr id="141318" name="Picture 7"/>
          <p:cNvPicPr>
            <a:picLocks noChangeAspect="1" noChangeArrowheads="1"/>
          </p:cNvPicPr>
          <p:nvPr/>
        </p:nvPicPr>
        <p:blipFill>
          <a:blip r:embed="rId4"/>
          <a:srcRect/>
          <a:stretch>
            <a:fillRect/>
          </a:stretch>
        </p:blipFill>
        <p:spPr bwMode="auto">
          <a:xfrm>
            <a:off x="323851" y="188913"/>
            <a:ext cx="7102719" cy="6318250"/>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idx="4294967295"/>
          </p:nvPr>
        </p:nvSpPr>
        <p:spPr>
          <a:xfrm>
            <a:off x="457201" y="274638"/>
            <a:ext cx="8229600" cy="1143000"/>
          </a:xfrm>
        </p:spPr>
        <p:txBody>
          <a:bodyPr/>
          <a:lstStyle/>
          <a:p>
            <a:pPr eaLnBrk="1" hangingPunct="1"/>
            <a:r>
              <a:rPr lang="en-US"/>
              <a:t>Computational Considerations</a:t>
            </a:r>
            <a:endParaRPr lang="en-AU"/>
          </a:p>
        </p:txBody>
      </p:sp>
      <p:sp>
        <p:nvSpPr>
          <p:cNvPr id="148483" name="Rectangle 3"/>
          <p:cNvSpPr>
            <a:spLocks noGrp="1" noChangeArrowheads="1"/>
          </p:cNvSpPr>
          <p:nvPr>
            <p:ph idx="4294967295"/>
          </p:nvPr>
        </p:nvSpPr>
        <p:spPr>
          <a:xfrm>
            <a:off x="457201" y="1600201"/>
            <a:ext cx="8229600" cy="4525963"/>
          </a:xfrm>
        </p:spPr>
        <p:txBody>
          <a:bodyPr/>
          <a:lstStyle/>
          <a:p>
            <a:pPr eaLnBrk="1" hangingPunct="1"/>
            <a:r>
              <a:rPr lang="en-US" dirty="0"/>
              <a:t>since coefficients are 0 or 1, can represent any such polynomial as a bit string</a:t>
            </a:r>
          </a:p>
          <a:p>
            <a:pPr eaLnBrk="1" hangingPunct="1"/>
            <a:r>
              <a:rPr lang="en-US" dirty="0">
                <a:solidFill>
                  <a:srgbClr val="990000"/>
                </a:solidFill>
              </a:rPr>
              <a:t>addition becomes XOR</a:t>
            </a:r>
            <a:r>
              <a:rPr lang="en-US" dirty="0"/>
              <a:t> of these bit strings</a:t>
            </a:r>
          </a:p>
          <a:p>
            <a:pPr eaLnBrk="1" hangingPunct="1"/>
            <a:r>
              <a:rPr lang="en-US" dirty="0">
                <a:solidFill>
                  <a:srgbClr val="990000"/>
                </a:solidFill>
              </a:rPr>
              <a:t>multiplication is shift &amp; XOR</a:t>
            </a:r>
          </a:p>
          <a:p>
            <a:pPr lvl="1" eaLnBrk="1" hangingPunct="1"/>
            <a:r>
              <a:rPr lang="en-US" dirty="0"/>
              <a:t>long-hand multiplication</a:t>
            </a:r>
          </a:p>
          <a:p>
            <a:pPr eaLnBrk="1" hangingPunct="1"/>
            <a:r>
              <a:rPr lang="en-US" dirty="0">
                <a:solidFill>
                  <a:srgbClr val="990000"/>
                </a:solidFill>
              </a:rPr>
              <a:t>modulo reduction done by repeatedly</a:t>
            </a:r>
            <a:r>
              <a:rPr lang="en-US" dirty="0"/>
              <a:t> substituting highest power with remainder of irreducible poly (also shift &amp; XOR)</a:t>
            </a:r>
          </a:p>
          <a:p>
            <a:pPr eaLnBrk="1" hangingPunct="1"/>
            <a:endParaRPr lang="en-AU"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idx="4294967295"/>
          </p:nvPr>
        </p:nvSpPr>
        <p:spPr>
          <a:xfrm>
            <a:off x="468924" y="188914"/>
            <a:ext cx="8229600" cy="647700"/>
          </a:xfrm>
        </p:spPr>
        <p:txBody>
          <a:bodyPr/>
          <a:lstStyle/>
          <a:p>
            <a:pPr eaLnBrk="1" hangingPunct="1"/>
            <a:r>
              <a:rPr lang="en-US" sz="3800" dirty="0"/>
              <a:t>Example</a:t>
            </a:r>
            <a:endParaRPr lang="en-AU" sz="3800" dirty="0"/>
          </a:p>
        </p:txBody>
      </p:sp>
      <p:sp>
        <p:nvSpPr>
          <p:cNvPr id="149507" name="Rectangle 3"/>
          <p:cNvSpPr>
            <a:spLocks noGrp="1" noChangeArrowheads="1"/>
          </p:cNvSpPr>
          <p:nvPr>
            <p:ph idx="4294967295"/>
          </p:nvPr>
        </p:nvSpPr>
        <p:spPr>
          <a:xfrm>
            <a:off x="395654" y="908051"/>
            <a:ext cx="8497765" cy="5876925"/>
          </a:xfrm>
        </p:spPr>
        <p:txBody>
          <a:bodyPr/>
          <a:lstStyle/>
          <a:p>
            <a:pPr eaLnBrk="1" hangingPunct="1">
              <a:lnSpc>
                <a:spcPct val="90000"/>
              </a:lnSpc>
            </a:pPr>
            <a:r>
              <a:rPr lang="en-US" sz="2800" dirty="0">
                <a:latin typeface="Times-Roman" charset="0"/>
              </a:rPr>
              <a:t> </a:t>
            </a:r>
            <a:r>
              <a:rPr lang="en-US" sz="2000" dirty="0">
                <a:latin typeface="Times-Roman" charset="0"/>
              </a:rPr>
              <a:t>why mod(x</a:t>
            </a:r>
            <a:r>
              <a:rPr lang="en-US" sz="2000" baseline="30000" dirty="0">
                <a:latin typeface="Times-Roman" charset="0"/>
              </a:rPr>
              <a:t>3</a:t>
            </a:r>
            <a:r>
              <a:rPr lang="en-US" sz="2000" dirty="0">
                <a:latin typeface="Times-Roman" charset="0"/>
              </a:rPr>
              <a:t>+x+1) for GF(2</a:t>
            </a:r>
            <a:r>
              <a:rPr lang="en-US" sz="2000" baseline="30000" dirty="0">
                <a:latin typeface="Times-Roman" charset="0"/>
              </a:rPr>
              <a:t>3</a:t>
            </a:r>
            <a:r>
              <a:rPr lang="en-US" sz="2000" dirty="0">
                <a:latin typeface="Times-Roman" charset="0"/>
              </a:rPr>
              <a:t>) </a:t>
            </a:r>
          </a:p>
          <a:p>
            <a:pPr eaLnBrk="1" hangingPunct="1">
              <a:lnSpc>
                <a:spcPct val="90000"/>
              </a:lnSpc>
            </a:pPr>
            <a:r>
              <a:rPr lang="en-US" sz="2000" dirty="0">
                <a:latin typeface="Times-Roman" charset="0"/>
              </a:rPr>
              <a:t>in </a:t>
            </a:r>
            <a:r>
              <a:rPr lang="en-US" sz="2000" dirty="0"/>
              <a:t>GF(2</a:t>
            </a:r>
            <a:r>
              <a:rPr lang="en-US" sz="2000" baseline="30000" dirty="0"/>
              <a:t>3</a:t>
            </a:r>
            <a:r>
              <a:rPr lang="en-US" sz="2000" dirty="0"/>
              <a:t>)  have </a:t>
            </a:r>
            <a:r>
              <a:rPr lang="en-US" sz="2000" dirty="0">
                <a:latin typeface="Times-Roman" charset="0"/>
              </a:rPr>
              <a:t>(x</a:t>
            </a:r>
            <a:r>
              <a:rPr lang="en-US" sz="2000" baseline="30000" dirty="0">
                <a:latin typeface="Times-Roman" charset="0"/>
              </a:rPr>
              <a:t>2</a:t>
            </a:r>
            <a:r>
              <a:rPr lang="en-US" sz="2000" dirty="0">
                <a:latin typeface="Times-Roman" charset="0"/>
              </a:rPr>
              <a:t>+1) is 101</a:t>
            </a:r>
            <a:r>
              <a:rPr lang="en-US" sz="2000" baseline="-25000" dirty="0">
                <a:latin typeface="Times-Roman" charset="0"/>
              </a:rPr>
              <a:t>2</a:t>
            </a:r>
            <a:r>
              <a:rPr lang="en-US" sz="2000" dirty="0">
                <a:latin typeface="Times-Roman" charset="0"/>
              </a:rPr>
              <a:t> &amp; (x</a:t>
            </a:r>
            <a:r>
              <a:rPr lang="en-US" sz="2000" baseline="30000" dirty="0">
                <a:latin typeface="Times-Roman" charset="0"/>
              </a:rPr>
              <a:t>2</a:t>
            </a:r>
            <a:r>
              <a:rPr lang="en-US" sz="2000" dirty="0">
                <a:latin typeface="Times-Roman" charset="0"/>
              </a:rPr>
              <a:t>+x+1) is 111</a:t>
            </a:r>
            <a:r>
              <a:rPr lang="en-US" sz="2000" baseline="-25000" dirty="0">
                <a:latin typeface="Times-Roman" charset="0"/>
              </a:rPr>
              <a:t>2</a:t>
            </a:r>
            <a:endParaRPr lang="en-US" sz="2000" dirty="0">
              <a:latin typeface="Times-Roman" charset="0"/>
            </a:endParaRPr>
          </a:p>
          <a:p>
            <a:pPr eaLnBrk="1" hangingPunct="1">
              <a:lnSpc>
                <a:spcPct val="90000"/>
              </a:lnSpc>
            </a:pPr>
            <a:r>
              <a:rPr lang="en-US" sz="2000" dirty="0">
                <a:latin typeface="Times-Roman" charset="0"/>
              </a:rPr>
              <a:t>so addition is</a:t>
            </a:r>
          </a:p>
          <a:p>
            <a:pPr lvl="1" eaLnBrk="1" hangingPunct="1">
              <a:lnSpc>
                <a:spcPct val="90000"/>
              </a:lnSpc>
            </a:pPr>
            <a:r>
              <a:rPr lang="en-US" sz="2000" dirty="0">
                <a:latin typeface="Times-Roman" charset="0"/>
              </a:rPr>
              <a:t>(x</a:t>
            </a:r>
            <a:r>
              <a:rPr lang="en-US" sz="2000" baseline="30000" dirty="0">
                <a:latin typeface="Times-Roman" charset="0"/>
              </a:rPr>
              <a:t>2</a:t>
            </a:r>
            <a:r>
              <a:rPr lang="en-US" sz="2000" dirty="0">
                <a:latin typeface="Times-Roman" charset="0"/>
              </a:rPr>
              <a:t>+1) + (x</a:t>
            </a:r>
            <a:r>
              <a:rPr lang="en-US" sz="2000" baseline="30000" dirty="0">
                <a:latin typeface="Times-Roman" charset="0"/>
              </a:rPr>
              <a:t>2</a:t>
            </a:r>
            <a:r>
              <a:rPr lang="en-US" sz="2000" dirty="0">
                <a:latin typeface="Times-Roman" charset="0"/>
              </a:rPr>
              <a:t>+x+1) = x </a:t>
            </a:r>
          </a:p>
          <a:p>
            <a:pPr lvl="1" eaLnBrk="1" hangingPunct="1">
              <a:lnSpc>
                <a:spcPct val="90000"/>
              </a:lnSpc>
            </a:pPr>
            <a:r>
              <a:rPr lang="en-US" sz="2000" dirty="0">
                <a:latin typeface="Times-Roman" charset="0"/>
              </a:rPr>
              <a:t>101 XOR 111 = 010</a:t>
            </a:r>
            <a:r>
              <a:rPr lang="en-US" sz="2000" baseline="-25000" dirty="0">
                <a:latin typeface="Times-Roman" charset="0"/>
              </a:rPr>
              <a:t>2</a:t>
            </a:r>
            <a:endParaRPr lang="en-US" sz="2000" dirty="0">
              <a:latin typeface="Times-Roman" charset="0"/>
            </a:endParaRPr>
          </a:p>
          <a:p>
            <a:pPr eaLnBrk="1" hangingPunct="1">
              <a:lnSpc>
                <a:spcPct val="90000"/>
              </a:lnSpc>
            </a:pPr>
            <a:r>
              <a:rPr lang="en-US" sz="2000" dirty="0">
                <a:latin typeface="Times-Roman" charset="0"/>
              </a:rPr>
              <a:t>and multiplication is</a:t>
            </a:r>
          </a:p>
          <a:p>
            <a:pPr lvl="1" eaLnBrk="1" hangingPunct="1">
              <a:lnSpc>
                <a:spcPct val="90000"/>
              </a:lnSpc>
            </a:pPr>
            <a:r>
              <a:rPr lang="en-US" sz="2000" dirty="0">
                <a:latin typeface="Times-Roman" charset="0"/>
              </a:rPr>
              <a:t>(x+1).(x</a:t>
            </a:r>
            <a:r>
              <a:rPr lang="en-US" sz="2000" baseline="30000" dirty="0">
                <a:latin typeface="Times-Roman" charset="0"/>
              </a:rPr>
              <a:t>2</a:t>
            </a:r>
            <a:r>
              <a:rPr lang="en-US" sz="2000" dirty="0">
                <a:latin typeface="Times-Roman" charset="0"/>
              </a:rPr>
              <a:t>+1) = x.(x</a:t>
            </a:r>
            <a:r>
              <a:rPr lang="en-US" sz="2000" baseline="30000" dirty="0">
                <a:latin typeface="Times-Roman" charset="0"/>
              </a:rPr>
              <a:t>2</a:t>
            </a:r>
            <a:r>
              <a:rPr lang="en-US" sz="2000" dirty="0">
                <a:latin typeface="Times-Roman" charset="0"/>
              </a:rPr>
              <a:t>+1) + 1.(x</a:t>
            </a:r>
            <a:r>
              <a:rPr lang="en-US" sz="2000" baseline="30000" dirty="0">
                <a:latin typeface="Times-Roman" charset="0"/>
              </a:rPr>
              <a:t>2</a:t>
            </a:r>
            <a:r>
              <a:rPr lang="en-US" sz="2000" dirty="0">
                <a:latin typeface="Times-Roman" charset="0"/>
              </a:rPr>
              <a:t>+1) </a:t>
            </a:r>
          </a:p>
          <a:p>
            <a:pPr lvl="1" eaLnBrk="1" hangingPunct="1">
              <a:lnSpc>
                <a:spcPct val="90000"/>
              </a:lnSpc>
              <a:buFontTx/>
              <a:buNone/>
            </a:pPr>
            <a:r>
              <a:rPr lang="en-US" sz="2000" dirty="0">
                <a:latin typeface="Times-Roman" charset="0"/>
              </a:rPr>
              <a:t>			= x</a:t>
            </a:r>
            <a:r>
              <a:rPr lang="en-US" sz="2000" baseline="30000" dirty="0">
                <a:latin typeface="Times-Roman" charset="0"/>
              </a:rPr>
              <a:t>3</a:t>
            </a:r>
            <a:r>
              <a:rPr lang="en-US" sz="2000" dirty="0">
                <a:latin typeface="Times-Roman" charset="0"/>
              </a:rPr>
              <a:t>+x+x</a:t>
            </a:r>
            <a:r>
              <a:rPr lang="en-US" sz="2000" baseline="30000" dirty="0">
                <a:latin typeface="Times-Roman" charset="0"/>
              </a:rPr>
              <a:t>2</a:t>
            </a:r>
            <a:r>
              <a:rPr lang="en-US" sz="2000" dirty="0">
                <a:latin typeface="Times-Roman" charset="0"/>
              </a:rPr>
              <a:t>+1 = x</a:t>
            </a:r>
            <a:r>
              <a:rPr lang="en-US" sz="2000" baseline="30000" dirty="0">
                <a:latin typeface="Times-Roman" charset="0"/>
              </a:rPr>
              <a:t>3</a:t>
            </a:r>
            <a:r>
              <a:rPr lang="en-US" sz="2000" dirty="0">
                <a:latin typeface="Times-Roman" charset="0"/>
              </a:rPr>
              <a:t>+x</a:t>
            </a:r>
            <a:r>
              <a:rPr lang="en-US" sz="2000" baseline="30000" dirty="0">
                <a:latin typeface="Times-Roman" charset="0"/>
              </a:rPr>
              <a:t>2</a:t>
            </a:r>
            <a:r>
              <a:rPr lang="en-US" sz="2000" dirty="0">
                <a:latin typeface="Times-Roman" charset="0"/>
              </a:rPr>
              <a:t>+x+1 </a:t>
            </a:r>
          </a:p>
          <a:p>
            <a:pPr lvl="1" eaLnBrk="1" hangingPunct="1">
              <a:lnSpc>
                <a:spcPct val="90000"/>
              </a:lnSpc>
            </a:pPr>
            <a:r>
              <a:rPr lang="en-US" sz="2000" dirty="0">
                <a:latin typeface="Times-Roman" charset="0"/>
              </a:rPr>
              <a:t> 011.101 = (101)&lt;&lt;1 XOR (101)&lt;&lt;0 = </a:t>
            </a:r>
          </a:p>
          <a:p>
            <a:pPr lvl="1" eaLnBrk="1" hangingPunct="1">
              <a:lnSpc>
                <a:spcPct val="90000"/>
              </a:lnSpc>
              <a:buFontTx/>
              <a:buNone/>
            </a:pPr>
            <a:r>
              <a:rPr lang="en-US" sz="2000" dirty="0">
                <a:latin typeface="Times-Roman" charset="0"/>
              </a:rPr>
              <a:t>			1010 XOR 101 = 1111</a:t>
            </a:r>
            <a:r>
              <a:rPr lang="en-US" sz="2000" baseline="-25000" dirty="0">
                <a:latin typeface="Times-Roman" charset="0"/>
              </a:rPr>
              <a:t>2</a:t>
            </a:r>
            <a:r>
              <a:rPr lang="en-US" sz="2000" dirty="0">
                <a:latin typeface="Times-Roman" charset="0"/>
              </a:rPr>
              <a:t> </a:t>
            </a:r>
          </a:p>
          <a:p>
            <a:pPr eaLnBrk="1" hangingPunct="1">
              <a:lnSpc>
                <a:spcPct val="90000"/>
              </a:lnSpc>
            </a:pPr>
            <a:r>
              <a:rPr lang="en-US" sz="2000" dirty="0">
                <a:latin typeface="Times-Roman" charset="0"/>
              </a:rPr>
              <a:t>polynomial modulo reduction (get q(x) &amp; r(x)) is</a:t>
            </a:r>
          </a:p>
          <a:p>
            <a:pPr lvl="1" eaLnBrk="1" hangingPunct="1">
              <a:lnSpc>
                <a:spcPct val="90000"/>
              </a:lnSpc>
            </a:pPr>
            <a:r>
              <a:rPr lang="en-US" sz="2000" dirty="0">
                <a:latin typeface="Times-Roman" charset="0"/>
              </a:rPr>
              <a:t> (x</a:t>
            </a:r>
            <a:r>
              <a:rPr lang="en-US" sz="2000" baseline="30000" dirty="0">
                <a:latin typeface="Times-Roman" charset="0"/>
              </a:rPr>
              <a:t>3</a:t>
            </a:r>
            <a:r>
              <a:rPr lang="en-US" sz="2000" dirty="0">
                <a:latin typeface="Times-Roman" charset="0"/>
              </a:rPr>
              <a:t>+x</a:t>
            </a:r>
            <a:r>
              <a:rPr lang="en-US" sz="2000" baseline="30000" dirty="0">
                <a:latin typeface="Times-Roman" charset="0"/>
              </a:rPr>
              <a:t>2</a:t>
            </a:r>
            <a:r>
              <a:rPr lang="en-US" sz="2000" dirty="0">
                <a:latin typeface="Times-Roman" charset="0"/>
              </a:rPr>
              <a:t>+x+1 ) mod (x</a:t>
            </a:r>
            <a:r>
              <a:rPr lang="en-US" sz="2000" baseline="30000" dirty="0">
                <a:latin typeface="Times-Roman" charset="0"/>
              </a:rPr>
              <a:t>3</a:t>
            </a:r>
            <a:r>
              <a:rPr lang="en-US" sz="2000" dirty="0">
                <a:latin typeface="Times-Roman" charset="0"/>
              </a:rPr>
              <a:t>+x+1) = 1.(x</a:t>
            </a:r>
            <a:r>
              <a:rPr lang="en-US" sz="2000" baseline="30000" dirty="0">
                <a:latin typeface="Times-Roman" charset="0"/>
              </a:rPr>
              <a:t>3</a:t>
            </a:r>
            <a:r>
              <a:rPr lang="en-US" sz="2000" dirty="0">
                <a:latin typeface="Times-Roman" charset="0"/>
              </a:rPr>
              <a:t>+x+1) + (x</a:t>
            </a:r>
            <a:r>
              <a:rPr lang="en-US" sz="2000" baseline="30000" dirty="0">
                <a:latin typeface="Times-Roman" charset="0"/>
              </a:rPr>
              <a:t>2</a:t>
            </a:r>
            <a:r>
              <a:rPr lang="en-US" sz="2000" dirty="0">
                <a:latin typeface="Times-Roman" charset="0"/>
              </a:rPr>
              <a:t>) = x</a:t>
            </a:r>
            <a:r>
              <a:rPr lang="en-US" sz="2000" baseline="30000" dirty="0">
                <a:latin typeface="Times-Roman" charset="0"/>
              </a:rPr>
              <a:t>2</a:t>
            </a:r>
            <a:endParaRPr lang="en-US" sz="2000" dirty="0">
              <a:latin typeface="Times-Roman" charset="0"/>
            </a:endParaRPr>
          </a:p>
          <a:p>
            <a:pPr lvl="1" eaLnBrk="1" hangingPunct="1">
              <a:lnSpc>
                <a:spcPct val="90000"/>
              </a:lnSpc>
            </a:pPr>
            <a:r>
              <a:rPr lang="en-US" sz="2000" dirty="0">
                <a:latin typeface="Times-Roman" charset="0"/>
              </a:rPr>
              <a:t> 1111 mod 1011 = 1111 XOR 1011 = 0100</a:t>
            </a:r>
            <a:r>
              <a:rPr lang="en-US" sz="2000" baseline="-25000" dirty="0">
                <a:latin typeface="Times-Roman" charset="0"/>
              </a:rPr>
              <a:t>2</a:t>
            </a:r>
            <a:endParaRPr lang="en-AU" sz="2000" baseline="-25000" dirty="0">
              <a:latin typeface="Times-Roman"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itle 1"/>
          <p:cNvSpPr>
            <a:spLocks noGrp="1"/>
          </p:cNvSpPr>
          <p:nvPr>
            <p:ph type="title" idx="4294967295"/>
          </p:nvPr>
        </p:nvSpPr>
        <p:spPr>
          <a:xfrm>
            <a:off x="523143" y="403225"/>
            <a:ext cx="7792915" cy="682625"/>
          </a:xfrm>
        </p:spPr>
        <p:txBody>
          <a:bodyPr/>
          <a:lstStyle/>
          <a:p>
            <a:endParaRPr lang="en-US"/>
          </a:p>
        </p:txBody>
      </p:sp>
      <p:pic>
        <p:nvPicPr>
          <p:cNvPr id="150531" name="Picture 2"/>
          <p:cNvPicPr>
            <a:picLocks noChangeAspect="1" noChangeArrowheads="1"/>
          </p:cNvPicPr>
          <p:nvPr/>
        </p:nvPicPr>
        <p:blipFill>
          <a:blip r:embed="rId2"/>
          <a:srcRect/>
          <a:stretch>
            <a:fillRect/>
          </a:stretch>
        </p:blipFill>
        <p:spPr bwMode="auto">
          <a:xfrm>
            <a:off x="621324" y="950913"/>
            <a:ext cx="7706458" cy="5480050"/>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itle 1"/>
          <p:cNvSpPr>
            <a:spLocks noGrp="1"/>
          </p:cNvSpPr>
          <p:nvPr>
            <p:ph type="title" idx="4294967295"/>
          </p:nvPr>
        </p:nvSpPr>
        <p:spPr>
          <a:xfrm>
            <a:off x="523143" y="403225"/>
            <a:ext cx="7792915" cy="682625"/>
          </a:xfrm>
        </p:spPr>
        <p:txBody>
          <a:bodyPr/>
          <a:lstStyle/>
          <a:p>
            <a:endParaRPr lang="en-US"/>
          </a:p>
        </p:txBody>
      </p:sp>
      <p:pic>
        <p:nvPicPr>
          <p:cNvPr id="151555" name="Picture 2"/>
          <p:cNvPicPr>
            <a:picLocks noChangeAspect="1" noChangeArrowheads="1"/>
          </p:cNvPicPr>
          <p:nvPr/>
        </p:nvPicPr>
        <p:blipFill>
          <a:blip r:embed="rId2"/>
          <a:srcRect/>
          <a:stretch>
            <a:fillRect/>
          </a:stretch>
        </p:blipFill>
        <p:spPr bwMode="auto">
          <a:xfrm>
            <a:off x="621324" y="950913"/>
            <a:ext cx="7706458" cy="5480050"/>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1"/>
          <p:cNvSpPr txBox="1">
            <a:spLocks noChangeArrowheads="1"/>
          </p:cNvSpPr>
          <p:nvPr/>
        </p:nvSpPr>
        <p:spPr bwMode="auto">
          <a:xfrm>
            <a:off x="381001" y="0"/>
            <a:ext cx="8229600" cy="1225550"/>
          </a:xfrm>
          <a:prstGeom prst="rect">
            <a:avLst/>
          </a:prstGeom>
          <a:noFill/>
          <a:ln w="9525">
            <a:noFill/>
            <a:round/>
            <a:headEnd/>
            <a:tailEnd/>
          </a:ln>
        </p:spPr>
        <p:txBody>
          <a:bodyPr lIns="87269" tIns="43634" rIns="87269" bIns="43634" anchor="ctr" anchorCtr="1"/>
          <a:lstStyle/>
          <a:p>
            <a:pPr algn="ctr">
              <a:tabLst>
                <a:tab pos="0" algn="l"/>
                <a:tab pos="872687" algn="l"/>
                <a:tab pos="1745373" algn="l"/>
                <a:tab pos="2618061" algn="l"/>
                <a:tab pos="3490747" algn="l"/>
                <a:tab pos="4363434" algn="l"/>
                <a:tab pos="5236120" algn="l"/>
                <a:tab pos="6108808" algn="l"/>
                <a:tab pos="6981494" algn="l"/>
                <a:tab pos="7854181" algn="l"/>
                <a:tab pos="8726867" algn="l"/>
                <a:tab pos="9599554" algn="l"/>
              </a:tabLst>
            </a:pPr>
            <a:r>
              <a:rPr lang="en-US" sz="4200" dirty="0">
                <a:solidFill>
                  <a:schemeClr val="bg1"/>
                </a:solidFill>
                <a:ea typeface="ＭＳ Ｐゴシック" pitchFamily="34" charset="-128"/>
              </a:rPr>
              <a:t>Example GF(2</a:t>
            </a:r>
            <a:r>
              <a:rPr lang="en-US" sz="4200" baseline="30000" dirty="0">
                <a:solidFill>
                  <a:schemeClr val="bg1"/>
                </a:solidFill>
                <a:ea typeface="ＭＳ Ｐゴシック" pitchFamily="34" charset="-128"/>
              </a:rPr>
              <a:t>3</a:t>
            </a:r>
            <a:r>
              <a:rPr lang="en-US" sz="4200" dirty="0">
                <a:solidFill>
                  <a:schemeClr val="bg1"/>
                </a:solidFill>
                <a:ea typeface="ＭＳ Ｐゴシック" pitchFamily="34" charset="-128"/>
              </a:rPr>
              <a:t>)</a:t>
            </a:r>
          </a:p>
        </p:txBody>
      </p:sp>
      <p:pic>
        <p:nvPicPr>
          <p:cNvPr id="160771" name="Picture 2"/>
          <p:cNvPicPr>
            <a:picLocks noChangeAspect="1" noChangeArrowheads="1"/>
          </p:cNvPicPr>
          <p:nvPr/>
        </p:nvPicPr>
        <p:blipFill>
          <a:blip r:embed="rId3"/>
          <a:srcRect/>
          <a:stretch>
            <a:fillRect/>
          </a:stretch>
        </p:blipFill>
        <p:spPr bwMode="auto">
          <a:xfrm>
            <a:off x="228601" y="1143000"/>
            <a:ext cx="8699989" cy="5575299"/>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8" name="Picture 3"/>
          <p:cNvPicPr>
            <a:picLocks noGrp="1" noChangeAspect="1" noChangeArrowheads="1"/>
          </p:cNvPicPr>
          <p:nvPr>
            <p:ph type="body" idx="4294967295"/>
          </p:nvPr>
        </p:nvPicPr>
        <p:blipFill>
          <a:blip r:embed="rId3"/>
          <a:srcRect/>
          <a:stretch>
            <a:fillRect/>
          </a:stretch>
        </p:blipFill>
        <p:spPr>
          <a:xfrm>
            <a:off x="684336" y="2420939"/>
            <a:ext cx="8229600" cy="4221163"/>
          </a:xfrm>
        </p:spPr>
      </p:pic>
      <p:sp>
        <p:nvSpPr>
          <p:cNvPr id="162819" name="Rectangle 2"/>
          <p:cNvSpPr>
            <a:spLocks noGrp="1" noChangeArrowheads="1"/>
          </p:cNvSpPr>
          <p:nvPr>
            <p:ph type="title" idx="4294967295"/>
          </p:nvPr>
        </p:nvSpPr>
        <p:spPr>
          <a:xfrm>
            <a:off x="971551" y="6165851"/>
            <a:ext cx="1729154" cy="346074"/>
          </a:xfrm>
        </p:spPr>
        <p:txBody>
          <a:bodyPr/>
          <a:lstStyle/>
          <a:p>
            <a:r>
              <a:rPr lang="en-US" sz="2700" dirty="0"/>
              <a:t>GF(7)</a:t>
            </a:r>
            <a:endParaRPr lang="en-AU" sz="2700" dirty="0"/>
          </a:p>
        </p:txBody>
      </p:sp>
      <p:grpSp>
        <p:nvGrpSpPr>
          <p:cNvPr id="162820" name="Group 4"/>
          <p:cNvGrpSpPr>
            <a:grpSpLocks/>
          </p:cNvGrpSpPr>
          <p:nvPr/>
        </p:nvGrpSpPr>
        <p:grpSpPr bwMode="auto">
          <a:xfrm>
            <a:off x="1258766" y="260351"/>
            <a:ext cx="6542942" cy="1439863"/>
            <a:chOff x="567" y="1797"/>
            <a:chExt cx="4121" cy="907"/>
          </a:xfrm>
        </p:grpSpPr>
        <p:pic>
          <p:nvPicPr>
            <p:cNvPr id="162822" name="Picture 5"/>
            <p:cNvPicPr>
              <a:picLocks noChangeAspect="1" noChangeArrowheads="1"/>
            </p:cNvPicPr>
            <p:nvPr/>
          </p:nvPicPr>
          <p:blipFill>
            <a:blip r:embed="rId4">
              <a:lum contrast="-6000"/>
            </a:blip>
            <a:srcRect/>
            <a:stretch>
              <a:fillRect/>
            </a:stretch>
          </p:blipFill>
          <p:spPr bwMode="auto">
            <a:xfrm>
              <a:off x="567" y="1797"/>
              <a:ext cx="1043" cy="892"/>
            </a:xfrm>
            <a:prstGeom prst="rect">
              <a:avLst/>
            </a:prstGeom>
            <a:noFill/>
            <a:ln w="9525">
              <a:noFill/>
              <a:miter lim="800000"/>
              <a:headEnd/>
              <a:tailEnd/>
            </a:ln>
          </p:spPr>
        </p:pic>
        <p:pic>
          <p:nvPicPr>
            <p:cNvPr id="162823" name="Picture 6"/>
            <p:cNvPicPr>
              <a:picLocks noChangeAspect="1" noChangeArrowheads="1"/>
            </p:cNvPicPr>
            <p:nvPr/>
          </p:nvPicPr>
          <p:blipFill>
            <a:blip r:embed="rId5">
              <a:lum contrast="-6000"/>
            </a:blip>
            <a:srcRect/>
            <a:stretch>
              <a:fillRect/>
            </a:stretch>
          </p:blipFill>
          <p:spPr bwMode="auto">
            <a:xfrm>
              <a:off x="1927" y="1812"/>
              <a:ext cx="1044" cy="892"/>
            </a:xfrm>
            <a:prstGeom prst="rect">
              <a:avLst/>
            </a:prstGeom>
            <a:noFill/>
            <a:ln w="9525">
              <a:noFill/>
              <a:miter lim="800000"/>
              <a:headEnd/>
              <a:tailEnd/>
            </a:ln>
          </p:spPr>
        </p:pic>
        <p:pic>
          <p:nvPicPr>
            <p:cNvPr id="162824" name="Picture 7"/>
            <p:cNvPicPr>
              <a:picLocks noChangeAspect="1" noChangeArrowheads="1"/>
            </p:cNvPicPr>
            <p:nvPr/>
          </p:nvPicPr>
          <p:blipFill>
            <a:blip r:embed="rId6">
              <a:lum contrast="-6000"/>
            </a:blip>
            <a:srcRect/>
            <a:stretch>
              <a:fillRect/>
            </a:stretch>
          </p:blipFill>
          <p:spPr bwMode="auto">
            <a:xfrm>
              <a:off x="3289" y="1797"/>
              <a:ext cx="1399" cy="891"/>
            </a:xfrm>
            <a:prstGeom prst="rect">
              <a:avLst/>
            </a:prstGeom>
            <a:noFill/>
            <a:ln w="9525">
              <a:noFill/>
              <a:miter lim="800000"/>
              <a:headEnd/>
              <a:tailEnd/>
            </a:ln>
          </p:spPr>
        </p:pic>
      </p:grpSp>
      <p:sp>
        <p:nvSpPr>
          <p:cNvPr id="162821" name="Rectangle 8"/>
          <p:cNvSpPr>
            <a:spLocks noChangeArrowheads="1"/>
          </p:cNvSpPr>
          <p:nvPr/>
        </p:nvSpPr>
        <p:spPr bwMode="auto">
          <a:xfrm>
            <a:off x="1332036" y="1844676"/>
            <a:ext cx="3792617" cy="365119"/>
          </a:xfrm>
          <a:prstGeom prst="rect">
            <a:avLst/>
          </a:prstGeom>
          <a:noFill/>
          <a:ln w="9525">
            <a:noFill/>
            <a:miter lim="800000"/>
            <a:headEnd/>
            <a:tailEnd/>
          </a:ln>
        </p:spPr>
        <p:txBody>
          <a:bodyPr wrap="none" lIns="87269" tIns="43634" rIns="87269" bIns="43634">
            <a:spAutoFit/>
          </a:bodyPr>
          <a:lstStyle/>
          <a:p>
            <a:r>
              <a:rPr lang="en-US" b="1">
                <a:solidFill>
                  <a:schemeClr val="accent2"/>
                </a:solidFill>
              </a:rPr>
              <a:t>The simplest finite field is GF(2).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itle 1"/>
          <p:cNvSpPr>
            <a:spLocks noGrp="1"/>
          </p:cNvSpPr>
          <p:nvPr>
            <p:ph type="title" idx="4294967295"/>
          </p:nvPr>
        </p:nvSpPr>
        <p:spPr>
          <a:xfrm>
            <a:off x="523143" y="403225"/>
            <a:ext cx="7792915" cy="682625"/>
          </a:xfrm>
        </p:spPr>
        <p:txBody>
          <a:bodyPr/>
          <a:lstStyle/>
          <a:p>
            <a:endParaRPr lang="en-US"/>
          </a:p>
        </p:txBody>
      </p:sp>
      <p:pic>
        <p:nvPicPr>
          <p:cNvPr id="163843" name="Picture 3"/>
          <p:cNvPicPr>
            <a:picLocks noChangeAspect="1" noChangeArrowheads="1"/>
          </p:cNvPicPr>
          <p:nvPr/>
        </p:nvPicPr>
        <p:blipFill>
          <a:blip r:embed="rId2"/>
          <a:srcRect/>
          <a:stretch>
            <a:fillRect/>
          </a:stretch>
        </p:blipFill>
        <p:spPr bwMode="auto">
          <a:xfrm>
            <a:off x="514351" y="3000375"/>
            <a:ext cx="8077200" cy="1373188"/>
          </a:xfrm>
          <a:prstGeom prst="rect">
            <a:avLst/>
          </a:prstGeom>
          <a:noFill/>
          <a:ln w="9525">
            <a:noFill/>
            <a:miter lim="800000"/>
            <a:headEnd/>
            <a:tailEnd/>
          </a:ln>
        </p:spPr>
      </p:pic>
      <p:pic>
        <p:nvPicPr>
          <p:cNvPr id="163844" name="Picture 4"/>
          <p:cNvPicPr>
            <a:picLocks noChangeAspect="1" noChangeArrowheads="1"/>
          </p:cNvPicPr>
          <p:nvPr/>
        </p:nvPicPr>
        <p:blipFill>
          <a:blip r:embed="rId3"/>
          <a:srcRect/>
          <a:stretch>
            <a:fillRect/>
          </a:stretch>
        </p:blipFill>
        <p:spPr bwMode="auto">
          <a:xfrm>
            <a:off x="660889" y="1643064"/>
            <a:ext cx="7479323" cy="338137"/>
          </a:xfrm>
          <a:prstGeom prst="rect">
            <a:avLst/>
          </a:prstGeom>
          <a:noFill/>
          <a:ln w="9525">
            <a:noFill/>
            <a:miter lim="800000"/>
            <a:headEnd/>
            <a:tailEnd/>
          </a:ln>
        </p:spPr>
      </p:pic>
      <p:pic>
        <p:nvPicPr>
          <p:cNvPr id="163845" name="Picture 5"/>
          <p:cNvPicPr>
            <a:picLocks noChangeAspect="1" noChangeArrowheads="1"/>
          </p:cNvPicPr>
          <p:nvPr/>
        </p:nvPicPr>
        <p:blipFill>
          <a:blip r:embed="rId4"/>
          <a:srcRect/>
          <a:stretch>
            <a:fillRect/>
          </a:stretch>
        </p:blipFill>
        <p:spPr bwMode="auto">
          <a:xfrm>
            <a:off x="363417" y="4184652"/>
            <a:ext cx="7501304" cy="1698625"/>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1"/>
          <p:cNvSpPr txBox="1">
            <a:spLocks noChangeArrowheads="1"/>
          </p:cNvSpPr>
          <p:nvPr/>
        </p:nvSpPr>
        <p:spPr bwMode="auto">
          <a:xfrm>
            <a:off x="457201" y="-28135"/>
            <a:ext cx="8229600" cy="1139826"/>
          </a:xfrm>
          <a:prstGeom prst="rect">
            <a:avLst/>
          </a:prstGeom>
          <a:noFill/>
          <a:ln w="9525">
            <a:noFill/>
            <a:round/>
            <a:headEnd/>
            <a:tailEnd/>
          </a:ln>
        </p:spPr>
        <p:txBody>
          <a:bodyPr lIns="87269" tIns="43634" rIns="87269" bIns="43634" anchor="ctr" anchorCtr="1"/>
          <a:lstStyle/>
          <a:p>
            <a:pPr algn="ctr">
              <a:tabLst>
                <a:tab pos="0" algn="l"/>
                <a:tab pos="872687" algn="l"/>
                <a:tab pos="1745373" algn="l"/>
                <a:tab pos="2618061" algn="l"/>
                <a:tab pos="3490747" algn="l"/>
                <a:tab pos="4363434" algn="l"/>
                <a:tab pos="5236120" algn="l"/>
                <a:tab pos="6108808" algn="l"/>
                <a:tab pos="6981494" algn="l"/>
                <a:tab pos="7854181" algn="l"/>
                <a:tab pos="8726867" algn="l"/>
                <a:tab pos="9599554" algn="l"/>
              </a:tabLst>
            </a:pPr>
            <a:r>
              <a:rPr lang="en-US" sz="4200" dirty="0">
                <a:solidFill>
                  <a:schemeClr val="bg1"/>
                </a:solidFill>
                <a:latin typeface="Tw Cen MT" panose="020B0602020104020603" pitchFamily="34" charset="0"/>
                <a:ea typeface="ＭＳ Ｐゴシック" pitchFamily="34" charset="-128"/>
              </a:rPr>
              <a:t>Computational Example</a:t>
            </a:r>
          </a:p>
        </p:txBody>
      </p:sp>
      <p:sp>
        <p:nvSpPr>
          <p:cNvPr id="39938" name="Text Box 2"/>
          <p:cNvSpPr txBox="1">
            <a:spLocks noChangeArrowheads="1"/>
          </p:cNvSpPr>
          <p:nvPr/>
        </p:nvSpPr>
        <p:spPr bwMode="auto">
          <a:xfrm>
            <a:off x="457201" y="1576318"/>
            <a:ext cx="8229600" cy="3254990"/>
          </a:xfrm>
          <a:prstGeom prst="rect">
            <a:avLst/>
          </a:prstGeom>
          <a:noFill/>
          <a:ln w="9525">
            <a:noFill/>
            <a:round/>
            <a:headEnd/>
            <a:tailEnd/>
          </a:ln>
          <a:effectLst/>
        </p:spPr>
        <p:txBody>
          <a:bodyPr lIns="87269" tIns="43634" rIns="87269" bIns="43634"/>
          <a:lstStyle/>
          <a:p>
            <a:pPr marL="325744" indent="-325744">
              <a:lnSpc>
                <a:spcPct val="90000"/>
              </a:lnSpc>
              <a:spcBef>
                <a:spcPts val="668"/>
              </a:spcBef>
              <a:buClr>
                <a:srgbClr val="5FAFFF"/>
              </a:buClr>
              <a:buSzPct val="8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000" dirty="0">
                <a:solidFill>
                  <a:srgbClr val="FFFFFF"/>
                </a:solidFill>
                <a:effectLst>
                  <a:outerShdw blurRad="38100" dist="38100" dir="2700000" algn="tl">
                    <a:srgbClr val="000000"/>
                  </a:outerShdw>
                </a:effectLst>
                <a:latin typeface="Tw Cen MT" panose="020B0602020104020603" pitchFamily="34" charset="0"/>
                <a:ea typeface="ＭＳ Ｐゴシック" pitchFamily="32" charset="-128"/>
              </a:rPr>
              <a:t> </a:t>
            </a:r>
            <a:r>
              <a:rPr lang="en-US" sz="2000" dirty="0">
                <a:solidFill>
                  <a:schemeClr val="bg1"/>
                </a:solidFill>
                <a:latin typeface="Tw Cen MT" panose="020B0602020104020603" pitchFamily="34" charset="0"/>
                <a:ea typeface="ＭＳ Ｐゴシック" pitchFamily="32" charset="-128"/>
              </a:rPr>
              <a:t>in GF(2</a:t>
            </a:r>
            <a:r>
              <a:rPr lang="en-US" sz="2000" baseline="30000" dirty="0">
                <a:solidFill>
                  <a:schemeClr val="bg1"/>
                </a:solidFill>
                <a:latin typeface="Tw Cen MT" panose="020B0602020104020603" pitchFamily="34" charset="0"/>
                <a:ea typeface="ＭＳ Ｐゴシック" pitchFamily="32" charset="-128"/>
              </a:rPr>
              <a:t>3</a:t>
            </a:r>
            <a:r>
              <a:rPr lang="en-US" sz="2000" dirty="0">
                <a:solidFill>
                  <a:schemeClr val="bg1"/>
                </a:solidFill>
                <a:latin typeface="Tw Cen MT" panose="020B0602020104020603" pitchFamily="34" charset="0"/>
                <a:ea typeface="ＭＳ Ｐゴシック" pitchFamily="32" charset="-128"/>
              </a:rPr>
              <a:t>)  have (x</a:t>
            </a:r>
            <a:r>
              <a:rPr lang="en-US" sz="2000" baseline="30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+1) is 101</a:t>
            </a:r>
            <a:r>
              <a:rPr lang="en-AU" sz="2000" baseline="-25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 &amp; (x</a:t>
            </a:r>
            <a:r>
              <a:rPr lang="en-US" sz="2000" baseline="30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+x+1) is 111</a:t>
            </a:r>
            <a:r>
              <a:rPr lang="en-AU" sz="2000" baseline="-25000" dirty="0">
                <a:solidFill>
                  <a:schemeClr val="bg1"/>
                </a:solidFill>
                <a:latin typeface="Tw Cen MT" panose="020B0602020104020603" pitchFamily="34" charset="0"/>
                <a:ea typeface="ＭＳ Ｐゴシック" pitchFamily="32" charset="-128"/>
              </a:rPr>
              <a:t>2</a:t>
            </a:r>
          </a:p>
          <a:p>
            <a:pPr marL="325744" indent="-325744">
              <a:lnSpc>
                <a:spcPct val="90000"/>
              </a:lnSpc>
              <a:spcBef>
                <a:spcPts val="668"/>
              </a:spcBef>
              <a:buClr>
                <a:srgbClr val="5FAFFF"/>
              </a:buClr>
              <a:buSzPct val="8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000" dirty="0">
                <a:solidFill>
                  <a:schemeClr val="bg1"/>
                </a:solidFill>
                <a:latin typeface="Tw Cen MT" panose="020B0602020104020603" pitchFamily="34" charset="0"/>
                <a:ea typeface="ＭＳ Ｐゴシック" pitchFamily="32" charset="-128"/>
              </a:rPr>
              <a:t>so addition is</a:t>
            </a:r>
          </a:p>
          <a:p>
            <a:pPr marL="707543" lvl="1" indent="-271200">
              <a:lnSpc>
                <a:spcPct val="90000"/>
              </a:lnSpc>
              <a:spcBef>
                <a:spcPts val="573"/>
              </a:spcBef>
              <a:buClr>
                <a:srgbClr val="D9D9FF"/>
              </a:buClr>
              <a:buSzPct val="5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000" dirty="0">
                <a:solidFill>
                  <a:schemeClr val="bg1"/>
                </a:solidFill>
                <a:latin typeface="Tw Cen MT" panose="020B0602020104020603" pitchFamily="34" charset="0"/>
                <a:ea typeface="ＭＳ Ｐゴシック" pitchFamily="32" charset="-128"/>
              </a:rPr>
              <a:t>(x</a:t>
            </a:r>
            <a:r>
              <a:rPr lang="en-US" sz="2000" baseline="30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+1) + (x</a:t>
            </a:r>
            <a:r>
              <a:rPr lang="en-US" sz="2000" baseline="30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+x+1) = x </a:t>
            </a:r>
          </a:p>
          <a:p>
            <a:pPr marL="707543" lvl="1" indent="-271200">
              <a:lnSpc>
                <a:spcPct val="90000"/>
              </a:lnSpc>
              <a:spcBef>
                <a:spcPts val="573"/>
              </a:spcBef>
              <a:buClr>
                <a:srgbClr val="D9D9FF"/>
              </a:buClr>
              <a:buSzPct val="5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000" dirty="0">
                <a:solidFill>
                  <a:schemeClr val="bg1"/>
                </a:solidFill>
                <a:latin typeface="Tw Cen MT" panose="020B0602020104020603" pitchFamily="34" charset="0"/>
                <a:ea typeface="ＭＳ Ｐゴシック" pitchFamily="32" charset="-128"/>
              </a:rPr>
              <a:t>101 XOR 111 = 010</a:t>
            </a:r>
            <a:r>
              <a:rPr lang="en-AU" sz="2000" baseline="-25000" dirty="0">
                <a:solidFill>
                  <a:schemeClr val="bg1"/>
                </a:solidFill>
                <a:latin typeface="Tw Cen MT" panose="020B0602020104020603" pitchFamily="34" charset="0"/>
                <a:ea typeface="ＭＳ Ｐゴシック" pitchFamily="32" charset="-128"/>
              </a:rPr>
              <a:t>2</a:t>
            </a:r>
          </a:p>
          <a:p>
            <a:pPr marL="325744" indent="-325744">
              <a:lnSpc>
                <a:spcPct val="90000"/>
              </a:lnSpc>
              <a:spcBef>
                <a:spcPts val="668"/>
              </a:spcBef>
              <a:buClr>
                <a:srgbClr val="5FAFFF"/>
              </a:buClr>
              <a:buSzPct val="8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000" dirty="0">
                <a:solidFill>
                  <a:schemeClr val="bg1"/>
                </a:solidFill>
                <a:latin typeface="Tw Cen MT" panose="020B0602020104020603" pitchFamily="34" charset="0"/>
                <a:ea typeface="ＭＳ Ｐゴシック" pitchFamily="32" charset="-128"/>
              </a:rPr>
              <a:t>and multiplication is</a:t>
            </a:r>
          </a:p>
          <a:p>
            <a:pPr marL="707543" lvl="1" indent="-271200">
              <a:lnSpc>
                <a:spcPct val="90000"/>
              </a:lnSpc>
              <a:spcBef>
                <a:spcPts val="573"/>
              </a:spcBef>
              <a:buClr>
                <a:srgbClr val="D9D9FF"/>
              </a:buClr>
              <a:buSzPct val="5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000" dirty="0">
                <a:solidFill>
                  <a:schemeClr val="bg1"/>
                </a:solidFill>
                <a:latin typeface="Tw Cen MT" panose="020B0602020104020603" pitchFamily="34" charset="0"/>
                <a:ea typeface="ＭＳ Ｐゴシック" pitchFamily="32" charset="-128"/>
              </a:rPr>
              <a:t>(x+1).(x</a:t>
            </a:r>
            <a:r>
              <a:rPr lang="en-US" sz="2000" baseline="30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+1) = x.(x</a:t>
            </a:r>
            <a:r>
              <a:rPr lang="en-US" sz="2000" baseline="30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+1) + 1.(x</a:t>
            </a:r>
            <a:r>
              <a:rPr lang="en-US" sz="2000" baseline="30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+1) </a:t>
            </a:r>
          </a:p>
          <a:p>
            <a:pPr marL="707543" lvl="1" indent="-271200">
              <a:lnSpc>
                <a:spcPct val="90000"/>
              </a:lnSpc>
              <a:spcBef>
                <a:spcPts val="573"/>
              </a:spcBef>
              <a:buSzPct val="50000"/>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000" dirty="0">
                <a:solidFill>
                  <a:schemeClr val="bg1"/>
                </a:solidFill>
                <a:latin typeface="Tw Cen MT" panose="020B0602020104020603" pitchFamily="34" charset="0"/>
                <a:ea typeface="ＭＳ Ｐゴシック" pitchFamily="32" charset="-128"/>
              </a:rPr>
              <a:t>			= x</a:t>
            </a:r>
            <a:r>
              <a:rPr lang="en-US" sz="2000" baseline="30000" dirty="0">
                <a:solidFill>
                  <a:schemeClr val="bg1"/>
                </a:solidFill>
                <a:latin typeface="Tw Cen MT" panose="020B0602020104020603" pitchFamily="34" charset="0"/>
                <a:ea typeface="ＭＳ Ｐゴシック" pitchFamily="32" charset="-128"/>
              </a:rPr>
              <a:t>3</a:t>
            </a:r>
            <a:r>
              <a:rPr lang="en-US" sz="2000" dirty="0">
                <a:solidFill>
                  <a:schemeClr val="bg1"/>
                </a:solidFill>
                <a:latin typeface="Tw Cen MT" panose="020B0602020104020603" pitchFamily="34" charset="0"/>
                <a:ea typeface="ＭＳ Ｐゴシック" pitchFamily="32" charset="-128"/>
              </a:rPr>
              <a:t>+x+x</a:t>
            </a:r>
            <a:r>
              <a:rPr lang="en-US" sz="2000" baseline="30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+1 = x</a:t>
            </a:r>
            <a:r>
              <a:rPr lang="en-US" sz="2000" baseline="30000" dirty="0">
                <a:solidFill>
                  <a:schemeClr val="bg1"/>
                </a:solidFill>
                <a:latin typeface="Tw Cen MT" panose="020B0602020104020603" pitchFamily="34" charset="0"/>
                <a:ea typeface="ＭＳ Ｐゴシック" pitchFamily="32" charset="-128"/>
              </a:rPr>
              <a:t>3</a:t>
            </a:r>
            <a:r>
              <a:rPr lang="en-US" sz="2000" dirty="0">
                <a:solidFill>
                  <a:schemeClr val="bg1"/>
                </a:solidFill>
                <a:latin typeface="Tw Cen MT" panose="020B0602020104020603" pitchFamily="34" charset="0"/>
                <a:ea typeface="ＭＳ Ｐゴシック" pitchFamily="32" charset="-128"/>
              </a:rPr>
              <a:t>+x</a:t>
            </a:r>
            <a:r>
              <a:rPr lang="en-US" sz="2000" baseline="30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+x+1 </a:t>
            </a:r>
          </a:p>
          <a:p>
            <a:pPr marL="707543" lvl="1" indent="-271200">
              <a:lnSpc>
                <a:spcPct val="90000"/>
              </a:lnSpc>
              <a:spcBef>
                <a:spcPts val="573"/>
              </a:spcBef>
              <a:buClr>
                <a:srgbClr val="D9D9FF"/>
              </a:buClr>
              <a:buSzPct val="5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000" dirty="0">
                <a:solidFill>
                  <a:schemeClr val="bg1"/>
                </a:solidFill>
                <a:latin typeface="Tw Cen MT" panose="020B0602020104020603" pitchFamily="34" charset="0"/>
                <a:ea typeface="ＭＳ Ｐゴシック" pitchFamily="32" charset="-128"/>
              </a:rPr>
              <a:t> 011.101 = (101)&lt;&lt;1 XOR (101)&lt;&lt;0 = </a:t>
            </a:r>
          </a:p>
          <a:p>
            <a:pPr marL="707543" lvl="1" indent="-271200">
              <a:lnSpc>
                <a:spcPct val="90000"/>
              </a:lnSpc>
              <a:spcBef>
                <a:spcPts val="573"/>
              </a:spcBef>
              <a:buSzPct val="50000"/>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000" dirty="0">
                <a:solidFill>
                  <a:schemeClr val="bg1"/>
                </a:solidFill>
                <a:latin typeface="Tw Cen MT" panose="020B0602020104020603" pitchFamily="34" charset="0"/>
                <a:ea typeface="ＭＳ Ｐゴシック" pitchFamily="32" charset="-128"/>
              </a:rPr>
              <a:t>			1010 XOR 101 = 1111</a:t>
            </a:r>
            <a:r>
              <a:rPr lang="en-AU" sz="2000" baseline="-25000" dirty="0">
                <a:solidFill>
                  <a:schemeClr val="bg1"/>
                </a:solidFill>
                <a:latin typeface="Tw Cen MT" panose="020B0602020104020603" pitchFamily="34" charset="0"/>
                <a:ea typeface="ＭＳ Ｐゴシック" pitchFamily="32" charset="-128"/>
              </a:rPr>
              <a:t>2</a:t>
            </a:r>
            <a:r>
              <a:rPr lang="en-US" sz="2000" dirty="0">
                <a:solidFill>
                  <a:schemeClr val="bg1"/>
                </a:solidFill>
                <a:latin typeface="Tw Cen MT" panose="020B0602020104020603" pitchFamily="34" charset="0"/>
                <a:ea typeface="ＭＳ Ｐゴシック" pitchFamily="32" charset="-128"/>
              </a:rPr>
              <a:t> </a:t>
            </a:r>
          </a:p>
          <a:p>
            <a:pPr marL="325744" indent="-325744">
              <a:lnSpc>
                <a:spcPct val="90000"/>
              </a:lnSpc>
              <a:spcBef>
                <a:spcPts val="668"/>
              </a:spcBef>
              <a:buClr>
                <a:srgbClr val="5FAFFF"/>
              </a:buClr>
              <a:buSzPct val="8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endParaRPr lang="en-US" sz="2000" dirty="0">
              <a:solidFill>
                <a:schemeClr val="bg1"/>
              </a:solidFill>
              <a:latin typeface="Tw Cen MT" panose="020B0602020104020603" pitchFamily="34" charset="0"/>
              <a:ea typeface="ＭＳ Ｐゴシック" pitchFamily="32" charset="-128"/>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1"/>
          <p:cNvSpPr txBox="1">
            <a:spLocks noChangeArrowheads="1"/>
          </p:cNvSpPr>
          <p:nvPr/>
        </p:nvSpPr>
        <p:spPr bwMode="auto">
          <a:xfrm>
            <a:off x="457201" y="0"/>
            <a:ext cx="8229600" cy="1139826"/>
          </a:xfrm>
          <a:prstGeom prst="rect">
            <a:avLst/>
          </a:prstGeom>
          <a:noFill/>
          <a:ln w="9525">
            <a:noFill/>
            <a:round/>
            <a:headEnd/>
            <a:tailEnd/>
          </a:ln>
        </p:spPr>
        <p:txBody>
          <a:bodyPr lIns="87269" tIns="43634" rIns="87269" bIns="43634" anchor="ctr" anchorCtr="1"/>
          <a:lstStyle/>
          <a:p>
            <a:pPr algn="ctr">
              <a:tabLst>
                <a:tab pos="0" algn="l"/>
                <a:tab pos="872687" algn="l"/>
                <a:tab pos="1745373" algn="l"/>
                <a:tab pos="2618061" algn="l"/>
                <a:tab pos="3490747" algn="l"/>
                <a:tab pos="4363434" algn="l"/>
                <a:tab pos="5236120" algn="l"/>
                <a:tab pos="6108808" algn="l"/>
                <a:tab pos="6981494" algn="l"/>
                <a:tab pos="7854181" algn="l"/>
                <a:tab pos="8726867" algn="l"/>
                <a:tab pos="9599554" algn="l"/>
              </a:tabLst>
            </a:pPr>
            <a:r>
              <a:rPr lang="en-US" sz="3800" dirty="0">
                <a:solidFill>
                  <a:schemeClr val="bg1"/>
                </a:solidFill>
                <a:ea typeface="ＭＳ Ｐゴシック" pitchFamily="34" charset="-128"/>
              </a:rPr>
              <a:t>Computational Example (</a:t>
            </a:r>
            <a:r>
              <a:rPr lang="en-US" sz="3800" dirty="0" err="1">
                <a:solidFill>
                  <a:schemeClr val="bg1"/>
                </a:solidFill>
                <a:ea typeface="ＭＳ Ｐゴシック" pitchFamily="34" charset="-128"/>
              </a:rPr>
              <a:t>con't</a:t>
            </a:r>
            <a:r>
              <a:rPr lang="en-US" sz="3800" dirty="0">
                <a:solidFill>
                  <a:schemeClr val="bg1"/>
                </a:solidFill>
                <a:ea typeface="ＭＳ Ｐゴシック" pitchFamily="34" charset="-128"/>
              </a:rPr>
              <a:t>)</a:t>
            </a:r>
          </a:p>
        </p:txBody>
      </p:sp>
      <p:sp>
        <p:nvSpPr>
          <p:cNvPr id="165891" name="Text Box 2"/>
          <p:cNvSpPr txBox="1">
            <a:spLocks noChangeArrowheads="1"/>
          </p:cNvSpPr>
          <p:nvPr/>
        </p:nvSpPr>
        <p:spPr bwMode="auto">
          <a:xfrm>
            <a:off x="457201" y="1371601"/>
            <a:ext cx="8229600" cy="2835276"/>
          </a:xfrm>
          <a:prstGeom prst="rect">
            <a:avLst/>
          </a:prstGeom>
          <a:noFill/>
          <a:ln w="9525">
            <a:noFill/>
            <a:round/>
            <a:headEnd/>
            <a:tailEnd/>
          </a:ln>
        </p:spPr>
        <p:txBody>
          <a:bodyPr lIns="87269" tIns="43634" rIns="87269" bIns="43634"/>
          <a:lstStyle/>
          <a:p>
            <a:pPr marL="325744" indent="-325744">
              <a:lnSpc>
                <a:spcPct val="90000"/>
              </a:lnSpc>
              <a:spcBef>
                <a:spcPts val="668"/>
              </a:spcBef>
              <a:spcAft>
                <a:spcPts val="1145"/>
              </a:spcAft>
              <a:buClr>
                <a:srgbClr val="5FAFFF"/>
              </a:buClr>
              <a:buSzPct val="80000"/>
              <a:buFont typeface="Wingdings" pitchFamily="2"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pPr>
            <a:r>
              <a:rPr lang="en-US" dirty="0">
                <a:solidFill>
                  <a:schemeClr val="bg1"/>
                </a:solidFill>
                <a:latin typeface="Tw Cen MT" panose="020B0602020104020603" pitchFamily="34" charset="0"/>
                <a:ea typeface="ＭＳ Ｐゴシック" pitchFamily="34" charset="-128"/>
              </a:rPr>
              <a:t> </a:t>
            </a:r>
            <a:r>
              <a:rPr lang="en-US" sz="2000" dirty="0">
                <a:solidFill>
                  <a:schemeClr val="bg1"/>
                </a:solidFill>
                <a:latin typeface="Tw Cen MT" panose="020B0602020104020603" pitchFamily="34" charset="0"/>
                <a:ea typeface="ＭＳ Ｐゴシック" pitchFamily="34" charset="-128"/>
              </a:rPr>
              <a:t>in GF(2</a:t>
            </a:r>
            <a:r>
              <a:rPr lang="en-US" sz="2000" baseline="30000" dirty="0">
                <a:solidFill>
                  <a:schemeClr val="bg1"/>
                </a:solidFill>
                <a:latin typeface="Tw Cen MT" panose="020B0602020104020603" pitchFamily="34" charset="0"/>
                <a:ea typeface="ＭＳ Ｐゴシック" pitchFamily="34" charset="-128"/>
              </a:rPr>
              <a:t>3</a:t>
            </a:r>
            <a:r>
              <a:rPr lang="en-US" sz="2000" dirty="0">
                <a:solidFill>
                  <a:schemeClr val="bg1"/>
                </a:solidFill>
                <a:latin typeface="Tw Cen MT" panose="020B0602020104020603" pitchFamily="34" charset="0"/>
                <a:ea typeface="ＭＳ Ｐゴシック" pitchFamily="34" charset="-128"/>
              </a:rPr>
              <a:t>)  have (x</a:t>
            </a:r>
            <a:r>
              <a:rPr lang="en-US" sz="2000" baseline="30000" dirty="0">
                <a:solidFill>
                  <a:schemeClr val="bg1"/>
                </a:solidFill>
                <a:latin typeface="Tw Cen MT" panose="020B0602020104020603" pitchFamily="34" charset="0"/>
                <a:ea typeface="ＭＳ Ｐゴシック" pitchFamily="34" charset="-128"/>
              </a:rPr>
              <a:t>2</a:t>
            </a:r>
            <a:r>
              <a:rPr lang="en-US" sz="2000" dirty="0">
                <a:solidFill>
                  <a:schemeClr val="bg1"/>
                </a:solidFill>
                <a:latin typeface="Tw Cen MT" panose="020B0602020104020603" pitchFamily="34" charset="0"/>
                <a:ea typeface="ＭＳ Ｐゴシック" pitchFamily="34" charset="-128"/>
              </a:rPr>
              <a:t>+1) is 101</a:t>
            </a:r>
            <a:r>
              <a:rPr lang="en-AU" sz="2000" baseline="-25000" dirty="0">
                <a:solidFill>
                  <a:schemeClr val="bg1"/>
                </a:solidFill>
                <a:latin typeface="Tw Cen MT" panose="020B0602020104020603" pitchFamily="34" charset="0"/>
                <a:ea typeface="ＭＳ Ｐゴシック" pitchFamily="34" charset="-128"/>
              </a:rPr>
              <a:t>2</a:t>
            </a:r>
            <a:r>
              <a:rPr lang="en-US" sz="2000" dirty="0">
                <a:solidFill>
                  <a:schemeClr val="bg1"/>
                </a:solidFill>
                <a:latin typeface="Tw Cen MT" panose="020B0602020104020603" pitchFamily="34" charset="0"/>
                <a:ea typeface="ＭＳ Ｐゴシック" pitchFamily="34" charset="-128"/>
              </a:rPr>
              <a:t> &amp; (x</a:t>
            </a:r>
            <a:r>
              <a:rPr lang="en-US" sz="2000" baseline="30000" dirty="0">
                <a:solidFill>
                  <a:schemeClr val="bg1"/>
                </a:solidFill>
                <a:latin typeface="Tw Cen MT" panose="020B0602020104020603" pitchFamily="34" charset="0"/>
                <a:ea typeface="ＭＳ Ｐゴシック" pitchFamily="34" charset="-128"/>
              </a:rPr>
              <a:t>2</a:t>
            </a:r>
            <a:r>
              <a:rPr lang="en-US" sz="2000" dirty="0">
                <a:solidFill>
                  <a:schemeClr val="bg1"/>
                </a:solidFill>
                <a:latin typeface="Tw Cen MT" panose="020B0602020104020603" pitchFamily="34" charset="0"/>
                <a:ea typeface="ＭＳ Ｐゴシック" pitchFamily="34" charset="-128"/>
              </a:rPr>
              <a:t>+x+1) is 111</a:t>
            </a:r>
            <a:r>
              <a:rPr lang="en-AU" sz="2000" baseline="-25000" dirty="0">
                <a:solidFill>
                  <a:schemeClr val="bg1"/>
                </a:solidFill>
                <a:latin typeface="Tw Cen MT" panose="020B0602020104020603" pitchFamily="34" charset="0"/>
                <a:ea typeface="ＭＳ Ｐゴシック" pitchFamily="34" charset="-128"/>
              </a:rPr>
              <a:t>2</a:t>
            </a:r>
          </a:p>
          <a:p>
            <a:pPr marL="325744" indent="-325744">
              <a:lnSpc>
                <a:spcPct val="90000"/>
              </a:lnSpc>
              <a:spcBef>
                <a:spcPts val="668"/>
              </a:spcBef>
              <a:spcAft>
                <a:spcPts val="1145"/>
              </a:spcAft>
              <a:buClr>
                <a:srgbClr val="5FAFFF"/>
              </a:buClr>
              <a:buSzPct val="80000"/>
              <a:buFont typeface="Wingdings" pitchFamily="2"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pPr>
            <a:r>
              <a:rPr lang="en-US" sz="2000" dirty="0">
                <a:solidFill>
                  <a:schemeClr val="bg1"/>
                </a:solidFill>
                <a:latin typeface="Tw Cen MT" panose="020B0602020104020603" pitchFamily="34" charset="0"/>
                <a:ea typeface="ＭＳ Ｐゴシック" pitchFamily="34" charset="-128"/>
              </a:rPr>
              <a:t>polynomial modulo reduction (get q(x) &amp; r(x)) is</a:t>
            </a:r>
          </a:p>
          <a:p>
            <a:pPr marL="707543" lvl="1" indent="-271200">
              <a:lnSpc>
                <a:spcPct val="90000"/>
              </a:lnSpc>
              <a:spcBef>
                <a:spcPts val="573"/>
              </a:spcBef>
              <a:spcAft>
                <a:spcPts val="1145"/>
              </a:spcAft>
              <a:buClr>
                <a:srgbClr val="D9D9FF"/>
              </a:buClr>
              <a:buSzPct val="50000"/>
              <a:buFont typeface="Wingdings" pitchFamily="2"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pPr>
            <a:r>
              <a:rPr lang="en-US" sz="2000" dirty="0">
                <a:solidFill>
                  <a:schemeClr val="bg1"/>
                </a:solidFill>
                <a:latin typeface="Tw Cen MT" panose="020B0602020104020603" pitchFamily="34" charset="0"/>
                <a:ea typeface="ＭＳ Ｐゴシック" pitchFamily="34" charset="-128"/>
              </a:rPr>
              <a:t> (x</a:t>
            </a:r>
            <a:r>
              <a:rPr lang="en-US" sz="2000" baseline="30000" dirty="0">
                <a:solidFill>
                  <a:schemeClr val="bg1"/>
                </a:solidFill>
                <a:latin typeface="Tw Cen MT" panose="020B0602020104020603" pitchFamily="34" charset="0"/>
                <a:ea typeface="ＭＳ Ｐゴシック" pitchFamily="34" charset="-128"/>
              </a:rPr>
              <a:t>3</a:t>
            </a:r>
            <a:r>
              <a:rPr lang="en-US" sz="2000" dirty="0">
                <a:solidFill>
                  <a:schemeClr val="bg1"/>
                </a:solidFill>
                <a:latin typeface="Tw Cen MT" panose="020B0602020104020603" pitchFamily="34" charset="0"/>
                <a:ea typeface="ＭＳ Ｐゴシック" pitchFamily="34" charset="-128"/>
              </a:rPr>
              <a:t>+x</a:t>
            </a:r>
            <a:r>
              <a:rPr lang="en-US" sz="2000" baseline="30000" dirty="0">
                <a:solidFill>
                  <a:schemeClr val="bg1"/>
                </a:solidFill>
                <a:latin typeface="Tw Cen MT" panose="020B0602020104020603" pitchFamily="34" charset="0"/>
                <a:ea typeface="ＭＳ Ｐゴシック" pitchFamily="34" charset="-128"/>
              </a:rPr>
              <a:t>2</a:t>
            </a:r>
            <a:r>
              <a:rPr lang="en-US" sz="2000" dirty="0">
                <a:solidFill>
                  <a:schemeClr val="bg1"/>
                </a:solidFill>
                <a:latin typeface="Tw Cen MT" panose="020B0602020104020603" pitchFamily="34" charset="0"/>
                <a:ea typeface="ＭＳ Ｐゴシック" pitchFamily="34" charset="-128"/>
              </a:rPr>
              <a:t>+x+1 ) mod (x</a:t>
            </a:r>
            <a:r>
              <a:rPr lang="en-US" sz="2000" baseline="30000" dirty="0">
                <a:solidFill>
                  <a:schemeClr val="bg1"/>
                </a:solidFill>
                <a:latin typeface="Tw Cen MT" panose="020B0602020104020603" pitchFamily="34" charset="0"/>
                <a:ea typeface="ＭＳ Ｐゴシック" pitchFamily="34" charset="-128"/>
              </a:rPr>
              <a:t>3</a:t>
            </a:r>
            <a:r>
              <a:rPr lang="en-US" sz="2000" dirty="0">
                <a:solidFill>
                  <a:schemeClr val="bg1"/>
                </a:solidFill>
                <a:latin typeface="Tw Cen MT" panose="020B0602020104020603" pitchFamily="34" charset="0"/>
                <a:ea typeface="ＭＳ Ｐゴシック" pitchFamily="34" charset="-128"/>
              </a:rPr>
              <a:t>+x+1) = 1.(x</a:t>
            </a:r>
            <a:r>
              <a:rPr lang="en-US" sz="2000" baseline="30000" dirty="0">
                <a:solidFill>
                  <a:schemeClr val="bg1"/>
                </a:solidFill>
                <a:latin typeface="Tw Cen MT" panose="020B0602020104020603" pitchFamily="34" charset="0"/>
                <a:ea typeface="ＭＳ Ｐゴシック" pitchFamily="34" charset="-128"/>
              </a:rPr>
              <a:t>3</a:t>
            </a:r>
            <a:r>
              <a:rPr lang="en-US" sz="2000" dirty="0">
                <a:solidFill>
                  <a:schemeClr val="bg1"/>
                </a:solidFill>
                <a:latin typeface="Tw Cen MT" panose="020B0602020104020603" pitchFamily="34" charset="0"/>
                <a:ea typeface="ＭＳ Ｐゴシック" pitchFamily="34" charset="-128"/>
              </a:rPr>
              <a:t>+x+1) + (x</a:t>
            </a:r>
            <a:r>
              <a:rPr lang="en-US" sz="2000" baseline="30000" dirty="0">
                <a:solidFill>
                  <a:schemeClr val="bg1"/>
                </a:solidFill>
                <a:latin typeface="Tw Cen MT" panose="020B0602020104020603" pitchFamily="34" charset="0"/>
                <a:ea typeface="ＭＳ Ｐゴシック" pitchFamily="34" charset="-128"/>
              </a:rPr>
              <a:t>2</a:t>
            </a:r>
            <a:r>
              <a:rPr lang="en-US" sz="2000" dirty="0">
                <a:solidFill>
                  <a:schemeClr val="bg1"/>
                </a:solidFill>
                <a:latin typeface="Tw Cen MT" panose="020B0602020104020603" pitchFamily="34" charset="0"/>
                <a:ea typeface="ＭＳ Ｐゴシック" pitchFamily="34" charset="-128"/>
              </a:rPr>
              <a:t>) = x</a:t>
            </a:r>
            <a:r>
              <a:rPr lang="en-US" sz="2000" baseline="30000" dirty="0">
                <a:solidFill>
                  <a:schemeClr val="bg1"/>
                </a:solidFill>
                <a:latin typeface="Tw Cen MT" panose="020B0602020104020603" pitchFamily="34" charset="0"/>
                <a:ea typeface="ＭＳ Ｐゴシック" pitchFamily="34" charset="-128"/>
              </a:rPr>
              <a:t>2</a:t>
            </a:r>
          </a:p>
          <a:p>
            <a:pPr marL="707543" lvl="1" indent="-271200">
              <a:lnSpc>
                <a:spcPct val="90000"/>
              </a:lnSpc>
              <a:spcBef>
                <a:spcPts val="573"/>
              </a:spcBef>
              <a:spcAft>
                <a:spcPts val="1145"/>
              </a:spcAft>
              <a:buClr>
                <a:srgbClr val="D9D9FF"/>
              </a:buClr>
              <a:buSzPct val="50000"/>
              <a:buFont typeface="Wingdings" pitchFamily="2"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pPr>
            <a:r>
              <a:rPr lang="en-US" sz="2000" dirty="0">
                <a:solidFill>
                  <a:schemeClr val="bg1"/>
                </a:solidFill>
                <a:latin typeface="Tw Cen MT" panose="020B0602020104020603" pitchFamily="34" charset="0"/>
                <a:ea typeface="ＭＳ Ｐゴシック" pitchFamily="34" charset="-128"/>
              </a:rPr>
              <a:t> 1111 mod 1011 = 1111 XOR 1011 = 0100</a:t>
            </a:r>
            <a:r>
              <a:rPr lang="en-AU" sz="2000" baseline="-25000" dirty="0">
                <a:solidFill>
                  <a:schemeClr val="bg1"/>
                </a:solidFill>
                <a:latin typeface="Tw Cen MT" panose="020B0602020104020603" pitchFamily="34" charset="0"/>
                <a:ea typeface="ＭＳ Ｐゴシック" pitchFamily="34" charset="-128"/>
              </a:rPr>
              <a:t>2</a:t>
            </a:r>
          </a:p>
        </p:txBody>
      </p:sp>
      <p:pic>
        <p:nvPicPr>
          <p:cNvPr id="165892" name="Picture 4"/>
          <p:cNvPicPr>
            <a:picLocks noChangeAspect="1" noChangeArrowheads="1"/>
          </p:cNvPicPr>
          <p:nvPr/>
        </p:nvPicPr>
        <p:blipFill>
          <a:blip r:embed="rId3"/>
          <a:srcRect/>
          <a:stretch>
            <a:fillRect/>
          </a:stretch>
        </p:blipFill>
        <p:spPr bwMode="auto">
          <a:xfrm>
            <a:off x="675544" y="3941763"/>
            <a:ext cx="7892561" cy="1985963"/>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1"/>
          <p:cNvSpPr txBox="1">
            <a:spLocks noChangeArrowheads="1"/>
          </p:cNvSpPr>
          <p:nvPr/>
        </p:nvSpPr>
        <p:spPr bwMode="auto">
          <a:xfrm>
            <a:off x="457201" y="277813"/>
            <a:ext cx="8229600" cy="849312"/>
          </a:xfrm>
          <a:prstGeom prst="rect">
            <a:avLst/>
          </a:prstGeom>
          <a:noFill/>
          <a:ln w="9525">
            <a:noFill/>
            <a:round/>
            <a:headEnd/>
            <a:tailEnd/>
          </a:ln>
        </p:spPr>
        <p:txBody>
          <a:bodyPr lIns="87269" tIns="43634" rIns="87269" bIns="43634" anchor="ctr" anchorCtr="1"/>
          <a:lstStyle/>
          <a:p>
            <a:pPr algn="ctr">
              <a:tabLst>
                <a:tab pos="0" algn="l"/>
                <a:tab pos="872687" algn="l"/>
                <a:tab pos="1745373" algn="l"/>
                <a:tab pos="2618061" algn="l"/>
                <a:tab pos="3490747" algn="l"/>
                <a:tab pos="4363434" algn="l"/>
                <a:tab pos="5236120" algn="l"/>
                <a:tab pos="6108808" algn="l"/>
                <a:tab pos="6981494" algn="l"/>
                <a:tab pos="7854181" algn="l"/>
                <a:tab pos="8726867" algn="l"/>
                <a:tab pos="9599554" algn="l"/>
              </a:tabLst>
            </a:pPr>
            <a:r>
              <a:rPr lang="en-US" sz="4200" dirty="0">
                <a:solidFill>
                  <a:schemeClr val="bg1"/>
                </a:solidFill>
                <a:latin typeface="Tw Cen MT" panose="020B0602020104020603" pitchFamily="34" charset="0"/>
                <a:ea typeface="ＭＳ Ｐゴシック" pitchFamily="34" charset="-128"/>
              </a:rPr>
              <a:t>Summary</a:t>
            </a:r>
          </a:p>
        </p:txBody>
      </p:sp>
      <p:sp>
        <p:nvSpPr>
          <p:cNvPr id="43010" name="Text Box 2"/>
          <p:cNvSpPr txBox="1">
            <a:spLocks noChangeArrowheads="1"/>
          </p:cNvSpPr>
          <p:nvPr/>
        </p:nvSpPr>
        <p:spPr bwMode="auto">
          <a:xfrm>
            <a:off x="457201" y="1676400"/>
            <a:ext cx="8229600" cy="4274234"/>
          </a:xfrm>
          <a:prstGeom prst="rect">
            <a:avLst/>
          </a:prstGeom>
          <a:noFill/>
          <a:ln w="9525">
            <a:noFill/>
            <a:round/>
            <a:headEnd/>
            <a:tailEnd/>
          </a:ln>
          <a:effectLst/>
        </p:spPr>
        <p:txBody>
          <a:bodyPr lIns="87269" tIns="43634" rIns="87269" bIns="43634"/>
          <a:lstStyle/>
          <a:p>
            <a:pPr marL="325744" indent="-325744">
              <a:spcBef>
                <a:spcPts val="764"/>
              </a:spcBef>
              <a:spcAft>
                <a:spcPts val="1145"/>
              </a:spcAft>
              <a:buClr>
                <a:srgbClr val="5FAFFF"/>
              </a:buClr>
              <a:buSzPct val="8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400" dirty="0">
                <a:solidFill>
                  <a:schemeClr val="bg1"/>
                </a:solidFill>
                <a:latin typeface="Tw Cen MT" pitchFamily="34" charset="0"/>
                <a:ea typeface="ＭＳ Ｐゴシック" pitchFamily="32" charset="-128"/>
              </a:rPr>
              <a:t>Have considered:</a:t>
            </a:r>
          </a:p>
          <a:p>
            <a:pPr marL="707543" lvl="1" indent="-271200">
              <a:spcBef>
                <a:spcPts val="668"/>
              </a:spcBef>
              <a:spcAft>
                <a:spcPts val="1145"/>
              </a:spcAft>
              <a:buClr>
                <a:srgbClr val="D9D9FF"/>
              </a:buClr>
              <a:buSzPct val="5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400" dirty="0">
                <a:solidFill>
                  <a:schemeClr val="bg1"/>
                </a:solidFill>
                <a:latin typeface="Tw Cen MT" pitchFamily="34" charset="0"/>
                <a:ea typeface="ＭＳ Ｐゴシック" pitchFamily="32" charset="-128"/>
              </a:rPr>
              <a:t>Concept of groups, rings, fields</a:t>
            </a:r>
          </a:p>
          <a:p>
            <a:pPr marL="707543" lvl="1" indent="-271200">
              <a:spcBef>
                <a:spcPts val="668"/>
              </a:spcBef>
              <a:spcAft>
                <a:spcPts val="1145"/>
              </a:spcAft>
              <a:buClr>
                <a:srgbClr val="D9D9FF"/>
              </a:buClr>
              <a:buSzPct val="5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400" dirty="0">
                <a:solidFill>
                  <a:schemeClr val="bg1"/>
                </a:solidFill>
                <a:latin typeface="Tw Cen MT" pitchFamily="34" charset="0"/>
                <a:ea typeface="ＭＳ Ｐゴシック" pitchFamily="32" charset="-128"/>
              </a:rPr>
              <a:t>Finite fields </a:t>
            </a:r>
            <a:r>
              <a:rPr lang="en-US" sz="2400" dirty="0" err="1">
                <a:solidFill>
                  <a:schemeClr val="bg1"/>
                </a:solidFill>
                <a:latin typeface="Tw Cen MT" pitchFamily="34" charset="0"/>
                <a:ea typeface="ＭＳ Ｐゴシック" pitchFamily="32" charset="-128"/>
              </a:rPr>
              <a:t>gf</a:t>
            </a:r>
            <a:r>
              <a:rPr lang="en-US" sz="2400" dirty="0">
                <a:solidFill>
                  <a:schemeClr val="bg1"/>
                </a:solidFill>
                <a:latin typeface="Tw Cen MT" pitchFamily="34" charset="0"/>
                <a:ea typeface="ＭＳ Ｐゴシック" pitchFamily="32" charset="-128"/>
              </a:rPr>
              <a:t>(p)</a:t>
            </a:r>
          </a:p>
          <a:p>
            <a:pPr marL="707543" lvl="1" indent="-271200">
              <a:spcBef>
                <a:spcPts val="668"/>
              </a:spcBef>
              <a:spcAft>
                <a:spcPts val="1145"/>
              </a:spcAft>
              <a:buClr>
                <a:srgbClr val="D9D9FF"/>
              </a:buClr>
              <a:buSzPct val="50000"/>
              <a:buFont typeface="Wingdings" charset="2"/>
              <a:buChar char=""/>
              <a:tabLst>
                <a:tab pos="869657" algn="l"/>
                <a:tab pos="1742343" algn="l"/>
                <a:tab pos="2615030" algn="l"/>
                <a:tab pos="3487716" algn="l"/>
                <a:tab pos="4360404" algn="l"/>
                <a:tab pos="5233090" algn="l"/>
                <a:tab pos="6105777" algn="l"/>
                <a:tab pos="6978463" algn="l"/>
                <a:tab pos="7851151" algn="l"/>
                <a:tab pos="8723837" algn="l"/>
                <a:tab pos="9596524" algn="l"/>
              </a:tabLst>
              <a:defRPr/>
            </a:pPr>
            <a:r>
              <a:rPr lang="en-US" sz="2400" dirty="0">
                <a:solidFill>
                  <a:schemeClr val="bg1"/>
                </a:solidFill>
                <a:latin typeface="Tw Cen MT" pitchFamily="34" charset="0"/>
                <a:ea typeface="ＭＳ Ｐゴシック" pitchFamily="32" charset="-128"/>
              </a:rPr>
              <a:t>Polynomial arithmetic in general and in GF(2</a:t>
            </a:r>
            <a:r>
              <a:rPr lang="en-US" sz="2400" baseline="30000" dirty="0">
                <a:solidFill>
                  <a:schemeClr val="bg1"/>
                </a:solidFill>
                <a:latin typeface="Tw Cen MT" pitchFamily="34" charset="0"/>
                <a:ea typeface="ＭＳ Ｐゴシック" pitchFamily="32" charset="-128"/>
              </a:rPr>
              <a:t>n</a:t>
            </a:r>
            <a:r>
              <a:rPr lang="en-US" sz="2400" dirty="0">
                <a:solidFill>
                  <a:schemeClr val="bg1"/>
                </a:solidFill>
                <a:latin typeface="Tw Cen MT" pitchFamily="34" charset="0"/>
                <a:ea typeface="ＭＳ Ｐゴシック" pitchFamily="32" charset="-128"/>
              </a:rPr>
              <a:t>) </a:t>
            </a:r>
          </a:p>
          <a:p>
            <a:pPr marL="707543" lvl="1" indent="-271200">
              <a:spcBef>
                <a:spcPts val="668"/>
              </a:spcBef>
              <a:spcAft>
                <a:spcPts val="1145"/>
              </a:spcAft>
              <a:buClr>
                <a:srgbClr val="D9D9FF"/>
              </a:buClr>
              <a:buSzPct val="50000"/>
              <a:tabLst>
                <a:tab pos="869657" algn="l"/>
                <a:tab pos="1742343" algn="l"/>
                <a:tab pos="2615030" algn="l"/>
                <a:tab pos="3487716" algn="l"/>
                <a:tab pos="4360404" algn="l"/>
                <a:tab pos="5233090" algn="l"/>
                <a:tab pos="6105777" algn="l"/>
                <a:tab pos="6978463" algn="l"/>
                <a:tab pos="7851151" algn="l"/>
                <a:tab pos="8723837" algn="l"/>
                <a:tab pos="9596524" algn="l"/>
              </a:tabLst>
              <a:defRPr/>
            </a:pPr>
            <a:endParaRPr lang="en-US" dirty="0">
              <a:solidFill>
                <a:srgbClr val="FFFFFF"/>
              </a:solidFill>
              <a:effectLst>
                <a:outerShdw blurRad="38100" dist="38100" dir="2700000" algn="tl">
                  <a:srgbClr val="000000"/>
                </a:outerShdw>
              </a:effectLst>
              <a:latin typeface="Tw Cen MT" panose="020B0602020104020603" pitchFamily="34" charset="0"/>
              <a:ea typeface="ＭＳ Ｐゴシック" pitchFamily="32" charset="-128"/>
            </a:endParaRPr>
          </a:p>
          <a:p>
            <a:pPr marL="707543" lvl="1" indent="-271200">
              <a:spcBef>
                <a:spcPts val="668"/>
              </a:spcBef>
              <a:spcAft>
                <a:spcPts val="1145"/>
              </a:spcAft>
              <a:buClr>
                <a:srgbClr val="D9D9FF"/>
              </a:buClr>
              <a:buSzPct val="50000"/>
              <a:tabLst>
                <a:tab pos="869657" algn="l"/>
                <a:tab pos="1742343" algn="l"/>
                <a:tab pos="2615030" algn="l"/>
                <a:tab pos="3487716" algn="l"/>
                <a:tab pos="4360404" algn="l"/>
                <a:tab pos="5233090" algn="l"/>
                <a:tab pos="6105777" algn="l"/>
                <a:tab pos="6978463" algn="l"/>
                <a:tab pos="7851151" algn="l"/>
                <a:tab pos="8723837" algn="l"/>
                <a:tab pos="9596524" algn="l"/>
              </a:tabLst>
              <a:defRPr/>
            </a:pPr>
            <a:endParaRPr lang="en-US" dirty="0">
              <a:solidFill>
                <a:srgbClr val="FFFFFF"/>
              </a:solidFill>
              <a:effectLst>
                <a:outerShdw blurRad="38100" dist="38100" dir="2700000" algn="tl">
                  <a:srgbClr val="000000"/>
                </a:outerShdw>
              </a:effectLst>
              <a:latin typeface="Tw Cen MT" panose="020B0602020104020603" pitchFamily="34" charset="0"/>
              <a:ea typeface="ＭＳ Ｐゴシック" pitchFamily="32" charset="-128"/>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2007" y="2813538"/>
            <a:ext cx="2307103" cy="769441"/>
          </a:xfrm>
          <a:prstGeom prst="rect">
            <a:avLst/>
          </a:prstGeom>
          <a:noFill/>
        </p:spPr>
        <p:txBody>
          <a:bodyPr wrap="square" rtlCol="0">
            <a:spAutoFit/>
          </a:bodyPr>
          <a:lstStyle/>
          <a:p>
            <a:r>
              <a:rPr lang="en-GB" sz="4400" dirty="0">
                <a:solidFill>
                  <a:srgbClr val="0000CC"/>
                </a:solidFill>
                <a:latin typeface="Tw Cen MT" panose="020B0602020104020603" pitchFamily="34" charset="0"/>
              </a:rPr>
              <a:t>Annex</a:t>
            </a:r>
          </a:p>
        </p:txBody>
      </p:sp>
    </p:spTree>
    <p:extLst>
      <p:ext uri="{BB962C8B-B14F-4D97-AF65-F5344CB8AC3E}">
        <p14:creationId xmlns:p14="http://schemas.microsoft.com/office/powerpoint/2010/main" val="3081458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066800"/>
            <a:ext cx="883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baseline="0" dirty="0"/>
              <a:t>Sometimes it is easier to define the elements of the </a:t>
            </a:r>
            <a:r>
              <a:rPr lang="en-US" sz="2800" baseline="0" dirty="0">
                <a:solidFill>
                  <a:srgbClr val="FF0000"/>
                </a:solidFill>
              </a:rPr>
              <a:t>GF(2</a:t>
            </a:r>
            <a:r>
              <a:rPr lang="en-US" sz="2800" i="1" baseline="30000" dirty="0">
                <a:solidFill>
                  <a:srgbClr val="FF0000"/>
                </a:solidFill>
              </a:rPr>
              <a:t>n</a:t>
            </a:r>
            <a:r>
              <a:rPr lang="en-US" sz="2800" baseline="0" dirty="0">
                <a:solidFill>
                  <a:srgbClr val="FF0000"/>
                </a:solidFill>
              </a:rPr>
              <a:t>) field using a generator. </a:t>
            </a:r>
          </a:p>
        </p:txBody>
      </p:sp>
      <p:pic>
        <p:nvPicPr>
          <p:cNvPr id="3"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263" y="2819400"/>
            <a:ext cx="8262937" cy="971550"/>
          </a:xfrm>
          <a:prstGeom prst="rect">
            <a:avLst/>
          </a:prstGeom>
          <a:noFill/>
          <a:ln w="57150">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097080" y="456358"/>
            <a:ext cx="5221301" cy="830997"/>
          </a:xfrm>
          <a:prstGeom prst="rect">
            <a:avLst/>
          </a:prstGeom>
        </p:spPr>
        <p:txBody>
          <a:bodyPr wrap="none">
            <a:spAutoFit/>
          </a:bodyPr>
          <a:lstStyle/>
          <a:p>
            <a:r>
              <a:rPr lang="en-US" sz="4800" dirty="0">
                <a:solidFill>
                  <a:schemeClr val="hlink"/>
                </a:solidFill>
              </a:rPr>
              <a:t>Using a Generator</a:t>
            </a:r>
            <a:endParaRPr lang="en-US" sz="48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883" y="3985467"/>
            <a:ext cx="8665717" cy="2410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23643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
          <p:cNvSpPr>
            <a:spLocks noGrp="1"/>
          </p:cNvSpPr>
          <p:nvPr>
            <p:ph type="sldNum" sz="quarter" idx="4294967295"/>
          </p:nvPr>
        </p:nvSpPr>
        <p:spPr>
          <a:xfrm>
            <a:off x="0" y="6400800"/>
            <a:ext cx="1905000" cy="457200"/>
          </a:xfrm>
          <a:prstGeom prst="rect">
            <a:avLst/>
          </a:prstGeom>
        </p:spPr>
        <p:txBody>
          <a:bodyPr/>
          <a:lstStyle/>
          <a:p>
            <a:r>
              <a:rPr lang="en-US"/>
              <a:t>4.</a:t>
            </a:r>
            <a:fld id="{3B7D76D5-6BD9-4E19-B769-F7E30ABBFC5A}" type="slidenum">
              <a:rPr lang="en-US"/>
              <a:pPr/>
              <a:t>100</a:t>
            </a:fld>
            <a:endParaRPr lang="en-US"/>
          </a:p>
        </p:txBody>
      </p:sp>
      <p:sp>
        <p:nvSpPr>
          <p:cNvPr id="1173506"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350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3508"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350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351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3511"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351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3513" name="Text Box 9"/>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baseline="0"/>
              <a:t>4.2.1</a:t>
            </a:r>
            <a:r>
              <a:rPr lang="en-US" sz="3200" i="1" baseline="0">
                <a:solidFill>
                  <a:schemeClr val="hlink"/>
                </a:solidFill>
              </a:rPr>
              <a:t>     </a:t>
            </a:r>
            <a:r>
              <a:rPr lang="en-US" sz="3200" i="1" baseline="0"/>
              <a:t>Continued</a:t>
            </a:r>
          </a:p>
        </p:txBody>
      </p:sp>
      <p:sp>
        <p:nvSpPr>
          <p:cNvPr id="1173514" name="Text Box 10"/>
          <p:cNvSpPr txBox="1">
            <a:spLocks noChangeArrowheads="1"/>
          </p:cNvSpPr>
          <p:nvPr/>
        </p:nvSpPr>
        <p:spPr bwMode="auto">
          <a:xfrm>
            <a:off x="1066800" y="533400"/>
            <a:ext cx="1146468" cy="40011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aseline="0" dirty="0">
                <a:solidFill>
                  <a:schemeClr val="bg1"/>
                </a:solidFill>
              </a:rPr>
              <a:t>Example </a:t>
            </a:r>
            <a:endParaRPr lang="en-US" sz="2000" i="1" baseline="0" dirty="0">
              <a:solidFill>
                <a:schemeClr val="bg1"/>
              </a:solidFill>
            </a:endParaRPr>
          </a:p>
        </p:txBody>
      </p:sp>
      <p:sp>
        <p:nvSpPr>
          <p:cNvPr id="1173515" name="Rectangle 11"/>
          <p:cNvSpPr>
            <a:spLocks noChangeArrowheads="1"/>
          </p:cNvSpPr>
          <p:nvPr/>
        </p:nvSpPr>
        <p:spPr bwMode="auto">
          <a:xfrm>
            <a:off x="152400" y="1138405"/>
            <a:ext cx="8839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lnSpc>
                <a:spcPct val="125000"/>
              </a:lnSpc>
              <a:spcAft>
                <a:spcPct val="70000"/>
              </a:spcAft>
            </a:pPr>
            <a:r>
              <a:rPr lang="en-US" sz="2400" baseline="0" dirty="0">
                <a:solidFill>
                  <a:schemeClr val="bg2"/>
                </a:solidFill>
              </a:rPr>
              <a:t>Generate the elements of the field GF(2</a:t>
            </a:r>
            <a:r>
              <a:rPr lang="en-US" sz="2400" baseline="30000" dirty="0">
                <a:solidFill>
                  <a:schemeClr val="bg2"/>
                </a:solidFill>
              </a:rPr>
              <a:t>4</a:t>
            </a:r>
            <a:r>
              <a:rPr lang="en-US" sz="2400" baseline="0" dirty="0">
                <a:solidFill>
                  <a:schemeClr val="bg2"/>
                </a:solidFill>
              </a:rPr>
              <a:t>) using the irreducible polynomial ƒ(</a:t>
            </a:r>
            <a:r>
              <a:rPr lang="en-US" sz="2400" i="1" baseline="0" dirty="0">
                <a:solidFill>
                  <a:schemeClr val="bg2"/>
                </a:solidFill>
              </a:rPr>
              <a:t>x</a:t>
            </a:r>
            <a:r>
              <a:rPr lang="en-US" sz="2400" baseline="0" dirty="0">
                <a:solidFill>
                  <a:schemeClr val="bg2"/>
                </a:solidFill>
              </a:rPr>
              <a:t>) = </a:t>
            </a:r>
            <a:r>
              <a:rPr lang="en-US" sz="2400" i="1" baseline="0" dirty="0">
                <a:solidFill>
                  <a:schemeClr val="bg2"/>
                </a:solidFill>
              </a:rPr>
              <a:t>x</a:t>
            </a:r>
            <a:r>
              <a:rPr lang="en-US" sz="2400" baseline="30000" dirty="0">
                <a:solidFill>
                  <a:schemeClr val="bg2"/>
                </a:solidFill>
              </a:rPr>
              <a:t>4</a:t>
            </a:r>
            <a:r>
              <a:rPr lang="en-US" sz="2400" baseline="0" dirty="0">
                <a:solidFill>
                  <a:schemeClr val="bg2"/>
                </a:solidFill>
              </a:rPr>
              <a:t> + </a:t>
            </a:r>
            <a:r>
              <a:rPr lang="en-US" sz="2400" i="1" baseline="0" dirty="0">
                <a:solidFill>
                  <a:schemeClr val="bg2"/>
                </a:solidFill>
              </a:rPr>
              <a:t>x</a:t>
            </a:r>
            <a:r>
              <a:rPr lang="en-US" sz="2400" baseline="0" dirty="0">
                <a:solidFill>
                  <a:schemeClr val="bg2"/>
                </a:solidFill>
              </a:rPr>
              <a:t> + 1. </a:t>
            </a:r>
          </a:p>
        </p:txBody>
      </p:sp>
      <p:sp>
        <p:nvSpPr>
          <p:cNvPr id="1173516" name="Rectangle 12"/>
          <p:cNvSpPr>
            <a:spLocks noChangeArrowheads="1"/>
          </p:cNvSpPr>
          <p:nvPr/>
        </p:nvSpPr>
        <p:spPr bwMode="auto">
          <a:xfrm>
            <a:off x="152400" y="3199386"/>
            <a:ext cx="88392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lnSpc>
                <a:spcPct val="125000"/>
              </a:lnSpc>
              <a:spcAft>
                <a:spcPct val="70000"/>
              </a:spcAft>
            </a:pPr>
            <a:r>
              <a:rPr lang="en-US" sz="2400" baseline="0" dirty="0">
                <a:solidFill>
                  <a:schemeClr val="bg2"/>
                </a:solidFill>
              </a:rPr>
              <a:t>The elements 0, </a:t>
            </a:r>
            <a:r>
              <a:rPr lang="en-US" sz="2400" i="1" baseline="0" dirty="0">
                <a:solidFill>
                  <a:schemeClr val="bg2"/>
                </a:solidFill>
              </a:rPr>
              <a:t>g</a:t>
            </a:r>
            <a:r>
              <a:rPr lang="en-US" sz="2400" baseline="30000" dirty="0">
                <a:solidFill>
                  <a:schemeClr val="bg2"/>
                </a:solidFill>
              </a:rPr>
              <a:t>0</a:t>
            </a:r>
            <a:r>
              <a:rPr lang="en-US" sz="2400" baseline="0" dirty="0">
                <a:solidFill>
                  <a:schemeClr val="bg2"/>
                </a:solidFill>
              </a:rPr>
              <a:t>, </a:t>
            </a:r>
            <a:r>
              <a:rPr lang="en-US" sz="2400" i="1" baseline="0" dirty="0">
                <a:solidFill>
                  <a:schemeClr val="bg2"/>
                </a:solidFill>
              </a:rPr>
              <a:t>g</a:t>
            </a:r>
            <a:r>
              <a:rPr lang="en-US" sz="2400" baseline="30000" dirty="0">
                <a:solidFill>
                  <a:schemeClr val="bg2"/>
                </a:solidFill>
              </a:rPr>
              <a:t>1</a:t>
            </a:r>
            <a:r>
              <a:rPr lang="en-US" sz="2400" baseline="0" dirty="0">
                <a:solidFill>
                  <a:schemeClr val="bg2"/>
                </a:solidFill>
              </a:rPr>
              <a:t>, </a:t>
            </a:r>
            <a:r>
              <a:rPr lang="en-US" sz="2400" i="1" baseline="0" dirty="0">
                <a:solidFill>
                  <a:schemeClr val="bg2"/>
                </a:solidFill>
              </a:rPr>
              <a:t>g</a:t>
            </a:r>
            <a:r>
              <a:rPr lang="en-US" sz="2400" baseline="0" dirty="0">
                <a:solidFill>
                  <a:schemeClr val="bg2"/>
                </a:solidFill>
              </a:rPr>
              <a:t>2, and </a:t>
            </a:r>
            <a:r>
              <a:rPr lang="en-US" sz="2400" i="1" baseline="0" dirty="0">
                <a:solidFill>
                  <a:schemeClr val="bg2"/>
                </a:solidFill>
              </a:rPr>
              <a:t>g</a:t>
            </a:r>
            <a:r>
              <a:rPr lang="en-US" sz="2400" baseline="30000" dirty="0">
                <a:solidFill>
                  <a:schemeClr val="bg2"/>
                </a:solidFill>
              </a:rPr>
              <a:t>3</a:t>
            </a:r>
            <a:r>
              <a:rPr lang="en-US" sz="2400" baseline="0" dirty="0">
                <a:solidFill>
                  <a:schemeClr val="bg2"/>
                </a:solidFill>
              </a:rPr>
              <a:t> can be easily generated, because they are the 4-bit representations of 0, 1, </a:t>
            </a:r>
            <a:r>
              <a:rPr lang="en-US" sz="2400" i="1" baseline="0" dirty="0">
                <a:solidFill>
                  <a:schemeClr val="bg2"/>
                </a:solidFill>
              </a:rPr>
              <a:t>x</a:t>
            </a:r>
            <a:r>
              <a:rPr lang="en-US" sz="2400" baseline="30000" dirty="0">
                <a:solidFill>
                  <a:schemeClr val="bg2"/>
                </a:solidFill>
              </a:rPr>
              <a:t>2</a:t>
            </a:r>
            <a:r>
              <a:rPr lang="en-US" sz="2400" baseline="0" dirty="0">
                <a:solidFill>
                  <a:schemeClr val="bg2"/>
                </a:solidFill>
              </a:rPr>
              <a:t>, and </a:t>
            </a:r>
            <a:r>
              <a:rPr lang="en-US" sz="2400" i="1" baseline="0" dirty="0">
                <a:solidFill>
                  <a:schemeClr val="bg2"/>
                </a:solidFill>
              </a:rPr>
              <a:t>x</a:t>
            </a:r>
            <a:r>
              <a:rPr lang="en-US" sz="2400" baseline="30000" dirty="0">
                <a:solidFill>
                  <a:schemeClr val="bg2"/>
                </a:solidFill>
              </a:rPr>
              <a:t>3</a:t>
            </a:r>
            <a:r>
              <a:rPr lang="en-US" sz="2400" baseline="0" dirty="0">
                <a:solidFill>
                  <a:schemeClr val="bg2"/>
                </a:solidFill>
              </a:rPr>
              <a:t>. Elements </a:t>
            </a:r>
            <a:r>
              <a:rPr lang="en-US" sz="2400" i="1" baseline="0" dirty="0">
                <a:solidFill>
                  <a:schemeClr val="bg2"/>
                </a:solidFill>
              </a:rPr>
              <a:t>g</a:t>
            </a:r>
            <a:r>
              <a:rPr lang="en-US" sz="2400" baseline="30000" dirty="0">
                <a:solidFill>
                  <a:schemeClr val="bg2"/>
                </a:solidFill>
              </a:rPr>
              <a:t>4</a:t>
            </a:r>
            <a:r>
              <a:rPr lang="en-US" sz="2400" baseline="0" dirty="0">
                <a:solidFill>
                  <a:schemeClr val="bg2"/>
                </a:solidFill>
              </a:rPr>
              <a:t> through </a:t>
            </a:r>
            <a:r>
              <a:rPr lang="en-US" sz="2400" i="1" baseline="0" dirty="0">
                <a:solidFill>
                  <a:schemeClr val="bg2"/>
                </a:solidFill>
              </a:rPr>
              <a:t>g</a:t>
            </a:r>
            <a:r>
              <a:rPr lang="en-US" sz="2400" baseline="30000" dirty="0">
                <a:solidFill>
                  <a:schemeClr val="bg2"/>
                </a:solidFill>
              </a:rPr>
              <a:t>14</a:t>
            </a:r>
            <a:r>
              <a:rPr lang="en-US" sz="2400" baseline="0" dirty="0">
                <a:solidFill>
                  <a:schemeClr val="bg2"/>
                </a:solidFill>
              </a:rPr>
              <a:t>, which represent </a:t>
            </a:r>
            <a:r>
              <a:rPr lang="en-US" sz="2400" i="1" baseline="0" dirty="0">
                <a:solidFill>
                  <a:schemeClr val="bg2"/>
                </a:solidFill>
              </a:rPr>
              <a:t>x</a:t>
            </a:r>
            <a:r>
              <a:rPr lang="en-US" sz="2400" baseline="30000" dirty="0">
                <a:solidFill>
                  <a:schemeClr val="bg2"/>
                </a:solidFill>
              </a:rPr>
              <a:t>4</a:t>
            </a:r>
            <a:r>
              <a:rPr lang="en-US" sz="2400" baseline="0" dirty="0">
                <a:solidFill>
                  <a:schemeClr val="bg2"/>
                </a:solidFill>
              </a:rPr>
              <a:t> though </a:t>
            </a:r>
            <a:r>
              <a:rPr lang="en-US" sz="2400" i="1" baseline="0" dirty="0">
                <a:solidFill>
                  <a:schemeClr val="bg2"/>
                </a:solidFill>
              </a:rPr>
              <a:t>x</a:t>
            </a:r>
            <a:r>
              <a:rPr lang="en-US" sz="2400" baseline="30000" dirty="0">
                <a:solidFill>
                  <a:schemeClr val="bg2"/>
                </a:solidFill>
              </a:rPr>
              <a:t>14</a:t>
            </a:r>
            <a:r>
              <a:rPr lang="en-US" sz="2400" baseline="0" dirty="0">
                <a:solidFill>
                  <a:schemeClr val="bg2"/>
                </a:solidFill>
              </a:rPr>
              <a:t> need to be divided by the irreducible polynomial. To avoid the polynomial division, the relation ƒ(</a:t>
            </a:r>
            <a:r>
              <a:rPr lang="en-US" sz="2400" i="1" baseline="0" dirty="0">
                <a:solidFill>
                  <a:schemeClr val="bg2"/>
                </a:solidFill>
              </a:rPr>
              <a:t>g</a:t>
            </a:r>
            <a:r>
              <a:rPr lang="en-US" sz="2400" baseline="0" dirty="0">
                <a:solidFill>
                  <a:schemeClr val="bg2"/>
                </a:solidFill>
              </a:rPr>
              <a:t>) = </a:t>
            </a:r>
            <a:r>
              <a:rPr lang="en-US" sz="2400" i="1" baseline="0" dirty="0">
                <a:solidFill>
                  <a:schemeClr val="bg2"/>
                </a:solidFill>
              </a:rPr>
              <a:t>g</a:t>
            </a:r>
            <a:r>
              <a:rPr lang="en-US" sz="2400" baseline="30000" dirty="0">
                <a:solidFill>
                  <a:schemeClr val="bg2"/>
                </a:solidFill>
              </a:rPr>
              <a:t>4</a:t>
            </a:r>
            <a:r>
              <a:rPr lang="en-US" sz="2400" baseline="0" dirty="0">
                <a:solidFill>
                  <a:schemeClr val="bg2"/>
                </a:solidFill>
              </a:rPr>
              <a:t> + </a:t>
            </a:r>
            <a:r>
              <a:rPr lang="en-US" sz="2400" i="1" baseline="0" dirty="0">
                <a:solidFill>
                  <a:schemeClr val="bg2"/>
                </a:solidFill>
              </a:rPr>
              <a:t>g</a:t>
            </a:r>
            <a:r>
              <a:rPr lang="en-US" sz="2400" baseline="0" dirty="0">
                <a:solidFill>
                  <a:schemeClr val="bg2"/>
                </a:solidFill>
              </a:rPr>
              <a:t> + 1 = 0 can be </a:t>
            </a:r>
            <a:r>
              <a:rPr lang="en-US" sz="2400" baseline="0">
                <a:solidFill>
                  <a:schemeClr val="bg2"/>
                </a:solidFill>
              </a:rPr>
              <a:t>used . </a:t>
            </a:r>
            <a:endParaRPr lang="en-US" sz="2400" baseline="0" dirty="0">
              <a:solidFill>
                <a:schemeClr val="bg2"/>
              </a:solidFill>
            </a:endParaRPr>
          </a:p>
        </p:txBody>
      </p:sp>
      <p:sp>
        <p:nvSpPr>
          <p:cNvPr id="1173517" name="Text Box 13"/>
          <p:cNvSpPr txBox="1">
            <a:spLocks noChangeArrowheads="1"/>
          </p:cNvSpPr>
          <p:nvPr/>
        </p:nvSpPr>
        <p:spPr bwMode="auto">
          <a:xfrm>
            <a:off x="417423" y="2514600"/>
            <a:ext cx="12987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aseline="0" dirty="0">
                <a:solidFill>
                  <a:schemeClr val="hlink"/>
                </a:solidFill>
              </a:rPr>
              <a:t>Solution</a:t>
            </a:r>
          </a:p>
        </p:txBody>
      </p:sp>
    </p:spTree>
    <p:extLst>
      <p:ext uri="{BB962C8B-B14F-4D97-AF65-F5344CB8AC3E}">
        <p14:creationId xmlns:p14="http://schemas.microsoft.com/office/powerpoint/2010/main" val="51604642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4294967295"/>
          </p:nvPr>
        </p:nvSpPr>
        <p:spPr>
          <a:xfrm>
            <a:off x="0" y="6400800"/>
            <a:ext cx="1905000" cy="457200"/>
          </a:xfrm>
          <a:prstGeom prst="rect">
            <a:avLst/>
          </a:prstGeom>
        </p:spPr>
        <p:txBody>
          <a:bodyPr/>
          <a:lstStyle/>
          <a:p>
            <a:r>
              <a:rPr lang="en-US"/>
              <a:t>4.</a:t>
            </a:r>
            <a:fld id="{D79524A0-E6A3-43B5-A50A-B3A575097B09}" type="slidenum">
              <a:rPr lang="en-US"/>
              <a:pPr/>
              <a:t>101</a:t>
            </a:fld>
            <a:endParaRPr lang="en-US"/>
          </a:p>
        </p:txBody>
      </p:sp>
      <p:sp>
        <p:nvSpPr>
          <p:cNvPr id="117555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555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555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555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555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555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556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5561" name="Text Box 9"/>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baseline="0"/>
              <a:t>4.2.1</a:t>
            </a:r>
            <a:r>
              <a:rPr lang="en-US" sz="3200" i="1" baseline="0">
                <a:solidFill>
                  <a:schemeClr val="hlink"/>
                </a:solidFill>
              </a:rPr>
              <a:t>     </a:t>
            </a:r>
            <a:r>
              <a:rPr lang="en-US" sz="3200" i="1" baseline="0"/>
              <a:t>Continued</a:t>
            </a:r>
          </a:p>
        </p:txBody>
      </p:sp>
      <p:sp>
        <p:nvSpPr>
          <p:cNvPr id="1175562" name="Text Box 10"/>
          <p:cNvSpPr txBox="1">
            <a:spLocks noChangeArrowheads="1"/>
          </p:cNvSpPr>
          <p:nvPr/>
        </p:nvSpPr>
        <p:spPr bwMode="auto">
          <a:xfrm>
            <a:off x="1066800" y="533400"/>
            <a:ext cx="1146468" cy="40011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aseline="0" dirty="0">
                <a:solidFill>
                  <a:schemeClr val="bg1"/>
                </a:solidFill>
              </a:rPr>
              <a:t>Example </a:t>
            </a:r>
            <a:endParaRPr lang="en-US" sz="2000" i="1" baseline="0" dirty="0">
              <a:solidFill>
                <a:schemeClr val="bg1"/>
              </a:solidFill>
            </a:endParaRPr>
          </a:p>
        </p:txBody>
      </p:sp>
      <p:sp>
        <p:nvSpPr>
          <p:cNvPr id="1175564" name="Text Box 12"/>
          <p:cNvSpPr txBox="1">
            <a:spLocks noChangeArrowheads="1"/>
          </p:cNvSpPr>
          <p:nvPr/>
        </p:nvSpPr>
        <p:spPr bwMode="auto">
          <a:xfrm>
            <a:off x="3124200" y="533400"/>
            <a:ext cx="17256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i="1" baseline="0"/>
              <a:t>Continued</a:t>
            </a:r>
          </a:p>
        </p:txBody>
      </p:sp>
      <p:pic>
        <p:nvPicPr>
          <p:cNvPr id="1175566"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447800"/>
            <a:ext cx="8839200" cy="463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651633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4294967295"/>
          </p:nvPr>
        </p:nvSpPr>
        <p:spPr>
          <a:xfrm>
            <a:off x="0" y="6400800"/>
            <a:ext cx="1905000" cy="457200"/>
          </a:xfrm>
          <a:prstGeom prst="rect">
            <a:avLst/>
          </a:prstGeom>
        </p:spPr>
        <p:txBody>
          <a:bodyPr/>
          <a:lstStyle/>
          <a:p>
            <a:r>
              <a:rPr lang="en-US"/>
              <a:t>4.</a:t>
            </a:r>
            <a:fld id="{9336D23E-A61F-4836-817C-6FF2AE8D3760}" type="slidenum">
              <a:rPr lang="en-US"/>
              <a:pPr/>
              <a:t>102</a:t>
            </a:fld>
            <a:endParaRPr lang="en-US"/>
          </a:p>
        </p:txBody>
      </p:sp>
      <p:sp>
        <p:nvSpPr>
          <p:cNvPr id="1177602"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760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7604"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760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760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7607"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760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7609" name="Text Box 9"/>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baseline="0"/>
              <a:t>4.2.1</a:t>
            </a:r>
            <a:r>
              <a:rPr lang="en-US" sz="3200" i="1" baseline="0">
                <a:solidFill>
                  <a:schemeClr val="hlink"/>
                </a:solidFill>
              </a:rPr>
              <a:t>     </a:t>
            </a:r>
            <a:r>
              <a:rPr lang="en-US" sz="3200" i="1" baseline="0"/>
              <a:t>Continued</a:t>
            </a:r>
          </a:p>
        </p:txBody>
      </p:sp>
      <p:sp>
        <p:nvSpPr>
          <p:cNvPr id="1177610" name="Text Box 10"/>
          <p:cNvSpPr txBox="1">
            <a:spLocks noChangeArrowheads="1"/>
          </p:cNvSpPr>
          <p:nvPr/>
        </p:nvSpPr>
        <p:spPr bwMode="auto">
          <a:xfrm>
            <a:off x="1179513" y="593725"/>
            <a:ext cx="1146468" cy="40011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aseline="0" dirty="0">
                <a:solidFill>
                  <a:schemeClr val="bg1"/>
                </a:solidFill>
              </a:rPr>
              <a:t>Example </a:t>
            </a:r>
            <a:endParaRPr lang="en-US" sz="2000" i="1" baseline="0" dirty="0">
              <a:solidFill>
                <a:schemeClr val="bg1"/>
              </a:solidFill>
            </a:endParaRPr>
          </a:p>
        </p:txBody>
      </p:sp>
      <p:sp>
        <p:nvSpPr>
          <p:cNvPr id="1177611" name="Rectangle 11"/>
          <p:cNvSpPr>
            <a:spLocks noChangeArrowheads="1"/>
          </p:cNvSpPr>
          <p:nvPr/>
        </p:nvSpPr>
        <p:spPr bwMode="auto">
          <a:xfrm>
            <a:off x="152400" y="1213862"/>
            <a:ext cx="883920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lnSpc>
                <a:spcPct val="125000"/>
              </a:lnSpc>
              <a:spcAft>
                <a:spcPct val="70000"/>
              </a:spcAft>
            </a:pPr>
            <a:r>
              <a:rPr lang="en-US" baseline="0" dirty="0"/>
              <a:t>The </a:t>
            </a:r>
            <a:r>
              <a:rPr lang="en-US" sz="2800" baseline="0" dirty="0">
                <a:solidFill>
                  <a:srgbClr val="FF0000"/>
                </a:solidFill>
              </a:rPr>
              <a:t>following show the results of addition and subtraction operations:</a:t>
            </a:r>
          </a:p>
        </p:txBody>
      </p:sp>
      <p:pic>
        <p:nvPicPr>
          <p:cNvPr id="117761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231" y="3011606"/>
            <a:ext cx="8491537"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811209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4294967295"/>
          </p:nvPr>
        </p:nvSpPr>
        <p:spPr>
          <a:xfrm>
            <a:off x="0" y="6400800"/>
            <a:ext cx="1905000" cy="457200"/>
          </a:xfrm>
          <a:prstGeom prst="rect">
            <a:avLst/>
          </a:prstGeom>
        </p:spPr>
        <p:txBody>
          <a:bodyPr/>
          <a:lstStyle/>
          <a:p>
            <a:r>
              <a:rPr lang="en-US"/>
              <a:t>4.</a:t>
            </a:r>
            <a:fld id="{60F7EA38-691B-4643-A89B-E57B5883CB00}" type="slidenum">
              <a:rPr lang="en-US"/>
              <a:pPr/>
              <a:t>103</a:t>
            </a:fld>
            <a:endParaRPr lang="en-US"/>
          </a:p>
        </p:txBody>
      </p:sp>
      <p:sp>
        <p:nvSpPr>
          <p:cNvPr id="1179650"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965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9652"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965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965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9655"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965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b="0" baseline="0">
              <a:latin typeface="Tahoma" pitchFamily="34" charset="0"/>
            </a:endParaRPr>
          </a:p>
        </p:txBody>
      </p:sp>
      <p:sp>
        <p:nvSpPr>
          <p:cNvPr id="1179657" name="Text Box 9"/>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baseline="0"/>
              <a:t>4.2.1</a:t>
            </a:r>
            <a:r>
              <a:rPr lang="en-US" sz="3200" i="1" baseline="0">
                <a:solidFill>
                  <a:schemeClr val="hlink"/>
                </a:solidFill>
              </a:rPr>
              <a:t>     </a:t>
            </a:r>
            <a:r>
              <a:rPr lang="en-US" sz="3200" i="1" baseline="0"/>
              <a:t>Continued</a:t>
            </a:r>
          </a:p>
        </p:txBody>
      </p:sp>
      <p:sp>
        <p:nvSpPr>
          <p:cNvPr id="1179658" name="Text Box 10"/>
          <p:cNvSpPr txBox="1">
            <a:spLocks noChangeArrowheads="1"/>
          </p:cNvSpPr>
          <p:nvPr/>
        </p:nvSpPr>
        <p:spPr bwMode="auto">
          <a:xfrm>
            <a:off x="1066800" y="533400"/>
            <a:ext cx="1146468" cy="40011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aseline="0" dirty="0">
                <a:solidFill>
                  <a:schemeClr val="bg1"/>
                </a:solidFill>
              </a:rPr>
              <a:t>Example </a:t>
            </a:r>
            <a:endParaRPr lang="en-US" sz="2000" i="1" baseline="0" dirty="0">
              <a:solidFill>
                <a:schemeClr val="bg1"/>
              </a:solidFill>
            </a:endParaRPr>
          </a:p>
        </p:txBody>
      </p:sp>
      <p:sp>
        <p:nvSpPr>
          <p:cNvPr id="1179659" name="Rectangle 11"/>
          <p:cNvSpPr>
            <a:spLocks noChangeArrowheads="1"/>
          </p:cNvSpPr>
          <p:nvPr/>
        </p:nvSpPr>
        <p:spPr bwMode="auto">
          <a:xfrm>
            <a:off x="152400" y="1138406"/>
            <a:ext cx="8839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lnSpc>
                <a:spcPct val="125000"/>
              </a:lnSpc>
              <a:spcAft>
                <a:spcPct val="70000"/>
              </a:spcAft>
            </a:pPr>
            <a:r>
              <a:rPr lang="en-US" baseline="0" dirty="0"/>
              <a:t>The </a:t>
            </a:r>
            <a:r>
              <a:rPr lang="en-US" sz="2400" baseline="0" dirty="0">
                <a:solidFill>
                  <a:srgbClr val="FF0000"/>
                </a:solidFill>
              </a:rPr>
              <a:t>following show the result of multiplication and division operations:. </a:t>
            </a:r>
          </a:p>
        </p:txBody>
      </p:sp>
      <p:pic>
        <p:nvPicPr>
          <p:cNvPr id="1179663"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22394"/>
            <a:ext cx="8839200"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53870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67" y="908855"/>
            <a:ext cx="8532169" cy="3922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242139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300" y="1002684"/>
            <a:ext cx="8277293" cy="4852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03951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894" y="2709689"/>
            <a:ext cx="8228013" cy="1433513"/>
          </a:xfrm>
        </p:spPr>
        <p:txBody>
          <a:bodyPr/>
          <a:lstStyle/>
          <a:p>
            <a:r>
              <a:rPr lang="en-US" sz="4400" b="1" dirty="0">
                <a:solidFill>
                  <a:srgbClr val="FF0000"/>
                </a:solidFill>
              </a:rPr>
              <a:t>GCD Revisited</a:t>
            </a:r>
          </a:p>
        </p:txBody>
      </p:sp>
    </p:spTree>
    <p:extLst>
      <p:ext uri="{BB962C8B-B14F-4D97-AF65-F5344CB8AC3E}">
        <p14:creationId xmlns:p14="http://schemas.microsoft.com/office/powerpoint/2010/main" val="144540726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1"/>
          <p:cNvSpPr>
            <a:spLocks noGrp="1"/>
          </p:cNvSpPr>
          <p:nvPr>
            <p:ph type="sldNum" sz="quarter" idx="10"/>
          </p:nvPr>
        </p:nvSpPr>
        <p:spPr/>
        <p:txBody>
          <a:bodyPr/>
          <a:lstStyle/>
          <a:p>
            <a:fld id="{47BF2DC2-D1DA-4515-BD8A-1E19BCF560D9}" type="slidenum">
              <a:rPr lang="en-US" smtClean="0">
                <a:solidFill>
                  <a:srgbClr val="000000"/>
                </a:solidFill>
              </a:rPr>
              <a:pPr/>
              <a:t>107</a:t>
            </a:fld>
            <a:endParaRPr lang="en-US" dirty="0">
              <a:solidFill>
                <a:srgbClr val="000000"/>
              </a:solidFill>
            </a:endParaRPr>
          </a:p>
        </p:txBody>
      </p:sp>
      <p:sp>
        <p:nvSpPr>
          <p:cNvPr id="886786" name="Text Box 2"/>
          <p:cNvSpPr txBox="1">
            <a:spLocks noChangeArrowheads="1"/>
          </p:cNvSpPr>
          <p:nvPr/>
        </p:nvSpPr>
        <p:spPr bwMode="auto">
          <a:xfrm>
            <a:off x="766549" y="3733800"/>
            <a:ext cx="2917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dirty="0">
                <a:solidFill>
                  <a:srgbClr val="3333CC"/>
                </a:solidFill>
                <a:latin typeface="Times New Roman" pitchFamily="18" charset="0"/>
                <a:cs typeface="+mn-cs"/>
              </a:rPr>
              <a:t>Euclidean Algorithm</a:t>
            </a:r>
            <a:endParaRPr lang="en-US" sz="2000" b="1" i="1" dirty="0">
              <a:solidFill>
                <a:srgbClr val="000000"/>
              </a:solidFill>
              <a:latin typeface="Times New Roman" pitchFamily="18" charset="0"/>
              <a:cs typeface="+mn-cs"/>
            </a:endParaRPr>
          </a:p>
        </p:txBody>
      </p:sp>
      <p:sp>
        <p:nvSpPr>
          <p:cNvPr id="886795" name="Line 11"/>
          <p:cNvSpPr>
            <a:spLocks noChangeShapeType="1"/>
          </p:cNvSpPr>
          <p:nvPr/>
        </p:nvSpPr>
        <p:spPr bwMode="auto">
          <a:xfrm>
            <a:off x="609600" y="4572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b="1" i="1">
              <a:solidFill>
                <a:srgbClr val="000000"/>
              </a:solidFill>
              <a:latin typeface="Times New Roman" pitchFamily="18" charset="0"/>
              <a:cs typeface="+mn-cs"/>
            </a:endParaRPr>
          </a:p>
        </p:txBody>
      </p:sp>
      <p:sp>
        <p:nvSpPr>
          <p:cNvPr id="886796" name="Line 12"/>
          <p:cNvSpPr>
            <a:spLocks noChangeShapeType="1"/>
          </p:cNvSpPr>
          <p:nvPr/>
        </p:nvSpPr>
        <p:spPr bwMode="auto">
          <a:xfrm>
            <a:off x="609600" y="632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b="1" i="1">
              <a:solidFill>
                <a:srgbClr val="000000"/>
              </a:solidFill>
              <a:latin typeface="Times New Roman" pitchFamily="18" charset="0"/>
              <a:cs typeface="+mn-cs"/>
            </a:endParaRPr>
          </a:p>
        </p:txBody>
      </p:sp>
      <p:sp>
        <p:nvSpPr>
          <p:cNvPr id="886797" name="Rectangle 13"/>
          <p:cNvSpPr>
            <a:spLocks noChangeArrowheads="1"/>
          </p:cNvSpPr>
          <p:nvPr/>
        </p:nvSpPr>
        <p:spPr bwMode="auto">
          <a:xfrm>
            <a:off x="647700" y="4664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3200" b="1" i="1">
                <a:solidFill>
                  <a:srgbClr val="000000"/>
                </a:solidFill>
                <a:latin typeface="Arial" charset="0"/>
                <a:cs typeface="+mn-cs"/>
              </a:rPr>
              <a:t>Fact 1: gcd (a, 0) = a</a:t>
            </a:r>
            <a:br>
              <a:rPr lang="en-US" sz="3200" b="1" i="1">
                <a:solidFill>
                  <a:srgbClr val="000000"/>
                </a:solidFill>
                <a:latin typeface="Arial" charset="0"/>
                <a:cs typeface="+mn-cs"/>
              </a:rPr>
            </a:br>
            <a:r>
              <a:rPr lang="en-US" sz="3200" b="1" i="1">
                <a:solidFill>
                  <a:srgbClr val="000000"/>
                </a:solidFill>
                <a:latin typeface="Arial" charset="0"/>
                <a:cs typeface="+mn-cs"/>
              </a:rPr>
              <a:t>Fact 2: gcd (a, b) = gcd (b, r), where r is</a:t>
            </a:r>
            <a:br>
              <a:rPr lang="en-US" sz="3200" b="1" i="1">
                <a:solidFill>
                  <a:srgbClr val="000000"/>
                </a:solidFill>
                <a:latin typeface="Arial" charset="0"/>
                <a:cs typeface="+mn-cs"/>
              </a:rPr>
            </a:br>
            <a:r>
              <a:rPr lang="en-US" sz="3200" b="1" i="1">
                <a:solidFill>
                  <a:srgbClr val="000000"/>
                </a:solidFill>
                <a:latin typeface="Arial" charset="0"/>
                <a:cs typeface="+mn-cs"/>
              </a:rPr>
              <a:t>             the remainder of dividing a by b</a:t>
            </a:r>
          </a:p>
        </p:txBody>
      </p:sp>
      <p:sp>
        <p:nvSpPr>
          <p:cNvPr id="886798" name="Line 14"/>
          <p:cNvSpPr>
            <a:spLocks noChangeShapeType="1"/>
          </p:cNvSpPr>
          <p:nvPr/>
        </p:nvSpPr>
        <p:spPr bwMode="auto">
          <a:xfrm>
            <a:off x="609600" y="1752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b="1" i="1">
              <a:solidFill>
                <a:srgbClr val="000000"/>
              </a:solidFill>
              <a:latin typeface="Times New Roman" pitchFamily="18" charset="0"/>
              <a:cs typeface="+mn-cs"/>
            </a:endParaRPr>
          </a:p>
        </p:txBody>
      </p:sp>
      <p:sp>
        <p:nvSpPr>
          <p:cNvPr id="886799" name="Line 15"/>
          <p:cNvSpPr>
            <a:spLocks noChangeShapeType="1"/>
          </p:cNvSpPr>
          <p:nvPr/>
        </p:nvSpPr>
        <p:spPr bwMode="auto">
          <a:xfrm>
            <a:off x="609600" y="3505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b="1" i="1">
              <a:solidFill>
                <a:srgbClr val="000000"/>
              </a:solidFill>
              <a:latin typeface="Times New Roman" pitchFamily="18" charset="0"/>
              <a:cs typeface="+mn-cs"/>
            </a:endParaRPr>
          </a:p>
        </p:txBody>
      </p:sp>
      <p:sp>
        <p:nvSpPr>
          <p:cNvPr id="886800" name="Rectangle 16"/>
          <p:cNvSpPr>
            <a:spLocks noChangeArrowheads="1"/>
          </p:cNvSpPr>
          <p:nvPr/>
        </p:nvSpPr>
        <p:spPr bwMode="auto">
          <a:xfrm>
            <a:off x="647700" y="18446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3200" b="1" i="1">
                <a:solidFill>
                  <a:srgbClr val="000000"/>
                </a:solidFill>
                <a:latin typeface="Arial" charset="0"/>
                <a:cs typeface="+mn-cs"/>
              </a:rPr>
              <a:t>The greatest common divisor of two positive integers is the largest integer that can divide both integers.</a:t>
            </a:r>
          </a:p>
        </p:txBody>
      </p:sp>
      <p:sp>
        <p:nvSpPr>
          <p:cNvPr id="886801" name="Text Box 17"/>
          <p:cNvSpPr txBox="1">
            <a:spLocks noChangeArrowheads="1"/>
          </p:cNvSpPr>
          <p:nvPr/>
        </p:nvSpPr>
        <p:spPr bwMode="auto">
          <a:xfrm>
            <a:off x="2614684" y="495869"/>
            <a:ext cx="360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dirty="0">
                <a:solidFill>
                  <a:srgbClr val="3333CC"/>
                </a:solidFill>
                <a:latin typeface="Times New Roman" pitchFamily="18" charset="0"/>
                <a:cs typeface="+mn-cs"/>
              </a:rPr>
              <a:t>Greatest Common Divisor</a:t>
            </a:r>
            <a:endParaRPr lang="en-US" sz="2000" b="1" i="1" dirty="0">
              <a:solidFill>
                <a:srgbClr val="000000"/>
              </a:solidFill>
              <a:latin typeface="Times New Roman" pitchFamily="18" charset="0"/>
              <a:cs typeface="+mn-cs"/>
            </a:endParaRPr>
          </a:p>
        </p:txBody>
      </p:sp>
    </p:spTree>
    <p:extLst>
      <p:ext uri="{BB962C8B-B14F-4D97-AF65-F5344CB8AC3E}">
        <p14:creationId xmlns:p14="http://schemas.microsoft.com/office/powerpoint/2010/main" val="220544748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
          <p:cNvSpPr>
            <a:spLocks noGrp="1"/>
          </p:cNvSpPr>
          <p:nvPr>
            <p:ph type="sldNum" sz="quarter" idx="10"/>
          </p:nvPr>
        </p:nvSpPr>
        <p:spPr/>
        <p:txBody>
          <a:bodyPr/>
          <a:lstStyle/>
          <a:p>
            <a:fld id="{5A6E81EF-C60A-4BCA-ABAC-B78EE047B21F}" type="slidenum">
              <a:rPr lang="en-US" smtClean="0">
                <a:solidFill>
                  <a:srgbClr val="000000"/>
                </a:solidFill>
              </a:rPr>
              <a:pPr/>
              <a:t>108</a:t>
            </a:fld>
            <a:endParaRPr lang="en-US" dirty="0">
              <a:solidFill>
                <a:srgbClr val="000000"/>
              </a:solidFill>
            </a:endParaRPr>
          </a:p>
        </p:txBody>
      </p:sp>
      <p:sp>
        <p:nvSpPr>
          <p:cNvPr id="88884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888842" name="Text Box 10"/>
          <p:cNvSpPr txBox="1">
            <a:spLocks noChangeArrowheads="1"/>
          </p:cNvSpPr>
          <p:nvPr/>
        </p:nvSpPr>
        <p:spPr bwMode="auto">
          <a:xfrm>
            <a:off x="1143000" y="0"/>
            <a:ext cx="22701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pic>
        <p:nvPicPr>
          <p:cNvPr id="888856"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1066800"/>
            <a:ext cx="7002462"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8857" name="Text Box 25"/>
          <p:cNvSpPr txBox="1">
            <a:spLocks noChangeArrowheads="1"/>
          </p:cNvSpPr>
          <p:nvPr/>
        </p:nvSpPr>
        <p:spPr bwMode="auto">
          <a:xfrm>
            <a:off x="1219200" y="533400"/>
            <a:ext cx="3497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dirty="0">
                <a:solidFill>
                  <a:srgbClr val="3333CC"/>
                </a:solidFill>
                <a:latin typeface="Times New Roman" pitchFamily="18" charset="0"/>
                <a:cs typeface="+mn-cs"/>
              </a:rPr>
              <a:t>Figure   </a:t>
            </a:r>
            <a:r>
              <a:rPr lang="en-US" sz="2000" b="1" i="1" dirty="0">
                <a:solidFill>
                  <a:srgbClr val="000000"/>
                </a:solidFill>
                <a:latin typeface="Times New Roman" pitchFamily="18" charset="0"/>
                <a:cs typeface="+mn-cs"/>
              </a:rPr>
              <a:t>Euclidean Algorithm</a:t>
            </a:r>
          </a:p>
        </p:txBody>
      </p:sp>
      <p:sp>
        <p:nvSpPr>
          <p:cNvPr id="888859" name="Line 27"/>
          <p:cNvSpPr>
            <a:spLocks noChangeShapeType="1"/>
          </p:cNvSpPr>
          <p:nvPr/>
        </p:nvSpPr>
        <p:spPr bwMode="auto">
          <a:xfrm>
            <a:off x="609600" y="5334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b="1" i="1">
              <a:solidFill>
                <a:srgbClr val="000000"/>
              </a:solidFill>
              <a:latin typeface="Times New Roman" pitchFamily="18" charset="0"/>
              <a:cs typeface="+mn-cs"/>
            </a:endParaRPr>
          </a:p>
        </p:txBody>
      </p:sp>
      <p:sp>
        <p:nvSpPr>
          <p:cNvPr id="888860" name="Line 28"/>
          <p:cNvSpPr>
            <a:spLocks noChangeShapeType="1"/>
          </p:cNvSpPr>
          <p:nvPr/>
        </p:nvSpPr>
        <p:spPr bwMode="auto">
          <a:xfrm>
            <a:off x="609600" y="6553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b="1" i="1">
              <a:solidFill>
                <a:srgbClr val="000000"/>
              </a:solidFill>
              <a:latin typeface="Times New Roman" pitchFamily="18" charset="0"/>
              <a:cs typeface="+mn-cs"/>
            </a:endParaRPr>
          </a:p>
        </p:txBody>
      </p:sp>
      <p:sp>
        <p:nvSpPr>
          <p:cNvPr id="888861" name="Rectangle 29"/>
          <p:cNvSpPr>
            <a:spLocks noChangeArrowheads="1"/>
          </p:cNvSpPr>
          <p:nvPr/>
        </p:nvSpPr>
        <p:spPr bwMode="auto">
          <a:xfrm>
            <a:off x="647700" y="5426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3200" b="1" i="1">
                <a:solidFill>
                  <a:srgbClr val="000000"/>
                </a:solidFill>
                <a:latin typeface="Arial" charset="0"/>
                <a:cs typeface="+mn-cs"/>
              </a:rPr>
              <a:t>When gcd (a, b) = 1, we say that a and b are relatively prime.</a:t>
            </a:r>
          </a:p>
        </p:txBody>
      </p:sp>
    </p:spTree>
    <p:extLst>
      <p:ext uri="{BB962C8B-B14F-4D97-AF65-F5344CB8AC3E}">
        <p14:creationId xmlns:p14="http://schemas.microsoft.com/office/powerpoint/2010/main" val="229335047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
          <p:cNvSpPr>
            <a:spLocks noGrp="1"/>
          </p:cNvSpPr>
          <p:nvPr>
            <p:ph type="sldNum" sz="quarter" idx="10"/>
          </p:nvPr>
        </p:nvSpPr>
        <p:spPr/>
        <p:txBody>
          <a:bodyPr/>
          <a:lstStyle/>
          <a:p>
            <a:fld id="{FF1D7E14-3607-4CB3-966C-79F828FDA462}" type="slidenum">
              <a:rPr lang="en-US" smtClean="0">
                <a:solidFill>
                  <a:srgbClr val="000000"/>
                </a:solidFill>
              </a:rPr>
              <a:pPr/>
              <a:t>109</a:t>
            </a:fld>
            <a:endParaRPr lang="en-US" dirty="0">
              <a:solidFill>
                <a:srgbClr val="000000"/>
              </a:solidFill>
            </a:endParaRPr>
          </a:p>
        </p:txBody>
      </p:sp>
      <p:sp>
        <p:nvSpPr>
          <p:cNvPr id="89088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890889" name="Text Box 9"/>
          <p:cNvSpPr txBox="1">
            <a:spLocks noChangeArrowheads="1"/>
          </p:cNvSpPr>
          <p:nvPr/>
        </p:nvSpPr>
        <p:spPr bwMode="auto">
          <a:xfrm>
            <a:off x="1143000" y="0"/>
            <a:ext cx="21675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sp>
        <p:nvSpPr>
          <p:cNvPr id="890892" name="Line 12"/>
          <p:cNvSpPr>
            <a:spLocks noChangeShapeType="1"/>
          </p:cNvSpPr>
          <p:nvPr/>
        </p:nvSpPr>
        <p:spPr bwMode="auto">
          <a:xfrm>
            <a:off x="609600" y="3124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b="1" i="1">
              <a:solidFill>
                <a:srgbClr val="000000"/>
              </a:solidFill>
              <a:latin typeface="Times New Roman" pitchFamily="18" charset="0"/>
              <a:cs typeface="+mn-cs"/>
            </a:endParaRPr>
          </a:p>
        </p:txBody>
      </p:sp>
      <p:sp>
        <p:nvSpPr>
          <p:cNvPr id="890893" name="Line 13"/>
          <p:cNvSpPr>
            <a:spLocks noChangeShapeType="1"/>
          </p:cNvSpPr>
          <p:nvPr/>
        </p:nvSpPr>
        <p:spPr bwMode="auto">
          <a:xfrm>
            <a:off x="609600" y="4343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US" b="1" i="1">
              <a:solidFill>
                <a:srgbClr val="000000"/>
              </a:solidFill>
              <a:latin typeface="Times New Roman" pitchFamily="18" charset="0"/>
              <a:cs typeface="+mn-cs"/>
            </a:endParaRPr>
          </a:p>
        </p:txBody>
      </p:sp>
      <p:sp>
        <p:nvSpPr>
          <p:cNvPr id="890894" name="Rectangle 14"/>
          <p:cNvSpPr>
            <a:spLocks noChangeArrowheads="1"/>
          </p:cNvSpPr>
          <p:nvPr/>
        </p:nvSpPr>
        <p:spPr bwMode="auto">
          <a:xfrm>
            <a:off x="647700" y="32162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3200" b="1" i="1">
                <a:solidFill>
                  <a:srgbClr val="000000"/>
                </a:solidFill>
                <a:latin typeface="Arial" charset="0"/>
                <a:cs typeface="+mn-cs"/>
              </a:rPr>
              <a:t>When gcd (a, b) = 1, we say that a and b are relatively prime.</a:t>
            </a:r>
          </a:p>
        </p:txBody>
      </p:sp>
    </p:spTree>
    <p:extLst>
      <p:ext uri="{BB962C8B-B14F-4D97-AF65-F5344CB8AC3E}">
        <p14:creationId xmlns:p14="http://schemas.microsoft.com/office/powerpoint/2010/main" val="136902001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fld id="{CE32EB31-C4FC-4DAC-8264-E5EACA590527}" type="slidenum">
              <a:rPr lang="en-US" smtClean="0">
                <a:solidFill>
                  <a:srgbClr val="000000"/>
                </a:solidFill>
              </a:rPr>
              <a:pPr/>
              <a:t>110</a:t>
            </a:fld>
            <a:endParaRPr lang="en-US" dirty="0">
              <a:solidFill>
                <a:srgbClr val="000000"/>
              </a:solidFill>
            </a:endParaRPr>
          </a:p>
        </p:txBody>
      </p:sp>
      <p:sp>
        <p:nvSpPr>
          <p:cNvPr id="894978" name="Text Box 2"/>
          <p:cNvSpPr txBox="1">
            <a:spLocks noChangeArrowheads="1"/>
          </p:cNvSpPr>
          <p:nvPr/>
        </p:nvSpPr>
        <p:spPr bwMode="auto">
          <a:xfrm>
            <a:off x="1143000" y="533400"/>
            <a:ext cx="1423788"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dirty="0">
                <a:solidFill>
                  <a:srgbClr val="FFFFFF"/>
                </a:solidFill>
                <a:latin typeface="Times New Roman" pitchFamily="18" charset="0"/>
                <a:cs typeface="+mn-cs"/>
              </a:rPr>
              <a:t>Example </a:t>
            </a:r>
            <a:endParaRPr lang="en-US" sz="2000" b="1" i="1" dirty="0">
              <a:solidFill>
                <a:srgbClr val="FFFFFF"/>
              </a:solidFill>
              <a:latin typeface="Times New Roman" pitchFamily="18" charset="0"/>
              <a:cs typeface="+mn-cs"/>
            </a:endParaRPr>
          </a:p>
        </p:txBody>
      </p:sp>
      <p:sp>
        <p:nvSpPr>
          <p:cNvPr id="89498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894986" name="Text Box 10"/>
          <p:cNvSpPr txBox="1">
            <a:spLocks noChangeArrowheads="1"/>
          </p:cNvSpPr>
          <p:nvPr/>
        </p:nvSpPr>
        <p:spPr bwMode="auto">
          <a:xfrm>
            <a:off x="1143000" y="0"/>
            <a:ext cx="22701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sp>
        <p:nvSpPr>
          <p:cNvPr id="894987" name="Rectangle 11"/>
          <p:cNvSpPr>
            <a:spLocks noChangeArrowheads="1"/>
          </p:cNvSpPr>
          <p:nvPr/>
        </p:nvSpPr>
        <p:spPr bwMode="auto">
          <a:xfrm>
            <a:off x="304800" y="1065213"/>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Find the greatest common divisor of 2740 and 1760.</a:t>
            </a:r>
          </a:p>
        </p:txBody>
      </p:sp>
      <p:sp>
        <p:nvSpPr>
          <p:cNvPr id="894988" name="Rectangle 12"/>
          <p:cNvSpPr>
            <a:spLocks noChangeArrowheads="1"/>
          </p:cNvSpPr>
          <p:nvPr/>
        </p:nvSpPr>
        <p:spPr bwMode="auto">
          <a:xfrm>
            <a:off x="228600" y="2057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We have gcd (2740, 1760) = 20.</a:t>
            </a:r>
          </a:p>
        </p:txBody>
      </p:sp>
      <p:sp>
        <p:nvSpPr>
          <p:cNvPr id="894989" name="Rectangle 13"/>
          <p:cNvSpPr>
            <a:spLocks noChangeArrowheads="1"/>
          </p:cNvSpPr>
          <p:nvPr/>
        </p:nvSpPr>
        <p:spPr bwMode="auto">
          <a:xfrm>
            <a:off x="228600" y="1600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FF0000"/>
                </a:solidFill>
                <a:effectLst>
                  <a:outerShdw blurRad="38100" dist="38100" dir="2700000" algn="tl">
                    <a:srgbClr val="C0C0C0"/>
                  </a:outerShdw>
                </a:effectLst>
                <a:latin typeface="Times New Roman" pitchFamily="18" charset="0"/>
                <a:cs typeface="+mn-cs"/>
              </a:rPr>
              <a:t>Solution</a:t>
            </a:r>
          </a:p>
        </p:txBody>
      </p:sp>
      <p:pic>
        <p:nvPicPr>
          <p:cNvPr id="894991"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8463" y="2565400"/>
            <a:ext cx="5265737" cy="383063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710791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fld id="{16D7A822-3181-465A-84BA-F99D5799A4E4}" type="slidenum">
              <a:rPr lang="en-US" smtClean="0">
                <a:solidFill>
                  <a:srgbClr val="000000"/>
                </a:solidFill>
              </a:rPr>
              <a:pPr/>
              <a:t>111</a:t>
            </a:fld>
            <a:endParaRPr lang="en-US" dirty="0">
              <a:solidFill>
                <a:srgbClr val="000000"/>
              </a:solidFill>
            </a:endParaRPr>
          </a:p>
        </p:txBody>
      </p:sp>
      <p:sp>
        <p:nvSpPr>
          <p:cNvPr id="897026" name="Text Box 2"/>
          <p:cNvSpPr txBox="1">
            <a:spLocks noChangeArrowheads="1"/>
          </p:cNvSpPr>
          <p:nvPr/>
        </p:nvSpPr>
        <p:spPr bwMode="auto">
          <a:xfrm>
            <a:off x="1143000" y="533400"/>
            <a:ext cx="1423788"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dirty="0">
                <a:solidFill>
                  <a:srgbClr val="FFFFFF"/>
                </a:solidFill>
                <a:latin typeface="Times New Roman" pitchFamily="18" charset="0"/>
                <a:cs typeface="+mn-cs"/>
              </a:rPr>
              <a:t>Example </a:t>
            </a:r>
            <a:endParaRPr lang="en-US" sz="2000" b="1" i="1" dirty="0">
              <a:solidFill>
                <a:srgbClr val="FFFFFF"/>
              </a:solidFill>
              <a:latin typeface="Times New Roman" pitchFamily="18" charset="0"/>
              <a:cs typeface="+mn-cs"/>
            </a:endParaRPr>
          </a:p>
        </p:txBody>
      </p:sp>
      <p:sp>
        <p:nvSpPr>
          <p:cNvPr id="89703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897034" name="Text Box 10"/>
          <p:cNvSpPr txBox="1">
            <a:spLocks noChangeArrowheads="1"/>
          </p:cNvSpPr>
          <p:nvPr/>
        </p:nvSpPr>
        <p:spPr bwMode="auto">
          <a:xfrm>
            <a:off x="1143000" y="0"/>
            <a:ext cx="21675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sp>
        <p:nvSpPr>
          <p:cNvPr id="897035" name="Rectangle 11"/>
          <p:cNvSpPr>
            <a:spLocks noChangeArrowheads="1"/>
          </p:cNvSpPr>
          <p:nvPr/>
        </p:nvSpPr>
        <p:spPr bwMode="auto">
          <a:xfrm>
            <a:off x="304800" y="1065213"/>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Find the greatest common divisor of 25 and 60.</a:t>
            </a:r>
          </a:p>
        </p:txBody>
      </p:sp>
      <p:sp>
        <p:nvSpPr>
          <p:cNvPr id="897036" name="Rectangle 12"/>
          <p:cNvSpPr>
            <a:spLocks noChangeArrowheads="1"/>
          </p:cNvSpPr>
          <p:nvPr/>
        </p:nvSpPr>
        <p:spPr bwMode="auto">
          <a:xfrm>
            <a:off x="228600" y="2057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We have gcd (25, 65) = 5.</a:t>
            </a:r>
          </a:p>
        </p:txBody>
      </p:sp>
      <p:sp>
        <p:nvSpPr>
          <p:cNvPr id="897037" name="Rectangle 13"/>
          <p:cNvSpPr>
            <a:spLocks noChangeArrowheads="1"/>
          </p:cNvSpPr>
          <p:nvPr/>
        </p:nvSpPr>
        <p:spPr bwMode="auto">
          <a:xfrm>
            <a:off x="228600" y="1676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FF0000"/>
                </a:solidFill>
                <a:effectLst>
                  <a:outerShdw blurRad="38100" dist="38100" dir="2700000" algn="tl">
                    <a:srgbClr val="C0C0C0"/>
                  </a:outerShdw>
                </a:effectLst>
                <a:latin typeface="Times New Roman" pitchFamily="18" charset="0"/>
                <a:cs typeface="+mn-cs"/>
              </a:rPr>
              <a:t>Solution</a:t>
            </a:r>
          </a:p>
        </p:txBody>
      </p:sp>
      <p:pic>
        <p:nvPicPr>
          <p:cNvPr id="897039"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2735263"/>
            <a:ext cx="5146675" cy="282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79247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
          <p:cNvSpPr>
            <a:spLocks noGrp="1"/>
          </p:cNvSpPr>
          <p:nvPr>
            <p:ph type="sldNum" sz="quarter" idx="10"/>
          </p:nvPr>
        </p:nvSpPr>
        <p:spPr/>
        <p:txBody>
          <a:bodyPr/>
          <a:lstStyle/>
          <a:p>
            <a:fld id="{5223336C-2D6C-4D66-92A5-1DB13FF74FF2}" type="slidenum">
              <a:rPr lang="en-US" smtClean="0">
                <a:solidFill>
                  <a:srgbClr val="000000"/>
                </a:solidFill>
              </a:rPr>
              <a:pPr/>
              <a:t>112</a:t>
            </a:fld>
            <a:endParaRPr lang="en-US" dirty="0">
              <a:solidFill>
                <a:srgbClr val="000000"/>
              </a:solidFill>
            </a:endParaRPr>
          </a:p>
        </p:txBody>
      </p:sp>
      <p:sp>
        <p:nvSpPr>
          <p:cNvPr id="899074" name="Text Box 2"/>
          <p:cNvSpPr txBox="1">
            <a:spLocks noChangeArrowheads="1"/>
          </p:cNvSpPr>
          <p:nvPr/>
        </p:nvSpPr>
        <p:spPr bwMode="auto">
          <a:xfrm>
            <a:off x="1143000" y="533400"/>
            <a:ext cx="423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a:solidFill>
                  <a:srgbClr val="3333CC"/>
                </a:solidFill>
                <a:latin typeface="Times New Roman" pitchFamily="18" charset="0"/>
                <a:cs typeface="+mn-cs"/>
              </a:rPr>
              <a:t>Extended Euclidean Algorithm</a:t>
            </a:r>
            <a:endParaRPr lang="en-US" sz="2000" b="1" i="1">
              <a:solidFill>
                <a:srgbClr val="000000"/>
              </a:solidFill>
              <a:latin typeface="Times New Roman" pitchFamily="18" charset="0"/>
              <a:cs typeface="+mn-cs"/>
            </a:endParaRPr>
          </a:p>
        </p:txBody>
      </p:sp>
      <p:sp>
        <p:nvSpPr>
          <p:cNvPr id="89908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899082" name="Text Box 10"/>
          <p:cNvSpPr txBox="1">
            <a:spLocks noChangeArrowheads="1"/>
          </p:cNvSpPr>
          <p:nvPr/>
        </p:nvSpPr>
        <p:spPr bwMode="auto">
          <a:xfrm>
            <a:off x="1143000" y="0"/>
            <a:ext cx="22701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sp>
        <p:nvSpPr>
          <p:cNvPr id="899083" name="Rectangle 11"/>
          <p:cNvSpPr>
            <a:spLocks noChangeArrowheads="1"/>
          </p:cNvSpPr>
          <p:nvPr/>
        </p:nvSpPr>
        <p:spPr bwMode="auto">
          <a:xfrm>
            <a:off x="304800" y="10826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Given two integers </a:t>
            </a:r>
            <a:r>
              <a:rPr lang="en-US" sz="2400" b="1" i="1">
                <a:solidFill>
                  <a:srgbClr val="000000"/>
                </a:solidFill>
                <a:effectLst>
                  <a:outerShdw blurRad="38100" dist="38100" dir="2700000" algn="tl">
                    <a:srgbClr val="C0C0C0"/>
                  </a:outerShdw>
                </a:effectLst>
                <a:latin typeface="Times New Roman" pitchFamily="18" charset="0"/>
                <a:cs typeface="+mn-cs"/>
              </a:rPr>
              <a:t>a</a:t>
            </a:r>
            <a:r>
              <a:rPr lang="en-US" sz="2400" b="1">
                <a:solidFill>
                  <a:srgbClr val="000000"/>
                </a:solidFill>
                <a:effectLst>
                  <a:outerShdw blurRad="38100" dist="38100" dir="2700000" algn="tl">
                    <a:srgbClr val="C0C0C0"/>
                  </a:outerShdw>
                </a:effectLst>
                <a:latin typeface="Times New Roman" pitchFamily="18" charset="0"/>
                <a:cs typeface="+mn-cs"/>
              </a:rPr>
              <a:t> and </a:t>
            </a:r>
            <a:r>
              <a:rPr lang="en-US" sz="2400" b="1" i="1">
                <a:solidFill>
                  <a:srgbClr val="000000"/>
                </a:solidFill>
                <a:effectLst>
                  <a:outerShdw blurRad="38100" dist="38100" dir="2700000" algn="tl">
                    <a:srgbClr val="C0C0C0"/>
                  </a:outerShdw>
                </a:effectLst>
                <a:latin typeface="Times New Roman" pitchFamily="18" charset="0"/>
                <a:cs typeface="+mn-cs"/>
              </a:rPr>
              <a:t>b</a:t>
            </a:r>
            <a:r>
              <a:rPr lang="en-US" sz="2400" b="1">
                <a:solidFill>
                  <a:srgbClr val="000000"/>
                </a:solidFill>
                <a:effectLst>
                  <a:outerShdw blurRad="38100" dist="38100" dir="2700000" algn="tl">
                    <a:srgbClr val="C0C0C0"/>
                  </a:outerShdw>
                </a:effectLst>
                <a:latin typeface="Times New Roman" pitchFamily="18" charset="0"/>
                <a:cs typeface="+mn-cs"/>
              </a:rPr>
              <a:t>, we often need to find other two integers, </a:t>
            </a:r>
            <a:r>
              <a:rPr lang="en-US" sz="2400" b="1" i="1">
                <a:solidFill>
                  <a:srgbClr val="000000"/>
                </a:solidFill>
                <a:effectLst>
                  <a:outerShdw blurRad="38100" dist="38100" dir="2700000" algn="tl">
                    <a:srgbClr val="C0C0C0"/>
                  </a:outerShdw>
                </a:effectLst>
                <a:latin typeface="Times New Roman" pitchFamily="18" charset="0"/>
                <a:cs typeface="+mn-cs"/>
              </a:rPr>
              <a:t>s</a:t>
            </a:r>
            <a:r>
              <a:rPr lang="en-US" sz="2400" b="1">
                <a:solidFill>
                  <a:srgbClr val="000000"/>
                </a:solidFill>
                <a:effectLst>
                  <a:outerShdw blurRad="38100" dist="38100" dir="2700000" algn="tl">
                    <a:srgbClr val="C0C0C0"/>
                  </a:outerShdw>
                </a:effectLst>
                <a:latin typeface="Times New Roman" pitchFamily="18" charset="0"/>
                <a:cs typeface="+mn-cs"/>
              </a:rPr>
              <a:t> and </a:t>
            </a:r>
            <a:r>
              <a:rPr lang="en-US" sz="2400" b="1" i="1">
                <a:solidFill>
                  <a:srgbClr val="000000"/>
                </a:solidFill>
                <a:effectLst>
                  <a:outerShdw blurRad="38100" dist="38100" dir="2700000" algn="tl">
                    <a:srgbClr val="C0C0C0"/>
                  </a:outerShdw>
                </a:effectLst>
                <a:latin typeface="Times New Roman" pitchFamily="18" charset="0"/>
                <a:cs typeface="+mn-cs"/>
              </a:rPr>
              <a:t>t</a:t>
            </a:r>
            <a:r>
              <a:rPr lang="en-US" sz="2400" b="1">
                <a:solidFill>
                  <a:srgbClr val="000000"/>
                </a:solidFill>
                <a:effectLst>
                  <a:outerShdw blurRad="38100" dist="38100" dir="2700000" algn="tl">
                    <a:srgbClr val="C0C0C0"/>
                  </a:outerShdw>
                </a:effectLst>
                <a:latin typeface="Times New Roman" pitchFamily="18" charset="0"/>
                <a:cs typeface="+mn-cs"/>
              </a:rPr>
              <a:t>, such that</a:t>
            </a:r>
          </a:p>
        </p:txBody>
      </p:sp>
      <p:pic>
        <p:nvPicPr>
          <p:cNvPr id="899087"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3" y="2438400"/>
            <a:ext cx="5462587"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9088" name="Rectangle 16"/>
          <p:cNvSpPr>
            <a:spLocks noChangeArrowheads="1"/>
          </p:cNvSpPr>
          <p:nvPr/>
        </p:nvSpPr>
        <p:spPr bwMode="auto">
          <a:xfrm>
            <a:off x="381000" y="39782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The extended Euclidean algorithm can calculate the gcd (</a:t>
            </a:r>
            <a:r>
              <a:rPr lang="en-US" sz="2400" b="1" i="1">
                <a:solidFill>
                  <a:srgbClr val="000000"/>
                </a:solidFill>
                <a:effectLst>
                  <a:outerShdw blurRad="38100" dist="38100" dir="2700000" algn="tl">
                    <a:srgbClr val="C0C0C0"/>
                  </a:outerShdw>
                </a:effectLst>
                <a:latin typeface="Times New Roman" pitchFamily="18" charset="0"/>
                <a:cs typeface="+mn-cs"/>
              </a:rPr>
              <a:t>a</a:t>
            </a:r>
            <a:r>
              <a:rPr lang="en-US" sz="2400" b="1">
                <a:solidFill>
                  <a:srgbClr val="000000"/>
                </a:solidFill>
                <a:effectLst>
                  <a:outerShdw blurRad="38100" dist="38100" dir="2700000" algn="tl">
                    <a:srgbClr val="C0C0C0"/>
                  </a:outerShdw>
                </a:effectLst>
                <a:latin typeface="Times New Roman" pitchFamily="18" charset="0"/>
                <a:cs typeface="+mn-cs"/>
              </a:rPr>
              <a:t>, </a:t>
            </a:r>
            <a:r>
              <a:rPr lang="en-US" sz="2400" b="1" i="1">
                <a:solidFill>
                  <a:srgbClr val="000000"/>
                </a:solidFill>
                <a:effectLst>
                  <a:outerShdw blurRad="38100" dist="38100" dir="2700000" algn="tl">
                    <a:srgbClr val="C0C0C0"/>
                  </a:outerShdw>
                </a:effectLst>
                <a:latin typeface="Times New Roman" pitchFamily="18" charset="0"/>
                <a:cs typeface="+mn-cs"/>
              </a:rPr>
              <a:t>b</a:t>
            </a:r>
            <a:r>
              <a:rPr lang="en-US" sz="2400" b="1">
                <a:solidFill>
                  <a:srgbClr val="000000"/>
                </a:solidFill>
                <a:effectLst>
                  <a:outerShdw blurRad="38100" dist="38100" dir="2700000" algn="tl">
                    <a:srgbClr val="C0C0C0"/>
                  </a:outerShdw>
                </a:effectLst>
                <a:latin typeface="Times New Roman" pitchFamily="18" charset="0"/>
                <a:cs typeface="+mn-cs"/>
              </a:rPr>
              <a:t>) and at the same time calculate the value of </a:t>
            </a:r>
            <a:r>
              <a:rPr lang="en-US" sz="2400" b="1" i="1">
                <a:solidFill>
                  <a:srgbClr val="000000"/>
                </a:solidFill>
                <a:effectLst>
                  <a:outerShdw blurRad="38100" dist="38100" dir="2700000" algn="tl">
                    <a:srgbClr val="C0C0C0"/>
                  </a:outerShdw>
                </a:effectLst>
                <a:latin typeface="Times New Roman" pitchFamily="18" charset="0"/>
                <a:cs typeface="+mn-cs"/>
              </a:rPr>
              <a:t>s</a:t>
            </a:r>
            <a:r>
              <a:rPr lang="en-US" sz="2400" b="1">
                <a:solidFill>
                  <a:srgbClr val="000000"/>
                </a:solidFill>
                <a:effectLst>
                  <a:outerShdw blurRad="38100" dist="38100" dir="2700000" algn="tl">
                    <a:srgbClr val="C0C0C0"/>
                  </a:outerShdw>
                </a:effectLst>
                <a:latin typeface="Times New Roman" pitchFamily="18" charset="0"/>
                <a:cs typeface="+mn-cs"/>
              </a:rPr>
              <a:t> and </a:t>
            </a:r>
            <a:r>
              <a:rPr lang="en-US" sz="2400" b="1" i="1">
                <a:solidFill>
                  <a:srgbClr val="000000"/>
                </a:solidFill>
                <a:effectLst>
                  <a:outerShdw blurRad="38100" dist="38100" dir="2700000" algn="tl">
                    <a:srgbClr val="C0C0C0"/>
                  </a:outerShdw>
                </a:effectLst>
                <a:latin typeface="Times New Roman" pitchFamily="18" charset="0"/>
                <a:cs typeface="+mn-cs"/>
              </a:rPr>
              <a:t>t</a:t>
            </a:r>
            <a:r>
              <a:rPr lang="en-US" sz="2400" b="1">
                <a:solidFill>
                  <a:srgbClr val="000000"/>
                </a:solidFill>
                <a:effectLst>
                  <a:outerShdw blurRad="38100" dist="38100" dir="2700000" algn="tl">
                    <a:srgbClr val="C0C0C0"/>
                  </a:outerShdw>
                </a:effectLst>
                <a:latin typeface="Times New Roman" pitchFamily="18" charset="0"/>
                <a:cs typeface="+mn-cs"/>
              </a:rPr>
              <a:t>.</a:t>
            </a:r>
          </a:p>
        </p:txBody>
      </p:sp>
    </p:spTree>
    <p:extLst>
      <p:ext uri="{BB962C8B-B14F-4D97-AF65-F5344CB8AC3E}">
        <p14:creationId xmlns:p14="http://schemas.microsoft.com/office/powerpoint/2010/main" val="32866563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fld id="{A6DE4202-B313-4656-AD84-24FEDAB00992}" type="slidenum">
              <a:rPr lang="en-US" smtClean="0">
                <a:solidFill>
                  <a:srgbClr val="000000"/>
                </a:solidFill>
              </a:rPr>
              <a:pPr/>
              <a:t>113</a:t>
            </a:fld>
            <a:endParaRPr lang="en-US" dirty="0">
              <a:solidFill>
                <a:srgbClr val="000000"/>
              </a:solidFill>
            </a:endParaRPr>
          </a:p>
        </p:txBody>
      </p:sp>
      <p:sp>
        <p:nvSpPr>
          <p:cNvPr id="90112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901130" name="Text Box 10"/>
          <p:cNvSpPr txBox="1">
            <a:spLocks noChangeArrowheads="1"/>
          </p:cNvSpPr>
          <p:nvPr/>
        </p:nvSpPr>
        <p:spPr bwMode="auto">
          <a:xfrm>
            <a:off x="1143000" y="0"/>
            <a:ext cx="22701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pic>
        <p:nvPicPr>
          <p:cNvPr id="90113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063" y="1676400"/>
            <a:ext cx="8593137" cy="372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136" name="Text Box 16"/>
          <p:cNvSpPr txBox="1">
            <a:spLocks noChangeArrowheads="1"/>
          </p:cNvSpPr>
          <p:nvPr/>
        </p:nvSpPr>
        <p:spPr bwMode="auto">
          <a:xfrm>
            <a:off x="1066800" y="533400"/>
            <a:ext cx="52718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dirty="0">
                <a:solidFill>
                  <a:srgbClr val="3333CC"/>
                </a:solidFill>
                <a:latin typeface="Times New Roman" pitchFamily="18" charset="0"/>
                <a:cs typeface="+mn-cs"/>
              </a:rPr>
              <a:t>Figure   </a:t>
            </a:r>
            <a:r>
              <a:rPr lang="en-US" sz="2000" b="1" i="1" dirty="0">
                <a:solidFill>
                  <a:srgbClr val="000000"/>
                </a:solidFill>
                <a:latin typeface="Times New Roman" pitchFamily="18" charset="0"/>
                <a:cs typeface="+mn-cs"/>
              </a:rPr>
              <a:t>Extended Euclidean algorithm, part a</a:t>
            </a:r>
          </a:p>
        </p:txBody>
      </p:sp>
    </p:spTree>
    <p:extLst>
      <p:ext uri="{BB962C8B-B14F-4D97-AF65-F5344CB8AC3E}">
        <p14:creationId xmlns:p14="http://schemas.microsoft.com/office/powerpoint/2010/main" val="194126256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fld id="{A03CD79B-4662-4D07-A7C3-DD156296BD13}" type="slidenum">
              <a:rPr lang="en-US" smtClean="0">
                <a:solidFill>
                  <a:srgbClr val="000000"/>
                </a:solidFill>
              </a:rPr>
              <a:pPr/>
              <a:t>114</a:t>
            </a:fld>
            <a:endParaRPr lang="en-US" dirty="0">
              <a:solidFill>
                <a:srgbClr val="000000"/>
              </a:solidFill>
            </a:endParaRPr>
          </a:p>
        </p:txBody>
      </p:sp>
      <p:sp>
        <p:nvSpPr>
          <p:cNvPr id="90317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903178" name="Text Box 10"/>
          <p:cNvSpPr txBox="1">
            <a:spLocks noChangeArrowheads="1"/>
          </p:cNvSpPr>
          <p:nvPr/>
        </p:nvSpPr>
        <p:spPr bwMode="auto">
          <a:xfrm>
            <a:off x="1143000" y="0"/>
            <a:ext cx="22701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sp>
        <p:nvSpPr>
          <p:cNvPr id="903182" name="Text Box 14"/>
          <p:cNvSpPr txBox="1">
            <a:spLocks noChangeArrowheads="1"/>
          </p:cNvSpPr>
          <p:nvPr/>
        </p:nvSpPr>
        <p:spPr bwMode="auto">
          <a:xfrm>
            <a:off x="1155700" y="533400"/>
            <a:ext cx="41761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000" b="1" i="1" dirty="0">
                <a:solidFill>
                  <a:srgbClr val="000000"/>
                </a:solidFill>
                <a:latin typeface="Times New Roman" pitchFamily="18" charset="0"/>
                <a:cs typeface="+mn-cs"/>
              </a:rPr>
              <a:t>Extended Euclidean algorithm, part b</a:t>
            </a:r>
          </a:p>
        </p:txBody>
      </p:sp>
      <p:pic>
        <p:nvPicPr>
          <p:cNvPr id="903183"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463675"/>
            <a:ext cx="7277100" cy="501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0126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fld id="{79568946-E483-45BB-8483-F30D64B04228}" type="slidenum">
              <a:rPr lang="en-US" smtClean="0">
                <a:solidFill>
                  <a:srgbClr val="000000"/>
                </a:solidFill>
              </a:rPr>
              <a:pPr/>
              <a:t>115</a:t>
            </a:fld>
            <a:endParaRPr lang="en-US" dirty="0">
              <a:solidFill>
                <a:srgbClr val="000000"/>
              </a:solidFill>
            </a:endParaRPr>
          </a:p>
        </p:txBody>
      </p:sp>
      <p:sp>
        <p:nvSpPr>
          <p:cNvPr id="905218" name="Text Box 2"/>
          <p:cNvSpPr txBox="1">
            <a:spLocks noChangeArrowheads="1"/>
          </p:cNvSpPr>
          <p:nvPr/>
        </p:nvSpPr>
        <p:spPr bwMode="auto">
          <a:xfrm>
            <a:off x="1143000" y="533400"/>
            <a:ext cx="1423788"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dirty="0">
                <a:solidFill>
                  <a:srgbClr val="FFFFFF"/>
                </a:solidFill>
                <a:latin typeface="Times New Roman" pitchFamily="18" charset="0"/>
                <a:cs typeface="+mn-cs"/>
              </a:rPr>
              <a:t>Example </a:t>
            </a:r>
            <a:endParaRPr lang="en-US" sz="2000" b="1" i="1" dirty="0">
              <a:solidFill>
                <a:srgbClr val="FFFFFF"/>
              </a:solidFill>
              <a:latin typeface="Times New Roman" pitchFamily="18" charset="0"/>
              <a:cs typeface="+mn-cs"/>
            </a:endParaRPr>
          </a:p>
        </p:txBody>
      </p:sp>
      <p:sp>
        <p:nvSpPr>
          <p:cNvPr id="90522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905226" name="Text Box 10"/>
          <p:cNvSpPr txBox="1">
            <a:spLocks noChangeArrowheads="1"/>
          </p:cNvSpPr>
          <p:nvPr/>
        </p:nvSpPr>
        <p:spPr bwMode="auto">
          <a:xfrm>
            <a:off x="1143000" y="0"/>
            <a:ext cx="21675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sp>
        <p:nvSpPr>
          <p:cNvPr id="905227" name="Rectangle 11"/>
          <p:cNvSpPr>
            <a:spLocks noChangeArrowheads="1"/>
          </p:cNvSpPr>
          <p:nvPr/>
        </p:nvSpPr>
        <p:spPr bwMode="auto">
          <a:xfrm>
            <a:off x="304800" y="11588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Given </a:t>
            </a:r>
            <a:r>
              <a:rPr lang="en-US" sz="2400" b="1" i="1">
                <a:solidFill>
                  <a:srgbClr val="000000"/>
                </a:solidFill>
                <a:effectLst>
                  <a:outerShdw blurRad="38100" dist="38100" dir="2700000" algn="tl">
                    <a:srgbClr val="C0C0C0"/>
                  </a:outerShdw>
                </a:effectLst>
                <a:latin typeface="Times New Roman" pitchFamily="18" charset="0"/>
                <a:cs typeface="+mn-cs"/>
              </a:rPr>
              <a:t>a</a:t>
            </a:r>
            <a:r>
              <a:rPr lang="en-US" sz="2400" b="1">
                <a:solidFill>
                  <a:srgbClr val="000000"/>
                </a:solidFill>
                <a:effectLst>
                  <a:outerShdw blurRad="38100" dist="38100" dir="2700000" algn="tl">
                    <a:srgbClr val="C0C0C0"/>
                  </a:outerShdw>
                </a:effectLst>
                <a:latin typeface="Times New Roman" pitchFamily="18" charset="0"/>
                <a:cs typeface="+mn-cs"/>
              </a:rPr>
              <a:t> = 161 and </a:t>
            </a:r>
            <a:r>
              <a:rPr lang="en-US" sz="2400" b="1" i="1">
                <a:solidFill>
                  <a:srgbClr val="000000"/>
                </a:solidFill>
                <a:effectLst>
                  <a:outerShdw blurRad="38100" dist="38100" dir="2700000" algn="tl">
                    <a:srgbClr val="C0C0C0"/>
                  </a:outerShdw>
                </a:effectLst>
                <a:latin typeface="Times New Roman" pitchFamily="18" charset="0"/>
                <a:cs typeface="+mn-cs"/>
              </a:rPr>
              <a:t>b</a:t>
            </a:r>
            <a:r>
              <a:rPr lang="en-US" sz="2400" b="1">
                <a:solidFill>
                  <a:srgbClr val="000000"/>
                </a:solidFill>
                <a:effectLst>
                  <a:outerShdw blurRad="38100" dist="38100" dir="2700000" algn="tl">
                    <a:srgbClr val="C0C0C0"/>
                  </a:outerShdw>
                </a:effectLst>
                <a:latin typeface="Times New Roman" pitchFamily="18" charset="0"/>
                <a:cs typeface="+mn-cs"/>
              </a:rPr>
              <a:t> = 28, find gcd (</a:t>
            </a:r>
            <a:r>
              <a:rPr lang="en-US" sz="2400" b="1" i="1">
                <a:solidFill>
                  <a:srgbClr val="000000"/>
                </a:solidFill>
                <a:effectLst>
                  <a:outerShdw blurRad="38100" dist="38100" dir="2700000" algn="tl">
                    <a:srgbClr val="C0C0C0"/>
                  </a:outerShdw>
                </a:effectLst>
                <a:latin typeface="Times New Roman" pitchFamily="18" charset="0"/>
                <a:cs typeface="+mn-cs"/>
              </a:rPr>
              <a:t>a</a:t>
            </a:r>
            <a:r>
              <a:rPr lang="en-US" sz="2400" b="1">
                <a:solidFill>
                  <a:srgbClr val="000000"/>
                </a:solidFill>
                <a:effectLst>
                  <a:outerShdw blurRad="38100" dist="38100" dir="2700000" algn="tl">
                    <a:srgbClr val="C0C0C0"/>
                  </a:outerShdw>
                </a:effectLst>
                <a:latin typeface="Times New Roman" pitchFamily="18" charset="0"/>
                <a:cs typeface="+mn-cs"/>
              </a:rPr>
              <a:t>, </a:t>
            </a:r>
            <a:r>
              <a:rPr lang="en-US" sz="2400" b="1" i="1">
                <a:solidFill>
                  <a:srgbClr val="000000"/>
                </a:solidFill>
                <a:effectLst>
                  <a:outerShdw blurRad="38100" dist="38100" dir="2700000" algn="tl">
                    <a:srgbClr val="C0C0C0"/>
                  </a:outerShdw>
                </a:effectLst>
                <a:latin typeface="Times New Roman" pitchFamily="18" charset="0"/>
                <a:cs typeface="+mn-cs"/>
              </a:rPr>
              <a:t>b</a:t>
            </a:r>
            <a:r>
              <a:rPr lang="en-US" sz="2400" b="1">
                <a:solidFill>
                  <a:srgbClr val="000000"/>
                </a:solidFill>
                <a:effectLst>
                  <a:outerShdw blurRad="38100" dist="38100" dir="2700000" algn="tl">
                    <a:srgbClr val="C0C0C0"/>
                  </a:outerShdw>
                </a:effectLst>
                <a:latin typeface="Times New Roman" pitchFamily="18" charset="0"/>
                <a:cs typeface="+mn-cs"/>
              </a:rPr>
              <a:t>) and the values of </a:t>
            </a:r>
            <a:r>
              <a:rPr lang="en-US" sz="2400" b="1" i="1">
                <a:solidFill>
                  <a:srgbClr val="000000"/>
                </a:solidFill>
                <a:effectLst>
                  <a:outerShdw blurRad="38100" dist="38100" dir="2700000" algn="tl">
                    <a:srgbClr val="C0C0C0"/>
                  </a:outerShdw>
                </a:effectLst>
                <a:latin typeface="Times New Roman" pitchFamily="18" charset="0"/>
                <a:cs typeface="+mn-cs"/>
              </a:rPr>
              <a:t>s</a:t>
            </a:r>
            <a:r>
              <a:rPr lang="en-US" sz="2400" b="1">
                <a:solidFill>
                  <a:srgbClr val="000000"/>
                </a:solidFill>
                <a:effectLst>
                  <a:outerShdw blurRad="38100" dist="38100" dir="2700000" algn="tl">
                    <a:srgbClr val="C0C0C0"/>
                  </a:outerShdw>
                </a:effectLst>
                <a:latin typeface="Times New Roman" pitchFamily="18" charset="0"/>
                <a:cs typeface="+mn-cs"/>
              </a:rPr>
              <a:t> and </a:t>
            </a:r>
            <a:r>
              <a:rPr lang="en-US" sz="2400" b="1" i="1">
                <a:solidFill>
                  <a:srgbClr val="000000"/>
                </a:solidFill>
                <a:effectLst>
                  <a:outerShdw blurRad="38100" dist="38100" dir="2700000" algn="tl">
                    <a:srgbClr val="C0C0C0"/>
                  </a:outerShdw>
                </a:effectLst>
                <a:latin typeface="Times New Roman" pitchFamily="18" charset="0"/>
                <a:cs typeface="+mn-cs"/>
              </a:rPr>
              <a:t>t</a:t>
            </a:r>
            <a:r>
              <a:rPr lang="en-US" sz="2400" b="1">
                <a:solidFill>
                  <a:srgbClr val="000000"/>
                </a:solidFill>
                <a:effectLst>
                  <a:outerShdw blurRad="38100" dist="38100" dir="2700000" algn="tl">
                    <a:srgbClr val="C0C0C0"/>
                  </a:outerShdw>
                </a:effectLst>
                <a:latin typeface="Times New Roman" pitchFamily="18" charset="0"/>
                <a:cs typeface="+mn-cs"/>
              </a:rPr>
              <a:t>.</a:t>
            </a:r>
          </a:p>
        </p:txBody>
      </p:sp>
      <p:sp>
        <p:nvSpPr>
          <p:cNvPr id="905228" name="Rectangle 12"/>
          <p:cNvSpPr>
            <a:spLocks noChangeArrowheads="1"/>
          </p:cNvSpPr>
          <p:nvPr/>
        </p:nvSpPr>
        <p:spPr bwMode="auto">
          <a:xfrm>
            <a:off x="381000" y="2590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We get gcd (161, 28) = 7, </a:t>
            </a:r>
            <a:r>
              <a:rPr lang="en-US" sz="2400" b="1" i="1">
                <a:solidFill>
                  <a:srgbClr val="000000"/>
                </a:solidFill>
                <a:effectLst>
                  <a:outerShdw blurRad="38100" dist="38100" dir="2700000" algn="tl">
                    <a:srgbClr val="C0C0C0"/>
                  </a:outerShdw>
                </a:effectLst>
                <a:latin typeface="Times New Roman" pitchFamily="18" charset="0"/>
                <a:cs typeface="+mn-cs"/>
              </a:rPr>
              <a:t>s</a:t>
            </a:r>
            <a:r>
              <a:rPr lang="en-US" sz="2400" b="1">
                <a:solidFill>
                  <a:srgbClr val="000000"/>
                </a:solidFill>
                <a:effectLst>
                  <a:outerShdw blurRad="38100" dist="38100" dir="2700000" algn="tl">
                    <a:srgbClr val="C0C0C0"/>
                  </a:outerShdw>
                </a:effectLst>
                <a:latin typeface="Times New Roman" pitchFamily="18" charset="0"/>
                <a:cs typeface="+mn-cs"/>
              </a:rPr>
              <a:t> = −1 and </a:t>
            </a:r>
            <a:r>
              <a:rPr lang="en-US" sz="2400" b="1" i="1">
                <a:solidFill>
                  <a:srgbClr val="000000"/>
                </a:solidFill>
                <a:effectLst>
                  <a:outerShdw blurRad="38100" dist="38100" dir="2700000" algn="tl">
                    <a:srgbClr val="C0C0C0"/>
                  </a:outerShdw>
                </a:effectLst>
                <a:latin typeface="Times New Roman" pitchFamily="18" charset="0"/>
                <a:cs typeface="+mn-cs"/>
              </a:rPr>
              <a:t>t</a:t>
            </a:r>
            <a:r>
              <a:rPr lang="en-US" sz="2400" b="1">
                <a:solidFill>
                  <a:srgbClr val="000000"/>
                </a:solidFill>
                <a:effectLst>
                  <a:outerShdw blurRad="38100" dist="38100" dir="2700000" algn="tl">
                    <a:srgbClr val="C0C0C0"/>
                  </a:outerShdw>
                </a:effectLst>
                <a:latin typeface="Times New Roman" pitchFamily="18" charset="0"/>
                <a:cs typeface="+mn-cs"/>
              </a:rPr>
              <a:t> = 6.</a:t>
            </a:r>
          </a:p>
        </p:txBody>
      </p:sp>
      <p:sp>
        <p:nvSpPr>
          <p:cNvPr id="905229" name="Rectangle 13"/>
          <p:cNvSpPr>
            <a:spLocks noChangeArrowheads="1"/>
          </p:cNvSpPr>
          <p:nvPr/>
        </p:nvSpPr>
        <p:spPr bwMode="auto">
          <a:xfrm>
            <a:off x="381000" y="2209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FF0000"/>
                </a:solidFill>
                <a:effectLst>
                  <a:outerShdw blurRad="38100" dist="38100" dir="2700000" algn="tl">
                    <a:srgbClr val="C0C0C0"/>
                  </a:outerShdw>
                </a:effectLst>
                <a:latin typeface="Times New Roman" pitchFamily="18" charset="0"/>
                <a:cs typeface="+mn-cs"/>
              </a:rPr>
              <a:t>Solution</a:t>
            </a:r>
          </a:p>
        </p:txBody>
      </p:sp>
      <p:pic>
        <p:nvPicPr>
          <p:cNvPr id="905231"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3330575"/>
            <a:ext cx="7632700"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606969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fld id="{F063945A-7157-4D10-85B9-0D0D4EAA1F78}" type="slidenum">
              <a:rPr lang="en-US" smtClean="0">
                <a:solidFill>
                  <a:srgbClr val="000000"/>
                </a:solidFill>
              </a:rPr>
              <a:pPr/>
              <a:t>116</a:t>
            </a:fld>
            <a:endParaRPr lang="en-US" dirty="0">
              <a:solidFill>
                <a:srgbClr val="000000"/>
              </a:solidFill>
            </a:endParaRPr>
          </a:p>
        </p:txBody>
      </p:sp>
      <p:sp>
        <p:nvSpPr>
          <p:cNvPr id="907266" name="Text Box 2"/>
          <p:cNvSpPr txBox="1">
            <a:spLocks noChangeArrowheads="1"/>
          </p:cNvSpPr>
          <p:nvPr/>
        </p:nvSpPr>
        <p:spPr bwMode="auto">
          <a:xfrm>
            <a:off x="1143000" y="533400"/>
            <a:ext cx="1423788"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dirty="0">
                <a:solidFill>
                  <a:srgbClr val="FFFFFF"/>
                </a:solidFill>
                <a:latin typeface="Times New Roman" pitchFamily="18" charset="0"/>
                <a:cs typeface="+mn-cs"/>
              </a:rPr>
              <a:t>Example </a:t>
            </a:r>
            <a:endParaRPr lang="en-US" sz="2000" b="1" i="1" dirty="0">
              <a:solidFill>
                <a:srgbClr val="FFFFFF"/>
              </a:solidFill>
              <a:latin typeface="Times New Roman" pitchFamily="18" charset="0"/>
              <a:cs typeface="+mn-cs"/>
            </a:endParaRPr>
          </a:p>
        </p:txBody>
      </p:sp>
      <p:sp>
        <p:nvSpPr>
          <p:cNvPr id="90727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907274" name="Text Box 10"/>
          <p:cNvSpPr txBox="1">
            <a:spLocks noChangeArrowheads="1"/>
          </p:cNvSpPr>
          <p:nvPr/>
        </p:nvSpPr>
        <p:spPr bwMode="auto">
          <a:xfrm>
            <a:off x="1143000" y="0"/>
            <a:ext cx="21675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sp>
        <p:nvSpPr>
          <p:cNvPr id="907275" name="Rectangle 11"/>
          <p:cNvSpPr>
            <a:spLocks noChangeArrowheads="1"/>
          </p:cNvSpPr>
          <p:nvPr/>
        </p:nvSpPr>
        <p:spPr bwMode="auto">
          <a:xfrm>
            <a:off x="304800" y="10826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Given </a:t>
            </a:r>
            <a:r>
              <a:rPr lang="en-US" sz="2400" b="1" i="1">
                <a:solidFill>
                  <a:srgbClr val="000000"/>
                </a:solidFill>
                <a:effectLst>
                  <a:outerShdw blurRad="38100" dist="38100" dir="2700000" algn="tl">
                    <a:srgbClr val="C0C0C0"/>
                  </a:outerShdw>
                </a:effectLst>
                <a:latin typeface="Times New Roman" pitchFamily="18" charset="0"/>
                <a:cs typeface="+mn-cs"/>
              </a:rPr>
              <a:t>a</a:t>
            </a:r>
            <a:r>
              <a:rPr lang="en-US" sz="2400" b="1">
                <a:solidFill>
                  <a:srgbClr val="000000"/>
                </a:solidFill>
                <a:effectLst>
                  <a:outerShdw blurRad="38100" dist="38100" dir="2700000" algn="tl">
                    <a:srgbClr val="C0C0C0"/>
                  </a:outerShdw>
                </a:effectLst>
                <a:latin typeface="Times New Roman" pitchFamily="18" charset="0"/>
                <a:cs typeface="+mn-cs"/>
              </a:rPr>
              <a:t> = 17 and </a:t>
            </a:r>
            <a:r>
              <a:rPr lang="en-US" sz="2400" b="1" i="1">
                <a:solidFill>
                  <a:srgbClr val="000000"/>
                </a:solidFill>
                <a:effectLst>
                  <a:outerShdw blurRad="38100" dist="38100" dir="2700000" algn="tl">
                    <a:srgbClr val="C0C0C0"/>
                  </a:outerShdw>
                </a:effectLst>
                <a:latin typeface="Times New Roman" pitchFamily="18" charset="0"/>
                <a:cs typeface="+mn-cs"/>
              </a:rPr>
              <a:t>b</a:t>
            </a:r>
            <a:r>
              <a:rPr lang="en-US" sz="2400" b="1">
                <a:solidFill>
                  <a:srgbClr val="000000"/>
                </a:solidFill>
                <a:effectLst>
                  <a:outerShdw blurRad="38100" dist="38100" dir="2700000" algn="tl">
                    <a:srgbClr val="C0C0C0"/>
                  </a:outerShdw>
                </a:effectLst>
                <a:latin typeface="Times New Roman" pitchFamily="18" charset="0"/>
                <a:cs typeface="+mn-cs"/>
              </a:rPr>
              <a:t> = 0, find gcd (</a:t>
            </a:r>
            <a:r>
              <a:rPr lang="en-US" sz="2400" b="1" i="1">
                <a:solidFill>
                  <a:srgbClr val="000000"/>
                </a:solidFill>
                <a:effectLst>
                  <a:outerShdw blurRad="38100" dist="38100" dir="2700000" algn="tl">
                    <a:srgbClr val="C0C0C0"/>
                  </a:outerShdw>
                </a:effectLst>
                <a:latin typeface="Times New Roman" pitchFamily="18" charset="0"/>
                <a:cs typeface="+mn-cs"/>
              </a:rPr>
              <a:t>a</a:t>
            </a:r>
            <a:r>
              <a:rPr lang="en-US" sz="2400" b="1">
                <a:solidFill>
                  <a:srgbClr val="000000"/>
                </a:solidFill>
                <a:effectLst>
                  <a:outerShdw blurRad="38100" dist="38100" dir="2700000" algn="tl">
                    <a:srgbClr val="C0C0C0"/>
                  </a:outerShdw>
                </a:effectLst>
                <a:latin typeface="Times New Roman" pitchFamily="18" charset="0"/>
                <a:cs typeface="+mn-cs"/>
              </a:rPr>
              <a:t>, </a:t>
            </a:r>
            <a:r>
              <a:rPr lang="en-US" sz="2400" b="1" i="1">
                <a:solidFill>
                  <a:srgbClr val="000000"/>
                </a:solidFill>
                <a:effectLst>
                  <a:outerShdw blurRad="38100" dist="38100" dir="2700000" algn="tl">
                    <a:srgbClr val="C0C0C0"/>
                  </a:outerShdw>
                </a:effectLst>
                <a:latin typeface="Times New Roman" pitchFamily="18" charset="0"/>
                <a:cs typeface="+mn-cs"/>
              </a:rPr>
              <a:t>b</a:t>
            </a:r>
            <a:r>
              <a:rPr lang="en-US" sz="2400" b="1">
                <a:solidFill>
                  <a:srgbClr val="000000"/>
                </a:solidFill>
                <a:effectLst>
                  <a:outerShdw blurRad="38100" dist="38100" dir="2700000" algn="tl">
                    <a:srgbClr val="C0C0C0"/>
                  </a:outerShdw>
                </a:effectLst>
                <a:latin typeface="Times New Roman" pitchFamily="18" charset="0"/>
                <a:cs typeface="+mn-cs"/>
              </a:rPr>
              <a:t>) and the values of </a:t>
            </a:r>
            <a:r>
              <a:rPr lang="en-US" sz="2400" b="1" i="1">
                <a:solidFill>
                  <a:srgbClr val="000000"/>
                </a:solidFill>
                <a:effectLst>
                  <a:outerShdw blurRad="38100" dist="38100" dir="2700000" algn="tl">
                    <a:srgbClr val="C0C0C0"/>
                  </a:outerShdw>
                </a:effectLst>
                <a:latin typeface="Times New Roman" pitchFamily="18" charset="0"/>
                <a:cs typeface="+mn-cs"/>
              </a:rPr>
              <a:t>s</a:t>
            </a:r>
            <a:r>
              <a:rPr lang="en-US" sz="2400" b="1">
                <a:solidFill>
                  <a:srgbClr val="000000"/>
                </a:solidFill>
                <a:effectLst>
                  <a:outerShdw blurRad="38100" dist="38100" dir="2700000" algn="tl">
                    <a:srgbClr val="C0C0C0"/>
                  </a:outerShdw>
                </a:effectLst>
                <a:latin typeface="Times New Roman" pitchFamily="18" charset="0"/>
                <a:cs typeface="+mn-cs"/>
              </a:rPr>
              <a:t> </a:t>
            </a:r>
            <a:br>
              <a:rPr lang="en-US" sz="2400" b="1">
                <a:solidFill>
                  <a:srgbClr val="000000"/>
                </a:solidFill>
                <a:effectLst>
                  <a:outerShdw blurRad="38100" dist="38100" dir="2700000" algn="tl">
                    <a:srgbClr val="C0C0C0"/>
                  </a:outerShdw>
                </a:effectLst>
                <a:latin typeface="Times New Roman" pitchFamily="18" charset="0"/>
                <a:cs typeface="+mn-cs"/>
              </a:rPr>
            </a:br>
            <a:r>
              <a:rPr lang="en-US" sz="2400" b="1">
                <a:solidFill>
                  <a:srgbClr val="000000"/>
                </a:solidFill>
                <a:effectLst>
                  <a:outerShdw blurRad="38100" dist="38100" dir="2700000" algn="tl">
                    <a:srgbClr val="C0C0C0"/>
                  </a:outerShdw>
                </a:effectLst>
                <a:latin typeface="Times New Roman" pitchFamily="18" charset="0"/>
                <a:cs typeface="+mn-cs"/>
              </a:rPr>
              <a:t>and </a:t>
            </a:r>
            <a:r>
              <a:rPr lang="en-US" sz="2400" b="1" i="1">
                <a:solidFill>
                  <a:srgbClr val="000000"/>
                </a:solidFill>
                <a:effectLst>
                  <a:outerShdw blurRad="38100" dist="38100" dir="2700000" algn="tl">
                    <a:srgbClr val="C0C0C0"/>
                  </a:outerShdw>
                </a:effectLst>
                <a:latin typeface="Times New Roman" pitchFamily="18" charset="0"/>
                <a:cs typeface="+mn-cs"/>
              </a:rPr>
              <a:t>t</a:t>
            </a:r>
            <a:r>
              <a:rPr lang="en-US" sz="2400" b="1">
                <a:solidFill>
                  <a:srgbClr val="000000"/>
                </a:solidFill>
                <a:effectLst>
                  <a:outerShdw blurRad="38100" dist="38100" dir="2700000" algn="tl">
                    <a:srgbClr val="C0C0C0"/>
                  </a:outerShdw>
                </a:effectLst>
                <a:latin typeface="Times New Roman" pitchFamily="18" charset="0"/>
                <a:cs typeface="+mn-cs"/>
              </a:rPr>
              <a:t>.</a:t>
            </a:r>
          </a:p>
        </p:txBody>
      </p:sp>
      <p:sp>
        <p:nvSpPr>
          <p:cNvPr id="907276" name="Rectangle 12"/>
          <p:cNvSpPr>
            <a:spLocks noChangeArrowheads="1"/>
          </p:cNvSpPr>
          <p:nvPr/>
        </p:nvSpPr>
        <p:spPr bwMode="auto">
          <a:xfrm>
            <a:off x="304800" y="2819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We get gcd (17, 0) = 17, </a:t>
            </a:r>
            <a:r>
              <a:rPr lang="en-US" sz="2400" b="1" i="1">
                <a:solidFill>
                  <a:srgbClr val="000000"/>
                </a:solidFill>
                <a:effectLst>
                  <a:outerShdw blurRad="38100" dist="38100" dir="2700000" algn="tl">
                    <a:srgbClr val="C0C0C0"/>
                  </a:outerShdw>
                </a:effectLst>
                <a:latin typeface="Times New Roman" pitchFamily="18" charset="0"/>
                <a:cs typeface="+mn-cs"/>
              </a:rPr>
              <a:t>s</a:t>
            </a:r>
            <a:r>
              <a:rPr lang="en-US" sz="2400" b="1">
                <a:solidFill>
                  <a:srgbClr val="000000"/>
                </a:solidFill>
                <a:effectLst>
                  <a:outerShdw blurRad="38100" dist="38100" dir="2700000" algn="tl">
                    <a:srgbClr val="C0C0C0"/>
                  </a:outerShdw>
                </a:effectLst>
                <a:latin typeface="Times New Roman" pitchFamily="18" charset="0"/>
                <a:cs typeface="+mn-cs"/>
              </a:rPr>
              <a:t> = 1, and </a:t>
            </a:r>
            <a:r>
              <a:rPr lang="en-US" sz="2400" b="1" i="1">
                <a:solidFill>
                  <a:srgbClr val="000000"/>
                </a:solidFill>
                <a:effectLst>
                  <a:outerShdw blurRad="38100" dist="38100" dir="2700000" algn="tl">
                    <a:srgbClr val="C0C0C0"/>
                  </a:outerShdw>
                </a:effectLst>
                <a:latin typeface="Times New Roman" pitchFamily="18" charset="0"/>
                <a:cs typeface="+mn-cs"/>
              </a:rPr>
              <a:t>t</a:t>
            </a:r>
            <a:r>
              <a:rPr lang="en-US" sz="2400" b="1">
                <a:solidFill>
                  <a:srgbClr val="000000"/>
                </a:solidFill>
                <a:effectLst>
                  <a:outerShdw blurRad="38100" dist="38100" dir="2700000" algn="tl">
                    <a:srgbClr val="C0C0C0"/>
                  </a:outerShdw>
                </a:effectLst>
                <a:latin typeface="Times New Roman" pitchFamily="18" charset="0"/>
                <a:cs typeface="+mn-cs"/>
              </a:rPr>
              <a:t> = 0</a:t>
            </a:r>
            <a:r>
              <a:rPr lang="en-US" sz="2400" b="1">
                <a:solidFill>
                  <a:srgbClr val="3333CC"/>
                </a:solidFill>
                <a:effectLst>
                  <a:outerShdw blurRad="38100" dist="38100" dir="2700000" algn="tl">
                    <a:srgbClr val="C0C0C0"/>
                  </a:outerShdw>
                </a:effectLst>
                <a:latin typeface="Times New Roman" pitchFamily="18" charset="0"/>
                <a:cs typeface="+mn-cs"/>
              </a:rPr>
              <a:t>.</a:t>
            </a:r>
          </a:p>
        </p:txBody>
      </p:sp>
      <p:sp>
        <p:nvSpPr>
          <p:cNvPr id="907277" name="Rectangle 13"/>
          <p:cNvSpPr>
            <a:spLocks noChangeArrowheads="1"/>
          </p:cNvSpPr>
          <p:nvPr/>
        </p:nvSpPr>
        <p:spPr bwMode="auto">
          <a:xfrm>
            <a:off x="228600" y="2362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FF0000"/>
                </a:solidFill>
                <a:effectLst>
                  <a:outerShdw blurRad="38100" dist="38100" dir="2700000" algn="tl">
                    <a:srgbClr val="C0C0C0"/>
                  </a:outerShdw>
                </a:effectLst>
                <a:latin typeface="Times New Roman" pitchFamily="18" charset="0"/>
                <a:cs typeface="+mn-cs"/>
              </a:rPr>
              <a:t>Solution</a:t>
            </a:r>
          </a:p>
        </p:txBody>
      </p:sp>
      <p:pic>
        <p:nvPicPr>
          <p:cNvPr id="907279"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63" y="3738563"/>
            <a:ext cx="8491537" cy="106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293688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fld id="{E22E75B8-C5EF-4D9C-BF27-AC990873F4C4}" type="slidenum">
              <a:rPr lang="en-US" smtClean="0">
                <a:solidFill>
                  <a:srgbClr val="000000"/>
                </a:solidFill>
              </a:rPr>
              <a:pPr/>
              <a:t>117</a:t>
            </a:fld>
            <a:endParaRPr lang="en-US" dirty="0">
              <a:solidFill>
                <a:srgbClr val="000000"/>
              </a:solidFill>
            </a:endParaRPr>
          </a:p>
        </p:txBody>
      </p:sp>
      <p:sp>
        <p:nvSpPr>
          <p:cNvPr id="909314" name="Text Box 2"/>
          <p:cNvSpPr txBox="1">
            <a:spLocks noChangeArrowheads="1"/>
          </p:cNvSpPr>
          <p:nvPr/>
        </p:nvSpPr>
        <p:spPr bwMode="auto">
          <a:xfrm>
            <a:off x="1143000" y="533400"/>
            <a:ext cx="1423788"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dirty="0">
                <a:solidFill>
                  <a:srgbClr val="FFFFFF"/>
                </a:solidFill>
                <a:latin typeface="Times New Roman" pitchFamily="18" charset="0"/>
                <a:cs typeface="+mn-cs"/>
              </a:rPr>
              <a:t>Example </a:t>
            </a:r>
            <a:endParaRPr lang="en-US" sz="2000" b="1" i="1" dirty="0">
              <a:solidFill>
                <a:srgbClr val="FFFFFF"/>
              </a:solidFill>
              <a:latin typeface="Times New Roman" pitchFamily="18" charset="0"/>
              <a:cs typeface="+mn-cs"/>
            </a:endParaRPr>
          </a:p>
        </p:txBody>
      </p:sp>
      <p:sp>
        <p:nvSpPr>
          <p:cNvPr id="90932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solidFill>
                <a:srgbClr val="000000"/>
              </a:solidFill>
              <a:latin typeface="Tahoma" pitchFamily="34" charset="0"/>
              <a:cs typeface="+mn-cs"/>
            </a:endParaRPr>
          </a:p>
        </p:txBody>
      </p:sp>
      <p:sp>
        <p:nvSpPr>
          <p:cNvPr id="909322" name="Text Box 10"/>
          <p:cNvSpPr txBox="1">
            <a:spLocks noChangeArrowheads="1"/>
          </p:cNvSpPr>
          <p:nvPr/>
        </p:nvSpPr>
        <p:spPr bwMode="auto">
          <a:xfrm>
            <a:off x="1143000" y="0"/>
            <a:ext cx="21675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3200" b="1" i="1" dirty="0">
                <a:solidFill>
                  <a:srgbClr val="000000"/>
                </a:solidFill>
                <a:latin typeface="Times New Roman" pitchFamily="18" charset="0"/>
                <a:cs typeface="+mn-cs"/>
              </a:rPr>
              <a:t>  Continued</a:t>
            </a:r>
          </a:p>
        </p:txBody>
      </p:sp>
      <p:sp>
        <p:nvSpPr>
          <p:cNvPr id="909323" name="Rectangle 11"/>
          <p:cNvSpPr>
            <a:spLocks noChangeArrowheads="1"/>
          </p:cNvSpPr>
          <p:nvPr/>
        </p:nvSpPr>
        <p:spPr bwMode="auto">
          <a:xfrm>
            <a:off x="304800" y="11588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Given </a:t>
            </a:r>
            <a:r>
              <a:rPr lang="en-US" sz="2400" b="1" i="1">
                <a:solidFill>
                  <a:srgbClr val="000000"/>
                </a:solidFill>
                <a:effectLst>
                  <a:outerShdw blurRad="38100" dist="38100" dir="2700000" algn="tl">
                    <a:srgbClr val="C0C0C0"/>
                  </a:outerShdw>
                </a:effectLst>
                <a:latin typeface="Times New Roman" pitchFamily="18" charset="0"/>
                <a:cs typeface="+mn-cs"/>
              </a:rPr>
              <a:t>a</a:t>
            </a:r>
            <a:r>
              <a:rPr lang="en-US" sz="2400" b="1">
                <a:solidFill>
                  <a:srgbClr val="000000"/>
                </a:solidFill>
                <a:effectLst>
                  <a:outerShdw blurRad="38100" dist="38100" dir="2700000" algn="tl">
                    <a:srgbClr val="C0C0C0"/>
                  </a:outerShdw>
                </a:effectLst>
                <a:latin typeface="Times New Roman" pitchFamily="18" charset="0"/>
                <a:cs typeface="+mn-cs"/>
              </a:rPr>
              <a:t> = 0 and </a:t>
            </a:r>
            <a:r>
              <a:rPr lang="en-US" sz="2400" b="1" i="1">
                <a:solidFill>
                  <a:srgbClr val="000000"/>
                </a:solidFill>
                <a:effectLst>
                  <a:outerShdw blurRad="38100" dist="38100" dir="2700000" algn="tl">
                    <a:srgbClr val="C0C0C0"/>
                  </a:outerShdw>
                </a:effectLst>
                <a:latin typeface="Times New Roman" pitchFamily="18" charset="0"/>
                <a:cs typeface="+mn-cs"/>
              </a:rPr>
              <a:t>b</a:t>
            </a:r>
            <a:r>
              <a:rPr lang="en-US" sz="2400" b="1">
                <a:solidFill>
                  <a:srgbClr val="000000"/>
                </a:solidFill>
                <a:effectLst>
                  <a:outerShdw blurRad="38100" dist="38100" dir="2700000" algn="tl">
                    <a:srgbClr val="C0C0C0"/>
                  </a:outerShdw>
                </a:effectLst>
                <a:latin typeface="Times New Roman" pitchFamily="18" charset="0"/>
                <a:cs typeface="+mn-cs"/>
              </a:rPr>
              <a:t> = 45, find gcd (</a:t>
            </a:r>
            <a:r>
              <a:rPr lang="en-US" sz="2400" b="1" i="1">
                <a:solidFill>
                  <a:srgbClr val="000000"/>
                </a:solidFill>
                <a:effectLst>
                  <a:outerShdw blurRad="38100" dist="38100" dir="2700000" algn="tl">
                    <a:srgbClr val="C0C0C0"/>
                  </a:outerShdw>
                </a:effectLst>
                <a:latin typeface="Times New Roman" pitchFamily="18" charset="0"/>
                <a:cs typeface="+mn-cs"/>
              </a:rPr>
              <a:t>a</a:t>
            </a:r>
            <a:r>
              <a:rPr lang="en-US" sz="2400" b="1">
                <a:solidFill>
                  <a:srgbClr val="000000"/>
                </a:solidFill>
                <a:effectLst>
                  <a:outerShdw blurRad="38100" dist="38100" dir="2700000" algn="tl">
                    <a:srgbClr val="C0C0C0"/>
                  </a:outerShdw>
                </a:effectLst>
                <a:latin typeface="Times New Roman" pitchFamily="18" charset="0"/>
                <a:cs typeface="+mn-cs"/>
              </a:rPr>
              <a:t>, </a:t>
            </a:r>
            <a:r>
              <a:rPr lang="en-US" sz="2400" b="1" i="1">
                <a:solidFill>
                  <a:srgbClr val="000000"/>
                </a:solidFill>
                <a:effectLst>
                  <a:outerShdw blurRad="38100" dist="38100" dir="2700000" algn="tl">
                    <a:srgbClr val="C0C0C0"/>
                  </a:outerShdw>
                </a:effectLst>
                <a:latin typeface="Times New Roman" pitchFamily="18" charset="0"/>
                <a:cs typeface="+mn-cs"/>
              </a:rPr>
              <a:t>b</a:t>
            </a:r>
            <a:r>
              <a:rPr lang="en-US" sz="2400" b="1">
                <a:solidFill>
                  <a:srgbClr val="000000"/>
                </a:solidFill>
                <a:effectLst>
                  <a:outerShdw blurRad="38100" dist="38100" dir="2700000" algn="tl">
                    <a:srgbClr val="C0C0C0"/>
                  </a:outerShdw>
                </a:effectLst>
                <a:latin typeface="Times New Roman" pitchFamily="18" charset="0"/>
                <a:cs typeface="+mn-cs"/>
              </a:rPr>
              <a:t>) and the values of </a:t>
            </a:r>
            <a:r>
              <a:rPr lang="en-US" sz="2400" b="1" i="1">
                <a:solidFill>
                  <a:srgbClr val="000000"/>
                </a:solidFill>
                <a:effectLst>
                  <a:outerShdw blurRad="38100" dist="38100" dir="2700000" algn="tl">
                    <a:srgbClr val="C0C0C0"/>
                  </a:outerShdw>
                </a:effectLst>
                <a:latin typeface="Times New Roman" pitchFamily="18" charset="0"/>
                <a:cs typeface="+mn-cs"/>
              </a:rPr>
              <a:t>s</a:t>
            </a:r>
            <a:r>
              <a:rPr lang="en-US" sz="2400" b="1">
                <a:solidFill>
                  <a:srgbClr val="000000"/>
                </a:solidFill>
                <a:effectLst>
                  <a:outerShdw blurRad="38100" dist="38100" dir="2700000" algn="tl">
                    <a:srgbClr val="C0C0C0"/>
                  </a:outerShdw>
                </a:effectLst>
                <a:latin typeface="Times New Roman" pitchFamily="18" charset="0"/>
                <a:cs typeface="+mn-cs"/>
              </a:rPr>
              <a:t> </a:t>
            </a:r>
            <a:br>
              <a:rPr lang="en-US" sz="2400" b="1">
                <a:solidFill>
                  <a:srgbClr val="000000"/>
                </a:solidFill>
                <a:effectLst>
                  <a:outerShdw blurRad="38100" dist="38100" dir="2700000" algn="tl">
                    <a:srgbClr val="C0C0C0"/>
                  </a:outerShdw>
                </a:effectLst>
                <a:latin typeface="Times New Roman" pitchFamily="18" charset="0"/>
                <a:cs typeface="+mn-cs"/>
              </a:rPr>
            </a:br>
            <a:r>
              <a:rPr lang="en-US" sz="2400" b="1">
                <a:solidFill>
                  <a:srgbClr val="000000"/>
                </a:solidFill>
                <a:effectLst>
                  <a:outerShdw blurRad="38100" dist="38100" dir="2700000" algn="tl">
                    <a:srgbClr val="C0C0C0"/>
                  </a:outerShdw>
                </a:effectLst>
                <a:latin typeface="Times New Roman" pitchFamily="18" charset="0"/>
                <a:cs typeface="+mn-cs"/>
              </a:rPr>
              <a:t>and </a:t>
            </a:r>
            <a:r>
              <a:rPr lang="en-US" sz="2400" b="1" i="1">
                <a:solidFill>
                  <a:srgbClr val="000000"/>
                </a:solidFill>
                <a:effectLst>
                  <a:outerShdw blurRad="38100" dist="38100" dir="2700000" algn="tl">
                    <a:srgbClr val="C0C0C0"/>
                  </a:outerShdw>
                </a:effectLst>
                <a:latin typeface="Times New Roman" pitchFamily="18" charset="0"/>
                <a:cs typeface="+mn-cs"/>
              </a:rPr>
              <a:t>t</a:t>
            </a:r>
            <a:r>
              <a:rPr lang="en-US" sz="2400" b="1">
                <a:solidFill>
                  <a:srgbClr val="000000"/>
                </a:solidFill>
                <a:effectLst>
                  <a:outerShdw blurRad="38100" dist="38100" dir="2700000" algn="tl">
                    <a:srgbClr val="C0C0C0"/>
                  </a:outerShdw>
                </a:effectLst>
                <a:latin typeface="Times New Roman" pitchFamily="18" charset="0"/>
                <a:cs typeface="+mn-cs"/>
              </a:rPr>
              <a:t>.</a:t>
            </a:r>
          </a:p>
        </p:txBody>
      </p:sp>
      <p:sp>
        <p:nvSpPr>
          <p:cNvPr id="909324" name="Rectangle 12"/>
          <p:cNvSpPr>
            <a:spLocks noChangeArrowheads="1"/>
          </p:cNvSpPr>
          <p:nvPr/>
        </p:nvSpPr>
        <p:spPr bwMode="auto">
          <a:xfrm>
            <a:off x="228600" y="2590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000000"/>
                </a:solidFill>
                <a:effectLst>
                  <a:outerShdw blurRad="38100" dist="38100" dir="2700000" algn="tl">
                    <a:srgbClr val="C0C0C0"/>
                  </a:outerShdw>
                </a:effectLst>
                <a:latin typeface="Times New Roman" pitchFamily="18" charset="0"/>
                <a:cs typeface="+mn-cs"/>
              </a:rPr>
              <a:t>We get gcd (0, 45) = 45, </a:t>
            </a:r>
            <a:r>
              <a:rPr lang="en-US" sz="2400" b="1" i="1">
                <a:solidFill>
                  <a:srgbClr val="000000"/>
                </a:solidFill>
                <a:effectLst>
                  <a:outerShdw blurRad="38100" dist="38100" dir="2700000" algn="tl">
                    <a:srgbClr val="C0C0C0"/>
                  </a:outerShdw>
                </a:effectLst>
                <a:latin typeface="Times New Roman" pitchFamily="18" charset="0"/>
                <a:cs typeface="+mn-cs"/>
              </a:rPr>
              <a:t>s</a:t>
            </a:r>
            <a:r>
              <a:rPr lang="en-US" sz="2400" b="1">
                <a:solidFill>
                  <a:srgbClr val="000000"/>
                </a:solidFill>
                <a:effectLst>
                  <a:outerShdw blurRad="38100" dist="38100" dir="2700000" algn="tl">
                    <a:srgbClr val="C0C0C0"/>
                  </a:outerShdw>
                </a:effectLst>
                <a:latin typeface="Times New Roman" pitchFamily="18" charset="0"/>
                <a:cs typeface="+mn-cs"/>
              </a:rPr>
              <a:t> = 0, and </a:t>
            </a:r>
            <a:r>
              <a:rPr lang="en-US" sz="2400" b="1" i="1">
                <a:solidFill>
                  <a:srgbClr val="000000"/>
                </a:solidFill>
                <a:effectLst>
                  <a:outerShdw blurRad="38100" dist="38100" dir="2700000" algn="tl">
                    <a:srgbClr val="C0C0C0"/>
                  </a:outerShdw>
                </a:effectLst>
                <a:latin typeface="Times New Roman" pitchFamily="18" charset="0"/>
                <a:cs typeface="+mn-cs"/>
              </a:rPr>
              <a:t>t</a:t>
            </a:r>
            <a:r>
              <a:rPr lang="en-US" sz="2400" b="1">
                <a:solidFill>
                  <a:srgbClr val="000000"/>
                </a:solidFill>
                <a:effectLst>
                  <a:outerShdw blurRad="38100" dist="38100" dir="2700000" algn="tl">
                    <a:srgbClr val="C0C0C0"/>
                  </a:outerShdw>
                </a:effectLst>
                <a:latin typeface="Times New Roman" pitchFamily="18" charset="0"/>
                <a:cs typeface="+mn-cs"/>
              </a:rPr>
              <a:t> = 1.</a:t>
            </a:r>
          </a:p>
        </p:txBody>
      </p:sp>
      <p:sp>
        <p:nvSpPr>
          <p:cNvPr id="909325" name="Rectangle 13"/>
          <p:cNvSpPr>
            <a:spLocks noChangeArrowheads="1"/>
          </p:cNvSpPr>
          <p:nvPr/>
        </p:nvSpPr>
        <p:spPr bwMode="auto">
          <a:xfrm>
            <a:off x="228600" y="2209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sz="2400" b="1">
                <a:solidFill>
                  <a:srgbClr val="FF0000"/>
                </a:solidFill>
                <a:effectLst>
                  <a:outerShdw blurRad="38100" dist="38100" dir="2700000" algn="tl">
                    <a:srgbClr val="C0C0C0"/>
                  </a:outerShdw>
                </a:effectLst>
                <a:latin typeface="Times New Roman" pitchFamily="18" charset="0"/>
                <a:cs typeface="+mn-cs"/>
              </a:rPr>
              <a:t>Solution</a:t>
            </a:r>
          </a:p>
        </p:txBody>
      </p:sp>
      <p:pic>
        <p:nvPicPr>
          <p:cNvPr id="909327"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63" y="3495675"/>
            <a:ext cx="8491537" cy="15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54824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20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2000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20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2000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20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2000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1"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1"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14884</TotalTime>
  <Words>5624</Words>
  <Application>Microsoft Office PowerPoint</Application>
  <PresentationFormat>On-screen Show (4:3)</PresentationFormat>
  <Paragraphs>511</Paragraphs>
  <Slides>117</Slides>
  <Notes>74</Notes>
  <HiddenSlides>0</HiddenSlides>
  <MMClips>0</MMClips>
  <ScaleCrop>false</ScaleCrop>
  <HeadingPairs>
    <vt:vector size="6" baseType="variant">
      <vt:variant>
        <vt:lpstr>Fonts Used</vt:lpstr>
      </vt:variant>
      <vt:variant>
        <vt:i4>20</vt:i4>
      </vt:variant>
      <vt:variant>
        <vt:lpstr>Theme</vt:lpstr>
      </vt:variant>
      <vt:variant>
        <vt:i4>6</vt:i4>
      </vt:variant>
      <vt:variant>
        <vt:lpstr>Slide Titles</vt:lpstr>
      </vt:variant>
      <vt:variant>
        <vt:i4>117</vt:i4>
      </vt:variant>
    </vt:vector>
  </HeadingPairs>
  <TitlesOfParts>
    <vt:vector size="143" baseType="lpstr">
      <vt:lpstr>Arial Unicode MS</vt:lpstr>
      <vt:lpstr>ＭＳ Ｐゴシック</vt:lpstr>
      <vt:lpstr>Arial</vt:lpstr>
      <vt:lpstr>Bookman Old Style</vt:lpstr>
      <vt:lpstr>Calibri</vt:lpstr>
      <vt:lpstr>Cambria Math</vt:lpstr>
      <vt:lpstr>Century Gothic</vt:lpstr>
      <vt:lpstr>Gill Sans MT</vt:lpstr>
      <vt:lpstr>McGrawHill-Italic</vt:lpstr>
      <vt:lpstr>Symbol</vt:lpstr>
      <vt:lpstr>Tahoma</vt:lpstr>
      <vt:lpstr>Times</vt:lpstr>
      <vt:lpstr>Times New Roman</vt:lpstr>
      <vt:lpstr>Times-Roman</vt:lpstr>
      <vt:lpstr>TimesTenLTStd-Bold</vt:lpstr>
      <vt:lpstr>TimesTenLTStd-Italic</vt:lpstr>
      <vt:lpstr>TimesTenLTStd-Roman</vt:lpstr>
      <vt:lpstr>Tw Cen MT</vt:lpstr>
      <vt:lpstr>Wingdings</vt:lpstr>
      <vt:lpstr>Wingdings 3</vt:lpstr>
      <vt:lpstr>Ion</vt:lpstr>
      <vt:lpstr>Custom Design</vt:lpstr>
      <vt:lpstr>Blends</vt:lpstr>
      <vt:lpstr>2_Blends</vt:lpstr>
      <vt:lpstr>3_Blends</vt:lpstr>
      <vt:lpstr>4_Blends</vt:lpstr>
      <vt:lpstr>Cryptographic Math-2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Polynomials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Ordinary Polynomial Arithmetic</vt:lpstr>
      <vt:lpstr>PowerPoint Presentation</vt:lpstr>
      <vt:lpstr>Computational Considerations</vt:lpstr>
      <vt:lpstr>Example</vt:lpstr>
      <vt:lpstr>PowerPoint Presentation</vt:lpstr>
      <vt:lpstr>PowerPoint Presentation</vt:lpstr>
      <vt:lpstr>PowerPoint Presentation</vt:lpstr>
      <vt:lpstr>GF(7)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GCD Revisited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dc:title>
  <dc:creator>Nishant</dc:creator>
  <cp:lastModifiedBy>cbrange01@outlook.com</cp:lastModifiedBy>
  <cp:revision>220</cp:revision>
  <dcterms:created xsi:type="dcterms:W3CDTF">2014-03-25T06:22:02Z</dcterms:created>
  <dcterms:modified xsi:type="dcterms:W3CDTF">2026-06-01T13:53:58Z</dcterms:modified>
</cp:coreProperties>
</file>